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notesSlides/_rels/notesSlide1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1FF7CD00-F4A7-44C8-B9DB-AB861E9DB1F0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EDD0400-D8B9-43F4-AA54-050A5ECC238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8DDF3E-F3AE-4039-8B07-41D18FB81AA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7B95CAC-88F0-4196-86A0-55EFDE0BB61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FA9E4F-A111-480C-A138-7A1F9C96369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22D521-93B9-42B5-8EF7-7447DB46314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5268E7-3B4A-4D1B-8F7B-1EE8D8CB1EA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882E9F5-6B3D-46A9-BE9D-30B7A9926D7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D53445-CD38-4353-825E-AF583E24E97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5B0EA3-7481-49FE-9259-06211C16B73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C6F7BF-AFCB-48DB-9DA5-95319B839C3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ACA2B12-9D24-46D3-95DF-1D66AE78F87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7EA797-923C-4329-BBC0-EBE67C1BDA4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5580CD-5C9B-4660-B974-9D91547E3B4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530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6217920" y="0"/>
            <a:ext cx="2925720" cy="5143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6858000" y="0"/>
            <a:ext cx="2285640" cy="5143320"/>
          </a:xfrm>
          <a:prstGeom prst="rect">
            <a:avLst/>
          </a:prstGeom>
          <a:solidFill>
            <a:srgbClr val="1a5276">
              <a:alpha val="70000"/>
            </a:srgbClr>
          </a:solidFill>
          <a:ln w="12700">
            <a:solidFill>
              <a:srgbClr val="1a5276">
                <a:alpha val="7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6583680" y="-548640"/>
            <a:ext cx="2925720" cy="2925720"/>
          </a:xfrm>
          <a:prstGeom prst="ellipse">
            <a:avLst/>
          </a:prstGeom>
          <a:solidFill>
            <a:srgbClr val="2e86ab">
              <a:alpha val="45000"/>
            </a:srgbClr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7223760" y="0"/>
            <a:ext cx="1645560" cy="1645560"/>
          </a:xfrm>
          <a:prstGeom prst="ellipse">
            <a:avLst/>
          </a:prstGeom>
          <a:solidFill>
            <a:srgbClr val="0d1b2a">
              <a:alpha val="70000"/>
            </a:srgbClr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0" y="0"/>
            <a:ext cx="200880" cy="5143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457200" y="960120"/>
            <a:ext cx="2925720" cy="3470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457200" y="960120"/>
            <a:ext cx="2925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199" strike="noStrike">
                <a:solidFill>
                  <a:srgbClr val="ffffff"/>
                </a:solidFill>
                <a:latin typeface="Calibri"/>
              </a:rPr>
              <a:t>COMPREHENSIVE GUIDE · 2026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457200" y="1417320"/>
            <a:ext cx="594324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800" spc="97" strike="noStrike">
                <a:solidFill>
                  <a:srgbClr val="ffffff"/>
                </a:solidFill>
                <a:latin typeface="Calibri"/>
                <a:ea typeface="Calibri"/>
              </a:rPr>
              <a:t>PROJECT</a:t>
            </a:r>
            <a:endParaRPr b="0" lang="en-US" sz="6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800" spc="97" strike="noStrike">
                <a:solidFill>
                  <a:srgbClr val="ffffff"/>
                </a:solidFill>
                <a:latin typeface="Calibri"/>
                <a:ea typeface="Calibri"/>
              </a:rPr>
              <a:t>AUDITS</a:t>
            </a:r>
            <a:endParaRPr b="0" lang="en-US" sz="6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457200" y="3886200"/>
            <a:ext cx="59432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cadcfc"/>
                </a:solidFill>
                <a:latin typeface="Calibri"/>
              </a:rPr>
              <a:t>Objectives · Goals · Types · Process · Checklist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0" y="4864680"/>
            <a:ext cx="9143640" cy="27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0" y="4864680"/>
            <a:ext cx="9143640" cy="27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1"/>
          <p:cNvSpPr/>
          <p:nvPr/>
        </p:nvSpPr>
        <p:spPr>
          <a:xfrm>
            <a:off x="365760" y="0"/>
            <a:ext cx="8412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199" strike="noStrike">
                <a:solidFill>
                  <a:srgbClr val="ffffff"/>
                </a:solidFill>
                <a:latin typeface="Calibri"/>
              </a:rPr>
              <a:t>WHAT IS A PROJECT AUDIT?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Shape 2"/>
          <p:cNvSpPr/>
          <p:nvPr/>
        </p:nvSpPr>
        <p:spPr>
          <a:xfrm>
            <a:off x="365760" y="914400"/>
            <a:ext cx="8412120" cy="1051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3"/>
          <p:cNvSpPr/>
          <p:nvPr/>
        </p:nvSpPr>
        <p:spPr>
          <a:xfrm>
            <a:off x="365760" y="914400"/>
            <a:ext cx="841212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ffffff"/>
                </a:solidFill>
                <a:latin typeface="Calibri"/>
              </a:rPr>
              <a:t>A project audit is a structured, independent review of a project's performance, processes, and outcomes — evaluating whether it is on track with its goals, budget, and timeline.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Shape 4"/>
          <p:cNvSpPr/>
          <p:nvPr/>
        </p:nvSpPr>
        <p:spPr>
          <a:xfrm>
            <a:off x="365760" y="2103120"/>
            <a:ext cx="4160160" cy="1279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d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Shape 5"/>
          <p:cNvSpPr/>
          <p:nvPr/>
        </p:nvSpPr>
        <p:spPr>
          <a:xfrm>
            <a:off x="365760" y="2103120"/>
            <a:ext cx="164160" cy="12798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6"/>
          <p:cNvSpPr/>
          <p:nvPr/>
        </p:nvSpPr>
        <p:spPr>
          <a:xfrm>
            <a:off x="621720" y="2212920"/>
            <a:ext cx="594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🔍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7"/>
          <p:cNvSpPr/>
          <p:nvPr/>
        </p:nvSpPr>
        <p:spPr>
          <a:xfrm>
            <a:off x="640080" y="216720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</a:rPr>
              <a:t>Investigation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8"/>
          <p:cNvSpPr/>
          <p:nvPr/>
        </p:nvSpPr>
        <p:spPr>
          <a:xfrm>
            <a:off x="640080" y="2560320"/>
            <a:ext cx="3657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2c3e50"/>
                </a:solidFill>
                <a:latin typeface="Calibri"/>
              </a:rPr>
              <a:t>Examines financial reports, accounting statements, management reports and operational accounts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Shape 9"/>
          <p:cNvSpPr/>
          <p:nvPr/>
        </p:nvSpPr>
        <p:spPr>
          <a:xfrm>
            <a:off x="4800600" y="2103120"/>
            <a:ext cx="4160160" cy="1279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d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 10"/>
          <p:cNvSpPr/>
          <p:nvPr/>
        </p:nvSpPr>
        <p:spPr>
          <a:xfrm>
            <a:off x="4800600" y="2103120"/>
            <a:ext cx="164160" cy="1279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11"/>
          <p:cNvSpPr/>
          <p:nvPr/>
        </p:nvSpPr>
        <p:spPr>
          <a:xfrm>
            <a:off x="5056560" y="2212920"/>
            <a:ext cx="594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🏛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12"/>
          <p:cNvSpPr/>
          <p:nvPr/>
        </p:nvSpPr>
        <p:spPr>
          <a:xfrm>
            <a:off x="5074920" y="216720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</a:rPr>
              <a:t>Conducted By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13"/>
          <p:cNvSpPr/>
          <p:nvPr/>
        </p:nvSpPr>
        <p:spPr>
          <a:xfrm>
            <a:off x="5074920" y="2560320"/>
            <a:ext cx="3657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2c3e50"/>
                </a:solidFill>
                <a:latin typeface="Calibri"/>
              </a:rPr>
              <a:t>PMO, Review Division, Authorized Managing Committee, or an Independent Outside Auditor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14"/>
          <p:cNvSpPr/>
          <p:nvPr/>
        </p:nvSpPr>
        <p:spPr>
          <a:xfrm>
            <a:off x="365760" y="3520440"/>
            <a:ext cx="4160160" cy="1279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d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Shape 15"/>
          <p:cNvSpPr/>
          <p:nvPr/>
        </p:nvSpPr>
        <p:spPr>
          <a:xfrm>
            <a:off x="365760" y="3520440"/>
            <a:ext cx="164160" cy="127980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Text 16"/>
          <p:cNvSpPr/>
          <p:nvPr/>
        </p:nvSpPr>
        <p:spPr>
          <a:xfrm>
            <a:off x="621720" y="3630240"/>
            <a:ext cx="594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✔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17"/>
          <p:cNvSpPr/>
          <p:nvPr/>
        </p:nvSpPr>
        <p:spPr>
          <a:xfrm>
            <a:off x="640080" y="358452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</a:rPr>
              <a:t>Core Purpose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18"/>
          <p:cNvSpPr/>
          <p:nvPr/>
        </p:nvSpPr>
        <p:spPr>
          <a:xfrm>
            <a:off x="640080" y="3977640"/>
            <a:ext cx="3657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2c3e50"/>
                </a:solidFill>
                <a:latin typeface="Calibri"/>
              </a:rPr>
              <a:t>Verify project fulfills requirements through evaluation and investigation of all processes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Shape 19"/>
          <p:cNvSpPr/>
          <p:nvPr/>
        </p:nvSpPr>
        <p:spPr>
          <a:xfrm>
            <a:off x="4800600" y="3520440"/>
            <a:ext cx="4160160" cy="1279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d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20"/>
          <p:cNvSpPr/>
          <p:nvPr/>
        </p:nvSpPr>
        <p:spPr>
          <a:xfrm>
            <a:off x="4800600" y="3520440"/>
            <a:ext cx="164160" cy="12798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 21"/>
          <p:cNvSpPr/>
          <p:nvPr/>
        </p:nvSpPr>
        <p:spPr>
          <a:xfrm>
            <a:off x="5056560" y="3630240"/>
            <a:ext cx="594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📊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22"/>
          <p:cNvSpPr/>
          <p:nvPr/>
        </p:nvSpPr>
        <p:spPr>
          <a:xfrm>
            <a:off x="5074920" y="358452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</a:rPr>
              <a:t>Key Focus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23"/>
          <p:cNvSpPr/>
          <p:nvPr/>
        </p:nvSpPr>
        <p:spPr>
          <a:xfrm>
            <a:off x="5074920" y="3977640"/>
            <a:ext cx="3657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2c3e50"/>
                </a:solidFill>
                <a:latin typeface="Calibri"/>
              </a:rPr>
              <a:t>Check scope, budget, timeline compliance and identify inefficiencies or non-compliance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 1"/>
          <p:cNvSpPr/>
          <p:nvPr/>
        </p:nvSpPr>
        <p:spPr>
          <a:xfrm>
            <a:off x="365760" y="0"/>
            <a:ext cx="8412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199" strike="noStrike">
                <a:solidFill>
                  <a:srgbClr val="ffffff"/>
                </a:solidFill>
                <a:latin typeface="Calibri"/>
              </a:rPr>
              <a:t>OBJECTIVES &amp; GOALS OF A PROJECT AUDIT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Shape 2"/>
          <p:cNvSpPr/>
          <p:nvPr/>
        </p:nvSpPr>
        <p:spPr>
          <a:xfrm>
            <a:off x="274320" y="960120"/>
            <a:ext cx="4205880" cy="1206720"/>
          </a:xfrm>
          <a:prstGeom prst="rect">
            <a:avLst/>
          </a:prstGeom>
          <a:solidFill>
            <a:srgbClr val="1a2b3c"/>
          </a:solidFill>
          <a:ln w="19050">
            <a:solidFill>
              <a:srgbClr val="2e86ab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Shape 3"/>
          <p:cNvSpPr/>
          <p:nvPr/>
        </p:nvSpPr>
        <p:spPr>
          <a:xfrm>
            <a:off x="274320" y="960120"/>
            <a:ext cx="685440" cy="12067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4"/>
          <p:cNvSpPr/>
          <p:nvPr/>
        </p:nvSpPr>
        <p:spPr>
          <a:xfrm>
            <a:off x="274320" y="960120"/>
            <a:ext cx="685440" cy="12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01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5"/>
          <p:cNvSpPr/>
          <p:nvPr/>
        </p:nvSpPr>
        <p:spPr>
          <a:xfrm>
            <a:off x="1051560" y="1051560"/>
            <a:ext cx="3291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2e86ab"/>
                </a:solidFill>
                <a:latin typeface="Calibri"/>
              </a:rPr>
              <a:t>Evaluate Compliance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6"/>
          <p:cNvSpPr/>
          <p:nvPr/>
        </p:nvSpPr>
        <p:spPr>
          <a:xfrm>
            <a:off x="1051560" y="1435680"/>
            <a:ext cx="32914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adcfc"/>
                </a:solidFill>
                <a:latin typeface="Calibri"/>
              </a:rPr>
              <a:t>Ensure the project follows internal policies, industry standards, and all regulatory requirements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Shape 7"/>
          <p:cNvSpPr/>
          <p:nvPr/>
        </p:nvSpPr>
        <p:spPr>
          <a:xfrm>
            <a:off x="4754880" y="960120"/>
            <a:ext cx="4205880" cy="1206720"/>
          </a:xfrm>
          <a:prstGeom prst="rect">
            <a:avLst/>
          </a:prstGeom>
          <a:solidFill>
            <a:srgbClr val="1a2b3c"/>
          </a:solidFill>
          <a:ln w="19050">
            <a:solidFill>
              <a:srgbClr val="e67e22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Shape 8"/>
          <p:cNvSpPr/>
          <p:nvPr/>
        </p:nvSpPr>
        <p:spPr>
          <a:xfrm>
            <a:off x="4754880" y="960120"/>
            <a:ext cx="685440" cy="12067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9"/>
          <p:cNvSpPr/>
          <p:nvPr/>
        </p:nvSpPr>
        <p:spPr>
          <a:xfrm>
            <a:off x="4754880" y="960120"/>
            <a:ext cx="685440" cy="12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02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10"/>
          <p:cNvSpPr/>
          <p:nvPr/>
        </p:nvSpPr>
        <p:spPr>
          <a:xfrm>
            <a:off x="5532120" y="1051560"/>
            <a:ext cx="3291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67e22"/>
                </a:solidFill>
                <a:latin typeface="Calibri"/>
              </a:rPr>
              <a:t>Identify Risks Early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11"/>
          <p:cNvSpPr/>
          <p:nvPr/>
        </p:nvSpPr>
        <p:spPr>
          <a:xfrm>
            <a:off x="5532120" y="1435680"/>
            <a:ext cx="32914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adcfc"/>
                </a:solidFill>
                <a:latin typeface="Calibri"/>
              </a:rPr>
              <a:t>Uncover scope creep, budget overruns, or missed deadlines before they escalate into project failures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Shape 12"/>
          <p:cNvSpPr/>
          <p:nvPr/>
        </p:nvSpPr>
        <p:spPr>
          <a:xfrm>
            <a:off x="274320" y="2304360"/>
            <a:ext cx="4205880" cy="1206720"/>
          </a:xfrm>
          <a:prstGeom prst="rect">
            <a:avLst/>
          </a:prstGeom>
          <a:solidFill>
            <a:srgbClr val="1a2b3c"/>
          </a:solidFill>
          <a:ln w="19050">
            <a:solidFill>
              <a:srgbClr val="d4a017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Shape 13"/>
          <p:cNvSpPr/>
          <p:nvPr/>
        </p:nvSpPr>
        <p:spPr>
          <a:xfrm>
            <a:off x="274320" y="2304360"/>
            <a:ext cx="685440" cy="1206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14"/>
          <p:cNvSpPr/>
          <p:nvPr/>
        </p:nvSpPr>
        <p:spPr>
          <a:xfrm>
            <a:off x="274320" y="2304360"/>
            <a:ext cx="685440" cy="12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03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 15"/>
          <p:cNvSpPr/>
          <p:nvPr/>
        </p:nvSpPr>
        <p:spPr>
          <a:xfrm>
            <a:off x="1051560" y="2395800"/>
            <a:ext cx="3291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d4a017"/>
                </a:solidFill>
                <a:latin typeface="Calibri"/>
              </a:rPr>
              <a:t>Optimize Resource Use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16"/>
          <p:cNvSpPr/>
          <p:nvPr/>
        </p:nvSpPr>
        <p:spPr>
          <a:xfrm>
            <a:off x="1051560" y="2779920"/>
            <a:ext cx="32914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adcfc"/>
                </a:solidFill>
                <a:latin typeface="Calibri"/>
              </a:rPr>
              <a:t>Spot inefficiencies in time, manpower, or budget to help managers allocate resources for better results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Shape 17"/>
          <p:cNvSpPr/>
          <p:nvPr/>
        </p:nvSpPr>
        <p:spPr>
          <a:xfrm>
            <a:off x="4754880" y="2304360"/>
            <a:ext cx="4205880" cy="1206720"/>
          </a:xfrm>
          <a:prstGeom prst="rect">
            <a:avLst/>
          </a:prstGeom>
          <a:solidFill>
            <a:srgbClr val="1a2b3c"/>
          </a:solidFill>
          <a:ln w="19050">
            <a:solidFill>
              <a:srgbClr val="1e8449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Shape 18"/>
          <p:cNvSpPr/>
          <p:nvPr/>
        </p:nvSpPr>
        <p:spPr>
          <a:xfrm>
            <a:off x="4754880" y="2304360"/>
            <a:ext cx="685440" cy="12067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19"/>
          <p:cNvSpPr/>
          <p:nvPr/>
        </p:nvSpPr>
        <p:spPr>
          <a:xfrm>
            <a:off x="4754880" y="2304360"/>
            <a:ext cx="685440" cy="12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04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20"/>
          <p:cNvSpPr/>
          <p:nvPr/>
        </p:nvSpPr>
        <p:spPr>
          <a:xfrm>
            <a:off x="5532120" y="2395800"/>
            <a:ext cx="3291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e8449"/>
                </a:solidFill>
                <a:latin typeface="Calibri"/>
              </a:rPr>
              <a:t>Enhance Accountability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 21"/>
          <p:cNvSpPr/>
          <p:nvPr/>
        </p:nvSpPr>
        <p:spPr>
          <a:xfrm>
            <a:off x="5532120" y="2779920"/>
            <a:ext cx="32914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adcfc"/>
                </a:solidFill>
                <a:latin typeface="Calibri"/>
              </a:rPr>
              <a:t>Document every project aspect to promote transparency and hold teams accountable to stakeholders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Shape 22"/>
          <p:cNvSpPr/>
          <p:nvPr/>
        </p:nvSpPr>
        <p:spPr>
          <a:xfrm>
            <a:off x="274320" y="3648600"/>
            <a:ext cx="4205880" cy="1206720"/>
          </a:xfrm>
          <a:prstGeom prst="rect">
            <a:avLst/>
          </a:prstGeom>
          <a:solidFill>
            <a:srgbClr val="1a2b3c"/>
          </a:solidFill>
          <a:ln w="19050">
            <a:solidFill>
              <a:srgbClr val="6c3483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Shape 23"/>
          <p:cNvSpPr/>
          <p:nvPr/>
        </p:nvSpPr>
        <p:spPr>
          <a:xfrm>
            <a:off x="274320" y="3648600"/>
            <a:ext cx="685440" cy="120672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 24"/>
          <p:cNvSpPr/>
          <p:nvPr/>
        </p:nvSpPr>
        <p:spPr>
          <a:xfrm>
            <a:off x="274320" y="3648600"/>
            <a:ext cx="685440" cy="12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05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 25"/>
          <p:cNvSpPr/>
          <p:nvPr/>
        </p:nvSpPr>
        <p:spPr>
          <a:xfrm>
            <a:off x="1051560" y="3740040"/>
            <a:ext cx="3291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6c3483"/>
                </a:solidFill>
                <a:latin typeface="Calibri"/>
              </a:rPr>
              <a:t>Boost Project Performance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26"/>
          <p:cNvSpPr/>
          <p:nvPr/>
        </p:nvSpPr>
        <p:spPr>
          <a:xfrm>
            <a:off x="1051560" y="4123800"/>
            <a:ext cx="32914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adcfc"/>
                </a:solidFill>
                <a:latin typeface="Calibri"/>
              </a:rPr>
              <a:t>Provide insights and recommendations to improve planning, execution, and communication strategies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Shape 27"/>
          <p:cNvSpPr/>
          <p:nvPr/>
        </p:nvSpPr>
        <p:spPr>
          <a:xfrm>
            <a:off x="4754880" y="3648600"/>
            <a:ext cx="4205880" cy="1206720"/>
          </a:xfrm>
          <a:prstGeom prst="rect">
            <a:avLst/>
          </a:prstGeom>
          <a:solidFill>
            <a:srgbClr val="1a2b3c"/>
          </a:solidFill>
          <a:ln w="19050">
            <a:solidFill>
              <a:srgbClr val="c0392b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Shape 28"/>
          <p:cNvSpPr/>
          <p:nvPr/>
        </p:nvSpPr>
        <p:spPr>
          <a:xfrm>
            <a:off x="4754880" y="3648600"/>
            <a:ext cx="685440" cy="1206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 29"/>
          <p:cNvSpPr/>
          <p:nvPr/>
        </p:nvSpPr>
        <p:spPr>
          <a:xfrm>
            <a:off x="4754880" y="3648600"/>
            <a:ext cx="685440" cy="12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06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 30"/>
          <p:cNvSpPr/>
          <p:nvPr/>
        </p:nvSpPr>
        <p:spPr>
          <a:xfrm>
            <a:off x="5532120" y="3740040"/>
            <a:ext cx="3291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c0392b"/>
                </a:solidFill>
                <a:latin typeface="Calibri"/>
              </a:rPr>
              <a:t>Support Decision-Making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 31"/>
          <p:cNvSpPr/>
          <p:nvPr/>
        </p:nvSpPr>
        <p:spPr>
          <a:xfrm>
            <a:off x="5532120" y="4123800"/>
            <a:ext cx="32914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adcfc"/>
                </a:solidFill>
                <a:latin typeface="Calibri"/>
              </a:rPr>
              <a:t>Give sponsors and management data to decide whether to continue, re-scope, or terminate a project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 1"/>
          <p:cNvSpPr/>
          <p:nvPr/>
        </p:nvSpPr>
        <p:spPr>
          <a:xfrm>
            <a:off x="365760" y="0"/>
            <a:ext cx="8412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199" strike="noStrike">
                <a:solidFill>
                  <a:srgbClr val="ffffff"/>
                </a:solidFill>
                <a:latin typeface="Calibri"/>
              </a:rPr>
              <a:t>KEY COMPONENTS OF PROJECT AUDIT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2"/>
          <p:cNvSpPr/>
          <p:nvPr/>
        </p:nvSpPr>
        <p:spPr>
          <a:xfrm>
            <a:off x="255960" y="960120"/>
            <a:ext cx="2742840" cy="1874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d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3"/>
          <p:cNvSpPr/>
          <p:nvPr/>
        </p:nvSpPr>
        <p:spPr>
          <a:xfrm>
            <a:off x="255960" y="960120"/>
            <a:ext cx="2742840" cy="548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 4"/>
          <p:cNvSpPr/>
          <p:nvPr/>
        </p:nvSpPr>
        <p:spPr>
          <a:xfrm>
            <a:off x="255960" y="960120"/>
            <a:ext cx="2742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📋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5"/>
          <p:cNvSpPr/>
          <p:nvPr/>
        </p:nvSpPr>
        <p:spPr>
          <a:xfrm>
            <a:off x="365760" y="1581840"/>
            <a:ext cx="2523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e2761"/>
                </a:solidFill>
                <a:latin typeface="Calibri"/>
              </a:rPr>
              <a:t>Scope Verification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6"/>
          <p:cNvSpPr/>
          <p:nvPr/>
        </p:nvSpPr>
        <p:spPr>
          <a:xfrm>
            <a:off x="365760" y="1984320"/>
            <a:ext cx="25232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c3e50"/>
                </a:solidFill>
                <a:latin typeface="Calibri"/>
              </a:rPr>
              <a:t>Confirms that project deliverables align with original scope, requirements, and approved change requests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7"/>
          <p:cNvSpPr/>
          <p:nvPr/>
        </p:nvSpPr>
        <p:spPr>
          <a:xfrm>
            <a:off x="3163680" y="960120"/>
            <a:ext cx="2742840" cy="1874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d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8"/>
          <p:cNvSpPr/>
          <p:nvPr/>
        </p:nvSpPr>
        <p:spPr>
          <a:xfrm>
            <a:off x="3163680" y="960120"/>
            <a:ext cx="2742840" cy="5482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 9"/>
          <p:cNvSpPr/>
          <p:nvPr/>
        </p:nvSpPr>
        <p:spPr>
          <a:xfrm>
            <a:off x="3163680" y="960120"/>
            <a:ext cx="2742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💰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10"/>
          <p:cNvSpPr/>
          <p:nvPr/>
        </p:nvSpPr>
        <p:spPr>
          <a:xfrm>
            <a:off x="3273480" y="1581840"/>
            <a:ext cx="2523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67e22"/>
                </a:solidFill>
                <a:latin typeface="Calibri"/>
              </a:rPr>
              <a:t>Budget Analysis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11"/>
          <p:cNvSpPr/>
          <p:nvPr/>
        </p:nvSpPr>
        <p:spPr>
          <a:xfrm>
            <a:off x="3273480" y="1984320"/>
            <a:ext cx="25232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c3e50"/>
                </a:solidFill>
                <a:latin typeface="Calibri"/>
              </a:rPr>
              <a:t>Reviews all costs against the approved budget — identifies overruns, under-utilization, and cost variances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12"/>
          <p:cNvSpPr/>
          <p:nvPr/>
        </p:nvSpPr>
        <p:spPr>
          <a:xfrm>
            <a:off x="6071760" y="960120"/>
            <a:ext cx="2742840" cy="1874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d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13"/>
          <p:cNvSpPr/>
          <p:nvPr/>
        </p:nvSpPr>
        <p:spPr>
          <a:xfrm>
            <a:off x="6071760" y="960120"/>
            <a:ext cx="2742840" cy="5482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 14"/>
          <p:cNvSpPr/>
          <p:nvPr/>
        </p:nvSpPr>
        <p:spPr>
          <a:xfrm>
            <a:off x="6071760" y="960120"/>
            <a:ext cx="2742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📅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15"/>
          <p:cNvSpPr/>
          <p:nvPr/>
        </p:nvSpPr>
        <p:spPr>
          <a:xfrm>
            <a:off x="6181200" y="1581840"/>
            <a:ext cx="2523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2e86ab"/>
                </a:solidFill>
                <a:latin typeface="Calibri"/>
              </a:rPr>
              <a:t>Schedule Review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16"/>
          <p:cNvSpPr/>
          <p:nvPr/>
        </p:nvSpPr>
        <p:spPr>
          <a:xfrm>
            <a:off x="6181200" y="1984320"/>
            <a:ext cx="25232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c3e50"/>
                </a:solidFill>
                <a:latin typeface="Calibri"/>
              </a:rPr>
              <a:t>Assesses milestones, deadlines, and timeline performance against the baseline project plan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17"/>
          <p:cNvSpPr/>
          <p:nvPr/>
        </p:nvSpPr>
        <p:spPr>
          <a:xfrm>
            <a:off x="255960" y="2971800"/>
            <a:ext cx="2742840" cy="1874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d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18"/>
          <p:cNvSpPr/>
          <p:nvPr/>
        </p:nvSpPr>
        <p:spPr>
          <a:xfrm>
            <a:off x="255960" y="2971800"/>
            <a:ext cx="2742840" cy="54828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19"/>
          <p:cNvSpPr/>
          <p:nvPr/>
        </p:nvSpPr>
        <p:spPr>
          <a:xfrm>
            <a:off x="255960" y="2971800"/>
            <a:ext cx="2742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⚙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20"/>
          <p:cNvSpPr/>
          <p:nvPr/>
        </p:nvSpPr>
        <p:spPr>
          <a:xfrm>
            <a:off x="365760" y="3593520"/>
            <a:ext cx="2523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6c3483"/>
                </a:solidFill>
                <a:latin typeface="Calibri"/>
              </a:rPr>
              <a:t>Process Evaluation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21"/>
          <p:cNvSpPr/>
          <p:nvPr/>
        </p:nvSpPr>
        <p:spPr>
          <a:xfrm>
            <a:off x="365760" y="3996000"/>
            <a:ext cx="25232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c3e50"/>
                </a:solidFill>
                <a:latin typeface="Calibri"/>
              </a:rPr>
              <a:t>Examines workflows, methodologies, and operational procedures for efficiency and adherence to standards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22"/>
          <p:cNvSpPr/>
          <p:nvPr/>
        </p:nvSpPr>
        <p:spPr>
          <a:xfrm>
            <a:off x="3163680" y="2971800"/>
            <a:ext cx="2742840" cy="1874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d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23"/>
          <p:cNvSpPr/>
          <p:nvPr/>
        </p:nvSpPr>
        <p:spPr>
          <a:xfrm>
            <a:off x="3163680" y="2971800"/>
            <a:ext cx="2742840" cy="548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24"/>
          <p:cNvSpPr/>
          <p:nvPr/>
        </p:nvSpPr>
        <p:spPr>
          <a:xfrm>
            <a:off x="3163680" y="2971800"/>
            <a:ext cx="2742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⚠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25"/>
          <p:cNvSpPr/>
          <p:nvPr/>
        </p:nvSpPr>
        <p:spPr>
          <a:xfrm>
            <a:off x="3273480" y="3593520"/>
            <a:ext cx="2523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c0392b"/>
                </a:solidFill>
                <a:latin typeface="Calibri"/>
              </a:rPr>
              <a:t>Risk Assessment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26"/>
          <p:cNvSpPr/>
          <p:nvPr/>
        </p:nvSpPr>
        <p:spPr>
          <a:xfrm>
            <a:off x="3273480" y="3996000"/>
            <a:ext cx="25232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c3e50"/>
                </a:solidFill>
                <a:latin typeface="Calibri"/>
              </a:rPr>
              <a:t>Identifies, documents, and evaluates all current and potential risks across the entire project lifecycle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Shape 27"/>
          <p:cNvSpPr/>
          <p:nvPr/>
        </p:nvSpPr>
        <p:spPr>
          <a:xfrm>
            <a:off x="6071760" y="2971800"/>
            <a:ext cx="2742840" cy="1874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d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28"/>
          <p:cNvSpPr/>
          <p:nvPr/>
        </p:nvSpPr>
        <p:spPr>
          <a:xfrm>
            <a:off x="6071760" y="2971800"/>
            <a:ext cx="2742840" cy="54828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29"/>
          <p:cNvSpPr/>
          <p:nvPr/>
        </p:nvSpPr>
        <p:spPr>
          <a:xfrm>
            <a:off x="6071760" y="2971800"/>
            <a:ext cx="2742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🤝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30"/>
          <p:cNvSpPr/>
          <p:nvPr/>
        </p:nvSpPr>
        <p:spPr>
          <a:xfrm>
            <a:off x="6181200" y="3593520"/>
            <a:ext cx="2523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e8449"/>
                </a:solidFill>
                <a:latin typeface="Calibri"/>
              </a:rPr>
              <a:t>Stakeholder Communication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31"/>
          <p:cNvSpPr/>
          <p:nvPr/>
        </p:nvSpPr>
        <p:spPr>
          <a:xfrm>
            <a:off x="6181200" y="3996000"/>
            <a:ext cx="25232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c3e50"/>
                </a:solidFill>
                <a:latin typeface="Calibri"/>
              </a:rPr>
              <a:t>Reviews how well the team communicates with all stakeholders, sponsors, and external parties throughout the project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 1"/>
          <p:cNvSpPr/>
          <p:nvPr/>
        </p:nvSpPr>
        <p:spPr>
          <a:xfrm>
            <a:off x="365760" y="0"/>
            <a:ext cx="8412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199" strike="noStrike">
                <a:solidFill>
                  <a:srgbClr val="ffffff"/>
                </a:solidFill>
                <a:latin typeface="Calibri"/>
              </a:rPr>
              <a:t>TYPES OF PROJECT AUDITS  —  Part 1 of 2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Shape 2"/>
          <p:cNvSpPr/>
          <p:nvPr/>
        </p:nvSpPr>
        <p:spPr>
          <a:xfrm>
            <a:off x="320040" y="932760"/>
            <a:ext cx="8503560" cy="712800"/>
          </a:xfrm>
          <a:prstGeom prst="rect">
            <a:avLst/>
          </a:prstGeom>
          <a:solidFill>
            <a:srgbClr val="152030"/>
          </a:solidFill>
          <a:ln w="19050">
            <a:solidFill>
              <a:srgbClr val="2e86ab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Shape 3"/>
          <p:cNvSpPr/>
          <p:nvPr/>
        </p:nvSpPr>
        <p:spPr>
          <a:xfrm>
            <a:off x="320040" y="932760"/>
            <a:ext cx="712800" cy="7128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4"/>
          <p:cNvSpPr/>
          <p:nvPr/>
        </p:nvSpPr>
        <p:spPr>
          <a:xfrm>
            <a:off x="320040" y="932760"/>
            <a:ext cx="71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🏢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 5"/>
          <p:cNvSpPr/>
          <p:nvPr/>
        </p:nvSpPr>
        <p:spPr>
          <a:xfrm>
            <a:off x="1115640" y="987480"/>
            <a:ext cx="1828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2e86ab"/>
                </a:solidFill>
                <a:latin typeface="Calibri"/>
              </a:rPr>
              <a:t>Internal Audit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6"/>
          <p:cNvSpPr/>
          <p:nvPr/>
        </p:nvSpPr>
        <p:spPr>
          <a:xfrm>
            <a:off x="3017520" y="1024200"/>
            <a:ext cx="56689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adcfc"/>
                </a:solidFill>
                <a:latin typeface="Calibri"/>
              </a:rPr>
              <a:t>Conducted within the company by owners or designated auditors. Reviews risk management processes, financial goals, and operational alignment. Helps board members and shareholders stay informed.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Shape 7"/>
          <p:cNvSpPr/>
          <p:nvPr/>
        </p:nvSpPr>
        <p:spPr>
          <a:xfrm>
            <a:off x="2926080" y="1069920"/>
            <a:ext cx="27000" cy="4384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Shape 8"/>
          <p:cNvSpPr/>
          <p:nvPr/>
        </p:nvSpPr>
        <p:spPr>
          <a:xfrm>
            <a:off x="320040" y="1755720"/>
            <a:ext cx="8503560" cy="712800"/>
          </a:xfrm>
          <a:prstGeom prst="rect">
            <a:avLst/>
          </a:prstGeom>
          <a:solidFill>
            <a:srgbClr val="152030"/>
          </a:solidFill>
          <a:ln w="19050">
            <a:solidFill>
              <a:srgbClr val="d4a017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Shape 9"/>
          <p:cNvSpPr/>
          <p:nvPr/>
        </p:nvSpPr>
        <p:spPr>
          <a:xfrm>
            <a:off x="320040" y="1755720"/>
            <a:ext cx="712800" cy="7128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10"/>
          <p:cNvSpPr/>
          <p:nvPr/>
        </p:nvSpPr>
        <p:spPr>
          <a:xfrm>
            <a:off x="320040" y="1755720"/>
            <a:ext cx="71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🔎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11"/>
          <p:cNvSpPr/>
          <p:nvPr/>
        </p:nvSpPr>
        <p:spPr>
          <a:xfrm>
            <a:off x="1115640" y="1810440"/>
            <a:ext cx="1828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d4a017"/>
                </a:solidFill>
                <a:latin typeface="Calibri"/>
              </a:rPr>
              <a:t>External Audit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 12"/>
          <p:cNvSpPr/>
          <p:nvPr/>
        </p:nvSpPr>
        <p:spPr>
          <a:xfrm>
            <a:off x="3017520" y="1847160"/>
            <a:ext cx="56689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adcfc"/>
                </a:solidFill>
                <a:latin typeface="Calibri"/>
              </a:rPr>
              <a:t>Compulsory for certain organizations per shareholder rules. Conducted by independent professionals. Results presented at annual general meetings. Can be run quarterly, half-yearly, or annually.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Shape 13"/>
          <p:cNvSpPr/>
          <p:nvPr/>
        </p:nvSpPr>
        <p:spPr>
          <a:xfrm>
            <a:off x="2926080" y="1892880"/>
            <a:ext cx="27000" cy="4384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14"/>
          <p:cNvSpPr/>
          <p:nvPr/>
        </p:nvSpPr>
        <p:spPr>
          <a:xfrm>
            <a:off x="320040" y="2578680"/>
            <a:ext cx="8503560" cy="712800"/>
          </a:xfrm>
          <a:prstGeom prst="rect">
            <a:avLst/>
          </a:prstGeom>
          <a:solidFill>
            <a:srgbClr val="152030"/>
          </a:solidFill>
          <a:ln w="19050">
            <a:solidFill>
              <a:srgbClr val="1e8449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Shape 15"/>
          <p:cNvSpPr/>
          <p:nvPr/>
        </p:nvSpPr>
        <p:spPr>
          <a:xfrm>
            <a:off x="320040" y="2578680"/>
            <a:ext cx="712800" cy="71280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Text 16"/>
          <p:cNvSpPr/>
          <p:nvPr/>
        </p:nvSpPr>
        <p:spPr>
          <a:xfrm>
            <a:off x="320040" y="2578680"/>
            <a:ext cx="71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📈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 17"/>
          <p:cNvSpPr/>
          <p:nvPr/>
        </p:nvSpPr>
        <p:spPr>
          <a:xfrm>
            <a:off x="1115640" y="2633400"/>
            <a:ext cx="1828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e8449"/>
                </a:solidFill>
                <a:latin typeface="Calibri"/>
              </a:rPr>
              <a:t>Performance Audit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 18"/>
          <p:cNvSpPr/>
          <p:nvPr/>
        </p:nvSpPr>
        <p:spPr>
          <a:xfrm>
            <a:off x="3017520" y="2670120"/>
            <a:ext cx="56689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adcfc"/>
                </a:solidFill>
                <a:latin typeface="Calibri"/>
              </a:rPr>
              <a:t>Evaluates internal controls, business perspectives, and program effectiveness. Auditors assess processes and systems to measure productivity and efficiency toward business goals.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Shape 19"/>
          <p:cNvSpPr/>
          <p:nvPr/>
        </p:nvSpPr>
        <p:spPr>
          <a:xfrm>
            <a:off x="2926080" y="2715840"/>
            <a:ext cx="27000" cy="43848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Shape 20"/>
          <p:cNvSpPr/>
          <p:nvPr/>
        </p:nvSpPr>
        <p:spPr>
          <a:xfrm>
            <a:off x="320040" y="3401640"/>
            <a:ext cx="8503560" cy="712800"/>
          </a:xfrm>
          <a:prstGeom prst="rect">
            <a:avLst/>
          </a:prstGeom>
          <a:solidFill>
            <a:srgbClr val="152030"/>
          </a:solidFill>
          <a:ln w="19050">
            <a:solidFill>
              <a:srgbClr val="6c3483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Shape 21"/>
          <p:cNvSpPr/>
          <p:nvPr/>
        </p:nvSpPr>
        <p:spPr>
          <a:xfrm>
            <a:off x="320040" y="3401640"/>
            <a:ext cx="712800" cy="7128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 22"/>
          <p:cNvSpPr/>
          <p:nvPr/>
        </p:nvSpPr>
        <p:spPr>
          <a:xfrm>
            <a:off x="320040" y="3401640"/>
            <a:ext cx="71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✅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 23"/>
          <p:cNvSpPr/>
          <p:nvPr/>
        </p:nvSpPr>
        <p:spPr>
          <a:xfrm>
            <a:off x="1115640" y="3456360"/>
            <a:ext cx="1828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6c3483"/>
                </a:solidFill>
                <a:latin typeface="Calibri"/>
              </a:rPr>
              <a:t>Compliance Audit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 24"/>
          <p:cNvSpPr/>
          <p:nvPr/>
        </p:nvSpPr>
        <p:spPr>
          <a:xfrm>
            <a:off x="3017520" y="3493080"/>
            <a:ext cx="56689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adcfc"/>
                </a:solidFill>
                <a:latin typeface="Calibri"/>
              </a:rPr>
              <a:t>Examines processes and policies to verify compliance with regulatory or internal standards. Commonly conducted in educational institutions and heavily regulated industries.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Shape 25"/>
          <p:cNvSpPr/>
          <p:nvPr/>
        </p:nvSpPr>
        <p:spPr>
          <a:xfrm>
            <a:off x="2926080" y="3538800"/>
            <a:ext cx="27000" cy="43848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Shape 26"/>
          <p:cNvSpPr/>
          <p:nvPr/>
        </p:nvSpPr>
        <p:spPr>
          <a:xfrm>
            <a:off x="320040" y="4224600"/>
            <a:ext cx="8503560" cy="712800"/>
          </a:xfrm>
          <a:prstGeom prst="rect">
            <a:avLst/>
          </a:prstGeom>
          <a:solidFill>
            <a:srgbClr val="152030"/>
          </a:solidFill>
          <a:ln w="19050">
            <a:solidFill>
              <a:srgbClr val="e67e22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Shape 27"/>
          <p:cNvSpPr/>
          <p:nvPr/>
        </p:nvSpPr>
        <p:spPr>
          <a:xfrm>
            <a:off x="320040" y="4224600"/>
            <a:ext cx="712800" cy="7128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28"/>
          <p:cNvSpPr/>
          <p:nvPr/>
        </p:nvSpPr>
        <p:spPr>
          <a:xfrm>
            <a:off x="320040" y="4224600"/>
            <a:ext cx="71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⚙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 29"/>
          <p:cNvSpPr/>
          <p:nvPr/>
        </p:nvSpPr>
        <p:spPr>
          <a:xfrm>
            <a:off x="1115640" y="4279320"/>
            <a:ext cx="1828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67e22"/>
                </a:solidFill>
                <a:latin typeface="Calibri"/>
              </a:rPr>
              <a:t>Operational Audit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 30"/>
          <p:cNvSpPr/>
          <p:nvPr/>
        </p:nvSpPr>
        <p:spPr>
          <a:xfrm>
            <a:off x="3017520" y="4316040"/>
            <a:ext cx="56689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adcfc"/>
                </a:solidFill>
                <a:latin typeface="Calibri"/>
              </a:rPr>
              <a:t>Focuses on enhancing organizational operations and spotting inefficiencies. Analyses policies, processes, goals, and outcomes. May use internal or external agents.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Shape 31"/>
          <p:cNvSpPr/>
          <p:nvPr/>
        </p:nvSpPr>
        <p:spPr>
          <a:xfrm>
            <a:off x="2926080" y="4361760"/>
            <a:ext cx="27000" cy="4384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 1"/>
          <p:cNvSpPr/>
          <p:nvPr/>
        </p:nvSpPr>
        <p:spPr>
          <a:xfrm>
            <a:off x="365760" y="0"/>
            <a:ext cx="8412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199" strike="noStrike">
                <a:solidFill>
                  <a:srgbClr val="ffffff"/>
                </a:solidFill>
                <a:latin typeface="Calibri"/>
              </a:rPr>
              <a:t>TYPES OF PROJECT AUDITS  —  Part 2 of 2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2"/>
          <p:cNvSpPr/>
          <p:nvPr/>
        </p:nvSpPr>
        <p:spPr>
          <a:xfrm>
            <a:off x="320040" y="932760"/>
            <a:ext cx="8503560" cy="712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3"/>
          <p:cNvSpPr/>
          <p:nvPr/>
        </p:nvSpPr>
        <p:spPr>
          <a:xfrm>
            <a:off x="320040" y="932760"/>
            <a:ext cx="712800" cy="712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Text 4"/>
          <p:cNvSpPr/>
          <p:nvPr/>
        </p:nvSpPr>
        <p:spPr>
          <a:xfrm>
            <a:off x="320040" y="932760"/>
            <a:ext cx="71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🏛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5"/>
          <p:cNvSpPr/>
          <p:nvPr/>
        </p:nvSpPr>
        <p:spPr>
          <a:xfrm>
            <a:off x="1115640" y="987480"/>
            <a:ext cx="2011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e2761"/>
                </a:solidFill>
                <a:latin typeface="Calibri"/>
              </a:rPr>
              <a:t>Statutory Audit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6"/>
          <p:cNvSpPr/>
          <p:nvPr/>
        </p:nvSpPr>
        <p:spPr>
          <a:xfrm>
            <a:off x="3108960" y="1024200"/>
            <a:ext cx="55774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c3e50"/>
                </a:solidFill>
                <a:latin typeface="Calibri"/>
              </a:rPr>
              <a:t>Checks compliance with all government policies and regulations. An external auditor verifies financial records including bank statements, investment earnings, and client lists.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7"/>
          <p:cNvSpPr/>
          <p:nvPr/>
        </p:nvSpPr>
        <p:spPr>
          <a:xfrm>
            <a:off x="3017520" y="1069920"/>
            <a:ext cx="27000" cy="438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Shape 8"/>
          <p:cNvSpPr/>
          <p:nvPr/>
        </p:nvSpPr>
        <p:spPr>
          <a:xfrm>
            <a:off x="320040" y="1755720"/>
            <a:ext cx="8503560" cy="712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9"/>
          <p:cNvSpPr/>
          <p:nvPr/>
        </p:nvSpPr>
        <p:spPr>
          <a:xfrm>
            <a:off x="320040" y="1755720"/>
            <a:ext cx="712800" cy="712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 10"/>
          <p:cNvSpPr/>
          <p:nvPr/>
        </p:nvSpPr>
        <p:spPr>
          <a:xfrm>
            <a:off x="320040" y="1755720"/>
            <a:ext cx="71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💵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11"/>
          <p:cNvSpPr/>
          <p:nvPr/>
        </p:nvSpPr>
        <p:spPr>
          <a:xfrm>
            <a:off x="1115640" y="1810440"/>
            <a:ext cx="2011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c0392b"/>
                </a:solidFill>
                <a:latin typeface="Calibri"/>
              </a:rPr>
              <a:t>IRS / Tax Audit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12"/>
          <p:cNvSpPr/>
          <p:nvPr/>
        </p:nvSpPr>
        <p:spPr>
          <a:xfrm>
            <a:off x="3108960" y="1847160"/>
            <a:ext cx="55774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c3e50"/>
                </a:solidFill>
                <a:latin typeface="Calibri"/>
              </a:rPr>
              <a:t>Analyses accuracy of tax returns for irregularities in tax liabilities. Ensures no underpayment or overpayment. Conducted randomly via in-person interviews or mail.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13"/>
          <p:cNvSpPr/>
          <p:nvPr/>
        </p:nvSpPr>
        <p:spPr>
          <a:xfrm>
            <a:off x="3017520" y="1892880"/>
            <a:ext cx="27000" cy="438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Shape 14"/>
          <p:cNvSpPr/>
          <p:nvPr/>
        </p:nvSpPr>
        <p:spPr>
          <a:xfrm>
            <a:off x="320040" y="2578680"/>
            <a:ext cx="8503560" cy="712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17a65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15"/>
          <p:cNvSpPr/>
          <p:nvPr/>
        </p:nvSpPr>
        <p:spPr>
          <a:xfrm>
            <a:off x="320040" y="2578680"/>
            <a:ext cx="712800" cy="71280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Text 16"/>
          <p:cNvSpPr/>
          <p:nvPr/>
        </p:nvSpPr>
        <p:spPr>
          <a:xfrm>
            <a:off x="320040" y="2578680"/>
            <a:ext cx="71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👥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17"/>
          <p:cNvSpPr/>
          <p:nvPr/>
        </p:nvSpPr>
        <p:spPr>
          <a:xfrm>
            <a:off x="1115640" y="2633400"/>
            <a:ext cx="2011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17a65"/>
                </a:solidFill>
                <a:latin typeface="Calibri"/>
              </a:rPr>
              <a:t>Payroll Audit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18"/>
          <p:cNvSpPr/>
          <p:nvPr/>
        </p:nvSpPr>
        <p:spPr>
          <a:xfrm>
            <a:off x="3108960" y="2670120"/>
            <a:ext cx="55774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c3e50"/>
                </a:solidFill>
                <a:latin typeface="Calibri"/>
              </a:rPr>
              <a:t>Identifies errors and improves compliance to protect the business from payroll fraud. Conducted by internal auditors or third-party auditors hired by the firm.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hape 19"/>
          <p:cNvSpPr/>
          <p:nvPr/>
        </p:nvSpPr>
        <p:spPr>
          <a:xfrm>
            <a:off x="3017520" y="2715840"/>
            <a:ext cx="27000" cy="43848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Shape 20"/>
          <p:cNvSpPr/>
          <p:nvPr/>
        </p:nvSpPr>
        <p:spPr>
          <a:xfrm>
            <a:off x="320040" y="3401640"/>
            <a:ext cx="8503560" cy="712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ab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hape 21"/>
          <p:cNvSpPr/>
          <p:nvPr/>
        </p:nvSpPr>
        <p:spPr>
          <a:xfrm>
            <a:off x="320040" y="3401640"/>
            <a:ext cx="712800" cy="7128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Text 22"/>
          <p:cNvSpPr/>
          <p:nvPr/>
        </p:nvSpPr>
        <p:spPr>
          <a:xfrm>
            <a:off x="320040" y="3401640"/>
            <a:ext cx="71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💻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23"/>
          <p:cNvSpPr/>
          <p:nvPr/>
        </p:nvSpPr>
        <p:spPr>
          <a:xfrm>
            <a:off x="1115640" y="3456360"/>
            <a:ext cx="2011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2e86ab"/>
                </a:solidFill>
                <a:latin typeface="Calibri"/>
              </a:rPr>
              <a:t>Information System Audit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24"/>
          <p:cNvSpPr/>
          <p:nvPr/>
        </p:nvSpPr>
        <p:spPr>
          <a:xfrm>
            <a:off x="3108960" y="3493080"/>
            <a:ext cx="55774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c3e50"/>
                </a:solidFill>
                <a:latin typeface="Calibri"/>
              </a:rPr>
              <a:t>Evaluates IT risks, ensures data security, analyses technology use, and protects systems from hackers. Guarantees stakeholders that company IT objectives are met.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Shape 25"/>
          <p:cNvSpPr/>
          <p:nvPr/>
        </p:nvSpPr>
        <p:spPr>
          <a:xfrm>
            <a:off x="3017520" y="3538800"/>
            <a:ext cx="27000" cy="4384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Shape 26"/>
          <p:cNvSpPr/>
          <p:nvPr/>
        </p:nvSpPr>
        <p:spPr>
          <a:xfrm>
            <a:off x="320040" y="4224600"/>
            <a:ext cx="8503560" cy="712800"/>
          </a:xfrm>
          <a:prstGeom prst="rect">
            <a:avLst/>
          </a:prstGeom>
          <a:solidFill>
            <a:srgbClr val="ffffff"/>
          </a:solidFill>
          <a:ln w="19050">
            <a:solidFill>
              <a:srgbClr val="6c3483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27"/>
          <p:cNvSpPr/>
          <p:nvPr/>
        </p:nvSpPr>
        <p:spPr>
          <a:xfrm>
            <a:off x="320040" y="4224600"/>
            <a:ext cx="712800" cy="7128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 28"/>
          <p:cNvSpPr/>
          <p:nvPr/>
        </p:nvSpPr>
        <p:spPr>
          <a:xfrm>
            <a:off x="320040" y="4224600"/>
            <a:ext cx="71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🔬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29"/>
          <p:cNvSpPr/>
          <p:nvPr/>
        </p:nvSpPr>
        <p:spPr>
          <a:xfrm>
            <a:off x="1115640" y="4279320"/>
            <a:ext cx="2011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6c3483"/>
                </a:solidFill>
                <a:latin typeface="Calibri"/>
              </a:rPr>
              <a:t>Forensic Audit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30"/>
          <p:cNvSpPr/>
          <p:nvPr/>
        </p:nvSpPr>
        <p:spPr>
          <a:xfrm>
            <a:off x="3108960" y="4316040"/>
            <a:ext cx="55774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c3e50"/>
                </a:solidFill>
                <a:latin typeface="Calibri"/>
              </a:rPr>
              <a:t>Examines financial records to identify illegal financial activities. Auditor collects legal evidence for court proceedings. Used when theft, fraud, or financial inaccuracies are suspected.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31"/>
          <p:cNvSpPr/>
          <p:nvPr/>
        </p:nvSpPr>
        <p:spPr>
          <a:xfrm>
            <a:off x="3017520" y="4361760"/>
            <a:ext cx="27000" cy="43848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Text 1"/>
          <p:cNvSpPr/>
          <p:nvPr/>
        </p:nvSpPr>
        <p:spPr>
          <a:xfrm>
            <a:off x="365760" y="0"/>
            <a:ext cx="8412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199" strike="noStrike">
                <a:solidFill>
                  <a:srgbClr val="ffffff"/>
                </a:solidFill>
                <a:latin typeface="Calibri"/>
              </a:rPr>
              <a:t>ALL 10 AUDIT TYPES — AT A GLANCE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Shape 2"/>
          <p:cNvSpPr/>
          <p:nvPr/>
        </p:nvSpPr>
        <p:spPr>
          <a:xfrm>
            <a:off x="274320" y="960120"/>
            <a:ext cx="1599840" cy="1828440"/>
          </a:xfrm>
          <a:prstGeom prst="rect">
            <a:avLst/>
          </a:prstGeom>
          <a:solidFill>
            <a:srgbClr val="182535"/>
          </a:solidFill>
          <a:ln w="25400">
            <a:solidFill>
              <a:srgbClr val="2e86ab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Shape 3"/>
          <p:cNvSpPr/>
          <p:nvPr/>
        </p:nvSpPr>
        <p:spPr>
          <a:xfrm>
            <a:off x="274320" y="960120"/>
            <a:ext cx="1599840" cy="6854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Text 4"/>
          <p:cNvSpPr/>
          <p:nvPr/>
        </p:nvSpPr>
        <p:spPr>
          <a:xfrm>
            <a:off x="274320" y="960120"/>
            <a:ext cx="1599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🏢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Text 5"/>
          <p:cNvSpPr/>
          <p:nvPr/>
        </p:nvSpPr>
        <p:spPr>
          <a:xfrm>
            <a:off x="347400" y="1710000"/>
            <a:ext cx="14626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e86ab"/>
                </a:solidFill>
                <a:latin typeface="Calibri"/>
              </a:rPr>
              <a:t>Internal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Shape 6"/>
          <p:cNvSpPr/>
          <p:nvPr/>
        </p:nvSpPr>
        <p:spPr>
          <a:xfrm>
            <a:off x="2011680" y="960120"/>
            <a:ext cx="1599840" cy="1828440"/>
          </a:xfrm>
          <a:prstGeom prst="rect">
            <a:avLst/>
          </a:prstGeom>
          <a:solidFill>
            <a:srgbClr val="182535"/>
          </a:solidFill>
          <a:ln w="25400">
            <a:solidFill>
              <a:srgbClr val="d4a017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Shape 7"/>
          <p:cNvSpPr/>
          <p:nvPr/>
        </p:nvSpPr>
        <p:spPr>
          <a:xfrm>
            <a:off x="2011680" y="960120"/>
            <a:ext cx="1599840" cy="6854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8"/>
          <p:cNvSpPr/>
          <p:nvPr/>
        </p:nvSpPr>
        <p:spPr>
          <a:xfrm>
            <a:off x="2011680" y="960120"/>
            <a:ext cx="1599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🔎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Text 9"/>
          <p:cNvSpPr/>
          <p:nvPr/>
        </p:nvSpPr>
        <p:spPr>
          <a:xfrm>
            <a:off x="2084760" y="1710000"/>
            <a:ext cx="14626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d4a017"/>
                </a:solidFill>
                <a:latin typeface="Calibri"/>
              </a:rPr>
              <a:t>External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Shape 10"/>
          <p:cNvSpPr/>
          <p:nvPr/>
        </p:nvSpPr>
        <p:spPr>
          <a:xfrm>
            <a:off x="3749040" y="960120"/>
            <a:ext cx="1599840" cy="1828440"/>
          </a:xfrm>
          <a:prstGeom prst="rect">
            <a:avLst/>
          </a:prstGeom>
          <a:solidFill>
            <a:srgbClr val="182535"/>
          </a:solidFill>
          <a:ln w="25400">
            <a:solidFill>
              <a:srgbClr val="1e8449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Shape 11"/>
          <p:cNvSpPr/>
          <p:nvPr/>
        </p:nvSpPr>
        <p:spPr>
          <a:xfrm>
            <a:off x="3749040" y="960120"/>
            <a:ext cx="1599840" cy="6854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Text 12"/>
          <p:cNvSpPr/>
          <p:nvPr/>
        </p:nvSpPr>
        <p:spPr>
          <a:xfrm>
            <a:off x="3749040" y="960120"/>
            <a:ext cx="1599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📈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Text 13"/>
          <p:cNvSpPr/>
          <p:nvPr/>
        </p:nvSpPr>
        <p:spPr>
          <a:xfrm>
            <a:off x="3822120" y="1710000"/>
            <a:ext cx="14626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e8449"/>
                </a:solidFill>
                <a:latin typeface="Calibri"/>
              </a:rPr>
              <a:t>Performance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Shape 14"/>
          <p:cNvSpPr/>
          <p:nvPr/>
        </p:nvSpPr>
        <p:spPr>
          <a:xfrm>
            <a:off x="5486400" y="960120"/>
            <a:ext cx="1599840" cy="1828440"/>
          </a:xfrm>
          <a:prstGeom prst="rect">
            <a:avLst/>
          </a:prstGeom>
          <a:solidFill>
            <a:srgbClr val="182535"/>
          </a:solidFill>
          <a:ln w="25400">
            <a:solidFill>
              <a:srgbClr val="6c3483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Shape 15"/>
          <p:cNvSpPr/>
          <p:nvPr/>
        </p:nvSpPr>
        <p:spPr>
          <a:xfrm>
            <a:off x="5486400" y="960120"/>
            <a:ext cx="1599840" cy="68544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Text 16"/>
          <p:cNvSpPr/>
          <p:nvPr/>
        </p:nvSpPr>
        <p:spPr>
          <a:xfrm>
            <a:off x="5486400" y="960120"/>
            <a:ext cx="1599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✅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Text 17"/>
          <p:cNvSpPr/>
          <p:nvPr/>
        </p:nvSpPr>
        <p:spPr>
          <a:xfrm>
            <a:off x="5559480" y="1710000"/>
            <a:ext cx="14626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6c3483"/>
                </a:solidFill>
                <a:latin typeface="Calibri"/>
              </a:rPr>
              <a:t>Compliance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Shape 18"/>
          <p:cNvSpPr/>
          <p:nvPr/>
        </p:nvSpPr>
        <p:spPr>
          <a:xfrm>
            <a:off x="7223760" y="960120"/>
            <a:ext cx="1599840" cy="1828440"/>
          </a:xfrm>
          <a:prstGeom prst="rect">
            <a:avLst/>
          </a:prstGeom>
          <a:solidFill>
            <a:srgbClr val="182535"/>
          </a:solidFill>
          <a:ln w="25400">
            <a:solidFill>
              <a:srgbClr val="e67e22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Shape 19"/>
          <p:cNvSpPr/>
          <p:nvPr/>
        </p:nvSpPr>
        <p:spPr>
          <a:xfrm>
            <a:off x="7223760" y="960120"/>
            <a:ext cx="1599840" cy="6854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Text 20"/>
          <p:cNvSpPr/>
          <p:nvPr/>
        </p:nvSpPr>
        <p:spPr>
          <a:xfrm>
            <a:off x="7223760" y="960120"/>
            <a:ext cx="1599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⚙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Text 21"/>
          <p:cNvSpPr/>
          <p:nvPr/>
        </p:nvSpPr>
        <p:spPr>
          <a:xfrm>
            <a:off x="7296840" y="1710000"/>
            <a:ext cx="14626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67e22"/>
                </a:solidFill>
                <a:latin typeface="Calibri"/>
              </a:rPr>
              <a:t>Operational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Shape 22"/>
          <p:cNvSpPr/>
          <p:nvPr/>
        </p:nvSpPr>
        <p:spPr>
          <a:xfrm>
            <a:off x="274320" y="2926080"/>
            <a:ext cx="1599840" cy="1828440"/>
          </a:xfrm>
          <a:prstGeom prst="rect">
            <a:avLst/>
          </a:prstGeom>
          <a:solidFill>
            <a:srgbClr val="182535"/>
          </a:solidFill>
          <a:ln w="25400">
            <a:solidFill>
              <a:srgbClr val="1e2761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Shape 23"/>
          <p:cNvSpPr/>
          <p:nvPr/>
        </p:nvSpPr>
        <p:spPr>
          <a:xfrm>
            <a:off x="274320" y="2926080"/>
            <a:ext cx="1599840" cy="685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Text 24"/>
          <p:cNvSpPr/>
          <p:nvPr/>
        </p:nvSpPr>
        <p:spPr>
          <a:xfrm>
            <a:off x="274320" y="2926080"/>
            <a:ext cx="1599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🏛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Text 25"/>
          <p:cNvSpPr/>
          <p:nvPr/>
        </p:nvSpPr>
        <p:spPr>
          <a:xfrm>
            <a:off x="347400" y="3675960"/>
            <a:ext cx="14626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e2761"/>
                </a:solidFill>
                <a:latin typeface="Calibri"/>
              </a:rPr>
              <a:t>Statutory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Shape 26"/>
          <p:cNvSpPr/>
          <p:nvPr/>
        </p:nvSpPr>
        <p:spPr>
          <a:xfrm>
            <a:off x="2011680" y="2926080"/>
            <a:ext cx="1599840" cy="1828440"/>
          </a:xfrm>
          <a:prstGeom prst="rect">
            <a:avLst/>
          </a:prstGeom>
          <a:solidFill>
            <a:srgbClr val="182535"/>
          </a:solidFill>
          <a:ln w="25400">
            <a:solidFill>
              <a:srgbClr val="c0392b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Shape 27"/>
          <p:cNvSpPr/>
          <p:nvPr/>
        </p:nvSpPr>
        <p:spPr>
          <a:xfrm>
            <a:off x="2011680" y="2926080"/>
            <a:ext cx="1599840" cy="685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 28"/>
          <p:cNvSpPr/>
          <p:nvPr/>
        </p:nvSpPr>
        <p:spPr>
          <a:xfrm>
            <a:off x="2011680" y="2926080"/>
            <a:ext cx="1599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💵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Text 29"/>
          <p:cNvSpPr/>
          <p:nvPr/>
        </p:nvSpPr>
        <p:spPr>
          <a:xfrm>
            <a:off x="2084760" y="3675960"/>
            <a:ext cx="14626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0392b"/>
                </a:solidFill>
                <a:latin typeface="Calibri"/>
              </a:rPr>
              <a:t>Tax / IRS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Shape 30"/>
          <p:cNvSpPr/>
          <p:nvPr/>
        </p:nvSpPr>
        <p:spPr>
          <a:xfrm>
            <a:off x="3749040" y="2926080"/>
            <a:ext cx="1599840" cy="1828440"/>
          </a:xfrm>
          <a:prstGeom prst="rect">
            <a:avLst/>
          </a:prstGeom>
          <a:solidFill>
            <a:srgbClr val="182535"/>
          </a:solidFill>
          <a:ln w="25400">
            <a:solidFill>
              <a:srgbClr val="117a65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Shape 31"/>
          <p:cNvSpPr/>
          <p:nvPr/>
        </p:nvSpPr>
        <p:spPr>
          <a:xfrm>
            <a:off x="3749040" y="2926080"/>
            <a:ext cx="1599840" cy="68544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Text 32"/>
          <p:cNvSpPr/>
          <p:nvPr/>
        </p:nvSpPr>
        <p:spPr>
          <a:xfrm>
            <a:off x="3749040" y="2926080"/>
            <a:ext cx="1599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👥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Text 33"/>
          <p:cNvSpPr/>
          <p:nvPr/>
        </p:nvSpPr>
        <p:spPr>
          <a:xfrm>
            <a:off x="3822120" y="3675960"/>
            <a:ext cx="14626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17a65"/>
                </a:solidFill>
                <a:latin typeface="Calibri"/>
              </a:rPr>
              <a:t>Payroll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Shape 34"/>
          <p:cNvSpPr/>
          <p:nvPr/>
        </p:nvSpPr>
        <p:spPr>
          <a:xfrm>
            <a:off x="5486400" y="2926080"/>
            <a:ext cx="1599840" cy="1828440"/>
          </a:xfrm>
          <a:prstGeom prst="rect">
            <a:avLst/>
          </a:prstGeom>
          <a:solidFill>
            <a:srgbClr val="182535"/>
          </a:solidFill>
          <a:ln w="25400">
            <a:solidFill>
              <a:srgbClr val="2e86ab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Shape 35"/>
          <p:cNvSpPr/>
          <p:nvPr/>
        </p:nvSpPr>
        <p:spPr>
          <a:xfrm>
            <a:off x="5486400" y="2926080"/>
            <a:ext cx="1599840" cy="6854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 36"/>
          <p:cNvSpPr/>
          <p:nvPr/>
        </p:nvSpPr>
        <p:spPr>
          <a:xfrm>
            <a:off x="5486400" y="2926080"/>
            <a:ext cx="1599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💻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Text 37"/>
          <p:cNvSpPr/>
          <p:nvPr/>
        </p:nvSpPr>
        <p:spPr>
          <a:xfrm>
            <a:off x="5559480" y="3675960"/>
            <a:ext cx="14626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e86ab"/>
                </a:solidFill>
                <a:latin typeface="Calibri"/>
              </a:rPr>
              <a:t>IT Systems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Shape 38"/>
          <p:cNvSpPr/>
          <p:nvPr/>
        </p:nvSpPr>
        <p:spPr>
          <a:xfrm>
            <a:off x="7223760" y="2926080"/>
            <a:ext cx="1599840" cy="1828440"/>
          </a:xfrm>
          <a:prstGeom prst="rect">
            <a:avLst/>
          </a:prstGeom>
          <a:solidFill>
            <a:srgbClr val="182535"/>
          </a:solidFill>
          <a:ln w="25400">
            <a:solidFill>
              <a:srgbClr val="6c3483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Shape 39"/>
          <p:cNvSpPr/>
          <p:nvPr/>
        </p:nvSpPr>
        <p:spPr>
          <a:xfrm>
            <a:off x="7223760" y="2926080"/>
            <a:ext cx="1599840" cy="68544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Text 40"/>
          <p:cNvSpPr/>
          <p:nvPr/>
        </p:nvSpPr>
        <p:spPr>
          <a:xfrm>
            <a:off x="7223760" y="2926080"/>
            <a:ext cx="1599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🔬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Text 41"/>
          <p:cNvSpPr/>
          <p:nvPr/>
        </p:nvSpPr>
        <p:spPr>
          <a:xfrm>
            <a:off x="7296840" y="3675960"/>
            <a:ext cx="14626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6c3483"/>
                </a:solidFill>
                <a:latin typeface="Calibri"/>
              </a:rPr>
              <a:t>Forensic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Text 1"/>
          <p:cNvSpPr/>
          <p:nvPr/>
        </p:nvSpPr>
        <p:spPr>
          <a:xfrm>
            <a:off x="365760" y="0"/>
            <a:ext cx="8412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199" strike="noStrike">
                <a:solidFill>
                  <a:srgbClr val="ffffff"/>
                </a:solidFill>
                <a:latin typeface="Calibri"/>
              </a:rPr>
              <a:t>BENEFITS OF PROJECT MANAGEMENT AUDIT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Shape 2"/>
          <p:cNvSpPr/>
          <p:nvPr/>
        </p:nvSpPr>
        <p:spPr>
          <a:xfrm>
            <a:off x="320040" y="960120"/>
            <a:ext cx="4205880" cy="123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d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3"/>
          <p:cNvSpPr/>
          <p:nvPr/>
        </p:nvSpPr>
        <p:spPr>
          <a:xfrm>
            <a:off x="484560" y="1234440"/>
            <a:ext cx="502560" cy="5025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 4"/>
          <p:cNvSpPr/>
          <p:nvPr/>
        </p:nvSpPr>
        <p:spPr>
          <a:xfrm>
            <a:off x="484560" y="12344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🛡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5"/>
          <p:cNvSpPr/>
          <p:nvPr/>
        </p:nvSpPr>
        <p:spPr>
          <a:xfrm>
            <a:off x="1097280" y="1051560"/>
            <a:ext cx="3291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d1b2a"/>
                </a:solidFill>
                <a:latin typeface="Calibri"/>
              </a:rPr>
              <a:t>Risk Mitigation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6"/>
          <p:cNvSpPr/>
          <p:nvPr/>
        </p:nvSpPr>
        <p:spPr>
          <a:xfrm>
            <a:off x="1097280" y="1417320"/>
            <a:ext cx="32914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</a:rPr>
              <a:t>Identifies threats early — scope creep, budget overruns, missed deadlines — enabling corrective actions before escalation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Shape 7"/>
          <p:cNvSpPr/>
          <p:nvPr/>
        </p:nvSpPr>
        <p:spPr>
          <a:xfrm>
            <a:off x="4846320" y="960120"/>
            <a:ext cx="4205880" cy="123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d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8"/>
          <p:cNvSpPr/>
          <p:nvPr/>
        </p:nvSpPr>
        <p:spPr>
          <a:xfrm>
            <a:off x="5010840" y="1234440"/>
            <a:ext cx="502560" cy="50256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 9"/>
          <p:cNvSpPr/>
          <p:nvPr/>
        </p:nvSpPr>
        <p:spPr>
          <a:xfrm>
            <a:off x="5010840" y="12344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📊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 10"/>
          <p:cNvSpPr/>
          <p:nvPr/>
        </p:nvSpPr>
        <p:spPr>
          <a:xfrm>
            <a:off x="5623560" y="1051560"/>
            <a:ext cx="3291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d1b2a"/>
                </a:solidFill>
                <a:latin typeface="Calibri"/>
              </a:rPr>
              <a:t>Informed Decisions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11"/>
          <p:cNvSpPr/>
          <p:nvPr/>
        </p:nvSpPr>
        <p:spPr>
          <a:xfrm>
            <a:off x="5623560" y="1417320"/>
            <a:ext cx="32914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</a:rPr>
              <a:t>Provides data-backed insights for sponsors and management to decide whether to continue, re-scope, or cancel a project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Shape 12"/>
          <p:cNvSpPr/>
          <p:nvPr/>
        </p:nvSpPr>
        <p:spPr>
          <a:xfrm>
            <a:off x="320040" y="2331720"/>
            <a:ext cx="4205880" cy="123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d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Shape 13"/>
          <p:cNvSpPr/>
          <p:nvPr/>
        </p:nvSpPr>
        <p:spPr>
          <a:xfrm>
            <a:off x="484560" y="2606040"/>
            <a:ext cx="502560" cy="50256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Text 14"/>
          <p:cNvSpPr/>
          <p:nvPr/>
        </p:nvSpPr>
        <p:spPr>
          <a:xfrm>
            <a:off x="484560" y="26060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🔄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 15"/>
          <p:cNvSpPr/>
          <p:nvPr/>
        </p:nvSpPr>
        <p:spPr>
          <a:xfrm>
            <a:off x="1097280" y="2423160"/>
            <a:ext cx="3291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d1b2a"/>
                </a:solidFill>
                <a:latin typeface="Calibri"/>
              </a:rPr>
              <a:t>Process Improvement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 16"/>
          <p:cNvSpPr/>
          <p:nvPr/>
        </p:nvSpPr>
        <p:spPr>
          <a:xfrm>
            <a:off x="1097280" y="2788920"/>
            <a:ext cx="32914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</a:rPr>
              <a:t>Reveals inefficiencies in workflows, communication, and resource allocation, enabling continuous improvement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Shape 17"/>
          <p:cNvSpPr/>
          <p:nvPr/>
        </p:nvSpPr>
        <p:spPr>
          <a:xfrm>
            <a:off x="4846320" y="2331720"/>
            <a:ext cx="4205880" cy="123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d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18"/>
          <p:cNvSpPr/>
          <p:nvPr/>
        </p:nvSpPr>
        <p:spPr>
          <a:xfrm>
            <a:off x="5010840" y="2606040"/>
            <a:ext cx="502560" cy="502560"/>
          </a:xfrm>
          <a:prstGeom prst="ellipse">
            <a:avLst/>
          </a:prstGeom>
          <a:solidFill>
            <a:srgbClr val="6c3483"/>
          </a:solidFill>
          <a:ln w="12700">
            <a:solidFill>
              <a:srgbClr val="6c34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Text 19"/>
          <p:cNvSpPr/>
          <p:nvPr/>
        </p:nvSpPr>
        <p:spPr>
          <a:xfrm>
            <a:off x="5010840" y="26060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🤝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 20"/>
          <p:cNvSpPr/>
          <p:nvPr/>
        </p:nvSpPr>
        <p:spPr>
          <a:xfrm>
            <a:off x="5623560" y="2423160"/>
            <a:ext cx="3291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d1b2a"/>
                </a:solidFill>
                <a:latin typeface="Calibri"/>
              </a:rPr>
              <a:t>Stakeholder Confidence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 21"/>
          <p:cNvSpPr/>
          <p:nvPr/>
        </p:nvSpPr>
        <p:spPr>
          <a:xfrm>
            <a:off x="5623560" y="2788920"/>
            <a:ext cx="32914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</a:rPr>
              <a:t>Transparent audit reports build trust by demonstrating that financial accounts are fair, accurate, and compliant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Shape 22"/>
          <p:cNvSpPr/>
          <p:nvPr/>
        </p:nvSpPr>
        <p:spPr>
          <a:xfrm>
            <a:off x="320040" y="3703320"/>
            <a:ext cx="4205880" cy="123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d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Shape 23"/>
          <p:cNvSpPr/>
          <p:nvPr/>
        </p:nvSpPr>
        <p:spPr>
          <a:xfrm>
            <a:off x="484560" y="3977640"/>
            <a:ext cx="502560" cy="50256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Text 24"/>
          <p:cNvSpPr/>
          <p:nvPr/>
        </p:nvSpPr>
        <p:spPr>
          <a:xfrm>
            <a:off x="484560" y="39776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📚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 25"/>
          <p:cNvSpPr/>
          <p:nvPr/>
        </p:nvSpPr>
        <p:spPr>
          <a:xfrm>
            <a:off x="1097280" y="3794760"/>
            <a:ext cx="3291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d1b2a"/>
                </a:solidFill>
                <a:latin typeface="Calibri"/>
              </a:rPr>
              <a:t>Knowledge Transfer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 26"/>
          <p:cNvSpPr/>
          <p:nvPr/>
        </p:nvSpPr>
        <p:spPr>
          <a:xfrm>
            <a:off x="1097280" y="4160520"/>
            <a:ext cx="32914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</a:rPr>
              <a:t>Documents best practices and lessons learned, creating a reusable knowledge base for future project teams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Shape 27"/>
          <p:cNvSpPr/>
          <p:nvPr/>
        </p:nvSpPr>
        <p:spPr>
          <a:xfrm>
            <a:off x="4846320" y="3703320"/>
            <a:ext cx="4205880" cy="123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d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Shape 28"/>
          <p:cNvSpPr/>
          <p:nvPr/>
        </p:nvSpPr>
        <p:spPr>
          <a:xfrm>
            <a:off x="5010840" y="3977640"/>
            <a:ext cx="502560" cy="502560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Text 29"/>
          <p:cNvSpPr/>
          <p:nvPr/>
        </p:nvSpPr>
        <p:spPr>
          <a:xfrm>
            <a:off x="5010840" y="39776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💡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 30"/>
          <p:cNvSpPr/>
          <p:nvPr/>
        </p:nvSpPr>
        <p:spPr>
          <a:xfrm>
            <a:off x="5623560" y="3794760"/>
            <a:ext cx="3291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d1b2a"/>
                </a:solidFill>
                <a:latin typeface="Calibri"/>
              </a:rPr>
              <a:t>Performance Benchmarking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 31"/>
          <p:cNvSpPr/>
          <p:nvPr/>
        </p:nvSpPr>
        <p:spPr>
          <a:xfrm>
            <a:off x="5623560" y="4160520"/>
            <a:ext cx="32914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</a:rPr>
              <a:t>Establishes baselines and metrics for comparing performance across multiple projects within the organization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Text 1"/>
          <p:cNvSpPr/>
          <p:nvPr/>
        </p:nvSpPr>
        <p:spPr>
          <a:xfrm>
            <a:off x="365760" y="0"/>
            <a:ext cx="8412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199" strike="noStrike">
                <a:solidFill>
                  <a:srgbClr val="ffffff"/>
                </a:solidFill>
                <a:latin typeface="Calibri"/>
              </a:rPr>
              <a:t>WHO IS INVOLVED  &amp;  TOOLS USED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Shape 2"/>
          <p:cNvSpPr/>
          <p:nvPr/>
        </p:nvSpPr>
        <p:spPr>
          <a:xfrm>
            <a:off x="274320" y="960120"/>
            <a:ext cx="4114440" cy="3840120"/>
          </a:xfrm>
          <a:prstGeom prst="rect">
            <a:avLst/>
          </a:prstGeom>
          <a:solidFill>
            <a:srgbClr val="14202e"/>
          </a:solidFill>
          <a:ln w="25400">
            <a:solidFill>
              <a:srgbClr val="2e86ab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Shape 3"/>
          <p:cNvSpPr/>
          <p:nvPr/>
        </p:nvSpPr>
        <p:spPr>
          <a:xfrm>
            <a:off x="274320" y="960120"/>
            <a:ext cx="4114440" cy="529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Text 4"/>
          <p:cNvSpPr/>
          <p:nvPr/>
        </p:nvSpPr>
        <p:spPr>
          <a:xfrm>
            <a:off x="274320" y="960120"/>
            <a:ext cx="41144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👤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WHO IS INVOLVED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Shape 5"/>
          <p:cNvSpPr/>
          <p:nvPr/>
        </p:nvSpPr>
        <p:spPr>
          <a:xfrm>
            <a:off x="411480" y="1728360"/>
            <a:ext cx="319680" cy="31968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Text 6"/>
          <p:cNvSpPr/>
          <p:nvPr/>
        </p:nvSpPr>
        <p:spPr>
          <a:xfrm>
            <a:off x="822960" y="1645920"/>
            <a:ext cx="3382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cadcfc"/>
                </a:solidFill>
                <a:latin typeface="Calibri"/>
              </a:rPr>
              <a:t>Project Management Office (PMO)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Text 7"/>
          <p:cNvSpPr/>
          <p:nvPr/>
        </p:nvSpPr>
        <p:spPr>
          <a:xfrm>
            <a:off x="822960" y="1920240"/>
            <a:ext cx="3382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Dedicated review division overseeing all project audits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Shape 8"/>
          <p:cNvSpPr/>
          <p:nvPr/>
        </p:nvSpPr>
        <p:spPr>
          <a:xfrm>
            <a:off x="411480" y="2368440"/>
            <a:ext cx="319680" cy="31968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Text 9"/>
          <p:cNvSpPr/>
          <p:nvPr/>
        </p:nvSpPr>
        <p:spPr>
          <a:xfrm>
            <a:off x="822960" y="2286000"/>
            <a:ext cx="3382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cadcfc"/>
                </a:solidFill>
                <a:latin typeface="Calibri"/>
              </a:rPr>
              <a:t>Authorized Managing Committee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Text 10"/>
          <p:cNvSpPr/>
          <p:nvPr/>
        </p:nvSpPr>
        <p:spPr>
          <a:xfrm>
            <a:off x="822960" y="2560320"/>
            <a:ext cx="3382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Internal governing body with audit authority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Shape 11"/>
          <p:cNvSpPr/>
          <p:nvPr/>
        </p:nvSpPr>
        <p:spPr>
          <a:xfrm>
            <a:off x="411480" y="3008520"/>
            <a:ext cx="319680" cy="31968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Text 12"/>
          <p:cNvSpPr/>
          <p:nvPr/>
        </p:nvSpPr>
        <p:spPr>
          <a:xfrm>
            <a:off x="822960" y="2926080"/>
            <a:ext cx="3382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cadcfc"/>
                </a:solidFill>
                <a:latin typeface="Calibri"/>
              </a:rPr>
              <a:t>Independent External Auditor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Text 13"/>
          <p:cNvSpPr/>
          <p:nvPr/>
        </p:nvSpPr>
        <p:spPr>
          <a:xfrm>
            <a:off x="822960" y="3200400"/>
            <a:ext cx="3382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Certified third-party professional (e.g., CPA)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Shape 14"/>
          <p:cNvSpPr/>
          <p:nvPr/>
        </p:nvSpPr>
        <p:spPr>
          <a:xfrm>
            <a:off x="411480" y="3648600"/>
            <a:ext cx="319680" cy="31968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Text 15"/>
          <p:cNvSpPr/>
          <p:nvPr/>
        </p:nvSpPr>
        <p:spPr>
          <a:xfrm>
            <a:off x="822960" y="3566160"/>
            <a:ext cx="3382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cadcfc"/>
                </a:solidFill>
                <a:latin typeface="Calibri"/>
              </a:rPr>
              <a:t>Project Sponsor / Leadership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Text 16"/>
          <p:cNvSpPr/>
          <p:nvPr/>
        </p:nvSpPr>
        <p:spPr>
          <a:xfrm>
            <a:off x="822960" y="3840480"/>
            <a:ext cx="3382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Receive audit findings and support decisions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Shape 17"/>
          <p:cNvSpPr/>
          <p:nvPr/>
        </p:nvSpPr>
        <p:spPr>
          <a:xfrm>
            <a:off x="411480" y="4288680"/>
            <a:ext cx="319680" cy="31968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Text 18"/>
          <p:cNvSpPr/>
          <p:nvPr/>
        </p:nvSpPr>
        <p:spPr>
          <a:xfrm>
            <a:off x="822960" y="4206240"/>
            <a:ext cx="3382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cadcfc"/>
                </a:solidFill>
                <a:latin typeface="Calibri"/>
              </a:rPr>
              <a:t>Project Manager &amp; Team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Text 19"/>
          <p:cNvSpPr/>
          <p:nvPr/>
        </p:nvSpPr>
        <p:spPr>
          <a:xfrm>
            <a:off x="822960" y="4480560"/>
            <a:ext cx="3382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Provide evidence, data, and context for the audit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Shape 20"/>
          <p:cNvSpPr/>
          <p:nvPr/>
        </p:nvSpPr>
        <p:spPr>
          <a:xfrm>
            <a:off x="4754880" y="960120"/>
            <a:ext cx="4114440" cy="3840120"/>
          </a:xfrm>
          <a:prstGeom prst="rect">
            <a:avLst/>
          </a:prstGeom>
          <a:solidFill>
            <a:srgbClr val="14202e"/>
          </a:solidFill>
          <a:ln w="25400">
            <a:solidFill>
              <a:srgbClr val="d4a017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Shape 21"/>
          <p:cNvSpPr/>
          <p:nvPr/>
        </p:nvSpPr>
        <p:spPr>
          <a:xfrm>
            <a:off x="4754880" y="960120"/>
            <a:ext cx="4114440" cy="529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 22"/>
          <p:cNvSpPr/>
          <p:nvPr/>
        </p:nvSpPr>
        <p:spPr>
          <a:xfrm>
            <a:off x="4754880" y="960120"/>
            <a:ext cx="41144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🛠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TOOLS USED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Shape 23"/>
          <p:cNvSpPr/>
          <p:nvPr/>
        </p:nvSpPr>
        <p:spPr>
          <a:xfrm>
            <a:off x="4892040" y="1728360"/>
            <a:ext cx="319680" cy="3196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 24"/>
          <p:cNvSpPr/>
          <p:nvPr/>
        </p:nvSpPr>
        <p:spPr>
          <a:xfrm>
            <a:off x="5303520" y="164592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cadcfc"/>
                </a:solidFill>
                <a:latin typeface="Calibri"/>
              </a:rPr>
              <a:t>Project Management Software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Text 25"/>
          <p:cNvSpPr/>
          <p:nvPr/>
        </p:nvSpPr>
        <p:spPr>
          <a:xfrm>
            <a:off x="5303520" y="192024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Jira, MS Project, Asana, Plane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Shape 26"/>
          <p:cNvSpPr/>
          <p:nvPr/>
        </p:nvSpPr>
        <p:spPr>
          <a:xfrm>
            <a:off x="4892040" y="2368440"/>
            <a:ext cx="319680" cy="3196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 27"/>
          <p:cNvSpPr/>
          <p:nvPr/>
        </p:nvSpPr>
        <p:spPr>
          <a:xfrm>
            <a:off x="5303520" y="228600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cadcfc"/>
                </a:solidFill>
                <a:latin typeface="Calibri"/>
              </a:rPr>
              <a:t>Document Management Systems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Text 28"/>
          <p:cNvSpPr/>
          <p:nvPr/>
        </p:nvSpPr>
        <p:spPr>
          <a:xfrm>
            <a:off x="5303520" y="256032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SharePoint, Confluence, Google Drive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Shape 29"/>
          <p:cNvSpPr/>
          <p:nvPr/>
        </p:nvSpPr>
        <p:spPr>
          <a:xfrm>
            <a:off x="4892040" y="3008520"/>
            <a:ext cx="319680" cy="3196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 30"/>
          <p:cNvSpPr/>
          <p:nvPr/>
        </p:nvSpPr>
        <p:spPr>
          <a:xfrm>
            <a:off x="5303520" y="292608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cadcfc"/>
                </a:solidFill>
                <a:latin typeface="Calibri"/>
              </a:rPr>
              <a:t>Financial Analysis Tools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Text 31"/>
          <p:cNvSpPr/>
          <p:nvPr/>
        </p:nvSpPr>
        <p:spPr>
          <a:xfrm>
            <a:off x="5303520" y="320040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Excel, QuickBooks, SAP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Shape 32"/>
          <p:cNvSpPr/>
          <p:nvPr/>
        </p:nvSpPr>
        <p:spPr>
          <a:xfrm>
            <a:off x="4892040" y="3648600"/>
            <a:ext cx="319680" cy="3196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 33"/>
          <p:cNvSpPr/>
          <p:nvPr/>
        </p:nvSpPr>
        <p:spPr>
          <a:xfrm>
            <a:off x="5303520" y="356616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cadcfc"/>
                </a:solidFill>
                <a:latin typeface="Calibri"/>
              </a:rPr>
              <a:t>Risk Management Frameworks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Text 34"/>
          <p:cNvSpPr/>
          <p:nvPr/>
        </p:nvSpPr>
        <p:spPr>
          <a:xfrm>
            <a:off x="5303520" y="384048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ISO 31000, PMBOK Risk Register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Shape 35"/>
          <p:cNvSpPr/>
          <p:nvPr/>
        </p:nvSpPr>
        <p:spPr>
          <a:xfrm>
            <a:off x="4892040" y="4288680"/>
            <a:ext cx="319680" cy="3196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 36"/>
          <p:cNvSpPr/>
          <p:nvPr/>
        </p:nvSpPr>
        <p:spPr>
          <a:xfrm>
            <a:off x="5303520" y="420624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cadcfc"/>
                </a:solidFill>
                <a:latin typeface="Calibri"/>
              </a:rPr>
              <a:t>Audit Management Software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Text 37"/>
          <p:cNvSpPr/>
          <p:nvPr/>
        </p:nvSpPr>
        <p:spPr>
          <a:xfrm>
            <a:off x="5303520" y="448056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TeamMate, AuditBoard, ACL Analytics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Text 1"/>
          <p:cNvSpPr/>
          <p:nvPr/>
        </p:nvSpPr>
        <p:spPr>
          <a:xfrm>
            <a:off x="365760" y="0"/>
            <a:ext cx="8412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199" strike="noStrike">
                <a:solidFill>
                  <a:srgbClr val="ffffff"/>
                </a:solidFill>
                <a:latin typeface="Calibri"/>
              </a:rPr>
              <a:t>PROJECT AUDIT PROCESS — 6 STEPS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Shape 2"/>
          <p:cNvSpPr/>
          <p:nvPr/>
        </p:nvSpPr>
        <p:spPr>
          <a:xfrm>
            <a:off x="1435680" y="1920240"/>
            <a:ext cx="228240" cy="1458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Shape 3"/>
          <p:cNvSpPr/>
          <p:nvPr/>
        </p:nvSpPr>
        <p:spPr>
          <a:xfrm>
            <a:off x="365760" y="896040"/>
            <a:ext cx="959760" cy="959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Text 4"/>
          <p:cNvSpPr/>
          <p:nvPr/>
        </p:nvSpPr>
        <p:spPr>
          <a:xfrm>
            <a:off x="365760" y="896040"/>
            <a:ext cx="9597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01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Shape 5"/>
          <p:cNvSpPr/>
          <p:nvPr/>
        </p:nvSpPr>
        <p:spPr>
          <a:xfrm>
            <a:off x="201240" y="1993320"/>
            <a:ext cx="1462680" cy="2834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Shape 6"/>
          <p:cNvSpPr/>
          <p:nvPr/>
        </p:nvSpPr>
        <p:spPr>
          <a:xfrm>
            <a:off x="201240" y="1993320"/>
            <a:ext cx="1462680" cy="456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Text 7"/>
          <p:cNvSpPr/>
          <p:nvPr/>
        </p:nvSpPr>
        <p:spPr>
          <a:xfrm>
            <a:off x="201240" y="1993320"/>
            <a:ext cx="1462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PLAN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 8"/>
          <p:cNvSpPr/>
          <p:nvPr/>
        </p:nvSpPr>
        <p:spPr>
          <a:xfrm>
            <a:off x="292680" y="2523600"/>
            <a:ext cx="1279800" cy="22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c3e50"/>
                </a:solidFill>
                <a:latin typeface="Calibri"/>
              </a:rPr>
              <a:t>Define scope, objectives, methodology. Assemble the audit team and establish timeline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Shape 9"/>
          <p:cNvSpPr/>
          <p:nvPr/>
        </p:nvSpPr>
        <p:spPr>
          <a:xfrm>
            <a:off x="2898720" y="1920240"/>
            <a:ext cx="228240" cy="1458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Shape 10"/>
          <p:cNvSpPr/>
          <p:nvPr/>
        </p:nvSpPr>
        <p:spPr>
          <a:xfrm>
            <a:off x="1828800" y="896040"/>
            <a:ext cx="959760" cy="95976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Text 11"/>
          <p:cNvSpPr/>
          <p:nvPr/>
        </p:nvSpPr>
        <p:spPr>
          <a:xfrm>
            <a:off x="1828800" y="896040"/>
            <a:ext cx="9597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02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Shape 12"/>
          <p:cNvSpPr/>
          <p:nvPr/>
        </p:nvSpPr>
        <p:spPr>
          <a:xfrm>
            <a:off x="1664280" y="1993320"/>
            <a:ext cx="1462680" cy="2834280"/>
          </a:xfrm>
          <a:prstGeom prst="rect">
            <a:avLst/>
          </a:prstGeom>
          <a:solidFill>
            <a:srgbClr val="ffffff"/>
          </a:solidFill>
          <a:ln w="25400">
            <a:solidFill>
              <a:srgbClr val="2e86ab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Shape 13"/>
          <p:cNvSpPr/>
          <p:nvPr/>
        </p:nvSpPr>
        <p:spPr>
          <a:xfrm>
            <a:off x="1664280" y="1993320"/>
            <a:ext cx="1462680" cy="4568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Text 14"/>
          <p:cNvSpPr/>
          <p:nvPr/>
        </p:nvSpPr>
        <p:spPr>
          <a:xfrm>
            <a:off x="1664280" y="1993320"/>
            <a:ext cx="1462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COLLECT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Text 15"/>
          <p:cNvSpPr/>
          <p:nvPr/>
        </p:nvSpPr>
        <p:spPr>
          <a:xfrm>
            <a:off x="1755720" y="2523600"/>
            <a:ext cx="1279800" cy="22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c3e50"/>
                </a:solidFill>
                <a:latin typeface="Calibri"/>
              </a:rPr>
              <a:t>Gather project documentation, data, financial records, reports, and stakeholder input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Shape 16"/>
          <p:cNvSpPr/>
          <p:nvPr/>
        </p:nvSpPr>
        <p:spPr>
          <a:xfrm>
            <a:off x="4361760" y="1920240"/>
            <a:ext cx="228240" cy="1458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Shape 17"/>
          <p:cNvSpPr/>
          <p:nvPr/>
        </p:nvSpPr>
        <p:spPr>
          <a:xfrm>
            <a:off x="3291840" y="896040"/>
            <a:ext cx="959760" cy="95976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Text 18"/>
          <p:cNvSpPr/>
          <p:nvPr/>
        </p:nvSpPr>
        <p:spPr>
          <a:xfrm>
            <a:off x="3291840" y="896040"/>
            <a:ext cx="9597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03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Shape 19"/>
          <p:cNvSpPr/>
          <p:nvPr/>
        </p:nvSpPr>
        <p:spPr>
          <a:xfrm>
            <a:off x="3127320" y="1993320"/>
            <a:ext cx="1462680" cy="2834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8449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Shape 20"/>
          <p:cNvSpPr/>
          <p:nvPr/>
        </p:nvSpPr>
        <p:spPr>
          <a:xfrm>
            <a:off x="3127320" y="1993320"/>
            <a:ext cx="1462680" cy="4568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Text 21"/>
          <p:cNvSpPr/>
          <p:nvPr/>
        </p:nvSpPr>
        <p:spPr>
          <a:xfrm>
            <a:off x="3127320" y="1993320"/>
            <a:ext cx="1462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ANALYZE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Text 22"/>
          <p:cNvSpPr/>
          <p:nvPr/>
        </p:nvSpPr>
        <p:spPr>
          <a:xfrm>
            <a:off x="3218760" y="2523600"/>
            <a:ext cx="1279800" cy="22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c3e50"/>
                </a:solidFill>
                <a:latin typeface="Calibri"/>
              </a:rPr>
              <a:t>Evaluate collected data against standards, baselines, and project plan benchmarks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Shape 23"/>
          <p:cNvSpPr/>
          <p:nvPr/>
        </p:nvSpPr>
        <p:spPr>
          <a:xfrm>
            <a:off x="5824800" y="1920240"/>
            <a:ext cx="228240" cy="1458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Shape 24"/>
          <p:cNvSpPr/>
          <p:nvPr/>
        </p:nvSpPr>
        <p:spPr>
          <a:xfrm>
            <a:off x="4754880" y="896040"/>
            <a:ext cx="959760" cy="95976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Text 25"/>
          <p:cNvSpPr/>
          <p:nvPr/>
        </p:nvSpPr>
        <p:spPr>
          <a:xfrm>
            <a:off x="4754880" y="896040"/>
            <a:ext cx="9597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04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Shape 26"/>
          <p:cNvSpPr/>
          <p:nvPr/>
        </p:nvSpPr>
        <p:spPr>
          <a:xfrm>
            <a:off x="4590360" y="1993320"/>
            <a:ext cx="1462680" cy="283428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Shape 27"/>
          <p:cNvSpPr/>
          <p:nvPr/>
        </p:nvSpPr>
        <p:spPr>
          <a:xfrm>
            <a:off x="4590360" y="1993320"/>
            <a:ext cx="1462680" cy="4568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Text 28"/>
          <p:cNvSpPr/>
          <p:nvPr/>
        </p:nvSpPr>
        <p:spPr>
          <a:xfrm>
            <a:off x="4590360" y="1993320"/>
            <a:ext cx="1462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IDENTIFY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Text 29"/>
          <p:cNvSpPr/>
          <p:nvPr/>
        </p:nvSpPr>
        <p:spPr>
          <a:xfrm>
            <a:off x="4681800" y="2523600"/>
            <a:ext cx="1279800" cy="22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c3e50"/>
                </a:solidFill>
                <a:latin typeface="Calibri"/>
              </a:rPr>
              <a:t>Pinpoint gaps, risks, inefficiencies, non-compliance issues, and areas needing improvement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Shape 30"/>
          <p:cNvSpPr/>
          <p:nvPr/>
        </p:nvSpPr>
        <p:spPr>
          <a:xfrm>
            <a:off x="7287840" y="1920240"/>
            <a:ext cx="228240" cy="1458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Shape 31"/>
          <p:cNvSpPr/>
          <p:nvPr/>
        </p:nvSpPr>
        <p:spPr>
          <a:xfrm>
            <a:off x="6217920" y="896040"/>
            <a:ext cx="959760" cy="959760"/>
          </a:xfrm>
          <a:prstGeom prst="ellipse">
            <a:avLst/>
          </a:prstGeom>
          <a:solidFill>
            <a:srgbClr val="6c3483"/>
          </a:solidFill>
          <a:ln w="12700">
            <a:solidFill>
              <a:srgbClr val="6c34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Text 32"/>
          <p:cNvSpPr/>
          <p:nvPr/>
        </p:nvSpPr>
        <p:spPr>
          <a:xfrm>
            <a:off x="6217920" y="896040"/>
            <a:ext cx="9597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05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Shape 33"/>
          <p:cNvSpPr/>
          <p:nvPr/>
        </p:nvSpPr>
        <p:spPr>
          <a:xfrm>
            <a:off x="6053400" y="1993320"/>
            <a:ext cx="1462680" cy="2834280"/>
          </a:xfrm>
          <a:prstGeom prst="rect">
            <a:avLst/>
          </a:prstGeom>
          <a:solidFill>
            <a:srgbClr val="ffffff"/>
          </a:solidFill>
          <a:ln w="25400">
            <a:solidFill>
              <a:srgbClr val="6c3483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Shape 34"/>
          <p:cNvSpPr/>
          <p:nvPr/>
        </p:nvSpPr>
        <p:spPr>
          <a:xfrm>
            <a:off x="6053400" y="1993320"/>
            <a:ext cx="1462680" cy="45684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Text 35"/>
          <p:cNvSpPr/>
          <p:nvPr/>
        </p:nvSpPr>
        <p:spPr>
          <a:xfrm>
            <a:off x="6053400" y="1993320"/>
            <a:ext cx="1462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REPORT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Text 36"/>
          <p:cNvSpPr/>
          <p:nvPr/>
        </p:nvSpPr>
        <p:spPr>
          <a:xfrm>
            <a:off x="6144840" y="2523600"/>
            <a:ext cx="1279800" cy="22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c3e50"/>
                </a:solidFill>
                <a:latin typeface="Calibri"/>
              </a:rPr>
              <a:t>Compile findings into a comprehensive audit report with recommendations and corrective actions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Shape 37"/>
          <p:cNvSpPr/>
          <p:nvPr/>
        </p:nvSpPr>
        <p:spPr>
          <a:xfrm>
            <a:off x="7680960" y="896040"/>
            <a:ext cx="959760" cy="9597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Text 38"/>
          <p:cNvSpPr/>
          <p:nvPr/>
        </p:nvSpPr>
        <p:spPr>
          <a:xfrm>
            <a:off x="7680960" y="896040"/>
            <a:ext cx="9597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06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Shape 39"/>
          <p:cNvSpPr/>
          <p:nvPr/>
        </p:nvSpPr>
        <p:spPr>
          <a:xfrm>
            <a:off x="7516440" y="1993320"/>
            <a:ext cx="1462680" cy="283428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Shape 40"/>
          <p:cNvSpPr/>
          <p:nvPr/>
        </p:nvSpPr>
        <p:spPr>
          <a:xfrm>
            <a:off x="7516440" y="1993320"/>
            <a:ext cx="1462680" cy="456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Text 41"/>
          <p:cNvSpPr/>
          <p:nvPr/>
        </p:nvSpPr>
        <p:spPr>
          <a:xfrm>
            <a:off x="7516440" y="1993320"/>
            <a:ext cx="1462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FOLLOW-UP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Text 42"/>
          <p:cNvSpPr/>
          <p:nvPr/>
        </p:nvSpPr>
        <p:spPr>
          <a:xfrm>
            <a:off x="7607880" y="2523600"/>
            <a:ext cx="1279800" cy="22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c3e50"/>
                </a:solidFill>
                <a:latin typeface="Calibri"/>
              </a:rPr>
              <a:t>Track implementation of recommendations. Verify corrective actions are completed and effective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Text 1"/>
          <p:cNvSpPr/>
          <p:nvPr/>
        </p:nvSpPr>
        <p:spPr>
          <a:xfrm>
            <a:off x="365760" y="0"/>
            <a:ext cx="8412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199" strike="noStrike">
                <a:solidFill>
                  <a:srgbClr val="ffffff"/>
                </a:solidFill>
                <a:latin typeface="Calibri"/>
              </a:rPr>
              <a:t>PROJECT AUDIT PROCESS CHECKLIST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8" name="Shape 2"/>
          <p:cNvSpPr/>
          <p:nvPr/>
        </p:nvSpPr>
        <p:spPr>
          <a:xfrm>
            <a:off x="274320" y="960120"/>
            <a:ext cx="4205880" cy="676440"/>
          </a:xfrm>
          <a:prstGeom prst="rect">
            <a:avLst/>
          </a:prstGeom>
          <a:solidFill>
            <a:srgbClr val="152030"/>
          </a:solidFill>
          <a:ln w="12700">
            <a:solidFill>
              <a:srgbClr val="2e86ab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Shape 3"/>
          <p:cNvSpPr/>
          <p:nvPr/>
        </p:nvSpPr>
        <p:spPr>
          <a:xfrm>
            <a:off x="411480" y="1143000"/>
            <a:ext cx="310680" cy="310680"/>
          </a:xfrm>
          <a:prstGeom prst="rect">
            <a:avLst/>
          </a:prstGeom>
          <a:solidFill>
            <a:srgbClr val="152030"/>
          </a:solidFill>
          <a:ln w="19050">
            <a:solidFill>
              <a:srgbClr val="2e86a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Shape 4"/>
          <p:cNvSpPr/>
          <p:nvPr/>
        </p:nvSpPr>
        <p:spPr>
          <a:xfrm>
            <a:off x="795600" y="1124640"/>
            <a:ext cx="273960" cy="2739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Text 5"/>
          <p:cNvSpPr/>
          <p:nvPr/>
        </p:nvSpPr>
        <p:spPr>
          <a:xfrm>
            <a:off x="795600" y="112464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" name="Text 6"/>
          <p:cNvSpPr/>
          <p:nvPr/>
        </p:nvSpPr>
        <p:spPr>
          <a:xfrm>
            <a:off x="1170360" y="960120"/>
            <a:ext cx="32184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adcfc"/>
                </a:solidFill>
                <a:latin typeface="Calibri"/>
              </a:rPr>
              <a:t>Define audit objectives, scope, and methodology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Shape 7"/>
          <p:cNvSpPr/>
          <p:nvPr/>
        </p:nvSpPr>
        <p:spPr>
          <a:xfrm>
            <a:off x="4800600" y="960120"/>
            <a:ext cx="4205880" cy="676440"/>
          </a:xfrm>
          <a:prstGeom prst="rect">
            <a:avLst/>
          </a:prstGeom>
          <a:solidFill>
            <a:srgbClr val="152030"/>
          </a:solidFill>
          <a:ln w="12700">
            <a:solidFill>
              <a:srgbClr val="d4a017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Shape 8"/>
          <p:cNvSpPr/>
          <p:nvPr/>
        </p:nvSpPr>
        <p:spPr>
          <a:xfrm>
            <a:off x="4937760" y="1143000"/>
            <a:ext cx="310680" cy="310680"/>
          </a:xfrm>
          <a:prstGeom prst="rect">
            <a:avLst/>
          </a:prstGeom>
          <a:solidFill>
            <a:srgbClr val="152030"/>
          </a:solidFill>
          <a:ln w="19050">
            <a:solidFill>
              <a:srgbClr val="d4a0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Shape 9"/>
          <p:cNvSpPr/>
          <p:nvPr/>
        </p:nvSpPr>
        <p:spPr>
          <a:xfrm>
            <a:off x="5321880" y="1124640"/>
            <a:ext cx="273960" cy="2739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Text 10"/>
          <p:cNvSpPr/>
          <p:nvPr/>
        </p:nvSpPr>
        <p:spPr>
          <a:xfrm>
            <a:off x="5321880" y="112464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" name="Text 11"/>
          <p:cNvSpPr/>
          <p:nvPr/>
        </p:nvSpPr>
        <p:spPr>
          <a:xfrm>
            <a:off x="5696640" y="960120"/>
            <a:ext cx="32184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adcfc"/>
                </a:solidFill>
                <a:latin typeface="Calibri"/>
              </a:rPr>
              <a:t>Assemble the audit team and assign clear responsibilities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Shape 12"/>
          <p:cNvSpPr/>
          <p:nvPr/>
        </p:nvSpPr>
        <p:spPr>
          <a:xfrm>
            <a:off x="274320" y="1764720"/>
            <a:ext cx="4205880" cy="676440"/>
          </a:xfrm>
          <a:prstGeom prst="rect">
            <a:avLst/>
          </a:prstGeom>
          <a:solidFill>
            <a:srgbClr val="152030"/>
          </a:solidFill>
          <a:ln w="12700">
            <a:solidFill>
              <a:srgbClr val="1e8449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Shape 13"/>
          <p:cNvSpPr/>
          <p:nvPr/>
        </p:nvSpPr>
        <p:spPr>
          <a:xfrm>
            <a:off x="411480" y="1947600"/>
            <a:ext cx="310680" cy="310680"/>
          </a:xfrm>
          <a:prstGeom prst="rect">
            <a:avLst/>
          </a:prstGeom>
          <a:solidFill>
            <a:srgbClr val="152030"/>
          </a:solidFill>
          <a:ln w="19050">
            <a:solidFill>
              <a:srgbClr val="1e84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Shape 14"/>
          <p:cNvSpPr/>
          <p:nvPr/>
        </p:nvSpPr>
        <p:spPr>
          <a:xfrm>
            <a:off x="795600" y="1929240"/>
            <a:ext cx="273960" cy="27396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Text 15"/>
          <p:cNvSpPr/>
          <p:nvPr/>
        </p:nvSpPr>
        <p:spPr>
          <a:xfrm>
            <a:off x="795600" y="192924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" name="Text 16"/>
          <p:cNvSpPr/>
          <p:nvPr/>
        </p:nvSpPr>
        <p:spPr>
          <a:xfrm>
            <a:off x="1170360" y="1764720"/>
            <a:ext cx="32184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adcfc"/>
                </a:solidFill>
                <a:latin typeface="Calibri"/>
              </a:rPr>
              <a:t>Collect all project documentation and financial records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Shape 17"/>
          <p:cNvSpPr/>
          <p:nvPr/>
        </p:nvSpPr>
        <p:spPr>
          <a:xfrm>
            <a:off x="4800600" y="1764720"/>
            <a:ext cx="4205880" cy="676440"/>
          </a:xfrm>
          <a:prstGeom prst="rect">
            <a:avLst/>
          </a:prstGeom>
          <a:solidFill>
            <a:srgbClr val="152030"/>
          </a:solidFill>
          <a:ln w="12700">
            <a:solidFill>
              <a:srgbClr val="6c3483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Shape 18"/>
          <p:cNvSpPr/>
          <p:nvPr/>
        </p:nvSpPr>
        <p:spPr>
          <a:xfrm>
            <a:off x="4937760" y="1947600"/>
            <a:ext cx="310680" cy="310680"/>
          </a:xfrm>
          <a:prstGeom prst="rect">
            <a:avLst/>
          </a:prstGeom>
          <a:solidFill>
            <a:srgbClr val="152030"/>
          </a:solidFill>
          <a:ln w="19050">
            <a:solidFill>
              <a:srgbClr val="6c34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Shape 19"/>
          <p:cNvSpPr/>
          <p:nvPr/>
        </p:nvSpPr>
        <p:spPr>
          <a:xfrm>
            <a:off x="5321880" y="1929240"/>
            <a:ext cx="273960" cy="27396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" name="Text 20"/>
          <p:cNvSpPr/>
          <p:nvPr/>
        </p:nvSpPr>
        <p:spPr>
          <a:xfrm>
            <a:off x="5321880" y="192924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" name="Text 21"/>
          <p:cNvSpPr/>
          <p:nvPr/>
        </p:nvSpPr>
        <p:spPr>
          <a:xfrm>
            <a:off x="5696640" y="1764720"/>
            <a:ext cx="32184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adcfc"/>
                </a:solidFill>
                <a:latin typeface="Calibri"/>
              </a:rPr>
              <a:t>Review project scope vs. actual deliverables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Shape 22"/>
          <p:cNvSpPr/>
          <p:nvPr/>
        </p:nvSpPr>
        <p:spPr>
          <a:xfrm>
            <a:off x="274320" y="2569320"/>
            <a:ext cx="4205880" cy="676440"/>
          </a:xfrm>
          <a:prstGeom prst="rect">
            <a:avLst/>
          </a:prstGeom>
          <a:solidFill>
            <a:srgbClr val="152030"/>
          </a:solidFill>
          <a:ln w="12700">
            <a:solidFill>
              <a:srgbClr val="e67e22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" name="Shape 23"/>
          <p:cNvSpPr/>
          <p:nvPr/>
        </p:nvSpPr>
        <p:spPr>
          <a:xfrm>
            <a:off x="411480" y="2752200"/>
            <a:ext cx="310680" cy="310680"/>
          </a:xfrm>
          <a:prstGeom prst="rect">
            <a:avLst/>
          </a:prstGeom>
          <a:solidFill>
            <a:srgbClr val="152030"/>
          </a:solidFill>
          <a:ln w="1905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Shape 24"/>
          <p:cNvSpPr/>
          <p:nvPr/>
        </p:nvSpPr>
        <p:spPr>
          <a:xfrm>
            <a:off x="795600" y="2734200"/>
            <a:ext cx="273960" cy="2739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" name="Text 25"/>
          <p:cNvSpPr/>
          <p:nvPr/>
        </p:nvSpPr>
        <p:spPr>
          <a:xfrm>
            <a:off x="795600" y="273420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5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" name="Text 26"/>
          <p:cNvSpPr/>
          <p:nvPr/>
        </p:nvSpPr>
        <p:spPr>
          <a:xfrm>
            <a:off x="1170360" y="2569320"/>
            <a:ext cx="32184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adcfc"/>
                </a:solidFill>
                <a:latin typeface="Calibri"/>
              </a:rPr>
              <a:t>Assess budget performance — variances and overruns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3" name="Shape 27"/>
          <p:cNvSpPr/>
          <p:nvPr/>
        </p:nvSpPr>
        <p:spPr>
          <a:xfrm>
            <a:off x="4800600" y="2569320"/>
            <a:ext cx="4205880" cy="676440"/>
          </a:xfrm>
          <a:prstGeom prst="rect">
            <a:avLst/>
          </a:prstGeom>
          <a:solidFill>
            <a:srgbClr val="152030"/>
          </a:solidFill>
          <a:ln w="12700">
            <a:solidFill>
              <a:srgbClr val="c0392b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" name="Shape 28"/>
          <p:cNvSpPr/>
          <p:nvPr/>
        </p:nvSpPr>
        <p:spPr>
          <a:xfrm>
            <a:off x="4937760" y="2752200"/>
            <a:ext cx="310680" cy="310680"/>
          </a:xfrm>
          <a:prstGeom prst="rect">
            <a:avLst/>
          </a:prstGeom>
          <a:solidFill>
            <a:srgbClr val="152030"/>
          </a:solidFill>
          <a:ln w="1905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" name="Shape 29"/>
          <p:cNvSpPr/>
          <p:nvPr/>
        </p:nvSpPr>
        <p:spPr>
          <a:xfrm>
            <a:off x="5321880" y="2734200"/>
            <a:ext cx="273960" cy="273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Text 30"/>
          <p:cNvSpPr/>
          <p:nvPr/>
        </p:nvSpPr>
        <p:spPr>
          <a:xfrm>
            <a:off x="5321880" y="273420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6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" name="Text 31"/>
          <p:cNvSpPr/>
          <p:nvPr/>
        </p:nvSpPr>
        <p:spPr>
          <a:xfrm>
            <a:off x="5696640" y="2569320"/>
            <a:ext cx="32184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adcfc"/>
                </a:solidFill>
                <a:latin typeface="Calibri"/>
              </a:rPr>
              <a:t>Evaluate schedule adherence vs. original baseline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Shape 32"/>
          <p:cNvSpPr/>
          <p:nvPr/>
        </p:nvSpPr>
        <p:spPr>
          <a:xfrm>
            <a:off x="274320" y="3374280"/>
            <a:ext cx="4205880" cy="676440"/>
          </a:xfrm>
          <a:prstGeom prst="rect">
            <a:avLst/>
          </a:prstGeom>
          <a:solidFill>
            <a:srgbClr val="152030"/>
          </a:solidFill>
          <a:ln w="12700">
            <a:solidFill>
              <a:srgbClr val="117a65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9" name="Shape 33"/>
          <p:cNvSpPr/>
          <p:nvPr/>
        </p:nvSpPr>
        <p:spPr>
          <a:xfrm>
            <a:off x="411480" y="3557160"/>
            <a:ext cx="310680" cy="310680"/>
          </a:xfrm>
          <a:prstGeom prst="rect">
            <a:avLst/>
          </a:prstGeom>
          <a:solidFill>
            <a:srgbClr val="152030"/>
          </a:solidFill>
          <a:ln w="19050">
            <a:solidFill>
              <a:srgbClr val="117a6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Shape 34"/>
          <p:cNvSpPr/>
          <p:nvPr/>
        </p:nvSpPr>
        <p:spPr>
          <a:xfrm>
            <a:off x="795600" y="3538800"/>
            <a:ext cx="273960" cy="27396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1" name="Text 35"/>
          <p:cNvSpPr/>
          <p:nvPr/>
        </p:nvSpPr>
        <p:spPr>
          <a:xfrm>
            <a:off x="795600" y="353880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7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" name="Text 36"/>
          <p:cNvSpPr/>
          <p:nvPr/>
        </p:nvSpPr>
        <p:spPr>
          <a:xfrm>
            <a:off x="1170360" y="3374280"/>
            <a:ext cx="32184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adcfc"/>
                </a:solidFill>
                <a:latin typeface="Calibri"/>
              </a:rPr>
              <a:t>Interview stakeholders and gather qualitative insights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Shape 37"/>
          <p:cNvSpPr/>
          <p:nvPr/>
        </p:nvSpPr>
        <p:spPr>
          <a:xfrm>
            <a:off x="4800600" y="3374280"/>
            <a:ext cx="4205880" cy="676440"/>
          </a:xfrm>
          <a:prstGeom prst="rect">
            <a:avLst/>
          </a:prstGeom>
          <a:solidFill>
            <a:srgbClr val="152030"/>
          </a:solidFill>
          <a:ln w="12700">
            <a:solidFill>
              <a:srgbClr val="2e86ab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4" name="Shape 38"/>
          <p:cNvSpPr/>
          <p:nvPr/>
        </p:nvSpPr>
        <p:spPr>
          <a:xfrm>
            <a:off x="4937760" y="3557160"/>
            <a:ext cx="310680" cy="310680"/>
          </a:xfrm>
          <a:prstGeom prst="rect">
            <a:avLst/>
          </a:prstGeom>
          <a:solidFill>
            <a:srgbClr val="152030"/>
          </a:solidFill>
          <a:ln w="19050">
            <a:solidFill>
              <a:srgbClr val="2e86a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Shape 39"/>
          <p:cNvSpPr/>
          <p:nvPr/>
        </p:nvSpPr>
        <p:spPr>
          <a:xfrm>
            <a:off x="5321880" y="3538800"/>
            <a:ext cx="273960" cy="2739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Text 40"/>
          <p:cNvSpPr/>
          <p:nvPr/>
        </p:nvSpPr>
        <p:spPr>
          <a:xfrm>
            <a:off x="5321880" y="353880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8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7" name="Text 41"/>
          <p:cNvSpPr/>
          <p:nvPr/>
        </p:nvSpPr>
        <p:spPr>
          <a:xfrm>
            <a:off x="5696640" y="3374280"/>
            <a:ext cx="32184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adcfc"/>
                </a:solidFill>
                <a:latin typeface="Calibri"/>
              </a:rPr>
              <a:t>Identify compliance issues with regulations and policies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" name="Shape 42"/>
          <p:cNvSpPr/>
          <p:nvPr/>
        </p:nvSpPr>
        <p:spPr>
          <a:xfrm>
            <a:off x="274320" y="4178880"/>
            <a:ext cx="4205880" cy="676440"/>
          </a:xfrm>
          <a:prstGeom prst="rect">
            <a:avLst/>
          </a:prstGeom>
          <a:solidFill>
            <a:srgbClr val="152030"/>
          </a:solidFill>
          <a:ln w="12700">
            <a:solidFill>
              <a:srgbClr val="d4a017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" name="Shape 43"/>
          <p:cNvSpPr/>
          <p:nvPr/>
        </p:nvSpPr>
        <p:spPr>
          <a:xfrm>
            <a:off x="411480" y="4361760"/>
            <a:ext cx="310680" cy="310680"/>
          </a:xfrm>
          <a:prstGeom prst="rect">
            <a:avLst/>
          </a:prstGeom>
          <a:solidFill>
            <a:srgbClr val="152030"/>
          </a:solidFill>
          <a:ln w="19050">
            <a:solidFill>
              <a:srgbClr val="d4a0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" name="Shape 44"/>
          <p:cNvSpPr/>
          <p:nvPr/>
        </p:nvSpPr>
        <p:spPr>
          <a:xfrm>
            <a:off x="795600" y="4343400"/>
            <a:ext cx="273960" cy="2739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Text 45"/>
          <p:cNvSpPr/>
          <p:nvPr/>
        </p:nvSpPr>
        <p:spPr>
          <a:xfrm>
            <a:off x="795600" y="434340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9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2" name="Text 46"/>
          <p:cNvSpPr/>
          <p:nvPr/>
        </p:nvSpPr>
        <p:spPr>
          <a:xfrm>
            <a:off x="1170360" y="4178880"/>
            <a:ext cx="32184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adcfc"/>
                </a:solidFill>
                <a:latin typeface="Calibri"/>
              </a:rPr>
              <a:t>Document findings, risks, and inefficiencies identified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" name="Shape 47"/>
          <p:cNvSpPr/>
          <p:nvPr/>
        </p:nvSpPr>
        <p:spPr>
          <a:xfrm>
            <a:off x="4800600" y="4178880"/>
            <a:ext cx="4205880" cy="676440"/>
          </a:xfrm>
          <a:prstGeom prst="rect">
            <a:avLst/>
          </a:prstGeom>
          <a:solidFill>
            <a:srgbClr val="152030"/>
          </a:solidFill>
          <a:ln w="12700">
            <a:solidFill>
              <a:srgbClr val="1e8449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" name="Shape 48"/>
          <p:cNvSpPr/>
          <p:nvPr/>
        </p:nvSpPr>
        <p:spPr>
          <a:xfrm>
            <a:off x="4937760" y="4361760"/>
            <a:ext cx="310680" cy="310680"/>
          </a:xfrm>
          <a:prstGeom prst="rect">
            <a:avLst/>
          </a:prstGeom>
          <a:solidFill>
            <a:srgbClr val="152030"/>
          </a:solidFill>
          <a:ln w="19050">
            <a:solidFill>
              <a:srgbClr val="1e84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5" name="Shape 49"/>
          <p:cNvSpPr/>
          <p:nvPr/>
        </p:nvSpPr>
        <p:spPr>
          <a:xfrm>
            <a:off x="5321880" y="4343400"/>
            <a:ext cx="273960" cy="27396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6" name="Text 50"/>
          <p:cNvSpPr/>
          <p:nvPr/>
        </p:nvSpPr>
        <p:spPr>
          <a:xfrm>
            <a:off x="5321880" y="434340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10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" name="Text 51"/>
          <p:cNvSpPr/>
          <p:nvPr/>
        </p:nvSpPr>
        <p:spPr>
          <a:xfrm>
            <a:off x="5696640" y="4178880"/>
            <a:ext cx="32184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adcfc"/>
                </a:solidFill>
                <a:latin typeface="Calibri"/>
              </a:rPr>
              <a:t>Compile the audit report with actionable recommendations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9" name="Text 1"/>
          <p:cNvSpPr/>
          <p:nvPr/>
        </p:nvSpPr>
        <p:spPr>
          <a:xfrm>
            <a:off x="365760" y="0"/>
            <a:ext cx="8412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199" strike="noStrike">
                <a:solidFill>
                  <a:srgbClr val="ffffff"/>
                </a:solidFill>
                <a:latin typeface="Calibri"/>
              </a:rPr>
              <a:t>WHY AUDITS MATTER — KEY INSIGHTS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Shape 2"/>
          <p:cNvSpPr/>
          <p:nvPr/>
        </p:nvSpPr>
        <p:spPr>
          <a:xfrm>
            <a:off x="457200" y="914400"/>
            <a:ext cx="2559960" cy="1234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1" name="Text 3"/>
          <p:cNvSpPr/>
          <p:nvPr/>
        </p:nvSpPr>
        <p:spPr>
          <a:xfrm>
            <a:off x="457200" y="914400"/>
            <a:ext cx="25599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7+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Text 4"/>
          <p:cNvSpPr/>
          <p:nvPr/>
        </p:nvSpPr>
        <p:spPr>
          <a:xfrm>
            <a:off x="457200" y="157284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Types of Audits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Text 5"/>
          <p:cNvSpPr/>
          <p:nvPr/>
        </p:nvSpPr>
        <p:spPr>
          <a:xfrm>
            <a:off x="457200" y="187452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ffffff"/>
                </a:solidFill>
                <a:latin typeface="Calibri"/>
              </a:rPr>
              <a:t>Each serving a unique purpose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Shape 6"/>
          <p:cNvSpPr/>
          <p:nvPr/>
        </p:nvSpPr>
        <p:spPr>
          <a:xfrm>
            <a:off x="3291840" y="914400"/>
            <a:ext cx="2559960" cy="12340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5" name="Text 7"/>
          <p:cNvSpPr/>
          <p:nvPr/>
        </p:nvSpPr>
        <p:spPr>
          <a:xfrm>
            <a:off x="3291840" y="914400"/>
            <a:ext cx="25599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360°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Text 8"/>
          <p:cNvSpPr/>
          <p:nvPr/>
        </p:nvSpPr>
        <p:spPr>
          <a:xfrm>
            <a:off x="3291840" y="157284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Coverage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Text 9"/>
          <p:cNvSpPr/>
          <p:nvPr/>
        </p:nvSpPr>
        <p:spPr>
          <a:xfrm>
            <a:off x="3291840" y="187452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ffffff"/>
                </a:solidFill>
                <a:latin typeface="Calibri"/>
              </a:rPr>
              <a:t>Financial, operational &amp; legal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Shape 10"/>
          <p:cNvSpPr/>
          <p:nvPr/>
        </p:nvSpPr>
        <p:spPr>
          <a:xfrm>
            <a:off x="6126480" y="914400"/>
            <a:ext cx="2559960" cy="12340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Text 11"/>
          <p:cNvSpPr/>
          <p:nvPr/>
        </p:nvSpPr>
        <p:spPr>
          <a:xfrm>
            <a:off x="6126480" y="914400"/>
            <a:ext cx="25599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CPA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Text 12"/>
          <p:cNvSpPr/>
          <p:nvPr/>
        </p:nvSpPr>
        <p:spPr>
          <a:xfrm>
            <a:off x="6126480" y="157284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Certification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Text 13"/>
          <p:cNvSpPr/>
          <p:nvPr/>
        </p:nvSpPr>
        <p:spPr>
          <a:xfrm>
            <a:off x="6126480" y="187452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ffffff"/>
                </a:solidFill>
                <a:latin typeface="Calibri"/>
              </a:rPr>
              <a:t>Certified Public Accountant led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Shape 14"/>
          <p:cNvSpPr/>
          <p:nvPr/>
        </p:nvSpPr>
        <p:spPr>
          <a:xfrm>
            <a:off x="320040" y="2331720"/>
            <a:ext cx="8503560" cy="749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d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Shape 15"/>
          <p:cNvSpPr/>
          <p:nvPr/>
        </p:nvSpPr>
        <p:spPr>
          <a:xfrm>
            <a:off x="320040" y="2331720"/>
            <a:ext cx="200880" cy="7495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4" name="Text 16"/>
          <p:cNvSpPr/>
          <p:nvPr/>
        </p:nvSpPr>
        <p:spPr>
          <a:xfrm>
            <a:off x="640080" y="239580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2e86ab"/>
                </a:solidFill>
                <a:latin typeface="Calibri"/>
              </a:rPr>
              <a:t>Credibility to Financial Statements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Text 17"/>
          <p:cNvSpPr/>
          <p:nvPr/>
        </p:nvSpPr>
        <p:spPr>
          <a:xfrm>
            <a:off x="3337560" y="2423160"/>
            <a:ext cx="53031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</a:rPr>
              <a:t>Audits provide credibility to financial statements and give stakeholders confidence that financial accounts are fair, accurate, and compliant.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Shape 18"/>
          <p:cNvSpPr/>
          <p:nvPr/>
        </p:nvSpPr>
        <p:spPr>
          <a:xfrm>
            <a:off x="3246120" y="2477880"/>
            <a:ext cx="27000" cy="4568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7" name="Shape 19"/>
          <p:cNvSpPr/>
          <p:nvPr/>
        </p:nvSpPr>
        <p:spPr>
          <a:xfrm>
            <a:off x="320040" y="3227760"/>
            <a:ext cx="8503560" cy="749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d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Shape 20"/>
          <p:cNvSpPr/>
          <p:nvPr/>
        </p:nvSpPr>
        <p:spPr>
          <a:xfrm>
            <a:off x="320040" y="3227760"/>
            <a:ext cx="200880" cy="7495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9" name="Text 21"/>
          <p:cNvSpPr/>
          <p:nvPr/>
        </p:nvSpPr>
        <p:spPr>
          <a:xfrm>
            <a:off x="640080" y="329184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e8449"/>
                </a:solidFill>
                <a:latin typeface="Calibri"/>
              </a:rPr>
              <a:t>Identifies Inaccuracies &amp; Fraud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Text 22"/>
          <p:cNvSpPr/>
          <p:nvPr/>
        </p:nvSpPr>
        <p:spPr>
          <a:xfrm>
            <a:off x="3337560" y="3319200"/>
            <a:ext cx="53031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</a:rPr>
              <a:t>By examining records, audits can identify irregularities, wrongdoings, and financial fraud — enabling timely corrective action before damage escalates.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Shape 23"/>
          <p:cNvSpPr/>
          <p:nvPr/>
        </p:nvSpPr>
        <p:spPr>
          <a:xfrm>
            <a:off x="3246120" y="3374280"/>
            <a:ext cx="27000" cy="4568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" name="Shape 24"/>
          <p:cNvSpPr/>
          <p:nvPr/>
        </p:nvSpPr>
        <p:spPr>
          <a:xfrm>
            <a:off x="320040" y="4123800"/>
            <a:ext cx="8503560" cy="749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d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Shape 25"/>
          <p:cNvSpPr/>
          <p:nvPr/>
        </p:nvSpPr>
        <p:spPr>
          <a:xfrm>
            <a:off x="320040" y="4123800"/>
            <a:ext cx="200880" cy="74952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" name="Text 26"/>
          <p:cNvSpPr/>
          <p:nvPr/>
        </p:nvSpPr>
        <p:spPr>
          <a:xfrm>
            <a:off x="640080" y="418788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6c3483"/>
                </a:solidFill>
                <a:latin typeface="Calibri"/>
              </a:rPr>
              <a:t>Enhances Financial Health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Text 27"/>
          <p:cNvSpPr/>
          <p:nvPr/>
        </p:nvSpPr>
        <p:spPr>
          <a:xfrm>
            <a:off x="3337560" y="4215240"/>
            <a:ext cx="53031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</a:rPr>
              <a:t>The audit process helps enhance the financial health and internal systems of a business, making it more efficient and resilient over time.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Shape 28"/>
          <p:cNvSpPr/>
          <p:nvPr/>
        </p:nvSpPr>
        <p:spPr>
          <a:xfrm>
            <a:off x="3246120" y="4270320"/>
            <a:ext cx="27000" cy="45684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Shape 0"/>
          <p:cNvSpPr/>
          <p:nvPr/>
        </p:nvSpPr>
        <p:spPr>
          <a:xfrm>
            <a:off x="-1371600" y="2286000"/>
            <a:ext cx="4114440" cy="4114440"/>
          </a:xfrm>
          <a:prstGeom prst="ellipse">
            <a:avLst/>
          </a:prstGeom>
          <a:solidFill>
            <a:srgbClr val="1e2761">
              <a:alpha val="40000"/>
            </a:srgbClr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" name="Shape 1"/>
          <p:cNvSpPr/>
          <p:nvPr/>
        </p:nvSpPr>
        <p:spPr>
          <a:xfrm>
            <a:off x="6858000" y="-914400"/>
            <a:ext cx="3657240" cy="3657240"/>
          </a:xfrm>
          <a:prstGeom prst="ellipse">
            <a:avLst/>
          </a:prstGeom>
          <a:solidFill>
            <a:srgbClr val="2e86ab">
              <a:alpha val="30000"/>
            </a:srgbClr>
          </a:solidFill>
          <a:ln w="12700">
            <a:solidFill>
              <a:srgbClr val="2e86a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9" name="Shape 2"/>
          <p:cNvSpPr/>
          <p:nvPr/>
        </p:nvSpPr>
        <p:spPr>
          <a:xfrm>
            <a:off x="0" y="0"/>
            <a:ext cx="200880" cy="5143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Shape 3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" name="Text 4"/>
          <p:cNvSpPr/>
          <p:nvPr/>
        </p:nvSpPr>
        <p:spPr>
          <a:xfrm>
            <a:off x="365760" y="0"/>
            <a:ext cx="8412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199" strike="noStrike">
                <a:solidFill>
                  <a:srgbClr val="ffffff"/>
                </a:solidFill>
                <a:latin typeface="Calibri"/>
              </a:rPr>
              <a:t>KEY TAKEAWAYS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Shape 5"/>
          <p:cNvSpPr/>
          <p:nvPr/>
        </p:nvSpPr>
        <p:spPr>
          <a:xfrm>
            <a:off x="411480" y="960120"/>
            <a:ext cx="8320680" cy="566640"/>
          </a:xfrm>
          <a:prstGeom prst="rect">
            <a:avLst/>
          </a:prstGeom>
          <a:solidFill>
            <a:srgbClr val="14202e">
              <a:alpha val="90000"/>
            </a:srgbClr>
          </a:solidFill>
          <a:ln w="12700">
            <a:solidFill>
              <a:srgbClr val="2e86a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" name="Shape 6"/>
          <p:cNvSpPr/>
          <p:nvPr/>
        </p:nvSpPr>
        <p:spPr>
          <a:xfrm>
            <a:off x="502920" y="1078920"/>
            <a:ext cx="328680" cy="32868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" name="Text 7"/>
          <p:cNvSpPr/>
          <p:nvPr/>
        </p:nvSpPr>
        <p:spPr>
          <a:xfrm>
            <a:off x="502920" y="10789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" name="Text 8"/>
          <p:cNvSpPr/>
          <p:nvPr/>
        </p:nvSpPr>
        <p:spPr>
          <a:xfrm>
            <a:off x="960120" y="960120"/>
            <a:ext cx="76075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cadcfc"/>
                </a:solidFill>
                <a:latin typeface="Calibri"/>
              </a:rPr>
              <a:t>A project audit is a structured, independent review covering scope, budget, schedule, processes, and risks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Shape 9"/>
          <p:cNvSpPr/>
          <p:nvPr/>
        </p:nvSpPr>
        <p:spPr>
          <a:xfrm>
            <a:off x="411480" y="1627560"/>
            <a:ext cx="8320680" cy="566640"/>
          </a:xfrm>
          <a:prstGeom prst="rect">
            <a:avLst/>
          </a:prstGeom>
          <a:solidFill>
            <a:srgbClr val="14202e">
              <a:alpha val="90000"/>
            </a:srgbClr>
          </a:solidFill>
          <a:ln w="12700">
            <a:solidFill>
              <a:srgbClr val="d4a0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7" name="Shape 10"/>
          <p:cNvSpPr/>
          <p:nvPr/>
        </p:nvSpPr>
        <p:spPr>
          <a:xfrm>
            <a:off x="502920" y="1746360"/>
            <a:ext cx="328680" cy="3286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Text 11"/>
          <p:cNvSpPr/>
          <p:nvPr/>
        </p:nvSpPr>
        <p:spPr>
          <a:xfrm>
            <a:off x="502920" y="17463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9" name="Text 12"/>
          <p:cNvSpPr/>
          <p:nvPr/>
        </p:nvSpPr>
        <p:spPr>
          <a:xfrm>
            <a:off x="960120" y="1627560"/>
            <a:ext cx="76075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cadcfc"/>
                </a:solidFill>
                <a:latin typeface="Calibri"/>
              </a:rPr>
              <a:t>There are 10+ audit types — choose the right one based on project context: internal, external, compliance, forensic, etc.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Shape 13"/>
          <p:cNvSpPr/>
          <p:nvPr/>
        </p:nvSpPr>
        <p:spPr>
          <a:xfrm>
            <a:off x="411480" y="2295000"/>
            <a:ext cx="8320680" cy="566640"/>
          </a:xfrm>
          <a:prstGeom prst="rect">
            <a:avLst/>
          </a:prstGeom>
          <a:solidFill>
            <a:srgbClr val="14202e">
              <a:alpha val="90000"/>
            </a:srgbClr>
          </a:solidFill>
          <a:ln w="12700">
            <a:solidFill>
              <a:srgbClr val="1e84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1" name="Shape 14"/>
          <p:cNvSpPr/>
          <p:nvPr/>
        </p:nvSpPr>
        <p:spPr>
          <a:xfrm>
            <a:off x="502920" y="2414160"/>
            <a:ext cx="328680" cy="32868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" name="Text 15"/>
          <p:cNvSpPr/>
          <p:nvPr/>
        </p:nvSpPr>
        <p:spPr>
          <a:xfrm>
            <a:off x="502920" y="24141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3" name="Text 16"/>
          <p:cNvSpPr/>
          <p:nvPr/>
        </p:nvSpPr>
        <p:spPr>
          <a:xfrm>
            <a:off x="960120" y="2295000"/>
            <a:ext cx="76075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cadcfc"/>
                </a:solidFill>
                <a:latin typeface="Calibri"/>
              </a:rPr>
              <a:t>Major goals: ensure compliance, identify risks early, optimize resources, and support informed decision-making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Shape 17"/>
          <p:cNvSpPr/>
          <p:nvPr/>
        </p:nvSpPr>
        <p:spPr>
          <a:xfrm>
            <a:off x="411480" y="2962800"/>
            <a:ext cx="8320680" cy="566640"/>
          </a:xfrm>
          <a:prstGeom prst="rect">
            <a:avLst/>
          </a:prstGeom>
          <a:solidFill>
            <a:srgbClr val="14202e">
              <a:alpha val="90000"/>
            </a:srgbClr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" name="Shape 18"/>
          <p:cNvSpPr/>
          <p:nvPr/>
        </p:nvSpPr>
        <p:spPr>
          <a:xfrm>
            <a:off x="502920" y="3081600"/>
            <a:ext cx="328680" cy="32868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Text 19"/>
          <p:cNvSpPr/>
          <p:nvPr/>
        </p:nvSpPr>
        <p:spPr>
          <a:xfrm>
            <a:off x="502920" y="30816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" name="Text 20"/>
          <p:cNvSpPr/>
          <p:nvPr/>
        </p:nvSpPr>
        <p:spPr>
          <a:xfrm>
            <a:off x="960120" y="2962800"/>
            <a:ext cx="76075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cadcfc"/>
                </a:solidFill>
                <a:latin typeface="Calibri"/>
              </a:rPr>
              <a:t>The audit process follows 6 clear steps: Plan → Collect → Analyze → Identify → Report → Follow-Up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8" name="Shape 21"/>
          <p:cNvSpPr/>
          <p:nvPr/>
        </p:nvSpPr>
        <p:spPr>
          <a:xfrm>
            <a:off x="411480" y="3630240"/>
            <a:ext cx="8320680" cy="566640"/>
          </a:xfrm>
          <a:prstGeom prst="rect">
            <a:avLst/>
          </a:prstGeom>
          <a:solidFill>
            <a:srgbClr val="14202e">
              <a:alpha val="90000"/>
            </a:srgbClr>
          </a:solidFill>
          <a:ln w="12700">
            <a:solidFill>
              <a:srgbClr val="6c34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" name="Shape 22"/>
          <p:cNvSpPr/>
          <p:nvPr/>
        </p:nvSpPr>
        <p:spPr>
          <a:xfrm>
            <a:off x="502920" y="3749040"/>
            <a:ext cx="328680" cy="328680"/>
          </a:xfrm>
          <a:prstGeom prst="ellipse">
            <a:avLst/>
          </a:prstGeom>
          <a:solidFill>
            <a:srgbClr val="6c3483"/>
          </a:solidFill>
          <a:ln w="12700">
            <a:solidFill>
              <a:srgbClr val="6c34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0" name="Text 23"/>
          <p:cNvSpPr/>
          <p:nvPr/>
        </p:nvSpPr>
        <p:spPr>
          <a:xfrm>
            <a:off x="502920" y="374904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5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1" name="Text 24"/>
          <p:cNvSpPr/>
          <p:nvPr/>
        </p:nvSpPr>
        <p:spPr>
          <a:xfrm>
            <a:off x="960120" y="3630240"/>
            <a:ext cx="76075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cadcfc"/>
                </a:solidFill>
                <a:latin typeface="Calibri"/>
              </a:rPr>
              <a:t>Audits build credibility, enhance financial health, and provide lessons that improve future project outcomes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2" name="Shape 25"/>
          <p:cNvSpPr/>
          <p:nvPr/>
        </p:nvSpPr>
        <p:spPr>
          <a:xfrm>
            <a:off x="411480" y="4297680"/>
            <a:ext cx="8320680" cy="566640"/>
          </a:xfrm>
          <a:prstGeom prst="rect">
            <a:avLst/>
          </a:prstGeom>
          <a:solidFill>
            <a:srgbClr val="14202e">
              <a:alpha val="90000"/>
            </a:srgbClr>
          </a:solidFill>
          <a:ln w="12700">
            <a:solidFill>
              <a:srgbClr val="117a6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3" name="Shape 26"/>
          <p:cNvSpPr/>
          <p:nvPr/>
        </p:nvSpPr>
        <p:spPr>
          <a:xfrm>
            <a:off x="502920" y="4416480"/>
            <a:ext cx="328680" cy="328680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" name="Text 27"/>
          <p:cNvSpPr/>
          <p:nvPr/>
        </p:nvSpPr>
        <p:spPr>
          <a:xfrm>
            <a:off x="502920" y="44164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6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5" name="Text 28"/>
          <p:cNvSpPr/>
          <p:nvPr/>
        </p:nvSpPr>
        <p:spPr>
          <a:xfrm>
            <a:off x="960120" y="4297680"/>
            <a:ext cx="76075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cadcfc"/>
                </a:solidFill>
                <a:latin typeface="Calibri"/>
              </a:rPr>
              <a:t>Don't fear audits — they are a powerful tool for transparency, accountability, and continuous improvement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" name="Shape 29"/>
          <p:cNvSpPr/>
          <p:nvPr/>
        </p:nvSpPr>
        <p:spPr>
          <a:xfrm>
            <a:off x="0" y="4873680"/>
            <a:ext cx="9143640" cy="269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" name="Text 30"/>
          <p:cNvSpPr/>
          <p:nvPr/>
        </p:nvSpPr>
        <p:spPr>
          <a:xfrm>
            <a:off x="0" y="4873680"/>
            <a:ext cx="9143640" cy="2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adcfc"/>
                </a:solidFill>
                <a:latin typeface="Calibri"/>
              </a:rPr>
              <a:t>staragile.com/blog/project-audit  ·  cleartax.in/s/types-of-audits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2026-03-16T11:05:50Z</dcterms:created>
  <dc:creator>PptxGenJS</dc:creator>
  <dc:description/>
  <dc:language>en-US</dc:language>
  <cp:lastModifiedBy/>
  <dcterms:modified xsi:type="dcterms:W3CDTF">2026-03-16T16:40:03Z</dcterms:modified>
  <cp:revision>2</cp:revision>
  <dc:subject>PptxGenJS Presentation</dc:subject>
  <dc:title>Project Audits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13</vt:i4>
  </property>
  <property fmtid="{D5CDD505-2E9C-101B-9397-08002B2CF9AE}" pid="3" name="PresentationFormat">
    <vt:lpwstr>On-screen Show (16:9)</vt:lpwstr>
  </property>
  <property fmtid="{D5CDD505-2E9C-101B-9397-08002B2CF9AE}" pid="4" name="Slides">
    <vt:i4>13</vt:i4>
  </property>
</Properties>
</file>