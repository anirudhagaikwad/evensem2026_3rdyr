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v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sl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4AF8A0A-A238-420D-A805-CD1B27D4FA1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6E32F7-4394-47AF-AC9B-A8A6731B04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E312FD-7368-4B3F-B9A5-19F612F531F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6B4008-8286-46D0-B37B-74B5951300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09F750-3C03-423D-958C-FC3F7C37CE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E15AD6-24CD-4095-8055-5019A4B1ECE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2ACA7B-E5A6-4FAA-8914-D2C1FB26E9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214729-09A4-4F3D-8494-3D8A6B0E2B7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A2718A-6D7B-4E9C-8A77-E10D987A40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5514E-FC29-421A-90BD-32925286315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7D1035-56DD-4B87-9590-49D011F77B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943600" y="-731520"/>
            <a:ext cx="4754520" cy="475452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583680" y="-182880"/>
            <a:ext cx="3474360" cy="347436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6da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411480" y="1371600"/>
            <a:ext cx="2559960" cy="319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11480" y="13716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ATLASSIAN GUIDE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11480" y="1783080"/>
            <a:ext cx="64004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pc="199" strike="noStrike">
                <a:solidFill>
                  <a:srgbClr val="ffffff"/>
                </a:solidFill>
                <a:latin typeface="Calibri"/>
                <a:ea typeface="Calibri"/>
              </a:rPr>
              <a:t>PROJECT RISK</a:t>
            </a:r>
            <a:endParaRPr b="0" lang="en-US" sz="5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pc="199" strike="noStrike">
                <a:solidFill>
                  <a:srgbClr val="ffffff"/>
                </a:solidFill>
                <a:latin typeface="Calibri"/>
                <a:ea typeface="Calibri"/>
              </a:rPr>
              <a:t>MANAGEMENT</a:t>
            </a:r>
            <a:endParaRPr b="0" lang="en-US" sz="5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11480" y="379476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6da5c0"/>
                </a:solidFill>
                <a:latin typeface="Calibri"/>
              </a:rPr>
              <a:t>Identify · Assess · Monitor · Control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da5c0"/>
                </a:solidFill>
                <a:latin typeface="Calibri"/>
              </a:rPr>
              <a:t>Protect your project from uncertainty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WHAT IS PROJECT RISK MANAGEMENT?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365760" y="960120"/>
            <a:ext cx="8412120" cy="1188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365760" y="960120"/>
            <a:ext cx="8412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ffffff"/>
                </a:solidFill>
                <a:latin typeface="Calibri"/>
              </a:rPr>
              <a:t>Project risk management is the process of identifying, analyzing, and responding to potential risks that could impact a project's goals — covering scope, timeline, cost, and quality.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365760" y="2331720"/>
            <a:ext cx="2697120" cy="242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da5c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365760" y="2331720"/>
            <a:ext cx="2697120" cy="456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365760" y="233172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PROACTIVE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502920" y="2880360"/>
            <a:ext cx="24228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Anticipate issues before they arise and plan responses in advance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3337560" y="2331720"/>
            <a:ext cx="2697120" cy="242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da5c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3337560" y="2331720"/>
            <a:ext cx="2697120" cy="456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3337560" y="233172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STRUCTURED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3474720" y="2880360"/>
            <a:ext cx="24228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Follow a systematic process across the entire project lifecycle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6309360" y="2331720"/>
            <a:ext cx="2697120" cy="242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da5c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6309360" y="2331720"/>
            <a:ext cx="2697120" cy="456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6309360" y="233172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CONTINUOUS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6446520" y="2880360"/>
            <a:ext cx="24228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Monitor and update the risk register throughout project delivery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TYPES OF PROJECT RISKS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320040" y="1005840"/>
            <a:ext cx="4114440" cy="1142640"/>
          </a:xfrm>
          <a:prstGeom prst="rect">
            <a:avLst/>
          </a:prstGeom>
          <a:solidFill>
            <a:srgbClr val="334155">
              <a:alpha val="80000"/>
            </a:srgbClr>
          </a:solidFill>
          <a:ln w="254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320040" y="1005840"/>
            <a:ext cx="164160" cy="114264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594360" y="10972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533a"/>
                </a:solidFill>
                <a:latin typeface="Calibri"/>
              </a:rPr>
              <a:t>SCOPE RISK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594360" y="141732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ef4f8"/>
                </a:solidFill>
                <a:latin typeface="Calibri"/>
              </a:rPr>
              <a:t>Changes in project requirements, unclear deliverables, or uncontrolled scope creep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6"/>
          <p:cNvSpPr/>
          <p:nvPr/>
        </p:nvSpPr>
        <p:spPr>
          <a:xfrm>
            <a:off x="4754880" y="1005840"/>
            <a:ext cx="4114440" cy="1142640"/>
          </a:xfrm>
          <a:prstGeom prst="rect">
            <a:avLst/>
          </a:prstGeom>
          <a:solidFill>
            <a:srgbClr val="334155">
              <a:alpha val="80000"/>
            </a:srgbClr>
          </a:solidFill>
          <a:ln w="254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7"/>
          <p:cNvSpPr/>
          <p:nvPr/>
        </p:nvSpPr>
        <p:spPr>
          <a:xfrm>
            <a:off x="4754880" y="1005840"/>
            <a:ext cx="164160" cy="1142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5029200" y="10972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5a623"/>
                </a:solidFill>
                <a:latin typeface="Calibri"/>
              </a:rPr>
              <a:t>SCHEDULE RISK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5029200" y="141732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ef4f8"/>
                </a:solidFill>
                <a:latin typeface="Calibri"/>
              </a:rPr>
              <a:t>Delays due to resource constraints, dependencies, or unrealistic deadlines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10"/>
          <p:cNvSpPr/>
          <p:nvPr/>
        </p:nvSpPr>
        <p:spPr>
          <a:xfrm>
            <a:off x="320040" y="2331720"/>
            <a:ext cx="4114440" cy="1142640"/>
          </a:xfrm>
          <a:prstGeom prst="rect">
            <a:avLst/>
          </a:prstGeom>
          <a:solidFill>
            <a:srgbClr val="334155">
              <a:alpha val="80000"/>
            </a:srgbClr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11"/>
          <p:cNvSpPr/>
          <p:nvPr/>
        </p:nvSpPr>
        <p:spPr>
          <a:xfrm>
            <a:off x="320040" y="2331720"/>
            <a:ext cx="164160" cy="1142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594360" y="24231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74c3c"/>
                </a:solidFill>
                <a:latin typeface="Calibri"/>
              </a:rPr>
              <a:t>COST RISK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594360" y="274320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ef4f8"/>
                </a:solidFill>
                <a:latin typeface="Calibri"/>
              </a:rPr>
              <a:t>Budget overruns from poor estimates, unexpected expenses, or resource changes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4"/>
          <p:cNvSpPr/>
          <p:nvPr/>
        </p:nvSpPr>
        <p:spPr>
          <a:xfrm>
            <a:off x="4754880" y="2331720"/>
            <a:ext cx="4114440" cy="1142640"/>
          </a:xfrm>
          <a:prstGeom prst="rect">
            <a:avLst/>
          </a:prstGeom>
          <a:solidFill>
            <a:srgbClr val="334155">
              <a:alpha val="80000"/>
            </a:srgbClr>
          </a:solidFill>
          <a:ln w="254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5"/>
          <p:cNvSpPr/>
          <p:nvPr/>
        </p:nvSpPr>
        <p:spPr>
          <a:xfrm>
            <a:off x="4754880" y="2331720"/>
            <a:ext cx="164160" cy="11426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5029200" y="24231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b59b6"/>
                </a:solidFill>
                <a:latin typeface="Calibri"/>
              </a:rPr>
              <a:t>RESOURCE RISK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5029200" y="274320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ef4f8"/>
                </a:solidFill>
                <a:latin typeface="Calibri"/>
              </a:rPr>
              <a:t>Unavailability of key team members, skills gaps, or equipment shortages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18"/>
          <p:cNvSpPr/>
          <p:nvPr/>
        </p:nvSpPr>
        <p:spPr>
          <a:xfrm>
            <a:off x="320040" y="3657600"/>
            <a:ext cx="4114440" cy="1142640"/>
          </a:xfrm>
          <a:prstGeom prst="rect">
            <a:avLst/>
          </a:prstGeom>
          <a:solidFill>
            <a:srgbClr val="334155">
              <a:alpha val="80000"/>
            </a:srgbClr>
          </a:solidFill>
          <a:ln w="254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19"/>
          <p:cNvSpPr/>
          <p:nvPr/>
        </p:nvSpPr>
        <p:spPr>
          <a:xfrm>
            <a:off x="320040" y="3657600"/>
            <a:ext cx="164160" cy="1142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20"/>
          <p:cNvSpPr/>
          <p:nvPr/>
        </p:nvSpPr>
        <p:spPr>
          <a:xfrm>
            <a:off x="594360" y="37490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c7293"/>
                </a:solidFill>
                <a:latin typeface="Calibri"/>
              </a:rPr>
              <a:t>TECHNICAL RISK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21"/>
          <p:cNvSpPr/>
          <p:nvPr/>
        </p:nvSpPr>
        <p:spPr>
          <a:xfrm>
            <a:off x="594360" y="406908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ef4f8"/>
                </a:solidFill>
                <a:latin typeface="Calibri"/>
              </a:rPr>
              <a:t>Integration failures, technology limitations, or performance issues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22"/>
          <p:cNvSpPr/>
          <p:nvPr/>
        </p:nvSpPr>
        <p:spPr>
          <a:xfrm>
            <a:off x="4754880" y="3657600"/>
            <a:ext cx="4114440" cy="1142640"/>
          </a:xfrm>
          <a:prstGeom prst="rect">
            <a:avLst/>
          </a:prstGeom>
          <a:solidFill>
            <a:srgbClr val="334155">
              <a:alpha val="80000"/>
            </a:srgbClr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23"/>
          <p:cNvSpPr/>
          <p:nvPr/>
        </p:nvSpPr>
        <p:spPr>
          <a:xfrm>
            <a:off x="4754880" y="3657600"/>
            <a:ext cx="164160" cy="1142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24"/>
          <p:cNvSpPr/>
          <p:nvPr/>
        </p:nvSpPr>
        <p:spPr>
          <a:xfrm>
            <a:off x="5029200" y="37490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EXTERNAL RISK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25"/>
          <p:cNvSpPr/>
          <p:nvPr/>
        </p:nvSpPr>
        <p:spPr>
          <a:xfrm>
            <a:off x="5029200" y="406908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ef4f8"/>
                </a:solidFill>
                <a:latin typeface="Calibri"/>
              </a:rPr>
              <a:t>Market shifts, regulatory changes, vendor failures, or natural disasters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THE RISK MANAGEMENT PROCESS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1618560" y="1783080"/>
            <a:ext cx="347040" cy="164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411480" y="914400"/>
            <a:ext cx="1005480" cy="1005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411480" y="91440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228600" y="2057400"/>
            <a:ext cx="1572480" cy="2742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228600" y="2057400"/>
            <a:ext cx="1572480" cy="456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228600" y="2057400"/>
            <a:ext cx="157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IDENTIFY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320040" y="2606040"/>
            <a:ext cx="1389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Brainstorm, use checklists &amp; expert judgment to list all potential risks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3355920" y="1783080"/>
            <a:ext cx="347040" cy="164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0"/>
          <p:cNvSpPr/>
          <p:nvPr/>
        </p:nvSpPr>
        <p:spPr>
          <a:xfrm>
            <a:off x="2148840" y="914400"/>
            <a:ext cx="1005480" cy="1005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2148840" y="91440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1965960" y="2057400"/>
            <a:ext cx="1572480" cy="2742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1965960" y="2057400"/>
            <a:ext cx="1572480" cy="456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4"/>
          <p:cNvSpPr/>
          <p:nvPr/>
        </p:nvSpPr>
        <p:spPr>
          <a:xfrm>
            <a:off x="1965960" y="2057400"/>
            <a:ext cx="157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ANALYZE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2057400" y="2606040"/>
            <a:ext cx="1389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Assess probability and impact. Use qualitative &amp; quantitative methods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6"/>
          <p:cNvSpPr/>
          <p:nvPr/>
        </p:nvSpPr>
        <p:spPr>
          <a:xfrm>
            <a:off x="5093280" y="1783080"/>
            <a:ext cx="347040" cy="164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7"/>
          <p:cNvSpPr/>
          <p:nvPr/>
        </p:nvSpPr>
        <p:spPr>
          <a:xfrm>
            <a:off x="3886200" y="914400"/>
            <a:ext cx="1005480" cy="1005480"/>
          </a:xfrm>
          <a:prstGeom prst="ellipse">
            <a:avLst/>
          </a:prstGeom>
          <a:solidFill>
            <a:srgbClr val="1a8a6b"/>
          </a:solidFill>
          <a:ln w="12700">
            <a:solidFill>
              <a:srgbClr val="1a8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18"/>
          <p:cNvSpPr/>
          <p:nvPr/>
        </p:nvSpPr>
        <p:spPr>
          <a:xfrm>
            <a:off x="3886200" y="91440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9"/>
          <p:cNvSpPr/>
          <p:nvPr/>
        </p:nvSpPr>
        <p:spPr>
          <a:xfrm>
            <a:off x="3703320" y="2057400"/>
            <a:ext cx="1572480" cy="2742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8a6b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0"/>
          <p:cNvSpPr/>
          <p:nvPr/>
        </p:nvSpPr>
        <p:spPr>
          <a:xfrm>
            <a:off x="3703320" y="2057400"/>
            <a:ext cx="1572480" cy="456840"/>
          </a:xfrm>
          <a:prstGeom prst="rect">
            <a:avLst/>
          </a:prstGeom>
          <a:solidFill>
            <a:srgbClr val="1a8a6b"/>
          </a:solidFill>
          <a:ln w="12700">
            <a:solidFill>
              <a:srgbClr val="1a8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1"/>
          <p:cNvSpPr/>
          <p:nvPr/>
        </p:nvSpPr>
        <p:spPr>
          <a:xfrm>
            <a:off x="3703320" y="2057400"/>
            <a:ext cx="157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PRIORITIZE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2"/>
          <p:cNvSpPr/>
          <p:nvPr/>
        </p:nvSpPr>
        <p:spPr>
          <a:xfrm>
            <a:off x="3794760" y="2606040"/>
            <a:ext cx="1389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Rank risks using a risk matrix — focus on high-probability, high-impact first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3"/>
          <p:cNvSpPr/>
          <p:nvPr/>
        </p:nvSpPr>
        <p:spPr>
          <a:xfrm>
            <a:off x="6830640" y="1783080"/>
            <a:ext cx="347040" cy="164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4"/>
          <p:cNvSpPr/>
          <p:nvPr/>
        </p:nvSpPr>
        <p:spPr>
          <a:xfrm>
            <a:off x="5623560" y="914400"/>
            <a:ext cx="1005480" cy="1005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5"/>
          <p:cNvSpPr/>
          <p:nvPr/>
        </p:nvSpPr>
        <p:spPr>
          <a:xfrm>
            <a:off x="5623560" y="91440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6"/>
          <p:cNvSpPr/>
          <p:nvPr/>
        </p:nvSpPr>
        <p:spPr>
          <a:xfrm>
            <a:off x="5440680" y="2057400"/>
            <a:ext cx="1572480" cy="2742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7"/>
          <p:cNvSpPr/>
          <p:nvPr/>
        </p:nvSpPr>
        <p:spPr>
          <a:xfrm>
            <a:off x="5440680" y="2057400"/>
            <a:ext cx="1572480" cy="456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8"/>
          <p:cNvSpPr/>
          <p:nvPr/>
        </p:nvSpPr>
        <p:spPr>
          <a:xfrm>
            <a:off x="5440680" y="2057400"/>
            <a:ext cx="157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RESPOND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9"/>
          <p:cNvSpPr/>
          <p:nvPr/>
        </p:nvSpPr>
        <p:spPr>
          <a:xfrm>
            <a:off x="5532120" y="2606040"/>
            <a:ext cx="1389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Plan responses: Avoid, Transfer, Mitigate, or Accept each risk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0"/>
          <p:cNvSpPr/>
          <p:nvPr/>
        </p:nvSpPr>
        <p:spPr>
          <a:xfrm>
            <a:off x="7360920" y="914400"/>
            <a:ext cx="1005480" cy="1005480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1"/>
          <p:cNvSpPr/>
          <p:nvPr/>
        </p:nvSpPr>
        <p:spPr>
          <a:xfrm>
            <a:off x="7360920" y="91440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2"/>
          <p:cNvSpPr/>
          <p:nvPr/>
        </p:nvSpPr>
        <p:spPr>
          <a:xfrm>
            <a:off x="7178040" y="2057400"/>
            <a:ext cx="1572480" cy="2742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33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33"/>
          <p:cNvSpPr/>
          <p:nvPr/>
        </p:nvSpPr>
        <p:spPr>
          <a:xfrm>
            <a:off x="7178040" y="2057400"/>
            <a:ext cx="1572480" cy="45684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34"/>
          <p:cNvSpPr/>
          <p:nvPr/>
        </p:nvSpPr>
        <p:spPr>
          <a:xfrm>
            <a:off x="7178040" y="2057400"/>
            <a:ext cx="157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MONITOR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35"/>
          <p:cNvSpPr/>
          <p:nvPr/>
        </p:nvSpPr>
        <p:spPr>
          <a:xfrm>
            <a:off x="7269480" y="2606040"/>
            <a:ext cx="1389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Track risks continuously, update the register, and adapt as conditions change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RISK ASSESSMENT MATRIX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1828800" y="91440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da5c0"/>
                </a:solidFill>
                <a:latin typeface="Calibri"/>
              </a:rPr>
              <a:t>PROBABILITY →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91440" y="1280160"/>
            <a:ext cx="4568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da5c0"/>
                </a:solidFill>
                <a:latin typeface="Calibri"/>
              </a:rPr>
              <a:t>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da5c0"/>
                </a:solidFill>
                <a:latin typeface="Calibri"/>
              </a:rPr>
              <a:t>M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da5c0"/>
                </a:solidFill>
                <a:latin typeface="Calibri"/>
              </a:rPr>
              <a:t>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da5c0"/>
                </a:solidFill>
                <a:latin typeface="Calibri"/>
              </a:rPr>
              <a:t>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da5c0"/>
                </a:solidFill>
                <a:latin typeface="Calibri"/>
              </a:rPr>
              <a:t>C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da5c0"/>
                </a:solidFill>
                <a:latin typeface="Calibri"/>
              </a:rPr>
              <a:t>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da5c0"/>
                </a:solidFill>
                <a:latin typeface="Calibri"/>
              </a:rPr>
              <a:t>↑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4"/>
          <p:cNvSpPr/>
          <p:nvPr/>
        </p:nvSpPr>
        <p:spPr>
          <a:xfrm>
            <a:off x="1828800" y="1234440"/>
            <a:ext cx="2194200" cy="347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1828800" y="123444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LOW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6"/>
          <p:cNvSpPr/>
          <p:nvPr/>
        </p:nvSpPr>
        <p:spPr>
          <a:xfrm>
            <a:off x="4114800" y="1234440"/>
            <a:ext cx="2194200" cy="347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4114800" y="123444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MEDIUM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6400800" y="1234440"/>
            <a:ext cx="2194200" cy="347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6400800" y="123444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HIGH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548640" y="1600200"/>
            <a:ext cx="1188360" cy="914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548640" y="1600200"/>
            <a:ext cx="1188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HIGH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12"/>
          <p:cNvSpPr/>
          <p:nvPr/>
        </p:nvSpPr>
        <p:spPr>
          <a:xfrm>
            <a:off x="548640" y="2606040"/>
            <a:ext cx="1188360" cy="914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548640" y="2606040"/>
            <a:ext cx="1188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MEDIUM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14"/>
          <p:cNvSpPr/>
          <p:nvPr/>
        </p:nvSpPr>
        <p:spPr>
          <a:xfrm>
            <a:off x="548640" y="3611880"/>
            <a:ext cx="1188360" cy="914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548640" y="3611880"/>
            <a:ext cx="1188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LOW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6"/>
          <p:cNvSpPr/>
          <p:nvPr/>
        </p:nvSpPr>
        <p:spPr>
          <a:xfrm>
            <a:off x="1828800" y="1600200"/>
            <a:ext cx="2194200" cy="914040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1828800" y="160020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MEDIUM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18"/>
          <p:cNvSpPr/>
          <p:nvPr/>
        </p:nvSpPr>
        <p:spPr>
          <a:xfrm>
            <a:off x="4114800" y="1600200"/>
            <a:ext cx="2194200" cy="914040"/>
          </a:xfrm>
          <a:prstGeom prst="rect">
            <a:avLst/>
          </a:prstGeom>
          <a:solidFill>
            <a:srgbClr val="e8533a">
              <a:alpha val="80000"/>
            </a:srgbClr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9"/>
          <p:cNvSpPr/>
          <p:nvPr/>
        </p:nvSpPr>
        <p:spPr>
          <a:xfrm>
            <a:off x="4114800" y="160020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HIGH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20"/>
          <p:cNvSpPr/>
          <p:nvPr/>
        </p:nvSpPr>
        <p:spPr>
          <a:xfrm>
            <a:off x="6400800" y="1600200"/>
            <a:ext cx="2194200" cy="914040"/>
          </a:xfrm>
          <a:prstGeom prst="rect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21"/>
          <p:cNvSpPr/>
          <p:nvPr/>
        </p:nvSpPr>
        <p:spPr>
          <a:xfrm>
            <a:off x="6400800" y="160020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CRITICAL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22"/>
          <p:cNvSpPr/>
          <p:nvPr/>
        </p:nvSpPr>
        <p:spPr>
          <a:xfrm>
            <a:off x="1828800" y="2606040"/>
            <a:ext cx="2194200" cy="914040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23"/>
          <p:cNvSpPr/>
          <p:nvPr/>
        </p:nvSpPr>
        <p:spPr>
          <a:xfrm>
            <a:off x="1828800" y="260604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LOW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24"/>
          <p:cNvSpPr/>
          <p:nvPr/>
        </p:nvSpPr>
        <p:spPr>
          <a:xfrm>
            <a:off x="4114800" y="2606040"/>
            <a:ext cx="2194200" cy="914040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5"/>
          <p:cNvSpPr/>
          <p:nvPr/>
        </p:nvSpPr>
        <p:spPr>
          <a:xfrm>
            <a:off x="4114800" y="260604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MEDIUM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26"/>
          <p:cNvSpPr/>
          <p:nvPr/>
        </p:nvSpPr>
        <p:spPr>
          <a:xfrm>
            <a:off x="6400800" y="2606040"/>
            <a:ext cx="2194200" cy="914040"/>
          </a:xfrm>
          <a:prstGeom prst="rect">
            <a:avLst/>
          </a:prstGeom>
          <a:solidFill>
            <a:srgbClr val="e8533a">
              <a:alpha val="80000"/>
            </a:srgbClr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7"/>
          <p:cNvSpPr/>
          <p:nvPr/>
        </p:nvSpPr>
        <p:spPr>
          <a:xfrm>
            <a:off x="6400800" y="260604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HIGH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28"/>
          <p:cNvSpPr/>
          <p:nvPr/>
        </p:nvSpPr>
        <p:spPr>
          <a:xfrm>
            <a:off x="1828800" y="3611880"/>
            <a:ext cx="2194200" cy="914040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29"/>
          <p:cNvSpPr/>
          <p:nvPr/>
        </p:nvSpPr>
        <p:spPr>
          <a:xfrm>
            <a:off x="1828800" y="361188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LOW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30"/>
          <p:cNvSpPr/>
          <p:nvPr/>
        </p:nvSpPr>
        <p:spPr>
          <a:xfrm>
            <a:off x="4114800" y="3611880"/>
            <a:ext cx="2194200" cy="914040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31"/>
          <p:cNvSpPr/>
          <p:nvPr/>
        </p:nvSpPr>
        <p:spPr>
          <a:xfrm>
            <a:off x="4114800" y="361188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LOW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32"/>
          <p:cNvSpPr/>
          <p:nvPr/>
        </p:nvSpPr>
        <p:spPr>
          <a:xfrm>
            <a:off x="6400800" y="3611880"/>
            <a:ext cx="2194200" cy="914040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33"/>
          <p:cNvSpPr/>
          <p:nvPr/>
        </p:nvSpPr>
        <p:spPr>
          <a:xfrm>
            <a:off x="6400800" y="361188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MEDIUM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34"/>
          <p:cNvSpPr/>
          <p:nvPr/>
        </p:nvSpPr>
        <p:spPr>
          <a:xfrm>
            <a:off x="548640" y="4709160"/>
            <a:ext cx="200880" cy="200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35"/>
          <p:cNvSpPr/>
          <p:nvPr/>
        </p:nvSpPr>
        <p:spPr>
          <a:xfrm>
            <a:off x="822960" y="466344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da5c0"/>
                </a:solidFill>
                <a:latin typeface="Calibri"/>
              </a:rPr>
              <a:t>CRITICAL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36"/>
          <p:cNvSpPr/>
          <p:nvPr/>
        </p:nvSpPr>
        <p:spPr>
          <a:xfrm>
            <a:off x="2651760" y="4709160"/>
            <a:ext cx="200880" cy="20088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37"/>
          <p:cNvSpPr/>
          <p:nvPr/>
        </p:nvSpPr>
        <p:spPr>
          <a:xfrm>
            <a:off x="2926080" y="466344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da5c0"/>
                </a:solidFill>
                <a:latin typeface="Calibri"/>
              </a:rPr>
              <a:t>HIGH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38"/>
          <p:cNvSpPr/>
          <p:nvPr/>
        </p:nvSpPr>
        <p:spPr>
          <a:xfrm>
            <a:off x="4754880" y="4709160"/>
            <a:ext cx="200880" cy="200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39"/>
          <p:cNvSpPr/>
          <p:nvPr/>
        </p:nvSpPr>
        <p:spPr>
          <a:xfrm>
            <a:off x="5029200" y="466344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da5c0"/>
                </a:solidFill>
                <a:latin typeface="Calibri"/>
              </a:rPr>
              <a:t>MEDIUM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40"/>
          <p:cNvSpPr/>
          <p:nvPr/>
        </p:nvSpPr>
        <p:spPr>
          <a:xfrm>
            <a:off x="6858000" y="4709160"/>
            <a:ext cx="200880" cy="200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41"/>
          <p:cNvSpPr/>
          <p:nvPr/>
        </p:nvSpPr>
        <p:spPr>
          <a:xfrm>
            <a:off x="7132320" y="466344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da5c0"/>
                </a:solidFill>
                <a:latin typeface="Calibri"/>
              </a:rPr>
              <a:t>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RISK RESPONSE STRATEGIES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320040" y="960120"/>
            <a:ext cx="2011320" cy="393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320040" y="960120"/>
            <a:ext cx="2011320" cy="59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320040" y="9601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AVOID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320040" y="160020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c0392b"/>
                </a:solidFill>
                <a:latin typeface="Calibri"/>
              </a:rPr>
              <a:t>⊘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411480" y="2377440"/>
            <a:ext cx="1828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Eliminate the threat by changing the project plan. Adjust scope, timeline, or remove risky activities entirely.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7"/>
          <p:cNvSpPr/>
          <p:nvPr/>
        </p:nvSpPr>
        <p:spPr>
          <a:xfrm>
            <a:off x="411480" y="4114800"/>
            <a:ext cx="1828440" cy="594000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411480" y="41148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334155"/>
                </a:solidFill>
                <a:latin typeface="Calibri"/>
              </a:rPr>
              <a:t>e.g. Drop a risky feature from scope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2496240" y="960120"/>
            <a:ext cx="2011320" cy="393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0"/>
          <p:cNvSpPr/>
          <p:nvPr/>
        </p:nvSpPr>
        <p:spPr>
          <a:xfrm>
            <a:off x="2496240" y="960120"/>
            <a:ext cx="2011320" cy="5940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2496240" y="9601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TRANSFER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2"/>
          <p:cNvSpPr/>
          <p:nvPr/>
        </p:nvSpPr>
        <p:spPr>
          <a:xfrm>
            <a:off x="2496240" y="160020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8e44ad"/>
                </a:solidFill>
                <a:latin typeface="Calibri"/>
              </a:rPr>
              <a:t>⇄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2587680" y="2377440"/>
            <a:ext cx="1828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Shift the impact of a risk to a third party through contracts, insurance, or outsourcing.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14"/>
          <p:cNvSpPr/>
          <p:nvPr/>
        </p:nvSpPr>
        <p:spPr>
          <a:xfrm>
            <a:off x="2587680" y="4114800"/>
            <a:ext cx="1828440" cy="594000"/>
          </a:xfrm>
          <a:prstGeom prst="rect">
            <a:avLst/>
          </a:prstGeom>
          <a:solidFill>
            <a:srgbClr val="8e44ad">
              <a:alpha val="20000"/>
            </a:srgbClr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2587680" y="41148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334155"/>
                </a:solidFill>
                <a:latin typeface="Calibri"/>
              </a:rPr>
              <a:t>e.g. Purchase insurance or hire contractors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6"/>
          <p:cNvSpPr/>
          <p:nvPr/>
        </p:nvSpPr>
        <p:spPr>
          <a:xfrm>
            <a:off x="4672440" y="960120"/>
            <a:ext cx="2011320" cy="393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7"/>
          <p:cNvSpPr/>
          <p:nvPr/>
        </p:nvSpPr>
        <p:spPr>
          <a:xfrm>
            <a:off x="4672440" y="960120"/>
            <a:ext cx="2011320" cy="594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8"/>
          <p:cNvSpPr/>
          <p:nvPr/>
        </p:nvSpPr>
        <p:spPr>
          <a:xfrm>
            <a:off x="4672440" y="9601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MITIGATE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9"/>
          <p:cNvSpPr/>
          <p:nvPr/>
        </p:nvSpPr>
        <p:spPr>
          <a:xfrm>
            <a:off x="4672440" y="160020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5a623"/>
                </a:solidFill>
                <a:latin typeface="Calibri"/>
              </a:rPr>
              <a:t>↓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0"/>
          <p:cNvSpPr/>
          <p:nvPr/>
        </p:nvSpPr>
        <p:spPr>
          <a:xfrm>
            <a:off x="4763880" y="2377440"/>
            <a:ext cx="1828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Reduce the probability or impact of a risk through early action. The most common strategy used in projects.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21"/>
          <p:cNvSpPr/>
          <p:nvPr/>
        </p:nvSpPr>
        <p:spPr>
          <a:xfrm>
            <a:off x="4763880" y="4114800"/>
            <a:ext cx="1828440" cy="59400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22"/>
          <p:cNvSpPr/>
          <p:nvPr/>
        </p:nvSpPr>
        <p:spPr>
          <a:xfrm>
            <a:off x="4763880" y="41148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334155"/>
                </a:solidFill>
                <a:latin typeface="Calibri"/>
              </a:rPr>
              <a:t>e.g. Add buffer time to critical deadlines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3"/>
          <p:cNvSpPr/>
          <p:nvPr/>
        </p:nvSpPr>
        <p:spPr>
          <a:xfrm>
            <a:off x="6849000" y="960120"/>
            <a:ext cx="2011320" cy="393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24"/>
          <p:cNvSpPr/>
          <p:nvPr/>
        </p:nvSpPr>
        <p:spPr>
          <a:xfrm>
            <a:off x="6849000" y="960120"/>
            <a:ext cx="2011320" cy="594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25"/>
          <p:cNvSpPr/>
          <p:nvPr/>
        </p:nvSpPr>
        <p:spPr>
          <a:xfrm>
            <a:off x="6849000" y="9601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ACCEPT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26"/>
          <p:cNvSpPr/>
          <p:nvPr/>
        </p:nvSpPr>
        <p:spPr>
          <a:xfrm>
            <a:off x="6849000" y="160020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27"/>
          <p:cNvSpPr/>
          <p:nvPr/>
        </p:nvSpPr>
        <p:spPr>
          <a:xfrm>
            <a:off x="6940440" y="2377440"/>
            <a:ext cx="1828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Acknowledge the risk and prepare a contingency plan. Best for low-priority risks with limited response options.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8"/>
          <p:cNvSpPr/>
          <p:nvPr/>
        </p:nvSpPr>
        <p:spPr>
          <a:xfrm>
            <a:off x="6940440" y="4114800"/>
            <a:ext cx="1828440" cy="594000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29"/>
          <p:cNvSpPr/>
          <p:nvPr/>
        </p:nvSpPr>
        <p:spPr>
          <a:xfrm>
            <a:off x="6940440" y="41148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334155"/>
                </a:solidFill>
                <a:latin typeface="Calibri"/>
              </a:rPr>
              <a:t>e.g. Create a contingency budget reserve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THE RISK REGISTER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365760" y="914400"/>
            <a:ext cx="3931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eef4f8"/>
                </a:solidFill>
                <a:latin typeface="Calibri"/>
              </a:rPr>
              <a:t>A risk register is a living document that tracks all identified risks throughout the project. It is the foundation of effective risk management.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3"/>
          <p:cNvSpPr/>
          <p:nvPr/>
        </p:nvSpPr>
        <p:spPr>
          <a:xfrm>
            <a:off x="365760" y="2057400"/>
            <a:ext cx="1462680" cy="347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4"/>
          <p:cNvSpPr/>
          <p:nvPr/>
        </p:nvSpPr>
        <p:spPr>
          <a:xfrm>
            <a:off x="365760" y="205740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da5c0"/>
                </a:solidFill>
                <a:latin typeface="Calibri"/>
              </a:rPr>
              <a:t>Risk ID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5"/>
          <p:cNvSpPr/>
          <p:nvPr/>
        </p:nvSpPr>
        <p:spPr>
          <a:xfrm>
            <a:off x="1920240" y="205740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ef4f8"/>
                </a:solidFill>
                <a:latin typeface="Calibri"/>
              </a:rPr>
              <a:t>Unique identifier for tracking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6"/>
          <p:cNvSpPr/>
          <p:nvPr/>
        </p:nvSpPr>
        <p:spPr>
          <a:xfrm>
            <a:off x="365760" y="2459880"/>
            <a:ext cx="1462680" cy="347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365760" y="245988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da5c0"/>
                </a:solidFill>
                <a:latin typeface="Calibri"/>
              </a:rPr>
              <a:t>Description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1920240" y="245988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ef4f8"/>
                </a:solidFill>
                <a:latin typeface="Calibri"/>
              </a:rPr>
              <a:t>Clear explanation of the risk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9"/>
          <p:cNvSpPr/>
          <p:nvPr/>
        </p:nvSpPr>
        <p:spPr>
          <a:xfrm>
            <a:off x="365760" y="2862000"/>
            <a:ext cx="1462680" cy="347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0"/>
          <p:cNvSpPr/>
          <p:nvPr/>
        </p:nvSpPr>
        <p:spPr>
          <a:xfrm>
            <a:off x="365760" y="286200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da5c0"/>
                </a:solidFill>
                <a:latin typeface="Calibri"/>
              </a:rPr>
              <a:t>Probability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11"/>
          <p:cNvSpPr/>
          <p:nvPr/>
        </p:nvSpPr>
        <p:spPr>
          <a:xfrm>
            <a:off x="1920240" y="286200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ef4f8"/>
                </a:solidFill>
                <a:latin typeface="Calibri"/>
              </a:rPr>
              <a:t>Likelihood of occurrence (H/M/L)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12"/>
          <p:cNvSpPr/>
          <p:nvPr/>
        </p:nvSpPr>
        <p:spPr>
          <a:xfrm>
            <a:off x="365760" y="3264480"/>
            <a:ext cx="1462680" cy="347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3"/>
          <p:cNvSpPr/>
          <p:nvPr/>
        </p:nvSpPr>
        <p:spPr>
          <a:xfrm>
            <a:off x="365760" y="326448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da5c0"/>
                </a:solidFill>
                <a:latin typeface="Calibri"/>
              </a:rPr>
              <a:t>Impact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4"/>
          <p:cNvSpPr/>
          <p:nvPr/>
        </p:nvSpPr>
        <p:spPr>
          <a:xfrm>
            <a:off x="1920240" y="326448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ef4f8"/>
                </a:solidFill>
                <a:latin typeface="Calibri"/>
              </a:rPr>
              <a:t>Severity if the risk occurs (H/M/L)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5"/>
          <p:cNvSpPr/>
          <p:nvPr/>
        </p:nvSpPr>
        <p:spPr>
          <a:xfrm>
            <a:off x="365760" y="3666600"/>
            <a:ext cx="1462680" cy="347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16"/>
          <p:cNvSpPr/>
          <p:nvPr/>
        </p:nvSpPr>
        <p:spPr>
          <a:xfrm>
            <a:off x="365760" y="366660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da5c0"/>
                </a:solidFill>
                <a:latin typeface="Calibri"/>
              </a:rPr>
              <a:t>Owner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7"/>
          <p:cNvSpPr/>
          <p:nvPr/>
        </p:nvSpPr>
        <p:spPr>
          <a:xfrm>
            <a:off x="1920240" y="366660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ef4f8"/>
                </a:solidFill>
                <a:latin typeface="Calibri"/>
              </a:rPr>
              <a:t>Responsible team member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18"/>
          <p:cNvSpPr/>
          <p:nvPr/>
        </p:nvSpPr>
        <p:spPr>
          <a:xfrm>
            <a:off x="365760" y="4069080"/>
            <a:ext cx="1462680" cy="347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9"/>
          <p:cNvSpPr/>
          <p:nvPr/>
        </p:nvSpPr>
        <p:spPr>
          <a:xfrm>
            <a:off x="365760" y="406908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da5c0"/>
                </a:solidFill>
                <a:latin typeface="Calibri"/>
              </a:rPr>
              <a:t>Response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20"/>
          <p:cNvSpPr/>
          <p:nvPr/>
        </p:nvSpPr>
        <p:spPr>
          <a:xfrm>
            <a:off x="1920240" y="406908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ef4f8"/>
                </a:solidFill>
                <a:latin typeface="Calibri"/>
              </a:rPr>
              <a:t>Planned action (Avoid/Transfer/Mitigate/Accept)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21"/>
          <p:cNvSpPr/>
          <p:nvPr/>
        </p:nvSpPr>
        <p:spPr>
          <a:xfrm>
            <a:off x="365760" y="4471560"/>
            <a:ext cx="1462680" cy="347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22"/>
          <p:cNvSpPr/>
          <p:nvPr/>
        </p:nvSpPr>
        <p:spPr>
          <a:xfrm>
            <a:off x="365760" y="447156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da5c0"/>
                </a:solidFill>
                <a:latin typeface="Calibri"/>
              </a:rPr>
              <a:t>Status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23"/>
          <p:cNvSpPr/>
          <p:nvPr/>
        </p:nvSpPr>
        <p:spPr>
          <a:xfrm>
            <a:off x="1920240" y="447156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ef4f8"/>
                </a:solidFill>
                <a:latin typeface="Calibri"/>
              </a:rPr>
              <a:t>Open / In Progress / Closed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24"/>
          <p:cNvSpPr/>
          <p:nvPr/>
        </p:nvSpPr>
        <p:spPr>
          <a:xfrm>
            <a:off x="4572000" y="914400"/>
            <a:ext cx="4297320" cy="365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25"/>
          <p:cNvSpPr/>
          <p:nvPr/>
        </p:nvSpPr>
        <p:spPr>
          <a:xfrm>
            <a:off x="4572000" y="914400"/>
            <a:ext cx="106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RISK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26"/>
          <p:cNvSpPr/>
          <p:nvPr/>
        </p:nvSpPr>
        <p:spPr>
          <a:xfrm>
            <a:off x="5641920" y="914400"/>
            <a:ext cx="106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PROB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27"/>
          <p:cNvSpPr/>
          <p:nvPr/>
        </p:nvSpPr>
        <p:spPr>
          <a:xfrm>
            <a:off x="6711840" y="914400"/>
            <a:ext cx="106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IMPACT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28"/>
          <p:cNvSpPr/>
          <p:nvPr/>
        </p:nvSpPr>
        <p:spPr>
          <a:xfrm>
            <a:off x="7781400" y="914400"/>
            <a:ext cx="106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RESPONSE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29"/>
          <p:cNvSpPr/>
          <p:nvPr/>
        </p:nvSpPr>
        <p:spPr>
          <a:xfrm>
            <a:off x="4572000" y="1325880"/>
            <a:ext cx="4297320" cy="566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30"/>
          <p:cNvSpPr/>
          <p:nvPr/>
        </p:nvSpPr>
        <p:spPr>
          <a:xfrm>
            <a:off x="4572000" y="132588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ef4f8"/>
                </a:solidFill>
                <a:latin typeface="Calibri"/>
              </a:rPr>
              <a:t>Scope creep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31"/>
          <p:cNvSpPr/>
          <p:nvPr/>
        </p:nvSpPr>
        <p:spPr>
          <a:xfrm>
            <a:off x="5641920" y="132588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533a"/>
                </a:solidFill>
                <a:latin typeface="Calibri"/>
              </a:rPr>
              <a:t>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32"/>
          <p:cNvSpPr/>
          <p:nvPr/>
        </p:nvSpPr>
        <p:spPr>
          <a:xfrm>
            <a:off x="6711840" y="132588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533a"/>
                </a:solidFill>
                <a:latin typeface="Calibri"/>
              </a:rPr>
              <a:t>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33"/>
          <p:cNvSpPr/>
          <p:nvPr/>
        </p:nvSpPr>
        <p:spPr>
          <a:xfrm>
            <a:off x="7781400" y="132588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ef4f8"/>
                </a:solidFill>
                <a:latin typeface="Calibri"/>
              </a:rPr>
              <a:t>Avoid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34"/>
          <p:cNvSpPr/>
          <p:nvPr/>
        </p:nvSpPr>
        <p:spPr>
          <a:xfrm>
            <a:off x="4572000" y="1965960"/>
            <a:ext cx="4297320" cy="5666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35"/>
          <p:cNvSpPr/>
          <p:nvPr/>
        </p:nvSpPr>
        <p:spPr>
          <a:xfrm>
            <a:off x="4572000" y="196596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ef4f8"/>
                </a:solidFill>
                <a:latin typeface="Calibri"/>
              </a:rPr>
              <a:t>Key dev leaves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36"/>
          <p:cNvSpPr/>
          <p:nvPr/>
        </p:nvSpPr>
        <p:spPr>
          <a:xfrm>
            <a:off x="5641920" y="196596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a623"/>
                </a:solidFill>
                <a:latin typeface="Calibri"/>
              </a:rPr>
              <a:t>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37"/>
          <p:cNvSpPr/>
          <p:nvPr/>
        </p:nvSpPr>
        <p:spPr>
          <a:xfrm>
            <a:off x="6711840" y="196596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533a"/>
                </a:solidFill>
                <a:latin typeface="Calibri"/>
              </a:rPr>
              <a:t>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38"/>
          <p:cNvSpPr/>
          <p:nvPr/>
        </p:nvSpPr>
        <p:spPr>
          <a:xfrm>
            <a:off x="7781400" y="196596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ef4f8"/>
                </a:solidFill>
                <a:latin typeface="Calibri"/>
              </a:rPr>
              <a:t>Mitigate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39"/>
          <p:cNvSpPr/>
          <p:nvPr/>
        </p:nvSpPr>
        <p:spPr>
          <a:xfrm>
            <a:off x="4572000" y="2606040"/>
            <a:ext cx="4297320" cy="566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40"/>
          <p:cNvSpPr/>
          <p:nvPr/>
        </p:nvSpPr>
        <p:spPr>
          <a:xfrm>
            <a:off x="4572000" y="260604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ef4f8"/>
                </a:solidFill>
                <a:latin typeface="Calibri"/>
              </a:rPr>
              <a:t>Budget overrun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41"/>
          <p:cNvSpPr/>
          <p:nvPr/>
        </p:nvSpPr>
        <p:spPr>
          <a:xfrm>
            <a:off x="5641920" y="260604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a623"/>
                </a:solidFill>
                <a:latin typeface="Calibri"/>
              </a:rPr>
              <a:t>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42"/>
          <p:cNvSpPr/>
          <p:nvPr/>
        </p:nvSpPr>
        <p:spPr>
          <a:xfrm>
            <a:off x="6711840" y="260604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a623"/>
                </a:solidFill>
                <a:latin typeface="Calibri"/>
              </a:rPr>
              <a:t>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43"/>
          <p:cNvSpPr/>
          <p:nvPr/>
        </p:nvSpPr>
        <p:spPr>
          <a:xfrm>
            <a:off x="7781400" y="260604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ef4f8"/>
                </a:solidFill>
                <a:latin typeface="Calibri"/>
              </a:rPr>
              <a:t>Transfer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44"/>
          <p:cNvSpPr/>
          <p:nvPr/>
        </p:nvSpPr>
        <p:spPr>
          <a:xfrm>
            <a:off x="4572000" y="3246120"/>
            <a:ext cx="4297320" cy="5666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45"/>
          <p:cNvSpPr/>
          <p:nvPr/>
        </p:nvSpPr>
        <p:spPr>
          <a:xfrm>
            <a:off x="4572000" y="324612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ef4f8"/>
                </a:solidFill>
                <a:latin typeface="Calibri"/>
              </a:rPr>
              <a:t>API dependency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46"/>
          <p:cNvSpPr/>
          <p:nvPr/>
        </p:nvSpPr>
        <p:spPr>
          <a:xfrm>
            <a:off x="5641920" y="324612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</a:rPr>
              <a:t>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47"/>
          <p:cNvSpPr/>
          <p:nvPr/>
        </p:nvSpPr>
        <p:spPr>
          <a:xfrm>
            <a:off x="6711840" y="324612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533a"/>
                </a:solidFill>
                <a:latin typeface="Calibri"/>
              </a:rPr>
              <a:t>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48"/>
          <p:cNvSpPr/>
          <p:nvPr/>
        </p:nvSpPr>
        <p:spPr>
          <a:xfrm>
            <a:off x="7781400" y="324612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ef4f8"/>
                </a:solidFill>
                <a:latin typeface="Calibri"/>
              </a:rPr>
              <a:t>Mitigate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49"/>
          <p:cNvSpPr/>
          <p:nvPr/>
        </p:nvSpPr>
        <p:spPr>
          <a:xfrm>
            <a:off x="4572000" y="3886200"/>
            <a:ext cx="4297320" cy="566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50"/>
          <p:cNvSpPr/>
          <p:nvPr/>
        </p:nvSpPr>
        <p:spPr>
          <a:xfrm>
            <a:off x="4572000" y="388620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ef4f8"/>
                </a:solidFill>
                <a:latin typeface="Calibri"/>
              </a:rPr>
              <a:t>Market change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51"/>
          <p:cNvSpPr/>
          <p:nvPr/>
        </p:nvSpPr>
        <p:spPr>
          <a:xfrm>
            <a:off x="5641920" y="388620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</a:rPr>
              <a:t>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52"/>
          <p:cNvSpPr/>
          <p:nvPr/>
        </p:nvSpPr>
        <p:spPr>
          <a:xfrm>
            <a:off x="6711840" y="388620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a623"/>
                </a:solidFill>
                <a:latin typeface="Calibri"/>
              </a:rPr>
              <a:t>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53"/>
          <p:cNvSpPr/>
          <p:nvPr/>
        </p:nvSpPr>
        <p:spPr>
          <a:xfrm>
            <a:off x="7781400" y="388620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ef4f8"/>
                </a:solidFill>
                <a:latin typeface="Calibri"/>
              </a:rPr>
              <a:t>Accept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BEST PRACTICES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2"/>
          <p:cNvSpPr/>
          <p:nvPr/>
        </p:nvSpPr>
        <p:spPr>
          <a:xfrm>
            <a:off x="320040" y="960120"/>
            <a:ext cx="42058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da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484560" y="1252800"/>
            <a:ext cx="566640" cy="566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484560" y="12528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1143000" y="105156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1526"/>
                </a:solidFill>
                <a:latin typeface="Calibri"/>
              </a:rPr>
              <a:t>Involve Your Whole Team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1143000" y="141732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</a:rPr>
              <a:t>Everyone on the team has unique perspective on what could go wrong. Include stakeholders in risk workshops from day one.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4846320" y="960120"/>
            <a:ext cx="42058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da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5010840" y="1252800"/>
            <a:ext cx="566640" cy="566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5010840" y="12528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5669280" y="105156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1526"/>
                </a:solidFill>
                <a:latin typeface="Calibri"/>
              </a:rPr>
              <a:t>Update the Register Regularly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1"/>
          <p:cNvSpPr/>
          <p:nvPr/>
        </p:nvSpPr>
        <p:spPr>
          <a:xfrm>
            <a:off x="5669280" y="141732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</a:rPr>
              <a:t>Risks evolve as the project progresses. Schedule recurring reviews to add new risks and close resolved ones.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2"/>
          <p:cNvSpPr/>
          <p:nvPr/>
        </p:nvSpPr>
        <p:spPr>
          <a:xfrm>
            <a:off x="320040" y="2377440"/>
            <a:ext cx="42058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da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3"/>
          <p:cNvSpPr/>
          <p:nvPr/>
        </p:nvSpPr>
        <p:spPr>
          <a:xfrm>
            <a:off x="484560" y="2670120"/>
            <a:ext cx="566640" cy="566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484560" y="26701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1143000" y="246888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1526"/>
                </a:solidFill>
                <a:latin typeface="Calibri"/>
              </a:rPr>
              <a:t>Use a Risk Matrix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16"/>
          <p:cNvSpPr/>
          <p:nvPr/>
        </p:nvSpPr>
        <p:spPr>
          <a:xfrm>
            <a:off x="1143000" y="283464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</a:rPr>
              <a:t>Visualize risk levels using a probability vs. impact grid to quickly identify which risks demand immediate attention.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7"/>
          <p:cNvSpPr/>
          <p:nvPr/>
        </p:nvSpPr>
        <p:spPr>
          <a:xfrm>
            <a:off x="4846320" y="2377440"/>
            <a:ext cx="42058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da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8"/>
          <p:cNvSpPr/>
          <p:nvPr/>
        </p:nvSpPr>
        <p:spPr>
          <a:xfrm>
            <a:off x="5010840" y="2670120"/>
            <a:ext cx="566640" cy="566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9"/>
          <p:cNvSpPr/>
          <p:nvPr/>
        </p:nvSpPr>
        <p:spPr>
          <a:xfrm>
            <a:off x="5010840" y="26701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20"/>
          <p:cNvSpPr/>
          <p:nvPr/>
        </p:nvSpPr>
        <p:spPr>
          <a:xfrm>
            <a:off x="5669280" y="246888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1526"/>
                </a:solidFill>
                <a:latin typeface="Calibri"/>
              </a:rPr>
              <a:t>Assign Clear Ownership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1"/>
          <p:cNvSpPr/>
          <p:nvPr/>
        </p:nvSpPr>
        <p:spPr>
          <a:xfrm>
            <a:off x="5669280" y="283464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</a:rPr>
              <a:t>Every risk must have a named owner. Accountability ensures risks are actively monitored and not left unaddressed.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2"/>
          <p:cNvSpPr/>
          <p:nvPr/>
        </p:nvSpPr>
        <p:spPr>
          <a:xfrm>
            <a:off x="320040" y="3794760"/>
            <a:ext cx="42058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da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23"/>
          <p:cNvSpPr/>
          <p:nvPr/>
        </p:nvSpPr>
        <p:spPr>
          <a:xfrm>
            <a:off x="484560" y="4087440"/>
            <a:ext cx="566640" cy="566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24"/>
          <p:cNvSpPr/>
          <p:nvPr/>
        </p:nvSpPr>
        <p:spPr>
          <a:xfrm>
            <a:off x="484560" y="40874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25"/>
          <p:cNvSpPr/>
          <p:nvPr/>
        </p:nvSpPr>
        <p:spPr>
          <a:xfrm>
            <a:off x="1143000" y="388620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1526"/>
                </a:solidFill>
                <a:latin typeface="Calibri"/>
              </a:rPr>
              <a:t>Plan for the Unknown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26"/>
          <p:cNvSpPr/>
          <p:nvPr/>
        </p:nvSpPr>
        <p:spPr>
          <a:xfrm>
            <a:off x="1143000" y="425196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</a:rPr>
              <a:t>Reserve time and budget contingencies for risks you cannot predict. A 10–15% buffer is a widely recommended minimum.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7"/>
          <p:cNvSpPr/>
          <p:nvPr/>
        </p:nvSpPr>
        <p:spPr>
          <a:xfrm>
            <a:off x="4846320" y="3794760"/>
            <a:ext cx="42058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da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8"/>
          <p:cNvSpPr/>
          <p:nvPr/>
        </p:nvSpPr>
        <p:spPr>
          <a:xfrm>
            <a:off x="5010840" y="4087440"/>
            <a:ext cx="566640" cy="566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29"/>
          <p:cNvSpPr/>
          <p:nvPr/>
        </p:nvSpPr>
        <p:spPr>
          <a:xfrm>
            <a:off x="5010840" y="40874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30"/>
          <p:cNvSpPr/>
          <p:nvPr/>
        </p:nvSpPr>
        <p:spPr>
          <a:xfrm>
            <a:off x="5669280" y="388620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1526"/>
                </a:solidFill>
                <a:latin typeface="Calibri"/>
              </a:rPr>
              <a:t>Learn from Past Projects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31"/>
          <p:cNvSpPr/>
          <p:nvPr/>
        </p:nvSpPr>
        <p:spPr>
          <a:xfrm>
            <a:off x="5669280" y="425196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</a:rPr>
              <a:t>Conduct post-mortems and maintain a lessons-learned database to inform risk planning on future projects.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-914400" y="3200400"/>
            <a:ext cx="4571640" cy="457164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1"/>
          <p:cNvSpPr/>
          <p:nvPr/>
        </p:nvSpPr>
        <p:spPr>
          <a:xfrm>
            <a:off x="6400800" y="-914400"/>
            <a:ext cx="3657240" cy="36572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2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3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KEY TAKEAWAYS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4"/>
          <p:cNvSpPr/>
          <p:nvPr/>
        </p:nvSpPr>
        <p:spPr>
          <a:xfrm>
            <a:off x="457200" y="1005840"/>
            <a:ext cx="8229240" cy="548280"/>
          </a:xfrm>
          <a:prstGeom prst="rect">
            <a:avLst/>
          </a:prstGeom>
          <a:solidFill>
            <a:srgbClr val="334155">
              <a:alpha val="7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5"/>
          <p:cNvSpPr/>
          <p:nvPr/>
        </p:nvSpPr>
        <p:spPr>
          <a:xfrm>
            <a:off x="502920" y="1097280"/>
            <a:ext cx="365400" cy="365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502920" y="1097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1005840" y="100584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ef4f8"/>
                </a:solidFill>
                <a:latin typeface="Calibri"/>
              </a:rPr>
              <a:t>Risk management is not optional — it is essential to project success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8"/>
          <p:cNvSpPr/>
          <p:nvPr/>
        </p:nvSpPr>
        <p:spPr>
          <a:xfrm>
            <a:off x="457200" y="1664280"/>
            <a:ext cx="8229240" cy="548280"/>
          </a:xfrm>
          <a:prstGeom prst="rect">
            <a:avLst/>
          </a:prstGeom>
          <a:solidFill>
            <a:srgbClr val="334155">
              <a:alpha val="7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9"/>
          <p:cNvSpPr/>
          <p:nvPr/>
        </p:nvSpPr>
        <p:spPr>
          <a:xfrm>
            <a:off x="502920" y="1755720"/>
            <a:ext cx="365400" cy="365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10"/>
          <p:cNvSpPr/>
          <p:nvPr/>
        </p:nvSpPr>
        <p:spPr>
          <a:xfrm>
            <a:off x="502920" y="17557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1005840" y="166428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ef4f8"/>
                </a:solidFill>
                <a:latin typeface="Calibri"/>
              </a:rPr>
              <a:t>Identify risks early, before they become costly issues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12"/>
          <p:cNvSpPr/>
          <p:nvPr/>
        </p:nvSpPr>
        <p:spPr>
          <a:xfrm>
            <a:off x="457200" y="2322720"/>
            <a:ext cx="8229240" cy="548280"/>
          </a:xfrm>
          <a:prstGeom prst="rect">
            <a:avLst/>
          </a:prstGeom>
          <a:solidFill>
            <a:srgbClr val="334155">
              <a:alpha val="7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13"/>
          <p:cNvSpPr/>
          <p:nvPr/>
        </p:nvSpPr>
        <p:spPr>
          <a:xfrm>
            <a:off x="502920" y="2414160"/>
            <a:ext cx="365400" cy="365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502920" y="24141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15"/>
          <p:cNvSpPr/>
          <p:nvPr/>
        </p:nvSpPr>
        <p:spPr>
          <a:xfrm>
            <a:off x="1005840" y="232272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ef4f8"/>
                </a:solidFill>
                <a:latin typeface="Calibri"/>
              </a:rPr>
              <a:t>Not all risks are equal — prioritize using probability × impact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16"/>
          <p:cNvSpPr/>
          <p:nvPr/>
        </p:nvSpPr>
        <p:spPr>
          <a:xfrm>
            <a:off x="457200" y="2980800"/>
            <a:ext cx="8229240" cy="548280"/>
          </a:xfrm>
          <a:prstGeom prst="rect">
            <a:avLst/>
          </a:prstGeom>
          <a:solidFill>
            <a:srgbClr val="334155">
              <a:alpha val="7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17"/>
          <p:cNvSpPr/>
          <p:nvPr/>
        </p:nvSpPr>
        <p:spPr>
          <a:xfrm>
            <a:off x="502920" y="3072240"/>
            <a:ext cx="365400" cy="365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18"/>
          <p:cNvSpPr/>
          <p:nvPr/>
        </p:nvSpPr>
        <p:spPr>
          <a:xfrm>
            <a:off x="502920" y="30722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19"/>
          <p:cNvSpPr/>
          <p:nvPr/>
        </p:nvSpPr>
        <p:spPr>
          <a:xfrm>
            <a:off x="1005840" y="298080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ef4f8"/>
                </a:solidFill>
                <a:latin typeface="Calibri"/>
              </a:rPr>
              <a:t>Every risk needs an owner and a documented response plan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20"/>
          <p:cNvSpPr/>
          <p:nvPr/>
        </p:nvSpPr>
        <p:spPr>
          <a:xfrm>
            <a:off x="457200" y="3639240"/>
            <a:ext cx="8229240" cy="548280"/>
          </a:xfrm>
          <a:prstGeom prst="rect">
            <a:avLst/>
          </a:prstGeom>
          <a:solidFill>
            <a:srgbClr val="334155">
              <a:alpha val="7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21"/>
          <p:cNvSpPr/>
          <p:nvPr/>
        </p:nvSpPr>
        <p:spPr>
          <a:xfrm>
            <a:off x="502920" y="3730680"/>
            <a:ext cx="365400" cy="365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22"/>
          <p:cNvSpPr/>
          <p:nvPr/>
        </p:nvSpPr>
        <p:spPr>
          <a:xfrm>
            <a:off x="502920" y="37306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23"/>
          <p:cNvSpPr/>
          <p:nvPr/>
        </p:nvSpPr>
        <p:spPr>
          <a:xfrm>
            <a:off x="1005840" y="363924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ef4f8"/>
                </a:solidFill>
                <a:latin typeface="Calibri"/>
              </a:rPr>
              <a:t>The risk register is a living document — update it continuously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24"/>
          <p:cNvSpPr/>
          <p:nvPr/>
        </p:nvSpPr>
        <p:spPr>
          <a:xfrm>
            <a:off x="457200" y="4297680"/>
            <a:ext cx="8229240" cy="548280"/>
          </a:xfrm>
          <a:prstGeom prst="rect">
            <a:avLst/>
          </a:prstGeom>
          <a:solidFill>
            <a:srgbClr val="334155">
              <a:alpha val="7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25"/>
          <p:cNvSpPr/>
          <p:nvPr/>
        </p:nvSpPr>
        <p:spPr>
          <a:xfrm>
            <a:off x="502920" y="4389120"/>
            <a:ext cx="365400" cy="365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26"/>
          <p:cNvSpPr/>
          <p:nvPr/>
        </p:nvSpPr>
        <p:spPr>
          <a:xfrm>
            <a:off x="502920" y="4389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27"/>
          <p:cNvSpPr/>
          <p:nvPr/>
        </p:nvSpPr>
        <p:spPr>
          <a:xfrm>
            <a:off x="1005840" y="429768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ef4f8"/>
                </a:solidFill>
                <a:latin typeface="Calibri"/>
              </a:rPr>
              <a:t>Good risk management reduces surprises and builds stakeholder confidence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0"/>
          <p:cNvSpPr/>
          <p:nvPr/>
        </p:nvSpPr>
        <p:spPr>
          <a:xfrm>
            <a:off x="2286000" y="457200"/>
            <a:ext cx="4571640" cy="4571640"/>
          </a:xfrm>
          <a:prstGeom prst="ellipse">
            <a:avLst/>
          </a:prstGeom>
          <a:solidFill>
            <a:srgbClr val="065a82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1"/>
          <p:cNvSpPr/>
          <p:nvPr/>
        </p:nvSpPr>
        <p:spPr>
          <a:xfrm>
            <a:off x="3017520" y="1005840"/>
            <a:ext cx="3108600" cy="310860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6da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hape 2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3"/>
          <p:cNvSpPr/>
          <p:nvPr/>
        </p:nvSpPr>
        <p:spPr>
          <a:xfrm>
            <a:off x="411480" y="1097280"/>
            <a:ext cx="82292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START MANAGING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RISKS TODAY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4"/>
          <p:cNvSpPr/>
          <p:nvPr/>
        </p:nvSpPr>
        <p:spPr>
          <a:xfrm>
            <a:off x="411480" y="32461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da5c0"/>
                </a:solidFill>
                <a:latin typeface="Calibri"/>
              </a:rPr>
              <a:t>Protect your project · Empower your team · Deliver with confidence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5"/>
          <p:cNvSpPr/>
          <p:nvPr/>
        </p:nvSpPr>
        <p:spPr>
          <a:xfrm>
            <a:off x="2743200" y="3931920"/>
            <a:ext cx="3657240" cy="502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6"/>
          <p:cNvSpPr/>
          <p:nvPr/>
        </p:nvSpPr>
        <p:spPr>
          <a:xfrm>
            <a:off x="2743200" y="39319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7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8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da5c0"/>
                </a:solidFill>
                <a:latin typeface="Calibri"/>
              </a:rPr>
              <a:t>atlassian.com/work-management/project-management/project-risk-management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2026-03-11T10:39:45Z</dcterms:created>
  <dc:creator>PptxGenJS</dc:creator>
  <dc:description/>
  <dc:language>en-US</dc:language>
  <cp:lastModifiedBy/>
  <dcterms:modified xsi:type="dcterms:W3CDTF">2026-03-11T16:14:59Z</dcterms:modified>
  <cp:revision>2</cp:revision>
  <dc:subject>PptxGenJS Presentation</dc:subject>
  <dc:title>Project Risk Management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