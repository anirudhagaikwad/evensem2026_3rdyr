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502920"/>
            <a:ext cx="475488" cy="475488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95160" y="6217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Plan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75120" y="978408"/>
            <a:ext cx="0" cy="374904"/>
          </a:xfrm>
          <a:prstGeom prst="line">
            <a:avLst/>
          </a:prstGeom>
          <a:noFill/>
          <a:ln w="12700">
            <a:solidFill>
              <a:srgbClr val="2563EB"/>
            </a:solidFill>
            <a:prstDash val="dot"/>
          </a:ln>
        </p:spPr>
      </p:sp>
      <p:sp>
        <p:nvSpPr>
          <p:cNvPr id="8" name="Shape 6"/>
          <p:cNvSpPr/>
          <p:nvPr/>
        </p:nvSpPr>
        <p:spPr>
          <a:xfrm>
            <a:off x="6446520" y="1325880"/>
            <a:ext cx="475488" cy="47548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95160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801368"/>
            <a:ext cx="0" cy="374904"/>
          </a:xfrm>
          <a:prstGeom prst="line">
            <a:avLst/>
          </a:prstGeom>
          <a:noFill/>
          <a:ln w="12700">
            <a:solidFill>
              <a:srgbClr val="06B6D4"/>
            </a:solidFill>
            <a:prstDash val="dot"/>
          </a:ln>
        </p:spPr>
      </p:sp>
      <p:sp>
        <p:nvSpPr>
          <p:cNvPr id="12" name="Shape 10"/>
          <p:cNvSpPr/>
          <p:nvPr/>
        </p:nvSpPr>
        <p:spPr>
          <a:xfrm>
            <a:off x="6446520" y="2148840"/>
            <a:ext cx="475488" cy="475488"/>
          </a:xfrm>
          <a:prstGeom prst="ellipse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95160" y="22677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Setup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2624328"/>
            <a:ext cx="0" cy="374904"/>
          </a:xfrm>
          <a:prstGeom prst="line">
            <a:avLst/>
          </a:prstGeom>
          <a:noFill/>
          <a:ln w="12700">
            <a:solidFill>
              <a:srgbClr val="F97316"/>
            </a:solidFill>
            <a:prstDash val="dot"/>
          </a:ln>
        </p:spPr>
      </p:sp>
      <p:sp>
        <p:nvSpPr>
          <p:cNvPr id="16" name="Shape 14"/>
          <p:cNvSpPr/>
          <p:nvPr/>
        </p:nvSpPr>
        <p:spPr>
          <a:xfrm>
            <a:off x="6446520" y="2971800"/>
            <a:ext cx="475488" cy="47548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▶️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95160" y="30906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Execute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3447288"/>
            <a:ext cx="0" cy="374904"/>
          </a:xfrm>
          <a:prstGeom prst="line">
            <a:avLst/>
          </a:prstGeom>
          <a:noFill/>
          <a:ln w="12700">
            <a:solidFill>
              <a:srgbClr val="10B981"/>
            </a:solidFill>
            <a:prstDash val="dot"/>
          </a:ln>
        </p:spPr>
      </p:sp>
      <p:sp>
        <p:nvSpPr>
          <p:cNvPr id="20" name="Shape 18"/>
          <p:cNvSpPr/>
          <p:nvPr/>
        </p:nvSpPr>
        <p:spPr>
          <a:xfrm>
            <a:off x="6446520" y="3794760"/>
            <a:ext cx="475488" cy="475488"/>
          </a:xfrm>
          <a:prstGeom prst="ellipse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794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🐛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95160" y="39136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Track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4270248"/>
            <a:ext cx="0" cy="374904"/>
          </a:xfrm>
          <a:prstGeom prst="line">
            <a:avLst/>
          </a:prstGeom>
          <a:noFill/>
          <a:ln w="12700">
            <a:solidFill>
              <a:srgbClr val="FBBF24"/>
            </a:solidFill>
            <a:prstDash val="dot"/>
          </a:ln>
        </p:spPr>
      </p:sp>
      <p:sp>
        <p:nvSpPr>
          <p:cNvPr id="24" name="Shape 22"/>
          <p:cNvSpPr/>
          <p:nvPr/>
        </p:nvSpPr>
        <p:spPr>
          <a:xfrm>
            <a:off x="6446520" y="4617720"/>
            <a:ext cx="475488" cy="475488"/>
          </a:xfrm>
          <a:prstGeom prst="ellipse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617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47365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</a:rPr>
              <a:t>Report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530352"/>
            <a:ext cx="2194560" cy="329184"/>
          </a:xfrm>
          <a:prstGeom prst="roundRect">
            <a:avLst>
              <a:gd name="adj" fmla="val 27778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303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SOFTWARE QUALITY ASSURANCE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98755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457200" y="171907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457200" y="252374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973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Process, Types, Methodology &amp; Tools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457200" y="305409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Ensuring software works as expected — detecting defects before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they reach users, safeguarding quality and building trust.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7200" y="3858768"/>
            <a:ext cx="1508760" cy="329184"/>
          </a:xfrm>
          <a:prstGeom prst="roundRect">
            <a:avLst>
              <a:gd name="adj" fmla="val 27778"/>
            </a:avLst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587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Manual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121408" y="3858768"/>
            <a:ext cx="1508760" cy="329184"/>
          </a:xfrm>
          <a:prstGeom prst="roundRect">
            <a:avLst>
              <a:gd name="adj" fmla="val 27778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21408" y="38587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Automation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785616" y="3858768"/>
            <a:ext cx="1508760" cy="329184"/>
          </a:xfrm>
          <a:prstGeom prst="roundRect">
            <a:avLst>
              <a:gd name="adj" fmla="val 27778"/>
            </a:avLst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85616" y="38587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STLC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2544"/>
          </a:solidFill>
          <a:ln w="12700">
            <a:solidFill>
              <a:srgbClr val="1625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736592"/>
            <a:ext cx="64008" cy="4069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Functional  •  Non-Functional  •  Unit  •  Integration  •  Regression  •  Performance  •  Security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Software Testing?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987552"/>
          </a:xfrm>
          <a:prstGeom prst="rect">
            <a:avLst/>
          </a:prstGeom>
          <a:solidFill>
            <a:srgbClr val="0B1120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86968"/>
            <a:ext cx="81838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FF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"Software testing is the process of evaluating a software application to ensure it works as expected and is free of defects — checking whether the software does what it's supposed to do, under the right conditions, and gracefully handles the wrong ones."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406908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65960"/>
            <a:ext cx="64008" cy="13167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2368296"/>
            <a:ext cx="475488" cy="475488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8992" y="2057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Detect Bugs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459736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</a:rPr>
              <a:t>Identify bugs before they impact users. A single issue can trigger a chain reaction in interconnected components.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406908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965960"/>
            <a:ext cx="64008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2368296"/>
            <a:ext cx="475488" cy="47548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30952" y="2057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Improve Quality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30952" y="2459736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</a:rPr>
              <a:t>Ensure the software is stable, secure, and user-friendly. Identify areas for optimization and improvement.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429000"/>
            <a:ext cx="406908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29000"/>
            <a:ext cx="64008" cy="13167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" y="3831336"/>
            <a:ext cx="475488" cy="47548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78992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Build Trust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3922776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</a:rPr>
              <a:t>Consistent testing creates a dependable product that delivers positive user experience and long-term satisfaction.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3429000"/>
            <a:ext cx="406908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3429000"/>
            <a:ext cx="64008" cy="13167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3831336"/>
            <a:ext cx="475488" cy="475488"/>
          </a:xfrm>
          <a:prstGeom prst="ellipse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30952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Mitigate Risks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30952" y="3922776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</a:rPr>
              <a:t>In high-stakes industries like finance &amp; healthcare, testing prevents costly errors and legal exposures.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Software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852928"/>
            <a:ext cx="8229600" cy="0"/>
          </a:xfrm>
          <a:prstGeom prst="line">
            <a:avLst/>
          </a:prstGeom>
          <a:noFill/>
          <a:ln w="38100">
            <a:solidFill>
              <a:srgbClr val="1625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779776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89888"/>
            <a:ext cx="0" cy="1389888"/>
          </a:xfrm>
          <a:prstGeom prst="line">
            <a:avLst/>
          </a:prstGeom>
          <a:noFill/>
          <a:ln w="12700">
            <a:solidFill>
              <a:srgbClr val="2563EB"/>
            </a:solidFill>
            <a:prstDash val="dot"/>
          </a:ln>
        </p:spPr>
      </p:sp>
      <p:sp>
        <p:nvSpPr>
          <p:cNvPr id="7" name="Shape 5"/>
          <p:cNvSpPr/>
          <p:nvPr/>
        </p:nvSpPr>
        <p:spPr>
          <a:xfrm>
            <a:off x="310896" y="804672"/>
            <a:ext cx="1143000" cy="530352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822960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1940s–50s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1060704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Debugging Era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" y="1389888"/>
            <a:ext cx="11430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Testing was same as debugging — programmers ran code and fixed errors directly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09344" y="2779776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2999232"/>
            <a:ext cx="0" cy="1152144"/>
          </a:xfrm>
          <a:prstGeom prst="line">
            <a:avLst/>
          </a:prstGeom>
          <a:noFill/>
          <a:ln w="12700">
            <a:solidFill>
              <a:srgbClr val="06B6D4"/>
            </a:solidFill>
            <a:prstDash val="dot"/>
          </a:ln>
        </p:spPr>
      </p:sp>
      <p:sp>
        <p:nvSpPr>
          <p:cNvPr id="13" name="Text 11"/>
          <p:cNvSpPr/>
          <p:nvPr/>
        </p:nvSpPr>
        <p:spPr>
          <a:xfrm>
            <a:off x="1353312" y="3035808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Testing separated from debugging; defined test cases against requirements appeared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53312" y="4160520"/>
            <a:ext cx="1143000" cy="530352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178808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1960s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4416552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Test Cases Born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51760" y="2779776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61488" y="1389888"/>
            <a:ext cx="0" cy="1389888"/>
          </a:xfrm>
          <a:prstGeom prst="line">
            <a:avLst/>
          </a:prstGeom>
          <a:noFill/>
          <a:ln w="12700">
            <a:solidFill>
              <a:srgbClr val="10B981"/>
            </a:solidFill>
            <a:prstDash val="dot"/>
          </a:ln>
        </p:spPr>
      </p:sp>
      <p:sp>
        <p:nvSpPr>
          <p:cNvPr id="19" name="Shape 17"/>
          <p:cNvSpPr/>
          <p:nvPr/>
        </p:nvSpPr>
        <p:spPr>
          <a:xfrm>
            <a:off x="2395728" y="804672"/>
            <a:ext cx="1143000" cy="53035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14016" y="822960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1970s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14016" y="1060704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Structured Methods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95728" y="1389888"/>
            <a:ext cx="11430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White/black-box approaches; unit, integration, system, acceptance levels defined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94176" y="2779776"/>
            <a:ext cx="219456" cy="21945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03904" y="2999232"/>
            <a:ext cx="0" cy="1152144"/>
          </a:xfrm>
          <a:prstGeom prst="line">
            <a:avLst/>
          </a:prstGeom>
          <a:noFill/>
          <a:ln w="12700">
            <a:solidFill>
              <a:srgbClr val="FBBF24"/>
            </a:solidFill>
            <a:prstDash val="dot"/>
          </a:ln>
        </p:spPr>
      </p:sp>
      <p:sp>
        <p:nvSpPr>
          <p:cNvPr id="25" name="Text 23"/>
          <p:cNvSpPr/>
          <p:nvPr/>
        </p:nvSpPr>
        <p:spPr>
          <a:xfrm>
            <a:off x="3438144" y="3035808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Boundary value analysis, equivalence partitioning; first automation tools emerged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38144" y="4160520"/>
            <a:ext cx="1143000" cy="530352"/>
          </a:xfrm>
          <a:prstGeom prst="rect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4178808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1980s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56432" y="4416552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</a:rPr>
              <a:t>Formal Techniques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36592" y="2779776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389888"/>
            <a:ext cx="0" cy="1389888"/>
          </a:xfrm>
          <a:prstGeom prst="line">
            <a:avLst/>
          </a:prstGeom>
          <a:noFill/>
          <a:ln w="12700">
            <a:solidFill>
              <a:srgbClr val="F97316"/>
            </a:solidFill>
            <a:prstDash val="dot"/>
          </a:ln>
        </p:spPr>
      </p:sp>
      <p:sp>
        <p:nvSpPr>
          <p:cNvPr id="31" name="Shape 29"/>
          <p:cNvSpPr/>
          <p:nvPr/>
        </p:nvSpPr>
        <p:spPr>
          <a:xfrm>
            <a:off x="4480560" y="804672"/>
            <a:ext cx="1143000" cy="530352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98848" y="822960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1990s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98848" y="1060704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GUI &amp; Regression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80560" y="1389888"/>
            <a:ext cx="11430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GUI automation tools, regression testing critical; ISO/CMM standards adopted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79008" y="2779776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88736" y="2999232"/>
            <a:ext cx="0" cy="1152144"/>
          </a:xfrm>
          <a:prstGeom prst="line">
            <a:avLst/>
          </a:prstGeom>
          <a:noFill/>
          <a:ln w="12700">
            <a:solidFill>
              <a:srgbClr val="8B5CF6"/>
            </a:solidFill>
            <a:prstDash val="dot"/>
          </a:ln>
        </p:spPr>
      </p:sp>
      <p:sp>
        <p:nvSpPr>
          <p:cNvPr id="37" name="Text 35"/>
          <p:cNvSpPr/>
          <p:nvPr/>
        </p:nvSpPr>
        <p:spPr>
          <a:xfrm>
            <a:off x="5522976" y="3035808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Agile &amp; TDD shift-left; JUnit, Selenium made automation widely accessible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22976" y="4160520"/>
            <a:ext cx="1143000" cy="530352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41264" y="4178808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2000s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41264" y="4416552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Agile &amp; Open Source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21424" y="2779776"/>
            <a:ext cx="219456" cy="21945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31152" y="1389888"/>
            <a:ext cx="0" cy="1389888"/>
          </a:xfrm>
          <a:prstGeom prst="line">
            <a:avLst/>
          </a:prstGeom>
          <a:noFill/>
          <a:ln w="12700">
            <a:solidFill>
              <a:srgbClr val="F43F5E"/>
            </a:solidFill>
            <a:prstDash val="dot"/>
          </a:ln>
        </p:spPr>
      </p:sp>
      <p:sp>
        <p:nvSpPr>
          <p:cNvPr id="43" name="Shape 41"/>
          <p:cNvSpPr/>
          <p:nvPr/>
        </p:nvSpPr>
        <p:spPr>
          <a:xfrm>
            <a:off x="6565392" y="804672"/>
            <a:ext cx="1143000" cy="530352"/>
          </a:xfrm>
          <a:prstGeom prst="rect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822960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2010s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1060704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</a:rPr>
              <a:t>DevOps &amp; CI/CD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65392" y="1389888"/>
            <a:ext cx="11430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Testing integrated into CI/CD pipelines; mobile &amp; cloud testing explosion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863840" y="2779776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73568" y="2999232"/>
            <a:ext cx="0" cy="1152144"/>
          </a:xfrm>
          <a:prstGeom prst="line">
            <a:avLst/>
          </a:prstGeom>
          <a:noFill/>
          <a:ln w="12700">
            <a:solidFill>
              <a:srgbClr val="06B6D4"/>
            </a:solidFill>
            <a:prstDash val="dot"/>
          </a:ln>
        </p:spPr>
      </p:sp>
      <p:sp>
        <p:nvSpPr>
          <p:cNvPr id="49" name="Text 47"/>
          <p:cNvSpPr/>
          <p:nvPr/>
        </p:nvSpPr>
        <p:spPr>
          <a:xfrm>
            <a:off x="7607808" y="3035808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AI test generation, self-healing scripts; continuous quality and security focus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607808" y="4160520"/>
            <a:ext cx="1143000" cy="530352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26096" y="4178808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2020s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626096" y="4416552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AI-Powered Testing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594360"/>
            <a:ext cx="4572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Software Testing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690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04672"/>
            <a:ext cx="3849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  Functional Testing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316736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</a:rPr>
              <a:t>Checks if software features work as expected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773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007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120"/>
                </a:solidFill>
              </a:rPr>
              <a:t>Unit Testing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195681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Tests individual code units in isolation from the rest of the application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4069080" cy="566928"/>
          </a:xfrm>
          <a:prstGeom prst="rect">
            <a:avLst/>
          </a:prstGeom>
          <a:solidFill>
            <a:srgbClr val="EBF5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432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3591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120"/>
                </a:solidFill>
              </a:rPr>
              <a:t>Integration Testing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261518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Checks interactions between multiple units that have already passed unit tests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090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0175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120"/>
                </a:solidFill>
              </a:rPr>
              <a:t>System Testing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32735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Tests the entire system including both functional and non-functional aspects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21024"/>
            <a:ext cx="4069080" cy="566928"/>
          </a:xfrm>
          <a:prstGeom prst="rect">
            <a:avLst/>
          </a:prstGeom>
          <a:solidFill>
            <a:srgbClr val="EBF5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36758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120"/>
                </a:solidFill>
              </a:rPr>
              <a:t>UAT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39319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User Acceptance Testing — evaluates the application against real-world scenarios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279392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407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↩️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43342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120"/>
                </a:solidFill>
              </a:rPr>
              <a:t>Regression Testing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" y="45902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Checks that new code changes don't break existing functionality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804672"/>
            <a:ext cx="406908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804672"/>
            <a:ext cx="3849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Non-Functional Testing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10328" y="1316736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Checks stability, security, performance &amp; usability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1645920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1773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0" y="17007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120"/>
                </a:solidFill>
              </a:rPr>
              <a:t>Performance Testing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03520" y="195681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Checks if software performs under stress, high volumes, and extreme usage conditions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2304288"/>
            <a:ext cx="40690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2432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03520" y="23591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120"/>
                </a:solidFill>
              </a:rPr>
              <a:t>Security Testing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303520" y="261518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Identifies vulnerabilities and ensures data protection against threats and attacks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2962656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3090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03520" y="30175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120"/>
                </a:solidFill>
              </a:rPr>
              <a:t>Usability Testing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303520" y="32735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Evaluates how easy and intuitive the software is for real end users to use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3621024"/>
            <a:ext cx="40690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303520" y="36758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120"/>
                </a:solidFill>
              </a:rPr>
              <a:t>Compatibility Testing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303520" y="39319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Verifies the software works across different browsers, OS, devices and environments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00600" y="4279392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73752" y="4407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♿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303520" y="43342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120"/>
                </a:solidFill>
              </a:rPr>
              <a:t>Accessibility Testing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303520" y="45902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Ensures the software is usable by people with various disabilities (WCAG standards)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Testing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 comprehensive toolkit for every testing scenario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724912" cy="1170432"/>
          </a:xfrm>
          <a:prstGeom prst="rect">
            <a:avLst/>
          </a:prstGeom>
          <a:solidFill>
            <a:srgbClr val="162544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53312"/>
            <a:ext cx="420624" cy="420624"/>
          </a:xfrm>
          <a:prstGeom prst="ellipse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1155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Black-Box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4630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Testers check the software WITHOUT knowing its internal code structure. Tests from user perspective.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024128"/>
            <a:ext cx="2724912" cy="1170432"/>
          </a:xfrm>
          <a:prstGeom prst="rect">
            <a:avLst/>
          </a:prstGeom>
          <a:solidFill>
            <a:srgbClr val="162544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024128"/>
            <a:ext cx="64008" cy="1170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353312"/>
            <a:ext cx="420624" cy="420624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13048" y="11155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White-Box Testing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3048" y="14630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Testers check software WITH full knowledge of its code. Tests internal logic and pathways.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024128"/>
            <a:ext cx="2724912" cy="1170432"/>
          </a:xfrm>
          <a:prstGeom prst="rect">
            <a:avLst/>
          </a:prstGeom>
          <a:solidFill>
            <a:srgbClr val="162544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024128"/>
            <a:ext cx="64008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353312"/>
            <a:ext cx="420624" cy="420624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93408" y="11155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Exploratory Testing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93408" y="14630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Testers explore software spontaneously without predefined goals — hunting for unexpected bugs.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350008"/>
            <a:ext cx="2724912" cy="1170432"/>
          </a:xfrm>
          <a:prstGeom prst="rect">
            <a:avLst/>
          </a:prstGeom>
          <a:solidFill>
            <a:srgbClr val="16254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350008"/>
            <a:ext cx="64008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679192"/>
            <a:ext cx="420624" cy="420624"/>
          </a:xfrm>
          <a:prstGeom prst="ellipse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💨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2688" y="24414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Smoke Testing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2788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Quick sanity check of critical functionality after a new build to confirm basic features work.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54680" y="2350008"/>
            <a:ext cx="2724912" cy="1170432"/>
          </a:xfrm>
          <a:prstGeom prst="rect">
            <a:avLst/>
          </a:prstGeom>
          <a:solidFill>
            <a:srgbClr val="162544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2350008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679192"/>
            <a:ext cx="420624" cy="420624"/>
          </a:xfrm>
          <a:prstGeom prst="ellipse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813048" y="24414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 Testing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13048" y="2788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Verifies the visual appearance of the UI matches design specs across browsers and devices.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2350008"/>
            <a:ext cx="2724912" cy="1170432"/>
          </a:xfrm>
          <a:prstGeom prst="rect">
            <a:avLst/>
          </a:prstGeom>
          <a:solidFill>
            <a:srgbClr val="162544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2350008"/>
            <a:ext cx="64008" cy="11704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2679192"/>
            <a:ext cx="420624" cy="420624"/>
          </a:xfrm>
          <a:prstGeom prst="ellipse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93408" y="24414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Cross-Browser Testing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93408" y="2788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Confirms the software works correctly across Chrome, Firefox, Safari, Edge and other browsers.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3675888"/>
            <a:ext cx="2724912" cy="1170432"/>
          </a:xfrm>
          <a:prstGeom prst="rect">
            <a:avLst/>
          </a:prstGeom>
          <a:solidFill>
            <a:srgbClr val="162544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675888"/>
            <a:ext cx="64008" cy="11704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4005072"/>
            <a:ext cx="420624" cy="420624"/>
          </a:xfrm>
          <a:prstGeom prst="ellipse">
            <a:avLst/>
          </a:prstGeom>
          <a:solidFill>
            <a:srgbClr val="F43F5E">
              <a:alpha val="7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32688" y="37673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Mobile App Testing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32688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Tests app performance, UX, and compatibility on iOS and Android devices and screen sizes.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154680" y="3675888"/>
            <a:ext cx="2724912" cy="1170432"/>
          </a:xfrm>
          <a:prstGeom prst="rect">
            <a:avLst/>
          </a:prstGeom>
          <a:solidFill>
            <a:srgbClr val="162544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54680" y="3675888"/>
            <a:ext cx="64008" cy="1170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91840" y="4005072"/>
            <a:ext cx="420624" cy="420624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813048" y="37673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End-to-End Testing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813048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Tests the complete user workflow from start to finish — ensuring the entire process functions.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035040" y="3675888"/>
            <a:ext cx="2724912" cy="1170432"/>
          </a:xfrm>
          <a:prstGeom prst="rect">
            <a:avLst/>
          </a:prstGeom>
          <a:solidFill>
            <a:srgbClr val="162544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35040" y="3675888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4005072"/>
            <a:ext cx="420624" cy="420624"/>
          </a:xfrm>
          <a:prstGeom prst="ellipse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693408" y="37673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Testing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693408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Validates API endpoints for functionality, reliability, performance, and security.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4572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594360"/>
            <a:ext cx="4572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vs Automation Testing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51960" y="2331720"/>
            <a:ext cx="640080" cy="640080"/>
          </a:xfrm>
          <a:prstGeom prst="ellipse">
            <a:avLst/>
          </a:prstGeom>
          <a:solidFill>
            <a:srgbClr val="0B11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384048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04672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👤  Manual Testing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3840480" cy="34564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463040"/>
            <a:ext cx="3621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</a:rPr>
              <a:t>Testers interact with software step-by-step, exactly like a real user would — observing issues as they arise. Anyone can start by simply assuming the role of a user.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  Best For: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15184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4422"/>
                </a:solidFill>
              </a:rPr>
              <a:t>Excellent for usability &amp; exploratory testing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9260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07792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4422"/>
                </a:solidFill>
              </a:rPr>
              <a:t>No scripting — anyone can perform 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2186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4422"/>
                </a:solidFill>
              </a:rPr>
              <a:t>Better for complex, nuanced scenarios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51129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93008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4422"/>
                </a:solidFill>
              </a:rPr>
              <a:t>Catches edge cases machines miss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3858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</a:rPr>
              <a:t>✗  Drawbacks: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4206240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87952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2222"/>
                </a:solidFill>
              </a:rPr>
              <a:t>Time-consuming — humans are slower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4498848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2222"/>
                </a:solidFill>
              </a:rPr>
              <a:t>Prone to human error and inconsistency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4791456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773168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2222"/>
                </a:solidFill>
              </a:rPr>
              <a:t>Hard to scale for large test suites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804672"/>
            <a:ext cx="384048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804672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🤖  Automation Testing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0" y="1389888"/>
            <a:ext cx="3840480" cy="3456432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38928" y="1463040"/>
            <a:ext cx="3621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</a:rPr>
              <a:t>Testers use tools or write scripts that interact with software on their behalf. The tester clicks 'Run' and the script executes the entire testing process automatically.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38928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  Best For: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38928" y="263347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2615184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4422"/>
                </a:solidFill>
              </a:rPr>
              <a:t>Fast — machines execute far quicker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38928" y="29260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2907792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4422"/>
                </a:solidFill>
              </a:rPr>
              <a:t>Consistent — same results every time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138928" y="32186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3200400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4422"/>
                </a:solidFill>
              </a:rPr>
              <a:t>Ideal for regression &amp; repeated tests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38928" y="351129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3493008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4422"/>
                </a:solidFill>
              </a:rPr>
              <a:t>Scales effortlessly across large suites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38928" y="3858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</a:rPr>
              <a:t>✗  Drawbacks: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138928" y="4206240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4960" y="4187952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2222"/>
                </a:solidFill>
              </a:rPr>
              <a:t>Requires scripting knowledge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38928" y="4498848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4480560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2222"/>
                </a:solidFill>
              </a:rPr>
              <a:t>Higher initial setup investment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138928" y="4791456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0" y="4773168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2222"/>
                </a:solidFill>
              </a:rPr>
              <a:t>Misses nuance — usability, UX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Life Cycle (STLC)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6 structured phases ensuring all software quality goals are met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335024" cy="3584448"/>
          </a:xfrm>
          <a:prstGeom prst="rect">
            <a:avLst/>
          </a:prstGeom>
          <a:solidFill>
            <a:srgbClr val="162544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78992"/>
            <a:ext cx="1335024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78992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600200" y="1316736"/>
            <a:ext cx="1097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1261872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563EB"/>
                </a:solidFill>
              </a:rPr>
              <a:t>▶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10896" y="16459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Requirement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" y="2212848"/>
            <a:ext cx="1188720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Testers work with stakeholders to identify &amp; understand requirements. Tres amigos: Product Owner, Developer &amp; Tester collaborate.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09928" y="1078992"/>
            <a:ext cx="1335024" cy="3584448"/>
          </a:xfrm>
          <a:prstGeom prst="rect">
            <a:avLst/>
          </a:prstGeom>
          <a:solidFill>
            <a:srgbClr val="16254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9928" y="1078992"/>
            <a:ext cx="1335024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1078992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054096" y="1316736"/>
            <a:ext cx="10972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1528" y="1261872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</a:rPr>
              <a:t>▶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764792" y="16459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2212848"/>
            <a:ext cx="1188720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Define objectives, scope, deliverables, resources, timeline &amp; test approach. Create the master test plan document.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63824" y="1078992"/>
            <a:ext cx="1335024" cy="3584448"/>
          </a:xfrm>
          <a:prstGeom prst="rect">
            <a:avLst/>
          </a:prstGeom>
          <a:solidFill>
            <a:srgbClr val="16254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3824" y="1078992"/>
            <a:ext cx="133502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078992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07992" y="1316736"/>
            <a:ext cx="109728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1261872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</a:rPr>
              <a:t>▶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18688" y="16459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Case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Development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36976" y="2212848"/>
            <a:ext cx="1188720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Write test cases with ID, preconditions, steps, expected results &amp; pass/fail criteria. Manage test cases with tools.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1078992"/>
            <a:ext cx="1335024" cy="3584448"/>
          </a:xfrm>
          <a:prstGeom prst="rect">
            <a:avLst/>
          </a:prstGeom>
          <a:solidFill>
            <a:srgbClr val="162544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078992"/>
            <a:ext cx="1335024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078992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961888" y="1316736"/>
            <a:ext cx="109728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1261872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BBF24"/>
                </a:solidFill>
              </a:rPr>
              <a:t>▶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72584" y="16459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Environment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Setup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90872" y="2212848"/>
            <a:ext cx="1188720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Prepare hardware, software, browsers, networks, devices, emulators and mock APIs needed to execute all tests.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71616" y="1078992"/>
            <a:ext cx="1335024" cy="3584448"/>
          </a:xfrm>
          <a:prstGeom prst="rect">
            <a:avLst/>
          </a:prstGeom>
          <a:solidFill>
            <a:srgbClr val="16254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71616" y="1078992"/>
            <a:ext cx="1335024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71616" y="1078992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</a:rPr>
              <a:t>5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415784" y="1316736"/>
            <a:ext cx="109728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43216" y="1261872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97316"/>
                </a:solidFill>
              </a:rPr>
              <a:t>▶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26480" y="16459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44768" y="2212848"/>
            <a:ext cx="1188720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Execute manual/automated tests. Track defects and report them. Status: Untested, Blocked, Failed, Passed, Skipped.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25512" y="1078992"/>
            <a:ext cx="1335024" cy="3584448"/>
          </a:xfrm>
          <a:prstGeom prst="rect">
            <a:avLst/>
          </a:prstGeom>
          <a:solidFill>
            <a:srgbClr val="16254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25512" y="1078992"/>
            <a:ext cx="1335024" cy="4754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25512" y="1078992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</a:rPr>
              <a:t>6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580376" y="16459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Cycle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Closure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98664" y="2212848"/>
            <a:ext cx="1188720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 test reports documenting outcomes. Analyze metrics, identify lessons learned, and archive test artifacts.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6032" y="4754880"/>
            <a:ext cx="8631936" cy="274320"/>
          </a:xfrm>
          <a:prstGeom prst="rect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STLC ensures systematic testing — from requirements through closure — meeting all quality objectives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&amp; Status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603504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6035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50976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509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UNTESTED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55648" y="932688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</a:rPr>
              <a:t>The test case has not been executed yet. Awaiting execution in the test queue.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527048"/>
            <a:ext cx="8503920" cy="603504"/>
          </a:xfrm>
          <a:prstGeom prst="rect">
            <a:avLst/>
          </a:prstGeom>
          <a:solidFill>
            <a:srgbClr val="FFFBE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27048"/>
            <a:ext cx="64008" cy="6035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55064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55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</a:rPr>
              <a:t>BLOCKED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55648" y="1636776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</a:rPr>
              <a:t>Cannot execute due to dependencies — unresolved defects, unavailable data, or incomplete components.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231136"/>
            <a:ext cx="8503920" cy="603504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31136"/>
            <a:ext cx="64008" cy="6035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59152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59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RUNNING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55648" y="2340864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</a:rPr>
              <a:t>Currently being executed by the tester or automated test runner.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935224"/>
            <a:ext cx="8503920" cy="603504"/>
          </a:xfrm>
          <a:prstGeom prst="rect">
            <a:avLst/>
          </a:prstGeom>
          <a:solidFill>
            <a:srgbClr val="FFF1F2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35224"/>
            <a:ext cx="64008" cy="60350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6324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63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</a:rPr>
              <a:t>FAILED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55648" y="304495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</a:rPr>
              <a:t>Actual outcome didn't match expected outcome. Team investigates root cause and logs a defect.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639312"/>
            <a:ext cx="8503920" cy="603504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39312"/>
            <a:ext cx="64008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6732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67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PASSED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55648" y="37490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</a:rPr>
              <a:t>Successfully executed — actual result matches expected result. Signals good software quality.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343400"/>
            <a:ext cx="8503920" cy="603504"/>
          </a:xfrm>
          <a:prstGeom prst="rect">
            <a:avLst/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343400"/>
            <a:ext cx="64008" cy="6035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471416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714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SKIPPED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755648" y="4453128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</a:rPr>
              <a:t>Not relevant to current scenario, or deprecated. Reason is documented for future reference.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5010912"/>
            <a:ext cx="8503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in Software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2724912" cy="1207008"/>
          </a:xfrm>
          <a:prstGeom prst="rect">
            <a:avLst/>
          </a:prstGeom>
          <a:solidFill>
            <a:srgbClr val="162544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272491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078992"/>
            <a:ext cx="420624" cy="420624"/>
          </a:xfrm>
          <a:prstGeom prst="ellipse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78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060704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Case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581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set of conditions, inputs, and expected outputs designed to test a specific function.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896112"/>
            <a:ext cx="2724912" cy="1207008"/>
          </a:xfrm>
          <a:prstGeom prst="rect">
            <a:avLst/>
          </a:prstGeom>
          <a:solidFill>
            <a:srgbClr val="162544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896112"/>
            <a:ext cx="272491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82696" y="1078992"/>
            <a:ext cx="420624" cy="420624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078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13048" y="1060704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Plan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82696" y="1581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Documents the overall test strategy: objectives, scope, timeline, resources, and approach.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896112"/>
            <a:ext cx="2724912" cy="1207008"/>
          </a:xfrm>
          <a:prstGeom prst="rect">
            <a:avLst/>
          </a:prstGeom>
          <a:solidFill>
            <a:srgbClr val="16254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896112"/>
            <a:ext cx="272491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078992"/>
            <a:ext cx="420624" cy="420624"/>
          </a:xfrm>
          <a:prstGeom prst="ellipse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078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93408" y="1060704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Suite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63056" y="1581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collection of test cases designed to evaluate multiple aspects of a software system.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267712"/>
            <a:ext cx="2724912" cy="1207008"/>
          </a:xfrm>
          <a:prstGeom prst="rect">
            <a:avLst/>
          </a:prstGeom>
          <a:solidFill>
            <a:srgbClr val="162544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267712"/>
            <a:ext cx="2724912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" y="2450592"/>
            <a:ext cx="420624" cy="420624"/>
          </a:xfrm>
          <a:prstGeom prst="ellipse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2688" y="2432304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Bug Life Cycle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" y="29535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process a defect follows from discovery → reporting → fixing → verification → closure.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54680" y="2267712"/>
            <a:ext cx="2724912" cy="1207008"/>
          </a:xfrm>
          <a:prstGeom prst="rect">
            <a:avLst/>
          </a:prstGeom>
          <a:solidFill>
            <a:srgbClr val="162544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2267712"/>
            <a:ext cx="2724912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82696" y="2450592"/>
            <a:ext cx="420624" cy="420624"/>
          </a:xfrm>
          <a:prstGeom prst="ellipse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82696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813048" y="2432304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Severity vs Priority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82696" y="29535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Severity = impact of the bug. Priority = urgency to fix it. They don't always correlate.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2267712"/>
            <a:ext cx="2724912" cy="1207008"/>
          </a:xfrm>
          <a:prstGeom prst="rect">
            <a:avLst/>
          </a:prstGeom>
          <a:solidFill>
            <a:srgbClr val="162544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2267712"/>
            <a:ext cx="272491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3056" y="2450592"/>
            <a:ext cx="420624" cy="420624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693408" y="2432304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Environment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63056" y="29535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Hardware, software, databases, and network setup required to execute all tests reliably.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639312"/>
            <a:ext cx="2724912" cy="1207008"/>
          </a:xfrm>
          <a:prstGeom prst="rect">
            <a:avLst/>
          </a:prstGeom>
          <a:solidFill>
            <a:srgbClr val="162544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639312"/>
            <a:ext cx="2724912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" y="3822192"/>
            <a:ext cx="420624" cy="420624"/>
          </a:xfrm>
          <a:prstGeom prst="ellipse">
            <a:avLst/>
          </a:prstGeom>
          <a:solidFill>
            <a:srgbClr val="F43F5E">
              <a:alpha val="7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32688" y="3803904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 Coverage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2336" y="43251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Measures what percentage of the application's code has been executed during testing.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154680" y="3639312"/>
            <a:ext cx="2724912" cy="1207008"/>
          </a:xfrm>
          <a:prstGeom prst="rect">
            <a:avLst/>
          </a:prstGeom>
          <a:solidFill>
            <a:srgbClr val="162544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54680" y="3639312"/>
            <a:ext cx="272491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82696" y="3822192"/>
            <a:ext cx="420624" cy="420624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82696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3813048" y="3803904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CI/CD Testing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282696" y="43251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Automated tests integrated into development pipeline to detect defects early and continuously.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35040" y="3639312"/>
            <a:ext cx="2724912" cy="1207008"/>
          </a:xfrm>
          <a:prstGeom prst="rect">
            <a:avLst/>
          </a:prstGeom>
          <a:solidFill>
            <a:srgbClr val="162544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3639312"/>
            <a:ext cx="2724912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63056" y="3822192"/>
            <a:ext cx="420624" cy="420624"/>
          </a:xfrm>
          <a:prstGeom prst="ellipse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63056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💨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693408" y="3803904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Smoke vs Sanity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163056" y="43251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Smoke: validates basic functionality. Sanity: verifies targeted fixes after specific changes.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Testing Tools &amp; Frameworks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Automation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8988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898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Selenium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44752" y="13898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Most widely used open-source web automation framework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420624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2024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20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Playwright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44752" y="19202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Modern cross-browser automation by Microsoft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50592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50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Cypress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44752" y="24505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Fast, reliable end-to-end testing for web apps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20624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Mobile Automation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298448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38988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898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Appium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25312" y="13898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Cross-platform mobile automation (iOS + Android)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828800"/>
            <a:ext cx="420624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92024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920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Espresso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25312" y="19202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Android native UI testing framework by Google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35915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450592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450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XCUITest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25312" y="24505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Apple's native iOS UI testing framework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017520"/>
            <a:ext cx="42062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017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Testing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3493008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58444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84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Postman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444752" y="35844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Industry-standard API testing and collaboration tool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023360"/>
            <a:ext cx="420624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1148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114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REST Assured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444752" y="4114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Java library for testing RESTful APIs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55371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4645152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645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Katalon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444752" y="46451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Unified platform for web, API, mobile &amp; desktop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3017520"/>
            <a:ext cx="4206240" cy="411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017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 Testing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754880" y="3493008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358444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43F5E">
              <a:alpha val="7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584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</a:rPr>
              <a:t>JMeter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925312" y="35844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Apache tool for load and performance testing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54880" y="4023360"/>
            <a:ext cx="420624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41148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43F5E">
              <a:alpha val="7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4114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</a:rPr>
              <a:t>Gatling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925312" y="4114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High-performance load testing with Scala DSL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54880" y="455371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46320" y="4645152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43F5E">
              <a:alpha val="7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4645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</a:rPr>
              <a:t>k6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925312" y="46451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Modern scripting-based load testing tool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Test Case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Every test case must clearly show what is being tested, the expected outcome, and how to troubleshoot failures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8521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Example: Login Functionality Test Case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5852160" cy="384048"/>
          </a:xfrm>
          <a:prstGeom prst="rect">
            <a:avLst/>
          </a:prstGeom>
          <a:solidFill>
            <a:srgbClr val="1625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99616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Test Case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01952" y="149961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TC001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5852160" cy="384048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38528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01952" y="193852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Verify login with valid credentials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5852160" cy="384048"/>
          </a:xfrm>
          <a:prstGeom prst="rect">
            <a:avLst/>
          </a:prstGeom>
          <a:solidFill>
            <a:srgbClr val="1625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37744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Preconditions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01952" y="237744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User is registered. App is running and accessible.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779776"/>
            <a:ext cx="5852160" cy="384048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816352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Test Steps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01952" y="281635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1. Enter valid email  →  2. Enter valid password  →  3. Click Sign 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218688"/>
            <a:ext cx="5852160" cy="384048"/>
          </a:xfrm>
          <a:prstGeom prst="rect">
            <a:avLst/>
          </a:prstGeom>
          <a:solidFill>
            <a:srgbClr val="1625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25526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Expected Result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01952" y="325526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User logged in successfully and redirected to homepage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5852160" cy="384048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694176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Pass Criteria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01952" y="36941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User is logged in and session is active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096512"/>
            <a:ext cx="5852160" cy="384048"/>
          </a:xfrm>
          <a:prstGeom prst="rect">
            <a:avLst/>
          </a:prstGeom>
          <a:solidFill>
            <a:srgbClr val="1625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133088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Fail Criteria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01952" y="413308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</a:rPr>
              <a:t>Error message displayed or user not redirected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535424"/>
            <a:ext cx="5852160" cy="384048"/>
          </a:xfrm>
          <a:prstGeom prst="rect">
            <a:avLst/>
          </a:prstGeom>
          <a:solidFill>
            <a:srgbClr val="111D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57200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Priority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01952" y="45720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</a:rPr>
              <a:t>High  •  Severity: Critical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55080" y="1024128"/>
            <a:ext cx="2514600" cy="3822192"/>
          </a:xfrm>
          <a:prstGeom prst="rect">
            <a:avLst/>
          </a:prstGeom>
          <a:solidFill>
            <a:srgbClr val="1625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10789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Test Case Components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73952" y="1481328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48272" y="14630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Unique ID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73952" y="1847088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18288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Clear description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73952" y="221284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8272" y="21945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Preconditions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73952" y="2578608"/>
            <a:ext cx="182880" cy="1828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48272" y="25603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Step-by-step actions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73952" y="294436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29260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Expected results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73952" y="33101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48272" y="32918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Pass criteria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73952" y="3675888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36576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Fail criteria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73952" y="4041648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40233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Priority &amp; Severity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73952" y="4407408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48272" y="43891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Comments &amp; notes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11D35"/>
          </a:solidFill>
          <a:ln w="12700">
            <a:solidFill>
              <a:srgbClr val="111D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457200"/>
            <a:ext cx="475488" cy="475488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🐛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1325880"/>
            <a:ext cx="475488" cy="47548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0" y="2194560"/>
            <a:ext cx="475488" cy="47548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0" y="3063240"/>
            <a:ext cx="475488" cy="475488"/>
          </a:xfrm>
          <a:prstGeom prst="ellipse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0" y="3931920"/>
            <a:ext cx="475488" cy="475488"/>
          </a:xfrm>
          <a:prstGeom prst="ellipse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6459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11480" y="960120"/>
            <a:ext cx="6217920" cy="676656"/>
          </a:xfrm>
          <a:prstGeom prst="rect">
            <a:avLst/>
          </a:prstGeom>
          <a:solidFill>
            <a:srgbClr val="1625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01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1078992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Software testing verifies applications meet requirements, are defect-free, and deliver a reliable user experience.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1755648"/>
            <a:ext cx="6217920" cy="676656"/>
          </a:xfrm>
          <a:prstGeom prst="rect">
            <a:avLst/>
          </a:prstGeom>
          <a:solidFill>
            <a:srgbClr val="1625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02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1874520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Two major categories: Functional (features work as expected) and Non-Functional (performance, security, usability).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1480" y="2551176"/>
            <a:ext cx="6217920" cy="676656"/>
          </a:xfrm>
          <a:prstGeom prst="rect">
            <a:avLst/>
          </a:prstGeom>
          <a:solidFill>
            <a:srgbClr val="1625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70432" y="2670048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The STLC guides testing through 6 phases: Requirement Analysis, Planning, Development, Setup, Execution, and Closure.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1480" y="3346704"/>
            <a:ext cx="6217920" cy="676656"/>
          </a:xfrm>
          <a:prstGeom prst="rect">
            <a:avLst/>
          </a:prstGeom>
          <a:solidFill>
            <a:srgbClr val="16254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70432" y="3465576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Manual testing excels at exploratory and usability scenarios; automation delivers speed and consistency for regression testing.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11480" y="4142232"/>
            <a:ext cx="6217920" cy="676656"/>
          </a:xfrm>
          <a:prstGeom prst="rect">
            <a:avLst/>
          </a:prstGeom>
          <a:solidFill>
            <a:srgbClr val="162544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70432" y="4261104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Every test case must include a clear ID, preconditions, step-by-step actions, expected result, and pass/fail criteria.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— Process, Types &amp; Methodology</dc:title>
  <dc:subject>PptxGenJS Presentation</dc:subject>
  <dc:creator>PptxGenJS</dc:creator>
  <cp:lastModifiedBy>PptxGenJS</cp:lastModifiedBy>
  <cp:revision>1</cp:revision>
  <dcterms:created xsi:type="dcterms:W3CDTF">2026-03-18T11:19:06Z</dcterms:created>
  <dcterms:modified xsi:type="dcterms:W3CDTF">2026-03-18T11:19:06Z</dcterms:modified>
</cp:coreProperties>
</file>