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C9CB2D1-EAF5-4A85-A43B-F3D3E5F1016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431CD1-3C5F-49F7-A8E2-5559032940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6138A6-62DE-4289-8402-4DF252F79D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1A23D1-3678-4BE7-B3D7-ABF7281225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2242C-4CC4-479B-BFA3-81BFE9E85E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9E276-EFB1-485A-A38E-055FAD112A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2C52D-8DFA-44E3-892F-8D9C8C046E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43651-ACD3-4D29-8794-28C039562D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D746E-687D-4004-9A35-8655E282CA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A8E9D-F361-44D7-9D09-966D1ED707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2A56A-F617-440A-B512-667C096EC3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9A1DA0-8573-4B60-9AE2-E2B352B470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918FE-AB15-44D1-9D16-0582979839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669280" y="0"/>
            <a:ext cx="3474360" cy="5143320"/>
          </a:xfrm>
          <a:prstGeom prst="rect">
            <a:avLst/>
          </a:prstGeom>
          <a:solidFill>
            <a:srgbClr val="b85042">
              <a:alpha val="85000"/>
            </a:srgbClr>
          </a:solidFill>
          <a:ln w="12700">
            <a:solidFill>
              <a:srgbClr val="b85042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400800" y="0"/>
            <a:ext cx="2742840" cy="5143320"/>
          </a:xfrm>
          <a:prstGeom prst="rect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943600" y="274320"/>
            <a:ext cx="2559960" cy="2559960"/>
          </a:xfrm>
          <a:prstGeom prst="ellipse">
            <a:avLst/>
          </a:prstGeom>
          <a:solidFill>
            <a:srgbClr val="1a1a2e">
              <a:alpha val="60000"/>
            </a:srgbClr>
          </a:solidFill>
          <a:ln w="25400">
            <a:solidFill>
              <a:srgbClr val="a7be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583680" y="822960"/>
            <a:ext cx="1371240" cy="1371240"/>
          </a:xfrm>
          <a:prstGeom prst="ellipse">
            <a:avLst/>
          </a:prstGeom>
          <a:solidFill>
            <a:srgbClr val="a7beae">
              <a:alpha val="50000"/>
            </a:srgbClr>
          </a:solidFill>
          <a:ln w="12700">
            <a:solidFill>
              <a:srgbClr val="a7be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57200" y="1005840"/>
            <a:ext cx="2742840" cy="347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100584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1463040"/>
            <a:ext cx="5486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97" strike="noStrike">
                <a:solidFill>
                  <a:srgbClr val="ffffff"/>
                </a:solidFill>
                <a:latin typeface="Calibri"/>
                <a:ea typeface="Calibri"/>
              </a:rPr>
              <a:t>PROJECT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97" strike="noStrike">
                <a:solidFill>
                  <a:srgbClr val="ffffff"/>
                </a:solidFill>
                <a:latin typeface="Calibri"/>
                <a:ea typeface="Calibri"/>
              </a:rPr>
              <a:t>CLOSURE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38404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7beae"/>
                </a:solidFill>
                <a:latin typeface="Calibri"/>
              </a:rPr>
              <a:t>Definition · Checklist · Examples · Best Practices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The final phase that turns delivery into lasting, clear outcomes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WHAT IS PROJECT CLOSURE?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65760" y="960120"/>
            <a:ext cx="8412120" cy="1005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65760" y="960120"/>
            <a:ext cx="8412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ffffff"/>
                </a:solidFill>
                <a:latin typeface="Calibri"/>
              </a:rPr>
              <a:t>Project closure is the final phase of the project management process, where all activities are completed, deliverables are handed over, and the project is formally closed.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365760" y="2103120"/>
            <a:ext cx="416016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365760" y="2103120"/>
            <a:ext cx="164160" cy="1325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21720" y="21945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✔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640080" y="21762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Confirms Completion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640080" y="257868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Verifies all deliverables meet agreed scope, quality, and stakeholder expectations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4800600" y="2103120"/>
            <a:ext cx="416016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4800600" y="2103120"/>
            <a:ext cx="164160" cy="1325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056560" y="21945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074920" y="21762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Documents Everything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74920" y="257868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Archives project plans, contracts, reports, financials, and lessons learned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365760" y="3566160"/>
            <a:ext cx="416016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365760" y="3566160"/>
            <a:ext cx="164160" cy="1325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621720" y="3657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🔁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640080" y="36392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Releases Resources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640080" y="404172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Formally releases team members, equipment, and budget allocations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4800600" y="3566160"/>
            <a:ext cx="416016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4800600" y="3566160"/>
            <a:ext cx="164160" cy="1325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5056560" y="365760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5074920" y="36392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Captures Learning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5074920" y="404172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Documents insights before details fade, improving future project execution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PROJECT COMPLETION vs. PROJECT CLOSURE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4160520" y="1554480"/>
            <a:ext cx="822600" cy="822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160520" y="15544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320040" y="960120"/>
            <a:ext cx="3748680" cy="3840120"/>
          </a:xfrm>
          <a:prstGeom prst="rect">
            <a:avLst/>
          </a:prstGeom>
          <a:solidFill>
            <a:srgbClr val="1e2d3d"/>
          </a:solidFill>
          <a:ln w="254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320040" y="960120"/>
            <a:ext cx="3748680" cy="594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320040" y="96012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PROJECT COMPLETION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457200" y="173736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868680" y="16916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Work is done — tasks marked complete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457200" y="235908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868680" y="23133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Deliverables produced and deployed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457200" y="298080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868680" y="29350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Team stops actively executing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457200" y="360288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868680" y="35571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Answers: "Did we finish what we planned?"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457200" y="422460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868680" y="41788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Completion = work is finished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7"/>
          <p:cNvSpPr/>
          <p:nvPr/>
        </p:nvSpPr>
        <p:spPr>
          <a:xfrm>
            <a:off x="5074920" y="960120"/>
            <a:ext cx="3748680" cy="3840120"/>
          </a:xfrm>
          <a:prstGeom prst="rect">
            <a:avLst/>
          </a:prstGeom>
          <a:solidFill>
            <a:srgbClr val="2a1a14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5074920" y="960120"/>
            <a:ext cx="3748680" cy="594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5074920" y="96012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PROJECT CLOSURE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5193720" y="1737360"/>
            <a:ext cx="292320" cy="292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5596200" y="16916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Outcome formally accepted by stakeholders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5193720" y="2359080"/>
            <a:ext cx="292320" cy="292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5596200" y="23133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Ownership clearly transferred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4"/>
          <p:cNvSpPr/>
          <p:nvPr/>
        </p:nvSpPr>
        <p:spPr>
          <a:xfrm>
            <a:off x="5193720" y="2980800"/>
            <a:ext cx="292320" cy="292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5596200" y="29350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Financials, contracts, access all closed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6"/>
          <p:cNvSpPr/>
          <p:nvPr/>
        </p:nvSpPr>
        <p:spPr>
          <a:xfrm>
            <a:off x="5193720" y="3602880"/>
            <a:ext cx="292320" cy="292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5596200" y="35571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Answers: "Is this accepted &amp; handed over?"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8"/>
          <p:cNvSpPr/>
          <p:nvPr/>
        </p:nvSpPr>
        <p:spPr>
          <a:xfrm>
            <a:off x="5193720" y="4224600"/>
            <a:ext cx="292320" cy="292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9"/>
          <p:cNvSpPr/>
          <p:nvPr/>
        </p:nvSpPr>
        <p:spPr>
          <a:xfrm>
            <a:off x="5596200" y="41788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7e8d1"/>
                </a:solidFill>
                <a:latin typeface="Calibri"/>
              </a:rPr>
              <a:t>Closure = outcome accepted &amp; signed off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WHY PROJECT CLOSURE MATTERS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320040" y="96012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411480" y="1124640"/>
            <a:ext cx="411120" cy="4111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411480" y="11246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960120" y="10148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Defines What 'Done' Means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160520" y="105156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Makes deliverable acceptance explicit — prevents later disputes about missing work or quality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4069080" y="1097280"/>
            <a:ext cx="27000" cy="438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320040" y="177408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11480" y="1938600"/>
            <a:ext cx="411120" cy="4111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411480" y="19386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960120" y="1828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Prevents Unresolved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4160520" y="186552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Catches open issues while context is fresh, before teams move on to new projects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4069080" y="1911240"/>
            <a:ext cx="27000" cy="438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320040" y="258768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411480" y="2752200"/>
            <a:ext cx="411120" cy="41112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411480" y="27522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960120" y="2642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Creates Clear Accountability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4160520" y="267912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Ownership transfers formally — reduces dependency on original team after handover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4069080" y="2724840"/>
            <a:ext cx="27000" cy="43848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0"/>
          <p:cNvSpPr/>
          <p:nvPr/>
        </p:nvSpPr>
        <p:spPr>
          <a:xfrm>
            <a:off x="320040" y="340164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11480" y="3566160"/>
            <a:ext cx="411120" cy="41112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411480" y="3566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960120" y="34563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Captures Learning While It Matters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4160520" y="349308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Documents insights before details fade — improves planning for future initiatives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5"/>
          <p:cNvSpPr/>
          <p:nvPr/>
        </p:nvSpPr>
        <p:spPr>
          <a:xfrm>
            <a:off x="4069080" y="3538800"/>
            <a:ext cx="27000" cy="43848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320040" y="421524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411480" y="4380120"/>
            <a:ext cx="411120" cy="41112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411480" y="4380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960120" y="42703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Improves How Future Projects Begin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4160520" y="430668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Clear records and outcomes reduce ramp-up time and help new teams start with confidence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1"/>
          <p:cNvSpPr/>
          <p:nvPr/>
        </p:nvSpPr>
        <p:spPr>
          <a:xfrm>
            <a:off x="4069080" y="4352400"/>
            <a:ext cx="27000" cy="43848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KEY COMPONENTS OF PROJECT CLOSURE PHASE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320040" y="960120"/>
            <a:ext cx="1965600" cy="3931560"/>
          </a:xfrm>
          <a:prstGeom prst="rect">
            <a:avLst/>
          </a:prstGeom>
          <a:solidFill>
            <a:srgbClr val="1e2a38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320040" y="960120"/>
            <a:ext cx="1965600" cy="822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320040" y="96012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✔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429840" y="187452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alibri"/>
              </a:rPr>
              <a:t>Deliverable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5042"/>
                </a:solidFill>
                <a:latin typeface="Calibri"/>
              </a:rPr>
              <a:t>Verification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29840" y="2743200"/>
            <a:ext cx="1737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Confirm all deliverables meet scope, quality &amp; performance standards. Obtain formal stakeholder acceptance.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2468880" y="960120"/>
            <a:ext cx="1965600" cy="3931560"/>
          </a:xfrm>
          <a:prstGeom prst="rect">
            <a:avLst/>
          </a:prstGeom>
          <a:solidFill>
            <a:srgbClr val="1e2a38"/>
          </a:solidFill>
          <a:ln w="254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2468880" y="960120"/>
            <a:ext cx="1965600" cy="822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2468880" y="96012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📁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2578680" y="187452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</a:rPr>
              <a:t>Documentation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</a:rPr>
              <a:t>&amp; Archiving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2578680" y="2743200"/>
            <a:ext cx="1737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Finalize and archive project plans, contracts, reports, and financial records for future audits and reference.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4617720" y="960120"/>
            <a:ext cx="1965600" cy="3931560"/>
          </a:xfrm>
          <a:prstGeom prst="rect">
            <a:avLst/>
          </a:prstGeom>
          <a:solidFill>
            <a:srgbClr val="1e2a38"/>
          </a:solidFill>
          <a:ln w="25400">
            <a:solidFill>
              <a:srgbClr val="d4820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4617720" y="960120"/>
            <a:ext cx="1965600" cy="82260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4617720" y="96012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4727520" y="187452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4820a"/>
                </a:solidFill>
                <a:latin typeface="Calibri"/>
              </a:rPr>
              <a:t>Resource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4820a"/>
                </a:solidFill>
                <a:latin typeface="Calibri"/>
              </a:rPr>
              <a:t>Release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4727520" y="2743200"/>
            <a:ext cx="1737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Formally release team members, reassign equipment, and close out budget allocations to new projects.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6766560" y="960120"/>
            <a:ext cx="1965600" cy="3931560"/>
          </a:xfrm>
          <a:prstGeom prst="rect">
            <a:avLst/>
          </a:prstGeom>
          <a:solidFill>
            <a:srgbClr val="1e2a38"/>
          </a:solidFill>
          <a:ln w="25400">
            <a:solidFill>
              <a:srgbClr val="2e7d5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6766560" y="960120"/>
            <a:ext cx="1965600" cy="82260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6766560" y="96012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6876360" y="187452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51"/>
                </a:solidFill>
                <a:latin typeface="Calibri"/>
              </a:rPr>
              <a:t>Lessons Learned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51"/>
                </a:solidFill>
                <a:latin typeface="Calibri"/>
              </a:rPr>
              <a:t>&amp; Evaluation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6876360" y="2743200"/>
            <a:ext cx="1737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Retrospective analysis to document what worked, what failed, and how to improve future delivery.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PROJECT CLOSURE CHECKLIST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320040" y="9601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320040" y="960120"/>
            <a:ext cx="438480" cy="676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320040" y="9601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822960" y="11613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1188720" y="9601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Deliverable Verification &amp; Client Acceptance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320040" y="17647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320040" y="1764720"/>
            <a:ext cx="438480" cy="676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320040" y="17647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822960" y="19659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1188720" y="17647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Final Project Performance Assessment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20040" y="25693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320040" y="2569320"/>
            <a:ext cx="438480" cy="67644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20040" y="25693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822960" y="27705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1188720" y="25693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Financial Closure — invoices, budgets, vendors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320040" y="337428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320040" y="3374280"/>
            <a:ext cx="438480" cy="67644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320040" y="337428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>
            <a:off x="822960" y="35751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1188720" y="337428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Documentation &amp; Archiving all project files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320040" y="417888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320040" y="4178880"/>
            <a:ext cx="438480" cy="6764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320040" y="417888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822960" y="438012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1188720" y="417888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Resource Release &amp; Team Reassignment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4846320" y="9601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8"/>
          <p:cNvSpPr/>
          <p:nvPr/>
        </p:nvSpPr>
        <p:spPr>
          <a:xfrm>
            <a:off x="4846320" y="960120"/>
            <a:ext cx="438480" cy="676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4846320" y="9601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5349240" y="11613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5715000" y="9601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Post-Project Evaluation &amp; Lessons Learned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4846320" y="17647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3"/>
          <p:cNvSpPr/>
          <p:nvPr/>
        </p:nvSpPr>
        <p:spPr>
          <a:xfrm>
            <a:off x="4846320" y="1764720"/>
            <a:ext cx="438480" cy="67644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4846320" y="17647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5349240" y="19659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1a6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6"/>
          <p:cNvSpPr/>
          <p:nvPr/>
        </p:nvSpPr>
        <p:spPr>
          <a:xfrm>
            <a:off x="5715000" y="17647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Administrative Closure &amp; Legal Requirements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4846320" y="256932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8"/>
          <p:cNvSpPr/>
          <p:nvPr/>
        </p:nvSpPr>
        <p:spPr>
          <a:xfrm>
            <a:off x="4846320" y="2569320"/>
            <a:ext cx="438480" cy="676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4846320" y="256932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0"/>
          <p:cNvSpPr/>
          <p:nvPr/>
        </p:nvSpPr>
        <p:spPr>
          <a:xfrm>
            <a:off x="5349240" y="27705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1"/>
          <p:cNvSpPr/>
          <p:nvPr/>
        </p:nvSpPr>
        <p:spPr>
          <a:xfrm>
            <a:off x="5715000" y="256932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Stakeholder Communication &amp; Final Report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2"/>
          <p:cNvSpPr/>
          <p:nvPr/>
        </p:nvSpPr>
        <p:spPr>
          <a:xfrm>
            <a:off x="4846320" y="3374280"/>
            <a:ext cx="4205880" cy="67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3"/>
          <p:cNvSpPr/>
          <p:nvPr/>
        </p:nvSpPr>
        <p:spPr>
          <a:xfrm>
            <a:off x="4846320" y="3374280"/>
            <a:ext cx="438480" cy="67644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4846320" y="3374280"/>
            <a:ext cx="43848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45"/>
          <p:cNvSpPr/>
          <p:nvPr/>
        </p:nvSpPr>
        <p:spPr>
          <a:xfrm>
            <a:off x="5349240" y="3575160"/>
            <a:ext cx="273960" cy="273960"/>
          </a:xfrm>
          <a:prstGeom prst="rect">
            <a:avLst/>
          </a:prstGeom>
          <a:solidFill>
            <a:srgbClr val="f8f5f0"/>
          </a:solidFill>
          <a:ln w="1905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5715000" y="3374280"/>
            <a:ext cx="32457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d3d3d"/>
                </a:solidFill>
                <a:latin typeface="Calibri"/>
              </a:rPr>
              <a:t>Celebrate Completion &amp; Recognize Contributions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WHEN SHOULD A PROJECT BE CLOSED?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274320" y="960120"/>
            <a:ext cx="2011320" cy="3931560"/>
          </a:xfrm>
          <a:prstGeom prst="rect">
            <a:avLst/>
          </a:prstGeom>
          <a:solidFill>
            <a:srgbClr val="1b2838"/>
          </a:solidFill>
          <a:ln w="25400">
            <a:solidFill>
              <a:srgbClr val="2e7d5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274320" y="960120"/>
            <a:ext cx="2011320" cy="59400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27432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274320" y="160020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384120" y="2331720"/>
            <a:ext cx="1782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7d51"/>
                </a:solidFill>
                <a:latin typeface="Calibri"/>
              </a:rPr>
              <a:t>Planned Closure After Delivery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384120" y="306324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Goals achieved, deliverables complete, stakeholders confirm acceptance. The most common and ideal path.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2450520" y="960120"/>
            <a:ext cx="2011320" cy="3931560"/>
          </a:xfrm>
          <a:prstGeom prst="rect">
            <a:avLst/>
          </a:prstGeom>
          <a:solidFill>
            <a:srgbClr val="1b2838"/>
          </a:solidFill>
          <a:ln w="25400">
            <a:solidFill>
              <a:srgbClr val="d4820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9"/>
          <p:cNvSpPr/>
          <p:nvPr/>
        </p:nvSpPr>
        <p:spPr>
          <a:xfrm>
            <a:off x="2450520" y="960120"/>
            <a:ext cx="2011320" cy="59400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245052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2450520" y="160020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2560320" y="2331720"/>
            <a:ext cx="1782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820a"/>
                </a:solidFill>
                <a:latin typeface="Calibri"/>
              </a:rPr>
              <a:t>Closure After Scope/Priority Change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2560320" y="306324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Business priorities shift or work is absorbed into a larger initiative — formal closure prevents confusion.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4626720" y="960120"/>
            <a:ext cx="2011320" cy="3931560"/>
          </a:xfrm>
          <a:prstGeom prst="rect">
            <a:avLst/>
          </a:prstGeom>
          <a:solidFill>
            <a:srgbClr val="1b2838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4626720" y="960120"/>
            <a:ext cx="2011320" cy="594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462672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4626720" y="160020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⏹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4736520" y="2331720"/>
            <a:ext cx="1782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b85042"/>
                </a:solidFill>
                <a:latin typeface="Calibri"/>
              </a:rPr>
              <a:t>Early or Forced Termination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4736520" y="306324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Budget constraints, technical issues, or leadership decisions stop the project mid-way — still needs closure.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6803280" y="960120"/>
            <a:ext cx="2011320" cy="3931560"/>
          </a:xfrm>
          <a:prstGeom prst="rect">
            <a:avLst/>
          </a:prstGeom>
          <a:solidFill>
            <a:srgbClr val="1b2838"/>
          </a:solidFill>
          <a:ln w="25400">
            <a:solidFill>
              <a:srgbClr val="7d3c9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1"/>
          <p:cNvSpPr/>
          <p:nvPr/>
        </p:nvSpPr>
        <p:spPr>
          <a:xfrm>
            <a:off x="6803280" y="960120"/>
            <a:ext cx="2011320" cy="5940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2"/>
          <p:cNvSpPr/>
          <p:nvPr/>
        </p:nvSpPr>
        <p:spPr>
          <a:xfrm>
            <a:off x="6803280" y="9601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6803280" y="160020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📘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6912720" y="2331720"/>
            <a:ext cx="1782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7d3c98"/>
                </a:solidFill>
                <a:latin typeface="Calibri"/>
              </a:rPr>
              <a:t>Failed Project Closure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6912720" y="3063240"/>
            <a:ext cx="17827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7e8d1"/>
                </a:solidFill>
                <a:latin typeface="Calibri"/>
              </a:rPr>
              <a:t>Project didn't meet goals, but still needs formal closure to capture learning and stop further resource drain.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199" strike="noStrike">
                <a:solidFill>
                  <a:srgbClr val="ffffff"/>
                </a:solidFill>
                <a:latin typeface="Calibri"/>
              </a:rPr>
              <a:t>DOCUMENTS &amp; OUTPUTS CREATED DURING CLOSURE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320040" y="93276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320040" y="93276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✍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1143000" y="97848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Final Acceptance / Sign-Off Document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4434840" y="97848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Confirms stakeholders formally accepted deliverables. Records what was approved, when, and by whom. Prevents future scope disputes.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4343400" y="1060560"/>
            <a:ext cx="27000" cy="456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320040" y="175572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320040" y="1755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1143000" y="180144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Project Closure Report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4434840" y="180144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Summarizes the project from start to finish — objectives, outcomes, milestones, performance vs. scope/schedule/budget.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4343400" y="1883520"/>
            <a:ext cx="27000" cy="456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320040" y="257868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320040" y="25786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1143000" y="26244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Lessons Learned Document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4434840" y="262440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Captures what worked well, what caused delays, and which decisions had the biggest impact. Specific and actionable insights.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4343400" y="2706480"/>
            <a:ext cx="27000" cy="45684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320040" y="340164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320040" y="34016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1143000" y="344736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Financial Closure Records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4434840" y="344736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Final budgets, actual spend, invoices, vendor payments, and contract close-out details. Supports audits and future estimates.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5"/>
          <p:cNvSpPr/>
          <p:nvPr/>
        </p:nvSpPr>
        <p:spPr>
          <a:xfrm>
            <a:off x="4343400" y="3529440"/>
            <a:ext cx="27000" cy="45684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6"/>
          <p:cNvSpPr/>
          <p:nvPr/>
        </p:nvSpPr>
        <p:spPr>
          <a:xfrm>
            <a:off x="320040" y="4224600"/>
            <a:ext cx="85035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7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320040" y="4224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🗂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1143000" y="427032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Archived Project Assets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4434840" y="427032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Requirements, designs, code repositories, test reports, approval records, timelines, and key communications — all preserved.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1"/>
          <p:cNvSpPr/>
          <p:nvPr/>
        </p:nvSpPr>
        <p:spPr>
          <a:xfrm>
            <a:off x="4343400" y="4352400"/>
            <a:ext cx="27000" cy="456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REAL-WORLD PROJECT CLOSURE EXAMPLES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274320" y="960120"/>
            <a:ext cx="2011320" cy="3977280"/>
          </a:xfrm>
          <a:prstGeom prst="rect">
            <a:avLst/>
          </a:prstGeom>
          <a:solidFill>
            <a:srgbClr val="182535"/>
          </a:solidFill>
          <a:ln w="254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274320" y="960120"/>
            <a:ext cx="201132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4"/>
          <p:cNvSpPr/>
          <p:nvPr/>
        </p:nvSpPr>
        <p:spPr>
          <a:xfrm>
            <a:off x="274320" y="9601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💻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Software Dev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5"/>
          <p:cNvSpPr/>
          <p:nvPr/>
        </p:nvSpPr>
        <p:spPr>
          <a:xfrm>
            <a:off x="411480" y="1984320"/>
            <a:ext cx="255600" cy="255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6"/>
          <p:cNvSpPr/>
          <p:nvPr/>
        </p:nvSpPr>
        <p:spPr>
          <a:xfrm>
            <a:off x="731520" y="187452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Final review with client/product owner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7"/>
          <p:cNvSpPr/>
          <p:nvPr/>
        </p:nvSpPr>
        <p:spPr>
          <a:xfrm>
            <a:off x="411480" y="2734200"/>
            <a:ext cx="255600" cy="255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731520" y="26244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Archive code repos, test results, user guides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411480" y="3483720"/>
            <a:ext cx="255600" cy="255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731520" y="337428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Financial reconciliation &amp; team release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411480" y="4233600"/>
            <a:ext cx="255600" cy="255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731520" y="41238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Retrospective on design &amp; dev lessons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2450520" y="960120"/>
            <a:ext cx="2011320" cy="3977280"/>
          </a:xfrm>
          <a:prstGeom prst="rect">
            <a:avLst/>
          </a:prstGeom>
          <a:solidFill>
            <a:srgbClr val="182535"/>
          </a:solidFill>
          <a:ln w="25400">
            <a:solidFill>
              <a:srgbClr val="d4820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2450520" y="960120"/>
            <a:ext cx="2011320" cy="77688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2450520" y="9601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Marketing Campaign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6"/>
          <p:cNvSpPr/>
          <p:nvPr/>
        </p:nvSpPr>
        <p:spPr>
          <a:xfrm>
            <a:off x="2587680" y="1984320"/>
            <a:ext cx="255600" cy="2556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2907720" y="187452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Review metrics: engagement, leads, ROI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2587680" y="2734200"/>
            <a:ext cx="255600" cy="2556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9"/>
          <p:cNvSpPr/>
          <p:nvPr/>
        </p:nvSpPr>
        <p:spPr>
          <a:xfrm>
            <a:off x="2907720" y="26244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Document which strategies performed well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2587680" y="3483720"/>
            <a:ext cx="255600" cy="2556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2907720" y="337428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Collect and archive all creative assets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2587680" y="4233600"/>
            <a:ext cx="255600" cy="2556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2907720" y="41238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Final client meeting + lessons learned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4626720" y="960120"/>
            <a:ext cx="2011320" cy="3977280"/>
          </a:xfrm>
          <a:prstGeom prst="rect">
            <a:avLst/>
          </a:prstGeom>
          <a:solidFill>
            <a:srgbClr val="182535"/>
          </a:solidFill>
          <a:ln w="25400">
            <a:solidFill>
              <a:srgbClr val="2e7d5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25"/>
          <p:cNvSpPr/>
          <p:nvPr/>
        </p:nvSpPr>
        <p:spPr>
          <a:xfrm>
            <a:off x="4626720" y="960120"/>
            <a:ext cx="2011320" cy="776880"/>
          </a:xfrm>
          <a:prstGeom prst="rect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26"/>
          <p:cNvSpPr/>
          <p:nvPr/>
        </p:nvSpPr>
        <p:spPr>
          <a:xfrm>
            <a:off x="4626720" y="9601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🎪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Event Planning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27"/>
          <p:cNvSpPr/>
          <p:nvPr/>
        </p:nvSpPr>
        <p:spPr>
          <a:xfrm>
            <a:off x="4763880" y="1984320"/>
            <a:ext cx="255600" cy="25560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28"/>
          <p:cNvSpPr/>
          <p:nvPr/>
        </p:nvSpPr>
        <p:spPr>
          <a:xfrm>
            <a:off x="5083920" y="187452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Close out all vendor contracts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29"/>
          <p:cNvSpPr/>
          <p:nvPr/>
        </p:nvSpPr>
        <p:spPr>
          <a:xfrm>
            <a:off x="4763880" y="2734200"/>
            <a:ext cx="255600" cy="25560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30"/>
          <p:cNvSpPr/>
          <p:nvPr/>
        </p:nvSpPr>
        <p:spPr>
          <a:xfrm>
            <a:off x="5083920" y="26244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Reconcile final event budget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31"/>
          <p:cNvSpPr/>
          <p:nvPr/>
        </p:nvSpPr>
        <p:spPr>
          <a:xfrm>
            <a:off x="4763880" y="3483720"/>
            <a:ext cx="255600" cy="25560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32"/>
          <p:cNvSpPr/>
          <p:nvPr/>
        </p:nvSpPr>
        <p:spPr>
          <a:xfrm>
            <a:off x="5083920" y="337428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Compile attendance records &amp; surveys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33"/>
          <p:cNvSpPr/>
          <p:nvPr/>
        </p:nvSpPr>
        <p:spPr>
          <a:xfrm>
            <a:off x="4763880" y="4233600"/>
            <a:ext cx="255600" cy="25560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34"/>
          <p:cNvSpPr/>
          <p:nvPr/>
        </p:nvSpPr>
        <p:spPr>
          <a:xfrm>
            <a:off x="5083920" y="41238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Debrief on successes and improvements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35"/>
          <p:cNvSpPr/>
          <p:nvPr/>
        </p:nvSpPr>
        <p:spPr>
          <a:xfrm>
            <a:off x="6803280" y="960120"/>
            <a:ext cx="2011320" cy="3977280"/>
          </a:xfrm>
          <a:prstGeom prst="rect">
            <a:avLst/>
          </a:prstGeom>
          <a:solidFill>
            <a:srgbClr val="182535"/>
          </a:solidFill>
          <a:ln w="25400">
            <a:solidFill>
              <a:srgbClr val="9b59b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36"/>
          <p:cNvSpPr/>
          <p:nvPr/>
        </p:nvSpPr>
        <p:spPr>
          <a:xfrm>
            <a:off x="6803280" y="960120"/>
            <a:ext cx="2011320" cy="7768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37"/>
          <p:cNvSpPr/>
          <p:nvPr/>
        </p:nvSpPr>
        <p:spPr>
          <a:xfrm>
            <a:off x="6803280" y="9601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🔬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Research Project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8"/>
          <p:cNvSpPr/>
          <p:nvPr/>
        </p:nvSpPr>
        <p:spPr>
          <a:xfrm>
            <a:off x="6940440" y="1984320"/>
            <a:ext cx="255600" cy="2556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9"/>
          <p:cNvSpPr/>
          <p:nvPr/>
        </p:nvSpPr>
        <p:spPr>
          <a:xfrm>
            <a:off x="7260480" y="187452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Publish findings in reports/journals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40"/>
          <p:cNvSpPr/>
          <p:nvPr/>
        </p:nvSpPr>
        <p:spPr>
          <a:xfrm>
            <a:off x="6940440" y="2734200"/>
            <a:ext cx="255600" cy="2556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41"/>
          <p:cNvSpPr/>
          <p:nvPr/>
        </p:nvSpPr>
        <p:spPr>
          <a:xfrm>
            <a:off x="7260480" y="26244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Confirm ethical &amp; regulatory compliance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42"/>
          <p:cNvSpPr/>
          <p:nvPr/>
        </p:nvSpPr>
        <p:spPr>
          <a:xfrm>
            <a:off x="6940440" y="3483720"/>
            <a:ext cx="255600" cy="2556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43"/>
          <p:cNvSpPr/>
          <p:nvPr/>
        </p:nvSpPr>
        <p:spPr>
          <a:xfrm>
            <a:off x="7260480" y="337428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Reconcile grants and funding records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44"/>
          <p:cNvSpPr/>
          <p:nvPr/>
        </p:nvSpPr>
        <p:spPr>
          <a:xfrm>
            <a:off x="6940440" y="4233600"/>
            <a:ext cx="255600" cy="2556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45"/>
          <p:cNvSpPr/>
          <p:nvPr/>
        </p:nvSpPr>
        <p:spPr>
          <a:xfrm>
            <a:off x="7260480" y="4123800"/>
            <a:ext cx="144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Archive datasets and methodology notes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COMMON MISTAKES IN PROJECT CLOSURE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320040" y="960120"/>
            <a:ext cx="41601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320040" y="960120"/>
            <a:ext cx="639720" cy="1234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320040" y="960120"/>
            <a:ext cx="639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1051560" y="10515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Skipping Formal Acceptance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1051560" y="14356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Relying on informal confirmation leads to later disputes about scope, quality, or ownership.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7"/>
          <p:cNvSpPr/>
          <p:nvPr/>
        </p:nvSpPr>
        <p:spPr>
          <a:xfrm>
            <a:off x="4709160" y="960120"/>
            <a:ext cx="41601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4709160" y="960120"/>
            <a:ext cx="639720" cy="1234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4709160" y="960120"/>
            <a:ext cx="639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5440680" y="10515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Treating Closure as Docs-Only Work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5440680" y="14356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When teams focus only on paperwork, they miss handover, financial settlement, and ownership transfer.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320040" y="2350080"/>
            <a:ext cx="41601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320040" y="2350080"/>
            <a:ext cx="639720" cy="1234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320040" y="2350080"/>
            <a:ext cx="639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1051560" y="24415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Incomplete Handover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1051560" y="282564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Weak handover leaves operational teams without context — pulling the original project team back 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7"/>
          <p:cNvSpPr/>
          <p:nvPr/>
        </p:nvSpPr>
        <p:spPr>
          <a:xfrm>
            <a:off x="4709160" y="2350080"/>
            <a:ext cx="41601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4709160" y="2350080"/>
            <a:ext cx="639720" cy="1234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4709160" y="2350080"/>
            <a:ext cx="639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0"/>
          <p:cNvSpPr/>
          <p:nvPr/>
        </p:nvSpPr>
        <p:spPr>
          <a:xfrm>
            <a:off x="5440680" y="24415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Ignoring Lessons Learned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5440680" y="282564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Skipping reflection means teams repeat challenges and lose valuable insights for future planning.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2"/>
          <p:cNvSpPr/>
          <p:nvPr/>
        </p:nvSpPr>
        <p:spPr>
          <a:xfrm>
            <a:off x="2514600" y="3740040"/>
            <a:ext cx="41601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23"/>
          <p:cNvSpPr/>
          <p:nvPr/>
        </p:nvSpPr>
        <p:spPr>
          <a:xfrm>
            <a:off x="2514600" y="3740040"/>
            <a:ext cx="639720" cy="1234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24"/>
          <p:cNvSpPr/>
          <p:nvPr/>
        </p:nvSpPr>
        <p:spPr>
          <a:xfrm>
            <a:off x="2514600" y="3740040"/>
            <a:ext cx="639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⚖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5"/>
          <p:cNvSpPr/>
          <p:nvPr/>
        </p:nvSpPr>
        <p:spPr>
          <a:xfrm>
            <a:off x="3246120" y="38314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1a2e"/>
                </a:solidFill>
                <a:latin typeface="Calibri"/>
              </a:rPr>
              <a:t>Unresolved Financial / Legal Items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26"/>
          <p:cNvSpPr/>
          <p:nvPr/>
        </p:nvSpPr>
        <p:spPr>
          <a:xfrm>
            <a:off x="3246120" y="421524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d3d3d"/>
                </a:solidFill>
                <a:latin typeface="Calibri"/>
              </a:rPr>
              <a:t>Open contracts, unpaid invoices, or unclear reconciliation cause delays and compliance issues long after delivery.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BEST PRACTICES FOR PROJECT CLOSURE 2026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274320" y="91440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384120" y="1161360"/>
            <a:ext cx="411120" cy="4111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384120" y="11613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914400" y="9784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5042"/>
                </a:solidFill>
                <a:latin typeface="Calibri"/>
              </a:rPr>
              <a:t>Thorough Deliverable Verification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914400" y="135324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Involve stakeholders in final quality checks — catch minor issues before post-project complications arise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7"/>
          <p:cNvSpPr/>
          <p:nvPr/>
        </p:nvSpPr>
        <p:spPr>
          <a:xfrm>
            <a:off x="4754880" y="91440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8"/>
          <p:cNvSpPr/>
          <p:nvPr/>
        </p:nvSpPr>
        <p:spPr>
          <a:xfrm>
            <a:off x="4864680" y="1161360"/>
            <a:ext cx="411120" cy="4111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4864680" y="11613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5394960" y="9784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</a:rPr>
              <a:t>Comprehensive Final Project Report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5394960" y="135324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Document objectives, deliverables, performance metrics, achievements, and honest lessons learned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274320" y="195696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d4820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384120" y="2203560"/>
            <a:ext cx="411120" cy="41112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384120" y="220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914400" y="20206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820a"/>
                </a:solidFill>
                <a:latin typeface="Calibri"/>
              </a:rPr>
              <a:t>Lessons Learned Session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914400" y="239580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Facilitate a retrospective meeting — share insights with other teams as a knowledge transfer opportunity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17"/>
          <p:cNvSpPr/>
          <p:nvPr/>
        </p:nvSpPr>
        <p:spPr>
          <a:xfrm>
            <a:off x="4754880" y="195696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2e7d5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4864680" y="2203560"/>
            <a:ext cx="411120" cy="411120"/>
          </a:xfrm>
          <a:prstGeom prst="ellipse">
            <a:avLst/>
          </a:prstGeom>
          <a:solidFill>
            <a:srgbClr val="2e7d51"/>
          </a:solidFill>
          <a:ln w="12700">
            <a:solidFill>
              <a:srgbClr val="2e7d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4864680" y="22035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5394960" y="20206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1"/>
                </a:solidFill>
                <a:latin typeface="Calibri"/>
              </a:rPr>
              <a:t>Celebrate Team Contributions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5394960" y="239580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Acknowledge individual and collective effort — boosts morale, engagement, and team unity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274320" y="299916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7d3c9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23"/>
          <p:cNvSpPr/>
          <p:nvPr/>
        </p:nvSpPr>
        <p:spPr>
          <a:xfrm>
            <a:off x="384120" y="3246120"/>
            <a:ext cx="411120" cy="41112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384120" y="3246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914400" y="306324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d3c98"/>
                </a:solidFill>
                <a:latin typeface="Calibri"/>
              </a:rPr>
              <a:t>Complete All Admin &amp; Financial Tasks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26"/>
          <p:cNvSpPr/>
          <p:nvPr/>
        </p:nvSpPr>
        <p:spPr>
          <a:xfrm>
            <a:off x="914400" y="343800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Settle contracts, clear invoices, finalize vendor payments to remove all lingering administrative burdens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27"/>
          <p:cNvSpPr/>
          <p:nvPr/>
        </p:nvSpPr>
        <p:spPr>
          <a:xfrm>
            <a:off x="4754880" y="299916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4864680" y="3246120"/>
            <a:ext cx="411120" cy="4111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4864680" y="3246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0"/>
          <p:cNvSpPr/>
          <p:nvPr/>
        </p:nvSpPr>
        <p:spPr>
          <a:xfrm>
            <a:off x="5394960" y="306324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5042"/>
                </a:solidFill>
                <a:latin typeface="Calibri"/>
              </a:rPr>
              <a:t>Archive All Project Documents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5394960" y="343800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Securely store plans, contracts, reports, and communication records for future audits and reference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274320" y="404172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02809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33"/>
          <p:cNvSpPr/>
          <p:nvPr/>
        </p:nvSpPr>
        <p:spPr>
          <a:xfrm>
            <a:off x="384120" y="4288680"/>
            <a:ext cx="411120" cy="4111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34"/>
          <p:cNvSpPr/>
          <p:nvPr/>
        </p:nvSpPr>
        <p:spPr>
          <a:xfrm>
            <a:off x="384120" y="42886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35"/>
          <p:cNvSpPr/>
          <p:nvPr/>
        </p:nvSpPr>
        <p:spPr>
          <a:xfrm>
            <a:off x="914400" y="410580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</a:rPr>
              <a:t>Formalize Closure Communication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36"/>
          <p:cNvSpPr/>
          <p:nvPr/>
        </p:nvSpPr>
        <p:spPr>
          <a:xfrm>
            <a:off x="914400" y="448056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Send a formal closure announcement with the final project report to prevent confusion about project status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37"/>
          <p:cNvSpPr/>
          <p:nvPr/>
        </p:nvSpPr>
        <p:spPr>
          <a:xfrm>
            <a:off x="4754880" y="4041720"/>
            <a:ext cx="4160160" cy="914040"/>
          </a:xfrm>
          <a:prstGeom prst="rect">
            <a:avLst/>
          </a:prstGeom>
          <a:solidFill>
            <a:srgbClr val="1a2535"/>
          </a:solidFill>
          <a:ln w="12700">
            <a:solidFill>
              <a:srgbClr val="d4820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38"/>
          <p:cNvSpPr/>
          <p:nvPr/>
        </p:nvSpPr>
        <p:spPr>
          <a:xfrm>
            <a:off x="4864680" y="4288680"/>
            <a:ext cx="411120" cy="41112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4864680" y="42886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0"/>
          <p:cNvSpPr/>
          <p:nvPr/>
        </p:nvSpPr>
        <p:spPr>
          <a:xfrm>
            <a:off x="5394960" y="410580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820a"/>
                </a:solidFill>
                <a:latin typeface="Calibri"/>
              </a:rPr>
              <a:t>Reflect on PM Practices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1"/>
          <p:cNvSpPr/>
          <p:nvPr/>
        </p:nvSpPr>
        <p:spPr>
          <a:xfrm>
            <a:off x="5394960" y="4480560"/>
            <a:ext cx="3382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7e8d1"/>
                </a:solidFill>
                <a:latin typeface="Calibri"/>
              </a:rPr>
              <a:t>Evaluate which project management methods contributed to success and refine approaches for future projects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-1371600" y="2286000"/>
            <a:ext cx="4571640" cy="4571640"/>
          </a:xfrm>
          <a:prstGeom prst="ellipse">
            <a:avLst/>
          </a:prstGeom>
          <a:solidFill>
            <a:srgbClr val="b85042">
              <a:alpha val="25000"/>
            </a:srgbClr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1"/>
          <p:cNvSpPr/>
          <p:nvPr/>
        </p:nvSpPr>
        <p:spPr>
          <a:xfrm>
            <a:off x="6858000" y="-1097280"/>
            <a:ext cx="4114440" cy="411444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365760" y="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9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5"/>
          <p:cNvSpPr/>
          <p:nvPr/>
        </p:nvSpPr>
        <p:spPr>
          <a:xfrm>
            <a:off x="411480" y="96012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6"/>
          <p:cNvSpPr/>
          <p:nvPr/>
        </p:nvSpPr>
        <p:spPr>
          <a:xfrm>
            <a:off x="502920" y="1069920"/>
            <a:ext cx="347040" cy="347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502920" y="1069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8"/>
          <p:cNvSpPr/>
          <p:nvPr/>
        </p:nvSpPr>
        <p:spPr>
          <a:xfrm>
            <a:off x="960120" y="96012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Project closure turns delivery into lasting, accepted, and documented outcomes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9"/>
          <p:cNvSpPr/>
          <p:nvPr/>
        </p:nvSpPr>
        <p:spPr>
          <a:xfrm>
            <a:off x="411480" y="162756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10"/>
          <p:cNvSpPr/>
          <p:nvPr/>
        </p:nvSpPr>
        <p:spPr>
          <a:xfrm>
            <a:off x="502920" y="173736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502920" y="17373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960120" y="162756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Completion ≠ Closure — acceptance, handover, and sign-off are non-negotiable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411480" y="229500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14"/>
          <p:cNvSpPr/>
          <p:nvPr/>
        </p:nvSpPr>
        <p:spPr>
          <a:xfrm>
            <a:off x="502920" y="2404800"/>
            <a:ext cx="347040" cy="347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15"/>
          <p:cNvSpPr/>
          <p:nvPr/>
        </p:nvSpPr>
        <p:spPr>
          <a:xfrm>
            <a:off x="502920" y="2404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16"/>
          <p:cNvSpPr/>
          <p:nvPr/>
        </p:nvSpPr>
        <p:spPr>
          <a:xfrm>
            <a:off x="960120" y="229500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Every project — even failed ones — deserves a formal closure process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7"/>
          <p:cNvSpPr/>
          <p:nvPr/>
        </p:nvSpPr>
        <p:spPr>
          <a:xfrm>
            <a:off x="411480" y="296280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502920" y="307224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19"/>
          <p:cNvSpPr/>
          <p:nvPr/>
        </p:nvSpPr>
        <p:spPr>
          <a:xfrm>
            <a:off x="502920" y="3072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20"/>
          <p:cNvSpPr/>
          <p:nvPr/>
        </p:nvSpPr>
        <p:spPr>
          <a:xfrm>
            <a:off x="960120" y="296280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Use a closure checklist: deliverables, financials, docs, resources, lessons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411480" y="363024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22"/>
          <p:cNvSpPr/>
          <p:nvPr/>
        </p:nvSpPr>
        <p:spPr>
          <a:xfrm>
            <a:off x="502920" y="3740040"/>
            <a:ext cx="347040" cy="3470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23"/>
          <p:cNvSpPr/>
          <p:nvPr/>
        </p:nvSpPr>
        <p:spPr>
          <a:xfrm>
            <a:off x="502920" y="3740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24"/>
          <p:cNvSpPr/>
          <p:nvPr/>
        </p:nvSpPr>
        <p:spPr>
          <a:xfrm>
            <a:off x="960120" y="363024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Stakeholder involvement at closure creates alignment, trust, and clarity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25"/>
          <p:cNvSpPr/>
          <p:nvPr/>
        </p:nvSpPr>
        <p:spPr>
          <a:xfrm>
            <a:off x="411480" y="4297680"/>
            <a:ext cx="8320680" cy="566640"/>
          </a:xfrm>
          <a:prstGeom prst="rect">
            <a:avLst/>
          </a:prstGeom>
          <a:solidFill>
            <a:srgbClr val="1a2535">
              <a:alpha val="90000"/>
            </a:srgbClr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26"/>
          <p:cNvSpPr/>
          <p:nvPr/>
        </p:nvSpPr>
        <p:spPr>
          <a:xfrm>
            <a:off x="502920" y="440748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27"/>
          <p:cNvSpPr/>
          <p:nvPr/>
        </p:nvSpPr>
        <p:spPr>
          <a:xfrm>
            <a:off x="502920" y="44074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960120" y="4297680"/>
            <a:ext cx="7589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7e8d1"/>
                </a:solidFill>
                <a:latin typeface="Calibri"/>
              </a:rPr>
              <a:t>Strong closure improves how future projects begin — reducing ramp-up time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30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Source: plane.so/blog/what-is-project-closure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2026-03-16T10:57:47Z</dcterms:created>
  <dc:creator>PptxGenJS</dc:creator>
  <dc:description/>
  <dc:language>en-US</dc:language>
  <cp:lastModifiedBy/>
  <dcterms:modified xsi:type="dcterms:W3CDTF">2026-03-16T16:40:48Z</dcterms:modified>
  <cp:revision>2</cp:revision>
  <dc:subject>PptxGenJS Presentation</dc:subject>
  <dc:title>Project Closure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