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5662E78-58A8-4932-AE09-7C35684DBD0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3E496-8DF6-4BD1-9260-61457EB006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9729FA-89FB-4103-A884-75CBE23EEB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848F4-4E19-4796-B5EB-9899296A93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A5F6C-4883-47A3-B14C-7EDD305614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3D7F3-DCC3-4D8C-9116-339F784755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5A4DA9-9A85-4E8A-AC19-E20C1AD421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8C0E55-C9B3-4CAB-B730-142B8918D8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F4323E-0345-4753-8B0F-016844396B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184701-6A52-4957-9961-FFE9F3EB5F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C7430-ED8F-487A-B82F-53E0B81075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4929DF-06E7-4E42-8999-A12C576607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035040" y="0"/>
            <a:ext cx="3108600" cy="5143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675120" y="0"/>
            <a:ext cx="2468520" cy="5143320"/>
          </a:xfrm>
          <a:prstGeom prst="rect">
            <a:avLst/>
          </a:prstGeom>
          <a:solidFill>
            <a:srgbClr val="e8533a">
              <a:alpha val="75000"/>
            </a:srgbClr>
          </a:solidFill>
          <a:ln w="12700">
            <a:solidFill>
              <a:srgbClr val="e8533a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92240" y="-640080"/>
            <a:ext cx="2925720" cy="2925720"/>
          </a:xfrm>
          <a:prstGeom prst="ellipse">
            <a:avLst/>
          </a:prstGeom>
          <a:solidFill>
            <a:srgbClr val="e8533a">
              <a:alpha val="35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223760" y="0"/>
            <a:ext cx="1645560" cy="1645560"/>
          </a:xfrm>
          <a:prstGeom prst="ellipse">
            <a:avLst/>
          </a:prstGeom>
          <a:solidFill>
            <a:srgbClr val="1a1f2e">
              <a:alpha val="65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406640" y="3383280"/>
            <a:ext cx="438480" cy="4384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909560" y="3383280"/>
            <a:ext cx="438480" cy="438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662600" y="3858840"/>
            <a:ext cx="438480" cy="438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7200" y="914400"/>
            <a:ext cx="3291480" cy="3470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9144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1371600"/>
            <a:ext cx="5943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199" strike="noStrike">
                <a:solidFill>
                  <a:srgbClr val="ffffff"/>
                </a:solidFill>
                <a:latin typeface="Calibri"/>
                <a:ea typeface="Calibri"/>
              </a:rPr>
              <a:t>SPRINT</a:t>
            </a:r>
            <a:endParaRPr b="0" lang="en-US" sz="6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199" strike="noStrike">
                <a:solidFill>
                  <a:srgbClr val="ffffff"/>
                </a:solidFill>
                <a:latin typeface="Calibri"/>
                <a:ea typeface="Calibri"/>
              </a:rPr>
              <a:t>RETROSPECTIVE</a:t>
            </a:r>
            <a:endParaRPr b="0" lang="en-US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200" y="374904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5a623"/>
                </a:solidFill>
                <a:latin typeface="Calibri"/>
              </a:rPr>
              <a:t>Reflect · Learn · Improve · Repeat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57200" y="4279320"/>
            <a:ext cx="1599840" cy="594000"/>
          </a:xfrm>
          <a:prstGeom prst="rect">
            <a:avLst/>
          </a:prstGeom>
          <a:solidFill>
            <a:srgbClr val="1a3a5c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57200" y="42793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8533a"/>
                </a:solidFill>
                <a:latin typeface="Calibri"/>
              </a:rPr>
              <a:t>15m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459036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57184"/>
                </a:solidFill>
                <a:latin typeface="Calibri"/>
              </a:rPr>
              <a:t>PREP TIME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286000" y="4279320"/>
            <a:ext cx="1599840" cy="594000"/>
          </a:xfrm>
          <a:prstGeom prst="rect">
            <a:avLst/>
          </a:prstGeom>
          <a:solidFill>
            <a:srgbClr val="1a3a5c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286000" y="42793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8533a"/>
                </a:solidFill>
                <a:latin typeface="Calibri"/>
              </a:rPr>
              <a:t>60m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286000" y="459036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57184"/>
                </a:solidFill>
                <a:latin typeface="Calibri"/>
              </a:rPr>
              <a:t>RUN TIME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114800" y="4279320"/>
            <a:ext cx="1599840" cy="594000"/>
          </a:xfrm>
          <a:prstGeom prst="rect">
            <a:avLst/>
          </a:prstGeom>
          <a:solidFill>
            <a:srgbClr val="1a3a5c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114800" y="42793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8533a"/>
                </a:solidFill>
                <a:latin typeface="Calibri"/>
              </a:rPr>
              <a:t>4–8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114800" y="459036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657184"/>
                </a:solidFill>
                <a:latin typeface="Calibri"/>
              </a:rPr>
              <a:t>PERSONS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9" strike="noStrike">
                <a:solidFill>
                  <a:srgbClr val="ffffff"/>
                </a:solidFill>
                <a:latin typeface="Calibri"/>
              </a:rPr>
              <a:t>WHAT IS A SPRINT?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365760" y="914400"/>
            <a:ext cx="8412120" cy="1023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365760" y="914400"/>
            <a:ext cx="84121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ffffff"/>
                </a:solidFill>
                <a:latin typeface="Calibri"/>
              </a:rPr>
              <a:t>A sprint is a fixed-length, time-boxed iteration — typically 1 to 4 weeks — in which a Scrum team completes a defined set of work. Sprints are the heartbeat of Agile development, delivering working software at the end of each cycle.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365760" y="2084760"/>
            <a:ext cx="420588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365760" y="2084760"/>
            <a:ext cx="164160" cy="12798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621720" y="2176200"/>
            <a:ext cx="639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⏱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658440" y="21578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2e"/>
                </a:solidFill>
                <a:latin typeface="Calibri"/>
              </a:rPr>
              <a:t>Fixed Duration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58440" y="254196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3b52"/>
                </a:solidFill>
                <a:latin typeface="Calibri"/>
              </a:rPr>
              <a:t>Sprints last 1–4 weeks. The team chooses a sprint length and keeps it consistent across all future sprints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4800600" y="2084760"/>
            <a:ext cx="420588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4800600" y="2084760"/>
            <a:ext cx="164160" cy="1279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5056560" y="2176200"/>
            <a:ext cx="639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5093280" y="21578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2e"/>
                </a:solidFill>
                <a:latin typeface="Calibri"/>
              </a:rPr>
              <a:t>Clear Sprint Goal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5093280" y="254196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3b52"/>
                </a:solidFill>
                <a:latin typeface="Calibri"/>
              </a:rPr>
              <a:t>Every sprint has a single, focused goal agreed upon during sprint planning — guiding all work done in that sprint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365760" y="3502080"/>
            <a:ext cx="420588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365760" y="3502080"/>
            <a:ext cx="164160" cy="12798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21720" y="3593520"/>
            <a:ext cx="639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658440" y="3575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2e"/>
                </a:solidFill>
                <a:latin typeface="Calibri"/>
              </a:rPr>
              <a:t>Iterative Delivery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658440" y="395928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3b52"/>
                </a:solidFill>
                <a:latin typeface="Calibri"/>
              </a:rPr>
              <a:t>At the end of each sprint, the team delivers a working increment of the product — potentially shippable to users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4800600" y="3502080"/>
            <a:ext cx="4205880" cy="127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0"/>
          <p:cNvSpPr/>
          <p:nvPr/>
        </p:nvSpPr>
        <p:spPr>
          <a:xfrm>
            <a:off x="4800600" y="3502080"/>
            <a:ext cx="164160" cy="1279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5056560" y="3593520"/>
            <a:ext cx="639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5093280" y="3575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2e"/>
                </a:solidFill>
                <a:latin typeface="Calibri"/>
              </a:rPr>
              <a:t>Built-in Feedback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5093280" y="395928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d3b52"/>
                </a:solidFill>
                <a:latin typeface="Calibri"/>
              </a:rPr>
              <a:t>After each sprint, the team reviews what was built (Sprint Review) and how they worked (Sprint Retrospective)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199" strike="noStrike">
                <a:solidFill>
                  <a:srgbClr val="ffffff"/>
                </a:solidFill>
                <a:latin typeface="Calibri"/>
              </a:rPr>
              <a:t>WHAT IS A SPRINT RETROSPECTIVE?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914400"/>
            <a:ext cx="8412120" cy="987120"/>
          </a:xfrm>
          <a:prstGeom prst="rect">
            <a:avLst/>
          </a:prstGeom>
          <a:solidFill>
            <a:srgbClr val="1e2d42"/>
          </a:solidFill>
          <a:ln w="254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502920" y="914400"/>
            <a:ext cx="82292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4f6f8"/>
                </a:solidFill>
                <a:latin typeface="Calibri"/>
              </a:rPr>
              <a:t>A sprint retrospective is a structured review conducted after each sprint that plays a key role in Agile methodology. It aims to determine what went well, where problems occurred, and where improvements can be made — so the next sprint runs better.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365760" y="19933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e8533a"/>
                </a:solidFill>
                <a:latin typeface="Calibri"/>
              </a:rPr>
              <a:t>5-SECOND SUMMARY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365760" y="2359080"/>
            <a:ext cx="8412120" cy="594000"/>
          </a:xfrm>
          <a:prstGeom prst="rect">
            <a:avLst/>
          </a:prstGeom>
          <a:solidFill>
            <a:srgbClr val="1e2d42"/>
          </a:solidFill>
          <a:ln w="127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65760" y="2359080"/>
            <a:ext cx="566640" cy="594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365760" y="2359080"/>
            <a:ext cx="56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🎉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1024200" y="2359080"/>
            <a:ext cx="758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4f6f8"/>
                </a:solidFill>
                <a:latin typeface="Calibri"/>
              </a:rPr>
              <a:t>Celebrate what went WELL during the last sprint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65760" y="3044880"/>
            <a:ext cx="8412120" cy="594000"/>
          </a:xfrm>
          <a:prstGeom prst="rect">
            <a:avLst/>
          </a:prstGeom>
          <a:solidFill>
            <a:srgbClr val="1e2d42"/>
          </a:solidFill>
          <a:ln w="127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365760" y="3044880"/>
            <a:ext cx="566640" cy="5940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365760" y="3044880"/>
            <a:ext cx="56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💬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1024200" y="3044880"/>
            <a:ext cx="758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4f6f8"/>
                </a:solidFill>
                <a:latin typeface="Calibri"/>
              </a:rPr>
              <a:t>Discuss what DIDN'T go well or could have been better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365760" y="3730680"/>
            <a:ext cx="8412120" cy="594000"/>
          </a:xfrm>
          <a:prstGeom prst="rect">
            <a:avLst/>
          </a:prstGeom>
          <a:solidFill>
            <a:srgbClr val="1e2d42"/>
          </a:solidFill>
          <a:ln w="127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365760" y="3730680"/>
            <a:ext cx="566640" cy="5940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365760" y="3730680"/>
            <a:ext cx="56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🔧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1024200" y="3730680"/>
            <a:ext cx="758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4f6f8"/>
                </a:solidFill>
                <a:latin typeface="Calibri"/>
              </a:rPr>
              <a:t>Determine HOW to make improvements in the next sprint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365760" y="4416480"/>
            <a:ext cx="8412120" cy="594000"/>
          </a:xfrm>
          <a:prstGeom prst="rect">
            <a:avLst/>
          </a:prstGeom>
          <a:solidFill>
            <a:srgbClr val="1e2d42"/>
          </a:solidFill>
          <a:ln w="127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365760" y="4416480"/>
            <a:ext cx="566640" cy="594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365760" y="4416480"/>
            <a:ext cx="56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1024200" y="4416480"/>
            <a:ext cx="758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4f6f8"/>
                </a:solidFill>
                <a:latin typeface="Calibri"/>
              </a:rPr>
              <a:t>Use AI to summarize insights, generate takeaways, and action them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9" strike="noStrike">
                <a:solidFill>
                  <a:srgbClr val="ffffff"/>
                </a:solidFill>
                <a:latin typeface="Calibri"/>
              </a:rPr>
              <a:t>WHO ATTENDS  &amp;  HOW OFTEN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274320" y="914400"/>
            <a:ext cx="4205880" cy="39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274320" y="914400"/>
            <a:ext cx="4205880" cy="5299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74320" y="91440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WHO SHOULD ATTEND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411480" y="1536120"/>
            <a:ext cx="3931560" cy="566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411480" y="1536120"/>
            <a:ext cx="502560" cy="5666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11480" y="1536120"/>
            <a:ext cx="502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987480" y="157284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2e"/>
                </a:solidFill>
                <a:latin typeface="Calibri"/>
              </a:rPr>
              <a:t>Product Owner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987480" y="183780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Provides business context and stakeholder perspective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411480" y="2194560"/>
            <a:ext cx="3931560" cy="566640"/>
          </a:xfrm>
          <a:prstGeom prst="rect">
            <a:avLst/>
          </a:prstGeom>
          <a:solidFill>
            <a:srgbClr val="f4f6f8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411480" y="2194560"/>
            <a:ext cx="502560" cy="566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411480" y="2194560"/>
            <a:ext cx="502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987480" y="223128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2e"/>
                </a:solidFill>
                <a:latin typeface="Calibri"/>
              </a:rPr>
              <a:t>Scrum Master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987480" y="249624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Facilitates the meeting and ensures a safe, productive space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411480" y="2853000"/>
            <a:ext cx="3931560" cy="566640"/>
          </a:xfrm>
          <a:prstGeom prst="rect">
            <a:avLst/>
          </a:prstGeom>
          <a:solidFill>
            <a:srgbClr val="f4f6f8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411480" y="2853000"/>
            <a:ext cx="502560" cy="56664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411480" y="2853000"/>
            <a:ext cx="502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987480" y="288936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2e"/>
                </a:solidFill>
                <a:latin typeface="Calibri"/>
              </a:rPr>
              <a:t>Scrum Team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987480" y="315468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Development team members who completed the sprint work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411480" y="3511440"/>
            <a:ext cx="3931560" cy="566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411480" y="3511440"/>
            <a:ext cx="502560" cy="566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411480" y="3511440"/>
            <a:ext cx="502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987480" y="354780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2e"/>
                </a:solidFill>
                <a:latin typeface="Calibri"/>
              </a:rPr>
              <a:t>Stakeholders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987480" y="381312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Optional — provide external perspectives and insights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5"/>
          <p:cNvSpPr/>
          <p:nvPr/>
        </p:nvSpPr>
        <p:spPr>
          <a:xfrm>
            <a:off x="411480" y="4169520"/>
            <a:ext cx="3931560" cy="566640"/>
          </a:xfrm>
          <a:prstGeom prst="rect">
            <a:avLst/>
          </a:prstGeom>
          <a:solidFill>
            <a:srgbClr val="f4f6f8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6"/>
          <p:cNvSpPr/>
          <p:nvPr/>
        </p:nvSpPr>
        <p:spPr>
          <a:xfrm>
            <a:off x="411480" y="4169520"/>
            <a:ext cx="502560" cy="566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411480" y="4169520"/>
            <a:ext cx="502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987480" y="4206240"/>
            <a:ext cx="3245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2e"/>
                </a:solidFill>
                <a:latin typeface="Calibri"/>
              </a:rPr>
              <a:t>Rovo (AI)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9"/>
          <p:cNvSpPr/>
          <p:nvPr/>
        </p:nvSpPr>
        <p:spPr>
          <a:xfrm>
            <a:off x="987480" y="447156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Helps summarize insights, surface context, and generate actions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0"/>
          <p:cNvSpPr/>
          <p:nvPr/>
        </p:nvSpPr>
        <p:spPr>
          <a:xfrm>
            <a:off x="4663440" y="914400"/>
            <a:ext cx="4205880" cy="39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31"/>
          <p:cNvSpPr/>
          <p:nvPr/>
        </p:nvSpPr>
        <p:spPr>
          <a:xfrm>
            <a:off x="4663440" y="914400"/>
            <a:ext cx="4205880" cy="529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2"/>
          <p:cNvSpPr/>
          <p:nvPr/>
        </p:nvSpPr>
        <p:spPr>
          <a:xfrm>
            <a:off x="4663440" y="91440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FREQUENCY &amp; DURATION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3"/>
          <p:cNvSpPr/>
          <p:nvPr/>
        </p:nvSpPr>
        <p:spPr>
          <a:xfrm>
            <a:off x="4800600" y="1572840"/>
            <a:ext cx="3931560" cy="840960"/>
          </a:xfrm>
          <a:prstGeom prst="rect">
            <a:avLst/>
          </a:prstGeom>
          <a:solidFill>
            <a:srgbClr val="f4f6f8"/>
          </a:solidFill>
          <a:ln w="254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34"/>
          <p:cNvSpPr/>
          <p:nvPr/>
        </p:nvSpPr>
        <p:spPr>
          <a:xfrm>
            <a:off x="4800600" y="1572840"/>
            <a:ext cx="164160" cy="8409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5047560" y="1618560"/>
            <a:ext cx="2011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8533a"/>
                </a:solidFill>
                <a:latin typeface="Calibri"/>
              </a:rPr>
              <a:t>End of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8533a"/>
                </a:solidFill>
                <a:latin typeface="Calibri"/>
              </a:rPr>
              <a:t>each Sprint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6"/>
          <p:cNvSpPr/>
          <p:nvPr/>
        </p:nvSpPr>
        <p:spPr>
          <a:xfrm>
            <a:off x="7132320" y="180144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657184"/>
                </a:solidFill>
                <a:latin typeface="Calibri"/>
              </a:rPr>
              <a:t>BEST CADENCE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7"/>
          <p:cNvSpPr/>
          <p:nvPr/>
        </p:nvSpPr>
        <p:spPr>
          <a:xfrm>
            <a:off x="4800600" y="2532960"/>
            <a:ext cx="3931560" cy="840960"/>
          </a:xfrm>
          <a:prstGeom prst="rect">
            <a:avLst/>
          </a:prstGeom>
          <a:solidFill>
            <a:srgbClr val="f4f6f8"/>
          </a:solidFill>
          <a:ln w="254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8"/>
          <p:cNvSpPr/>
          <p:nvPr/>
        </p:nvSpPr>
        <p:spPr>
          <a:xfrm>
            <a:off x="4800600" y="2532960"/>
            <a:ext cx="164160" cy="840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39"/>
          <p:cNvSpPr/>
          <p:nvPr/>
        </p:nvSpPr>
        <p:spPr>
          <a:xfrm>
            <a:off x="5047560" y="2578680"/>
            <a:ext cx="2011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c5f2d"/>
                </a:solidFill>
                <a:latin typeface="Calibri"/>
              </a:rPr>
              <a:t>Every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c5f2d"/>
                </a:solidFill>
                <a:latin typeface="Calibri"/>
              </a:rPr>
              <a:t>2nd Sprint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0"/>
          <p:cNvSpPr/>
          <p:nvPr/>
        </p:nvSpPr>
        <p:spPr>
          <a:xfrm>
            <a:off x="7132320" y="276156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657184"/>
                </a:solidFill>
                <a:latin typeface="Calibri"/>
              </a:rPr>
              <a:t>SHORT SPRINTS (1 WEEK)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41"/>
          <p:cNvSpPr/>
          <p:nvPr/>
        </p:nvSpPr>
        <p:spPr>
          <a:xfrm>
            <a:off x="4800600" y="3493080"/>
            <a:ext cx="3931560" cy="840960"/>
          </a:xfrm>
          <a:prstGeom prst="rect">
            <a:avLst/>
          </a:prstGeom>
          <a:solidFill>
            <a:srgbClr val="f4f6f8"/>
          </a:solidFill>
          <a:ln w="254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2"/>
          <p:cNvSpPr/>
          <p:nvPr/>
        </p:nvSpPr>
        <p:spPr>
          <a:xfrm>
            <a:off x="4800600" y="3493080"/>
            <a:ext cx="164160" cy="84096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3"/>
          <p:cNvSpPr/>
          <p:nvPr/>
        </p:nvSpPr>
        <p:spPr>
          <a:xfrm>
            <a:off x="5047560" y="3538800"/>
            <a:ext cx="2011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d9be9"/>
                </a:solidFill>
                <a:latin typeface="Calibri"/>
              </a:rPr>
              <a:t>45 min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d9be9"/>
                </a:solidFill>
                <a:latin typeface="Calibri"/>
              </a:rPr>
              <a:t>to 3 hrs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4"/>
          <p:cNvSpPr/>
          <p:nvPr/>
        </p:nvSpPr>
        <p:spPr>
          <a:xfrm>
            <a:off x="7132320" y="37216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657184"/>
                </a:solidFill>
                <a:latin typeface="Calibri"/>
              </a:rPr>
              <a:t>DURATION RANGE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45"/>
          <p:cNvSpPr/>
          <p:nvPr/>
        </p:nvSpPr>
        <p:spPr>
          <a:xfrm>
            <a:off x="4800600" y="4498920"/>
            <a:ext cx="3931560" cy="41112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6"/>
          <p:cNvSpPr/>
          <p:nvPr/>
        </p:nvSpPr>
        <p:spPr>
          <a:xfrm>
            <a:off x="4892040" y="44989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d3b52"/>
                </a:solidFill>
                <a:latin typeface="Calibri"/>
              </a:rPr>
              <a:t>Tip: Extra time upfront saves time and improves results long-term.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148" strike="noStrike">
                <a:solidFill>
                  <a:srgbClr val="1a1f2e"/>
                </a:solidFill>
                <a:latin typeface="Calibri"/>
              </a:rPr>
              <a:t>HOW TO RUN A SPRINT RETROSPECTIVE — 5 STEPS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1774080" y="1920240"/>
            <a:ext cx="182520" cy="145800"/>
          </a:xfrm>
          <a:prstGeom prst="rect">
            <a:avLst/>
          </a:prstGeom>
          <a:solidFill>
            <a:srgbClr val="657184"/>
          </a:solidFill>
          <a:ln w="12700">
            <a:solidFill>
              <a:srgbClr val="6571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384120" y="896040"/>
            <a:ext cx="1023840" cy="102384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384120" y="896040"/>
            <a:ext cx="1023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🎵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01240" y="2011680"/>
            <a:ext cx="1627200" cy="2834280"/>
          </a:xfrm>
          <a:prstGeom prst="rect">
            <a:avLst/>
          </a:prstGeom>
          <a:solidFill>
            <a:srgbClr val="182535"/>
          </a:solidFill>
          <a:ln w="1905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201240" y="2011680"/>
            <a:ext cx="1627200" cy="5940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201240" y="2011680"/>
            <a:ext cx="1627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SET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THE TONE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29840" y="2670120"/>
            <a:ext cx="1170000" cy="255600"/>
          </a:xfrm>
          <a:prstGeom prst="rect">
            <a:avLst/>
          </a:prstGeom>
          <a:solidFill>
            <a:srgbClr val="e8533a">
              <a:alpha val="35000"/>
            </a:srgbClr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429840" y="267012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5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292680" y="2980800"/>
            <a:ext cx="1444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Encourage open, honest feedback. Focus on improvement — not blame. Create a safe space using Chatham House Rule.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3529440" y="1920240"/>
            <a:ext cx="182520" cy="145800"/>
          </a:xfrm>
          <a:prstGeom prst="rect">
            <a:avLst/>
          </a:prstGeom>
          <a:solidFill>
            <a:srgbClr val="657184"/>
          </a:solidFill>
          <a:ln w="12700">
            <a:solidFill>
              <a:srgbClr val="6571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2139840" y="896040"/>
            <a:ext cx="1023840" cy="102384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2139840" y="896040"/>
            <a:ext cx="1023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💬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1956960" y="2011680"/>
            <a:ext cx="1627200" cy="2834280"/>
          </a:xfrm>
          <a:prstGeom prst="rect">
            <a:avLst/>
          </a:prstGeom>
          <a:solidFill>
            <a:srgbClr val="182535"/>
          </a:solidFill>
          <a:ln w="1905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1956960" y="2011680"/>
            <a:ext cx="1627200" cy="5940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1956960" y="2011680"/>
            <a:ext cx="1627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GATHER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FEEDBACK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2185560" y="2670120"/>
            <a:ext cx="1170000" cy="255600"/>
          </a:xfrm>
          <a:prstGeom prst="rect">
            <a:avLst/>
          </a:prstGeom>
          <a:solidFill>
            <a:srgbClr val="3d9be9">
              <a:alpha val="35000"/>
            </a:srgbClr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8"/>
          <p:cNvSpPr/>
          <p:nvPr/>
        </p:nvSpPr>
        <p:spPr>
          <a:xfrm>
            <a:off x="2185560" y="267012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15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2048400" y="2980800"/>
            <a:ext cx="1444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Use 4Ls, Sad/Mad/Glad, or open discussion. Collect input via surveys or group talk. Anonymous submissions help too.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5285160" y="1920240"/>
            <a:ext cx="182520" cy="145800"/>
          </a:xfrm>
          <a:prstGeom prst="rect">
            <a:avLst/>
          </a:prstGeom>
          <a:solidFill>
            <a:srgbClr val="657184"/>
          </a:solidFill>
          <a:ln w="12700">
            <a:solidFill>
              <a:srgbClr val="6571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3895200" y="896040"/>
            <a:ext cx="1023840" cy="10238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3895200" y="896040"/>
            <a:ext cx="1023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3712320" y="2011680"/>
            <a:ext cx="1627200" cy="2834280"/>
          </a:xfrm>
          <a:prstGeom prst="rect">
            <a:avLst/>
          </a:prstGeom>
          <a:solidFill>
            <a:srgbClr val="182535"/>
          </a:solidFill>
          <a:ln w="1905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3712320" y="2011680"/>
            <a:ext cx="1627200" cy="594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5"/>
          <p:cNvSpPr/>
          <p:nvPr/>
        </p:nvSpPr>
        <p:spPr>
          <a:xfrm>
            <a:off x="3712320" y="2011680"/>
            <a:ext cx="1627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GENERATE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INSIGHTS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3940920" y="2670120"/>
            <a:ext cx="1170000" cy="255600"/>
          </a:xfrm>
          <a:prstGeom prst="rect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7"/>
          <p:cNvSpPr/>
          <p:nvPr/>
        </p:nvSpPr>
        <p:spPr>
          <a:xfrm>
            <a:off x="3940920" y="267012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20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8"/>
          <p:cNvSpPr/>
          <p:nvPr/>
        </p:nvSpPr>
        <p:spPr>
          <a:xfrm>
            <a:off x="3803760" y="2980800"/>
            <a:ext cx="1444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Group similar feedback. Vote on the most important issues. Identify trends, root causes, and key opportunities.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9"/>
          <p:cNvSpPr/>
          <p:nvPr/>
        </p:nvSpPr>
        <p:spPr>
          <a:xfrm>
            <a:off x="7040880" y="1920240"/>
            <a:ext cx="182520" cy="145800"/>
          </a:xfrm>
          <a:prstGeom prst="rect">
            <a:avLst/>
          </a:prstGeom>
          <a:solidFill>
            <a:srgbClr val="657184"/>
          </a:solidFill>
          <a:ln w="12700">
            <a:solidFill>
              <a:srgbClr val="6571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5650920" y="896040"/>
            <a:ext cx="1023840" cy="1023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31"/>
          <p:cNvSpPr/>
          <p:nvPr/>
        </p:nvSpPr>
        <p:spPr>
          <a:xfrm>
            <a:off x="5650920" y="896040"/>
            <a:ext cx="1023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2"/>
          <p:cNvSpPr/>
          <p:nvPr/>
        </p:nvSpPr>
        <p:spPr>
          <a:xfrm>
            <a:off x="5468040" y="2011680"/>
            <a:ext cx="1627200" cy="2834280"/>
          </a:xfrm>
          <a:prstGeom prst="rect">
            <a:avLst/>
          </a:prstGeom>
          <a:solidFill>
            <a:srgbClr val="182535"/>
          </a:solidFill>
          <a:ln w="1905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3"/>
          <p:cNvSpPr/>
          <p:nvPr/>
        </p:nvSpPr>
        <p:spPr>
          <a:xfrm>
            <a:off x="5468040" y="2011680"/>
            <a:ext cx="1627200" cy="594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34"/>
          <p:cNvSpPr/>
          <p:nvPr/>
        </p:nvSpPr>
        <p:spPr>
          <a:xfrm>
            <a:off x="5468040" y="2011680"/>
            <a:ext cx="1627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DECIDE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ACTIONS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5"/>
          <p:cNvSpPr/>
          <p:nvPr/>
        </p:nvSpPr>
        <p:spPr>
          <a:xfrm>
            <a:off x="5696640" y="2670120"/>
            <a:ext cx="1170000" cy="255600"/>
          </a:xfrm>
          <a:prstGeom prst="rect">
            <a:avLst/>
          </a:prstGeom>
          <a:solidFill>
            <a:srgbClr val="2c5f2d">
              <a:alpha val="35000"/>
            </a:srgbClr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5696640" y="267012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10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5559480" y="2980800"/>
            <a:ext cx="1444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Turn insights into concrete action items with owners and deadlines. Avoid vague resolutions — be specific.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38"/>
          <p:cNvSpPr/>
          <p:nvPr/>
        </p:nvSpPr>
        <p:spPr>
          <a:xfrm>
            <a:off x="7406640" y="896040"/>
            <a:ext cx="1023840" cy="10238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9"/>
          <p:cNvSpPr/>
          <p:nvPr/>
        </p:nvSpPr>
        <p:spPr>
          <a:xfrm>
            <a:off x="7406640" y="896040"/>
            <a:ext cx="1023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🔒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40"/>
          <p:cNvSpPr/>
          <p:nvPr/>
        </p:nvSpPr>
        <p:spPr>
          <a:xfrm>
            <a:off x="7223760" y="2011680"/>
            <a:ext cx="1627200" cy="2834280"/>
          </a:xfrm>
          <a:prstGeom prst="rect">
            <a:avLst/>
          </a:prstGeom>
          <a:solidFill>
            <a:srgbClr val="182535"/>
          </a:solidFill>
          <a:ln w="1905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1"/>
          <p:cNvSpPr/>
          <p:nvPr/>
        </p:nvSpPr>
        <p:spPr>
          <a:xfrm>
            <a:off x="7223760" y="2011680"/>
            <a:ext cx="1627200" cy="594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2"/>
          <p:cNvSpPr/>
          <p:nvPr/>
        </p:nvSpPr>
        <p:spPr>
          <a:xfrm>
            <a:off x="7223760" y="2011680"/>
            <a:ext cx="1627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CLOSE THE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f2e"/>
                </a:solidFill>
                <a:latin typeface="Calibri"/>
              </a:rPr>
              <a:t>RETRO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43"/>
          <p:cNvSpPr/>
          <p:nvPr/>
        </p:nvSpPr>
        <p:spPr>
          <a:xfrm>
            <a:off x="7452360" y="2670120"/>
            <a:ext cx="1170000" cy="255600"/>
          </a:xfrm>
          <a:prstGeom prst="rect">
            <a:avLst/>
          </a:prstGeom>
          <a:solidFill>
            <a:srgbClr val="6c3483">
              <a:alpha val="35000"/>
            </a:srgbClr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4"/>
          <p:cNvSpPr/>
          <p:nvPr/>
        </p:nvSpPr>
        <p:spPr>
          <a:xfrm>
            <a:off x="7452360" y="267012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5 MIN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5"/>
          <p:cNvSpPr/>
          <p:nvPr/>
        </p:nvSpPr>
        <p:spPr>
          <a:xfrm>
            <a:off x="7315200" y="2980800"/>
            <a:ext cx="14443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Recap action items, assign owners, and thank the team. Document outcomes in Confluence or your PM tool.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FEEDBACK FRAMEWORKS FOR RETROSPECTIVES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"/>
          <p:cNvSpPr/>
          <p:nvPr/>
        </p:nvSpPr>
        <p:spPr>
          <a:xfrm>
            <a:off x="274320" y="914400"/>
            <a:ext cx="4205880" cy="391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274320" y="914400"/>
            <a:ext cx="4205880" cy="59400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274320" y="91440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THE 4LS RETROSPECTIVE METHOD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411480" y="1600200"/>
            <a:ext cx="3931560" cy="658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411480" y="1600200"/>
            <a:ext cx="658080" cy="6580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411480" y="160020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❤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143000" y="163692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533a"/>
                </a:solidFill>
                <a:latin typeface="Calibri"/>
              </a:rPr>
              <a:t>LOVED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1143000" y="191124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What did you really enjoy or appreciate about this sprint? Highlight the positives and things worth keeping.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411480" y="2350080"/>
            <a:ext cx="3931560" cy="658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411480" y="2350080"/>
            <a:ext cx="658080" cy="658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411480" y="235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😤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1143000" y="238644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7e22"/>
                </a:solidFill>
                <a:latin typeface="Calibri"/>
              </a:rPr>
              <a:t>LOATHED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1143000" y="26607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What frustrated or annoyed you? What wasted time, created friction, or caused unnecessary problems?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411480" y="3099960"/>
            <a:ext cx="3931560" cy="658080"/>
          </a:xfrm>
          <a:prstGeom prst="rect">
            <a:avLst/>
          </a:prstGeom>
          <a:solidFill>
            <a:srgbClr val="f4f6f8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6"/>
          <p:cNvSpPr/>
          <p:nvPr/>
        </p:nvSpPr>
        <p:spPr>
          <a:xfrm>
            <a:off x="411480" y="3099960"/>
            <a:ext cx="658080" cy="658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411480" y="30999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🧠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1143000" y="313632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c5f2d"/>
                </a:solidFill>
                <a:latin typeface="Calibri"/>
              </a:rPr>
              <a:t>LEARNED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9"/>
          <p:cNvSpPr/>
          <p:nvPr/>
        </p:nvSpPr>
        <p:spPr>
          <a:xfrm>
            <a:off x="1143000" y="341064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What new things did you discover? About the product, the team, the process, or yourselves?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0"/>
          <p:cNvSpPr/>
          <p:nvPr/>
        </p:nvSpPr>
        <p:spPr>
          <a:xfrm>
            <a:off x="411480" y="3849480"/>
            <a:ext cx="3931560" cy="658080"/>
          </a:xfrm>
          <a:prstGeom prst="rect">
            <a:avLst/>
          </a:prstGeom>
          <a:solidFill>
            <a:srgbClr val="f4f6f8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411480" y="3849480"/>
            <a:ext cx="658080" cy="658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411480" y="38494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✨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1143000" y="38862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c3483"/>
                </a:solidFill>
                <a:latin typeface="Calibri"/>
              </a:rPr>
              <a:t>LONGED FOR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4"/>
          <p:cNvSpPr/>
          <p:nvPr/>
        </p:nvSpPr>
        <p:spPr>
          <a:xfrm>
            <a:off x="1143000" y="416052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57184"/>
                </a:solidFill>
                <a:latin typeface="Calibri"/>
              </a:rPr>
              <a:t>What did you wish you had? Tools, skills, support, clarity, or resources that were missing?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4663440" y="914400"/>
            <a:ext cx="4205880" cy="391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6"/>
          <p:cNvSpPr/>
          <p:nvPr/>
        </p:nvSpPr>
        <p:spPr>
          <a:xfrm>
            <a:off x="4663440" y="914400"/>
            <a:ext cx="4205880" cy="5940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7"/>
          <p:cNvSpPr/>
          <p:nvPr/>
        </p:nvSpPr>
        <p:spPr>
          <a:xfrm>
            <a:off x="4663440" y="91440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SAD, MAD, GLAD FRAMEWORK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8"/>
          <p:cNvSpPr/>
          <p:nvPr/>
        </p:nvSpPr>
        <p:spPr>
          <a:xfrm>
            <a:off x="4800600" y="1600200"/>
            <a:ext cx="3931560" cy="96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9"/>
          <p:cNvSpPr/>
          <p:nvPr/>
        </p:nvSpPr>
        <p:spPr>
          <a:xfrm>
            <a:off x="4800600" y="1600200"/>
            <a:ext cx="658080" cy="96876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4800600" y="1600200"/>
            <a:ext cx="658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😢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1"/>
          <p:cNvSpPr/>
          <p:nvPr/>
        </p:nvSpPr>
        <p:spPr>
          <a:xfrm>
            <a:off x="5532120" y="16732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d9be9"/>
                </a:solidFill>
                <a:latin typeface="Calibri"/>
              </a:rPr>
              <a:t>SAD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2"/>
          <p:cNvSpPr/>
          <p:nvPr/>
        </p:nvSpPr>
        <p:spPr>
          <a:xfrm>
            <a:off x="5532120" y="203904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was disappointing? Missed deadlines, unclear requirements, poor collaboration, or unexpected blockers.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3"/>
          <p:cNvSpPr/>
          <p:nvPr/>
        </p:nvSpPr>
        <p:spPr>
          <a:xfrm>
            <a:off x="4800600" y="2660760"/>
            <a:ext cx="3931560" cy="96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4"/>
          <p:cNvSpPr/>
          <p:nvPr/>
        </p:nvSpPr>
        <p:spPr>
          <a:xfrm>
            <a:off x="4800600" y="2660760"/>
            <a:ext cx="658080" cy="968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5"/>
          <p:cNvSpPr/>
          <p:nvPr/>
        </p:nvSpPr>
        <p:spPr>
          <a:xfrm>
            <a:off x="4800600" y="2660760"/>
            <a:ext cx="658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6"/>
          <p:cNvSpPr/>
          <p:nvPr/>
        </p:nvSpPr>
        <p:spPr>
          <a:xfrm>
            <a:off x="5532120" y="2734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533a"/>
                </a:solidFill>
                <a:latin typeface="Calibri"/>
              </a:rPr>
              <a:t>MAD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7"/>
          <p:cNvSpPr/>
          <p:nvPr/>
        </p:nvSpPr>
        <p:spPr>
          <a:xfrm>
            <a:off x="5532120" y="309996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was frustrating or anger-inducing? Repeated mistakes, ignored feedback, or process breakdowns.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8"/>
          <p:cNvSpPr/>
          <p:nvPr/>
        </p:nvSpPr>
        <p:spPr>
          <a:xfrm>
            <a:off x="4800600" y="3721680"/>
            <a:ext cx="3931560" cy="96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9"/>
          <p:cNvSpPr/>
          <p:nvPr/>
        </p:nvSpPr>
        <p:spPr>
          <a:xfrm>
            <a:off x="4800600" y="3721680"/>
            <a:ext cx="658080" cy="96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0"/>
          <p:cNvSpPr/>
          <p:nvPr/>
        </p:nvSpPr>
        <p:spPr>
          <a:xfrm>
            <a:off x="4800600" y="3721680"/>
            <a:ext cx="658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😊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1"/>
          <p:cNvSpPr/>
          <p:nvPr/>
        </p:nvSpPr>
        <p:spPr>
          <a:xfrm>
            <a:off x="5532120" y="37947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</a:rPr>
              <a:t>GLAD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2"/>
          <p:cNvSpPr/>
          <p:nvPr/>
        </p:nvSpPr>
        <p:spPr>
          <a:xfrm>
            <a:off x="5532120" y="416052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was exciting or encouraging? Milestones hit, great teamwork, positive surprises, or momentum built.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BENEFITS OF SPRINT RETROSPECTIVES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365760" y="8686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f5a623"/>
                </a:solidFill>
                <a:latin typeface="Calibri"/>
              </a:rPr>
              <a:t>RESEARCH-BACKED OUTCOMES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274320" y="1298520"/>
            <a:ext cx="4205880" cy="1325520"/>
          </a:xfrm>
          <a:prstGeom prst="rect">
            <a:avLst/>
          </a:prstGeom>
          <a:solidFill>
            <a:srgbClr val="182535"/>
          </a:solidFill>
          <a:ln w="254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274320" y="1298520"/>
            <a:ext cx="4205880" cy="5299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274320" y="129852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📈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Continuous Improvement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411480" y="187452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4f6f8"/>
                </a:solidFill>
                <a:latin typeface="Calibri"/>
              </a:rPr>
              <a:t>Building an action plan and following up on it in future meetings is critical for sustainable growth. Teams that run retros ship better software, faster.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4754880" y="1298520"/>
            <a:ext cx="4205880" cy="1325520"/>
          </a:xfrm>
          <a:prstGeom prst="rect">
            <a:avLst/>
          </a:prstGeom>
          <a:solidFill>
            <a:srgbClr val="182535"/>
          </a:solidFill>
          <a:ln w="254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4754880" y="1298520"/>
            <a:ext cx="4205880" cy="52992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4754880" y="129852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🪞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Team Reflexivity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4892040" y="187452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4f6f8"/>
                </a:solidFill>
                <a:latin typeface="Calibri"/>
              </a:rPr>
              <a:t>Reflexivity is how well a team reflects on its objectives, strategies, and processes. Teams with higher reflexivity are more innovative, adaptable, and effective.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365760" y="27248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3d9be9"/>
                </a:solidFill>
                <a:latin typeface="Calibri"/>
              </a:rPr>
              <a:t>HIGH REFLEXIVITY TEAMS ACHIEVE: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274320" y="3090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384120" y="3209400"/>
            <a:ext cx="237240" cy="23724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384120" y="3200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713160" y="3090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Better decision-making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3182040" y="3090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7"/>
          <p:cNvSpPr/>
          <p:nvPr/>
        </p:nvSpPr>
        <p:spPr>
          <a:xfrm>
            <a:off x="3291840" y="3209400"/>
            <a:ext cx="237240" cy="23724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3291840" y="3200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🧩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9"/>
          <p:cNvSpPr/>
          <p:nvPr/>
        </p:nvSpPr>
        <p:spPr>
          <a:xfrm>
            <a:off x="3620880" y="3090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Better problem-solving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20"/>
          <p:cNvSpPr/>
          <p:nvPr/>
        </p:nvSpPr>
        <p:spPr>
          <a:xfrm>
            <a:off x="6089760" y="3090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1"/>
          <p:cNvSpPr/>
          <p:nvPr/>
        </p:nvSpPr>
        <p:spPr>
          <a:xfrm>
            <a:off x="6199560" y="3209400"/>
            <a:ext cx="237240" cy="23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6199560" y="3200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🚀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3"/>
          <p:cNvSpPr/>
          <p:nvPr/>
        </p:nvSpPr>
        <p:spPr>
          <a:xfrm>
            <a:off x="6528960" y="3090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More effective strategy implementation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24"/>
          <p:cNvSpPr/>
          <p:nvPr/>
        </p:nvSpPr>
        <p:spPr>
          <a:xfrm>
            <a:off x="274320" y="3657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25"/>
          <p:cNvSpPr/>
          <p:nvPr/>
        </p:nvSpPr>
        <p:spPr>
          <a:xfrm>
            <a:off x="384120" y="3776400"/>
            <a:ext cx="237240" cy="23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384120" y="3767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📚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7"/>
          <p:cNvSpPr/>
          <p:nvPr/>
        </p:nvSpPr>
        <p:spPr>
          <a:xfrm>
            <a:off x="713160" y="3657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More team learning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28"/>
          <p:cNvSpPr/>
          <p:nvPr/>
        </p:nvSpPr>
        <p:spPr>
          <a:xfrm>
            <a:off x="3182040" y="3657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29"/>
          <p:cNvSpPr/>
          <p:nvPr/>
        </p:nvSpPr>
        <p:spPr>
          <a:xfrm>
            <a:off x="3291840" y="3776400"/>
            <a:ext cx="237240" cy="2372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30"/>
          <p:cNvSpPr/>
          <p:nvPr/>
        </p:nvSpPr>
        <p:spPr>
          <a:xfrm>
            <a:off x="3291840" y="3767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31"/>
          <p:cNvSpPr/>
          <p:nvPr/>
        </p:nvSpPr>
        <p:spPr>
          <a:xfrm>
            <a:off x="3620880" y="3657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More innovation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32"/>
          <p:cNvSpPr/>
          <p:nvPr/>
        </p:nvSpPr>
        <p:spPr>
          <a:xfrm>
            <a:off x="6089760" y="3657600"/>
            <a:ext cx="2742840" cy="475200"/>
          </a:xfrm>
          <a:prstGeom prst="rect">
            <a:avLst/>
          </a:prstGeom>
          <a:solidFill>
            <a:srgbClr val="182535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3"/>
          <p:cNvSpPr/>
          <p:nvPr/>
        </p:nvSpPr>
        <p:spPr>
          <a:xfrm>
            <a:off x="6199560" y="3776400"/>
            <a:ext cx="237240" cy="2372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4"/>
          <p:cNvSpPr/>
          <p:nvPr/>
        </p:nvSpPr>
        <p:spPr>
          <a:xfrm>
            <a:off x="6199560" y="3767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35"/>
          <p:cNvSpPr/>
          <p:nvPr/>
        </p:nvSpPr>
        <p:spPr>
          <a:xfrm>
            <a:off x="6528960" y="3657600"/>
            <a:ext cx="2212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4f6f8"/>
                </a:solidFill>
                <a:latin typeface="Calibri"/>
              </a:rPr>
              <a:t>More adaptability to change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148" strike="noStrike">
                <a:solidFill>
                  <a:srgbClr val="ffffff"/>
                </a:solidFill>
                <a:latin typeface="Calibri"/>
              </a:rPr>
              <a:t>KEY QUESTIONS TO ASK IN A SPRINT RETROSPECTIVE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274320" y="914400"/>
            <a:ext cx="4205880" cy="199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274320" y="914400"/>
            <a:ext cx="4205880" cy="502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274320" y="91440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🎉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WENT WELL?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438840" y="1563480"/>
            <a:ext cx="200880" cy="200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713160" y="148140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Which processes or practices worked best this sprint?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438840" y="1929240"/>
            <a:ext cx="200880" cy="200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713160" y="184716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team behaviours should we repeat and protect?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9"/>
          <p:cNvSpPr/>
          <p:nvPr/>
        </p:nvSpPr>
        <p:spPr>
          <a:xfrm>
            <a:off x="438840" y="2295000"/>
            <a:ext cx="200880" cy="200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713160" y="221292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Where did we exceed expectations or surprise ourselves?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438840" y="2660760"/>
            <a:ext cx="200880" cy="200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713160" y="257868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collaboration patterns energised the team?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3"/>
          <p:cNvSpPr/>
          <p:nvPr/>
        </p:nvSpPr>
        <p:spPr>
          <a:xfrm>
            <a:off x="4754880" y="914400"/>
            <a:ext cx="4205880" cy="199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4754880" y="914400"/>
            <a:ext cx="4205880" cy="5025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4754880" y="91440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WENT WRONG?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4919400" y="1563480"/>
            <a:ext cx="200880" cy="2008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5193720" y="148140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slowed the team down or caused friction?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4919400" y="1929240"/>
            <a:ext cx="200880" cy="2008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5193720" y="184716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Were there any blockers that went unresolved too long?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4919400" y="2295000"/>
            <a:ext cx="200880" cy="2008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5193720" y="221292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Where did communication break down or miss?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2"/>
          <p:cNvSpPr/>
          <p:nvPr/>
        </p:nvSpPr>
        <p:spPr>
          <a:xfrm>
            <a:off x="4919400" y="2660760"/>
            <a:ext cx="200880" cy="2008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5193720" y="257868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Which tasks took far longer than expected — and why?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4"/>
          <p:cNvSpPr/>
          <p:nvPr/>
        </p:nvSpPr>
        <p:spPr>
          <a:xfrm>
            <a:off x="274320" y="3017520"/>
            <a:ext cx="4205880" cy="199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274320" y="3017520"/>
            <a:ext cx="4205880" cy="50256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274320" y="301752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DID WE LEARN?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7"/>
          <p:cNvSpPr/>
          <p:nvPr/>
        </p:nvSpPr>
        <p:spPr>
          <a:xfrm>
            <a:off x="438840" y="3666600"/>
            <a:ext cx="200880" cy="20088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713160" y="358452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new insight emerged about our product or users?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9"/>
          <p:cNvSpPr/>
          <p:nvPr/>
        </p:nvSpPr>
        <p:spPr>
          <a:xfrm>
            <a:off x="438840" y="4032360"/>
            <a:ext cx="200880" cy="20088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713160" y="395028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process knowledge can we document for future teams?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438840" y="4398120"/>
            <a:ext cx="200880" cy="20088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713160" y="431604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experiment worked or failed — and what does that tell us?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33"/>
          <p:cNvSpPr/>
          <p:nvPr/>
        </p:nvSpPr>
        <p:spPr>
          <a:xfrm>
            <a:off x="438840" y="4763880"/>
            <a:ext cx="200880" cy="20088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4"/>
          <p:cNvSpPr/>
          <p:nvPr/>
        </p:nvSpPr>
        <p:spPr>
          <a:xfrm>
            <a:off x="713160" y="468180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should we do differently in the very next sprint?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5"/>
          <p:cNvSpPr/>
          <p:nvPr/>
        </p:nvSpPr>
        <p:spPr>
          <a:xfrm>
            <a:off x="4754880" y="3017520"/>
            <a:ext cx="4205880" cy="199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6"/>
          <p:cNvSpPr/>
          <p:nvPr/>
        </p:nvSpPr>
        <p:spPr>
          <a:xfrm>
            <a:off x="4754880" y="3017520"/>
            <a:ext cx="4205880" cy="502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37"/>
          <p:cNvSpPr/>
          <p:nvPr/>
        </p:nvSpPr>
        <p:spPr>
          <a:xfrm>
            <a:off x="4754880" y="301752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🔧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CAN WE IMPROVE?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8"/>
          <p:cNvSpPr/>
          <p:nvPr/>
        </p:nvSpPr>
        <p:spPr>
          <a:xfrm>
            <a:off x="4919400" y="366660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9"/>
          <p:cNvSpPr/>
          <p:nvPr/>
        </p:nvSpPr>
        <p:spPr>
          <a:xfrm>
            <a:off x="5193720" y="358452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ONE change would have the biggest positive impact?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0"/>
          <p:cNvSpPr/>
          <p:nvPr/>
        </p:nvSpPr>
        <p:spPr>
          <a:xfrm>
            <a:off x="4919400" y="403236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1"/>
          <p:cNvSpPr/>
          <p:nvPr/>
        </p:nvSpPr>
        <p:spPr>
          <a:xfrm>
            <a:off x="5193720" y="395028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Which team agreements need to be revisited or updated?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2"/>
          <p:cNvSpPr/>
          <p:nvPr/>
        </p:nvSpPr>
        <p:spPr>
          <a:xfrm>
            <a:off x="4919400" y="439812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3"/>
          <p:cNvSpPr/>
          <p:nvPr/>
        </p:nvSpPr>
        <p:spPr>
          <a:xfrm>
            <a:off x="5193720" y="431604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tools or resources could remove recurring obstacles?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4"/>
          <p:cNvSpPr/>
          <p:nvPr/>
        </p:nvSpPr>
        <p:spPr>
          <a:xfrm>
            <a:off x="4919400" y="476388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5"/>
          <p:cNvSpPr/>
          <p:nvPr/>
        </p:nvSpPr>
        <p:spPr>
          <a:xfrm>
            <a:off x="5193720" y="468180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d3b52"/>
                </a:solidFill>
                <a:latin typeface="Calibri"/>
              </a:rPr>
              <a:t>What actions can we take in the next sprint to improve?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TIPS FOR EFFECTIVE SPRINT RETROSPECTIVES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274320" y="91440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438840" y="1234440"/>
            <a:ext cx="502560" cy="50256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43884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🛡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1051560" y="10058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533a"/>
                </a:solidFill>
                <a:latin typeface="Calibri"/>
              </a:rPr>
              <a:t>Create Psychological Safety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051560" y="137160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Make it clear that feedback stays within the group unless agreed otherwise. Adopt the Chatham House Rule to help everyone feel safe sharing honestly.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4754880" y="91440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8"/>
          <p:cNvSpPr/>
          <p:nvPr/>
        </p:nvSpPr>
        <p:spPr>
          <a:xfrm>
            <a:off x="4919400" y="1234440"/>
            <a:ext cx="502560" cy="50256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9"/>
          <p:cNvSpPr/>
          <p:nvPr/>
        </p:nvSpPr>
        <p:spPr>
          <a:xfrm>
            <a:off x="4919400" y="1234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0"/>
          <p:cNvSpPr/>
          <p:nvPr/>
        </p:nvSpPr>
        <p:spPr>
          <a:xfrm>
            <a:off x="5532120" y="10058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d9be9"/>
                </a:solidFill>
                <a:latin typeface="Calibri"/>
              </a:rPr>
              <a:t>Avoid Blame Culture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5532120" y="137160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Focus on improving systems and processes — not finding fault with individuals. Frame conversations around 'what' happened, not 'who' caused it.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2"/>
          <p:cNvSpPr/>
          <p:nvPr/>
        </p:nvSpPr>
        <p:spPr>
          <a:xfrm>
            <a:off x="274320" y="230436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13"/>
          <p:cNvSpPr/>
          <p:nvPr/>
        </p:nvSpPr>
        <p:spPr>
          <a:xfrm>
            <a:off x="438840" y="2624400"/>
            <a:ext cx="502560" cy="502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4"/>
          <p:cNvSpPr/>
          <p:nvPr/>
        </p:nvSpPr>
        <p:spPr>
          <a:xfrm>
            <a:off x="438840" y="2624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5"/>
          <p:cNvSpPr/>
          <p:nvPr/>
        </p:nvSpPr>
        <p:spPr>
          <a:xfrm>
            <a:off x="1051560" y="23958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a623"/>
                </a:solidFill>
                <a:latin typeface="Calibri"/>
              </a:rPr>
              <a:t>Get Everyone Talking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6"/>
          <p:cNvSpPr/>
          <p:nvPr/>
        </p:nvSpPr>
        <p:spPr>
          <a:xfrm>
            <a:off x="1051560" y="276156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If one person dominates, actively call on quieter team members. Try anonymous input methods so all voices are heard equally — especially in remote teams.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7"/>
          <p:cNvSpPr/>
          <p:nvPr/>
        </p:nvSpPr>
        <p:spPr>
          <a:xfrm>
            <a:off x="4754880" y="230436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8"/>
          <p:cNvSpPr/>
          <p:nvPr/>
        </p:nvSpPr>
        <p:spPr>
          <a:xfrm>
            <a:off x="4919400" y="2624400"/>
            <a:ext cx="502560" cy="5025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9"/>
          <p:cNvSpPr/>
          <p:nvPr/>
        </p:nvSpPr>
        <p:spPr>
          <a:xfrm>
            <a:off x="4919400" y="2624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0"/>
          <p:cNvSpPr/>
          <p:nvPr/>
        </p:nvSpPr>
        <p:spPr>
          <a:xfrm>
            <a:off x="5532120" y="23958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c5f2d"/>
                </a:solidFill>
                <a:latin typeface="Calibri"/>
              </a:rPr>
              <a:t>Avoid One-Time Mistakes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1"/>
          <p:cNvSpPr/>
          <p:nvPr/>
        </p:nvSpPr>
        <p:spPr>
          <a:xfrm>
            <a:off x="5532120" y="276156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Don't waste retro time on isolated incidents that won't recur. Focus on systemic issues and patterns that affect multiple sprints.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2"/>
          <p:cNvSpPr/>
          <p:nvPr/>
        </p:nvSpPr>
        <p:spPr>
          <a:xfrm>
            <a:off x="274320" y="369432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3"/>
          <p:cNvSpPr/>
          <p:nvPr/>
        </p:nvSpPr>
        <p:spPr>
          <a:xfrm>
            <a:off x="438840" y="4014360"/>
            <a:ext cx="502560" cy="5025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4"/>
          <p:cNvSpPr/>
          <p:nvPr/>
        </p:nvSpPr>
        <p:spPr>
          <a:xfrm>
            <a:off x="438840" y="4014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5"/>
          <p:cNvSpPr/>
          <p:nvPr/>
        </p:nvSpPr>
        <p:spPr>
          <a:xfrm>
            <a:off x="1051560" y="37857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c3483"/>
                </a:solidFill>
                <a:latin typeface="Calibri"/>
              </a:rPr>
              <a:t>Focus on Actionable Outcomes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26"/>
          <p:cNvSpPr/>
          <p:nvPr/>
        </p:nvSpPr>
        <p:spPr>
          <a:xfrm>
            <a:off x="1051560" y="415152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Every retro should end with concrete action items — assigned to specific owners with deadlines. Vague resolutions never get done.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7"/>
          <p:cNvSpPr/>
          <p:nvPr/>
        </p:nvSpPr>
        <p:spPr>
          <a:xfrm>
            <a:off x="4754880" y="3694320"/>
            <a:ext cx="4205880" cy="1261440"/>
          </a:xfrm>
          <a:prstGeom prst="rect">
            <a:avLst/>
          </a:prstGeom>
          <a:solidFill>
            <a:srgbClr val="182535"/>
          </a:solidFill>
          <a:ln w="12700">
            <a:solidFill>
              <a:srgbClr val="1abc9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8"/>
          <p:cNvSpPr/>
          <p:nvPr/>
        </p:nvSpPr>
        <p:spPr>
          <a:xfrm>
            <a:off x="4919400" y="4014360"/>
            <a:ext cx="502560" cy="5025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9"/>
          <p:cNvSpPr/>
          <p:nvPr/>
        </p:nvSpPr>
        <p:spPr>
          <a:xfrm>
            <a:off x="4919400" y="4014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📝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0"/>
          <p:cNvSpPr/>
          <p:nvPr/>
        </p:nvSpPr>
        <p:spPr>
          <a:xfrm>
            <a:off x="5532120" y="37857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bc9c"/>
                </a:solidFill>
                <a:latin typeface="Calibri"/>
              </a:rPr>
              <a:t>Document Everything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1"/>
          <p:cNvSpPr/>
          <p:nvPr/>
        </p:nvSpPr>
        <p:spPr>
          <a:xfrm>
            <a:off x="5532120" y="415152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4f6f8"/>
                </a:solidFill>
                <a:latin typeface="Calibri"/>
              </a:rPr>
              <a:t>Use Confluence or your PM tool to record insights and action items. Follow up on previous retro actions at the start of the next retrospective.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TOOLS &amp; RESOURCES FOR RETROSPECTIVES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274320" y="914400"/>
            <a:ext cx="8595000" cy="658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457200" y="91440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WHAT YOU NEED: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4"/>
          <p:cNvSpPr/>
          <p:nvPr/>
        </p:nvSpPr>
        <p:spPr>
          <a:xfrm>
            <a:off x="2606040" y="114300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2880360" y="1051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Meeting space or video conferencing + screen sharing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4709160" y="114300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4983480" y="1051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Digital collaboration tool (see templates)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6812280" y="1143000"/>
            <a:ext cx="200880" cy="200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7086600" y="1051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f6f8"/>
                </a:solidFill>
                <a:latin typeface="Calibri"/>
              </a:rPr>
              <a:t>Optional: physical whiteboard, markers, sticky notes &amp; timer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0"/>
          <p:cNvSpPr/>
          <p:nvPr/>
        </p:nvSpPr>
        <p:spPr>
          <a:xfrm>
            <a:off x="274320" y="171900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9be9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1"/>
          <p:cNvSpPr/>
          <p:nvPr/>
        </p:nvSpPr>
        <p:spPr>
          <a:xfrm>
            <a:off x="274320" y="1719000"/>
            <a:ext cx="685440" cy="126144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274320" y="171900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1051560" y="181044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d9be9"/>
                </a:solidFill>
                <a:latin typeface="Calibri"/>
              </a:rPr>
              <a:t>Confluence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4"/>
          <p:cNvSpPr/>
          <p:nvPr/>
        </p:nvSpPr>
        <p:spPr>
          <a:xfrm>
            <a:off x="1051560" y="217620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Retrospective templates, action item tracking, documentation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5"/>
          <p:cNvSpPr/>
          <p:nvPr/>
        </p:nvSpPr>
        <p:spPr>
          <a:xfrm>
            <a:off x="3182040" y="171900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33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6"/>
          <p:cNvSpPr/>
          <p:nvPr/>
        </p:nvSpPr>
        <p:spPr>
          <a:xfrm>
            <a:off x="3182040" y="1719000"/>
            <a:ext cx="685440" cy="126144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3182040" y="171900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J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3959280" y="181044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533a"/>
                </a:solidFill>
                <a:latin typeface="Calibri"/>
              </a:rPr>
              <a:t>Jira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3959280" y="217620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Backlog management, sprint boards, timelines, and release tracking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20"/>
          <p:cNvSpPr/>
          <p:nvPr/>
        </p:nvSpPr>
        <p:spPr>
          <a:xfrm>
            <a:off x="6089760" y="171900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1"/>
          <p:cNvSpPr/>
          <p:nvPr/>
        </p:nvSpPr>
        <p:spPr>
          <a:xfrm>
            <a:off x="6089760" y="1719000"/>
            <a:ext cx="685440" cy="126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6089760" y="171900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6867000" y="181044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a623"/>
                </a:solidFill>
                <a:latin typeface="Calibri"/>
              </a:rPr>
              <a:t>Whiteboard Tool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6867000" y="217620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wb.new/t/simple-retrospective — collaborative retro board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5"/>
          <p:cNvSpPr/>
          <p:nvPr/>
        </p:nvSpPr>
        <p:spPr>
          <a:xfrm>
            <a:off x="274320" y="310896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6"/>
          <p:cNvSpPr/>
          <p:nvPr/>
        </p:nvSpPr>
        <p:spPr>
          <a:xfrm>
            <a:off x="274320" y="3108960"/>
            <a:ext cx="685440" cy="126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274320" y="310896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8"/>
          <p:cNvSpPr/>
          <p:nvPr/>
        </p:nvSpPr>
        <p:spPr>
          <a:xfrm>
            <a:off x="1051560" y="32004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</a:rPr>
              <a:t>Loom AI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1051560" y="356616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Record the session, auto-capture notes so team can focus fully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30"/>
          <p:cNvSpPr/>
          <p:nvPr/>
        </p:nvSpPr>
        <p:spPr>
          <a:xfrm>
            <a:off x="3182040" y="310896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48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31"/>
          <p:cNvSpPr/>
          <p:nvPr/>
        </p:nvSpPr>
        <p:spPr>
          <a:xfrm>
            <a:off x="3182040" y="3108960"/>
            <a:ext cx="685440" cy="1261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32"/>
          <p:cNvSpPr/>
          <p:nvPr/>
        </p:nvSpPr>
        <p:spPr>
          <a:xfrm>
            <a:off x="3182040" y="310896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33"/>
          <p:cNvSpPr/>
          <p:nvPr/>
        </p:nvSpPr>
        <p:spPr>
          <a:xfrm>
            <a:off x="3959280" y="32004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c3483"/>
                </a:solidFill>
                <a:latin typeface="Calibri"/>
              </a:rPr>
              <a:t>Rovo (AI)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34"/>
          <p:cNvSpPr/>
          <p:nvPr/>
        </p:nvSpPr>
        <p:spPr>
          <a:xfrm>
            <a:off x="3959280" y="356616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Summarize sprint docs, surface insights, generate action items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5"/>
          <p:cNvSpPr/>
          <p:nvPr/>
        </p:nvSpPr>
        <p:spPr>
          <a:xfrm>
            <a:off x="6089760" y="3108960"/>
            <a:ext cx="2788560" cy="1261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6"/>
          <p:cNvSpPr/>
          <p:nvPr/>
        </p:nvSpPr>
        <p:spPr>
          <a:xfrm>
            <a:off x="6089760" y="3108960"/>
            <a:ext cx="685440" cy="126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37"/>
          <p:cNvSpPr/>
          <p:nvPr/>
        </p:nvSpPr>
        <p:spPr>
          <a:xfrm>
            <a:off x="6089760" y="3108960"/>
            <a:ext cx="685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38"/>
          <p:cNvSpPr/>
          <p:nvPr/>
        </p:nvSpPr>
        <p:spPr>
          <a:xfrm>
            <a:off x="6867000" y="32004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bc9c"/>
                </a:solidFill>
                <a:latin typeface="Calibri"/>
              </a:rPr>
              <a:t>4Ls Template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9"/>
          <p:cNvSpPr/>
          <p:nvPr/>
        </p:nvSpPr>
        <p:spPr>
          <a:xfrm>
            <a:off x="6867000" y="3566160"/>
            <a:ext cx="18741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3b52"/>
                </a:solidFill>
                <a:latin typeface="Calibri"/>
              </a:rPr>
              <a:t>Loved / Loathed / Learned / Longed For — structured retro framework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-1645920" y="2286000"/>
            <a:ext cx="4114440" cy="4114440"/>
          </a:xfrm>
          <a:prstGeom prst="ellips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7315200" y="-914400"/>
            <a:ext cx="3840120" cy="3840120"/>
          </a:xfrm>
          <a:prstGeom prst="ellipse">
            <a:avLst/>
          </a:prstGeom>
          <a:solidFill>
            <a:srgbClr val="e8533a">
              <a:alpha val="22000"/>
            </a:srgbClr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9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411480" y="96012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6"/>
          <p:cNvSpPr/>
          <p:nvPr/>
        </p:nvSpPr>
        <p:spPr>
          <a:xfrm>
            <a:off x="502920" y="1078920"/>
            <a:ext cx="328680" cy="32868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502920" y="10789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960120" y="96012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A sprint is a fixed 1–4 week iteration — the heartbeat of Agile delivery — ending with a working product increment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9"/>
          <p:cNvSpPr/>
          <p:nvPr/>
        </p:nvSpPr>
        <p:spPr>
          <a:xfrm>
            <a:off x="411480" y="162756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10"/>
          <p:cNvSpPr/>
          <p:nvPr/>
        </p:nvSpPr>
        <p:spPr>
          <a:xfrm>
            <a:off x="502920" y="1746360"/>
            <a:ext cx="328680" cy="328680"/>
          </a:xfrm>
          <a:prstGeom prst="ellipse">
            <a:avLst/>
          </a:prstGeom>
          <a:solidFill>
            <a:srgbClr val="3d9be9"/>
          </a:solidFill>
          <a:ln w="12700">
            <a:solidFill>
              <a:srgbClr val="3d9b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502920" y="1746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960120" y="162756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A sprint retrospective reviews the last sprint to capture what worked, what didn't, and how to improve going forward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411480" y="229500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14"/>
          <p:cNvSpPr/>
          <p:nvPr/>
        </p:nvSpPr>
        <p:spPr>
          <a:xfrm>
            <a:off x="502920" y="2414160"/>
            <a:ext cx="328680" cy="32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502920" y="2414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960120" y="229500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Run retros at the end of every sprint (or every 2nd sprint for 1-week sprints) — duration: 45 minutes to 3 hours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411480" y="296280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18"/>
          <p:cNvSpPr/>
          <p:nvPr/>
        </p:nvSpPr>
        <p:spPr>
          <a:xfrm>
            <a:off x="502920" y="3081600"/>
            <a:ext cx="328680" cy="328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9"/>
          <p:cNvSpPr/>
          <p:nvPr/>
        </p:nvSpPr>
        <p:spPr>
          <a:xfrm>
            <a:off x="502920" y="3081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960120" y="296280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Use frameworks like 4Ls (Loved/Loathed/Learned/Longed For) or Sad/Mad/Glad to structure open, honest feedback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1"/>
          <p:cNvSpPr/>
          <p:nvPr/>
        </p:nvSpPr>
        <p:spPr>
          <a:xfrm>
            <a:off x="411480" y="363024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502920" y="3749040"/>
            <a:ext cx="328680" cy="32868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3"/>
          <p:cNvSpPr/>
          <p:nvPr/>
        </p:nvSpPr>
        <p:spPr>
          <a:xfrm>
            <a:off x="502920" y="37490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4"/>
          <p:cNvSpPr/>
          <p:nvPr/>
        </p:nvSpPr>
        <p:spPr>
          <a:xfrm>
            <a:off x="960120" y="363024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Retrospectives build team reflexivity — leading to better decisions, faster adaptation, and continuous improvement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25"/>
          <p:cNvSpPr/>
          <p:nvPr/>
        </p:nvSpPr>
        <p:spPr>
          <a:xfrm>
            <a:off x="411480" y="4297680"/>
            <a:ext cx="8320680" cy="56664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26"/>
          <p:cNvSpPr/>
          <p:nvPr/>
        </p:nvSpPr>
        <p:spPr>
          <a:xfrm>
            <a:off x="502920" y="4416480"/>
            <a:ext cx="328680" cy="3286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502920" y="44164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28"/>
          <p:cNvSpPr/>
          <p:nvPr/>
        </p:nvSpPr>
        <p:spPr>
          <a:xfrm>
            <a:off x="960120" y="4297680"/>
            <a:ext cx="7607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4f6f8"/>
                </a:solidFill>
                <a:latin typeface="Calibri"/>
              </a:rPr>
              <a:t>Always close with concrete, owner-assigned action items — vague resolutions never improve future sprints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2026-04-09T03:18:30Z</dcterms:created>
  <dc:creator>PptxGenJS</dc:creator>
  <dc:description/>
  <dc:language>en-US</dc:language>
  <cp:lastModifiedBy/>
  <dcterms:modified xsi:type="dcterms:W3CDTF">2026-04-10T10:46:05Z</dcterms:modified>
  <cp:revision>3</cp:revision>
  <dc:subject>PptxGenJS Presentation</dc:subject>
  <dc:title>Sprint Retrospective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