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a:t>
            </a:r>
            <a:r>
              <a:rPr b="0" lang="en-US" sz="1800" spc="-1" strike="noStrike">
                <a:solidFill>
                  <a:schemeClr val="dk1"/>
                </a:solidFill>
                <a:latin typeface="Calibri"/>
              </a:rPr>
              <a:t>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a:t>
            </a:r>
            <a:r>
              <a:rPr b="0" lang="en-US" sz="2000" spc="-1" strike="noStrike">
                <a:solidFill>
                  <a:srgbClr val="000000"/>
                </a:solidFill>
                <a:latin typeface="Arial"/>
              </a:rPr>
              <a:t>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4835459-5E36-46A7-B11C-96C9B8089A8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685800" y="1143000"/>
            <a:ext cx="5486040" cy="3085920"/>
          </a:xfrm>
          <a:prstGeom prst="rect">
            <a:avLst/>
          </a:prstGeom>
          <a:ln w="0">
            <a:noFill/>
          </a:ln>
        </p:spPr>
      </p:sp>
      <p:sp>
        <p:nvSpPr>
          <p:cNvPr id="3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67"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B1AD2CE-1668-4C8D-8350-DEDD042A4F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685800" y="1143000"/>
            <a:ext cx="5486040" cy="3085920"/>
          </a:xfrm>
          <a:prstGeom prst="rect">
            <a:avLst/>
          </a:prstGeom>
          <a:ln w="0">
            <a:noFill/>
          </a:ln>
        </p:spPr>
      </p:sp>
      <p:sp>
        <p:nvSpPr>
          <p:cNvPr id="3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70"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4841FAE-F0FF-488B-A76B-EF001A9E392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685800" y="1143000"/>
            <a:ext cx="5486040" cy="3085920"/>
          </a:xfrm>
          <a:prstGeom prst="rect">
            <a:avLst/>
          </a:prstGeom>
          <a:ln w="0">
            <a:noFill/>
          </a:ln>
        </p:spPr>
      </p:sp>
      <p:sp>
        <p:nvSpPr>
          <p:cNvPr id="3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73"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5B0BA9E-5703-4A1A-8F47-3F9D0DC4A5F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685800" y="1143000"/>
            <a:ext cx="5486040" cy="3085920"/>
          </a:xfrm>
          <a:prstGeom prst="rect">
            <a:avLst/>
          </a:prstGeom>
          <a:ln w="0">
            <a:noFill/>
          </a:ln>
        </p:spPr>
      </p:sp>
      <p:sp>
        <p:nvSpPr>
          <p:cNvPr id="3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7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F1A42FD-85A0-443B-9105-AB05133D1F9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685800" y="1143000"/>
            <a:ext cx="5486040" cy="3085920"/>
          </a:xfrm>
          <a:prstGeom prst="rect">
            <a:avLst/>
          </a:prstGeom>
          <a:ln w="0">
            <a:noFill/>
          </a:ln>
        </p:spPr>
      </p:sp>
      <p:sp>
        <p:nvSpPr>
          <p:cNvPr id="3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7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9AE99F0-3422-4BE1-87F1-16E0F5CBBF6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685800" y="1143000"/>
            <a:ext cx="5486040" cy="3085920"/>
          </a:xfrm>
          <a:prstGeom prst="rect">
            <a:avLst/>
          </a:prstGeom>
          <a:ln w="0">
            <a:noFill/>
          </a:ln>
        </p:spPr>
      </p:sp>
      <p:sp>
        <p:nvSpPr>
          <p:cNvPr id="3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8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3CAA104-88F2-459A-A4F8-070EB7C77BA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685800" y="1143000"/>
            <a:ext cx="5486040" cy="3085920"/>
          </a:xfrm>
          <a:prstGeom prst="rect">
            <a:avLst/>
          </a:prstGeom>
          <a:ln w="0">
            <a:noFill/>
          </a:ln>
        </p:spPr>
      </p:sp>
      <p:sp>
        <p:nvSpPr>
          <p:cNvPr id="3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8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1D5F352-6ABA-47CD-86B7-6EDB40AA74F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685800" y="1143000"/>
            <a:ext cx="5486040" cy="3085920"/>
          </a:xfrm>
          <a:prstGeom prst="rect">
            <a:avLst/>
          </a:prstGeom>
          <a:ln w="0">
            <a:noFill/>
          </a:ln>
        </p:spPr>
      </p:sp>
      <p:sp>
        <p:nvSpPr>
          <p:cNvPr id="3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8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89A538A-3B6C-45BB-B913-4E419DCA6E4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685800" y="1143000"/>
            <a:ext cx="5486040" cy="3085920"/>
          </a:xfrm>
          <a:prstGeom prst="rect">
            <a:avLst/>
          </a:prstGeom>
          <a:ln w="0">
            <a:noFill/>
          </a:ln>
        </p:spPr>
      </p:sp>
      <p:sp>
        <p:nvSpPr>
          <p:cNvPr id="3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91"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AE2BE99-F875-4FB1-B9F3-27567D9EB47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685800" y="1143000"/>
            <a:ext cx="5486040" cy="3085920"/>
          </a:xfrm>
          <a:prstGeom prst="rect">
            <a:avLst/>
          </a:prstGeom>
          <a:ln w="0">
            <a:noFill/>
          </a:ln>
        </p:spPr>
      </p:sp>
      <p:sp>
        <p:nvSpPr>
          <p:cNvPr id="3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94"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DB7D3CC-A13E-49D9-B9A6-7D29681CA8F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a:t>
            </a:r>
            <a:r>
              <a:rPr b="0" lang="en-US" sz="1800" spc="-1" strike="noStrike">
                <a:solidFill>
                  <a:schemeClr val="dk1"/>
                </a:solidFill>
                <a:latin typeface="Calibri"/>
              </a:rPr>
              <a:t>k </a:t>
            </a:r>
            <a:r>
              <a:rPr b="0" lang="en-US" sz="1800" spc="-1" strike="noStrike">
                <a:solidFill>
                  <a:schemeClr val="dk1"/>
                </a:solidFill>
                <a:latin typeface="Calibri"/>
              </a:rPr>
              <a:t>to </a:t>
            </a:r>
            <a:r>
              <a:rPr b="0" lang="en-US" sz="1800" spc="-1" strike="noStrike">
                <a:solidFill>
                  <a:schemeClr val="dk1"/>
                </a:solidFill>
                <a:latin typeface="Calibri"/>
              </a:rPr>
              <a:t>edi</a:t>
            </a:r>
            <a:r>
              <a:rPr b="0" lang="en-US" sz="1800" spc="-1" strike="noStrike">
                <a:solidFill>
                  <a:schemeClr val="dk1"/>
                </a:solidFill>
                <a:latin typeface="Calibri"/>
              </a:rPr>
              <a:t>t </a:t>
            </a:r>
            <a:r>
              <a:rPr b="0" lang="en-US" sz="1800" spc="-1" strike="noStrike">
                <a:solidFill>
                  <a:schemeClr val="dk1"/>
                </a:solidFill>
                <a:latin typeface="Calibri"/>
              </a:rPr>
              <a:t>the </a:t>
            </a:r>
            <a:r>
              <a:rPr b="0" lang="en-US" sz="1800" spc="-1" strike="noStrike">
                <a:solidFill>
                  <a:schemeClr val="dk1"/>
                </a:solidFill>
                <a:latin typeface="Calibri"/>
              </a:rPr>
              <a:t>titl</a:t>
            </a:r>
            <a:r>
              <a:rPr b="0" lang="en-US" sz="1800" spc="-1" strike="noStrike">
                <a:solidFill>
                  <a:schemeClr val="dk1"/>
                </a:solidFill>
                <a:latin typeface="Calibri"/>
              </a:rPr>
              <a:t>e </a:t>
            </a:r>
            <a:r>
              <a:rPr b="0" lang="en-US" sz="1800" spc="-1" strike="noStrike">
                <a:solidFill>
                  <a:schemeClr val="dk1"/>
                </a:solidFill>
                <a:latin typeface="Calibri"/>
              </a:rPr>
              <a:t>tex</a:t>
            </a:r>
            <a:r>
              <a:rPr b="0" lang="en-US" sz="1800" spc="-1" strike="noStrike">
                <a:solidFill>
                  <a:schemeClr val="dk1"/>
                </a:solidFill>
                <a:latin typeface="Calibri"/>
              </a:rPr>
              <a:t>t </a:t>
            </a:r>
            <a:r>
              <a:rPr b="0" lang="en-US" sz="1800" spc="-1" strike="noStrike">
                <a:solidFill>
                  <a:schemeClr val="dk1"/>
                </a:solidFill>
                <a:latin typeface="Calibri"/>
              </a:rPr>
              <a:t>for</a:t>
            </a:r>
            <a:r>
              <a:rPr b="0" lang="en-US" sz="1800" spc="-1" strike="noStrike">
                <a:solidFill>
                  <a:schemeClr val="dk1"/>
                </a:solidFill>
                <a:latin typeface="Calibri"/>
              </a:rPr>
              <a:t>ma</a:t>
            </a:r>
            <a:r>
              <a:rPr b="0" lang="en-US" sz="1800" spc="-1" strike="noStrike">
                <a:solidFill>
                  <a:schemeClr val="dk1"/>
                </a:solidFill>
                <a:latin typeface="Calibri"/>
              </a:rPr>
              <a:t>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c2e"/>
        </a:solidFill>
      </p:bgPr>
    </p:bg>
    <p:spTree>
      <p:nvGrpSpPr>
        <p:cNvPr id="1" name=""/>
        <p:cNvGrpSpPr/>
        <p:nvPr/>
      </p:nvGrpSpPr>
      <p:grpSpPr>
        <a:xfrm>
          <a:off x="0" y="0"/>
          <a:ext cx="0" cy="0"/>
          <a:chOff x="0" y="0"/>
          <a:chExt cx="0" cy="0"/>
        </a:xfrm>
      </p:grpSpPr>
      <p:sp>
        <p:nvSpPr>
          <p:cNvPr id="8" name="Shape 0"/>
          <p:cNvSpPr/>
          <p:nvPr/>
        </p:nvSpPr>
        <p:spPr>
          <a:xfrm>
            <a:off x="5943600" y="0"/>
            <a:ext cx="3200040" cy="5143320"/>
          </a:xfrm>
          <a:prstGeom prst="rect">
            <a:avLst/>
          </a:prstGeom>
          <a:solidFill>
            <a:srgbClr val="1a3050"/>
          </a:solidFill>
          <a:ln w="12700">
            <a:solidFill>
              <a:srgbClr val="1a305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5943600" y="0"/>
            <a:ext cx="3200040" cy="1714320"/>
          </a:xfrm>
          <a:prstGeom prst="rect">
            <a:avLst/>
          </a:prstGeom>
          <a:solidFill>
            <a:srgbClr val="e8533a">
              <a:alpha val="75000"/>
            </a:srgbClr>
          </a:solidFill>
          <a:ln w="12700">
            <a:solidFill>
              <a:srgbClr val="e8533a">
                <a:alpha val="7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Shape 2"/>
          <p:cNvSpPr/>
          <p:nvPr/>
        </p:nvSpPr>
        <p:spPr>
          <a:xfrm>
            <a:off x="5943600" y="1714680"/>
            <a:ext cx="3200040" cy="1714320"/>
          </a:xfrm>
          <a:prstGeom prst="rect">
            <a:avLst/>
          </a:prstGeom>
          <a:solidFill>
            <a:srgbClr val="1e8a6e">
              <a:alpha val="75000"/>
            </a:srgbClr>
          </a:solidFill>
          <a:ln w="12700">
            <a:solidFill>
              <a:srgbClr val="1e8a6e">
                <a:alpha val="7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Shape 3"/>
          <p:cNvSpPr/>
          <p:nvPr/>
        </p:nvSpPr>
        <p:spPr>
          <a:xfrm>
            <a:off x="5943600" y="3429000"/>
            <a:ext cx="3200040" cy="1714320"/>
          </a:xfrm>
          <a:prstGeom prst="rect">
            <a:avLst/>
          </a:prstGeom>
          <a:solidFill>
            <a:srgbClr val="2e6db4">
              <a:alpha val="75000"/>
            </a:srgbClr>
          </a:solidFill>
          <a:ln w="12700">
            <a:solidFill>
              <a:srgbClr val="2e6db4">
                <a:alpha val="7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Text 4"/>
          <p:cNvSpPr/>
          <p:nvPr/>
        </p:nvSpPr>
        <p:spPr>
          <a:xfrm>
            <a:off x="6035040" y="274320"/>
            <a:ext cx="3017160" cy="1416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200" spc="-1" strike="noStrike">
                <a:solidFill>
                  <a:srgbClr val="ffffff"/>
                </a:solidFill>
                <a:latin typeface="Calibri"/>
                <a:ea typeface="Calibri"/>
              </a:rPr>
              <a:t>PRODUCT</a:t>
            </a:r>
            <a:endParaRPr b="0" lang="en-US" sz="2200" spc="-1" strike="noStrike">
              <a:solidFill>
                <a:srgbClr val="ffffff"/>
              </a:solidFill>
              <a:latin typeface="Arial"/>
            </a:endParaRPr>
          </a:p>
          <a:p>
            <a:pPr algn="ctr" defTabSz="914400">
              <a:lnSpc>
                <a:spcPct val="100000"/>
              </a:lnSpc>
              <a:tabLst>
                <a:tab algn="l" pos="0"/>
              </a:tabLst>
            </a:pPr>
            <a:r>
              <a:rPr b="1" lang="en-US" sz="2200" spc="-1" strike="noStrike">
                <a:solidFill>
                  <a:srgbClr val="ffffff"/>
                </a:solidFill>
                <a:latin typeface="Calibri"/>
                <a:ea typeface="Calibri"/>
              </a:rPr>
              <a:t>OWNER</a:t>
            </a:r>
            <a:endParaRPr b="0" lang="en-US" sz="2200" spc="-1" strike="noStrike">
              <a:solidFill>
                <a:srgbClr val="ffffff"/>
              </a:solidFill>
              <a:latin typeface="Arial"/>
            </a:endParaRPr>
          </a:p>
        </p:txBody>
      </p:sp>
      <p:sp>
        <p:nvSpPr>
          <p:cNvPr id="13" name="Text 5"/>
          <p:cNvSpPr/>
          <p:nvPr/>
        </p:nvSpPr>
        <p:spPr>
          <a:xfrm>
            <a:off x="6035040" y="1989000"/>
            <a:ext cx="3017160" cy="1416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200" spc="-1" strike="noStrike">
                <a:solidFill>
                  <a:srgbClr val="ffffff"/>
                </a:solidFill>
                <a:latin typeface="Calibri"/>
                <a:ea typeface="Calibri"/>
              </a:rPr>
              <a:t>SCRUM</a:t>
            </a:r>
            <a:endParaRPr b="0" lang="en-US" sz="2200" spc="-1" strike="noStrike">
              <a:solidFill>
                <a:srgbClr val="ffffff"/>
              </a:solidFill>
              <a:latin typeface="Arial"/>
            </a:endParaRPr>
          </a:p>
          <a:p>
            <a:pPr algn="ctr" defTabSz="914400">
              <a:lnSpc>
                <a:spcPct val="100000"/>
              </a:lnSpc>
              <a:tabLst>
                <a:tab algn="l" pos="0"/>
              </a:tabLst>
            </a:pPr>
            <a:r>
              <a:rPr b="1" lang="en-US" sz="2200" spc="-1" strike="noStrike">
                <a:solidFill>
                  <a:srgbClr val="ffffff"/>
                </a:solidFill>
                <a:latin typeface="Calibri"/>
                <a:ea typeface="Calibri"/>
              </a:rPr>
              <a:t>MASTER</a:t>
            </a:r>
            <a:endParaRPr b="0" lang="en-US" sz="2200" spc="-1" strike="noStrike">
              <a:solidFill>
                <a:srgbClr val="ffffff"/>
              </a:solidFill>
              <a:latin typeface="Arial"/>
            </a:endParaRPr>
          </a:p>
        </p:txBody>
      </p:sp>
      <p:sp>
        <p:nvSpPr>
          <p:cNvPr id="14" name="Text 6"/>
          <p:cNvSpPr/>
          <p:nvPr/>
        </p:nvSpPr>
        <p:spPr>
          <a:xfrm>
            <a:off x="6035040" y="3703320"/>
            <a:ext cx="3017160" cy="1416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200" spc="-1" strike="noStrike">
                <a:solidFill>
                  <a:srgbClr val="ffffff"/>
                </a:solidFill>
                <a:latin typeface="Calibri"/>
                <a:ea typeface="Calibri"/>
              </a:rPr>
              <a:t>DEVELOPMENT</a:t>
            </a:r>
            <a:endParaRPr b="0" lang="en-US" sz="2200" spc="-1" strike="noStrike">
              <a:solidFill>
                <a:srgbClr val="ffffff"/>
              </a:solidFill>
              <a:latin typeface="Arial"/>
            </a:endParaRPr>
          </a:p>
          <a:p>
            <a:pPr algn="ctr" defTabSz="914400">
              <a:lnSpc>
                <a:spcPct val="100000"/>
              </a:lnSpc>
              <a:tabLst>
                <a:tab algn="l" pos="0"/>
              </a:tabLst>
            </a:pPr>
            <a:r>
              <a:rPr b="1" lang="en-US" sz="2200" spc="-1" strike="noStrike">
                <a:solidFill>
                  <a:srgbClr val="ffffff"/>
                </a:solidFill>
                <a:latin typeface="Calibri"/>
                <a:ea typeface="Calibri"/>
              </a:rPr>
              <a:t>TEAM</a:t>
            </a:r>
            <a:endParaRPr b="0" lang="en-US" sz="2200" spc="-1" strike="noStrike">
              <a:solidFill>
                <a:srgbClr val="ffffff"/>
              </a:solidFill>
              <a:latin typeface="Arial"/>
            </a:endParaRPr>
          </a:p>
        </p:txBody>
      </p:sp>
      <p:sp>
        <p:nvSpPr>
          <p:cNvPr id="15" name="Shape 7"/>
          <p:cNvSpPr/>
          <p:nvPr/>
        </p:nvSpPr>
        <p:spPr>
          <a:xfrm>
            <a:off x="0" y="0"/>
            <a:ext cx="200880" cy="5143320"/>
          </a:xfrm>
          <a:prstGeom prst="rect">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Shape 8"/>
          <p:cNvSpPr/>
          <p:nvPr/>
        </p:nvSpPr>
        <p:spPr>
          <a:xfrm>
            <a:off x="457200" y="914400"/>
            <a:ext cx="3200040" cy="347040"/>
          </a:xfrm>
          <a:prstGeom prst="rect">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Text 9"/>
          <p:cNvSpPr/>
          <p:nvPr/>
        </p:nvSpPr>
        <p:spPr>
          <a:xfrm>
            <a:off x="457200" y="914400"/>
            <a:ext cx="32000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99" strike="noStrike">
                <a:solidFill>
                  <a:srgbClr val="ffffff"/>
                </a:solidFill>
                <a:latin typeface="Calibri"/>
              </a:rPr>
              <a:t> </a:t>
            </a:r>
            <a:r>
              <a:rPr b="1" lang="en-US" sz="950" spc="199" strike="noStrike">
                <a:solidFill>
                  <a:srgbClr val="ffffff"/>
                </a:solidFill>
                <a:latin typeface="Calibri"/>
              </a:rPr>
              <a:t>AGILE GUIDE</a:t>
            </a:r>
            <a:endParaRPr b="0" lang="en-US" sz="950" spc="-1" strike="noStrike">
              <a:solidFill>
                <a:srgbClr val="ffffff"/>
              </a:solidFill>
              <a:latin typeface="Arial"/>
            </a:endParaRPr>
          </a:p>
        </p:txBody>
      </p:sp>
      <p:sp>
        <p:nvSpPr>
          <p:cNvPr id="18" name="Text 10"/>
          <p:cNvSpPr/>
          <p:nvPr/>
        </p:nvSpPr>
        <p:spPr>
          <a:xfrm>
            <a:off x="457200" y="1371600"/>
            <a:ext cx="576036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6800" spc="97" strike="noStrike">
                <a:solidFill>
                  <a:srgbClr val="ffffff"/>
                </a:solidFill>
                <a:latin typeface="Calibri"/>
                <a:ea typeface="Calibri"/>
              </a:rPr>
              <a:t>AGILE</a:t>
            </a:r>
            <a:endParaRPr b="0" lang="en-US" sz="6800" spc="-1" strike="noStrike">
              <a:solidFill>
                <a:srgbClr val="ffffff"/>
              </a:solidFill>
              <a:latin typeface="Arial"/>
            </a:endParaRPr>
          </a:p>
          <a:p>
            <a:pPr defTabSz="914400">
              <a:lnSpc>
                <a:spcPct val="100000"/>
              </a:lnSpc>
              <a:tabLst>
                <a:tab algn="l" pos="0"/>
              </a:tabLst>
            </a:pPr>
            <a:r>
              <a:rPr b="1" lang="en-US" sz="6800" spc="97" strike="noStrike">
                <a:solidFill>
                  <a:srgbClr val="ffffff"/>
                </a:solidFill>
                <a:latin typeface="Calibri"/>
                <a:ea typeface="Calibri"/>
              </a:rPr>
              <a:t>SCRUM</a:t>
            </a:r>
            <a:endParaRPr b="0" lang="en-US" sz="6800" spc="-1" strike="noStrike">
              <a:solidFill>
                <a:srgbClr val="ffffff"/>
              </a:solidFill>
              <a:latin typeface="Arial"/>
            </a:endParaRPr>
          </a:p>
          <a:p>
            <a:pPr defTabSz="914400">
              <a:lnSpc>
                <a:spcPct val="100000"/>
              </a:lnSpc>
              <a:tabLst>
                <a:tab algn="l" pos="0"/>
              </a:tabLst>
            </a:pPr>
            <a:r>
              <a:rPr b="1" lang="en-US" sz="6800" spc="97" strike="noStrike">
                <a:solidFill>
                  <a:srgbClr val="ffffff"/>
                </a:solidFill>
                <a:latin typeface="Calibri"/>
                <a:ea typeface="Calibri"/>
              </a:rPr>
              <a:t>ROLES</a:t>
            </a:r>
            <a:endParaRPr b="0" lang="en-US" sz="6800" spc="-1" strike="noStrike">
              <a:solidFill>
                <a:srgbClr val="ffffff"/>
              </a:solidFill>
              <a:latin typeface="Arial"/>
            </a:endParaRPr>
          </a:p>
        </p:txBody>
      </p:sp>
      <p:sp>
        <p:nvSpPr>
          <p:cNvPr id="19" name="Text 11"/>
          <p:cNvSpPr/>
          <p:nvPr/>
        </p:nvSpPr>
        <p:spPr>
          <a:xfrm>
            <a:off x="457200" y="4206240"/>
            <a:ext cx="576036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400" spc="-1" strike="noStrike">
                <a:solidFill>
                  <a:srgbClr val="d8e2ed"/>
                </a:solidFill>
                <a:latin typeface="Calibri"/>
              </a:rPr>
              <a:t>3 Roles · Minimum Definition · Maximum Impact</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20" name="Shape 0"/>
          <p:cNvSpPr/>
          <p:nvPr/>
        </p:nvSpPr>
        <p:spPr>
          <a:xfrm>
            <a:off x="0" y="0"/>
            <a:ext cx="9143640" cy="776880"/>
          </a:xfrm>
          <a:prstGeom prst="rect">
            <a:avLst/>
          </a:prstGeom>
          <a:solidFill>
            <a:srgbClr val="0f1c2e"/>
          </a:solidFill>
          <a:ln w="12700">
            <a:solidFill>
              <a:srgbClr val="0f1c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
          <p:cNvSpPr/>
          <p:nvPr/>
        </p:nvSpPr>
        <p:spPr>
          <a:xfrm>
            <a:off x="365760" y="0"/>
            <a:ext cx="84121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299" strike="noStrike">
                <a:solidFill>
                  <a:srgbClr val="ffffff"/>
                </a:solidFill>
                <a:latin typeface="Calibri"/>
              </a:rPr>
              <a:t>THE SCRUM TEAM</a:t>
            </a:r>
            <a:endParaRPr b="0" lang="en-US" sz="2000" spc="-1" strike="noStrike">
              <a:solidFill>
                <a:srgbClr val="000000"/>
              </a:solidFill>
              <a:latin typeface="Arial"/>
            </a:endParaRPr>
          </a:p>
        </p:txBody>
      </p:sp>
      <p:sp>
        <p:nvSpPr>
          <p:cNvPr id="22" name="Shape 2"/>
          <p:cNvSpPr/>
          <p:nvPr/>
        </p:nvSpPr>
        <p:spPr>
          <a:xfrm>
            <a:off x="365760" y="914400"/>
            <a:ext cx="8412120" cy="1005480"/>
          </a:xfrm>
          <a:prstGeom prst="rect">
            <a:avLst/>
          </a:prstGeom>
          <a:solidFill>
            <a:srgbClr val="1a3050"/>
          </a:solidFill>
          <a:ln w="12700">
            <a:solidFill>
              <a:srgbClr val="1a3050"/>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Text 3"/>
          <p:cNvSpPr/>
          <p:nvPr/>
        </p:nvSpPr>
        <p:spPr>
          <a:xfrm>
            <a:off x="365760" y="914400"/>
            <a:ext cx="8412120" cy="1005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350" spc="-1" strike="noStrike">
                <a:solidFill>
                  <a:srgbClr val="ffffff"/>
                </a:solidFill>
                <a:latin typeface="Calibri"/>
              </a:rPr>
              <a:t>A Scrum team is a small, nimble group — roughly 10 people — of cross-functional professionals dedicated to delivering committed product increments. The roles provide a minimum definition of responsibilities, empowering teams to take ownership and continuously improve.</a:t>
            </a:r>
            <a:endParaRPr b="0" lang="en-US" sz="1350" spc="-1" strike="noStrike">
              <a:solidFill>
                <a:srgbClr val="000000"/>
              </a:solidFill>
              <a:latin typeface="Arial"/>
            </a:endParaRPr>
          </a:p>
        </p:txBody>
      </p:sp>
      <p:sp>
        <p:nvSpPr>
          <p:cNvPr id="24" name="Shape 4"/>
          <p:cNvSpPr/>
          <p:nvPr/>
        </p:nvSpPr>
        <p:spPr>
          <a:xfrm>
            <a:off x="274320" y="2057400"/>
            <a:ext cx="2788560" cy="2788560"/>
          </a:xfrm>
          <a:prstGeom prst="rect">
            <a:avLst/>
          </a:prstGeom>
          <a:solidFill>
            <a:srgbClr val="ffffff"/>
          </a:solidFill>
          <a:ln w="12700">
            <a:solidFill>
              <a:srgbClr val="d8e2ed"/>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 name="Shape 5"/>
          <p:cNvSpPr/>
          <p:nvPr/>
        </p:nvSpPr>
        <p:spPr>
          <a:xfrm>
            <a:off x="274320" y="2057400"/>
            <a:ext cx="2788560" cy="80424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Shape 6"/>
          <p:cNvSpPr/>
          <p:nvPr/>
        </p:nvSpPr>
        <p:spPr>
          <a:xfrm>
            <a:off x="457200" y="2121480"/>
            <a:ext cx="658080" cy="65808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Text 7"/>
          <p:cNvSpPr/>
          <p:nvPr/>
        </p:nvSpPr>
        <p:spPr>
          <a:xfrm>
            <a:off x="457200" y="2121480"/>
            <a:ext cx="658080" cy="658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rPr>
              <a:t>PO</a:t>
            </a:r>
            <a:endParaRPr b="0" lang="en-US" sz="1400" spc="-1" strike="noStrike">
              <a:solidFill>
                <a:srgbClr val="000000"/>
              </a:solidFill>
              <a:latin typeface="Arial"/>
            </a:endParaRPr>
          </a:p>
        </p:txBody>
      </p:sp>
      <p:sp>
        <p:nvSpPr>
          <p:cNvPr id="28" name="Text 8"/>
          <p:cNvSpPr/>
          <p:nvPr/>
        </p:nvSpPr>
        <p:spPr>
          <a:xfrm>
            <a:off x="1234440" y="2057400"/>
            <a:ext cx="171864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49" strike="noStrike">
                <a:solidFill>
                  <a:srgbClr val="ffffff"/>
                </a:solidFill>
                <a:latin typeface="Calibri"/>
              </a:rPr>
              <a:t>PRODUCT OWNER</a:t>
            </a:r>
            <a:endParaRPr b="0" lang="en-US" sz="1300" spc="-1" strike="noStrike">
              <a:solidFill>
                <a:srgbClr val="000000"/>
              </a:solidFill>
              <a:latin typeface="Arial"/>
            </a:endParaRPr>
          </a:p>
        </p:txBody>
      </p:sp>
      <p:sp>
        <p:nvSpPr>
          <p:cNvPr id="29" name="Shape 9"/>
          <p:cNvSpPr/>
          <p:nvPr/>
        </p:nvSpPr>
        <p:spPr>
          <a:xfrm>
            <a:off x="475560" y="2926080"/>
            <a:ext cx="2395440" cy="255600"/>
          </a:xfrm>
          <a:prstGeom prst="rect">
            <a:avLst/>
          </a:prstGeom>
          <a:solidFill>
            <a:srgbClr val="e8533a">
              <a:alpha val="20000"/>
            </a:srgbClr>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Text 10"/>
          <p:cNvSpPr/>
          <p:nvPr/>
        </p:nvSpPr>
        <p:spPr>
          <a:xfrm>
            <a:off x="475560" y="2926080"/>
            <a:ext cx="239544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253547"/>
                </a:solidFill>
                <a:latin typeface="Calibri"/>
              </a:rPr>
              <a:t>Owns: WHAT to build</a:t>
            </a:r>
            <a:endParaRPr b="0" lang="en-US" sz="950" spc="-1" strike="noStrike">
              <a:solidFill>
                <a:srgbClr val="000000"/>
              </a:solidFill>
              <a:latin typeface="Arial"/>
            </a:endParaRPr>
          </a:p>
        </p:txBody>
      </p:sp>
      <p:sp>
        <p:nvSpPr>
          <p:cNvPr id="31" name="Text 11"/>
          <p:cNvSpPr/>
          <p:nvPr/>
        </p:nvSpPr>
        <p:spPr>
          <a:xfrm>
            <a:off x="438840" y="3246120"/>
            <a:ext cx="2468520" cy="1508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Understands the customer and business, manages the product backlog, and ensures the team delivers the most value to the business.</a:t>
            </a:r>
            <a:endParaRPr b="0" lang="en-US" sz="1100" spc="-1" strike="noStrike">
              <a:solidFill>
                <a:srgbClr val="000000"/>
              </a:solidFill>
              <a:latin typeface="Arial"/>
            </a:endParaRPr>
          </a:p>
        </p:txBody>
      </p:sp>
      <p:sp>
        <p:nvSpPr>
          <p:cNvPr id="32" name="Shape 12"/>
          <p:cNvSpPr/>
          <p:nvPr/>
        </p:nvSpPr>
        <p:spPr>
          <a:xfrm>
            <a:off x="3154680" y="2057400"/>
            <a:ext cx="2788560" cy="2788560"/>
          </a:xfrm>
          <a:prstGeom prst="rect">
            <a:avLst/>
          </a:prstGeom>
          <a:solidFill>
            <a:srgbClr val="ffffff"/>
          </a:solidFill>
          <a:ln w="12700">
            <a:solidFill>
              <a:srgbClr val="d8e2ed"/>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 name="Shape 13"/>
          <p:cNvSpPr/>
          <p:nvPr/>
        </p:nvSpPr>
        <p:spPr>
          <a:xfrm>
            <a:off x="3154680" y="2057400"/>
            <a:ext cx="2788560" cy="80424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Shape 14"/>
          <p:cNvSpPr/>
          <p:nvPr/>
        </p:nvSpPr>
        <p:spPr>
          <a:xfrm>
            <a:off x="3337560" y="2121480"/>
            <a:ext cx="658080" cy="65808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 name="Text 15"/>
          <p:cNvSpPr/>
          <p:nvPr/>
        </p:nvSpPr>
        <p:spPr>
          <a:xfrm>
            <a:off x="3337560" y="2121480"/>
            <a:ext cx="658080" cy="658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rPr>
              <a:t>SM</a:t>
            </a:r>
            <a:endParaRPr b="0" lang="en-US" sz="1400" spc="-1" strike="noStrike">
              <a:solidFill>
                <a:srgbClr val="000000"/>
              </a:solidFill>
              <a:latin typeface="Arial"/>
            </a:endParaRPr>
          </a:p>
        </p:txBody>
      </p:sp>
      <p:sp>
        <p:nvSpPr>
          <p:cNvPr id="36" name="Text 16"/>
          <p:cNvSpPr/>
          <p:nvPr/>
        </p:nvSpPr>
        <p:spPr>
          <a:xfrm>
            <a:off x="4114800" y="2057400"/>
            <a:ext cx="171864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49" strike="noStrike">
                <a:solidFill>
                  <a:srgbClr val="ffffff"/>
                </a:solidFill>
                <a:latin typeface="Calibri"/>
              </a:rPr>
              <a:t>SCRUM MASTER</a:t>
            </a:r>
            <a:endParaRPr b="0" lang="en-US" sz="1300" spc="-1" strike="noStrike">
              <a:solidFill>
                <a:srgbClr val="000000"/>
              </a:solidFill>
              <a:latin typeface="Arial"/>
            </a:endParaRPr>
          </a:p>
        </p:txBody>
      </p:sp>
      <p:sp>
        <p:nvSpPr>
          <p:cNvPr id="37" name="Shape 17"/>
          <p:cNvSpPr/>
          <p:nvPr/>
        </p:nvSpPr>
        <p:spPr>
          <a:xfrm>
            <a:off x="3355920" y="2926080"/>
            <a:ext cx="2395440" cy="255600"/>
          </a:xfrm>
          <a:prstGeom prst="rect">
            <a:avLst/>
          </a:prstGeom>
          <a:solidFill>
            <a:srgbClr val="1e8a6e">
              <a:alpha val="20000"/>
            </a:srgbClr>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Text 18"/>
          <p:cNvSpPr/>
          <p:nvPr/>
        </p:nvSpPr>
        <p:spPr>
          <a:xfrm>
            <a:off x="3355920" y="2926080"/>
            <a:ext cx="239544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253547"/>
                </a:solidFill>
                <a:latin typeface="Calibri"/>
              </a:rPr>
              <a:t>Owns: HOW to work</a:t>
            </a:r>
            <a:endParaRPr b="0" lang="en-US" sz="950" spc="-1" strike="noStrike">
              <a:solidFill>
                <a:srgbClr val="000000"/>
              </a:solidFill>
              <a:latin typeface="Arial"/>
            </a:endParaRPr>
          </a:p>
        </p:txBody>
      </p:sp>
      <p:sp>
        <p:nvSpPr>
          <p:cNvPr id="39" name="Text 19"/>
          <p:cNvSpPr/>
          <p:nvPr/>
        </p:nvSpPr>
        <p:spPr>
          <a:xfrm>
            <a:off x="3319200" y="3246120"/>
            <a:ext cx="2468520" cy="1508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The champion of Scrum. Coaches the team, removes impediments, facilitates ceremonies, and ensures the framework is followed effectively.</a:t>
            </a:r>
            <a:endParaRPr b="0" lang="en-US" sz="1100" spc="-1" strike="noStrike">
              <a:solidFill>
                <a:srgbClr val="000000"/>
              </a:solidFill>
              <a:latin typeface="Arial"/>
            </a:endParaRPr>
          </a:p>
        </p:txBody>
      </p:sp>
      <p:sp>
        <p:nvSpPr>
          <p:cNvPr id="40" name="Shape 20"/>
          <p:cNvSpPr/>
          <p:nvPr/>
        </p:nvSpPr>
        <p:spPr>
          <a:xfrm>
            <a:off x="6035040" y="2057400"/>
            <a:ext cx="2788560" cy="2788560"/>
          </a:xfrm>
          <a:prstGeom prst="rect">
            <a:avLst/>
          </a:prstGeom>
          <a:solidFill>
            <a:srgbClr val="ffffff"/>
          </a:solidFill>
          <a:ln w="12700">
            <a:solidFill>
              <a:srgbClr val="d8e2ed"/>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 name="Shape 21"/>
          <p:cNvSpPr/>
          <p:nvPr/>
        </p:nvSpPr>
        <p:spPr>
          <a:xfrm>
            <a:off x="6035040" y="2057400"/>
            <a:ext cx="2788560" cy="8042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Shape 22"/>
          <p:cNvSpPr/>
          <p:nvPr/>
        </p:nvSpPr>
        <p:spPr>
          <a:xfrm>
            <a:off x="6217920" y="2121480"/>
            <a:ext cx="658080" cy="65808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 name="Text 23"/>
          <p:cNvSpPr/>
          <p:nvPr/>
        </p:nvSpPr>
        <p:spPr>
          <a:xfrm>
            <a:off x="6217920" y="2121480"/>
            <a:ext cx="658080" cy="658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ffffff"/>
                </a:solidFill>
                <a:latin typeface="Calibri"/>
              </a:rPr>
              <a:t>DT</a:t>
            </a:r>
            <a:endParaRPr b="0" lang="en-US" sz="1400" spc="-1" strike="noStrike">
              <a:solidFill>
                <a:srgbClr val="000000"/>
              </a:solidFill>
              <a:latin typeface="Arial"/>
            </a:endParaRPr>
          </a:p>
        </p:txBody>
      </p:sp>
      <p:sp>
        <p:nvSpPr>
          <p:cNvPr id="44" name="Text 24"/>
          <p:cNvSpPr/>
          <p:nvPr/>
        </p:nvSpPr>
        <p:spPr>
          <a:xfrm>
            <a:off x="6995160" y="2057400"/>
            <a:ext cx="171864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49" strike="noStrike">
                <a:solidFill>
                  <a:srgbClr val="ffffff"/>
                </a:solidFill>
                <a:latin typeface="Calibri"/>
              </a:rPr>
              <a:t>DEVELOPMENT TEAM</a:t>
            </a:r>
            <a:endParaRPr b="0" lang="en-US" sz="1300" spc="-1" strike="noStrike">
              <a:solidFill>
                <a:srgbClr val="000000"/>
              </a:solidFill>
              <a:latin typeface="Arial"/>
            </a:endParaRPr>
          </a:p>
        </p:txBody>
      </p:sp>
      <p:sp>
        <p:nvSpPr>
          <p:cNvPr id="45" name="Shape 25"/>
          <p:cNvSpPr/>
          <p:nvPr/>
        </p:nvSpPr>
        <p:spPr>
          <a:xfrm>
            <a:off x="6236280" y="2926080"/>
            <a:ext cx="2395440" cy="255600"/>
          </a:xfrm>
          <a:prstGeom prst="rect">
            <a:avLst/>
          </a:prstGeom>
          <a:solidFill>
            <a:srgbClr val="2e6db4">
              <a:alpha val="20000"/>
            </a:srgbClr>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Text 26"/>
          <p:cNvSpPr/>
          <p:nvPr/>
        </p:nvSpPr>
        <p:spPr>
          <a:xfrm>
            <a:off x="6236280" y="2926080"/>
            <a:ext cx="239544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253547"/>
                </a:solidFill>
                <a:latin typeface="Calibri"/>
              </a:rPr>
              <a:t>Owns: HOW to deliver</a:t>
            </a:r>
            <a:endParaRPr b="0" lang="en-US" sz="950" spc="-1" strike="noStrike">
              <a:solidFill>
                <a:srgbClr val="000000"/>
              </a:solidFill>
              <a:latin typeface="Arial"/>
            </a:endParaRPr>
          </a:p>
        </p:txBody>
      </p:sp>
      <p:sp>
        <p:nvSpPr>
          <p:cNvPr id="47" name="Text 27"/>
          <p:cNvSpPr/>
          <p:nvPr/>
        </p:nvSpPr>
        <p:spPr>
          <a:xfrm>
            <a:off x="6199560" y="3246120"/>
            <a:ext cx="2468520" cy="1508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Cross-functional professionals who deliver the actual working product increment. Self-organizing and collectively accountable for sprint success.</a:t>
            </a:r>
            <a:endParaRPr b="0" lang="en-US" sz="1100" spc="-1" strike="noStrike">
              <a:solidFill>
                <a:srgbClr val="000000"/>
              </a:solidFill>
              <a:latin typeface="Arial"/>
            </a:endParaRPr>
          </a:p>
        </p:txBody>
      </p:sp>
      <p:sp>
        <p:nvSpPr>
          <p:cNvPr id="48" name="Shape 28"/>
          <p:cNvSpPr/>
          <p:nvPr/>
        </p:nvSpPr>
        <p:spPr>
          <a:xfrm>
            <a:off x="365760" y="4892040"/>
            <a:ext cx="8412120" cy="360"/>
          </a:xfrm>
          <a:prstGeom prst="rect">
            <a:avLst/>
          </a:prstGeom>
          <a:solidFill>
            <a:srgbClr val="f3f6fa"/>
          </a:solidFill>
          <a:ln w="12700">
            <a:solidFill>
              <a:srgbClr val="f3f6fa"/>
            </a:solidFill>
            <a:round/>
          </a:ln>
        </p:spPr>
        <p:style>
          <a:lnRef idx="0"/>
          <a:fillRef idx="0"/>
          <a:effectRef idx="0"/>
          <a:fontRef idx="minor"/>
        </p:style>
        <p:txBody>
          <a:bodyPr lIns="90000" rIns="90000" tIns="-44280" bIns="-44280" anchor="t">
            <a:noAutofit/>
          </a:bodyPr>
          <a:p>
            <a:endParaRPr b="0" lang="en-US" sz="1800" spc="-1" strike="noStrike">
              <a:solidFill>
                <a:srgbClr val="000000"/>
              </a:solidFill>
              <a:latin typeface="Arial"/>
            </a:endParaRPr>
          </a:p>
        </p:txBody>
      </p:sp>
      <p:sp>
        <p:nvSpPr>
          <p:cNvPr id="49" name="Text 29"/>
          <p:cNvSpPr/>
          <p:nvPr/>
        </p:nvSpPr>
        <p:spPr>
          <a:xfrm>
            <a:off x="365760" y="4800600"/>
            <a:ext cx="8412120" cy="292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050" spc="-1" strike="noStrike">
                <a:solidFill>
                  <a:srgbClr val="5d7a96"/>
                </a:solidFill>
                <a:latin typeface="Calibri"/>
              </a:rPr>
              <a:t>Roles are not job titles — any job title can perform one of these roles. The roles define accountability, not hierarchy.</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c2e"/>
        </a:solidFill>
      </p:bgPr>
    </p:bg>
    <p:spTree>
      <p:nvGrpSpPr>
        <p:cNvPr id="1" name=""/>
        <p:cNvGrpSpPr/>
        <p:nvPr/>
      </p:nvGrpSpPr>
      <p:grpSpPr>
        <a:xfrm>
          <a:off x="0" y="0"/>
          <a:ext cx="0" cy="0"/>
          <a:chOff x="0" y="0"/>
          <a:chExt cx="0" cy="0"/>
        </a:xfrm>
      </p:grpSpPr>
      <p:sp>
        <p:nvSpPr>
          <p:cNvPr id="50" name="Shape 0"/>
          <p:cNvSpPr/>
          <p:nvPr/>
        </p:nvSpPr>
        <p:spPr>
          <a:xfrm>
            <a:off x="0" y="0"/>
            <a:ext cx="9143640" cy="77688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Shape 1"/>
          <p:cNvSpPr/>
          <p:nvPr/>
        </p:nvSpPr>
        <p:spPr>
          <a:xfrm>
            <a:off x="274320" y="91440"/>
            <a:ext cx="594000" cy="59400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Text 2"/>
          <p:cNvSpPr/>
          <p:nvPr/>
        </p:nvSpPr>
        <p:spPr>
          <a:xfrm>
            <a:off x="274320" y="91440"/>
            <a:ext cx="594000" cy="594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Calibri"/>
              </a:rPr>
              <a:t>PO</a:t>
            </a:r>
            <a:endParaRPr b="0" lang="en-US" sz="1500" spc="-1" strike="noStrike">
              <a:solidFill>
                <a:srgbClr val="ffffff"/>
              </a:solidFill>
              <a:latin typeface="Arial"/>
            </a:endParaRPr>
          </a:p>
        </p:txBody>
      </p:sp>
      <p:sp>
        <p:nvSpPr>
          <p:cNvPr id="53" name="Text 3"/>
          <p:cNvSpPr/>
          <p:nvPr/>
        </p:nvSpPr>
        <p:spPr>
          <a:xfrm>
            <a:off x="1005840" y="0"/>
            <a:ext cx="77720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299" strike="noStrike">
                <a:solidFill>
                  <a:srgbClr val="ffffff"/>
                </a:solidFill>
                <a:latin typeface="Calibri"/>
              </a:rPr>
              <a:t>PRODUCT OWNER</a:t>
            </a:r>
            <a:endParaRPr b="0" lang="en-US" sz="2200" spc="-1" strike="noStrike">
              <a:solidFill>
                <a:srgbClr val="ffffff"/>
              </a:solidFill>
              <a:latin typeface="Arial"/>
            </a:endParaRPr>
          </a:p>
        </p:txBody>
      </p:sp>
      <p:sp>
        <p:nvSpPr>
          <p:cNvPr id="54" name="Shape 4"/>
          <p:cNvSpPr/>
          <p:nvPr/>
        </p:nvSpPr>
        <p:spPr>
          <a:xfrm>
            <a:off x="365760" y="868680"/>
            <a:ext cx="8412120" cy="868320"/>
          </a:xfrm>
          <a:prstGeom prst="rect">
            <a:avLst/>
          </a:prstGeom>
          <a:solidFill>
            <a:srgbClr val="1a2535"/>
          </a:solidFill>
          <a:ln w="1905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Text 5"/>
          <p:cNvSpPr/>
          <p:nvPr/>
        </p:nvSpPr>
        <p:spPr>
          <a:xfrm>
            <a:off x="502920" y="868680"/>
            <a:ext cx="8229240" cy="868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00" spc="-1" strike="noStrike">
                <a:solidFill>
                  <a:srgbClr val="f3f6fa"/>
                </a:solidFill>
                <a:latin typeface="Calibri"/>
              </a:rPr>
              <a:t>The product owner defines the WHY, WHO, and WHAT — why the product is worthwhile, who it is for, and what features it should contain. They have the final word on strategic and tactical product decisions and are responsible for maximizing the value the product creates.</a:t>
            </a:r>
            <a:endParaRPr b="0" lang="en-US" sz="1200" spc="-1" strike="noStrike">
              <a:solidFill>
                <a:srgbClr val="ffffff"/>
              </a:solidFill>
              <a:latin typeface="Arial"/>
            </a:endParaRPr>
          </a:p>
        </p:txBody>
      </p:sp>
      <p:sp>
        <p:nvSpPr>
          <p:cNvPr id="56" name="Shape 6"/>
          <p:cNvSpPr/>
          <p:nvPr/>
        </p:nvSpPr>
        <p:spPr>
          <a:xfrm>
            <a:off x="274320" y="1828800"/>
            <a:ext cx="4205880" cy="3062880"/>
          </a:xfrm>
          <a:prstGeom prst="rect">
            <a:avLst/>
          </a:prstGeom>
          <a:solidFill>
            <a:srgbClr val="182535"/>
          </a:solidFill>
          <a:ln w="25400">
            <a:solidFill>
              <a:srgbClr val="e8533a"/>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Shape 7"/>
          <p:cNvSpPr/>
          <p:nvPr/>
        </p:nvSpPr>
        <p:spPr>
          <a:xfrm>
            <a:off x="274320" y="1828800"/>
            <a:ext cx="4205880" cy="50256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Text 8"/>
          <p:cNvSpPr/>
          <p:nvPr/>
        </p:nvSpPr>
        <p:spPr>
          <a:xfrm>
            <a:off x="274320" y="1828800"/>
            <a:ext cx="42058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rPr>
              <a:t>KEY RESPONSIBILITIES</a:t>
            </a:r>
            <a:endParaRPr b="0" lang="en-US" sz="1300" spc="-1" strike="noStrike">
              <a:solidFill>
                <a:srgbClr val="ffffff"/>
              </a:solidFill>
              <a:latin typeface="Arial"/>
            </a:endParaRPr>
          </a:p>
        </p:txBody>
      </p:sp>
      <p:sp>
        <p:nvSpPr>
          <p:cNvPr id="59" name="Shape 9"/>
          <p:cNvSpPr/>
          <p:nvPr/>
        </p:nvSpPr>
        <p:spPr>
          <a:xfrm>
            <a:off x="411480" y="246888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Text 10"/>
          <p:cNvSpPr/>
          <p:nvPr/>
        </p:nvSpPr>
        <p:spPr>
          <a:xfrm>
            <a:off x="731520" y="239580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Build and manage the product backlog</a:t>
            </a:r>
            <a:endParaRPr b="0" lang="en-US" sz="1100" spc="-1" strike="noStrike">
              <a:solidFill>
                <a:srgbClr val="ffffff"/>
              </a:solidFill>
              <a:latin typeface="Arial"/>
            </a:endParaRPr>
          </a:p>
        </p:txBody>
      </p:sp>
      <p:sp>
        <p:nvSpPr>
          <p:cNvPr id="61" name="Shape 11"/>
          <p:cNvSpPr/>
          <p:nvPr/>
        </p:nvSpPr>
        <p:spPr>
          <a:xfrm>
            <a:off x="411480" y="283464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Text 12"/>
          <p:cNvSpPr/>
          <p:nvPr/>
        </p:nvSpPr>
        <p:spPr>
          <a:xfrm>
            <a:off x="731520" y="276156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Prioritize features based on business value</a:t>
            </a:r>
            <a:endParaRPr b="0" lang="en-US" sz="1100" spc="-1" strike="noStrike">
              <a:solidFill>
                <a:srgbClr val="ffffff"/>
              </a:solidFill>
              <a:latin typeface="Arial"/>
            </a:endParaRPr>
          </a:p>
        </p:txBody>
      </p:sp>
      <p:sp>
        <p:nvSpPr>
          <p:cNvPr id="63" name="Shape 13"/>
          <p:cNvSpPr/>
          <p:nvPr/>
        </p:nvSpPr>
        <p:spPr>
          <a:xfrm>
            <a:off x="411480" y="320040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 name="Text 14"/>
          <p:cNvSpPr/>
          <p:nvPr/>
        </p:nvSpPr>
        <p:spPr>
          <a:xfrm>
            <a:off x="731520" y="312732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Partner with business and team to ensure shared understanding</a:t>
            </a:r>
            <a:endParaRPr b="0" lang="en-US" sz="1100" spc="-1" strike="noStrike">
              <a:solidFill>
                <a:srgbClr val="ffffff"/>
              </a:solidFill>
              <a:latin typeface="Arial"/>
            </a:endParaRPr>
          </a:p>
        </p:txBody>
      </p:sp>
      <p:sp>
        <p:nvSpPr>
          <p:cNvPr id="65" name="Shape 15"/>
          <p:cNvSpPr/>
          <p:nvPr/>
        </p:nvSpPr>
        <p:spPr>
          <a:xfrm>
            <a:off x="411480" y="356616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 name="Text 16"/>
          <p:cNvSpPr/>
          <p:nvPr/>
        </p:nvSpPr>
        <p:spPr>
          <a:xfrm>
            <a:off x="731520" y="349308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Provide clear guidance on which features to deliver next</a:t>
            </a:r>
            <a:endParaRPr b="0" lang="en-US" sz="1100" spc="-1" strike="noStrike">
              <a:solidFill>
                <a:srgbClr val="ffffff"/>
              </a:solidFill>
              <a:latin typeface="Arial"/>
            </a:endParaRPr>
          </a:p>
        </p:txBody>
      </p:sp>
      <p:sp>
        <p:nvSpPr>
          <p:cNvPr id="67" name="Shape 17"/>
          <p:cNvSpPr/>
          <p:nvPr/>
        </p:nvSpPr>
        <p:spPr>
          <a:xfrm>
            <a:off x="411480" y="393192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 name="Text 18"/>
          <p:cNvSpPr/>
          <p:nvPr/>
        </p:nvSpPr>
        <p:spPr>
          <a:xfrm>
            <a:off x="731520" y="385884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Decide when to ship, with a preference for frequent delivery</a:t>
            </a:r>
            <a:endParaRPr b="0" lang="en-US" sz="1100" spc="-1" strike="noStrike">
              <a:solidFill>
                <a:srgbClr val="ffffff"/>
              </a:solidFill>
              <a:latin typeface="Arial"/>
            </a:endParaRPr>
          </a:p>
        </p:txBody>
      </p:sp>
      <p:sp>
        <p:nvSpPr>
          <p:cNvPr id="69" name="Shape 19"/>
          <p:cNvSpPr/>
          <p:nvPr/>
        </p:nvSpPr>
        <p:spPr>
          <a:xfrm>
            <a:off x="411480" y="429768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Text 20"/>
          <p:cNvSpPr/>
          <p:nvPr/>
        </p:nvSpPr>
        <p:spPr>
          <a:xfrm>
            <a:off x="731520" y="422460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Champion the product vision with stakeholders and customers</a:t>
            </a:r>
            <a:endParaRPr b="0" lang="en-US" sz="1100" spc="-1" strike="noStrike">
              <a:solidFill>
                <a:srgbClr val="ffffff"/>
              </a:solidFill>
              <a:latin typeface="Arial"/>
            </a:endParaRPr>
          </a:p>
        </p:txBody>
      </p:sp>
      <p:sp>
        <p:nvSpPr>
          <p:cNvPr id="71" name="Shape 21"/>
          <p:cNvSpPr/>
          <p:nvPr/>
        </p:nvSpPr>
        <p:spPr>
          <a:xfrm>
            <a:off x="411480" y="466344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Text 22"/>
          <p:cNvSpPr/>
          <p:nvPr/>
        </p:nvSpPr>
        <p:spPr>
          <a:xfrm>
            <a:off x="731520" y="4590360"/>
            <a:ext cx="36115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f3f6fa"/>
                </a:solidFill>
                <a:latin typeface="Calibri"/>
              </a:rPr>
              <a:t>Know when to say 'NO' to low-value feature requests</a:t>
            </a:r>
            <a:endParaRPr b="0" lang="en-US" sz="1100" spc="-1" strike="noStrike">
              <a:solidFill>
                <a:srgbClr val="ffffff"/>
              </a:solidFill>
              <a:latin typeface="Arial"/>
            </a:endParaRPr>
          </a:p>
        </p:txBody>
      </p:sp>
      <p:sp>
        <p:nvSpPr>
          <p:cNvPr id="73" name="Shape 23"/>
          <p:cNvSpPr/>
          <p:nvPr/>
        </p:nvSpPr>
        <p:spPr>
          <a:xfrm>
            <a:off x="4663440" y="1828800"/>
            <a:ext cx="4205880" cy="3062880"/>
          </a:xfrm>
          <a:prstGeom prst="rect">
            <a:avLst/>
          </a:prstGeom>
          <a:solidFill>
            <a:srgbClr val="182535"/>
          </a:solidFill>
          <a:ln w="25400">
            <a:solidFill>
              <a:srgbClr val="e8533a"/>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Shape 24"/>
          <p:cNvSpPr/>
          <p:nvPr/>
        </p:nvSpPr>
        <p:spPr>
          <a:xfrm>
            <a:off x="4663440" y="1828800"/>
            <a:ext cx="4205880" cy="50256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5" name="Text 25"/>
          <p:cNvSpPr/>
          <p:nvPr/>
        </p:nvSpPr>
        <p:spPr>
          <a:xfrm>
            <a:off x="4663440" y="1828800"/>
            <a:ext cx="42058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rPr>
              <a:t>KEY PRINCIPLES</a:t>
            </a:r>
            <a:endParaRPr b="0" lang="en-US" sz="1300" spc="-1" strike="noStrike">
              <a:solidFill>
                <a:srgbClr val="ffffff"/>
              </a:solidFill>
              <a:latin typeface="Arial"/>
            </a:endParaRPr>
          </a:p>
        </p:txBody>
      </p:sp>
      <p:sp>
        <p:nvSpPr>
          <p:cNvPr id="76" name="Shape 26"/>
          <p:cNvSpPr/>
          <p:nvPr/>
        </p:nvSpPr>
        <p:spPr>
          <a:xfrm>
            <a:off x="4800600" y="2395800"/>
            <a:ext cx="3931560" cy="566640"/>
          </a:xfrm>
          <a:prstGeom prst="rect">
            <a:avLst/>
          </a:prstGeom>
          <a:solidFill>
            <a:srgbClr val="1e3040"/>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Text 27"/>
          <p:cNvSpPr/>
          <p:nvPr/>
        </p:nvSpPr>
        <p:spPr>
          <a:xfrm>
            <a:off x="4919400" y="243216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533a"/>
                </a:solidFill>
                <a:latin typeface="Calibri"/>
              </a:rPr>
              <a:t>One Person, One Voice</a:t>
            </a:r>
            <a:endParaRPr b="0" lang="en-US" sz="1150" spc="-1" strike="noStrike">
              <a:solidFill>
                <a:srgbClr val="ffffff"/>
              </a:solidFill>
              <a:latin typeface="Arial"/>
            </a:endParaRPr>
          </a:p>
        </p:txBody>
      </p:sp>
      <p:sp>
        <p:nvSpPr>
          <p:cNvPr id="78" name="Text 28"/>
          <p:cNvSpPr/>
          <p:nvPr/>
        </p:nvSpPr>
        <p:spPr>
          <a:xfrm>
            <a:off x="4919400" y="268848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The PO must be an individual. No development team wants mixed guidance from multiple product owners.</a:t>
            </a:r>
            <a:endParaRPr b="0" lang="en-US" sz="1000" spc="-1" strike="noStrike">
              <a:solidFill>
                <a:srgbClr val="ffffff"/>
              </a:solidFill>
              <a:latin typeface="Arial"/>
            </a:endParaRPr>
          </a:p>
        </p:txBody>
      </p:sp>
      <p:sp>
        <p:nvSpPr>
          <p:cNvPr id="79" name="Shape 29"/>
          <p:cNvSpPr/>
          <p:nvPr/>
        </p:nvSpPr>
        <p:spPr>
          <a:xfrm>
            <a:off x="4800600" y="3054240"/>
            <a:ext cx="3931560" cy="566640"/>
          </a:xfrm>
          <a:prstGeom prst="rect">
            <a:avLst/>
          </a:prstGeom>
          <a:solidFill>
            <a:srgbClr val="1e3040"/>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Text 30"/>
          <p:cNvSpPr/>
          <p:nvPr/>
        </p:nvSpPr>
        <p:spPr>
          <a:xfrm>
            <a:off x="4919400" y="309060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533a"/>
                </a:solidFill>
                <a:latin typeface="Calibri"/>
              </a:rPr>
              <a:t>Accessible During the Sprint</a:t>
            </a:r>
            <a:endParaRPr b="0" lang="en-US" sz="1150" spc="-1" strike="noStrike">
              <a:solidFill>
                <a:srgbClr val="ffffff"/>
              </a:solidFill>
              <a:latin typeface="Arial"/>
            </a:endParaRPr>
          </a:p>
        </p:txBody>
      </p:sp>
      <p:sp>
        <p:nvSpPr>
          <p:cNvPr id="81" name="Text 31"/>
          <p:cNvSpPr/>
          <p:nvPr/>
        </p:nvSpPr>
        <p:spPr>
          <a:xfrm>
            <a:off x="4919400" y="334656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POs are subject matter experts who must be accessible throughout the sprint — not just at planning meetings.</a:t>
            </a:r>
            <a:endParaRPr b="0" lang="en-US" sz="1000" spc="-1" strike="noStrike">
              <a:solidFill>
                <a:srgbClr val="ffffff"/>
              </a:solidFill>
              <a:latin typeface="Arial"/>
            </a:endParaRPr>
          </a:p>
        </p:txBody>
      </p:sp>
      <p:sp>
        <p:nvSpPr>
          <p:cNvPr id="82" name="Shape 32"/>
          <p:cNvSpPr/>
          <p:nvPr/>
        </p:nvSpPr>
        <p:spPr>
          <a:xfrm>
            <a:off x="4800600" y="3712320"/>
            <a:ext cx="3931560" cy="566640"/>
          </a:xfrm>
          <a:prstGeom prst="rect">
            <a:avLst/>
          </a:prstGeom>
          <a:solidFill>
            <a:srgbClr val="1e3040"/>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33"/>
          <p:cNvSpPr/>
          <p:nvPr/>
        </p:nvSpPr>
        <p:spPr>
          <a:xfrm>
            <a:off x="4919400" y="374904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533a"/>
                </a:solidFill>
                <a:latin typeface="Calibri"/>
              </a:rPr>
              <a:t>Customer Pulse</a:t>
            </a:r>
            <a:endParaRPr b="0" lang="en-US" sz="1150" spc="-1" strike="noStrike">
              <a:solidFill>
                <a:srgbClr val="ffffff"/>
              </a:solidFill>
              <a:latin typeface="Arial"/>
            </a:endParaRPr>
          </a:p>
        </p:txBody>
      </p:sp>
      <p:sp>
        <p:nvSpPr>
          <p:cNvPr id="84" name="Text 34"/>
          <p:cNvSpPr/>
          <p:nvPr/>
        </p:nvSpPr>
        <p:spPr>
          <a:xfrm>
            <a:off x="4919400" y="400500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The PO maintains constant awareness of market trends, user feedback, and customer needs to prioritize work.</a:t>
            </a:r>
            <a:endParaRPr b="0" lang="en-US" sz="1000" spc="-1" strike="noStrike">
              <a:solidFill>
                <a:srgbClr val="ffffff"/>
              </a:solidFill>
              <a:latin typeface="Arial"/>
            </a:endParaRPr>
          </a:p>
        </p:txBody>
      </p:sp>
      <p:sp>
        <p:nvSpPr>
          <p:cNvPr id="85" name="Shape 35"/>
          <p:cNvSpPr/>
          <p:nvPr/>
        </p:nvSpPr>
        <p:spPr>
          <a:xfrm>
            <a:off x="4800600" y="4370760"/>
            <a:ext cx="3931560" cy="566640"/>
          </a:xfrm>
          <a:prstGeom prst="rect">
            <a:avLst/>
          </a:prstGeom>
          <a:solidFill>
            <a:srgbClr val="1e3040"/>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Text 36"/>
          <p:cNvSpPr/>
          <p:nvPr/>
        </p:nvSpPr>
        <p:spPr>
          <a:xfrm>
            <a:off x="4919400" y="440748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533a"/>
                </a:solidFill>
                <a:latin typeface="Calibri"/>
              </a:rPr>
              <a:t>Value Maximizer</a:t>
            </a:r>
            <a:endParaRPr b="0" lang="en-US" sz="1150" spc="-1" strike="noStrike">
              <a:solidFill>
                <a:srgbClr val="ffffff"/>
              </a:solidFill>
              <a:latin typeface="Arial"/>
            </a:endParaRPr>
          </a:p>
        </p:txBody>
      </p:sp>
      <p:sp>
        <p:nvSpPr>
          <p:cNvPr id="87" name="Text 37"/>
          <p:cNvSpPr/>
          <p:nvPr/>
        </p:nvSpPr>
        <p:spPr>
          <a:xfrm>
            <a:off x="4919400" y="466344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The primary purpose is to maximize value delivered to users, customers, and the business — not just ship features.</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88" name="Shape 0"/>
          <p:cNvSpPr/>
          <p:nvPr/>
        </p:nvSpPr>
        <p:spPr>
          <a:xfrm>
            <a:off x="0" y="0"/>
            <a:ext cx="9143640" cy="77688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Shape 1"/>
          <p:cNvSpPr/>
          <p:nvPr/>
        </p:nvSpPr>
        <p:spPr>
          <a:xfrm>
            <a:off x="274320" y="91440"/>
            <a:ext cx="594000" cy="59400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 name="Text 2"/>
          <p:cNvSpPr/>
          <p:nvPr/>
        </p:nvSpPr>
        <p:spPr>
          <a:xfrm>
            <a:off x="274320" y="91440"/>
            <a:ext cx="594000" cy="594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Calibri"/>
              </a:rPr>
              <a:t>SM</a:t>
            </a:r>
            <a:endParaRPr b="0" lang="en-US" sz="1500" spc="-1" strike="noStrike">
              <a:solidFill>
                <a:srgbClr val="000000"/>
              </a:solidFill>
              <a:latin typeface="Arial"/>
            </a:endParaRPr>
          </a:p>
        </p:txBody>
      </p:sp>
      <p:sp>
        <p:nvSpPr>
          <p:cNvPr id="91" name="Text 3"/>
          <p:cNvSpPr/>
          <p:nvPr/>
        </p:nvSpPr>
        <p:spPr>
          <a:xfrm>
            <a:off x="1005840" y="0"/>
            <a:ext cx="77720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299" strike="noStrike">
                <a:solidFill>
                  <a:srgbClr val="ffffff"/>
                </a:solidFill>
                <a:latin typeface="Calibri"/>
              </a:rPr>
              <a:t>SCRUM MASTER</a:t>
            </a:r>
            <a:endParaRPr b="0" lang="en-US" sz="2200" spc="-1" strike="noStrike">
              <a:solidFill>
                <a:srgbClr val="000000"/>
              </a:solidFill>
              <a:latin typeface="Arial"/>
            </a:endParaRPr>
          </a:p>
        </p:txBody>
      </p:sp>
      <p:sp>
        <p:nvSpPr>
          <p:cNvPr id="92" name="Shape 4"/>
          <p:cNvSpPr/>
          <p:nvPr/>
        </p:nvSpPr>
        <p:spPr>
          <a:xfrm>
            <a:off x="365760" y="868680"/>
            <a:ext cx="8412120" cy="868320"/>
          </a:xfrm>
          <a:prstGeom prst="rect">
            <a:avLst/>
          </a:prstGeom>
          <a:solidFill>
            <a:srgbClr val="1e8a6e"/>
          </a:solidFill>
          <a:ln w="12700">
            <a:solidFill>
              <a:srgbClr val="1e8a6e"/>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Text 5"/>
          <p:cNvSpPr/>
          <p:nvPr/>
        </p:nvSpPr>
        <p:spPr>
          <a:xfrm>
            <a:off x="365760" y="868680"/>
            <a:ext cx="8412120" cy="868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200" spc="-1" strike="noStrike">
                <a:solidFill>
                  <a:srgbClr val="ffffff"/>
                </a:solidFill>
                <a:latin typeface="Calibri"/>
              </a:rPr>
              <a:t>The Scrum Master is the champion of Scrum and servant leader of the team. They coach the team on the Scrum process, remove impediments, and facilitate all ceremonies — enhancing the team's effectiveness without having authority over the team itself.</a:t>
            </a:r>
            <a:endParaRPr b="0" lang="en-US" sz="1200" spc="-1" strike="noStrike">
              <a:solidFill>
                <a:srgbClr val="000000"/>
              </a:solidFill>
              <a:latin typeface="Arial"/>
            </a:endParaRPr>
          </a:p>
        </p:txBody>
      </p:sp>
      <p:sp>
        <p:nvSpPr>
          <p:cNvPr id="94" name="Shape 6"/>
          <p:cNvSpPr/>
          <p:nvPr/>
        </p:nvSpPr>
        <p:spPr>
          <a:xfrm>
            <a:off x="274320" y="1901880"/>
            <a:ext cx="2788560" cy="1325520"/>
          </a:xfrm>
          <a:prstGeom prst="rect">
            <a:avLst/>
          </a:prstGeom>
          <a:solidFill>
            <a:srgbClr val="ffffff"/>
          </a:solidFill>
          <a:ln w="25400">
            <a:solidFill>
              <a:srgbClr val="1e8a6e"/>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5" name="Shape 7"/>
          <p:cNvSpPr/>
          <p:nvPr/>
        </p:nvSpPr>
        <p:spPr>
          <a:xfrm>
            <a:off x="274320" y="1901880"/>
            <a:ext cx="2788560" cy="45684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6" name="Text 8"/>
          <p:cNvSpPr/>
          <p:nvPr/>
        </p:nvSpPr>
        <p:spPr>
          <a:xfrm>
            <a:off x="274320" y="190188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  </a:t>
            </a:r>
            <a:r>
              <a:rPr b="1" lang="en-US" sz="1250" spc="-1" strike="noStrike">
                <a:solidFill>
                  <a:srgbClr val="ffffff"/>
                </a:solidFill>
                <a:latin typeface="Calibri"/>
              </a:rPr>
              <a:t>Foster Communication</a:t>
            </a:r>
            <a:endParaRPr b="0" lang="en-US" sz="1250" spc="-1" strike="noStrike">
              <a:solidFill>
                <a:srgbClr val="000000"/>
              </a:solidFill>
              <a:latin typeface="Arial"/>
            </a:endParaRPr>
          </a:p>
        </p:txBody>
      </p:sp>
      <p:sp>
        <p:nvSpPr>
          <p:cNvPr id="97" name="Text 9"/>
          <p:cNvSpPr/>
          <p:nvPr/>
        </p:nvSpPr>
        <p:spPr>
          <a:xfrm>
            <a:off x="384120" y="2414160"/>
            <a:ext cx="255996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Ensure everyone is on the same page and has information needed to make the best decisions</a:t>
            </a:r>
            <a:endParaRPr b="0" lang="en-US" sz="1100" spc="-1" strike="noStrike">
              <a:solidFill>
                <a:srgbClr val="000000"/>
              </a:solidFill>
              <a:latin typeface="Arial"/>
            </a:endParaRPr>
          </a:p>
        </p:txBody>
      </p:sp>
      <p:sp>
        <p:nvSpPr>
          <p:cNvPr id="98" name="Shape 10"/>
          <p:cNvSpPr/>
          <p:nvPr/>
        </p:nvSpPr>
        <p:spPr>
          <a:xfrm>
            <a:off x="3182040" y="1901880"/>
            <a:ext cx="2788560" cy="1325520"/>
          </a:xfrm>
          <a:prstGeom prst="rect">
            <a:avLst/>
          </a:prstGeom>
          <a:solidFill>
            <a:srgbClr val="ffffff"/>
          </a:solidFill>
          <a:ln w="25400">
            <a:solidFill>
              <a:srgbClr val="17a589"/>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 name="Shape 11"/>
          <p:cNvSpPr/>
          <p:nvPr/>
        </p:nvSpPr>
        <p:spPr>
          <a:xfrm>
            <a:off x="3182040" y="1901880"/>
            <a:ext cx="2788560" cy="456840"/>
          </a:xfrm>
          <a:prstGeom prst="rect">
            <a:avLst/>
          </a:prstGeom>
          <a:solidFill>
            <a:srgbClr val="17a589"/>
          </a:solidFill>
          <a:ln w="12700">
            <a:solidFill>
              <a:srgbClr val="17a589"/>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0" name="Text 12"/>
          <p:cNvSpPr/>
          <p:nvPr/>
        </p:nvSpPr>
        <p:spPr>
          <a:xfrm>
            <a:off x="3182040" y="190188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  </a:t>
            </a:r>
            <a:r>
              <a:rPr b="1" lang="en-US" sz="1250" spc="-1" strike="noStrike">
                <a:solidFill>
                  <a:srgbClr val="ffffff"/>
                </a:solidFill>
                <a:latin typeface="Calibri"/>
              </a:rPr>
              <a:t>Protect the Team</a:t>
            </a:r>
            <a:endParaRPr b="0" lang="en-US" sz="1250" spc="-1" strike="noStrike">
              <a:solidFill>
                <a:srgbClr val="000000"/>
              </a:solidFill>
              <a:latin typeface="Arial"/>
            </a:endParaRPr>
          </a:p>
        </p:txBody>
      </p:sp>
      <p:sp>
        <p:nvSpPr>
          <p:cNvPr id="101" name="Text 13"/>
          <p:cNvSpPr/>
          <p:nvPr/>
        </p:nvSpPr>
        <p:spPr>
          <a:xfrm>
            <a:off x="3291840" y="2414160"/>
            <a:ext cx="255996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Act as a buffer, protecting the team from outside disruptions, scope creep, and interference</a:t>
            </a:r>
            <a:endParaRPr b="0" lang="en-US" sz="1100" spc="-1" strike="noStrike">
              <a:solidFill>
                <a:srgbClr val="000000"/>
              </a:solidFill>
              <a:latin typeface="Arial"/>
            </a:endParaRPr>
          </a:p>
        </p:txBody>
      </p:sp>
      <p:sp>
        <p:nvSpPr>
          <p:cNvPr id="102" name="Shape 14"/>
          <p:cNvSpPr/>
          <p:nvPr/>
        </p:nvSpPr>
        <p:spPr>
          <a:xfrm>
            <a:off x="6089760" y="1901880"/>
            <a:ext cx="2788560" cy="1325520"/>
          </a:xfrm>
          <a:prstGeom prst="rect">
            <a:avLst/>
          </a:prstGeom>
          <a:solidFill>
            <a:srgbClr val="ffffff"/>
          </a:solidFill>
          <a:ln w="25400">
            <a:solidFill>
              <a:srgbClr val="2d4a8c"/>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 name="Shape 15"/>
          <p:cNvSpPr/>
          <p:nvPr/>
        </p:nvSpPr>
        <p:spPr>
          <a:xfrm>
            <a:off x="6089760" y="1901880"/>
            <a:ext cx="2788560" cy="456840"/>
          </a:xfrm>
          <a:prstGeom prst="rect">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4" name="Text 16"/>
          <p:cNvSpPr/>
          <p:nvPr/>
        </p:nvSpPr>
        <p:spPr>
          <a:xfrm>
            <a:off x="6089760" y="190188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  </a:t>
            </a:r>
            <a:r>
              <a:rPr b="1" lang="en-US" sz="1250" spc="-1" strike="noStrike">
                <a:solidFill>
                  <a:srgbClr val="ffffff"/>
                </a:solidFill>
                <a:latin typeface="Calibri"/>
              </a:rPr>
              <a:t>Make Work Visible</a:t>
            </a:r>
            <a:endParaRPr b="0" lang="en-US" sz="1250" spc="-1" strike="noStrike">
              <a:solidFill>
                <a:srgbClr val="000000"/>
              </a:solidFill>
              <a:latin typeface="Arial"/>
            </a:endParaRPr>
          </a:p>
        </p:txBody>
      </p:sp>
      <p:sp>
        <p:nvSpPr>
          <p:cNvPr id="105" name="Text 17"/>
          <p:cNvSpPr/>
          <p:nvPr/>
        </p:nvSpPr>
        <p:spPr>
          <a:xfrm>
            <a:off x="6199560" y="2414160"/>
            <a:ext cx="255996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Help identify impediments early and track progress toward the sprint goal for the whole team</a:t>
            </a:r>
            <a:endParaRPr b="0" lang="en-US" sz="1100" spc="-1" strike="noStrike">
              <a:solidFill>
                <a:srgbClr val="000000"/>
              </a:solidFill>
              <a:latin typeface="Arial"/>
            </a:endParaRPr>
          </a:p>
        </p:txBody>
      </p:sp>
      <p:sp>
        <p:nvSpPr>
          <p:cNvPr id="106" name="Shape 18"/>
          <p:cNvSpPr/>
          <p:nvPr/>
        </p:nvSpPr>
        <p:spPr>
          <a:xfrm>
            <a:off x="274320" y="3346560"/>
            <a:ext cx="2788560" cy="1325520"/>
          </a:xfrm>
          <a:prstGeom prst="rect">
            <a:avLst/>
          </a:prstGeom>
          <a:solidFill>
            <a:srgbClr val="ffffff"/>
          </a:solidFill>
          <a:ln w="25400">
            <a:solidFill>
              <a:srgbClr val="f5a623"/>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 name="Shape 19"/>
          <p:cNvSpPr/>
          <p:nvPr/>
        </p:nvSpPr>
        <p:spPr>
          <a:xfrm>
            <a:off x="274320" y="3346560"/>
            <a:ext cx="2788560" cy="456840"/>
          </a:xfrm>
          <a:prstGeom prst="rect">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 name="Text 20"/>
          <p:cNvSpPr/>
          <p:nvPr/>
        </p:nvSpPr>
        <p:spPr>
          <a:xfrm>
            <a:off x="274320" y="334656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  </a:t>
            </a:r>
            <a:r>
              <a:rPr b="1" lang="en-US" sz="1250" spc="-1" strike="noStrike">
                <a:solidFill>
                  <a:srgbClr val="ffffff"/>
                </a:solidFill>
                <a:latin typeface="Calibri"/>
              </a:rPr>
              <a:t>Guide Scrum Process</a:t>
            </a:r>
            <a:endParaRPr b="0" lang="en-US" sz="1250" spc="-1" strike="noStrike">
              <a:solidFill>
                <a:srgbClr val="000000"/>
              </a:solidFill>
              <a:latin typeface="Arial"/>
            </a:endParaRPr>
          </a:p>
        </p:txBody>
      </p:sp>
      <p:sp>
        <p:nvSpPr>
          <p:cNvPr id="109" name="Text 21"/>
          <p:cNvSpPr/>
          <p:nvPr/>
        </p:nvSpPr>
        <p:spPr>
          <a:xfrm>
            <a:off x="384120" y="3858840"/>
            <a:ext cx="255996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Ensure all Scrum events take place on time and are productive — planning, standups, retros, reviews</a:t>
            </a:r>
            <a:endParaRPr b="0" lang="en-US" sz="1100" spc="-1" strike="noStrike">
              <a:solidFill>
                <a:srgbClr val="000000"/>
              </a:solidFill>
              <a:latin typeface="Arial"/>
            </a:endParaRPr>
          </a:p>
        </p:txBody>
      </p:sp>
      <p:sp>
        <p:nvSpPr>
          <p:cNvPr id="110" name="Shape 22"/>
          <p:cNvSpPr/>
          <p:nvPr/>
        </p:nvSpPr>
        <p:spPr>
          <a:xfrm>
            <a:off x="3182040" y="3346560"/>
            <a:ext cx="2788560" cy="1325520"/>
          </a:xfrm>
          <a:prstGeom prst="rect">
            <a:avLst/>
          </a:prstGeom>
          <a:solidFill>
            <a:srgbClr val="ffffff"/>
          </a:solidFill>
          <a:ln w="25400">
            <a:solidFill>
              <a:srgbClr val="6c3483"/>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 name="Shape 23"/>
          <p:cNvSpPr/>
          <p:nvPr/>
        </p:nvSpPr>
        <p:spPr>
          <a:xfrm>
            <a:off x="3182040" y="3346560"/>
            <a:ext cx="2788560" cy="456840"/>
          </a:xfrm>
          <a:prstGeom prst="rect">
            <a:avLst/>
          </a:prstGeom>
          <a:solidFill>
            <a:srgbClr val="6c3483"/>
          </a:solidFill>
          <a:ln w="12700">
            <a:solidFill>
              <a:srgbClr val="6c348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 name="Text 24"/>
          <p:cNvSpPr/>
          <p:nvPr/>
        </p:nvSpPr>
        <p:spPr>
          <a:xfrm>
            <a:off x="3182040" y="334656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  </a:t>
            </a:r>
            <a:r>
              <a:rPr b="1" lang="en-US" sz="1250" spc="-1" strike="noStrike">
                <a:solidFill>
                  <a:srgbClr val="ffffff"/>
                </a:solidFill>
                <a:latin typeface="Calibri"/>
              </a:rPr>
              <a:t>Coach the Team</a:t>
            </a:r>
            <a:endParaRPr b="0" lang="en-US" sz="1250" spc="-1" strike="noStrike">
              <a:solidFill>
                <a:srgbClr val="000000"/>
              </a:solidFill>
              <a:latin typeface="Arial"/>
            </a:endParaRPr>
          </a:p>
        </p:txBody>
      </p:sp>
      <p:sp>
        <p:nvSpPr>
          <p:cNvPr id="113" name="Text 25"/>
          <p:cNvSpPr/>
          <p:nvPr/>
        </p:nvSpPr>
        <p:spPr>
          <a:xfrm>
            <a:off x="3291840" y="3858840"/>
            <a:ext cx="255996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Offer advice and feedback — both one-to-one and at the organizational level — for continuous improvement</a:t>
            </a:r>
            <a:endParaRPr b="0" lang="en-US" sz="1100" spc="-1" strike="noStrike">
              <a:solidFill>
                <a:srgbClr val="000000"/>
              </a:solidFill>
              <a:latin typeface="Arial"/>
            </a:endParaRPr>
          </a:p>
        </p:txBody>
      </p:sp>
      <p:sp>
        <p:nvSpPr>
          <p:cNvPr id="114" name="Shape 26"/>
          <p:cNvSpPr/>
          <p:nvPr/>
        </p:nvSpPr>
        <p:spPr>
          <a:xfrm>
            <a:off x="6089760" y="3346560"/>
            <a:ext cx="2788560" cy="1325520"/>
          </a:xfrm>
          <a:prstGeom prst="rect">
            <a:avLst/>
          </a:prstGeom>
          <a:solidFill>
            <a:srgbClr val="ffffff"/>
          </a:solidFill>
          <a:ln w="25400">
            <a:solidFill>
              <a:srgbClr val="e67e22"/>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 name="Shape 27"/>
          <p:cNvSpPr/>
          <p:nvPr/>
        </p:nvSpPr>
        <p:spPr>
          <a:xfrm>
            <a:off x="6089760" y="3346560"/>
            <a:ext cx="2788560" cy="456840"/>
          </a:xfrm>
          <a:prstGeom prst="rect">
            <a:avLst/>
          </a:prstGeom>
          <a:solidFill>
            <a:srgbClr val="e67e22"/>
          </a:solidFill>
          <a:ln w="12700">
            <a:solidFill>
              <a:srgbClr val="e67e2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Text 28"/>
          <p:cNvSpPr/>
          <p:nvPr/>
        </p:nvSpPr>
        <p:spPr>
          <a:xfrm>
            <a:off x="6089760" y="3346560"/>
            <a:ext cx="278856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Calibri"/>
              </a:rPr>
              <a:t>🔧  </a:t>
            </a:r>
            <a:r>
              <a:rPr b="1" lang="en-US" sz="1250" spc="-1" strike="noStrike">
                <a:solidFill>
                  <a:srgbClr val="ffffff"/>
                </a:solidFill>
                <a:latin typeface="Calibri"/>
              </a:rPr>
              <a:t>Remove Blockers</a:t>
            </a:r>
            <a:endParaRPr b="0" lang="en-US" sz="1250" spc="-1" strike="noStrike">
              <a:solidFill>
                <a:srgbClr val="000000"/>
              </a:solidFill>
              <a:latin typeface="Arial"/>
            </a:endParaRPr>
          </a:p>
        </p:txBody>
      </p:sp>
      <p:sp>
        <p:nvSpPr>
          <p:cNvPr id="117" name="Text 29"/>
          <p:cNvSpPr/>
          <p:nvPr/>
        </p:nvSpPr>
        <p:spPr>
          <a:xfrm>
            <a:off x="6199560" y="3858840"/>
            <a:ext cx="255996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Help the team identify and resolve impediments that are blocking progress toward the sprint goal</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c2e"/>
        </a:solidFill>
      </p:bgPr>
    </p:bg>
    <p:spTree>
      <p:nvGrpSpPr>
        <p:cNvPr id="1" name=""/>
        <p:cNvGrpSpPr/>
        <p:nvPr/>
      </p:nvGrpSpPr>
      <p:grpSpPr>
        <a:xfrm>
          <a:off x="0" y="0"/>
          <a:ext cx="0" cy="0"/>
          <a:chOff x="0" y="0"/>
          <a:chExt cx="0" cy="0"/>
        </a:xfrm>
      </p:grpSpPr>
      <p:sp>
        <p:nvSpPr>
          <p:cNvPr id="118" name="Shape 0"/>
          <p:cNvSpPr/>
          <p:nvPr/>
        </p:nvSpPr>
        <p:spPr>
          <a:xfrm>
            <a:off x="0" y="0"/>
            <a:ext cx="9143640" cy="77688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Text 1"/>
          <p:cNvSpPr/>
          <p:nvPr/>
        </p:nvSpPr>
        <p:spPr>
          <a:xfrm>
            <a:off x="365760" y="0"/>
            <a:ext cx="84121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99" strike="noStrike">
                <a:solidFill>
                  <a:srgbClr val="ffffff"/>
                </a:solidFill>
                <a:latin typeface="Calibri"/>
              </a:rPr>
              <a:t>SCRUM MASTER — SERVANT LEADER &amp; COACH</a:t>
            </a:r>
            <a:endParaRPr b="0" lang="en-US" sz="1800" spc="-1" strike="noStrike">
              <a:solidFill>
                <a:srgbClr val="ffffff"/>
              </a:solidFill>
              <a:latin typeface="Arial"/>
            </a:endParaRPr>
          </a:p>
        </p:txBody>
      </p:sp>
      <p:sp>
        <p:nvSpPr>
          <p:cNvPr id="120" name="Shape 2"/>
          <p:cNvSpPr/>
          <p:nvPr/>
        </p:nvSpPr>
        <p:spPr>
          <a:xfrm>
            <a:off x="274320" y="914400"/>
            <a:ext cx="2788560" cy="3977280"/>
          </a:xfrm>
          <a:prstGeom prst="rect">
            <a:avLst/>
          </a:prstGeom>
          <a:solidFill>
            <a:srgbClr val="182535"/>
          </a:solidFill>
          <a:ln w="25400">
            <a:solidFill>
              <a:srgbClr val="e8533a"/>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Shape 3"/>
          <p:cNvSpPr/>
          <p:nvPr/>
        </p:nvSpPr>
        <p:spPr>
          <a:xfrm>
            <a:off x="274320" y="914400"/>
            <a:ext cx="2788560" cy="52992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Text 4"/>
          <p:cNvSpPr/>
          <p:nvPr/>
        </p:nvSpPr>
        <p:spPr>
          <a:xfrm>
            <a:off x="274320" y="914400"/>
            <a:ext cx="2788560" cy="529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49" strike="noStrike">
                <a:solidFill>
                  <a:srgbClr val="ffffff"/>
                </a:solidFill>
                <a:latin typeface="Calibri"/>
              </a:rPr>
              <a:t>SERVES THE PRODUCT OWNER</a:t>
            </a:r>
            <a:endParaRPr b="0" lang="en-US" sz="1150" spc="-1" strike="noStrike">
              <a:solidFill>
                <a:srgbClr val="ffffff"/>
              </a:solidFill>
              <a:latin typeface="Arial"/>
            </a:endParaRPr>
          </a:p>
        </p:txBody>
      </p:sp>
      <p:sp>
        <p:nvSpPr>
          <p:cNvPr id="123" name="Shape 5"/>
          <p:cNvSpPr/>
          <p:nvPr/>
        </p:nvSpPr>
        <p:spPr>
          <a:xfrm>
            <a:off x="438840" y="162756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Text 6"/>
          <p:cNvSpPr/>
          <p:nvPr/>
        </p:nvSpPr>
        <p:spPr>
          <a:xfrm>
            <a:off x="749880" y="151776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Ensures sprint planning and reviews clearly describe value being delivered</a:t>
            </a:r>
            <a:endParaRPr b="0" lang="en-US" sz="1050" spc="-1" strike="noStrike">
              <a:solidFill>
                <a:srgbClr val="ffffff"/>
              </a:solidFill>
              <a:latin typeface="Arial"/>
            </a:endParaRPr>
          </a:p>
        </p:txBody>
      </p:sp>
      <p:sp>
        <p:nvSpPr>
          <p:cNvPr id="125" name="Shape 7"/>
          <p:cNvSpPr/>
          <p:nvPr/>
        </p:nvSpPr>
        <p:spPr>
          <a:xfrm>
            <a:off x="438840" y="243216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Text 8"/>
          <p:cNvSpPr/>
          <p:nvPr/>
        </p:nvSpPr>
        <p:spPr>
          <a:xfrm>
            <a:off x="749880" y="23227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Helps the PO manage the backlog effectively and maintain a clear product vision</a:t>
            </a:r>
            <a:endParaRPr b="0" lang="en-US" sz="1050" spc="-1" strike="noStrike">
              <a:solidFill>
                <a:srgbClr val="ffffff"/>
              </a:solidFill>
              <a:latin typeface="Arial"/>
            </a:endParaRPr>
          </a:p>
        </p:txBody>
      </p:sp>
      <p:sp>
        <p:nvSpPr>
          <p:cNvPr id="127" name="Shape 9"/>
          <p:cNvSpPr/>
          <p:nvPr/>
        </p:nvSpPr>
        <p:spPr>
          <a:xfrm>
            <a:off x="438840" y="323712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10"/>
          <p:cNvSpPr/>
          <p:nvPr/>
        </p:nvSpPr>
        <p:spPr>
          <a:xfrm>
            <a:off x="749880" y="31273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Works with the PO to communicate priorities and goals to the development team</a:t>
            </a:r>
            <a:endParaRPr b="0" lang="en-US" sz="1050" spc="-1" strike="noStrike">
              <a:solidFill>
                <a:srgbClr val="ffffff"/>
              </a:solidFill>
              <a:latin typeface="Arial"/>
            </a:endParaRPr>
          </a:p>
        </p:txBody>
      </p:sp>
      <p:sp>
        <p:nvSpPr>
          <p:cNvPr id="129" name="Shape 11"/>
          <p:cNvSpPr/>
          <p:nvPr/>
        </p:nvSpPr>
        <p:spPr>
          <a:xfrm>
            <a:off x="438840" y="4041720"/>
            <a:ext cx="237240" cy="23724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0" name="Text 12"/>
          <p:cNvSpPr/>
          <p:nvPr/>
        </p:nvSpPr>
        <p:spPr>
          <a:xfrm>
            <a:off x="749880" y="39319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Facilitates backlog refinement to keep items ready for sprinting</a:t>
            </a:r>
            <a:endParaRPr b="0" lang="en-US" sz="1050" spc="-1" strike="noStrike">
              <a:solidFill>
                <a:srgbClr val="ffffff"/>
              </a:solidFill>
              <a:latin typeface="Arial"/>
            </a:endParaRPr>
          </a:p>
        </p:txBody>
      </p:sp>
      <p:sp>
        <p:nvSpPr>
          <p:cNvPr id="131" name="Shape 13"/>
          <p:cNvSpPr/>
          <p:nvPr/>
        </p:nvSpPr>
        <p:spPr>
          <a:xfrm>
            <a:off x="3154680" y="914400"/>
            <a:ext cx="2788560" cy="3977280"/>
          </a:xfrm>
          <a:prstGeom prst="rect">
            <a:avLst/>
          </a:prstGeom>
          <a:solidFill>
            <a:srgbClr val="182535"/>
          </a:solidFill>
          <a:ln w="25400">
            <a:solidFill>
              <a:srgbClr val="2e6db4"/>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Shape 14"/>
          <p:cNvSpPr/>
          <p:nvPr/>
        </p:nvSpPr>
        <p:spPr>
          <a:xfrm>
            <a:off x="3154680" y="914400"/>
            <a:ext cx="2788560" cy="52992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3" name="Text 15"/>
          <p:cNvSpPr/>
          <p:nvPr/>
        </p:nvSpPr>
        <p:spPr>
          <a:xfrm>
            <a:off x="3154680" y="914400"/>
            <a:ext cx="2788560" cy="529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49" strike="noStrike">
                <a:solidFill>
                  <a:srgbClr val="ffffff"/>
                </a:solidFill>
                <a:latin typeface="Calibri"/>
              </a:rPr>
              <a:t>SERVES THE DEV TEAM</a:t>
            </a:r>
            <a:endParaRPr b="0" lang="en-US" sz="1150" spc="-1" strike="noStrike">
              <a:solidFill>
                <a:srgbClr val="ffffff"/>
              </a:solidFill>
              <a:latin typeface="Arial"/>
            </a:endParaRPr>
          </a:p>
        </p:txBody>
      </p:sp>
      <p:sp>
        <p:nvSpPr>
          <p:cNvPr id="134" name="Shape 16"/>
          <p:cNvSpPr/>
          <p:nvPr/>
        </p:nvSpPr>
        <p:spPr>
          <a:xfrm>
            <a:off x="3319200" y="162756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 name="Text 17"/>
          <p:cNvSpPr/>
          <p:nvPr/>
        </p:nvSpPr>
        <p:spPr>
          <a:xfrm>
            <a:off x="3630240" y="151776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Coaches the team on self-organization and helps them step outside comfort zones</a:t>
            </a:r>
            <a:endParaRPr b="0" lang="en-US" sz="1050" spc="-1" strike="noStrike">
              <a:solidFill>
                <a:srgbClr val="ffffff"/>
              </a:solidFill>
              <a:latin typeface="Arial"/>
            </a:endParaRPr>
          </a:p>
        </p:txBody>
      </p:sp>
      <p:sp>
        <p:nvSpPr>
          <p:cNvPr id="136" name="Shape 18"/>
          <p:cNvSpPr/>
          <p:nvPr/>
        </p:nvSpPr>
        <p:spPr>
          <a:xfrm>
            <a:off x="3319200" y="243216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 name="Text 19"/>
          <p:cNvSpPr/>
          <p:nvPr/>
        </p:nvSpPr>
        <p:spPr>
          <a:xfrm>
            <a:off x="3630240" y="23227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Uses practices like 'delegation poker' to clarify role boundaries and responsibilities</a:t>
            </a:r>
            <a:endParaRPr b="0" lang="en-US" sz="1050" spc="-1" strike="noStrike">
              <a:solidFill>
                <a:srgbClr val="ffffff"/>
              </a:solidFill>
              <a:latin typeface="Arial"/>
            </a:endParaRPr>
          </a:p>
        </p:txBody>
      </p:sp>
      <p:sp>
        <p:nvSpPr>
          <p:cNvPr id="138" name="Shape 20"/>
          <p:cNvSpPr/>
          <p:nvPr/>
        </p:nvSpPr>
        <p:spPr>
          <a:xfrm>
            <a:off x="3319200" y="323712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Text 21"/>
          <p:cNvSpPr/>
          <p:nvPr/>
        </p:nvSpPr>
        <p:spPr>
          <a:xfrm>
            <a:off x="3630240" y="31273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Ensures the daily standup happens and serves the team's transparency needs</a:t>
            </a:r>
            <a:endParaRPr b="0" lang="en-US" sz="1050" spc="-1" strike="noStrike">
              <a:solidFill>
                <a:srgbClr val="ffffff"/>
              </a:solidFill>
              <a:latin typeface="Arial"/>
            </a:endParaRPr>
          </a:p>
        </p:txBody>
      </p:sp>
      <p:sp>
        <p:nvSpPr>
          <p:cNvPr id="140" name="Shape 22"/>
          <p:cNvSpPr/>
          <p:nvPr/>
        </p:nvSpPr>
        <p:spPr>
          <a:xfrm>
            <a:off x="3319200" y="404172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Text 23"/>
          <p:cNvSpPr/>
          <p:nvPr/>
        </p:nvSpPr>
        <p:spPr>
          <a:xfrm>
            <a:off x="3630240" y="39319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Acts as a mirror — helping the team reflect on and improve how they work</a:t>
            </a:r>
            <a:endParaRPr b="0" lang="en-US" sz="1050" spc="-1" strike="noStrike">
              <a:solidFill>
                <a:srgbClr val="ffffff"/>
              </a:solidFill>
              <a:latin typeface="Arial"/>
            </a:endParaRPr>
          </a:p>
        </p:txBody>
      </p:sp>
      <p:sp>
        <p:nvSpPr>
          <p:cNvPr id="142" name="Shape 24"/>
          <p:cNvSpPr/>
          <p:nvPr/>
        </p:nvSpPr>
        <p:spPr>
          <a:xfrm>
            <a:off x="6035040" y="914400"/>
            <a:ext cx="2788560" cy="3977280"/>
          </a:xfrm>
          <a:prstGeom prst="rect">
            <a:avLst/>
          </a:prstGeom>
          <a:solidFill>
            <a:srgbClr val="182535"/>
          </a:solidFill>
          <a:ln w="25400">
            <a:solidFill>
              <a:srgbClr val="f5a623"/>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Shape 25"/>
          <p:cNvSpPr/>
          <p:nvPr/>
        </p:nvSpPr>
        <p:spPr>
          <a:xfrm>
            <a:off x="6035040" y="914400"/>
            <a:ext cx="2788560" cy="529920"/>
          </a:xfrm>
          <a:prstGeom prst="rect">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 name="Text 26"/>
          <p:cNvSpPr/>
          <p:nvPr/>
        </p:nvSpPr>
        <p:spPr>
          <a:xfrm>
            <a:off x="6035040" y="914400"/>
            <a:ext cx="2788560" cy="529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49" strike="noStrike">
                <a:solidFill>
                  <a:srgbClr val="ffffff"/>
                </a:solidFill>
                <a:latin typeface="Calibri"/>
              </a:rPr>
              <a:t>SERVES THE ORGANIZATION</a:t>
            </a:r>
            <a:endParaRPr b="0" lang="en-US" sz="1150" spc="-1" strike="noStrike">
              <a:solidFill>
                <a:srgbClr val="ffffff"/>
              </a:solidFill>
              <a:latin typeface="Arial"/>
            </a:endParaRPr>
          </a:p>
        </p:txBody>
      </p:sp>
      <p:sp>
        <p:nvSpPr>
          <p:cNvPr id="145" name="Shape 27"/>
          <p:cNvSpPr/>
          <p:nvPr/>
        </p:nvSpPr>
        <p:spPr>
          <a:xfrm>
            <a:off x="6199560" y="1627560"/>
            <a:ext cx="237240" cy="237240"/>
          </a:xfrm>
          <a:prstGeom prst="ellipse">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 name="Text 28"/>
          <p:cNvSpPr/>
          <p:nvPr/>
        </p:nvSpPr>
        <p:spPr>
          <a:xfrm>
            <a:off x="6510600" y="151776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Leads and coaches the entire organization in Scrum adoption</a:t>
            </a:r>
            <a:endParaRPr b="0" lang="en-US" sz="1050" spc="-1" strike="noStrike">
              <a:solidFill>
                <a:srgbClr val="ffffff"/>
              </a:solidFill>
              <a:latin typeface="Arial"/>
            </a:endParaRPr>
          </a:p>
        </p:txBody>
      </p:sp>
      <p:sp>
        <p:nvSpPr>
          <p:cNvPr id="147" name="Shape 29"/>
          <p:cNvSpPr/>
          <p:nvPr/>
        </p:nvSpPr>
        <p:spPr>
          <a:xfrm>
            <a:off x="6199560" y="2432160"/>
            <a:ext cx="237240" cy="237240"/>
          </a:xfrm>
          <a:prstGeom prst="ellipse">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8" name="Text 30"/>
          <p:cNvSpPr/>
          <p:nvPr/>
        </p:nvSpPr>
        <p:spPr>
          <a:xfrm>
            <a:off x="6510600" y="23227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Advocates for agile principles beyond the immediate team</a:t>
            </a:r>
            <a:endParaRPr b="0" lang="en-US" sz="1050" spc="-1" strike="noStrike">
              <a:solidFill>
                <a:srgbClr val="ffffff"/>
              </a:solidFill>
              <a:latin typeface="Arial"/>
            </a:endParaRPr>
          </a:p>
        </p:txBody>
      </p:sp>
      <p:sp>
        <p:nvSpPr>
          <p:cNvPr id="149" name="Shape 31"/>
          <p:cNvSpPr/>
          <p:nvPr/>
        </p:nvSpPr>
        <p:spPr>
          <a:xfrm>
            <a:off x="6199560" y="3237120"/>
            <a:ext cx="237240" cy="237240"/>
          </a:xfrm>
          <a:prstGeom prst="ellipse">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0" name="Text 32"/>
          <p:cNvSpPr/>
          <p:nvPr/>
        </p:nvSpPr>
        <p:spPr>
          <a:xfrm>
            <a:off x="6510600" y="31273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Works with other Scrum Masters to increase Scrum effectiveness at scale</a:t>
            </a:r>
            <a:endParaRPr b="0" lang="en-US" sz="1050" spc="-1" strike="noStrike">
              <a:solidFill>
                <a:srgbClr val="ffffff"/>
              </a:solidFill>
              <a:latin typeface="Arial"/>
            </a:endParaRPr>
          </a:p>
        </p:txBody>
      </p:sp>
      <p:sp>
        <p:nvSpPr>
          <p:cNvPr id="151" name="Shape 33"/>
          <p:cNvSpPr/>
          <p:nvPr/>
        </p:nvSpPr>
        <p:spPr>
          <a:xfrm>
            <a:off x="6199560" y="4041720"/>
            <a:ext cx="237240" cy="237240"/>
          </a:xfrm>
          <a:prstGeom prst="ellipse">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2" name="Text 34"/>
          <p:cNvSpPr/>
          <p:nvPr/>
        </p:nvSpPr>
        <p:spPr>
          <a:xfrm>
            <a:off x="6510600" y="3931920"/>
            <a:ext cx="21942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f3f6fa"/>
                </a:solidFill>
                <a:latin typeface="Calibri"/>
              </a:rPr>
              <a:t>Plans and facilitates Scrum implementations across the broader organization</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153" name="Shape 0"/>
          <p:cNvSpPr/>
          <p:nvPr/>
        </p:nvSpPr>
        <p:spPr>
          <a:xfrm>
            <a:off x="0" y="0"/>
            <a:ext cx="9143640" cy="77688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Shape 1"/>
          <p:cNvSpPr/>
          <p:nvPr/>
        </p:nvSpPr>
        <p:spPr>
          <a:xfrm>
            <a:off x="274320" y="91440"/>
            <a:ext cx="594000" cy="59400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Text 2"/>
          <p:cNvSpPr/>
          <p:nvPr/>
        </p:nvSpPr>
        <p:spPr>
          <a:xfrm>
            <a:off x="274320" y="91440"/>
            <a:ext cx="594000" cy="594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Calibri"/>
              </a:rPr>
              <a:t>DT</a:t>
            </a:r>
            <a:endParaRPr b="0" lang="en-US" sz="1500" spc="-1" strike="noStrike">
              <a:solidFill>
                <a:srgbClr val="000000"/>
              </a:solidFill>
              <a:latin typeface="Arial"/>
            </a:endParaRPr>
          </a:p>
        </p:txBody>
      </p:sp>
      <p:sp>
        <p:nvSpPr>
          <p:cNvPr id="156" name="Text 3"/>
          <p:cNvSpPr/>
          <p:nvPr/>
        </p:nvSpPr>
        <p:spPr>
          <a:xfrm>
            <a:off x="1005840" y="0"/>
            <a:ext cx="77720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299" strike="noStrike">
                <a:solidFill>
                  <a:srgbClr val="ffffff"/>
                </a:solidFill>
                <a:latin typeface="Calibri"/>
              </a:rPr>
              <a:t>DEVELOPMENT TEAM</a:t>
            </a:r>
            <a:endParaRPr b="0" lang="en-US" sz="2200" spc="-1" strike="noStrike">
              <a:solidFill>
                <a:srgbClr val="000000"/>
              </a:solidFill>
              <a:latin typeface="Arial"/>
            </a:endParaRPr>
          </a:p>
        </p:txBody>
      </p:sp>
      <p:sp>
        <p:nvSpPr>
          <p:cNvPr id="157" name="Shape 4"/>
          <p:cNvSpPr/>
          <p:nvPr/>
        </p:nvSpPr>
        <p:spPr>
          <a:xfrm>
            <a:off x="365760" y="868680"/>
            <a:ext cx="8412120" cy="868320"/>
          </a:xfrm>
          <a:prstGeom prst="rect">
            <a:avLst/>
          </a:prstGeom>
          <a:solidFill>
            <a:srgbClr val="2e6db4"/>
          </a:solidFill>
          <a:ln w="12700">
            <a:solidFill>
              <a:srgbClr val="2e6db4"/>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Text 5"/>
          <p:cNvSpPr/>
          <p:nvPr/>
        </p:nvSpPr>
        <p:spPr>
          <a:xfrm>
            <a:off x="365760" y="868680"/>
            <a:ext cx="8412120" cy="868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200" spc="-1" strike="noStrike">
                <a:solidFill>
                  <a:srgbClr val="ffffff"/>
                </a:solidFill>
                <a:latin typeface="Calibri"/>
              </a:rPr>
              <a:t>The development team consists of professionals who deliver the actual work — the working product increment — at the end of every sprint. They are the most important element of any Agile organization because they deliver real value to customers and stakeholders.</a:t>
            </a:r>
            <a:endParaRPr b="0" lang="en-US" sz="1200" spc="-1" strike="noStrike">
              <a:solidFill>
                <a:srgbClr val="000000"/>
              </a:solidFill>
              <a:latin typeface="Arial"/>
            </a:endParaRPr>
          </a:p>
        </p:txBody>
      </p:sp>
      <p:sp>
        <p:nvSpPr>
          <p:cNvPr id="159" name="Shape 6"/>
          <p:cNvSpPr/>
          <p:nvPr/>
        </p:nvSpPr>
        <p:spPr>
          <a:xfrm>
            <a:off x="274320" y="1828800"/>
            <a:ext cx="4205880" cy="3062880"/>
          </a:xfrm>
          <a:prstGeom prst="rect">
            <a:avLst/>
          </a:prstGeom>
          <a:solidFill>
            <a:srgbClr val="ffffff"/>
          </a:solidFill>
          <a:ln w="25400">
            <a:solidFill>
              <a:srgbClr val="2e6db4"/>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0" name="Shape 7"/>
          <p:cNvSpPr/>
          <p:nvPr/>
        </p:nvSpPr>
        <p:spPr>
          <a:xfrm>
            <a:off x="274320" y="1828800"/>
            <a:ext cx="4205880" cy="50256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Text 8"/>
          <p:cNvSpPr/>
          <p:nvPr/>
        </p:nvSpPr>
        <p:spPr>
          <a:xfrm>
            <a:off x="274320" y="1828800"/>
            <a:ext cx="42058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rPr>
              <a:t>KEY CHARACTERISTICS</a:t>
            </a:r>
            <a:endParaRPr b="0" lang="en-US" sz="1300" spc="-1" strike="noStrike">
              <a:solidFill>
                <a:srgbClr val="000000"/>
              </a:solidFill>
              <a:latin typeface="Arial"/>
            </a:endParaRPr>
          </a:p>
        </p:txBody>
      </p:sp>
      <p:sp>
        <p:nvSpPr>
          <p:cNvPr id="162" name="Shape 9"/>
          <p:cNvSpPr/>
          <p:nvPr/>
        </p:nvSpPr>
        <p:spPr>
          <a:xfrm>
            <a:off x="411480" y="2395800"/>
            <a:ext cx="3931560" cy="566640"/>
          </a:xfrm>
          <a:prstGeom prst="rect">
            <a:avLst/>
          </a:prstGeom>
          <a:solidFill>
            <a:srgbClr val="f3f6fa"/>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Shape 10"/>
          <p:cNvSpPr/>
          <p:nvPr/>
        </p:nvSpPr>
        <p:spPr>
          <a:xfrm>
            <a:off x="411480" y="2395800"/>
            <a:ext cx="164160" cy="5666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Text 11"/>
          <p:cNvSpPr/>
          <p:nvPr/>
        </p:nvSpPr>
        <p:spPr>
          <a:xfrm>
            <a:off x="658440" y="243216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2e6db4"/>
                </a:solidFill>
                <a:latin typeface="Calibri"/>
              </a:rPr>
              <a:t>Self-Organizing</a:t>
            </a:r>
            <a:endParaRPr b="0" lang="en-US" sz="1200" spc="-1" strike="noStrike">
              <a:solidFill>
                <a:srgbClr val="000000"/>
              </a:solidFill>
              <a:latin typeface="Arial"/>
            </a:endParaRPr>
          </a:p>
        </p:txBody>
      </p:sp>
      <p:sp>
        <p:nvSpPr>
          <p:cNvPr id="165" name="Text 12"/>
          <p:cNvSpPr/>
          <p:nvPr/>
        </p:nvSpPr>
        <p:spPr>
          <a:xfrm>
            <a:off x="658440" y="2688480"/>
            <a:ext cx="365724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The team decides how to turn the product backlog into working increments. No one tells them how to do the work.</a:t>
            </a:r>
            <a:endParaRPr b="0" lang="en-US" sz="1000" spc="-1" strike="noStrike">
              <a:solidFill>
                <a:srgbClr val="000000"/>
              </a:solidFill>
              <a:latin typeface="Arial"/>
            </a:endParaRPr>
          </a:p>
        </p:txBody>
      </p:sp>
      <p:sp>
        <p:nvSpPr>
          <p:cNvPr id="166" name="Shape 13"/>
          <p:cNvSpPr/>
          <p:nvPr/>
        </p:nvSpPr>
        <p:spPr>
          <a:xfrm>
            <a:off x="411480" y="3054240"/>
            <a:ext cx="3931560" cy="566640"/>
          </a:xfrm>
          <a:prstGeom prst="rect">
            <a:avLst/>
          </a:prstGeom>
          <a:solidFill>
            <a:srgbClr val="f3f6fa"/>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7" name="Shape 14"/>
          <p:cNvSpPr/>
          <p:nvPr/>
        </p:nvSpPr>
        <p:spPr>
          <a:xfrm>
            <a:off x="411480" y="3054240"/>
            <a:ext cx="164160" cy="5666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8" name="Text 15"/>
          <p:cNvSpPr/>
          <p:nvPr/>
        </p:nvSpPr>
        <p:spPr>
          <a:xfrm>
            <a:off x="658440" y="309060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2e6db4"/>
                </a:solidFill>
                <a:latin typeface="Calibri"/>
              </a:rPr>
              <a:t>Cross-Functional</a:t>
            </a:r>
            <a:endParaRPr b="0" lang="en-US" sz="1200" spc="-1" strike="noStrike">
              <a:solidFill>
                <a:srgbClr val="000000"/>
              </a:solidFill>
              <a:latin typeface="Arial"/>
            </a:endParaRPr>
          </a:p>
        </p:txBody>
      </p:sp>
      <p:sp>
        <p:nvSpPr>
          <p:cNvPr id="169" name="Text 16"/>
          <p:cNvSpPr/>
          <p:nvPr/>
        </p:nvSpPr>
        <p:spPr>
          <a:xfrm>
            <a:off x="658440" y="3346560"/>
            <a:ext cx="365724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The team has all the skills necessary to deliver a potentially shippable product increment without external dependencies.</a:t>
            </a:r>
            <a:endParaRPr b="0" lang="en-US" sz="1000" spc="-1" strike="noStrike">
              <a:solidFill>
                <a:srgbClr val="000000"/>
              </a:solidFill>
              <a:latin typeface="Arial"/>
            </a:endParaRPr>
          </a:p>
        </p:txBody>
      </p:sp>
      <p:sp>
        <p:nvSpPr>
          <p:cNvPr id="170" name="Shape 17"/>
          <p:cNvSpPr/>
          <p:nvPr/>
        </p:nvSpPr>
        <p:spPr>
          <a:xfrm>
            <a:off x="411480" y="3712320"/>
            <a:ext cx="3931560" cy="566640"/>
          </a:xfrm>
          <a:prstGeom prst="rect">
            <a:avLst/>
          </a:prstGeom>
          <a:solidFill>
            <a:srgbClr val="f3f6fa"/>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Shape 18"/>
          <p:cNvSpPr/>
          <p:nvPr/>
        </p:nvSpPr>
        <p:spPr>
          <a:xfrm>
            <a:off x="411480" y="3712320"/>
            <a:ext cx="164160" cy="5666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2" name="Text 19"/>
          <p:cNvSpPr/>
          <p:nvPr/>
        </p:nvSpPr>
        <p:spPr>
          <a:xfrm>
            <a:off x="658440" y="374904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2e6db4"/>
                </a:solidFill>
                <a:latin typeface="Calibri"/>
              </a:rPr>
              <a:t>Ideal Size: 3–9</a:t>
            </a:r>
            <a:endParaRPr b="0" lang="en-US" sz="1200" spc="-1" strike="noStrike">
              <a:solidFill>
                <a:srgbClr val="000000"/>
              </a:solidFill>
              <a:latin typeface="Arial"/>
            </a:endParaRPr>
          </a:p>
        </p:txBody>
      </p:sp>
      <p:sp>
        <p:nvSpPr>
          <p:cNvPr id="173" name="Text 20"/>
          <p:cNvSpPr/>
          <p:nvPr/>
        </p:nvSpPr>
        <p:spPr>
          <a:xfrm>
            <a:off x="658440" y="4005000"/>
            <a:ext cx="365724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Small enough for fast communication and trust, large enough to complete meaningful work within a sprint.</a:t>
            </a:r>
            <a:endParaRPr b="0" lang="en-US" sz="1000" spc="-1" strike="noStrike">
              <a:solidFill>
                <a:srgbClr val="000000"/>
              </a:solidFill>
              <a:latin typeface="Arial"/>
            </a:endParaRPr>
          </a:p>
        </p:txBody>
      </p:sp>
      <p:sp>
        <p:nvSpPr>
          <p:cNvPr id="174" name="Shape 21"/>
          <p:cNvSpPr/>
          <p:nvPr/>
        </p:nvSpPr>
        <p:spPr>
          <a:xfrm>
            <a:off x="411480" y="4370760"/>
            <a:ext cx="3931560" cy="566640"/>
          </a:xfrm>
          <a:prstGeom prst="rect">
            <a:avLst/>
          </a:prstGeom>
          <a:solidFill>
            <a:srgbClr val="f3f6fa"/>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5" name="Shape 22"/>
          <p:cNvSpPr/>
          <p:nvPr/>
        </p:nvSpPr>
        <p:spPr>
          <a:xfrm>
            <a:off x="411480" y="4370760"/>
            <a:ext cx="164160" cy="5666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6" name="Text 23"/>
          <p:cNvSpPr/>
          <p:nvPr/>
        </p:nvSpPr>
        <p:spPr>
          <a:xfrm>
            <a:off x="658440" y="4407480"/>
            <a:ext cx="365724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2e6db4"/>
                </a:solidFill>
                <a:latin typeface="Calibri"/>
              </a:rPr>
              <a:t>Collectively Own</a:t>
            </a:r>
            <a:endParaRPr b="0" lang="en-US" sz="1200" spc="-1" strike="noStrike">
              <a:solidFill>
                <a:srgbClr val="000000"/>
              </a:solidFill>
              <a:latin typeface="Arial"/>
            </a:endParaRPr>
          </a:p>
        </p:txBody>
      </p:sp>
      <p:sp>
        <p:nvSpPr>
          <p:cNvPr id="177" name="Text 24"/>
          <p:cNvSpPr/>
          <p:nvPr/>
        </p:nvSpPr>
        <p:spPr>
          <a:xfrm>
            <a:off x="658440" y="4663440"/>
            <a:ext cx="365724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There are no titles within the team. Sub-teams are not recognized. Accountability belongs to the whole team together.</a:t>
            </a:r>
            <a:endParaRPr b="0" lang="en-US" sz="1000" spc="-1" strike="noStrike">
              <a:solidFill>
                <a:srgbClr val="000000"/>
              </a:solidFill>
              <a:latin typeface="Arial"/>
            </a:endParaRPr>
          </a:p>
        </p:txBody>
      </p:sp>
      <p:sp>
        <p:nvSpPr>
          <p:cNvPr id="178" name="Shape 25"/>
          <p:cNvSpPr/>
          <p:nvPr/>
        </p:nvSpPr>
        <p:spPr>
          <a:xfrm>
            <a:off x="4663440" y="1828800"/>
            <a:ext cx="4205880" cy="3062880"/>
          </a:xfrm>
          <a:prstGeom prst="rect">
            <a:avLst/>
          </a:prstGeom>
          <a:solidFill>
            <a:srgbClr val="ffffff"/>
          </a:solidFill>
          <a:ln w="25400">
            <a:solidFill>
              <a:srgbClr val="2e6db4"/>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9" name="Shape 26"/>
          <p:cNvSpPr/>
          <p:nvPr/>
        </p:nvSpPr>
        <p:spPr>
          <a:xfrm>
            <a:off x="4663440" y="1828800"/>
            <a:ext cx="4205880" cy="50256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Text 27"/>
          <p:cNvSpPr/>
          <p:nvPr/>
        </p:nvSpPr>
        <p:spPr>
          <a:xfrm>
            <a:off x="4663440" y="1828800"/>
            <a:ext cx="420588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rPr>
              <a:t>RESPONSIBILITIES</a:t>
            </a:r>
            <a:endParaRPr b="0" lang="en-US" sz="1300" spc="-1" strike="noStrike">
              <a:solidFill>
                <a:srgbClr val="000000"/>
              </a:solidFill>
              <a:latin typeface="Arial"/>
            </a:endParaRPr>
          </a:p>
        </p:txBody>
      </p:sp>
      <p:sp>
        <p:nvSpPr>
          <p:cNvPr id="181" name="Shape 28"/>
          <p:cNvSpPr/>
          <p:nvPr/>
        </p:nvSpPr>
        <p:spPr>
          <a:xfrm>
            <a:off x="4800600" y="246888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Text 29"/>
          <p:cNvSpPr/>
          <p:nvPr/>
        </p:nvSpPr>
        <p:spPr>
          <a:xfrm>
            <a:off x="5120640" y="239580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Deliver working product increments every sprint</a:t>
            </a:r>
            <a:endParaRPr b="0" lang="en-US" sz="1100" spc="-1" strike="noStrike">
              <a:solidFill>
                <a:srgbClr val="000000"/>
              </a:solidFill>
              <a:latin typeface="Arial"/>
            </a:endParaRPr>
          </a:p>
        </p:txBody>
      </p:sp>
      <p:sp>
        <p:nvSpPr>
          <p:cNvPr id="183" name="Shape 30"/>
          <p:cNvSpPr/>
          <p:nvPr/>
        </p:nvSpPr>
        <p:spPr>
          <a:xfrm>
            <a:off x="4800600" y="283464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Text 31"/>
          <p:cNvSpPr/>
          <p:nvPr/>
        </p:nvSpPr>
        <p:spPr>
          <a:xfrm>
            <a:off x="5120640" y="276156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Self-organize to plan and complete sprint tasks</a:t>
            </a:r>
            <a:endParaRPr b="0" lang="en-US" sz="1100" spc="-1" strike="noStrike">
              <a:solidFill>
                <a:srgbClr val="000000"/>
              </a:solidFill>
              <a:latin typeface="Arial"/>
            </a:endParaRPr>
          </a:p>
        </p:txBody>
      </p:sp>
      <p:sp>
        <p:nvSpPr>
          <p:cNvPr id="185" name="Shape 32"/>
          <p:cNvSpPr/>
          <p:nvPr/>
        </p:nvSpPr>
        <p:spPr>
          <a:xfrm>
            <a:off x="4800600" y="320040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6" name="Text 33"/>
          <p:cNvSpPr/>
          <p:nvPr/>
        </p:nvSpPr>
        <p:spPr>
          <a:xfrm>
            <a:off x="5120640" y="312732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Run the daily standup (Scrum master may facilitate)</a:t>
            </a:r>
            <a:endParaRPr b="0" lang="en-US" sz="1100" spc="-1" strike="noStrike">
              <a:solidFill>
                <a:srgbClr val="000000"/>
              </a:solidFill>
              <a:latin typeface="Arial"/>
            </a:endParaRPr>
          </a:p>
        </p:txBody>
      </p:sp>
      <p:sp>
        <p:nvSpPr>
          <p:cNvPr id="187" name="Shape 34"/>
          <p:cNvSpPr/>
          <p:nvPr/>
        </p:nvSpPr>
        <p:spPr>
          <a:xfrm>
            <a:off x="4800600" y="356616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Text 35"/>
          <p:cNvSpPr/>
          <p:nvPr/>
        </p:nvSpPr>
        <p:spPr>
          <a:xfrm>
            <a:off x="5120640" y="349308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Inspect and adapt through Daily Scrum events</a:t>
            </a:r>
            <a:endParaRPr b="0" lang="en-US" sz="1100" spc="-1" strike="noStrike">
              <a:solidFill>
                <a:srgbClr val="000000"/>
              </a:solidFill>
              <a:latin typeface="Arial"/>
            </a:endParaRPr>
          </a:p>
        </p:txBody>
      </p:sp>
      <p:sp>
        <p:nvSpPr>
          <p:cNvPr id="189" name="Shape 36"/>
          <p:cNvSpPr/>
          <p:nvPr/>
        </p:nvSpPr>
        <p:spPr>
          <a:xfrm>
            <a:off x="4800600" y="393192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Text 37"/>
          <p:cNvSpPr/>
          <p:nvPr/>
        </p:nvSpPr>
        <p:spPr>
          <a:xfrm>
            <a:off x="5120640" y="385884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Estimate backlog items for sprint planning</a:t>
            </a:r>
            <a:endParaRPr b="0" lang="en-US" sz="1100" spc="-1" strike="noStrike">
              <a:solidFill>
                <a:srgbClr val="000000"/>
              </a:solidFill>
              <a:latin typeface="Arial"/>
            </a:endParaRPr>
          </a:p>
        </p:txBody>
      </p:sp>
      <p:sp>
        <p:nvSpPr>
          <p:cNvPr id="191" name="Shape 38"/>
          <p:cNvSpPr/>
          <p:nvPr/>
        </p:nvSpPr>
        <p:spPr>
          <a:xfrm>
            <a:off x="4800600" y="429768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Text 39"/>
          <p:cNvSpPr/>
          <p:nvPr/>
        </p:nvSpPr>
        <p:spPr>
          <a:xfrm>
            <a:off x="5120640" y="422460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Maintain the Definition of Done across all output</a:t>
            </a:r>
            <a:endParaRPr b="0" lang="en-US" sz="1100" spc="-1" strike="noStrike">
              <a:solidFill>
                <a:srgbClr val="000000"/>
              </a:solidFill>
              <a:latin typeface="Arial"/>
            </a:endParaRPr>
          </a:p>
        </p:txBody>
      </p:sp>
      <p:sp>
        <p:nvSpPr>
          <p:cNvPr id="193" name="Shape 40"/>
          <p:cNvSpPr/>
          <p:nvPr/>
        </p:nvSpPr>
        <p:spPr>
          <a:xfrm>
            <a:off x="4800600" y="4663440"/>
            <a:ext cx="237240" cy="23724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4" name="Text 41"/>
          <p:cNvSpPr/>
          <p:nvPr/>
        </p:nvSpPr>
        <p:spPr>
          <a:xfrm>
            <a:off x="5120640" y="4590360"/>
            <a:ext cx="36572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253547"/>
                </a:solidFill>
                <a:latin typeface="Calibri"/>
              </a:rPr>
              <a:t>Help the PO understand technical constraints and trade-offs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c2e"/>
        </a:solidFill>
      </p:bgPr>
    </p:bg>
    <p:spTree>
      <p:nvGrpSpPr>
        <p:cNvPr id="1" name=""/>
        <p:cNvGrpSpPr/>
        <p:nvPr/>
      </p:nvGrpSpPr>
      <p:grpSpPr>
        <a:xfrm>
          <a:off x="0" y="0"/>
          <a:ext cx="0" cy="0"/>
          <a:chOff x="0" y="0"/>
          <a:chExt cx="0" cy="0"/>
        </a:xfrm>
      </p:grpSpPr>
      <p:sp>
        <p:nvSpPr>
          <p:cNvPr id="195" name="Shape 0"/>
          <p:cNvSpPr/>
          <p:nvPr/>
        </p:nvSpPr>
        <p:spPr>
          <a:xfrm>
            <a:off x="0" y="0"/>
            <a:ext cx="9143640" cy="776880"/>
          </a:xfrm>
          <a:prstGeom prst="rect">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6" name="Text 1"/>
          <p:cNvSpPr/>
          <p:nvPr/>
        </p:nvSpPr>
        <p:spPr>
          <a:xfrm>
            <a:off x="365760" y="0"/>
            <a:ext cx="84121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99" strike="noStrike">
                <a:solidFill>
                  <a:srgbClr val="ffffff"/>
                </a:solidFill>
                <a:latin typeface="Calibri"/>
              </a:rPr>
              <a:t>THREE ROLES AT A GLANCE — SIDE-BY-SIDE</a:t>
            </a:r>
            <a:endParaRPr b="0" lang="en-US" sz="1800" spc="-1" strike="noStrike">
              <a:solidFill>
                <a:srgbClr val="ffffff"/>
              </a:solidFill>
              <a:latin typeface="Arial"/>
            </a:endParaRPr>
          </a:p>
        </p:txBody>
      </p:sp>
      <p:sp>
        <p:nvSpPr>
          <p:cNvPr id="197" name="Shape 2"/>
          <p:cNvSpPr/>
          <p:nvPr/>
        </p:nvSpPr>
        <p:spPr>
          <a:xfrm>
            <a:off x="2944440" y="914400"/>
            <a:ext cx="1983960" cy="56664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Text 3"/>
          <p:cNvSpPr/>
          <p:nvPr/>
        </p:nvSpPr>
        <p:spPr>
          <a:xfrm>
            <a:off x="2944440" y="914400"/>
            <a:ext cx="198396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1" strike="noStrike">
                <a:solidFill>
                  <a:srgbClr val="ffffff"/>
                </a:solidFill>
                <a:latin typeface="Calibri"/>
              </a:rPr>
              <a:t>PO  PRODUCT OWNER</a:t>
            </a:r>
            <a:endParaRPr b="0" lang="en-US" sz="1150" spc="-1" strike="noStrike">
              <a:solidFill>
                <a:srgbClr val="ffffff"/>
              </a:solidFill>
              <a:latin typeface="Arial"/>
            </a:endParaRPr>
          </a:p>
        </p:txBody>
      </p:sp>
      <p:sp>
        <p:nvSpPr>
          <p:cNvPr id="199" name="Shape 4"/>
          <p:cNvSpPr/>
          <p:nvPr/>
        </p:nvSpPr>
        <p:spPr>
          <a:xfrm>
            <a:off x="5020200" y="914400"/>
            <a:ext cx="1983960" cy="56664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Text 5"/>
          <p:cNvSpPr/>
          <p:nvPr/>
        </p:nvSpPr>
        <p:spPr>
          <a:xfrm>
            <a:off x="5020200" y="914400"/>
            <a:ext cx="198396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1" strike="noStrike">
                <a:solidFill>
                  <a:srgbClr val="ffffff"/>
                </a:solidFill>
                <a:latin typeface="Calibri"/>
              </a:rPr>
              <a:t>SM  SCRUM MASTER</a:t>
            </a:r>
            <a:endParaRPr b="0" lang="en-US" sz="1150" spc="-1" strike="noStrike">
              <a:solidFill>
                <a:srgbClr val="ffffff"/>
              </a:solidFill>
              <a:latin typeface="Arial"/>
            </a:endParaRPr>
          </a:p>
        </p:txBody>
      </p:sp>
      <p:sp>
        <p:nvSpPr>
          <p:cNvPr id="201" name="Shape 6"/>
          <p:cNvSpPr/>
          <p:nvPr/>
        </p:nvSpPr>
        <p:spPr>
          <a:xfrm>
            <a:off x="7095600" y="914400"/>
            <a:ext cx="1983960" cy="5666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2" name="Text 7"/>
          <p:cNvSpPr/>
          <p:nvPr/>
        </p:nvSpPr>
        <p:spPr>
          <a:xfrm>
            <a:off x="7095600" y="914400"/>
            <a:ext cx="198396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50" spc="-1" strike="noStrike">
                <a:solidFill>
                  <a:srgbClr val="ffffff"/>
                </a:solidFill>
                <a:latin typeface="Calibri"/>
              </a:rPr>
              <a:t>DT  DEV TEAM</a:t>
            </a:r>
            <a:endParaRPr b="0" lang="en-US" sz="1150" spc="-1" strike="noStrike">
              <a:solidFill>
                <a:srgbClr val="ffffff"/>
              </a:solidFill>
              <a:latin typeface="Arial"/>
            </a:endParaRPr>
          </a:p>
        </p:txBody>
      </p:sp>
      <p:sp>
        <p:nvSpPr>
          <p:cNvPr id="203" name="Shape 8"/>
          <p:cNvSpPr/>
          <p:nvPr/>
        </p:nvSpPr>
        <p:spPr>
          <a:xfrm>
            <a:off x="274320" y="1536120"/>
            <a:ext cx="2605680" cy="594000"/>
          </a:xfrm>
          <a:prstGeom prst="rect">
            <a:avLst/>
          </a:prstGeom>
          <a:solidFill>
            <a:srgbClr val="182535"/>
          </a:solidFill>
          <a:ln w="635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4" name="Text 9"/>
          <p:cNvSpPr/>
          <p:nvPr/>
        </p:nvSpPr>
        <p:spPr>
          <a:xfrm>
            <a:off x="347400" y="1536120"/>
            <a:ext cx="246852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f5a623"/>
                </a:solidFill>
                <a:latin typeface="Calibri"/>
              </a:rPr>
              <a:t>Primary Focus</a:t>
            </a:r>
            <a:endParaRPr b="0" lang="en-US" sz="1150" spc="-1" strike="noStrike">
              <a:solidFill>
                <a:srgbClr val="ffffff"/>
              </a:solidFill>
              <a:latin typeface="Arial"/>
            </a:endParaRPr>
          </a:p>
        </p:txBody>
      </p:sp>
      <p:sp>
        <p:nvSpPr>
          <p:cNvPr id="205" name="Shape 10"/>
          <p:cNvSpPr/>
          <p:nvPr/>
        </p:nvSpPr>
        <p:spPr>
          <a:xfrm>
            <a:off x="2944440" y="1536120"/>
            <a:ext cx="1983960" cy="594000"/>
          </a:xfrm>
          <a:prstGeom prst="rect">
            <a:avLst/>
          </a:prstGeom>
          <a:solidFill>
            <a:srgbClr val="182535"/>
          </a:solidFill>
          <a:ln w="635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6" name="Text 11"/>
          <p:cNvSpPr/>
          <p:nvPr/>
        </p:nvSpPr>
        <p:spPr>
          <a:xfrm>
            <a:off x="3035880" y="15361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Maximize business value and product ROI</a:t>
            </a:r>
            <a:endParaRPr b="0" lang="en-US" sz="1000" spc="-1" strike="noStrike">
              <a:solidFill>
                <a:srgbClr val="ffffff"/>
              </a:solidFill>
              <a:latin typeface="Arial"/>
            </a:endParaRPr>
          </a:p>
        </p:txBody>
      </p:sp>
      <p:sp>
        <p:nvSpPr>
          <p:cNvPr id="207" name="Shape 12"/>
          <p:cNvSpPr/>
          <p:nvPr/>
        </p:nvSpPr>
        <p:spPr>
          <a:xfrm>
            <a:off x="5020200" y="1536120"/>
            <a:ext cx="1983960" cy="594000"/>
          </a:xfrm>
          <a:prstGeom prst="rect">
            <a:avLst/>
          </a:prstGeom>
          <a:solidFill>
            <a:srgbClr val="182535"/>
          </a:solidFill>
          <a:ln w="635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Text 13"/>
          <p:cNvSpPr/>
          <p:nvPr/>
        </p:nvSpPr>
        <p:spPr>
          <a:xfrm>
            <a:off x="5111640" y="15361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Optimize team effectiveness and process</a:t>
            </a:r>
            <a:endParaRPr b="0" lang="en-US" sz="1000" spc="-1" strike="noStrike">
              <a:solidFill>
                <a:srgbClr val="ffffff"/>
              </a:solidFill>
              <a:latin typeface="Arial"/>
            </a:endParaRPr>
          </a:p>
        </p:txBody>
      </p:sp>
      <p:sp>
        <p:nvSpPr>
          <p:cNvPr id="209" name="Shape 14"/>
          <p:cNvSpPr/>
          <p:nvPr/>
        </p:nvSpPr>
        <p:spPr>
          <a:xfrm>
            <a:off x="7095600" y="1536120"/>
            <a:ext cx="1983960" cy="594000"/>
          </a:xfrm>
          <a:prstGeom prst="rect">
            <a:avLst/>
          </a:prstGeom>
          <a:solidFill>
            <a:srgbClr val="182535"/>
          </a:solidFill>
          <a:ln w="635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Text 15"/>
          <p:cNvSpPr/>
          <p:nvPr/>
        </p:nvSpPr>
        <p:spPr>
          <a:xfrm>
            <a:off x="7187040" y="15361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Deliver working, high-quality increments</a:t>
            </a:r>
            <a:endParaRPr b="0" lang="en-US" sz="1000" spc="-1" strike="noStrike">
              <a:solidFill>
                <a:srgbClr val="ffffff"/>
              </a:solidFill>
              <a:latin typeface="Arial"/>
            </a:endParaRPr>
          </a:p>
        </p:txBody>
      </p:sp>
      <p:sp>
        <p:nvSpPr>
          <p:cNvPr id="211" name="Shape 16"/>
          <p:cNvSpPr/>
          <p:nvPr/>
        </p:nvSpPr>
        <p:spPr>
          <a:xfrm>
            <a:off x="274320" y="2221920"/>
            <a:ext cx="2605680" cy="594000"/>
          </a:xfrm>
          <a:prstGeom prst="rect">
            <a:avLst/>
          </a:prstGeom>
          <a:solidFill>
            <a:srgbClr val="152030"/>
          </a:solidFill>
          <a:ln w="635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Text 17"/>
          <p:cNvSpPr/>
          <p:nvPr/>
        </p:nvSpPr>
        <p:spPr>
          <a:xfrm>
            <a:off x="347400" y="2221920"/>
            <a:ext cx="246852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f5a623"/>
                </a:solidFill>
                <a:latin typeface="Calibri"/>
              </a:rPr>
              <a:t>Owns</a:t>
            </a:r>
            <a:endParaRPr b="0" lang="en-US" sz="1150" spc="-1" strike="noStrike">
              <a:solidFill>
                <a:srgbClr val="ffffff"/>
              </a:solidFill>
              <a:latin typeface="Arial"/>
            </a:endParaRPr>
          </a:p>
        </p:txBody>
      </p:sp>
      <p:sp>
        <p:nvSpPr>
          <p:cNvPr id="213" name="Shape 18"/>
          <p:cNvSpPr/>
          <p:nvPr/>
        </p:nvSpPr>
        <p:spPr>
          <a:xfrm>
            <a:off x="2944440" y="2221920"/>
            <a:ext cx="1983960" cy="594000"/>
          </a:xfrm>
          <a:prstGeom prst="rect">
            <a:avLst/>
          </a:prstGeom>
          <a:solidFill>
            <a:srgbClr val="152030"/>
          </a:solidFill>
          <a:ln w="635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Text 19"/>
          <p:cNvSpPr/>
          <p:nvPr/>
        </p:nvSpPr>
        <p:spPr>
          <a:xfrm>
            <a:off x="3035880" y="22219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Product backlog &amp; release decisions</a:t>
            </a:r>
            <a:endParaRPr b="0" lang="en-US" sz="1000" spc="-1" strike="noStrike">
              <a:solidFill>
                <a:srgbClr val="ffffff"/>
              </a:solidFill>
              <a:latin typeface="Arial"/>
            </a:endParaRPr>
          </a:p>
        </p:txBody>
      </p:sp>
      <p:sp>
        <p:nvSpPr>
          <p:cNvPr id="215" name="Shape 20"/>
          <p:cNvSpPr/>
          <p:nvPr/>
        </p:nvSpPr>
        <p:spPr>
          <a:xfrm>
            <a:off x="5020200" y="2221920"/>
            <a:ext cx="1983960" cy="594000"/>
          </a:xfrm>
          <a:prstGeom prst="rect">
            <a:avLst/>
          </a:prstGeom>
          <a:solidFill>
            <a:srgbClr val="152030"/>
          </a:solidFill>
          <a:ln w="635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Text 21"/>
          <p:cNvSpPr/>
          <p:nvPr/>
        </p:nvSpPr>
        <p:spPr>
          <a:xfrm>
            <a:off x="5111640" y="22219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Scrum process, ceremonies &amp; impediments</a:t>
            </a:r>
            <a:endParaRPr b="0" lang="en-US" sz="1000" spc="-1" strike="noStrike">
              <a:solidFill>
                <a:srgbClr val="ffffff"/>
              </a:solidFill>
              <a:latin typeface="Arial"/>
            </a:endParaRPr>
          </a:p>
        </p:txBody>
      </p:sp>
      <p:sp>
        <p:nvSpPr>
          <p:cNvPr id="217" name="Shape 22"/>
          <p:cNvSpPr/>
          <p:nvPr/>
        </p:nvSpPr>
        <p:spPr>
          <a:xfrm>
            <a:off x="7095600" y="2221920"/>
            <a:ext cx="1983960" cy="594000"/>
          </a:xfrm>
          <a:prstGeom prst="rect">
            <a:avLst/>
          </a:prstGeom>
          <a:solidFill>
            <a:srgbClr val="152030"/>
          </a:solidFill>
          <a:ln w="635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Text 23"/>
          <p:cNvSpPr/>
          <p:nvPr/>
        </p:nvSpPr>
        <p:spPr>
          <a:xfrm>
            <a:off x="7187040" y="22219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Sprint backlog, technical decisions</a:t>
            </a:r>
            <a:endParaRPr b="0" lang="en-US" sz="1000" spc="-1" strike="noStrike">
              <a:solidFill>
                <a:srgbClr val="ffffff"/>
              </a:solidFill>
              <a:latin typeface="Arial"/>
            </a:endParaRPr>
          </a:p>
        </p:txBody>
      </p:sp>
      <p:sp>
        <p:nvSpPr>
          <p:cNvPr id="219" name="Shape 24"/>
          <p:cNvSpPr/>
          <p:nvPr/>
        </p:nvSpPr>
        <p:spPr>
          <a:xfrm>
            <a:off x="274320" y="2907720"/>
            <a:ext cx="2605680" cy="594000"/>
          </a:xfrm>
          <a:prstGeom prst="rect">
            <a:avLst/>
          </a:prstGeom>
          <a:solidFill>
            <a:srgbClr val="182535"/>
          </a:solidFill>
          <a:ln w="635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0" name="Text 25"/>
          <p:cNvSpPr/>
          <p:nvPr/>
        </p:nvSpPr>
        <p:spPr>
          <a:xfrm>
            <a:off x="347400" y="2907720"/>
            <a:ext cx="246852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f5a623"/>
                </a:solidFill>
                <a:latin typeface="Calibri"/>
              </a:rPr>
              <a:t>Communicates</a:t>
            </a:r>
            <a:endParaRPr b="0" lang="en-US" sz="1150" spc="-1" strike="noStrike">
              <a:solidFill>
                <a:srgbClr val="ffffff"/>
              </a:solidFill>
              <a:latin typeface="Arial"/>
            </a:endParaRPr>
          </a:p>
        </p:txBody>
      </p:sp>
      <p:sp>
        <p:nvSpPr>
          <p:cNvPr id="221" name="Shape 26"/>
          <p:cNvSpPr/>
          <p:nvPr/>
        </p:nvSpPr>
        <p:spPr>
          <a:xfrm>
            <a:off x="2944440" y="2907720"/>
            <a:ext cx="1983960" cy="594000"/>
          </a:xfrm>
          <a:prstGeom prst="rect">
            <a:avLst/>
          </a:prstGeom>
          <a:solidFill>
            <a:srgbClr val="182535"/>
          </a:solidFill>
          <a:ln w="635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Text 27"/>
          <p:cNvSpPr/>
          <p:nvPr/>
        </p:nvSpPr>
        <p:spPr>
          <a:xfrm>
            <a:off x="3035880" y="29077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With stakeholders, customers, business</a:t>
            </a:r>
            <a:endParaRPr b="0" lang="en-US" sz="1000" spc="-1" strike="noStrike">
              <a:solidFill>
                <a:srgbClr val="ffffff"/>
              </a:solidFill>
              <a:latin typeface="Arial"/>
            </a:endParaRPr>
          </a:p>
        </p:txBody>
      </p:sp>
      <p:sp>
        <p:nvSpPr>
          <p:cNvPr id="223" name="Shape 28"/>
          <p:cNvSpPr/>
          <p:nvPr/>
        </p:nvSpPr>
        <p:spPr>
          <a:xfrm>
            <a:off x="5020200" y="2907720"/>
            <a:ext cx="1983960" cy="594000"/>
          </a:xfrm>
          <a:prstGeom prst="rect">
            <a:avLst/>
          </a:prstGeom>
          <a:solidFill>
            <a:srgbClr val="182535"/>
          </a:solidFill>
          <a:ln w="635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Text 29"/>
          <p:cNvSpPr/>
          <p:nvPr/>
        </p:nvSpPr>
        <p:spPr>
          <a:xfrm>
            <a:off x="5111640" y="29077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With team, PO, and wider organization</a:t>
            </a:r>
            <a:endParaRPr b="0" lang="en-US" sz="1000" spc="-1" strike="noStrike">
              <a:solidFill>
                <a:srgbClr val="ffffff"/>
              </a:solidFill>
              <a:latin typeface="Arial"/>
            </a:endParaRPr>
          </a:p>
        </p:txBody>
      </p:sp>
      <p:sp>
        <p:nvSpPr>
          <p:cNvPr id="225" name="Shape 30"/>
          <p:cNvSpPr/>
          <p:nvPr/>
        </p:nvSpPr>
        <p:spPr>
          <a:xfrm>
            <a:off x="7095600" y="2907720"/>
            <a:ext cx="1983960" cy="594000"/>
          </a:xfrm>
          <a:prstGeom prst="rect">
            <a:avLst/>
          </a:prstGeom>
          <a:solidFill>
            <a:srgbClr val="182535"/>
          </a:solidFill>
          <a:ln w="635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Text 31"/>
          <p:cNvSpPr/>
          <p:nvPr/>
        </p:nvSpPr>
        <p:spPr>
          <a:xfrm>
            <a:off x="7187040" y="29077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With each other and the Scrum Master</a:t>
            </a:r>
            <a:endParaRPr b="0" lang="en-US" sz="1000" spc="-1" strike="noStrike">
              <a:solidFill>
                <a:srgbClr val="ffffff"/>
              </a:solidFill>
              <a:latin typeface="Arial"/>
            </a:endParaRPr>
          </a:p>
        </p:txBody>
      </p:sp>
      <p:sp>
        <p:nvSpPr>
          <p:cNvPr id="227" name="Shape 32"/>
          <p:cNvSpPr/>
          <p:nvPr/>
        </p:nvSpPr>
        <p:spPr>
          <a:xfrm>
            <a:off x="274320" y="3593520"/>
            <a:ext cx="2605680" cy="594000"/>
          </a:xfrm>
          <a:prstGeom prst="rect">
            <a:avLst/>
          </a:prstGeom>
          <a:solidFill>
            <a:srgbClr val="152030"/>
          </a:solidFill>
          <a:ln w="635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Text 33"/>
          <p:cNvSpPr/>
          <p:nvPr/>
        </p:nvSpPr>
        <p:spPr>
          <a:xfrm>
            <a:off x="347400" y="3593520"/>
            <a:ext cx="246852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f5a623"/>
                </a:solidFill>
                <a:latin typeface="Calibri"/>
              </a:rPr>
              <a:t>Not Responsible</a:t>
            </a:r>
            <a:endParaRPr b="0" lang="en-US" sz="1150" spc="-1" strike="noStrike">
              <a:solidFill>
                <a:srgbClr val="ffffff"/>
              </a:solidFill>
              <a:latin typeface="Arial"/>
            </a:endParaRPr>
          </a:p>
        </p:txBody>
      </p:sp>
      <p:sp>
        <p:nvSpPr>
          <p:cNvPr id="229" name="Shape 34"/>
          <p:cNvSpPr/>
          <p:nvPr/>
        </p:nvSpPr>
        <p:spPr>
          <a:xfrm>
            <a:off x="2944440" y="3593520"/>
            <a:ext cx="1983960" cy="594000"/>
          </a:xfrm>
          <a:prstGeom prst="rect">
            <a:avLst/>
          </a:prstGeom>
          <a:solidFill>
            <a:srgbClr val="152030"/>
          </a:solidFill>
          <a:ln w="635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Text 35"/>
          <p:cNvSpPr/>
          <p:nvPr/>
        </p:nvSpPr>
        <p:spPr>
          <a:xfrm>
            <a:off x="3035880" y="35935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Directing how the team does the work</a:t>
            </a:r>
            <a:endParaRPr b="0" lang="en-US" sz="1000" spc="-1" strike="noStrike">
              <a:solidFill>
                <a:srgbClr val="ffffff"/>
              </a:solidFill>
              <a:latin typeface="Arial"/>
            </a:endParaRPr>
          </a:p>
        </p:txBody>
      </p:sp>
      <p:sp>
        <p:nvSpPr>
          <p:cNvPr id="231" name="Shape 36"/>
          <p:cNvSpPr/>
          <p:nvPr/>
        </p:nvSpPr>
        <p:spPr>
          <a:xfrm>
            <a:off x="5020200" y="3593520"/>
            <a:ext cx="1983960" cy="594000"/>
          </a:xfrm>
          <a:prstGeom prst="rect">
            <a:avLst/>
          </a:prstGeom>
          <a:solidFill>
            <a:srgbClr val="152030"/>
          </a:solidFill>
          <a:ln w="635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Text 37"/>
          <p:cNvSpPr/>
          <p:nvPr/>
        </p:nvSpPr>
        <p:spPr>
          <a:xfrm>
            <a:off x="5111640" y="35935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Setting product direction or priorities</a:t>
            </a:r>
            <a:endParaRPr b="0" lang="en-US" sz="1000" spc="-1" strike="noStrike">
              <a:solidFill>
                <a:srgbClr val="ffffff"/>
              </a:solidFill>
              <a:latin typeface="Arial"/>
            </a:endParaRPr>
          </a:p>
        </p:txBody>
      </p:sp>
      <p:sp>
        <p:nvSpPr>
          <p:cNvPr id="233" name="Shape 38"/>
          <p:cNvSpPr/>
          <p:nvPr/>
        </p:nvSpPr>
        <p:spPr>
          <a:xfrm>
            <a:off x="7095600" y="3593520"/>
            <a:ext cx="1983960" cy="594000"/>
          </a:xfrm>
          <a:prstGeom prst="rect">
            <a:avLst/>
          </a:prstGeom>
          <a:solidFill>
            <a:srgbClr val="152030"/>
          </a:solidFill>
          <a:ln w="635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Text 39"/>
          <p:cNvSpPr/>
          <p:nvPr/>
        </p:nvSpPr>
        <p:spPr>
          <a:xfrm>
            <a:off x="7187040" y="35935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Making business/product decisions</a:t>
            </a:r>
            <a:endParaRPr b="0" lang="en-US" sz="1000" spc="-1" strike="noStrike">
              <a:solidFill>
                <a:srgbClr val="ffffff"/>
              </a:solidFill>
              <a:latin typeface="Arial"/>
            </a:endParaRPr>
          </a:p>
        </p:txBody>
      </p:sp>
      <p:sp>
        <p:nvSpPr>
          <p:cNvPr id="235" name="Shape 40"/>
          <p:cNvSpPr/>
          <p:nvPr/>
        </p:nvSpPr>
        <p:spPr>
          <a:xfrm>
            <a:off x="274320" y="4279320"/>
            <a:ext cx="2605680" cy="594000"/>
          </a:xfrm>
          <a:prstGeom prst="rect">
            <a:avLst/>
          </a:prstGeom>
          <a:solidFill>
            <a:srgbClr val="182535"/>
          </a:solidFill>
          <a:ln w="635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6" name="Text 41"/>
          <p:cNvSpPr/>
          <p:nvPr/>
        </p:nvSpPr>
        <p:spPr>
          <a:xfrm>
            <a:off x="347400" y="4279320"/>
            <a:ext cx="246852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f5a623"/>
                </a:solidFill>
                <a:latin typeface="Calibri"/>
              </a:rPr>
              <a:t>Seniority Based On</a:t>
            </a:r>
            <a:endParaRPr b="0" lang="en-US" sz="1150" spc="-1" strike="noStrike">
              <a:solidFill>
                <a:srgbClr val="ffffff"/>
              </a:solidFill>
              <a:latin typeface="Arial"/>
            </a:endParaRPr>
          </a:p>
        </p:txBody>
      </p:sp>
      <p:sp>
        <p:nvSpPr>
          <p:cNvPr id="237" name="Shape 42"/>
          <p:cNvSpPr/>
          <p:nvPr/>
        </p:nvSpPr>
        <p:spPr>
          <a:xfrm>
            <a:off x="2944440" y="4279320"/>
            <a:ext cx="1983960" cy="594000"/>
          </a:xfrm>
          <a:prstGeom prst="rect">
            <a:avLst/>
          </a:prstGeom>
          <a:solidFill>
            <a:srgbClr val="182535"/>
          </a:solidFill>
          <a:ln w="635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8" name="Text 43"/>
          <p:cNvSpPr/>
          <p:nvPr/>
        </p:nvSpPr>
        <p:spPr>
          <a:xfrm>
            <a:off x="3035880" y="42793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Business knowledge &amp; stakeholder trust</a:t>
            </a:r>
            <a:endParaRPr b="0" lang="en-US" sz="1000" spc="-1" strike="noStrike">
              <a:solidFill>
                <a:srgbClr val="ffffff"/>
              </a:solidFill>
              <a:latin typeface="Arial"/>
            </a:endParaRPr>
          </a:p>
        </p:txBody>
      </p:sp>
      <p:sp>
        <p:nvSpPr>
          <p:cNvPr id="239" name="Shape 44"/>
          <p:cNvSpPr/>
          <p:nvPr/>
        </p:nvSpPr>
        <p:spPr>
          <a:xfrm>
            <a:off x="5020200" y="4279320"/>
            <a:ext cx="1983960" cy="594000"/>
          </a:xfrm>
          <a:prstGeom prst="rect">
            <a:avLst/>
          </a:prstGeom>
          <a:solidFill>
            <a:srgbClr val="182535"/>
          </a:solidFill>
          <a:ln w="635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0" name="Text 45"/>
          <p:cNvSpPr/>
          <p:nvPr/>
        </p:nvSpPr>
        <p:spPr>
          <a:xfrm>
            <a:off x="5111640" y="42793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Coaching skills &amp; Scrum mastery</a:t>
            </a:r>
            <a:endParaRPr b="0" lang="en-US" sz="1000" spc="-1" strike="noStrike">
              <a:solidFill>
                <a:srgbClr val="ffffff"/>
              </a:solidFill>
              <a:latin typeface="Arial"/>
            </a:endParaRPr>
          </a:p>
        </p:txBody>
      </p:sp>
      <p:sp>
        <p:nvSpPr>
          <p:cNvPr id="241" name="Shape 46"/>
          <p:cNvSpPr/>
          <p:nvPr/>
        </p:nvSpPr>
        <p:spPr>
          <a:xfrm>
            <a:off x="7095600" y="4279320"/>
            <a:ext cx="1983960" cy="594000"/>
          </a:xfrm>
          <a:prstGeom prst="rect">
            <a:avLst/>
          </a:prstGeom>
          <a:solidFill>
            <a:srgbClr val="182535"/>
          </a:solidFill>
          <a:ln w="635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Text 47"/>
          <p:cNvSpPr/>
          <p:nvPr/>
        </p:nvSpPr>
        <p:spPr>
          <a:xfrm>
            <a:off x="7187040" y="4279320"/>
            <a:ext cx="18100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Ability to deliver value to customers</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6fa"/>
        </a:solidFill>
      </p:bgPr>
    </p:bg>
    <p:spTree>
      <p:nvGrpSpPr>
        <p:cNvPr id="1" name=""/>
        <p:cNvGrpSpPr/>
        <p:nvPr/>
      </p:nvGrpSpPr>
      <p:grpSpPr>
        <a:xfrm>
          <a:off x="0" y="0"/>
          <a:ext cx="0" cy="0"/>
          <a:chOff x="0" y="0"/>
          <a:chExt cx="0" cy="0"/>
        </a:xfrm>
      </p:grpSpPr>
      <p:sp>
        <p:nvSpPr>
          <p:cNvPr id="243" name="Shape 0"/>
          <p:cNvSpPr/>
          <p:nvPr/>
        </p:nvSpPr>
        <p:spPr>
          <a:xfrm>
            <a:off x="0" y="0"/>
            <a:ext cx="9143640" cy="776880"/>
          </a:xfrm>
          <a:prstGeom prst="rect">
            <a:avLst/>
          </a:prstGeom>
          <a:solidFill>
            <a:srgbClr val="0f1c2e"/>
          </a:solidFill>
          <a:ln w="12700">
            <a:solidFill>
              <a:srgbClr val="0f1c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Text 1"/>
          <p:cNvSpPr/>
          <p:nvPr/>
        </p:nvSpPr>
        <p:spPr>
          <a:xfrm>
            <a:off x="365760" y="0"/>
            <a:ext cx="84121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99" strike="noStrike">
                <a:solidFill>
                  <a:srgbClr val="ffffff"/>
                </a:solidFill>
                <a:latin typeface="Calibri"/>
              </a:rPr>
              <a:t>SELF-ORGANIZATION &amp; THE 5 SCRUM VALUES</a:t>
            </a:r>
            <a:endParaRPr b="0" lang="en-US" sz="1800" spc="-1" strike="noStrike">
              <a:solidFill>
                <a:srgbClr val="000000"/>
              </a:solidFill>
              <a:latin typeface="Arial"/>
            </a:endParaRPr>
          </a:p>
        </p:txBody>
      </p:sp>
      <p:sp>
        <p:nvSpPr>
          <p:cNvPr id="245" name="Shape 2"/>
          <p:cNvSpPr/>
          <p:nvPr/>
        </p:nvSpPr>
        <p:spPr>
          <a:xfrm>
            <a:off x="274320" y="914400"/>
            <a:ext cx="4205880" cy="3913200"/>
          </a:xfrm>
          <a:prstGeom prst="rect">
            <a:avLst/>
          </a:prstGeom>
          <a:solidFill>
            <a:srgbClr val="ffffff"/>
          </a:solidFill>
          <a:ln w="12700">
            <a:solidFill>
              <a:srgbClr val="d8e2ed"/>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6" name="Shape 3"/>
          <p:cNvSpPr/>
          <p:nvPr/>
        </p:nvSpPr>
        <p:spPr>
          <a:xfrm>
            <a:off x="274320" y="914400"/>
            <a:ext cx="4205880" cy="529920"/>
          </a:xfrm>
          <a:prstGeom prst="rect">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Text 4"/>
          <p:cNvSpPr/>
          <p:nvPr/>
        </p:nvSpPr>
        <p:spPr>
          <a:xfrm>
            <a:off x="274320" y="914400"/>
            <a:ext cx="4205880" cy="529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rPr>
              <a:t>SELF-ORGANIZATION IN SCRUM</a:t>
            </a:r>
            <a:endParaRPr b="0" lang="en-US" sz="1300" spc="-1" strike="noStrike">
              <a:solidFill>
                <a:srgbClr val="000000"/>
              </a:solidFill>
              <a:latin typeface="Arial"/>
            </a:endParaRPr>
          </a:p>
        </p:txBody>
      </p:sp>
      <p:sp>
        <p:nvSpPr>
          <p:cNvPr id="248" name="Text 5"/>
          <p:cNvSpPr/>
          <p:nvPr/>
        </p:nvSpPr>
        <p:spPr>
          <a:xfrm>
            <a:off x="411480" y="1508760"/>
            <a:ext cx="39315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50" spc="-1" strike="noStrike">
                <a:solidFill>
                  <a:srgbClr val="253547"/>
                </a:solidFill>
                <a:latin typeface="Calibri"/>
              </a:rPr>
              <a:t>Self-organization doesn't happen automatically — it takes time and requires intentional support from the Scrum Master and team culture.</a:t>
            </a:r>
            <a:endParaRPr b="0" lang="en-US" sz="1150" spc="-1" strike="noStrike">
              <a:solidFill>
                <a:srgbClr val="000000"/>
              </a:solidFill>
              <a:latin typeface="Arial"/>
            </a:endParaRPr>
          </a:p>
        </p:txBody>
      </p:sp>
      <p:sp>
        <p:nvSpPr>
          <p:cNvPr id="249" name="Shape 6"/>
          <p:cNvSpPr/>
          <p:nvPr/>
        </p:nvSpPr>
        <p:spPr>
          <a:xfrm>
            <a:off x="411480" y="2267640"/>
            <a:ext cx="255600" cy="255600"/>
          </a:xfrm>
          <a:prstGeom prst="ellipse">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Text 7"/>
          <p:cNvSpPr/>
          <p:nvPr/>
        </p:nvSpPr>
        <p:spPr>
          <a:xfrm>
            <a:off x="749880" y="2167200"/>
            <a:ext cx="356580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0f1c2e"/>
                </a:solidFill>
                <a:latin typeface="Calibri"/>
              </a:rPr>
              <a:t>Develop Over Time</a:t>
            </a:r>
            <a:endParaRPr b="0" lang="en-US" sz="1200" spc="-1" strike="noStrike">
              <a:solidFill>
                <a:srgbClr val="000000"/>
              </a:solidFill>
              <a:latin typeface="Arial"/>
            </a:endParaRPr>
          </a:p>
        </p:txBody>
      </p:sp>
      <p:sp>
        <p:nvSpPr>
          <p:cNvPr id="251" name="Text 8"/>
          <p:cNvSpPr/>
          <p:nvPr/>
        </p:nvSpPr>
        <p:spPr>
          <a:xfrm>
            <a:off x="749880" y="2423160"/>
            <a:ext cx="35658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Teams build self-organization gradually through practice, trust, and supported autonomy</a:t>
            </a:r>
            <a:endParaRPr b="0" lang="en-US" sz="1000" spc="-1" strike="noStrike">
              <a:solidFill>
                <a:srgbClr val="000000"/>
              </a:solidFill>
              <a:latin typeface="Arial"/>
            </a:endParaRPr>
          </a:p>
        </p:txBody>
      </p:sp>
      <p:sp>
        <p:nvSpPr>
          <p:cNvPr id="252" name="Shape 9"/>
          <p:cNvSpPr/>
          <p:nvPr/>
        </p:nvSpPr>
        <p:spPr>
          <a:xfrm>
            <a:off x="411480" y="2797920"/>
            <a:ext cx="255600" cy="255600"/>
          </a:xfrm>
          <a:prstGeom prst="ellipse">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3" name="Text 10"/>
          <p:cNvSpPr/>
          <p:nvPr/>
        </p:nvSpPr>
        <p:spPr>
          <a:xfrm>
            <a:off x="749880" y="2697480"/>
            <a:ext cx="356580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0f1c2e"/>
                </a:solidFill>
                <a:latin typeface="Calibri"/>
              </a:rPr>
              <a:t>SM Encourages Growth</a:t>
            </a:r>
            <a:endParaRPr b="0" lang="en-US" sz="1200" spc="-1" strike="noStrike">
              <a:solidFill>
                <a:srgbClr val="000000"/>
              </a:solidFill>
              <a:latin typeface="Arial"/>
            </a:endParaRPr>
          </a:p>
        </p:txBody>
      </p:sp>
      <p:sp>
        <p:nvSpPr>
          <p:cNvPr id="254" name="Text 11"/>
          <p:cNvSpPr/>
          <p:nvPr/>
        </p:nvSpPr>
        <p:spPr>
          <a:xfrm>
            <a:off x="749880" y="2953440"/>
            <a:ext cx="35658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The SM encourages members to step outside comfort zones and try different approaches</a:t>
            </a:r>
            <a:endParaRPr b="0" lang="en-US" sz="1000" spc="-1" strike="noStrike">
              <a:solidFill>
                <a:srgbClr val="000000"/>
              </a:solidFill>
              <a:latin typeface="Arial"/>
            </a:endParaRPr>
          </a:p>
        </p:txBody>
      </p:sp>
      <p:sp>
        <p:nvSpPr>
          <p:cNvPr id="255" name="Shape 12"/>
          <p:cNvSpPr/>
          <p:nvPr/>
        </p:nvSpPr>
        <p:spPr>
          <a:xfrm>
            <a:off x="411480" y="3328560"/>
            <a:ext cx="255600" cy="255600"/>
          </a:xfrm>
          <a:prstGeom prst="ellipse">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Text 13"/>
          <p:cNvSpPr/>
          <p:nvPr/>
        </p:nvSpPr>
        <p:spPr>
          <a:xfrm>
            <a:off x="749880" y="3227760"/>
            <a:ext cx="356580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0f1c2e"/>
                </a:solidFill>
                <a:latin typeface="Calibri"/>
              </a:rPr>
              <a:t>Delegation Poker</a:t>
            </a:r>
            <a:endParaRPr b="0" lang="en-US" sz="1200" spc="-1" strike="noStrike">
              <a:solidFill>
                <a:srgbClr val="000000"/>
              </a:solidFill>
              <a:latin typeface="Arial"/>
            </a:endParaRPr>
          </a:p>
        </p:txBody>
      </p:sp>
      <p:sp>
        <p:nvSpPr>
          <p:cNvPr id="257" name="Text 14"/>
          <p:cNvSpPr/>
          <p:nvPr/>
        </p:nvSpPr>
        <p:spPr>
          <a:xfrm>
            <a:off x="749880" y="3483720"/>
            <a:ext cx="35658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Tools like delegation poker help expose and challenge predefined ideas about role boundaries</a:t>
            </a:r>
            <a:endParaRPr b="0" lang="en-US" sz="1000" spc="-1" strike="noStrike">
              <a:solidFill>
                <a:srgbClr val="000000"/>
              </a:solidFill>
              <a:latin typeface="Arial"/>
            </a:endParaRPr>
          </a:p>
        </p:txBody>
      </p:sp>
      <p:sp>
        <p:nvSpPr>
          <p:cNvPr id="258" name="Shape 15"/>
          <p:cNvSpPr/>
          <p:nvPr/>
        </p:nvSpPr>
        <p:spPr>
          <a:xfrm>
            <a:off x="411480" y="3858840"/>
            <a:ext cx="255600" cy="255600"/>
          </a:xfrm>
          <a:prstGeom prst="ellipse">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Text 16"/>
          <p:cNvSpPr/>
          <p:nvPr/>
        </p:nvSpPr>
        <p:spPr>
          <a:xfrm>
            <a:off x="749880" y="3758040"/>
            <a:ext cx="356580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0f1c2e"/>
                </a:solidFill>
                <a:latin typeface="Calibri"/>
              </a:rPr>
              <a:t>Team Sets Pace</a:t>
            </a:r>
            <a:endParaRPr b="0" lang="en-US" sz="1200" spc="-1" strike="noStrike">
              <a:solidFill>
                <a:srgbClr val="000000"/>
              </a:solidFill>
              <a:latin typeface="Arial"/>
            </a:endParaRPr>
          </a:p>
        </p:txBody>
      </p:sp>
      <p:sp>
        <p:nvSpPr>
          <p:cNvPr id="260" name="Text 17"/>
          <p:cNvSpPr/>
          <p:nvPr/>
        </p:nvSpPr>
        <p:spPr>
          <a:xfrm>
            <a:off x="749880" y="4014360"/>
            <a:ext cx="35658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The team sets its own schedule based on priorities from the PO and available capacity</a:t>
            </a:r>
            <a:endParaRPr b="0" lang="en-US" sz="1000" spc="-1" strike="noStrike">
              <a:solidFill>
                <a:srgbClr val="000000"/>
              </a:solidFill>
              <a:latin typeface="Arial"/>
            </a:endParaRPr>
          </a:p>
        </p:txBody>
      </p:sp>
      <p:sp>
        <p:nvSpPr>
          <p:cNvPr id="261" name="Shape 18"/>
          <p:cNvSpPr/>
          <p:nvPr/>
        </p:nvSpPr>
        <p:spPr>
          <a:xfrm>
            <a:off x="411480" y="4389120"/>
            <a:ext cx="255600" cy="255600"/>
          </a:xfrm>
          <a:prstGeom prst="ellipse">
            <a:avLst/>
          </a:prstGeom>
          <a:solidFill>
            <a:srgbClr val="2d4a8c"/>
          </a:solidFill>
          <a:ln w="12700">
            <a:solidFill>
              <a:srgbClr val="2d4a8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Text 19"/>
          <p:cNvSpPr/>
          <p:nvPr/>
        </p:nvSpPr>
        <p:spPr>
          <a:xfrm>
            <a:off x="749880" y="4288680"/>
            <a:ext cx="356580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0f1c2e"/>
                </a:solidFill>
                <a:latin typeface="Calibri"/>
              </a:rPr>
              <a:t>No Hierarchy in Team</a:t>
            </a:r>
            <a:endParaRPr b="0" lang="en-US" sz="1200" spc="-1" strike="noStrike">
              <a:solidFill>
                <a:srgbClr val="000000"/>
              </a:solidFill>
              <a:latin typeface="Arial"/>
            </a:endParaRPr>
          </a:p>
        </p:txBody>
      </p:sp>
      <p:sp>
        <p:nvSpPr>
          <p:cNvPr id="263" name="Text 20"/>
          <p:cNvSpPr/>
          <p:nvPr/>
        </p:nvSpPr>
        <p:spPr>
          <a:xfrm>
            <a:off x="749880" y="4544640"/>
            <a:ext cx="35658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5d7a96"/>
                </a:solidFill>
                <a:latin typeface="Calibri"/>
              </a:rPr>
              <a:t>Seniority is determined by how much you deliver value — or help others do it — not by title</a:t>
            </a:r>
            <a:endParaRPr b="0" lang="en-US" sz="1000" spc="-1" strike="noStrike">
              <a:solidFill>
                <a:srgbClr val="000000"/>
              </a:solidFill>
              <a:latin typeface="Arial"/>
            </a:endParaRPr>
          </a:p>
        </p:txBody>
      </p:sp>
      <p:sp>
        <p:nvSpPr>
          <p:cNvPr id="264" name="Shape 21"/>
          <p:cNvSpPr/>
          <p:nvPr/>
        </p:nvSpPr>
        <p:spPr>
          <a:xfrm>
            <a:off x="4663440" y="914400"/>
            <a:ext cx="4205880" cy="3913200"/>
          </a:xfrm>
          <a:prstGeom prst="rect">
            <a:avLst/>
          </a:prstGeom>
          <a:solidFill>
            <a:srgbClr val="ffffff"/>
          </a:solidFill>
          <a:ln w="12700">
            <a:solidFill>
              <a:srgbClr val="d8e2ed"/>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5" name="Shape 22"/>
          <p:cNvSpPr/>
          <p:nvPr/>
        </p:nvSpPr>
        <p:spPr>
          <a:xfrm>
            <a:off x="4663440" y="914400"/>
            <a:ext cx="4205880" cy="52992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6" name="Text 23"/>
          <p:cNvSpPr/>
          <p:nvPr/>
        </p:nvSpPr>
        <p:spPr>
          <a:xfrm>
            <a:off x="4663440" y="914400"/>
            <a:ext cx="4205880" cy="529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Calibri"/>
              </a:rPr>
              <a:t>THE 5 SCRUM VALUES</a:t>
            </a:r>
            <a:endParaRPr b="0" lang="en-US" sz="1300" spc="-1" strike="noStrike">
              <a:solidFill>
                <a:srgbClr val="000000"/>
              </a:solidFill>
              <a:latin typeface="Arial"/>
            </a:endParaRPr>
          </a:p>
        </p:txBody>
      </p:sp>
      <p:sp>
        <p:nvSpPr>
          <p:cNvPr id="267" name="Text 24"/>
          <p:cNvSpPr/>
          <p:nvPr/>
        </p:nvSpPr>
        <p:spPr>
          <a:xfrm>
            <a:off x="4800600" y="1508760"/>
            <a:ext cx="39315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253547"/>
                </a:solidFill>
                <a:latin typeface="Calibri"/>
              </a:rPr>
              <a:t>These are the responsibility of EVERYONE on the Scrum team — especially the Scrum Master.</a:t>
            </a:r>
            <a:endParaRPr b="0" lang="en-US" sz="1100" spc="-1" strike="noStrike">
              <a:solidFill>
                <a:srgbClr val="000000"/>
              </a:solidFill>
              <a:latin typeface="Arial"/>
            </a:endParaRPr>
          </a:p>
        </p:txBody>
      </p:sp>
      <p:sp>
        <p:nvSpPr>
          <p:cNvPr id="268" name="Shape 25"/>
          <p:cNvSpPr/>
          <p:nvPr/>
        </p:nvSpPr>
        <p:spPr>
          <a:xfrm>
            <a:off x="4800600" y="2057400"/>
            <a:ext cx="3931560" cy="456840"/>
          </a:xfrm>
          <a:prstGeom prst="rect">
            <a:avLst/>
          </a:prstGeom>
          <a:solidFill>
            <a:srgbClr val="f3f6f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9" name="Shape 26"/>
          <p:cNvSpPr/>
          <p:nvPr/>
        </p:nvSpPr>
        <p:spPr>
          <a:xfrm>
            <a:off x="4800600" y="2057400"/>
            <a:ext cx="914040" cy="45684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0" name="Text 27"/>
          <p:cNvSpPr/>
          <p:nvPr/>
        </p:nvSpPr>
        <p:spPr>
          <a:xfrm>
            <a:off x="4800600" y="205740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COMMITMENT</a:t>
            </a:r>
            <a:endParaRPr b="0" lang="en-US" sz="1000" spc="-1" strike="noStrike">
              <a:solidFill>
                <a:srgbClr val="000000"/>
              </a:solidFill>
              <a:latin typeface="Arial"/>
            </a:endParaRPr>
          </a:p>
        </p:txBody>
      </p:sp>
      <p:sp>
        <p:nvSpPr>
          <p:cNvPr id="271" name="Text 28"/>
          <p:cNvSpPr/>
          <p:nvPr/>
        </p:nvSpPr>
        <p:spPr>
          <a:xfrm>
            <a:off x="5779080" y="2057400"/>
            <a:ext cx="28342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253547"/>
                </a:solidFill>
                <a:latin typeface="Calibri"/>
              </a:rPr>
              <a:t>Everyone commits to the sprint goal and to supporting each other throughout the sprint</a:t>
            </a:r>
            <a:endParaRPr b="0" lang="en-US" sz="1000" spc="-1" strike="noStrike">
              <a:solidFill>
                <a:srgbClr val="000000"/>
              </a:solidFill>
              <a:latin typeface="Arial"/>
            </a:endParaRPr>
          </a:p>
        </p:txBody>
      </p:sp>
      <p:sp>
        <p:nvSpPr>
          <p:cNvPr id="272" name="Shape 29"/>
          <p:cNvSpPr/>
          <p:nvPr/>
        </p:nvSpPr>
        <p:spPr>
          <a:xfrm>
            <a:off x="4800600" y="2587680"/>
            <a:ext cx="3931560" cy="456840"/>
          </a:xfrm>
          <a:prstGeom prst="rect">
            <a:avLst/>
          </a:prstGeom>
          <a:solidFill>
            <a:srgbClr val="f3f6fa"/>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3" name="Shape 30"/>
          <p:cNvSpPr/>
          <p:nvPr/>
        </p:nvSpPr>
        <p:spPr>
          <a:xfrm>
            <a:off x="4800600" y="2587680"/>
            <a:ext cx="914040" cy="45684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4" name="Text 31"/>
          <p:cNvSpPr/>
          <p:nvPr/>
        </p:nvSpPr>
        <p:spPr>
          <a:xfrm>
            <a:off x="4800600" y="258768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FOCUS</a:t>
            </a:r>
            <a:endParaRPr b="0" lang="en-US" sz="1000" spc="-1" strike="noStrike">
              <a:solidFill>
                <a:srgbClr val="000000"/>
              </a:solidFill>
              <a:latin typeface="Arial"/>
            </a:endParaRPr>
          </a:p>
        </p:txBody>
      </p:sp>
      <p:sp>
        <p:nvSpPr>
          <p:cNvPr id="275" name="Text 32"/>
          <p:cNvSpPr/>
          <p:nvPr/>
        </p:nvSpPr>
        <p:spPr>
          <a:xfrm>
            <a:off x="5779080" y="2587680"/>
            <a:ext cx="28342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253547"/>
                </a:solidFill>
                <a:latin typeface="Calibri"/>
              </a:rPr>
              <a:t>Stay focused on sprint work and goals — avoid distractions and multitasking</a:t>
            </a:r>
            <a:endParaRPr b="0" lang="en-US" sz="1000" spc="-1" strike="noStrike">
              <a:solidFill>
                <a:srgbClr val="000000"/>
              </a:solidFill>
              <a:latin typeface="Arial"/>
            </a:endParaRPr>
          </a:p>
        </p:txBody>
      </p:sp>
      <p:sp>
        <p:nvSpPr>
          <p:cNvPr id="276" name="Shape 33"/>
          <p:cNvSpPr/>
          <p:nvPr/>
        </p:nvSpPr>
        <p:spPr>
          <a:xfrm>
            <a:off x="4800600" y="3117960"/>
            <a:ext cx="3931560" cy="456840"/>
          </a:xfrm>
          <a:prstGeom prst="rect">
            <a:avLst/>
          </a:prstGeom>
          <a:solidFill>
            <a:srgbClr val="f3f6fa"/>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77" name="Shape 34"/>
          <p:cNvSpPr/>
          <p:nvPr/>
        </p:nvSpPr>
        <p:spPr>
          <a:xfrm>
            <a:off x="4800600" y="3117960"/>
            <a:ext cx="914040" cy="4568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8" name="Text 35"/>
          <p:cNvSpPr/>
          <p:nvPr/>
        </p:nvSpPr>
        <p:spPr>
          <a:xfrm>
            <a:off x="4800600" y="311796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OPENNESS</a:t>
            </a:r>
            <a:endParaRPr b="0" lang="en-US" sz="1000" spc="-1" strike="noStrike">
              <a:solidFill>
                <a:srgbClr val="000000"/>
              </a:solidFill>
              <a:latin typeface="Arial"/>
            </a:endParaRPr>
          </a:p>
        </p:txBody>
      </p:sp>
      <p:sp>
        <p:nvSpPr>
          <p:cNvPr id="279" name="Text 36"/>
          <p:cNvSpPr/>
          <p:nvPr/>
        </p:nvSpPr>
        <p:spPr>
          <a:xfrm>
            <a:off x="5779080" y="3117960"/>
            <a:ext cx="28342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253547"/>
                </a:solidFill>
                <a:latin typeface="Calibri"/>
              </a:rPr>
              <a:t>Be transparent about work and challenges with the team and all stakeholders</a:t>
            </a:r>
            <a:endParaRPr b="0" lang="en-US" sz="1000" spc="-1" strike="noStrike">
              <a:solidFill>
                <a:srgbClr val="000000"/>
              </a:solidFill>
              <a:latin typeface="Arial"/>
            </a:endParaRPr>
          </a:p>
        </p:txBody>
      </p:sp>
      <p:sp>
        <p:nvSpPr>
          <p:cNvPr id="280" name="Shape 37"/>
          <p:cNvSpPr/>
          <p:nvPr/>
        </p:nvSpPr>
        <p:spPr>
          <a:xfrm>
            <a:off x="4800600" y="3648600"/>
            <a:ext cx="3931560" cy="456840"/>
          </a:xfrm>
          <a:prstGeom prst="rect">
            <a:avLst/>
          </a:prstGeom>
          <a:solidFill>
            <a:srgbClr val="f3f6fa"/>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1" name="Shape 38"/>
          <p:cNvSpPr/>
          <p:nvPr/>
        </p:nvSpPr>
        <p:spPr>
          <a:xfrm>
            <a:off x="4800600" y="3648600"/>
            <a:ext cx="914040" cy="456840"/>
          </a:xfrm>
          <a:prstGeom prst="rect">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2" name="Text 39"/>
          <p:cNvSpPr/>
          <p:nvPr/>
        </p:nvSpPr>
        <p:spPr>
          <a:xfrm>
            <a:off x="4800600" y="364860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RESPECT</a:t>
            </a:r>
            <a:endParaRPr b="0" lang="en-US" sz="1000" spc="-1" strike="noStrike">
              <a:solidFill>
                <a:srgbClr val="000000"/>
              </a:solidFill>
              <a:latin typeface="Arial"/>
            </a:endParaRPr>
          </a:p>
        </p:txBody>
      </p:sp>
      <p:sp>
        <p:nvSpPr>
          <p:cNvPr id="283" name="Text 40"/>
          <p:cNvSpPr/>
          <p:nvPr/>
        </p:nvSpPr>
        <p:spPr>
          <a:xfrm>
            <a:off x="5779080" y="3648600"/>
            <a:ext cx="28342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253547"/>
                </a:solidFill>
                <a:latin typeface="Calibri"/>
              </a:rPr>
              <a:t>Treat team members as capable, independent people worthy of trust and autonomy</a:t>
            </a:r>
            <a:endParaRPr b="0" lang="en-US" sz="1000" spc="-1" strike="noStrike">
              <a:solidFill>
                <a:srgbClr val="000000"/>
              </a:solidFill>
              <a:latin typeface="Arial"/>
            </a:endParaRPr>
          </a:p>
        </p:txBody>
      </p:sp>
      <p:sp>
        <p:nvSpPr>
          <p:cNvPr id="284" name="Shape 41"/>
          <p:cNvSpPr/>
          <p:nvPr/>
        </p:nvSpPr>
        <p:spPr>
          <a:xfrm>
            <a:off x="4800600" y="4178880"/>
            <a:ext cx="3931560" cy="456840"/>
          </a:xfrm>
          <a:prstGeom prst="rect">
            <a:avLst/>
          </a:prstGeom>
          <a:solidFill>
            <a:srgbClr val="f3f6fa"/>
          </a:solidFill>
          <a:ln w="12700">
            <a:solidFill>
              <a:srgbClr val="6c348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5" name="Shape 42"/>
          <p:cNvSpPr/>
          <p:nvPr/>
        </p:nvSpPr>
        <p:spPr>
          <a:xfrm>
            <a:off x="4800600" y="4178880"/>
            <a:ext cx="914040" cy="456840"/>
          </a:xfrm>
          <a:prstGeom prst="rect">
            <a:avLst/>
          </a:prstGeom>
          <a:solidFill>
            <a:srgbClr val="6c3483"/>
          </a:solidFill>
          <a:ln w="12700">
            <a:solidFill>
              <a:srgbClr val="6c3483"/>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6" name="Text 43"/>
          <p:cNvSpPr/>
          <p:nvPr/>
        </p:nvSpPr>
        <p:spPr>
          <a:xfrm>
            <a:off x="4800600" y="417888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COURAGE</a:t>
            </a:r>
            <a:endParaRPr b="0" lang="en-US" sz="1000" spc="-1" strike="noStrike">
              <a:solidFill>
                <a:srgbClr val="000000"/>
              </a:solidFill>
              <a:latin typeface="Arial"/>
            </a:endParaRPr>
          </a:p>
        </p:txBody>
      </p:sp>
      <p:sp>
        <p:nvSpPr>
          <p:cNvPr id="287" name="Text 44"/>
          <p:cNvSpPr/>
          <p:nvPr/>
        </p:nvSpPr>
        <p:spPr>
          <a:xfrm>
            <a:off x="5779080" y="4178880"/>
            <a:ext cx="28342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253547"/>
                </a:solidFill>
                <a:latin typeface="Calibri"/>
              </a:rPr>
              <a:t>Have the courage to do the right thing and tackle tough, complex problems head-on</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c2e"/>
        </a:solidFill>
      </p:bgPr>
    </p:bg>
    <p:spTree>
      <p:nvGrpSpPr>
        <p:cNvPr id="1" name=""/>
        <p:cNvGrpSpPr/>
        <p:nvPr/>
      </p:nvGrpSpPr>
      <p:grpSpPr>
        <a:xfrm>
          <a:off x="0" y="0"/>
          <a:ext cx="0" cy="0"/>
          <a:chOff x="0" y="0"/>
          <a:chExt cx="0" cy="0"/>
        </a:xfrm>
      </p:grpSpPr>
      <p:sp>
        <p:nvSpPr>
          <p:cNvPr id="288" name="Shape 0"/>
          <p:cNvSpPr/>
          <p:nvPr/>
        </p:nvSpPr>
        <p:spPr>
          <a:xfrm>
            <a:off x="0" y="0"/>
            <a:ext cx="9143640" cy="776880"/>
          </a:xfrm>
          <a:prstGeom prst="rect">
            <a:avLst/>
          </a:prstGeom>
          <a:solidFill>
            <a:srgbClr val="f5a623"/>
          </a:solidFill>
          <a:ln w="12700">
            <a:solidFill>
              <a:srgbClr val="f5a62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9" name="Text 1"/>
          <p:cNvSpPr/>
          <p:nvPr/>
        </p:nvSpPr>
        <p:spPr>
          <a:xfrm>
            <a:off x="365760" y="0"/>
            <a:ext cx="84121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99" strike="noStrike">
                <a:solidFill>
                  <a:srgbClr val="0f1c2e"/>
                </a:solidFill>
                <a:latin typeface="Calibri"/>
              </a:rPr>
              <a:t>HOW TO IDENTIFY YOUR SCRUM ROLE</a:t>
            </a:r>
            <a:endParaRPr b="0" lang="en-US" sz="1800" spc="-1" strike="noStrike">
              <a:solidFill>
                <a:srgbClr val="ffffff"/>
              </a:solidFill>
              <a:latin typeface="Arial"/>
            </a:endParaRPr>
          </a:p>
        </p:txBody>
      </p:sp>
      <p:sp>
        <p:nvSpPr>
          <p:cNvPr id="290" name="Text 2"/>
          <p:cNvSpPr/>
          <p:nvPr/>
        </p:nvSpPr>
        <p:spPr>
          <a:xfrm>
            <a:off x="365760" y="850320"/>
            <a:ext cx="84121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250" spc="-1" strike="noStrike">
                <a:solidFill>
                  <a:srgbClr val="f5a623"/>
                </a:solidFill>
                <a:latin typeface="Calibri"/>
              </a:rPr>
              <a:t>Roles are not job titles — they reflect what excites you and where you create the most value.</a:t>
            </a:r>
            <a:endParaRPr b="0" lang="en-US" sz="1250" spc="-1" strike="noStrike">
              <a:solidFill>
                <a:srgbClr val="ffffff"/>
              </a:solidFill>
              <a:latin typeface="Arial"/>
            </a:endParaRPr>
          </a:p>
        </p:txBody>
      </p:sp>
      <p:sp>
        <p:nvSpPr>
          <p:cNvPr id="291" name="Shape 3"/>
          <p:cNvSpPr/>
          <p:nvPr/>
        </p:nvSpPr>
        <p:spPr>
          <a:xfrm>
            <a:off x="255960" y="1325880"/>
            <a:ext cx="2788560" cy="3611520"/>
          </a:xfrm>
          <a:prstGeom prst="rect">
            <a:avLst/>
          </a:prstGeom>
          <a:solidFill>
            <a:srgbClr val="182535"/>
          </a:solidFill>
          <a:ln w="25400">
            <a:solidFill>
              <a:srgbClr val="e8533a"/>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Shape 4"/>
          <p:cNvSpPr/>
          <p:nvPr/>
        </p:nvSpPr>
        <p:spPr>
          <a:xfrm>
            <a:off x="255960" y="1325880"/>
            <a:ext cx="2788560" cy="804240"/>
          </a:xfrm>
          <a:prstGeom prst="rect">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Shape 5"/>
          <p:cNvSpPr/>
          <p:nvPr/>
        </p:nvSpPr>
        <p:spPr>
          <a:xfrm>
            <a:off x="420480" y="1389960"/>
            <a:ext cx="566640" cy="56664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Text 6"/>
          <p:cNvSpPr/>
          <p:nvPr/>
        </p:nvSpPr>
        <p:spPr>
          <a:xfrm>
            <a:off x="420480" y="1389960"/>
            <a:ext cx="566640" cy="5666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ffffff"/>
                </a:solidFill>
                <a:latin typeface="Calibri"/>
              </a:rPr>
              <a:t>PO</a:t>
            </a:r>
            <a:endParaRPr b="0" lang="en-US" sz="1200" spc="-1" strike="noStrike">
              <a:solidFill>
                <a:srgbClr val="ffffff"/>
              </a:solidFill>
              <a:latin typeface="Arial"/>
            </a:endParaRPr>
          </a:p>
        </p:txBody>
      </p:sp>
      <p:sp>
        <p:nvSpPr>
          <p:cNvPr id="295" name="Text 7"/>
          <p:cNvSpPr/>
          <p:nvPr/>
        </p:nvSpPr>
        <p:spPr>
          <a:xfrm>
            <a:off x="1124640" y="1325880"/>
            <a:ext cx="181008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ffff"/>
                </a:solidFill>
                <a:latin typeface="Calibri"/>
              </a:rPr>
              <a:t>YOU ARE LIKELY A</a:t>
            </a:r>
            <a:endParaRPr b="0" lang="en-US" sz="1100" spc="-1" strike="noStrike">
              <a:solidFill>
                <a:srgbClr val="ffffff"/>
              </a:solidFill>
              <a:latin typeface="Arial"/>
            </a:endParaRPr>
          </a:p>
          <a:p>
            <a:pPr defTabSz="914400">
              <a:lnSpc>
                <a:spcPct val="100000"/>
              </a:lnSpc>
              <a:tabLst>
                <a:tab algn="l" pos="0"/>
              </a:tabLst>
            </a:pPr>
            <a:r>
              <a:rPr b="1" lang="en-US" sz="1100" spc="-1" strike="noStrike">
                <a:solidFill>
                  <a:srgbClr val="ffffff"/>
                </a:solidFill>
                <a:latin typeface="Calibri"/>
              </a:rPr>
              <a:t>PRODUCT OWNER IF...</a:t>
            </a:r>
            <a:endParaRPr b="0" lang="en-US" sz="1100" spc="-1" strike="noStrike">
              <a:solidFill>
                <a:srgbClr val="ffffff"/>
              </a:solidFill>
              <a:latin typeface="Arial"/>
            </a:endParaRPr>
          </a:p>
        </p:txBody>
      </p:sp>
      <p:sp>
        <p:nvSpPr>
          <p:cNvPr id="296" name="Shape 8"/>
          <p:cNvSpPr/>
          <p:nvPr/>
        </p:nvSpPr>
        <p:spPr>
          <a:xfrm>
            <a:off x="420480" y="2322720"/>
            <a:ext cx="200880" cy="2008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Text 9"/>
          <p:cNvSpPr/>
          <p:nvPr/>
        </p:nvSpPr>
        <p:spPr>
          <a:xfrm>
            <a:off x="694800" y="221292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are passionate about understanding customers and their problems</a:t>
            </a:r>
            <a:endParaRPr b="0" lang="en-US" sz="1000" spc="-1" strike="noStrike">
              <a:solidFill>
                <a:srgbClr val="ffffff"/>
              </a:solidFill>
              <a:latin typeface="Arial"/>
            </a:endParaRPr>
          </a:p>
        </p:txBody>
      </p:sp>
      <p:sp>
        <p:nvSpPr>
          <p:cNvPr id="298" name="Shape 10"/>
          <p:cNvSpPr/>
          <p:nvPr/>
        </p:nvSpPr>
        <p:spPr>
          <a:xfrm>
            <a:off x="420480" y="2853000"/>
            <a:ext cx="200880" cy="2008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9" name="Text 11"/>
          <p:cNvSpPr/>
          <p:nvPr/>
        </p:nvSpPr>
        <p:spPr>
          <a:xfrm>
            <a:off x="694800" y="274320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love engaging with stakeholders and business strategy</a:t>
            </a:r>
            <a:endParaRPr b="0" lang="en-US" sz="1000" spc="-1" strike="noStrike">
              <a:solidFill>
                <a:srgbClr val="ffffff"/>
              </a:solidFill>
              <a:latin typeface="Arial"/>
            </a:endParaRPr>
          </a:p>
        </p:txBody>
      </p:sp>
      <p:sp>
        <p:nvSpPr>
          <p:cNvPr id="300" name="Shape 12"/>
          <p:cNvSpPr/>
          <p:nvPr/>
        </p:nvSpPr>
        <p:spPr>
          <a:xfrm>
            <a:off x="420480" y="3383280"/>
            <a:ext cx="200880" cy="2008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1" name="Text 13"/>
          <p:cNvSpPr/>
          <p:nvPr/>
        </p:nvSpPr>
        <p:spPr>
          <a:xfrm>
            <a:off x="694800" y="327348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naturally prioritize and make tough trade-off decisions</a:t>
            </a:r>
            <a:endParaRPr b="0" lang="en-US" sz="1000" spc="-1" strike="noStrike">
              <a:solidFill>
                <a:srgbClr val="ffffff"/>
              </a:solidFill>
              <a:latin typeface="Arial"/>
            </a:endParaRPr>
          </a:p>
        </p:txBody>
      </p:sp>
      <p:sp>
        <p:nvSpPr>
          <p:cNvPr id="302" name="Shape 14"/>
          <p:cNvSpPr/>
          <p:nvPr/>
        </p:nvSpPr>
        <p:spPr>
          <a:xfrm>
            <a:off x="420480" y="3913560"/>
            <a:ext cx="200880" cy="2008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3" name="Text 15"/>
          <p:cNvSpPr/>
          <p:nvPr/>
        </p:nvSpPr>
        <p:spPr>
          <a:xfrm>
            <a:off x="694800" y="38037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thrive on defining product vision and communicating 'why' we build things</a:t>
            </a:r>
            <a:endParaRPr b="0" lang="en-US" sz="1000" spc="-1" strike="noStrike">
              <a:solidFill>
                <a:srgbClr val="ffffff"/>
              </a:solidFill>
              <a:latin typeface="Arial"/>
            </a:endParaRPr>
          </a:p>
        </p:txBody>
      </p:sp>
      <p:sp>
        <p:nvSpPr>
          <p:cNvPr id="304" name="Shape 16"/>
          <p:cNvSpPr/>
          <p:nvPr/>
        </p:nvSpPr>
        <p:spPr>
          <a:xfrm>
            <a:off x="420480" y="4443840"/>
            <a:ext cx="200880" cy="2008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5" name="Text 17"/>
          <p:cNvSpPr/>
          <p:nvPr/>
        </p:nvSpPr>
        <p:spPr>
          <a:xfrm>
            <a:off x="694800" y="433440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want final say on what the team builds and when it ships</a:t>
            </a:r>
            <a:endParaRPr b="0" lang="en-US" sz="1000" spc="-1" strike="noStrike">
              <a:solidFill>
                <a:srgbClr val="ffffff"/>
              </a:solidFill>
              <a:latin typeface="Arial"/>
            </a:endParaRPr>
          </a:p>
        </p:txBody>
      </p:sp>
      <p:sp>
        <p:nvSpPr>
          <p:cNvPr id="306" name="Shape 18"/>
          <p:cNvSpPr/>
          <p:nvPr/>
        </p:nvSpPr>
        <p:spPr>
          <a:xfrm>
            <a:off x="3163680" y="1325880"/>
            <a:ext cx="2788560" cy="3611520"/>
          </a:xfrm>
          <a:prstGeom prst="rect">
            <a:avLst/>
          </a:prstGeom>
          <a:solidFill>
            <a:srgbClr val="182535"/>
          </a:solidFill>
          <a:ln w="25400">
            <a:solidFill>
              <a:srgbClr val="1e8a6e"/>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Shape 19"/>
          <p:cNvSpPr/>
          <p:nvPr/>
        </p:nvSpPr>
        <p:spPr>
          <a:xfrm>
            <a:off x="3163680" y="1325880"/>
            <a:ext cx="2788560" cy="80424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Shape 20"/>
          <p:cNvSpPr/>
          <p:nvPr/>
        </p:nvSpPr>
        <p:spPr>
          <a:xfrm>
            <a:off x="3328560" y="1389960"/>
            <a:ext cx="566640" cy="56664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9" name="Text 21"/>
          <p:cNvSpPr/>
          <p:nvPr/>
        </p:nvSpPr>
        <p:spPr>
          <a:xfrm>
            <a:off x="3328560" y="1389960"/>
            <a:ext cx="566640" cy="5666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ffffff"/>
                </a:solidFill>
                <a:latin typeface="Calibri"/>
              </a:rPr>
              <a:t>SM</a:t>
            </a:r>
            <a:endParaRPr b="0" lang="en-US" sz="1200" spc="-1" strike="noStrike">
              <a:solidFill>
                <a:srgbClr val="ffffff"/>
              </a:solidFill>
              <a:latin typeface="Arial"/>
            </a:endParaRPr>
          </a:p>
        </p:txBody>
      </p:sp>
      <p:sp>
        <p:nvSpPr>
          <p:cNvPr id="310" name="Text 22"/>
          <p:cNvSpPr/>
          <p:nvPr/>
        </p:nvSpPr>
        <p:spPr>
          <a:xfrm>
            <a:off x="4032360" y="1325880"/>
            <a:ext cx="181008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ffff"/>
                </a:solidFill>
                <a:latin typeface="Calibri"/>
              </a:rPr>
              <a:t>YOU ARE LIKELY A</a:t>
            </a:r>
            <a:endParaRPr b="0" lang="en-US" sz="1100" spc="-1" strike="noStrike">
              <a:solidFill>
                <a:srgbClr val="ffffff"/>
              </a:solidFill>
              <a:latin typeface="Arial"/>
            </a:endParaRPr>
          </a:p>
          <a:p>
            <a:pPr defTabSz="914400">
              <a:lnSpc>
                <a:spcPct val="100000"/>
              </a:lnSpc>
              <a:tabLst>
                <a:tab algn="l" pos="0"/>
              </a:tabLst>
            </a:pPr>
            <a:r>
              <a:rPr b="1" lang="en-US" sz="1100" spc="-1" strike="noStrike">
                <a:solidFill>
                  <a:srgbClr val="ffffff"/>
                </a:solidFill>
                <a:latin typeface="Calibri"/>
              </a:rPr>
              <a:t>SCRUM MASTER IF...</a:t>
            </a:r>
            <a:endParaRPr b="0" lang="en-US" sz="1100" spc="-1" strike="noStrike">
              <a:solidFill>
                <a:srgbClr val="ffffff"/>
              </a:solidFill>
              <a:latin typeface="Arial"/>
            </a:endParaRPr>
          </a:p>
        </p:txBody>
      </p:sp>
      <p:sp>
        <p:nvSpPr>
          <p:cNvPr id="311" name="Shape 23"/>
          <p:cNvSpPr/>
          <p:nvPr/>
        </p:nvSpPr>
        <p:spPr>
          <a:xfrm>
            <a:off x="3328560" y="2322720"/>
            <a:ext cx="200880" cy="2008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Text 24"/>
          <p:cNvSpPr/>
          <p:nvPr/>
        </p:nvSpPr>
        <p:spPr>
          <a:xfrm>
            <a:off x="3602880" y="221292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are passionate about process, coaching, and helping people grow</a:t>
            </a:r>
            <a:endParaRPr b="0" lang="en-US" sz="1000" spc="-1" strike="noStrike">
              <a:solidFill>
                <a:srgbClr val="ffffff"/>
              </a:solidFill>
              <a:latin typeface="Arial"/>
            </a:endParaRPr>
          </a:p>
        </p:txBody>
      </p:sp>
      <p:sp>
        <p:nvSpPr>
          <p:cNvPr id="313" name="Shape 25"/>
          <p:cNvSpPr/>
          <p:nvPr/>
        </p:nvSpPr>
        <p:spPr>
          <a:xfrm>
            <a:off x="3328560" y="2853000"/>
            <a:ext cx="200880" cy="2008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Text 26"/>
          <p:cNvSpPr/>
          <p:nvPr/>
        </p:nvSpPr>
        <p:spPr>
          <a:xfrm>
            <a:off x="3602880" y="274320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naturally remove obstacles and make it easier for others to succeed</a:t>
            </a:r>
            <a:endParaRPr b="0" lang="en-US" sz="1000" spc="-1" strike="noStrike">
              <a:solidFill>
                <a:srgbClr val="ffffff"/>
              </a:solidFill>
              <a:latin typeface="Arial"/>
            </a:endParaRPr>
          </a:p>
        </p:txBody>
      </p:sp>
      <p:sp>
        <p:nvSpPr>
          <p:cNvPr id="315" name="Shape 27"/>
          <p:cNvSpPr/>
          <p:nvPr/>
        </p:nvSpPr>
        <p:spPr>
          <a:xfrm>
            <a:off x="3328560" y="3383280"/>
            <a:ext cx="200880" cy="2008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6" name="Text 28"/>
          <p:cNvSpPr/>
          <p:nvPr/>
        </p:nvSpPr>
        <p:spPr>
          <a:xfrm>
            <a:off x="3602880" y="327348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love facilitating meetings and bringing out the best in group discussions</a:t>
            </a:r>
            <a:endParaRPr b="0" lang="en-US" sz="1000" spc="-1" strike="noStrike">
              <a:solidFill>
                <a:srgbClr val="ffffff"/>
              </a:solidFill>
              <a:latin typeface="Arial"/>
            </a:endParaRPr>
          </a:p>
        </p:txBody>
      </p:sp>
      <p:sp>
        <p:nvSpPr>
          <p:cNvPr id="317" name="Shape 29"/>
          <p:cNvSpPr/>
          <p:nvPr/>
        </p:nvSpPr>
        <p:spPr>
          <a:xfrm>
            <a:off x="3328560" y="3913560"/>
            <a:ext cx="200880" cy="2008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8" name="Text 30"/>
          <p:cNvSpPr/>
          <p:nvPr/>
        </p:nvSpPr>
        <p:spPr>
          <a:xfrm>
            <a:off x="3602880" y="38037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want to improve team dynamics, culture, and ways of working</a:t>
            </a:r>
            <a:endParaRPr b="0" lang="en-US" sz="1000" spc="-1" strike="noStrike">
              <a:solidFill>
                <a:srgbClr val="ffffff"/>
              </a:solidFill>
              <a:latin typeface="Arial"/>
            </a:endParaRPr>
          </a:p>
        </p:txBody>
      </p:sp>
      <p:sp>
        <p:nvSpPr>
          <p:cNvPr id="319" name="Shape 31"/>
          <p:cNvSpPr/>
          <p:nvPr/>
        </p:nvSpPr>
        <p:spPr>
          <a:xfrm>
            <a:off x="3328560" y="4443840"/>
            <a:ext cx="200880" cy="2008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Text 32"/>
          <p:cNvSpPr/>
          <p:nvPr/>
        </p:nvSpPr>
        <p:spPr>
          <a:xfrm>
            <a:off x="3602880" y="433440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believe servant leadership creates better outcomes than command-and-control</a:t>
            </a:r>
            <a:endParaRPr b="0" lang="en-US" sz="1000" spc="-1" strike="noStrike">
              <a:solidFill>
                <a:srgbClr val="ffffff"/>
              </a:solidFill>
              <a:latin typeface="Arial"/>
            </a:endParaRPr>
          </a:p>
        </p:txBody>
      </p:sp>
      <p:sp>
        <p:nvSpPr>
          <p:cNvPr id="321" name="Shape 33"/>
          <p:cNvSpPr/>
          <p:nvPr/>
        </p:nvSpPr>
        <p:spPr>
          <a:xfrm>
            <a:off x="6071760" y="1325880"/>
            <a:ext cx="2788560" cy="3611520"/>
          </a:xfrm>
          <a:prstGeom prst="rect">
            <a:avLst/>
          </a:prstGeom>
          <a:solidFill>
            <a:srgbClr val="182535"/>
          </a:solidFill>
          <a:ln w="25400">
            <a:solidFill>
              <a:srgbClr val="2e6db4"/>
            </a:solidFill>
            <a:round/>
          </a:ln>
          <a:effectLst>
            <a:outerShdw algn="bl" blurRad="889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Shape 34"/>
          <p:cNvSpPr/>
          <p:nvPr/>
        </p:nvSpPr>
        <p:spPr>
          <a:xfrm>
            <a:off x="6071760" y="1325880"/>
            <a:ext cx="2788560" cy="804240"/>
          </a:xfrm>
          <a:prstGeom prst="rect">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Shape 35"/>
          <p:cNvSpPr/>
          <p:nvPr/>
        </p:nvSpPr>
        <p:spPr>
          <a:xfrm>
            <a:off x="6236280" y="1389960"/>
            <a:ext cx="566640" cy="566640"/>
          </a:xfrm>
          <a:prstGeom prst="ellipse">
            <a:avLst/>
          </a:prstGeom>
          <a:solidFill>
            <a:srgbClr val="0f1c2e">
              <a:alpha val="70000"/>
            </a:srgbClr>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Text 36"/>
          <p:cNvSpPr/>
          <p:nvPr/>
        </p:nvSpPr>
        <p:spPr>
          <a:xfrm>
            <a:off x="6236280" y="1389960"/>
            <a:ext cx="566640" cy="5666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ffffff"/>
                </a:solidFill>
                <a:latin typeface="Calibri"/>
              </a:rPr>
              <a:t>DT</a:t>
            </a:r>
            <a:endParaRPr b="0" lang="en-US" sz="1200" spc="-1" strike="noStrike">
              <a:solidFill>
                <a:srgbClr val="ffffff"/>
              </a:solidFill>
              <a:latin typeface="Arial"/>
            </a:endParaRPr>
          </a:p>
        </p:txBody>
      </p:sp>
      <p:sp>
        <p:nvSpPr>
          <p:cNvPr id="325" name="Text 37"/>
          <p:cNvSpPr/>
          <p:nvPr/>
        </p:nvSpPr>
        <p:spPr>
          <a:xfrm>
            <a:off x="6940440" y="1325880"/>
            <a:ext cx="181008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fffff"/>
                </a:solidFill>
                <a:latin typeface="Calibri"/>
              </a:rPr>
              <a:t>YOU ARE LIKELY A</a:t>
            </a:r>
            <a:endParaRPr b="0" lang="en-US" sz="1100" spc="-1" strike="noStrike">
              <a:solidFill>
                <a:srgbClr val="ffffff"/>
              </a:solidFill>
              <a:latin typeface="Arial"/>
            </a:endParaRPr>
          </a:p>
          <a:p>
            <a:pPr defTabSz="914400">
              <a:lnSpc>
                <a:spcPct val="100000"/>
              </a:lnSpc>
              <a:tabLst>
                <a:tab algn="l" pos="0"/>
              </a:tabLst>
            </a:pPr>
            <a:r>
              <a:rPr b="1" lang="en-US" sz="1100" spc="-1" strike="noStrike">
                <a:solidFill>
                  <a:srgbClr val="ffffff"/>
                </a:solidFill>
                <a:latin typeface="Calibri"/>
              </a:rPr>
              <a:t>DEVELOPER IF...</a:t>
            </a:r>
            <a:endParaRPr b="0" lang="en-US" sz="1100" spc="-1" strike="noStrike">
              <a:solidFill>
                <a:srgbClr val="ffffff"/>
              </a:solidFill>
              <a:latin typeface="Arial"/>
            </a:endParaRPr>
          </a:p>
        </p:txBody>
      </p:sp>
      <p:sp>
        <p:nvSpPr>
          <p:cNvPr id="326" name="Shape 38"/>
          <p:cNvSpPr/>
          <p:nvPr/>
        </p:nvSpPr>
        <p:spPr>
          <a:xfrm>
            <a:off x="6236280" y="2322720"/>
            <a:ext cx="200880" cy="2008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Text 39"/>
          <p:cNvSpPr/>
          <p:nvPr/>
        </p:nvSpPr>
        <p:spPr>
          <a:xfrm>
            <a:off x="6510600" y="221292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have great skills for delivering customer value and that excites you most</a:t>
            </a:r>
            <a:endParaRPr b="0" lang="en-US" sz="1000" spc="-1" strike="noStrike">
              <a:solidFill>
                <a:srgbClr val="ffffff"/>
              </a:solidFill>
              <a:latin typeface="Arial"/>
            </a:endParaRPr>
          </a:p>
        </p:txBody>
      </p:sp>
      <p:sp>
        <p:nvSpPr>
          <p:cNvPr id="328" name="Shape 40"/>
          <p:cNvSpPr/>
          <p:nvPr/>
        </p:nvSpPr>
        <p:spPr>
          <a:xfrm>
            <a:off x="6236280" y="2853000"/>
            <a:ext cx="200880" cy="2008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Text 41"/>
          <p:cNvSpPr/>
          <p:nvPr/>
        </p:nvSpPr>
        <p:spPr>
          <a:xfrm>
            <a:off x="6510600" y="274320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love the craft of building — coding, designing, testing, or data work</a:t>
            </a:r>
            <a:endParaRPr b="0" lang="en-US" sz="1000" spc="-1" strike="noStrike">
              <a:solidFill>
                <a:srgbClr val="ffffff"/>
              </a:solidFill>
              <a:latin typeface="Arial"/>
            </a:endParaRPr>
          </a:p>
        </p:txBody>
      </p:sp>
      <p:sp>
        <p:nvSpPr>
          <p:cNvPr id="330" name="Shape 42"/>
          <p:cNvSpPr/>
          <p:nvPr/>
        </p:nvSpPr>
        <p:spPr>
          <a:xfrm>
            <a:off x="6236280" y="3383280"/>
            <a:ext cx="200880" cy="2008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1" name="Text 43"/>
          <p:cNvSpPr/>
          <p:nvPr/>
        </p:nvSpPr>
        <p:spPr>
          <a:xfrm>
            <a:off x="6510600" y="327348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want to self-organize and make decisions on how work gets done</a:t>
            </a:r>
            <a:endParaRPr b="0" lang="en-US" sz="1000" spc="-1" strike="noStrike">
              <a:solidFill>
                <a:srgbClr val="ffffff"/>
              </a:solidFill>
              <a:latin typeface="Arial"/>
            </a:endParaRPr>
          </a:p>
        </p:txBody>
      </p:sp>
      <p:sp>
        <p:nvSpPr>
          <p:cNvPr id="332" name="Shape 44"/>
          <p:cNvSpPr/>
          <p:nvPr/>
        </p:nvSpPr>
        <p:spPr>
          <a:xfrm>
            <a:off x="6236280" y="3913560"/>
            <a:ext cx="200880" cy="2008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3" name="Text 45"/>
          <p:cNvSpPr/>
          <p:nvPr/>
        </p:nvSpPr>
        <p:spPr>
          <a:xfrm>
            <a:off x="6510600" y="38037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value technical excellence and delivering working software every sprint</a:t>
            </a:r>
            <a:endParaRPr b="0" lang="en-US" sz="1000" spc="-1" strike="noStrike">
              <a:solidFill>
                <a:srgbClr val="ffffff"/>
              </a:solidFill>
              <a:latin typeface="Arial"/>
            </a:endParaRPr>
          </a:p>
        </p:txBody>
      </p:sp>
      <p:sp>
        <p:nvSpPr>
          <p:cNvPr id="334" name="Shape 46"/>
          <p:cNvSpPr/>
          <p:nvPr/>
        </p:nvSpPr>
        <p:spPr>
          <a:xfrm>
            <a:off x="6236280" y="4443840"/>
            <a:ext cx="200880" cy="2008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5" name="Text 47"/>
          <p:cNvSpPr/>
          <p:nvPr/>
        </p:nvSpPr>
        <p:spPr>
          <a:xfrm>
            <a:off x="6510600" y="433440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f3f6fa"/>
                </a:solidFill>
                <a:latin typeface="Calibri"/>
              </a:rPr>
              <a:t>You feel most energized when you ship something that users love</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c2e"/>
        </a:solidFill>
      </p:bgPr>
    </p:bg>
    <p:spTree>
      <p:nvGrpSpPr>
        <p:cNvPr id="1" name=""/>
        <p:cNvGrpSpPr/>
        <p:nvPr/>
      </p:nvGrpSpPr>
      <p:grpSpPr>
        <a:xfrm>
          <a:off x="0" y="0"/>
          <a:ext cx="0" cy="0"/>
          <a:chOff x="0" y="0"/>
          <a:chExt cx="0" cy="0"/>
        </a:xfrm>
      </p:grpSpPr>
      <p:sp>
        <p:nvSpPr>
          <p:cNvPr id="336" name="Shape 0"/>
          <p:cNvSpPr/>
          <p:nvPr/>
        </p:nvSpPr>
        <p:spPr>
          <a:xfrm>
            <a:off x="-1371600" y="2286000"/>
            <a:ext cx="4114440" cy="4114440"/>
          </a:xfrm>
          <a:prstGeom prst="ellipse">
            <a:avLst/>
          </a:prstGeom>
          <a:solidFill>
            <a:srgbClr val="e8533a">
              <a:alpha val="20000"/>
            </a:srgbClr>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7" name="Shape 1"/>
          <p:cNvSpPr/>
          <p:nvPr/>
        </p:nvSpPr>
        <p:spPr>
          <a:xfrm>
            <a:off x="7315200" y="-914400"/>
            <a:ext cx="3657240" cy="3657240"/>
          </a:xfrm>
          <a:prstGeom prst="ellipse">
            <a:avLst/>
          </a:prstGeom>
          <a:solidFill>
            <a:srgbClr val="2e6db4">
              <a:alpha val="20000"/>
            </a:srgbClr>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8" name="Shape 2"/>
          <p:cNvSpPr/>
          <p:nvPr/>
        </p:nvSpPr>
        <p:spPr>
          <a:xfrm>
            <a:off x="0" y="0"/>
            <a:ext cx="200880" cy="5143320"/>
          </a:xfrm>
          <a:prstGeom prst="rect">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9" name="Shape 3"/>
          <p:cNvSpPr/>
          <p:nvPr/>
        </p:nvSpPr>
        <p:spPr>
          <a:xfrm>
            <a:off x="0" y="0"/>
            <a:ext cx="9143640" cy="776880"/>
          </a:xfrm>
          <a:prstGeom prst="rect">
            <a:avLst/>
          </a:prstGeom>
          <a:solidFill>
            <a:srgbClr val="1a3050"/>
          </a:solidFill>
          <a:ln w="12700">
            <a:solidFill>
              <a:srgbClr val="1a305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0" name="Text 4"/>
          <p:cNvSpPr/>
          <p:nvPr/>
        </p:nvSpPr>
        <p:spPr>
          <a:xfrm>
            <a:off x="365760" y="0"/>
            <a:ext cx="84121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299" strike="noStrike">
                <a:solidFill>
                  <a:srgbClr val="ffffff"/>
                </a:solidFill>
                <a:latin typeface="Calibri"/>
              </a:rPr>
              <a:t>KEY TAKEAWAYS</a:t>
            </a:r>
            <a:endParaRPr b="0" lang="en-US" sz="2000" spc="-1" strike="noStrike">
              <a:solidFill>
                <a:srgbClr val="ffffff"/>
              </a:solidFill>
              <a:latin typeface="Arial"/>
            </a:endParaRPr>
          </a:p>
        </p:txBody>
      </p:sp>
      <p:sp>
        <p:nvSpPr>
          <p:cNvPr id="341" name="Shape 5"/>
          <p:cNvSpPr/>
          <p:nvPr/>
        </p:nvSpPr>
        <p:spPr>
          <a:xfrm>
            <a:off x="411480" y="960120"/>
            <a:ext cx="8320680" cy="566640"/>
          </a:xfrm>
          <a:prstGeom prst="rect">
            <a:avLst/>
          </a:prstGeom>
          <a:solidFill>
            <a:srgbClr val="14202e">
              <a:alpha val="90000"/>
            </a:srgbClr>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Shape 6"/>
          <p:cNvSpPr/>
          <p:nvPr/>
        </p:nvSpPr>
        <p:spPr>
          <a:xfrm>
            <a:off x="502920" y="1078920"/>
            <a:ext cx="328680" cy="3286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Text 7"/>
          <p:cNvSpPr/>
          <p:nvPr/>
        </p:nvSpPr>
        <p:spPr>
          <a:xfrm>
            <a:off x="502920" y="107892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ffffff"/>
                </a:solidFill>
                <a:latin typeface="Calibri"/>
              </a:rPr>
              <a:t>1</a:t>
            </a:r>
            <a:endParaRPr b="0" lang="en-US" sz="1100" spc="-1" strike="noStrike">
              <a:solidFill>
                <a:srgbClr val="ffffff"/>
              </a:solidFill>
              <a:latin typeface="Arial"/>
            </a:endParaRPr>
          </a:p>
        </p:txBody>
      </p:sp>
      <p:sp>
        <p:nvSpPr>
          <p:cNvPr id="344" name="Text 8"/>
          <p:cNvSpPr/>
          <p:nvPr/>
        </p:nvSpPr>
        <p:spPr>
          <a:xfrm>
            <a:off x="960120" y="960120"/>
            <a:ext cx="76075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f3f6fa"/>
                </a:solidFill>
                <a:latin typeface="Calibri"/>
              </a:rPr>
              <a:t>Scrum has 3 roles: Product Owner (WHAT), Scrum Master (HOW to work), Development Team (HOW to deliver)</a:t>
            </a:r>
            <a:endParaRPr b="0" lang="en-US" sz="1250" spc="-1" strike="noStrike">
              <a:solidFill>
                <a:srgbClr val="ffffff"/>
              </a:solidFill>
              <a:latin typeface="Arial"/>
            </a:endParaRPr>
          </a:p>
        </p:txBody>
      </p:sp>
      <p:sp>
        <p:nvSpPr>
          <p:cNvPr id="345" name="Shape 9"/>
          <p:cNvSpPr/>
          <p:nvPr/>
        </p:nvSpPr>
        <p:spPr>
          <a:xfrm>
            <a:off x="411480" y="1627560"/>
            <a:ext cx="8320680" cy="566640"/>
          </a:xfrm>
          <a:prstGeom prst="rect">
            <a:avLst/>
          </a:prstGeom>
          <a:solidFill>
            <a:srgbClr val="14202e">
              <a:alpha val="90000"/>
            </a:srgbClr>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Shape 10"/>
          <p:cNvSpPr/>
          <p:nvPr/>
        </p:nvSpPr>
        <p:spPr>
          <a:xfrm>
            <a:off x="502920" y="1746360"/>
            <a:ext cx="328680" cy="3286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Text 11"/>
          <p:cNvSpPr/>
          <p:nvPr/>
        </p:nvSpPr>
        <p:spPr>
          <a:xfrm>
            <a:off x="502920" y="174636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ffffff"/>
                </a:solidFill>
                <a:latin typeface="Calibri"/>
              </a:rPr>
              <a:t>2</a:t>
            </a:r>
            <a:endParaRPr b="0" lang="en-US" sz="1100" spc="-1" strike="noStrike">
              <a:solidFill>
                <a:srgbClr val="ffffff"/>
              </a:solidFill>
              <a:latin typeface="Arial"/>
            </a:endParaRPr>
          </a:p>
        </p:txBody>
      </p:sp>
      <p:sp>
        <p:nvSpPr>
          <p:cNvPr id="348" name="Text 12"/>
          <p:cNvSpPr/>
          <p:nvPr/>
        </p:nvSpPr>
        <p:spPr>
          <a:xfrm>
            <a:off x="960120" y="1627560"/>
            <a:ext cx="76075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f3f6fa"/>
                </a:solidFill>
                <a:latin typeface="Calibri"/>
              </a:rPr>
              <a:t>Roles are not job titles — they define accountability, not hierarchy. Anyone can perform any Scrum role</a:t>
            </a:r>
            <a:endParaRPr b="0" lang="en-US" sz="1250" spc="-1" strike="noStrike">
              <a:solidFill>
                <a:srgbClr val="ffffff"/>
              </a:solidFill>
              <a:latin typeface="Arial"/>
            </a:endParaRPr>
          </a:p>
        </p:txBody>
      </p:sp>
      <p:sp>
        <p:nvSpPr>
          <p:cNvPr id="349" name="Shape 13"/>
          <p:cNvSpPr/>
          <p:nvPr/>
        </p:nvSpPr>
        <p:spPr>
          <a:xfrm>
            <a:off x="411480" y="2295000"/>
            <a:ext cx="8320680" cy="566640"/>
          </a:xfrm>
          <a:prstGeom prst="rect">
            <a:avLst/>
          </a:prstGeom>
          <a:solidFill>
            <a:srgbClr val="14202e">
              <a:alpha val="90000"/>
            </a:srgbClr>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0" name="Shape 14"/>
          <p:cNvSpPr/>
          <p:nvPr/>
        </p:nvSpPr>
        <p:spPr>
          <a:xfrm>
            <a:off x="502920" y="2414160"/>
            <a:ext cx="328680" cy="3286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1" name="Text 15"/>
          <p:cNvSpPr/>
          <p:nvPr/>
        </p:nvSpPr>
        <p:spPr>
          <a:xfrm>
            <a:off x="502920" y="241416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ffffff"/>
                </a:solidFill>
                <a:latin typeface="Calibri"/>
              </a:rPr>
              <a:t>3</a:t>
            </a:r>
            <a:endParaRPr b="0" lang="en-US" sz="1100" spc="-1" strike="noStrike">
              <a:solidFill>
                <a:srgbClr val="ffffff"/>
              </a:solidFill>
              <a:latin typeface="Arial"/>
            </a:endParaRPr>
          </a:p>
        </p:txBody>
      </p:sp>
      <p:sp>
        <p:nvSpPr>
          <p:cNvPr id="352" name="Text 16"/>
          <p:cNvSpPr/>
          <p:nvPr/>
        </p:nvSpPr>
        <p:spPr>
          <a:xfrm>
            <a:off x="960120" y="2295000"/>
            <a:ext cx="76075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f3f6fa"/>
                </a:solidFill>
                <a:latin typeface="Calibri"/>
              </a:rPr>
              <a:t>The Development Team is the most important element — they deliver real value to customers every sprint</a:t>
            </a:r>
            <a:endParaRPr b="0" lang="en-US" sz="1250" spc="-1" strike="noStrike">
              <a:solidFill>
                <a:srgbClr val="ffffff"/>
              </a:solidFill>
              <a:latin typeface="Arial"/>
            </a:endParaRPr>
          </a:p>
        </p:txBody>
      </p:sp>
      <p:sp>
        <p:nvSpPr>
          <p:cNvPr id="353" name="Shape 17"/>
          <p:cNvSpPr/>
          <p:nvPr/>
        </p:nvSpPr>
        <p:spPr>
          <a:xfrm>
            <a:off x="411480" y="2962800"/>
            <a:ext cx="8320680" cy="566640"/>
          </a:xfrm>
          <a:prstGeom prst="rect">
            <a:avLst/>
          </a:prstGeom>
          <a:solidFill>
            <a:srgbClr val="14202e">
              <a:alpha val="90000"/>
            </a:srgbClr>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4" name="Shape 18"/>
          <p:cNvSpPr/>
          <p:nvPr/>
        </p:nvSpPr>
        <p:spPr>
          <a:xfrm>
            <a:off x="502920" y="3081600"/>
            <a:ext cx="328680" cy="328680"/>
          </a:xfrm>
          <a:prstGeom prst="ellipse">
            <a:avLst/>
          </a:prstGeom>
          <a:solidFill>
            <a:srgbClr val="e8533a"/>
          </a:solidFill>
          <a:ln w="12700">
            <a:solidFill>
              <a:srgbClr val="e853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5" name="Text 19"/>
          <p:cNvSpPr/>
          <p:nvPr/>
        </p:nvSpPr>
        <p:spPr>
          <a:xfrm>
            <a:off x="502920" y="30816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ffffff"/>
                </a:solidFill>
                <a:latin typeface="Calibri"/>
              </a:rPr>
              <a:t>4</a:t>
            </a:r>
            <a:endParaRPr b="0" lang="en-US" sz="1100" spc="-1" strike="noStrike">
              <a:solidFill>
                <a:srgbClr val="ffffff"/>
              </a:solidFill>
              <a:latin typeface="Arial"/>
            </a:endParaRPr>
          </a:p>
        </p:txBody>
      </p:sp>
      <p:sp>
        <p:nvSpPr>
          <p:cNvPr id="356" name="Text 20"/>
          <p:cNvSpPr/>
          <p:nvPr/>
        </p:nvSpPr>
        <p:spPr>
          <a:xfrm>
            <a:off x="960120" y="2962800"/>
            <a:ext cx="76075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f3f6fa"/>
                </a:solidFill>
                <a:latin typeface="Calibri"/>
              </a:rPr>
              <a:t>The PO is a single person: teams need one clear voice on priorities, not committee-based product decisions</a:t>
            </a:r>
            <a:endParaRPr b="0" lang="en-US" sz="1250" spc="-1" strike="noStrike">
              <a:solidFill>
                <a:srgbClr val="ffffff"/>
              </a:solidFill>
              <a:latin typeface="Arial"/>
            </a:endParaRPr>
          </a:p>
        </p:txBody>
      </p:sp>
      <p:sp>
        <p:nvSpPr>
          <p:cNvPr id="357" name="Shape 21"/>
          <p:cNvSpPr/>
          <p:nvPr/>
        </p:nvSpPr>
        <p:spPr>
          <a:xfrm>
            <a:off x="411480" y="3630240"/>
            <a:ext cx="8320680" cy="566640"/>
          </a:xfrm>
          <a:prstGeom prst="rect">
            <a:avLst/>
          </a:prstGeom>
          <a:solidFill>
            <a:srgbClr val="14202e">
              <a:alpha val="90000"/>
            </a:srgbClr>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8" name="Shape 22"/>
          <p:cNvSpPr/>
          <p:nvPr/>
        </p:nvSpPr>
        <p:spPr>
          <a:xfrm>
            <a:off x="502920" y="3749040"/>
            <a:ext cx="328680" cy="328680"/>
          </a:xfrm>
          <a:prstGeom prst="ellipse">
            <a:avLst/>
          </a:prstGeom>
          <a:solidFill>
            <a:srgbClr val="1e8a6e"/>
          </a:solidFill>
          <a:ln w="12700">
            <a:solidFill>
              <a:srgbClr val="1e8a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9" name="Text 23"/>
          <p:cNvSpPr/>
          <p:nvPr/>
        </p:nvSpPr>
        <p:spPr>
          <a:xfrm>
            <a:off x="502920" y="374904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ffffff"/>
                </a:solidFill>
                <a:latin typeface="Calibri"/>
              </a:rPr>
              <a:t>5</a:t>
            </a:r>
            <a:endParaRPr b="0" lang="en-US" sz="1100" spc="-1" strike="noStrike">
              <a:solidFill>
                <a:srgbClr val="ffffff"/>
              </a:solidFill>
              <a:latin typeface="Arial"/>
            </a:endParaRPr>
          </a:p>
        </p:txBody>
      </p:sp>
      <p:sp>
        <p:nvSpPr>
          <p:cNvPr id="360" name="Text 24"/>
          <p:cNvSpPr/>
          <p:nvPr/>
        </p:nvSpPr>
        <p:spPr>
          <a:xfrm>
            <a:off x="960120" y="3630240"/>
            <a:ext cx="76075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f3f6fa"/>
                </a:solidFill>
                <a:latin typeface="Calibri"/>
              </a:rPr>
              <a:t>The SM is a servant leader and coach — not a project manager or authority figure over the team</a:t>
            </a:r>
            <a:endParaRPr b="0" lang="en-US" sz="1250" spc="-1" strike="noStrike">
              <a:solidFill>
                <a:srgbClr val="ffffff"/>
              </a:solidFill>
              <a:latin typeface="Arial"/>
            </a:endParaRPr>
          </a:p>
        </p:txBody>
      </p:sp>
      <p:sp>
        <p:nvSpPr>
          <p:cNvPr id="361" name="Shape 25"/>
          <p:cNvSpPr/>
          <p:nvPr/>
        </p:nvSpPr>
        <p:spPr>
          <a:xfrm>
            <a:off x="411480" y="4297680"/>
            <a:ext cx="8320680" cy="566640"/>
          </a:xfrm>
          <a:prstGeom prst="rect">
            <a:avLst/>
          </a:prstGeom>
          <a:solidFill>
            <a:srgbClr val="14202e">
              <a:alpha val="90000"/>
            </a:srgbClr>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Shape 26"/>
          <p:cNvSpPr/>
          <p:nvPr/>
        </p:nvSpPr>
        <p:spPr>
          <a:xfrm>
            <a:off x="502920" y="4416480"/>
            <a:ext cx="328680" cy="328680"/>
          </a:xfrm>
          <a:prstGeom prst="ellipse">
            <a:avLst/>
          </a:prstGeom>
          <a:solidFill>
            <a:srgbClr val="2e6db4"/>
          </a:solidFill>
          <a:ln w="12700">
            <a:solidFill>
              <a:srgbClr val="2e6db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3" name="Text 27"/>
          <p:cNvSpPr/>
          <p:nvPr/>
        </p:nvSpPr>
        <p:spPr>
          <a:xfrm>
            <a:off x="502920" y="441648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ffffff"/>
                </a:solidFill>
                <a:latin typeface="Calibri"/>
              </a:rPr>
              <a:t>6</a:t>
            </a:r>
            <a:endParaRPr b="0" lang="en-US" sz="1100" spc="-1" strike="noStrike">
              <a:solidFill>
                <a:srgbClr val="ffffff"/>
              </a:solidFill>
              <a:latin typeface="Arial"/>
            </a:endParaRPr>
          </a:p>
        </p:txBody>
      </p:sp>
      <p:sp>
        <p:nvSpPr>
          <p:cNvPr id="364" name="Text 28"/>
          <p:cNvSpPr/>
          <p:nvPr/>
        </p:nvSpPr>
        <p:spPr>
          <a:xfrm>
            <a:off x="960120" y="4297680"/>
            <a:ext cx="760752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pc="-1" strike="noStrike">
                <a:solidFill>
                  <a:srgbClr val="f3f6fa"/>
                </a:solidFill>
                <a:latin typeface="Calibri"/>
              </a:rPr>
              <a:t>Self-organization, cross-functionality, and the 5 Scrum values (Commitment, Focus, Openness, Respect, Courage) unite the team</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2026-04-10T03:20:18Z</dcterms:created>
  <dc:creator>PptxGenJS</dc:creator>
  <dc:description/>
  <dc:language>en-US</dc:language>
  <cp:lastModifiedBy/>
  <dcterms:modified xsi:type="dcterms:W3CDTF">2026-04-10T10:46:33Z</dcterms:modified>
  <cp:revision>2</cp:revision>
  <dc:subject>PptxGenJS Presentation</dc:subject>
  <dc:title>Agile Scrum Roles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