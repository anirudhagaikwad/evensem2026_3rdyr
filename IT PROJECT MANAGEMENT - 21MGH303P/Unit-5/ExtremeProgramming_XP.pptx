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645920"/>
            <a:ext cx="5486400" cy="548640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457200"/>
            <a:ext cx="2560320" cy="2560320"/>
          </a:xfrm>
          <a:prstGeom prst="ellipse">
            <a:avLst/>
          </a:prstGeom>
          <a:solidFill>
            <a:srgbClr val="E11D48">
              <a:alpha val="35000"/>
            </a:srgbClr>
          </a:solidFill>
          <a:ln w="12700">
            <a:solidFill>
              <a:srgbClr val="E11D48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65A30D">
              <a:alpha val="15000"/>
            </a:srgbClr>
          </a:solidFill>
          <a:ln w="12700">
            <a:solidFill>
              <a:srgbClr val="65A30D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365760"/>
            <a:ext cx="274320" cy="274320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0" y="777240"/>
            <a:ext cx="164592" cy="16459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841248"/>
            <a:ext cx="137160" cy="13716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58368"/>
            <a:ext cx="2743200" cy="36576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9FAFB"/>
                </a:solidFill>
              </a:rPr>
              <a:t>AGILE METHODOLOGY  ·  SOFTWARE DEVELOPMENT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17043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(XP)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· Practices · Rules · Benefits · XP vs Scrum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1993392" cy="914400"/>
          </a:xfrm>
          <a:prstGeom prst="rect">
            <a:avLst/>
          </a:prstGeom>
          <a:solidFill>
            <a:srgbClr val="1F2937"/>
          </a:solidFill>
          <a:ln w="15240">
            <a:solidFill>
              <a:srgbClr val="FB71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19856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" y="3895344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24328" y="3401568"/>
            <a:ext cx="1993392" cy="914400"/>
          </a:xfrm>
          <a:prstGeom prst="rect">
            <a:avLst/>
          </a:prstGeom>
          <a:solidFill>
            <a:srgbClr val="1F2937"/>
          </a:solidFill>
          <a:ln w="1524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4328" y="3419856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624328" y="3895344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91456" y="3401568"/>
            <a:ext cx="1993392" cy="914400"/>
          </a:xfrm>
          <a:prstGeom prst="rect">
            <a:avLst/>
          </a:prstGeom>
          <a:solidFill>
            <a:srgbClr val="1F2937"/>
          </a:solidFill>
          <a:ln w="15240">
            <a:solidFill>
              <a:srgbClr val="FB71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3419856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91456" y="3895344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58584" y="3401568"/>
            <a:ext cx="1993392" cy="914400"/>
          </a:xfrm>
          <a:prstGeom prst="rect">
            <a:avLst/>
          </a:prstGeom>
          <a:solidFill>
            <a:srgbClr val="1F2937"/>
          </a:solidFill>
          <a:ln w="15240">
            <a:solidFill>
              <a:srgbClr val="FB71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58584" y="3419856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58584" y="3895344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Extreme Programming (XP)?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932688"/>
          </a:xfrm>
          <a:prstGeom prst="rect">
            <a:avLst/>
          </a:prstGeom>
          <a:solidFill>
            <a:srgbClr val="1F293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188720"/>
            <a:ext cx="8092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Programming (XP) </a:t>
            </a:r>
            <a:pPr indent="0" marL="0">
              <a:buNone/>
            </a:pPr>
            <a:r>
              <a:rPr lang="en-US" sz="12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Agile software development methodology that emphasizes collaboration, customer involvement, and adaptability. It uses </a:t>
            </a:r>
            <a:pPr indent="0" marL="0">
              <a:buNone/>
            </a:pPr>
            <a:r>
              <a:rPr lang="en-US" sz="12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guiding values, five rules, and 12 practices</a:t>
            </a:r>
            <a:pPr indent="0" marL="0">
              <a:buNone/>
            </a:pPr>
            <a:r>
              <a:rPr lang="en-US" sz="12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deliver high-quality software through short development cycles and continuous feedback.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267712"/>
            <a:ext cx="4114800" cy="2633472"/>
          </a:xfrm>
          <a:prstGeom prst="rect">
            <a:avLst/>
          </a:prstGeom>
          <a:solidFill>
            <a:srgbClr val="11182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267712"/>
            <a:ext cx="41148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267712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Origin of XP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3776" y="2798064"/>
            <a:ext cx="385876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</a:t>
            </a:r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Beck</a:t>
            </a:r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late 1990s to manage the Chrysler C3 payroll software project.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Remove resistance to code changes within development projects — enabling teams to scrutinize, rewrite, and improve code after every iteration.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Built on the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Manifesto</a:t>
            </a:r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adapted with strict discipline to suit software engineering.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267712"/>
            <a:ext cx="4114800" cy="594360"/>
          </a:xfrm>
          <a:prstGeom prst="rect">
            <a:avLst/>
          </a:prstGeom>
          <a:solidFill>
            <a:srgbClr val="111827"/>
          </a:solidFill>
          <a:ln w="9525">
            <a:solidFill>
              <a:srgbClr val="E11D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267712"/>
            <a:ext cx="91440" cy="5943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2304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Iterative Process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28032" y="2560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broken into short sprints with continuous feedback loops at each stage.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4114800" cy="594360"/>
          </a:xfrm>
          <a:prstGeom prst="rect">
            <a:avLst/>
          </a:prstGeom>
          <a:solidFill>
            <a:srgbClr val="111827"/>
          </a:solidFill>
          <a:ln w="9525">
            <a:solidFill>
              <a:srgbClr val="65A30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926080"/>
            <a:ext cx="91440" cy="59436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9626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Collaborative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28032" y="32186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 and collective ownership mean everyone shares responsibility.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584448"/>
            <a:ext cx="4114800" cy="594360"/>
          </a:xfrm>
          <a:prstGeom prst="rect">
            <a:avLst/>
          </a:prstGeom>
          <a:solidFill>
            <a:srgbClr val="111827"/>
          </a:solidFill>
          <a:ln w="9525">
            <a:solidFill>
              <a:srgbClr val="E11D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584448"/>
            <a:ext cx="91440" cy="5943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36210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Test-Driven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28032" y="3877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automated testing is built into every development cycle — not an afterthought.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4242816"/>
            <a:ext cx="4114800" cy="594360"/>
          </a:xfrm>
          <a:prstGeom prst="rect">
            <a:avLst/>
          </a:prstGeom>
          <a:solidFill>
            <a:srgbClr val="111827"/>
          </a:solidFill>
          <a:ln w="9525">
            <a:solidFill>
              <a:srgbClr val="65A30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4242816"/>
            <a:ext cx="91440" cy="59436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42793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Customer-Centric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28032" y="45354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involved throughout, not just at the start or end of a project.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Values of Extreme Programming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816352" cy="1847088"/>
          </a:xfrm>
          <a:prstGeom prst="rect">
            <a:avLst/>
          </a:prstGeom>
          <a:solidFill>
            <a:srgbClr val="1F2937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816352" cy="4754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43000"/>
            <a:ext cx="329184" cy="3291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43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" y="1051560"/>
            <a:ext cx="2221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Simplicity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581912"/>
            <a:ext cx="2596896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what is the simplest thing that also works? Focus on getting the most important work done first — avoid over-engineering or building for hypothetical future needs.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816352" cy="1847088"/>
          </a:xfrm>
          <a:prstGeom prst="rect">
            <a:avLst/>
          </a:prstGeom>
          <a:solidFill>
            <a:srgbClr val="1F2937"/>
          </a:solidFill>
          <a:ln w="25400">
            <a:solidFill>
              <a:srgbClr val="65A3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51560"/>
            <a:ext cx="2816352" cy="475488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143000"/>
            <a:ext cx="329184" cy="3291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143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5A30D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58184" y="1051560"/>
            <a:ext cx="2221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Communication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1581912"/>
            <a:ext cx="2596896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reactivity and honest, open communication are essential. When problems arise, speak up — team members will often already have the solution.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051560"/>
            <a:ext cx="2816352" cy="1847088"/>
          </a:xfrm>
          <a:prstGeom prst="rect">
            <a:avLst/>
          </a:prstGeom>
          <a:solidFill>
            <a:srgbClr val="1F2937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51560"/>
            <a:ext cx="2816352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7648" y="1143000"/>
            <a:ext cx="329184" cy="3291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1143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9984" y="1051560"/>
            <a:ext cx="2221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Feedback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7648" y="1581912"/>
            <a:ext cx="2596896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user stories and customer feedback directly into the process. Developers stay in near-constant contact with customers, launching frequent releases to gain insights early and often.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44952"/>
            <a:ext cx="4224528" cy="1847088"/>
          </a:xfrm>
          <a:prstGeom prst="rect">
            <a:avLst/>
          </a:prstGeom>
          <a:solidFill>
            <a:srgbClr val="1F2937"/>
          </a:solidFill>
          <a:ln w="254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044952"/>
            <a:ext cx="4224528" cy="47548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136392"/>
            <a:ext cx="329184" cy="3291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1363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384" y="3044952"/>
            <a:ext cx="3630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🦁  Courage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" y="3575304"/>
            <a:ext cx="4005072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give honest progress updates — even when things go wrong. Hold yourself accountable. If a deadline is missed, adapt and move forward rather than deflecting.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81728" y="3044952"/>
            <a:ext cx="4224528" cy="1847088"/>
          </a:xfrm>
          <a:prstGeom prst="rect">
            <a:avLst/>
          </a:prstGeom>
          <a:solidFill>
            <a:srgbClr val="1F2937"/>
          </a:solidFill>
          <a:ln w="254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3044952"/>
            <a:ext cx="4224528" cy="47548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91456" y="3136392"/>
            <a:ext cx="329184" cy="3291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31363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7185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93792" y="3044952"/>
            <a:ext cx="3630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Respect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91456" y="3575304"/>
            <a:ext cx="4005072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respect between customers and the team, between team members, and a recognition that everyone brings something valuable. Respect enables honest, kind communication.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XP Practices — Part 1 (01–06)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33856"/>
            <a:ext cx="2798064" cy="1719072"/>
          </a:xfrm>
          <a:prstGeom prst="rect">
            <a:avLst/>
          </a:prstGeom>
          <a:solidFill>
            <a:srgbClr val="111827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33856"/>
            <a:ext cx="2798064" cy="4572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25296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252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11D48"/>
                </a:solidFill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8096" y="1133856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The Planning Game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645920"/>
            <a:ext cx="257860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what to accomplish, by when, and what comes next. Outputs: scope, schedule, priorities per iteration.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133856"/>
            <a:ext cx="2798064" cy="1719072"/>
          </a:xfrm>
          <a:prstGeom prst="rect">
            <a:avLst/>
          </a:prstGeom>
          <a:solidFill>
            <a:srgbClr val="111827"/>
          </a:solidFill>
          <a:ln w="19050">
            <a:solidFill>
              <a:srgbClr val="65A3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133856"/>
            <a:ext cx="2798064" cy="45720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8416" y="1225296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2252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5A30D"/>
                </a:solidFill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12464" y="1133856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Customer Tests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28416" y="1645920"/>
            <a:ext cx="257860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new feature, the customer writes an acceptance test to check how closely it matches their original user story.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63056" y="1133856"/>
            <a:ext cx="2798064" cy="1719072"/>
          </a:xfrm>
          <a:prstGeom prst="rect">
            <a:avLst/>
          </a:prstGeom>
          <a:solidFill>
            <a:srgbClr val="11182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133856"/>
            <a:ext cx="2798064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1225296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2252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03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56832" y="1133856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Small Releases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2784" y="1645920"/>
            <a:ext cx="257860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Routine, small releases deliver insights throughout. Often shipped straight to customers to gather real feedback.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99232"/>
            <a:ext cx="2798064" cy="1719072"/>
          </a:xfrm>
          <a:prstGeom prst="rect">
            <a:avLst/>
          </a:prstGeom>
          <a:solidFill>
            <a:srgbClr val="111827"/>
          </a:solidFill>
          <a:ln w="1905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99232"/>
            <a:ext cx="2798064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090672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090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4C7"/>
                </a:solidFill>
              </a:rPr>
              <a:t>04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" y="2999232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Simple Design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" y="3511296"/>
            <a:ext cx="257860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only what is necessary, nothing more. Start as bare-bones as possible; complexity grows only when needed.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18688" y="2999232"/>
            <a:ext cx="2798064" cy="1719072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18688" y="2999232"/>
            <a:ext cx="2798064" cy="457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28416" y="3090672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8416" y="3090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7185"/>
                </a:solidFill>
              </a:rPr>
              <a:t>05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12464" y="2999232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👯  Pair Programming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28416" y="3511296"/>
            <a:ext cx="257860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programming is done by two developers working side by side. No solo coding. Errors are caught in real time.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63056" y="2999232"/>
            <a:ext cx="2798064" cy="1719072"/>
          </a:xfrm>
          <a:prstGeom prst="rect">
            <a:avLst/>
          </a:prstGeom>
          <a:solidFill>
            <a:srgbClr val="111827"/>
          </a:solidFill>
          <a:ln w="19050">
            <a:solidFill>
              <a:srgbClr val="A3E6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2999232"/>
            <a:ext cx="2798064" cy="45720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72784" y="3090672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3090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E635"/>
                </a:solidFill>
              </a:rPr>
              <a:t>06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656832" y="2999232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Test-Driven Development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72784" y="3511296"/>
            <a:ext cx="257860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cycles: write automated tests first, then code to pass them. Feedback is immediate after every release.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XP Practices — Part 2 (07–12)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798064" cy="1719072"/>
          </a:xfrm>
          <a:prstGeom prst="rect">
            <a:avLst/>
          </a:prstGeom>
          <a:solidFill>
            <a:srgbClr val="1F293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2798064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07008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070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07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8096" y="1115568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Refactoring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257860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clean the codebase — remove duplicates, improve cohesion, and ensure the code is maintainable and unified.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115568"/>
            <a:ext cx="2798064" cy="1719072"/>
          </a:xfrm>
          <a:prstGeom prst="rect">
            <a:avLst/>
          </a:prstGeom>
          <a:solidFill>
            <a:srgbClr val="1F2937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115568"/>
            <a:ext cx="2798064" cy="4572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8416" y="1207008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2070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11D48"/>
                </a:solidFill>
              </a:rPr>
              <a:t>08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12464" y="1115568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Collective Ownership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28416" y="1627632"/>
            <a:ext cx="257860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coding pair can change the code at any time, regardless of who wrote it. Everyone's work is held to a higher collective standard.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63056" y="1115568"/>
            <a:ext cx="2798064" cy="1719072"/>
          </a:xfrm>
          <a:prstGeom prst="rect">
            <a:avLst/>
          </a:prstGeom>
          <a:solidFill>
            <a:srgbClr val="1F2937"/>
          </a:solidFill>
          <a:ln w="19050">
            <a:solidFill>
              <a:srgbClr val="65A3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115568"/>
            <a:ext cx="2798064" cy="45720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1207008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2070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5A30D"/>
                </a:solidFill>
              </a:rPr>
              <a:t>09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56832" y="1115568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Continuous 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2784" y="1627632"/>
            <a:ext cx="257860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wait for completed iterations — integrate constantly. XP teams often integrate multiple times per day.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80944"/>
            <a:ext cx="2798064" cy="1719072"/>
          </a:xfrm>
          <a:prstGeom prst="rect">
            <a:avLst/>
          </a:prstGeom>
          <a:solidFill>
            <a:srgbClr val="1F2937"/>
          </a:solidFill>
          <a:ln w="1905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80944"/>
            <a:ext cx="2798064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07238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4C7"/>
                </a:solidFill>
              </a:rPr>
              <a:t>10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" y="2980944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Sustainable Pace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" y="3493008"/>
            <a:ext cx="257860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much work the team can produce per day and week. Use that to set realistic deadlines and prevent burnout.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18688" y="2980944"/>
            <a:ext cx="2798064" cy="1719072"/>
          </a:xfrm>
          <a:prstGeom prst="rect">
            <a:avLst/>
          </a:prstGeom>
          <a:solidFill>
            <a:srgbClr val="1F293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18688" y="2980944"/>
            <a:ext cx="2798064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28416" y="307238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8416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11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12464" y="2980944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Metaphor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28416" y="3493008"/>
            <a:ext cx="257860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story that gives the whole team a common language — e.g., 'we're ants building the anthill' to describe collaborative progress.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63056" y="2980944"/>
            <a:ext cx="2798064" cy="1719072"/>
          </a:xfrm>
          <a:prstGeom prst="rect">
            <a:avLst/>
          </a:prstGeom>
          <a:solidFill>
            <a:srgbClr val="1F293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2980944"/>
            <a:ext cx="2798064" cy="457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72784" y="307238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7185"/>
                </a:solidFill>
              </a:rPr>
              <a:t>12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656832" y="2980944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Coding Standard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72784" y="3493008"/>
            <a:ext cx="257860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developers follow one unified coding standard. The code should read as if written by a single developer throughout.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Rules of the XP Methodology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694944"/>
          </a:xfrm>
          <a:prstGeom prst="rect">
            <a:avLst/>
          </a:prstGeom>
          <a:solidFill>
            <a:srgbClr val="111827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109728" cy="69494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80160"/>
            <a:ext cx="384048" cy="3840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1521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Rule 01: Planning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3320" y="1152144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if the project fits XP by reviewing user stories, business value, and development stage. Create a release schedule — release early and often. Break into iterations, set sustainable deadlines, and use real-time project management tools.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20040" y="1883664"/>
            <a:ext cx="8503920" cy="694944"/>
          </a:xfrm>
          <a:prstGeom prst="rect">
            <a:avLst/>
          </a:prstGeom>
          <a:solidFill>
            <a:srgbClr val="111827"/>
          </a:solidFill>
          <a:ln w="19050">
            <a:solidFill>
              <a:srgbClr val="65A3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83664"/>
            <a:ext cx="109728" cy="694944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048256"/>
            <a:ext cx="384048" cy="384048"/>
          </a:xfrm>
          <a:prstGeom prst="ellipse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48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Rule 02: Managing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192024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open workspace (or async tools for remote). Run daily standups. Follow quarterly cycles (review user stories + gaps) and weekly cycles (customer picks the user story each week). Focus on pace, bugs, and adaptability.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8503920" cy="694944"/>
          </a:xfrm>
          <a:prstGeom prst="rect">
            <a:avLst/>
          </a:prstGeom>
          <a:solidFill>
            <a:srgbClr val="11182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51760"/>
            <a:ext cx="109728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816352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16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26883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Rule 03: Designing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03320" y="2688336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simplest possible design — no early functionality. Use CRC cards (Class-Responsibility-Collaborators) to map object interactions. Spot risks early; assign 1–2 members to address each potential issue proactively.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20040" y="3419856"/>
            <a:ext cx="8503920" cy="694944"/>
          </a:xfrm>
          <a:prstGeom prst="rect">
            <a:avLst/>
          </a:prstGeom>
          <a:solidFill>
            <a:srgbClr val="111827"/>
          </a:solidFill>
          <a:ln w="1905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419856"/>
            <a:ext cx="109728" cy="69494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584448"/>
            <a:ext cx="384048" cy="38404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84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4564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Rule 04: Coding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03320" y="3456432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constant customer contact. All code must meet standards. Use unit tests, pair programming, continuous integration, and collective ownership. Only one pair updates code at a time to reduce errors.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320040" y="4187952"/>
            <a:ext cx="8503920" cy="694944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187952"/>
            <a:ext cx="109728" cy="69494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352544"/>
            <a:ext cx="384048" cy="3840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352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4224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Rule 05: Testing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03320" y="4224528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throughout the entire process. All code must pass unit tests before release. New tests are created for every discovered bug. Later, configure the user story into an acceptance test — the customer reviews the final results.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320040" y="4919472"/>
            <a:ext cx="8503920" cy="16459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919472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= philosophy · Rules = practical execution · Practices = day-to-day disciplines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Programming vs Scrum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42416"/>
          <a:ext cx="8503920" cy="3977640"/>
        </p:xfrm>
        <a:graphic>
          <a:graphicData uri="http://schemas.openxmlformats.org/drawingml/2006/table">
            <a:tbl>
              <a:tblPr/>
              <a:tblGrid>
                <a:gridCol w="1828800"/>
                <a:gridCol w="3337560"/>
                <a:gridCol w="3337560"/>
              </a:tblGrid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CD34D"/>
                          </a:solidFill>
                        </a:rPr>
                        <a:t>Aspect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30712"/>
                          </a:solidFill>
                        </a:rPr>
                        <a:t>Extreme Programming (XP)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30712"/>
                          </a:solidFill>
                        </a:rPr>
                        <a:t>Scrum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A30D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practices &amp; technical discipline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management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Prescriptiveness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rules and guidelines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Flexible, adaptive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Practices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Prescribes pair programming, TDD,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dictate technical practices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Involvement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contact required throughout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Involved at sprint reviews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development teams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iterative process or project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team collectively — no single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Scrum Master manages the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Cadence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frequent releases straight to 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end of each sprint (1–4 weeks)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5084064"/>
            <a:ext cx="850392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50932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Many teams combine both: Scrum's project management structure + XP's engineering discipline for maximum effectiveness.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Challenges of XP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4160520" cy="420624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70432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BENEFITS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1664208"/>
            <a:ext cx="4160520" cy="594360"/>
          </a:xfrm>
          <a:prstGeom prst="rect">
            <a:avLst/>
          </a:prstGeom>
          <a:solidFill>
            <a:srgbClr val="111827"/>
          </a:solidFill>
          <a:ln w="9525">
            <a:solidFill>
              <a:srgbClr val="65A30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664208"/>
            <a:ext cx="73152" cy="59436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007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Higher-Quality Software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and pair programming catch defects early → cleaner, more reliable code.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322576"/>
            <a:ext cx="4160520" cy="594360"/>
          </a:xfrm>
          <a:prstGeom prst="rect">
            <a:avLst/>
          </a:prstGeom>
          <a:solidFill>
            <a:srgbClr val="111827"/>
          </a:solidFill>
          <a:ln w="9525">
            <a:solidFill>
              <a:srgbClr val="65A30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322576"/>
            <a:ext cx="73152" cy="59436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591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Responsiveness to Change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6151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frequent releases enable quick adaptation to feedback and new requirements.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980944"/>
            <a:ext cx="4160520" cy="594360"/>
          </a:xfrm>
          <a:prstGeom prst="rect">
            <a:avLst/>
          </a:prstGeom>
          <a:solidFill>
            <a:srgbClr val="111827"/>
          </a:solidFill>
          <a:ln w="9525">
            <a:solidFill>
              <a:srgbClr val="65A30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980944"/>
            <a:ext cx="73152" cy="59436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175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Improved Customer Alignment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3273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customer involvement ensures the product matches real user expectations.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639312"/>
            <a:ext cx="4160520" cy="594360"/>
          </a:xfrm>
          <a:prstGeom prst="rect">
            <a:avLst/>
          </a:prstGeom>
          <a:solidFill>
            <a:srgbClr val="111827"/>
          </a:solidFill>
          <a:ln w="9525">
            <a:solidFill>
              <a:srgbClr val="65A30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639312"/>
            <a:ext cx="73152" cy="59436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75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Sustainable Pace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3931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burnout while maintaining consistent, predictable team productivity.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4297680"/>
            <a:ext cx="4160520" cy="594360"/>
          </a:xfrm>
          <a:prstGeom prst="rect">
            <a:avLst/>
          </a:prstGeom>
          <a:solidFill>
            <a:srgbClr val="111827"/>
          </a:solidFill>
          <a:ln w="9525">
            <a:solidFill>
              <a:srgbClr val="65A30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4297680"/>
            <a:ext cx="73152" cy="59436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342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Better Team Collaboration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4590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ownership and pair programming foster knowledge sharing and reduce silos.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45152" y="1170432"/>
            <a:ext cx="4160520" cy="42062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1170432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45152" y="1664208"/>
            <a:ext cx="4160520" cy="594360"/>
          </a:xfrm>
          <a:prstGeom prst="rect">
            <a:avLst/>
          </a:prstGeom>
          <a:solidFill>
            <a:srgbClr val="111827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45152" y="1664208"/>
            <a:ext cx="73152" cy="5943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7007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High Discipline Required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00600" y="19568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adherence to TDD, pair programming — teams without commitment struggle to maintain it.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45152" y="2322576"/>
            <a:ext cx="4160520" cy="594360"/>
          </a:xfrm>
          <a:prstGeom prst="rect">
            <a:avLst/>
          </a:prstGeom>
          <a:solidFill>
            <a:srgbClr val="111827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5152" y="2322576"/>
            <a:ext cx="73152" cy="5943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3591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Customer Availability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00600" y="26151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dedicated customer representative available throughout the entire process.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45152" y="2980944"/>
            <a:ext cx="4160520" cy="594360"/>
          </a:xfrm>
          <a:prstGeom prst="rect">
            <a:avLst/>
          </a:prstGeom>
          <a:solidFill>
            <a:srgbClr val="111827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45152" y="2980944"/>
            <a:ext cx="73152" cy="5943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0175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Limited Documentation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00600" y="3273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detailed upfront docs can be challenging for regulated industries or compliance needs.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45152" y="3639312"/>
            <a:ext cx="4160520" cy="594360"/>
          </a:xfrm>
          <a:prstGeom prst="rect">
            <a:avLst/>
          </a:prstGeom>
          <a:solidFill>
            <a:srgbClr val="111827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45152" y="3639312"/>
            <a:ext cx="73152" cy="5943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675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 Team Resistance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800600" y="3931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 and collective ownership require developers to change ingrained work habits.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45152" y="4297680"/>
            <a:ext cx="4160520" cy="594360"/>
          </a:xfrm>
          <a:prstGeom prst="rect">
            <a:avLst/>
          </a:prstGeom>
          <a:solidFill>
            <a:srgbClr val="111827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45152" y="4297680"/>
            <a:ext cx="73152" cy="5943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43342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Scaling Difficulties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800600" y="4590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works best with teams under 10 people — close collaboration becomes harder at scale.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You Use Extreme Programming?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61104" cy="1828800"/>
          </a:xfrm>
          <a:prstGeom prst="rect">
            <a:avLst/>
          </a:prstGeom>
          <a:solidFill>
            <a:srgbClr val="1F2937"/>
          </a:solidFill>
          <a:ln w="2286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261104" cy="4572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43000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43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Team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" y="1563624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under 10 people.
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947672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XP's highly collaborative nature — daily standups, pair programming, open workspace — only scales effectively on small, tight-knit teams.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36592" y="1051560"/>
            <a:ext cx="4261104" cy="1828800"/>
          </a:xfrm>
          <a:prstGeom prst="rect">
            <a:avLst/>
          </a:prstGeom>
          <a:solidFill>
            <a:srgbClr val="1F2937"/>
          </a:solidFill>
          <a:ln w="22860">
            <a:solidFill>
              <a:srgbClr val="65A3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051560"/>
            <a:ext cx="4261104" cy="45720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143000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43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📞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39512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Customer Contact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1563624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available throughout.
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1947672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incorporates customer requirements at every stage, relying on them for weekly user story selection, testing, and acceptance validation.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08376"/>
            <a:ext cx="4261104" cy="1828800"/>
          </a:xfrm>
          <a:prstGeom prst="rect">
            <a:avLst/>
          </a:prstGeom>
          <a:solidFill>
            <a:srgbClr val="1F2937"/>
          </a:solidFill>
          <a:ln w="2286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08376"/>
            <a:ext cx="4261104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099816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099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0083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Team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" y="352044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embraces change willingly.
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" y="3904488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programming will often require your team to toss out hard work and restart entirely. Resilience and adaptability are non-negotiable.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36592" y="3008376"/>
            <a:ext cx="4261104" cy="1828800"/>
          </a:xfrm>
          <a:prstGeom prst="rect">
            <a:avLst/>
          </a:prstGeom>
          <a:solidFill>
            <a:srgbClr val="1F2937"/>
          </a:solidFill>
          <a:ln w="2286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3008376"/>
            <a:ext cx="4261104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099816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099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💻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39512" y="30083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Expertise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64608" y="352044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is well-versed in coding.
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3904488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is not for beginners. You need to work fast, make real-time changes, write tests on the fly, and maintain collective code standards simultaneously.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28616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is specifically designed for engineering teams. Even within software teams, it works best in the conditions above.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108960"/>
            <a:ext cx="4114800" cy="4114800"/>
          </a:xfrm>
          <a:prstGeom prst="ellipse">
            <a:avLst/>
          </a:prstGeom>
          <a:solidFill>
            <a:srgbClr val="65A30D">
              <a:alpha val="12000"/>
            </a:srgbClr>
          </a:solidFill>
          <a:ln w="12700">
            <a:solidFill>
              <a:srgbClr val="65A30D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</a:rPr>
              <a:t>Extreme Programming (XP)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329184" cy="3291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1316736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is an Agile methodology created by Kent Beck in the 1990s, built on 5 values, 12 practices, and 5 rules for disciplined software delivery.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29184" cy="329184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2688" y="1892808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values — Simplicity, Communication, Feedback, Courage, and Respect — form the philosophical foundation of all XP work.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329184" cy="3291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420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" y="2468880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programming, TDD, collective ownership, continuous integration, and small releases are among XP's most distinctive and powerful practices.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118104"/>
            <a:ext cx="329184" cy="32918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18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2688" y="3044952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vs Scrum: XP prescribes engineering practices (TDD, pair programming); Scrum is a flexible project management framework. Many teams use both.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94176"/>
            <a:ext cx="329184" cy="329184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941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" y="3621024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works best with teams under 10, constant customer availability, adaptable culture, and strong technical expertise — not suited for large-scale projects.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270248"/>
            <a:ext cx="329184" cy="3291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70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✦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" y="4197096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benefits: higher code quality, better customer alignment, faster responsiveness to change, and sustainable team pace — at the cost of strict discipline.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8321040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634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by name, extraordinary in results — when the right team commits fully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Extreme Programming (XP)</dc:title>
  <dc:subject>PptxGenJS Presentation</dc:subject>
  <dc:creator>PptxGenJS</dc:creator>
  <cp:lastModifiedBy>PptxGenJS</cp:lastModifiedBy>
  <cp:revision>1</cp:revision>
  <dcterms:created xsi:type="dcterms:W3CDTF">2026-04-10T08:34:22Z</dcterms:created>
  <dcterms:modified xsi:type="dcterms:W3CDTF">2026-04-10T08:34:22Z</dcterms:modified>
</cp:coreProperties>
</file>