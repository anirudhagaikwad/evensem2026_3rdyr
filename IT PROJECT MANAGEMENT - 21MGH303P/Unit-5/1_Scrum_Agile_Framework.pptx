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B2DC7D7-FD48-49E6-AFC3-BFF4E008F4A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A94206-4CE5-423E-940A-9C7974C4073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F5448C-5EC2-4BF8-AB5F-40C6BA0EE5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C245C2-BA2B-46A1-8DAF-2F82166700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0F0AA0-0E4E-4102-8773-6AAAC4994C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C52A20-5A58-4C77-A9BB-DD6A0A8576A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D3B4F1-1D28-4D87-8D7F-014BF350C7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072F98-3F3F-4775-87B1-AFA58C6F64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64204B-F31C-446D-92EC-08057809A8A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826779-708E-4FF1-8E4D-1BCF9C49EE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6A3EC5-C25C-4CE5-AC98-F38EFA39CA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742196-0EB1-4BAA-BEA3-67DE4791329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F077ED-BA0E-411C-BED8-C112564FB6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F69FEC-1140-4BD9-B5E6-03FB1BE682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943600" y="0"/>
            <a:ext cx="3199680" cy="51429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583680" y="0"/>
            <a:ext cx="2559600" cy="5142960"/>
          </a:xfrm>
          <a:prstGeom prst="rect">
            <a:avLst/>
          </a:prstGeom>
          <a:solidFill>
            <a:srgbClr val="028090">
              <a:alpha val="65000"/>
            </a:srgbClr>
          </a:solidFill>
          <a:ln w="12700">
            <a:solidFill>
              <a:srgbClr val="028090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400800" y="-822960"/>
            <a:ext cx="3199680" cy="3199680"/>
          </a:xfrm>
          <a:prstGeom prst="ellipse">
            <a:avLst/>
          </a:prstGeom>
          <a:solidFill>
            <a:srgbClr val="00a896">
              <a:alpha val="35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132320" y="-91440"/>
            <a:ext cx="1828080" cy="1828080"/>
          </a:xfrm>
          <a:prstGeom prst="ellipse">
            <a:avLst/>
          </a:prstGeom>
          <a:solidFill>
            <a:srgbClr val="0a1628">
              <a:alpha val="60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7315200" y="3200400"/>
            <a:ext cx="502200" cy="502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7863840" y="3200400"/>
            <a:ext cx="502200" cy="502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589520" y="3749040"/>
            <a:ext cx="502200" cy="502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7200" y="914400"/>
            <a:ext cx="3199680" cy="346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57200" y="914400"/>
            <a:ext cx="3199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97" strike="noStrike">
                <a:solidFill>
                  <a:srgbClr val="ffffff"/>
                </a:solidFill>
                <a:latin typeface="Calibri"/>
              </a:rPr>
              <a:t>AGILE GUIDE · 2026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57200" y="1371600"/>
            <a:ext cx="54856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pc="795" strike="noStrike">
                <a:solidFill>
                  <a:srgbClr val="ffffff"/>
                </a:solidFill>
                <a:latin typeface="Calibri"/>
                <a:ea typeface="Calibri"/>
              </a:rPr>
              <a:t>SCRUM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57200" y="2788920"/>
            <a:ext cx="54856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The Agile Framework for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Iterative Delivery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57200" y="3840480"/>
            <a:ext cx="5485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8e8ec"/>
                </a:solidFill>
                <a:latin typeface="Calibri"/>
              </a:rPr>
              <a:t>Roles · Ceremonies · Artifacts · Sprints · Values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0" y="4873680"/>
            <a:ext cx="9143280" cy="2689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0" y="4873680"/>
            <a:ext cx="914328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6" strike="noStrike">
                <a:solidFill>
                  <a:srgbClr val="ffffff"/>
                </a:solidFill>
                <a:latin typeface="Calibri"/>
              </a:rPr>
              <a:t>WHAT IS SCRUM?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365760" y="914400"/>
            <a:ext cx="8411760" cy="1096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365760" y="914400"/>
            <a:ext cx="84117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fffff"/>
                </a:solidFill>
                <a:latin typeface="Calibri"/>
              </a:rPr>
              <a:t>Scrum is an Agile framework that structures work into time-boxed sprints, with defined roles, artifacts, and ceremonies for iterative delivery — enabling teams to respond to change and deliver value incrementally.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365760" y="2148840"/>
            <a:ext cx="420552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5"/>
          <p:cNvSpPr/>
          <p:nvPr/>
        </p:nvSpPr>
        <p:spPr>
          <a:xfrm>
            <a:off x="365760" y="2148840"/>
            <a:ext cx="163800" cy="1279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621720" y="224028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🔄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658440" y="2212920"/>
            <a:ext cx="3748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1628"/>
                </a:solidFill>
                <a:latin typeface="Calibri"/>
              </a:rPr>
              <a:t>Iterative Delivery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658440" y="2624400"/>
            <a:ext cx="37483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d4a5a"/>
                </a:solidFill>
                <a:latin typeface="Calibri"/>
              </a:rPr>
              <a:t>Work is broken into short sprints (1–4 weeks), delivering working increments at the end of each cycle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4800600" y="2148840"/>
            <a:ext cx="420552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4800600" y="2148840"/>
            <a:ext cx="163800" cy="1279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5056560" y="224028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👥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5093280" y="2212920"/>
            <a:ext cx="3748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1628"/>
                </a:solidFill>
                <a:latin typeface="Calibri"/>
              </a:rPr>
              <a:t>Self-Organizing Teams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5093280" y="2624400"/>
            <a:ext cx="37483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d4a5a"/>
                </a:solidFill>
                <a:latin typeface="Calibri"/>
              </a:rPr>
              <a:t>Cross-functional, self-managing teams decide how to accomplish work and take collective accountability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365760" y="3566160"/>
            <a:ext cx="420552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365760" y="3566160"/>
            <a:ext cx="163800" cy="1279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621720" y="365760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658440" y="3630240"/>
            <a:ext cx="3748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1628"/>
                </a:solidFill>
                <a:latin typeface="Calibri"/>
              </a:rPr>
              <a:t>Transparency &amp; Inspect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658440" y="4041720"/>
            <a:ext cx="37483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d4a5a"/>
                </a:solidFill>
                <a:latin typeface="Calibri"/>
              </a:rPr>
              <a:t>All work is visible — backlog, progress, and blockers are shared openly. Teams inspect and adapt continuously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4800600" y="3566160"/>
            <a:ext cx="420552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4800600" y="3566160"/>
            <a:ext cx="163800" cy="12794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5056560" y="365760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5093280" y="3630240"/>
            <a:ext cx="3748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1628"/>
                </a:solidFill>
                <a:latin typeface="Calibri"/>
              </a:rPr>
              <a:t>Continuous Improvement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5093280" y="4041720"/>
            <a:ext cx="37483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d4a5a"/>
                </a:solidFill>
                <a:latin typeface="Calibri"/>
              </a:rPr>
              <a:t>Clear communication, retrospectives, and a dedication to improvement are the hallmarks of successful Scrum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6" strike="noStrike">
                <a:solidFill>
                  <a:srgbClr val="ffffff"/>
                </a:solidFill>
                <a:latin typeface="Calibri"/>
              </a:rPr>
              <a:t>THE 3 : 5 : 3 SCRUM RULE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65760" y="868680"/>
            <a:ext cx="8411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2c39a"/>
                </a:solidFill>
                <a:latin typeface="Calibri"/>
              </a:rPr>
              <a:t>Scrum is intentionally minimal — exactly 3 Roles · 5 Events · 3 Artifacts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1005840" y="1389960"/>
            <a:ext cx="1370880" cy="1370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1005840" y="1389960"/>
            <a:ext cx="1370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0a1628"/>
                </a:solidFill>
                <a:latin typeface="Calibri"/>
              </a:rPr>
              <a:t>3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365760" y="2853000"/>
            <a:ext cx="2651040" cy="410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365760" y="285300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7" strike="noStrike">
                <a:solidFill>
                  <a:srgbClr val="0a1628"/>
                </a:solidFill>
                <a:latin typeface="Calibri"/>
              </a:rPr>
              <a:t>ROLES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530280" y="3392280"/>
            <a:ext cx="236880" cy="236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850320" y="333756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Product Owner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530280" y="3758040"/>
            <a:ext cx="236880" cy="236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850320" y="370332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Scrum Master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530280" y="4123800"/>
            <a:ext cx="236880" cy="236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850320" y="406908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Development Team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3840480" y="1389960"/>
            <a:ext cx="1370880" cy="1370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3840480" y="1389960"/>
            <a:ext cx="1370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0a1628"/>
                </a:solidFill>
                <a:latin typeface="Calibri"/>
              </a:rPr>
              <a:t>5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5"/>
          <p:cNvSpPr/>
          <p:nvPr/>
        </p:nvSpPr>
        <p:spPr>
          <a:xfrm>
            <a:off x="3200400" y="2853000"/>
            <a:ext cx="2651040" cy="410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3200400" y="285300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7" strike="noStrike">
                <a:solidFill>
                  <a:srgbClr val="0a1628"/>
                </a:solidFill>
                <a:latin typeface="Calibri"/>
              </a:rPr>
              <a:t>EVENTS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3364920" y="3392280"/>
            <a:ext cx="236880" cy="236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8"/>
          <p:cNvSpPr/>
          <p:nvPr/>
        </p:nvSpPr>
        <p:spPr>
          <a:xfrm>
            <a:off x="3684960" y="333756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Sprint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9"/>
          <p:cNvSpPr/>
          <p:nvPr/>
        </p:nvSpPr>
        <p:spPr>
          <a:xfrm>
            <a:off x="3364920" y="3758040"/>
            <a:ext cx="236880" cy="236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3684960" y="370332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Sprint Planning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21"/>
          <p:cNvSpPr/>
          <p:nvPr/>
        </p:nvSpPr>
        <p:spPr>
          <a:xfrm>
            <a:off x="3364920" y="4123800"/>
            <a:ext cx="236880" cy="236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22"/>
          <p:cNvSpPr/>
          <p:nvPr/>
        </p:nvSpPr>
        <p:spPr>
          <a:xfrm>
            <a:off x="3684960" y="406908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Daily Scrum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23"/>
          <p:cNvSpPr/>
          <p:nvPr/>
        </p:nvSpPr>
        <p:spPr>
          <a:xfrm>
            <a:off x="3364920" y="4489560"/>
            <a:ext cx="236880" cy="236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3684960" y="443484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Sprint Review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25"/>
          <p:cNvSpPr/>
          <p:nvPr/>
        </p:nvSpPr>
        <p:spPr>
          <a:xfrm>
            <a:off x="3364920" y="4855320"/>
            <a:ext cx="236880" cy="236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6"/>
          <p:cNvSpPr/>
          <p:nvPr/>
        </p:nvSpPr>
        <p:spPr>
          <a:xfrm>
            <a:off x="3684960" y="480060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Sprint Retrospective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27"/>
          <p:cNvSpPr/>
          <p:nvPr/>
        </p:nvSpPr>
        <p:spPr>
          <a:xfrm>
            <a:off x="6675120" y="1389960"/>
            <a:ext cx="1370880" cy="1370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8"/>
          <p:cNvSpPr/>
          <p:nvPr/>
        </p:nvSpPr>
        <p:spPr>
          <a:xfrm>
            <a:off x="6675120" y="1389960"/>
            <a:ext cx="1370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0a1628"/>
                </a:solidFill>
                <a:latin typeface="Calibri"/>
              </a:rPr>
              <a:t>3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29"/>
          <p:cNvSpPr/>
          <p:nvPr/>
        </p:nvSpPr>
        <p:spPr>
          <a:xfrm>
            <a:off x="6035040" y="2853000"/>
            <a:ext cx="2651040" cy="410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0"/>
          <p:cNvSpPr/>
          <p:nvPr/>
        </p:nvSpPr>
        <p:spPr>
          <a:xfrm>
            <a:off x="6035040" y="285300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7" strike="noStrike">
                <a:solidFill>
                  <a:srgbClr val="0a1628"/>
                </a:solidFill>
                <a:latin typeface="Calibri"/>
              </a:rPr>
              <a:t>ARTIFACTS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31"/>
          <p:cNvSpPr/>
          <p:nvPr/>
        </p:nvSpPr>
        <p:spPr>
          <a:xfrm>
            <a:off x="6199560" y="3392280"/>
            <a:ext cx="236880" cy="236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32"/>
          <p:cNvSpPr/>
          <p:nvPr/>
        </p:nvSpPr>
        <p:spPr>
          <a:xfrm>
            <a:off x="6519600" y="333756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Product Backlog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33"/>
          <p:cNvSpPr/>
          <p:nvPr/>
        </p:nvSpPr>
        <p:spPr>
          <a:xfrm>
            <a:off x="6199560" y="3758040"/>
            <a:ext cx="236880" cy="236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34"/>
          <p:cNvSpPr/>
          <p:nvPr/>
        </p:nvSpPr>
        <p:spPr>
          <a:xfrm>
            <a:off x="6519600" y="370332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Sprint Backlog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35"/>
          <p:cNvSpPr/>
          <p:nvPr/>
        </p:nvSpPr>
        <p:spPr>
          <a:xfrm>
            <a:off x="6199560" y="4123800"/>
            <a:ext cx="236880" cy="236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36"/>
          <p:cNvSpPr/>
          <p:nvPr/>
        </p:nvSpPr>
        <p:spPr>
          <a:xfrm>
            <a:off x="6519600" y="406908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Increment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6" strike="noStrike">
                <a:solidFill>
                  <a:srgbClr val="ffffff"/>
                </a:solidFill>
                <a:latin typeface="Calibri"/>
              </a:rPr>
              <a:t>SCRUM ROLES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274320" y="914400"/>
            <a:ext cx="2788200" cy="393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274320" y="914400"/>
            <a:ext cx="2788200" cy="867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274320" y="914400"/>
            <a:ext cx="2788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🧑‍💼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274320" y="1316880"/>
            <a:ext cx="2788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ffffff"/>
                </a:solidFill>
                <a:latin typeface="Calibri"/>
              </a:rPr>
              <a:t>PRODUCT OWNER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548640" y="1847160"/>
            <a:ext cx="2239560" cy="2919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548640" y="184716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2d4a5a"/>
                </a:solidFill>
                <a:latin typeface="Calibri"/>
              </a:rPr>
              <a:t>Owns: "What to build"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411480" y="2176200"/>
            <a:ext cx="2513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Manages and prioritizes the product backlog based on customer and business requirements. Represents stakeholders and ensures the team delivers maximum value.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9"/>
          <p:cNvSpPr/>
          <p:nvPr/>
        </p:nvSpPr>
        <p:spPr>
          <a:xfrm>
            <a:off x="411480" y="3182040"/>
            <a:ext cx="200520" cy="200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685800" y="3090600"/>
            <a:ext cx="228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Creates and maintains the product backlog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411480" y="3584520"/>
            <a:ext cx="200520" cy="200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685800" y="3493080"/>
            <a:ext cx="228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Prioritizes features based on business value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3"/>
          <p:cNvSpPr/>
          <p:nvPr/>
        </p:nvSpPr>
        <p:spPr>
          <a:xfrm>
            <a:off x="411480" y="3986640"/>
            <a:ext cx="200520" cy="200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685800" y="3895200"/>
            <a:ext cx="228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Defines acceptance criteria for stories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5"/>
          <p:cNvSpPr/>
          <p:nvPr/>
        </p:nvSpPr>
        <p:spPr>
          <a:xfrm>
            <a:off x="411480" y="4389120"/>
            <a:ext cx="200520" cy="200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685800" y="4297680"/>
            <a:ext cx="228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Bridges business and development team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7"/>
          <p:cNvSpPr/>
          <p:nvPr/>
        </p:nvSpPr>
        <p:spPr>
          <a:xfrm>
            <a:off x="3182040" y="914400"/>
            <a:ext cx="2788200" cy="393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8"/>
          <p:cNvSpPr/>
          <p:nvPr/>
        </p:nvSpPr>
        <p:spPr>
          <a:xfrm>
            <a:off x="3182040" y="914400"/>
            <a:ext cx="2788200" cy="867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9"/>
          <p:cNvSpPr/>
          <p:nvPr/>
        </p:nvSpPr>
        <p:spPr>
          <a:xfrm>
            <a:off x="3182040" y="914400"/>
            <a:ext cx="2788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🧑‍🏫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3182040" y="1316880"/>
            <a:ext cx="2788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ffffff"/>
                </a:solidFill>
                <a:latin typeface="Calibri"/>
              </a:rPr>
              <a:t>SCRUM MASTER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1"/>
          <p:cNvSpPr/>
          <p:nvPr/>
        </p:nvSpPr>
        <p:spPr>
          <a:xfrm>
            <a:off x="3456360" y="1847160"/>
            <a:ext cx="2239560" cy="291960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22"/>
          <p:cNvSpPr/>
          <p:nvPr/>
        </p:nvSpPr>
        <p:spPr>
          <a:xfrm>
            <a:off x="3456360" y="184716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2d4a5a"/>
                </a:solidFill>
                <a:latin typeface="Calibri"/>
              </a:rPr>
              <a:t>Owns: "How to work"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3"/>
          <p:cNvSpPr/>
          <p:nvPr/>
        </p:nvSpPr>
        <p:spPr>
          <a:xfrm>
            <a:off x="3319200" y="2176200"/>
            <a:ext cx="2513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Facilitates Scrum ceremonies, removes blockers, and coaches the team on agile principles. Acts as a servant leader — not a traditional project manager.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4"/>
          <p:cNvSpPr/>
          <p:nvPr/>
        </p:nvSpPr>
        <p:spPr>
          <a:xfrm>
            <a:off x="3319200" y="3182040"/>
            <a:ext cx="200520" cy="2005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3593520" y="3090600"/>
            <a:ext cx="228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Guides and facilitates all Scrum ceremonies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6"/>
          <p:cNvSpPr/>
          <p:nvPr/>
        </p:nvSpPr>
        <p:spPr>
          <a:xfrm>
            <a:off x="3319200" y="3584520"/>
            <a:ext cx="200520" cy="2005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27"/>
          <p:cNvSpPr/>
          <p:nvPr/>
        </p:nvSpPr>
        <p:spPr>
          <a:xfrm>
            <a:off x="3593520" y="3493080"/>
            <a:ext cx="228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Removes impediments blocking the team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8"/>
          <p:cNvSpPr/>
          <p:nvPr/>
        </p:nvSpPr>
        <p:spPr>
          <a:xfrm>
            <a:off x="3319200" y="3986640"/>
            <a:ext cx="200520" cy="2005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29"/>
          <p:cNvSpPr/>
          <p:nvPr/>
        </p:nvSpPr>
        <p:spPr>
          <a:xfrm>
            <a:off x="3593520" y="3895200"/>
            <a:ext cx="228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Coaches team members on agile practices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0"/>
          <p:cNvSpPr/>
          <p:nvPr/>
        </p:nvSpPr>
        <p:spPr>
          <a:xfrm>
            <a:off x="3319200" y="4389120"/>
            <a:ext cx="200520" cy="2005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31"/>
          <p:cNvSpPr/>
          <p:nvPr/>
        </p:nvSpPr>
        <p:spPr>
          <a:xfrm>
            <a:off x="3593520" y="4297680"/>
            <a:ext cx="228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Shields the team from external disruptions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32"/>
          <p:cNvSpPr/>
          <p:nvPr/>
        </p:nvSpPr>
        <p:spPr>
          <a:xfrm>
            <a:off x="6089760" y="914400"/>
            <a:ext cx="2788200" cy="393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33"/>
          <p:cNvSpPr/>
          <p:nvPr/>
        </p:nvSpPr>
        <p:spPr>
          <a:xfrm>
            <a:off x="6089760" y="914400"/>
            <a:ext cx="2788200" cy="8679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34"/>
          <p:cNvSpPr/>
          <p:nvPr/>
        </p:nvSpPr>
        <p:spPr>
          <a:xfrm>
            <a:off x="6089760" y="914400"/>
            <a:ext cx="2788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👨‍💻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5"/>
          <p:cNvSpPr/>
          <p:nvPr/>
        </p:nvSpPr>
        <p:spPr>
          <a:xfrm>
            <a:off x="6089760" y="1316880"/>
            <a:ext cx="2788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ffffff"/>
                </a:solidFill>
                <a:latin typeface="Calibri"/>
              </a:rPr>
              <a:t>DEVELOPMENT TEAM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36"/>
          <p:cNvSpPr/>
          <p:nvPr/>
        </p:nvSpPr>
        <p:spPr>
          <a:xfrm>
            <a:off x="6364080" y="1847160"/>
            <a:ext cx="2239560" cy="291960"/>
          </a:xfrm>
          <a:prstGeom prst="rect">
            <a:avLst/>
          </a:prstGeom>
          <a:solidFill>
            <a:srgbClr val="1e8449">
              <a:alpha val="20000"/>
            </a:srgbClr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37"/>
          <p:cNvSpPr/>
          <p:nvPr/>
        </p:nvSpPr>
        <p:spPr>
          <a:xfrm>
            <a:off x="6364080" y="184716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2d4a5a"/>
                </a:solidFill>
                <a:latin typeface="Calibri"/>
              </a:rPr>
              <a:t>Owns: "How to deliver"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38"/>
          <p:cNvSpPr/>
          <p:nvPr/>
        </p:nvSpPr>
        <p:spPr>
          <a:xfrm>
            <a:off x="6226920" y="2176200"/>
            <a:ext cx="2513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Cross-functional, self-organizing team responsible for delivering working increments each sprint. Collectively accountable for sprint deliverables — no titles within the team.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9"/>
          <p:cNvSpPr/>
          <p:nvPr/>
        </p:nvSpPr>
        <p:spPr>
          <a:xfrm>
            <a:off x="6226920" y="3182040"/>
            <a:ext cx="200520" cy="2005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40"/>
          <p:cNvSpPr/>
          <p:nvPr/>
        </p:nvSpPr>
        <p:spPr>
          <a:xfrm>
            <a:off x="6501240" y="3090600"/>
            <a:ext cx="228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Delivers working increments every sprint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41"/>
          <p:cNvSpPr/>
          <p:nvPr/>
        </p:nvSpPr>
        <p:spPr>
          <a:xfrm>
            <a:off x="6226920" y="3584520"/>
            <a:ext cx="200520" cy="2005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42"/>
          <p:cNvSpPr/>
          <p:nvPr/>
        </p:nvSpPr>
        <p:spPr>
          <a:xfrm>
            <a:off x="6501240" y="3493080"/>
            <a:ext cx="228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Self-organizes to decide how to complete work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43"/>
          <p:cNvSpPr/>
          <p:nvPr/>
        </p:nvSpPr>
        <p:spPr>
          <a:xfrm>
            <a:off x="6226920" y="3986640"/>
            <a:ext cx="200520" cy="2005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44"/>
          <p:cNvSpPr/>
          <p:nvPr/>
        </p:nvSpPr>
        <p:spPr>
          <a:xfrm>
            <a:off x="6501240" y="3895200"/>
            <a:ext cx="228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Runs the daily standup meeting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45"/>
          <p:cNvSpPr/>
          <p:nvPr/>
        </p:nvSpPr>
        <p:spPr>
          <a:xfrm>
            <a:off x="6226920" y="4389120"/>
            <a:ext cx="200520" cy="2005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46"/>
          <p:cNvSpPr/>
          <p:nvPr/>
        </p:nvSpPr>
        <p:spPr>
          <a:xfrm>
            <a:off x="6501240" y="4297680"/>
            <a:ext cx="228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4a5a"/>
                </a:solidFill>
                <a:latin typeface="Calibri"/>
              </a:rPr>
              <a:t>Commits to sprint goals collectively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6" strike="noStrike">
                <a:solidFill>
                  <a:srgbClr val="0a1628"/>
                </a:solidFill>
                <a:latin typeface="Calibri"/>
              </a:rPr>
              <a:t>SCRUM CEREMONIES (EVENTS)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320040" y="932760"/>
            <a:ext cx="8503200" cy="712440"/>
          </a:xfrm>
          <a:prstGeom prst="rect">
            <a:avLst/>
          </a:prstGeom>
          <a:solidFill>
            <a:srgbClr val="152030"/>
          </a:solidFill>
          <a:ln w="19050">
            <a:solidFill>
              <a:srgbClr val="028090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320040" y="932760"/>
            <a:ext cx="712440" cy="712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320040" y="932760"/>
            <a:ext cx="7124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📅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1115640" y="99684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28090"/>
                </a:solidFill>
                <a:latin typeface="Calibri"/>
              </a:rPr>
              <a:t>Sprint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1115640" y="1334880"/>
            <a:ext cx="1416600" cy="21888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1115640" y="1334880"/>
            <a:ext cx="1416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⏱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1–4 weeks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3108960" y="1024200"/>
            <a:ext cx="5577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The heartbeat of Scrum — a fixed-length iteration where ideas are turned into value. A new sprint begins immediately after the last.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9"/>
          <p:cNvSpPr/>
          <p:nvPr/>
        </p:nvSpPr>
        <p:spPr>
          <a:xfrm>
            <a:off x="3017520" y="1069920"/>
            <a:ext cx="26640" cy="438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320040" y="1755720"/>
            <a:ext cx="8503200" cy="712440"/>
          </a:xfrm>
          <a:prstGeom prst="rect">
            <a:avLst/>
          </a:prstGeom>
          <a:solidFill>
            <a:srgbClr val="152030"/>
          </a:solidFill>
          <a:ln w="19050">
            <a:solidFill>
              <a:srgbClr val="00a896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320040" y="1755720"/>
            <a:ext cx="712440" cy="712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320040" y="1755720"/>
            <a:ext cx="7124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🗓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115640" y="181980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a896"/>
                </a:solidFill>
                <a:latin typeface="Calibri"/>
              </a:rPr>
              <a:t>Sprint Planning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1115640" y="2157840"/>
            <a:ext cx="1416600" cy="218880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1115640" y="2157840"/>
            <a:ext cx="1416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⏱ ≤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8 hrs/month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3108960" y="1847160"/>
            <a:ext cx="5577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Team selects backlog items and defines the sprint goal — a single sentence describing what the sprint will accomplish. Converts backlog into commitment.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3017520" y="1892880"/>
            <a:ext cx="26640" cy="438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8"/>
          <p:cNvSpPr/>
          <p:nvPr/>
        </p:nvSpPr>
        <p:spPr>
          <a:xfrm>
            <a:off x="320040" y="2578680"/>
            <a:ext cx="8503200" cy="712440"/>
          </a:xfrm>
          <a:prstGeom prst="rect">
            <a:avLst/>
          </a:prstGeom>
          <a:solidFill>
            <a:srgbClr val="152030"/>
          </a:solidFill>
          <a:ln w="1905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19"/>
          <p:cNvSpPr/>
          <p:nvPr/>
        </p:nvSpPr>
        <p:spPr>
          <a:xfrm>
            <a:off x="320040" y="2578680"/>
            <a:ext cx="712440" cy="712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320040" y="2578680"/>
            <a:ext cx="7124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🌅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1115640" y="264276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a623"/>
                </a:solidFill>
                <a:latin typeface="Calibri"/>
              </a:rPr>
              <a:t>Daily Scrum (Standup)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22"/>
          <p:cNvSpPr/>
          <p:nvPr/>
        </p:nvSpPr>
        <p:spPr>
          <a:xfrm>
            <a:off x="1115640" y="2980800"/>
            <a:ext cx="1416600" cy="218880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3"/>
          <p:cNvSpPr/>
          <p:nvPr/>
        </p:nvSpPr>
        <p:spPr>
          <a:xfrm>
            <a:off x="1115640" y="2980800"/>
            <a:ext cx="1416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⏱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15 min daily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4"/>
          <p:cNvSpPr/>
          <p:nvPr/>
        </p:nvSpPr>
        <p:spPr>
          <a:xfrm>
            <a:off x="3108960" y="2670120"/>
            <a:ext cx="5577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Team meets daily to share progress, plan the day, and surface blockers. Kept standing to stay short! Promotes transparency across the team.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25"/>
          <p:cNvSpPr/>
          <p:nvPr/>
        </p:nvSpPr>
        <p:spPr>
          <a:xfrm>
            <a:off x="3017520" y="2715840"/>
            <a:ext cx="26640" cy="438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26"/>
          <p:cNvSpPr/>
          <p:nvPr/>
        </p:nvSpPr>
        <p:spPr>
          <a:xfrm>
            <a:off x="320040" y="3401640"/>
            <a:ext cx="8503200" cy="712440"/>
          </a:xfrm>
          <a:prstGeom prst="rect">
            <a:avLst/>
          </a:prstGeom>
          <a:solidFill>
            <a:srgbClr val="152030"/>
          </a:solidFill>
          <a:ln w="19050">
            <a:solidFill>
              <a:srgbClr val="1e844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27"/>
          <p:cNvSpPr/>
          <p:nvPr/>
        </p:nvSpPr>
        <p:spPr>
          <a:xfrm>
            <a:off x="320040" y="3401640"/>
            <a:ext cx="712440" cy="712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28"/>
          <p:cNvSpPr/>
          <p:nvPr/>
        </p:nvSpPr>
        <p:spPr>
          <a:xfrm>
            <a:off x="320040" y="3401640"/>
            <a:ext cx="7124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🔍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29"/>
          <p:cNvSpPr/>
          <p:nvPr/>
        </p:nvSpPr>
        <p:spPr>
          <a:xfrm>
            <a:off x="1115640" y="346572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8449"/>
                </a:solidFill>
                <a:latin typeface="Calibri"/>
              </a:rPr>
              <a:t>Sprint Review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30"/>
          <p:cNvSpPr/>
          <p:nvPr/>
        </p:nvSpPr>
        <p:spPr>
          <a:xfrm>
            <a:off x="1115640" y="3803760"/>
            <a:ext cx="1416600" cy="218880"/>
          </a:xfrm>
          <a:prstGeom prst="rect">
            <a:avLst/>
          </a:prstGeom>
          <a:solidFill>
            <a:srgbClr val="1e8449">
              <a:alpha val="30000"/>
            </a:srgbClr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31"/>
          <p:cNvSpPr/>
          <p:nvPr/>
        </p:nvSpPr>
        <p:spPr>
          <a:xfrm>
            <a:off x="1115640" y="3803760"/>
            <a:ext cx="1416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⏱ ≤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4 hrs/month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32"/>
          <p:cNvSpPr/>
          <p:nvPr/>
        </p:nvSpPr>
        <p:spPr>
          <a:xfrm>
            <a:off x="3108960" y="3493080"/>
            <a:ext cx="5577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Team demonstrates completed work to stakeholders and gathers feedback. Determines what is done and updates the product backlog accordingly.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33"/>
          <p:cNvSpPr/>
          <p:nvPr/>
        </p:nvSpPr>
        <p:spPr>
          <a:xfrm>
            <a:off x="3017520" y="3538800"/>
            <a:ext cx="26640" cy="4381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34"/>
          <p:cNvSpPr/>
          <p:nvPr/>
        </p:nvSpPr>
        <p:spPr>
          <a:xfrm>
            <a:off x="320040" y="4224600"/>
            <a:ext cx="8503200" cy="712440"/>
          </a:xfrm>
          <a:prstGeom prst="rect">
            <a:avLst/>
          </a:prstGeom>
          <a:solidFill>
            <a:srgbClr val="152030"/>
          </a:solidFill>
          <a:ln w="1905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35"/>
          <p:cNvSpPr/>
          <p:nvPr/>
        </p:nvSpPr>
        <p:spPr>
          <a:xfrm>
            <a:off x="320040" y="4224600"/>
            <a:ext cx="712440" cy="7124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36"/>
          <p:cNvSpPr/>
          <p:nvPr/>
        </p:nvSpPr>
        <p:spPr>
          <a:xfrm>
            <a:off x="320040" y="4224600"/>
            <a:ext cx="7124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🔄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37"/>
          <p:cNvSpPr/>
          <p:nvPr/>
        </p:nvSpPr>
        <p:spPr>
          <a:xfrm>
            <a:off x="1115640" y="428868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c3483"/>
                </a:solidFill>
                <a:latin typeface="Calibri"/>
              </a:rPr>
              <a:t>Sprint Retrospective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38"/>
          <p:cNvSpPr/>
          <p:nvPr/>
        </p:nvSpPr>
        <p:spPr>
          <a:xfrm>
            <a:off x="1115640" y="4626720"/>
            <a:ext cx="1416600" cy="218880"/>
          </a:xfrm>
          <a:prstGeom prst="rect">
            <a:avLst/>
          </a:prstGeom>
          <a:solidFill>
            <a:srgbClr val="6c3483">
              <a:alpha val="30000"/>
            </a:srgbClr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39"/>
          <p:cNvSpPr/>
          <p:nvPr/>
        </p:nvSpPr>
        <p:spPr>
          <a:xfrm>
            <a:off x="1115640" y="4626720"/>
            <a:ext cx="1416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⏱ ≤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3 hrs/month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40"/>
          <p:cNvSpPr/>
          <p:nvPr/>
        </p:nvSpPr>
        <p:spPr>
          <a:xfrm>
            <a:off x="3108960" y="4316040"/>
            <a:ext cx="5577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Team reflects on how they worked: what went well, what didn't, and how to improve. Retrospectives are NOT optional — they drive continuous improvement.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41"/>
          <p:cNvSpPr/>
          <p:nvPr/>
        </p:nvSpPr>
        <p:spPr>
          <a:xfrm>
            <a:off x="3017520" y="4361760"/>
            <a:ext cx="26640" cy="4381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6" strike="noStrike">
                <a:solidFill>
                  <a:srgbClr val="ffffff"/>
                </a:solidFill>
                <a:latin typeface="Calibri"/>
              </a:rPr>
              <a:t>SCRUM ARTIFACTS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365760" y="841320"/>
            <a:ext cx="8411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28090"/>
                </a:solidFill>
                <a:latin typeface="Calibri"/>
              </a:rPr>
              <a:t>Artifacts provide transparency and structure — maximizing visibility of key information for the whole team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3"/>
          <p:cNvSpPr/>
          <p:nvPr/>
        </p:nvSpPr>
        <p:spPr>
          <a:xfrm>
            <a:off x="255960" y="1280160"/>
            <a:ext cx="2788200" cy="356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>
            <a:off x="255960" y="1280160"/>
            <a:ext cx="2788200" cy="685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255960" y="1280160"/>
            <a:ext cx="2788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365760" y="2030040"/>
            <a:ext cx="2559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4" strike="noStrike">
                <a:solidFill>
                  <a:srgbClr val="028090"/>
                </a:solidFill>
                <a:latin typeface="Calibri"/>
              </a:rPr>
              <a:t>PRODUCT BACKLOG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484560" y="2468880"/>
            <a:ext cx="2331000" cy="2736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484560" y="2468880"/>
            <a:ext cx="2331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d4a5a"/>
                </a:solidFill>
                <a:latin typeface="Calibri"/>
              </a:rPr>
              <a:t>Commitment: Product Goal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365760" y="2788920"/>
            <a:ext cx="25596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4a5a"/>
                </a:solidFill>
                <a:latin typeface="Calibri"/>
              </a:rPr>
              <a:t>An emergent, ordered list of everything needed to improve the product — features, enhancements, bug fixes, and tasks. Compiled from customers, competitors, and business analysis. Always evolving.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393120" y="3712320"/>
            <a:ext cx="182160" cy="182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640080" y="365760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5a"/>
                </a:solidFill>
                <a:latin typeface="Calibri"/>
              </a:rPr>
              <a:t>Maintained by the Product Owner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2"/>
          <p:cNvSpPr/>
          <p:nvPr/>
        </p:nvSpPr>
        <p:spPr>
          <a:xfrm>
            <a:off x="393120" y="4005000"/>
            <a:ext cx="182160" cy="182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640080" y="3950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5a"/>
                </a:solidFill>
                <a:latin typeface="Calibri"/>
              </a:rPr>
              <a:t>Priority ordered at all times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393120" y="4297680"/>
            <a:ext cx="182160" cy="182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5"/>
          <p:cNvSpPr/>
          <p:nvPr/>
        </p:nvSpPr>
        <p:spPr>
          <a:xfrm>
            <a:off x="640080" y="42429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5a"/>
                </a:solidFill>
                <a:latin typeface="Calibri"/>
              </a:rPr>
              <a:t>The single source of team work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6"/>
          <p:cNvSpPr/>
          <p:nvPr/>
        </p:nvSpPr>
        <p:spPr>
          <a:xfrm>
            <a:off x="393120" y="4590360"/>
            <a:ext cx="182160" cy="182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640080" y="4535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5a"/>
                </a:solidFill>
                <a:latin typeface="Calibri"/>
              </a:rPr>
              <a:t>Refined continuously (backlog grooming)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8"/>
          <p:cNvSpPr/>
          <p:nvPr/>
        </p:nvSpPr>
        <p:spPr>
          <a:xfrm>
            <a:off x="3182040" y="1280160"/>
            <a:ext cx="2788200" cy="356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9"/>
          <p:cNvSpPr/>
          <p:nvPr/>
        </p:nvSpPr>
        <p:spPr>
          <a:xfrm>
            <a:off x="3182040" y="1280160"/>
            <a:ext cx="2788200" cy="685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20"/>
          <p:cNvSpPr/>
          <p:nvPr/>
        </p:nvSpPr>
        <p:spPr>
          <a:xfrm>
            <a:off x="3182040" y="1280160"/>
            <a:ext cx="2788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📌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3291840" y="2030040"/>
            <a:ext cx="2559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4" strike="noStrike">
                <a:solidFill>
                  <a:srgbClr val="00a896"/>
                </a:solidFill>
                <a:latin typeface="Calibri"/>
              </a:rPr>
              <a:t>SPRINT BACKLOG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2"/>
          <p:cNvSpPr/>
          <p:nvPr/>
        </p:nvSpPr>
        <p:spPr>
          <a:xfrm>
            <a:off x="3410640" y="2468880"/>
            <a:ext cx="2331000" cy="273600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23"/>
          <p:cNvSpPr/>
          <p:nvPr/>
        </p:nvSpPr>
        <p:spPr>
          <a:xfrm>
            <a:off x="3410640" y="2468880"/>
            <a:ext cx="2331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d4a5a"/>
                </a:solidFill>
                <a:latin typeface="Calibri"/>
              </a:rPr>
              <a:t>Commitment: Sprint Goal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4"/>
          <p:cNvSpPr/>
          <p:nvPr/>
        </p:nvSpPr>
        <p:spPr>
          <a:xfrm>
            <a:off x="3291840" y="2788920"/>
            <a:ext cx="25596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4a5a"/>
                </a:solidFill>
                <a:latin typeface="Calibri"/>
              </a:rPr>
              <a:t>The subset of product backlog items selected for the current sprint, plus a plan for delivering the sprint goal. Created during sprint planning and owned by the development team.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5"/>
          <p:cNvSpPr/>
          <p:nvPr/>
        </p:nvSpPr>
        <p:spPr>
          <a:xfrm>
            <a:off x="3319200" y="3712320"/>
            <a:ext cx="182160" cy="1821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26"/>
          <p:cNvSpPr/>
          <p:nvPr/>
        </p:nvSpPr>
        <p:spPr>
          <a:xfrm>
            <a:off x="3566160" y="365760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5a"/>
                </a:solidFill>
                <a:latin typeface="Calibri"/>
              </a:rPr>
              <a:t>Selected during Sprint Planning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7"/>
          <p:cNvSpPr/>
          <p:nvPr/>
        </p:nvSpPr>
        <p:spPr>
          <a:xfrm>
            <a:off x="3319200" y="4005000"/>
            <a:ext cx="182160" cy="1821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8"/>
          <p:cNvSpPr/>
          <p:nvPr/>
        </p:nvSpPr>
        <p:spPr>
          <a:xfrm>
            <a:off x="3566160" y="3950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5a"/>
                </a:solidFill>
                <a:latin typeface="Calibri"/>
              </a:rPr>
              <a:t>Owned by the development team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9"/>
          <p:cNvSpPr/>
          <p:nvPr/>
        </p:nvSpPr>
        <p:spPr>
          <a:xfrm>
            <a:off x="3319200" y="4297680"/>
            <a:ext cx="182160" cy="1821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30"/>
          <p:cNvSpPr/>
          <p:nvPr/>
        </p:nvSpPr>
        <p:spPr>
          <a:xfrm>
            <a:off x="3566160" y="42429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5a"/>
                </a:solidFill>
                <a:latin typeface="Calibri"/>
              </a:rPr>
              <a:t>Updated daily as work progresses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31"/>
          <p:cNvSpPr/>
          <p:nvPr/>
        </p:nvSpPr>
        <p:spPr>
          <a:xfrm>
            <a:off x="3319200" y="4590360"/>
            <a:ext cx="182160" cy="1821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32"/>
          <p:cNvSpPr/>
          <p:nvPr/>
        </p:nvSpPr>
        <p:spPr>
          <a:xfrm>
            <a:off x="3566160" y="4535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5a"/>
                </a:solidFill>
                <a:latin typeface="Calibri"/>
              </a:rPr>
              <a:t>Makes sprint goal and plan visible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3"/>
          <p:cNvSpPr/>
          <p:nvPr/>
        </p:nvSpPr>
        <p:spPr>
          <a:xfrm>
            <a:off x="6108120" y="1280160"/>
            <a:ext cx="2788200" cy="356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4"/>
          <p:cNvSpPr/>
          <p:nvPr/>
        </p:nvSpPr>
        <p:spPr>
          <a:xfrm>
            <a:off x="6108120" y="1280160"/>
            <a:ext cx="2788200" cy="6850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35"/>
          <p:cNvSpPr/>
          <p:nvPr/>
        </p:nvSpPr>
        <p:spPr>
          <a:xfrm>
            <a:off x="6108120" y="1280160"/>
            <a:ext cx="2788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36"/>
          <p:cNvSpPr/>
          <p:nvPr/>
        </p:nvSpPr>
        <p:spPr>
          <a:xfrm>
            <a:off x="6217920" y="2030040"/>
            <a:ext cx="2559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4" strike="noStrike">
                <a:solidFill>
                  <a:srgbClr val="1e8449"/>
                </a:solidFill>
                <a:latin typeface="Calibri"/>
              </a:rPr>
              <a:t>INCREMENT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37"/>
          <p:cNvSpPr/>
          <p:nvPr/>
        </p:nvSpPr>
        <p:spPr>
          <a:xfrm>
            <a:off x="6336720" y="2468880"/>
            <a:ext cx="2331000" cy="273600"/>
          </a:xfrm>
          <a:prstGeom prst="rect">
            <a:avLst/>
          </a:prstGeom>
          <a:solidFill>
            <a:srgbClr val="1e8449">
              <a:alpha val="20000"/>
            </a:srgbClr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38"/>
          <p:cNvSpPr/>
          <p:nvPr/>
        </p:nvSpPr>
        <p:spPr>
          <a:xfrm>
            <a:off x="6336720" y="2468880"/>
            <a:ext cx="2331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d4a5a"/>
                </a:solidFill>
                <a:latin typeface="Calibri"/>
              </a:rPr>
              <a:t>Commitment: Definition of Done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39"/>
          <p:cNvSpPr/>
          <p:nvPr/>
        </p:nvSpPr>
        <p:spPr>
          <a:xfrm>
            <a:off x="6217920" y="2788920"/>
            <a:ext cx="25596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4a5a"/>
                </a:solidFill>
                <a:latin typeface="Calibri"/>
              </a:rPr>
              <a:t>The sum of all completed product backlog items that meet the Definition of Done. Each increment is additive to prior increments and fully usable — whether or not the team decides to release.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40"/>
          <p:cNvSpPr/>
          <p:nvPr/>
        </p:nvSpPr>
        <p:spPr>
          <a:xfrm>
            <a:off x="6245280" y="3712320"/>
            <a:ext cx="182160" cy="1821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41"/>
          <p:cNvSpPr/>
          <p:nvPr/>
        </p:nvSpPr>
        <p:spPr>
          <a:xfrm>
            <a:off x="6492240" y="365760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5a"/>
                </a:solidFill>
                <a:latin typeface="Calibri"/>
              </a:rPr>
              <a:t>Must meet Definition of Done (DoD)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42"/>
          <p:cNvSpPr/>
          <p:nvPr/>
        </p:nvSpPr>
        <p:spPr>
          <a:xfrm>
            <a:off x="6245280" y="4005000"/>
            <a:ext cx="182160" cy="1821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43"/>
          <p:cNvSpPr/>
          <p:nvPr/>
        </p:nvSpPr>
        <p:spPr>
          <a:xfrm>
            <a:off x="6492240" y="3950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5a"/>
                </a:solidFill>
                <a:latin typeface="Calibri"/>
              </a:rPr>
              <a:t>Delivered every sprint without exception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44"/>
          <p:cNvSpPr/>
          <p:nvPr/>
        </p:nvSpPr>
        <p:spPr>
          <a:xfrm>
            <a:off x="6245280" y="4297680"/>
            <a:ext cx="182160" cy="1821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45"/>
          <p:cNvSpPr/>
          <p:nvPr/>
        </p:nvSpPr>
        <p:spPr>
          <a:xfrm>
            <a:off x="6492240" y="42429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5a"/>
                </a:solidFill>
                <a:latin typeface="Calibri"/>
              </a:rPr>
              <a:t>Supports CI/CD and version tracking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46"/>
          <p:cNvSpPr/>
          <p:nvPr/>
        </p:nvSpPr>
        <p:spPr>
          <a:xfrm>
            <a:off x="6245280" y="4590360"/>
            <a:ext cx="182160" cy="1821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47"/>
          <p:cNvSpPr/>
          <p:nvPr/>
        </p:nvSpPr>
        <p:spPr>
          <a:xfrm>
            <a:off x="6492240" y="4535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d4a5a"/>
                </a:solidFill>
                <a:latin typeface="Calibri"/>
              </a:rPr>
              <a:t>Enables rollback if needed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6" strike="noStrike">
                <a:solidFill>
                  <a:srgbClr val="ffffff"/>
                </a:solidFill>
                <a:latin typeface="Calibri"/>
              </a:rPr>
              <a:t>THE SPRINT CYCLE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2"/>
          <p:cNvSpPr/>
          <p:nvPr/>
        </p:nvSpPr>
        <p:spPr>
          <a:xfrm>
            <a:off x="1517760" y="1847160"/>
            <a:ext cx="200520" cy="14544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420480" y="868680"/>
            <a:ext cx="959400" cy="959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420480" y="868680"/>
            <a:ext cx="9594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255960" y="1920240"/>
            <a:ext cx="1416600" cy="2907000"/>
          </a:xfrm>
          <a:prstGeom prst="rect">
            <a:avLst/>
          </a:prstGeom>
          <a:solidFill>
            <a:srgbClr val="182535"/>
          </a:solidFill>
          <a:ln w="19050">
            <a:solidFill>
              <a:srgbClr val="028090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255960" y="1920240"/>
            <a:ext cx="1416600" cy="502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255960" y="192024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1628"/>
                </a:solidFill>
                <a:latin typeface="Calibri"/>
              </a:rPr>
              <a:t>PRODUCT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1628"/>
                </a:solidFill>
                <a:latin typeface="Calibri"/>
              </a:rPr>
              <a:t>BACKLOG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347400" y="2487240"/>
            <a:ext cx="1233720" cy="22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0f7f9"/>
                </a:solidFill>
                <a:latin typeface="Calibri"/>
              </a:rPr>
              <a:t>Prioritised list of all desired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9"/>
          <p:cNvSpPr/>
          <p:nvPr/>
        </p:nvSpPr>
        <p:spPr>
          <a:xfrm>
            <a:off x="2980800" y="1847160"/>
            <a:ext cx="200520" cy="14544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1883520" y="868680"/>
            <a:ext cx="959400" cy="959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1883520" y="868680"/>
            <a:ext cx="9594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🗓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1719000" y="1920240"/>
            <a:ext cx="1416600" cy="2907000"/>
          </a:xfrm>
          <a:prstGeom prst="rect">
            <a:avLst/>
          </a:prstGeom>
          <a:solidFill>
            <a:srgbClr val="182535"/>
          </a:solidFill>
          <a:ln w="19050">
            <a:solidFill>
              <a:srgbClr val="00a896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1719000" y="1920240"/>
            <a:ext cx="1416600" cy="502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1719000" y="192024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1628"/>
                </a:solidFill>
                <a:latin typeface="Calibri"/>
              </a:rPr>
              <a:t>SPRINT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1628"/>
                </a:solidFill>
                <a:latin typeface="Calibri"/>
              </a:rPr>
              <a:t>PLANNING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1810440" y="2487240"/>
            <a:ext cx="1233720" cy="22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0f7f9"/>
                </a:solidFill>
                <a:latin typeface="Calibri"/>
              </a:rPr>
              <a:t>Select items &amp; define sprint goal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4443840" y="1847160"/>
            <a:ext cx="200520" cy="14544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17"/>
          <p:cNvSpPr/>
          <p:nvPr/>
        </p:nvSpPr>
        <p:spPr>
          <a:xfrm>
            <a:off x="3346560" y="868680"/>
            <a:ext cx="959400" cy="959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8"/>
          <p:cNvSpPr/>
          <p:nvPr/>
        </p:nvSpPr>
        <p:spPr>
          <a:xfrm>
            <a:off x="3346560" y="868680"/>
            <a:ext cx="9594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⚡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19"/>
          <p:cNvSpPr/>
          <p:nvPr/>
        </p:nvSpPr>
        <p:spPr>
          <a:xfrm>
            <a:off x="3182040" y="1920240"/>
            <a:ext cx="1416600" cy="2907000"/>
          </a:xfrm>
          <a:prstGeom prst="rect">
            <a:avLst/>
          </a:prstGeom>
          <a:solidFill>
            <a:srgbClr val="182535"/>
          </a:solidFill>
          <a:ln w="1905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20"/>
          <p:cNvSpPr/>
          <p:nvPr/>
        </p:nvSpPr>
        <p:spPr>
          <a:xfrm>
            <a:off x="3182040" y="1920240"/>
            <a:ext cx="1416600" cy="502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1"/>
          <p:cNvSpPr/>
          <p:nvPr/>
        </p:nvSpPr>
        <p:spPr>
          <a:xfrm>
            <a:off x="3182040" y="192024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1628"/>
                </a:solidFill>
                <a:latin typeface="Calibri"/>
              </a:rPr>
              <a:t>SPRINT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1628"/>
                </a:solidFill>
                <a:latin typeface="Calibri"/>
              </a:rPr>
              <a:t>(1–4 wks)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22"/>
          <p:cNvSpPr/>
          <p:nvPr/>
        </p:nvSpPr>
        <p:spPr>
          <a:xfrm>
            <a:off x="3273480" y="2487240"/>
            <a:ext cx="1233720" cy="22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0f7f9"/>
                </a:solidFill>
                <a:latin typeface="Calibri"/>
              </a:rPr>
              <a:t>Daily work + daily standups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23"/>
          <p:cNvSpPr/>
          <p:nvPr/>
        </p:nvSpPr>
        <p:spPr>
          <a:xfrm>
            <a:off x="5906880" y="1847160"/>
            <a:ext cx="200520" cy="14544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24"/>
          <p:cNvSpPr/>
          <p:nvPr/>
        </p:nvSpPr>
        <p:spPr>
          <a:xfrm>
            <a:off x="4809600" y="868680"/>
            <a:ext cx="959400" cy="9594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25"/>
          <p:cNvSpPr/>
          <p:nvPr/>
        </p:nvSpPr>
        <p:spPr>
          <a:xfrm>
            <a:off x="4809600" y="868680"/>
            <a:ext cx="9594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🔍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26"/>
          <p:cNvSpPr/>
          <p:nvPr/>
        </p:nvSpPr>
        <p:spPr>
          <a:xfrm>
            <a:off x="4645080" y="1920240"/>
            <a:ext cx="1416600" cy="2907000"/>
          </a:xfrm>
          <a:prstGeom prst="rect">
            <a:avLst/>
          </a:prstGeom>
          <a:solidFill>
            <a:srgbClr val="182535"/>
          </a:solidFill>
          <a:ln w="19050">
            <a:solidFill>
              <a:srgbClr val="1e844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27"/>
          <p:cNvSpPr/>
          <p:nvPr/>
        </p:nvSpPr>
        <p:spPr>
          <a:xfrm>
            <a:off x="4645080" y="1920240"/>
            <a:ext cx="1416600" cy="502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28"/>
          <p:cNvSpPr/>
          <p:nvPr/>
        </p:nvSpPr>
        <p:spPr>
          <a:xfrm>
            <a:off x="4645080" y="192024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1628"/>
                </a:solidFill>
                <a:latin typeface="Calibri"/>
              </a:rPr>
              <a:t>SPRINT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1628"/>
                </a:solidFill>
                <a:latin typeface="Calibri"/>
              </a:rPr>
              <a:t>REVIEW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29"/>
          <p:cNvSpPr/>
          <p:nvPr/>
        </p:nvSpPr>
        <p:spPr>
          <a:xfrm>
            <a:off x="4736520" y="2487240"/>
            <a:ext cx="1233720" cy="22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0f7f9"/>
                </a:solidFill>
                <a:latin typeface="Calibri"/>
              </a:rPr>
              <a:t>Demo working software to stakeholders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30"/>
          <p:cNvSpPr/>
          <p:nvPr/>
        </p:nvSpPr>
        <p:spPr>
          <a:xfrm>
            <a:off x="7369920" y="1847160"/>
            <a:ext cx="200520" cy="14544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31"/>
          <p:cNvSpPr/>
          <p:nvPr/>
        </p:nvSpPr>
        <p:spPr>
          <a:xfrm>
            <a:off x="6272640" y="868680"/>
            <a:ext cx="959400" cy="95940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32"/>
          <p:cNvSpPr/>
          <p:nvPr/>
        </p:nvSpPr>
        <p:spPr>
          <a:xfrm>
            <a:off x="6272640" y="868680"/>
            <a:ext cx="9594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🔄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33"/>
          <p:cNvSpPr/>
          <p:nvPr/>
        </p:nvSpPr>
        <p:spPr>
          <a:xfrm>
            <a:off x="6108120" y="1920240"/>
            <a:ext cx="1416600" cy="2907000"/>
          </a:xfrm>
          <a:prstGeom prst="rect">
            <a:avLst/>
          </a:prstGeom>
          <a:solidFill>
            <a:srgbClr val="182535"/>
          </a:solidFill>
          <a:ln w="1905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34"/>
          <p:cNvSpPr/>
          <p:nvPr/>
        </p:nvSpPr>
        <p:spPr>
          <a:xfrm>
            <a:off x="6108120" y="1920240"/>
            <a:ext cx="1416600" cy="5022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35"/>
          <p:cNvSpPr/>
          <p:nvPr/>
        </p:nvSpPr>
        <p:spPr>
          <a:xfrm>
            <a:off x="6108120" y="192024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1628"/>
                </a:solidFill>
                <a:latin typeface="Calibri"/>
              </a:rPr>
              <a:t>RETRO-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1628"/>
                </a:solidFill>
                <a:latin typeface="Calibri"/>
              </a:rPr>
              <a:t>SPECTIVE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36"/>
          <p:cNvSpPr/>
          <p:nvPr/>
        </p:nvSpPr>
        <p:spPr>
          <a:xfrm>
            <a:off x="6199560" y="2487240"/>
            <a:ext cx="1233720" cy="22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0f7f9"/>
                </a:solidFill>
                <a:latin typeface="Calibri"/>
              </a:rPr>
              <a:t>Inspect &amp; improve the process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37"/>
          <p:cNvSpPr/>
          <p:nvPr/>
        </p:nvSpPr>
        <p:spPr>
          <a:xfrm>
            <a:off x="7735680" y="868680"/>
            <a:ext cx="959400" cy="9594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38"/>
          <p:cNvSpPr/>
          <p:nvPr/>
        </p:nvSpPr>
        <p:spPr>
          <a:xfrm>
            <a:off x="7735680" y="868680"/>
            <a:ext cx="9594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39"/>
          <p:cNvSpPr/>
          <p:nvPr/>
        </p:nvSpPr>
        <p:spPr>
          <a:xfrm>
            <a:off x="7571160" y="1920240"/>
            <a:ext cx="1416600" cy="2907000"/>
          </a:xfrm>
          <a:prstGeom prst="rect">
            <a:avLst/>
          </a:prstGeom>
          <a:solidFill>
            <a:srgbClr val="182535"/>
          </a:solidFill>
          <a:ln w="19050">
            <a:solidFill>
              <a:srgbClr val="02c39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40"/>
          <p:cNvSpPr/>
          <p:nvPr/>
        </p:nvSpPr>
        <p:spPr>
          <a:xfrm>
            <a:off x="7571160" y="1920240"/>
            <a:ext cx="1416600" cy="502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41"/>
          <p:cNvSpPr/>
          <p:nvPr/>
        </p:nvSpPr>
        <p:spPr>
          <a:xfrm>
            <a:off x="7571160" y="192024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1628"/>
                </a:solidFill>
                <a:latin typeface="Calibri"/>
              </a:rPr>
              <a:t>PRODUCT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1628"/>
                </a:solidFill>
                <a:latin typeface="Calibri"/>
              </a:rPr>
              <a:t>INCREMENT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42"/>
          <p:cNvSpPr/>
          <p:nvPr/>
        </p:nvSpPr>
        <p:spPr>
          <a:xfrm>
            <a:off x="7662600" y="2487240"/>
            <a:ext cx="1233720" cy="22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0f7f9"/>
                </a:solidFill>
                <a:latin typeface="Calibri"/>
              </a:rPr>
              <a:t>Potentially shippable product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6" strike="noStrike">
                <a:solidFill>
                  <a:srgbClr val="ffffff"/>
                </a:solidFill>
                <a:latin typeface="Calibri"/>
              </a:rPr>
              <a:t>THE 5 SCRUM VALUES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365760" y="850320"/>
            <a:ext cx="8411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28090"/>
                </a:solidFill>
                <a:latin typeface="Calibri"/>
              </a:rPr>
              <a:t>These values give direction to the Scrum Team with regard to their work, actions, and behavior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1371600" y="1298520"/>
            <a:ext cx="2742480" cy="175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1371600" y="1298520"/>
            <a:ext cx="2742480" cy="547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1371600" y="1298520"/>
            <a:ext cx="2742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💪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COMMITMENT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1508760" y="1920240"/>
            <a:ext cx="246816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The Scrum Team commits to achieving its goals and to supporting each other. Primary focus is on the work of the sprint.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7"/>
          <p:cNvSpPr/>
          <p:nvPr/>
        </p:nvSpPr>
        <p:spPr>
          <a:xfrm>
            <a:off x="5212080" y="1298520"/>
            <a:ext cx="2742480" cy="175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5212080" y="1298520"/>
            <a:ext cx="2742480" cy="547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5212080" y="1298520"/>
            <a:ext cx="2742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🎯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FOCUS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0"/>
          <p:cNvSpPr/>
          <p:nvPr/>
        </p:nvSpPr>
        <p:spPr>
          <a:xfrm>
            <a:off x="5349240" y="1920240"/>
            <a:ext cx="246816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Everyone focuses on the work of the sprint and the sprint goals, avoiding distractions and multitasking.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1"/>
          <p:cNvSpPr/>
          <p:nvPr/>
        </p:nvSpPr>
        <p:spPr>
          <a:xfrm>
            <a:off x="320040" y="2834640"/>
            <a:ext cx="2742480" cy="175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320040" y="2834640"/>
            <a:ext cx="2742480" cy="547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320040" y="2834640"/>
            <a:ext cx="2742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🔓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OPENNESS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4"/>
          <p:cNvSpPr/>
          <p:nvPr/>
        </p:nvSpPr>
        <p:spPr>
          <a:xfrm>
            <a:off x="457200" y="3456360"/>
            <a:ext cx="246816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The Scrum Team is open about all work and challenges. Transparency is maintained with the team and all stakeholders.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5"/>
          <p:cNvSpPr/>
          <p:nvPr/>
        </p:nvSpPr>
        <p:spPr>
          <a:xfrm>
            <a:off x="3337560" y="2834640"/>
            <a:ext cx="2742480" cy="175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44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6"/>
          <p:cNvSpPr/>
          <p:nvPr/>
        </p:nvSpPr>
        <p:spPr>
          <a:xfrm>
            <a:off x="3337560" y="2834640"/>
            <a:ext cx="2742480" cy="547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17"/>
          <p:cNvSpPr/>
          <p:nvPr/>
        </p:nvSpPr>
        <p:spPr>
          <a:xfrm>
            <a:off x="3337560" y="2834640"/>
            <a:ext cx="2742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🤝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RESPECT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8"/>
          <p:cNvSpPr/>
          <p:nvPr/>
        </p:nvSpPr>
        <p:spPr>
          <a:xfrm>
            <a:off x="3474720" y="3456360"/>
            <a:ext cx="246816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Team members respect each other as capable, independent people and are respected by those with whom they work.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19"/>
          <p:cNvSpPr/>
          <p:nvPr/>
        </p:nvSpPr>
        <p:spPr>
          <a:xfrm>
            <a:off x="6355080" y="2834640"/>
            <a:ext cx="2742480" cy="175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20"/>
          <p:cNvSpPr/>
          <p:nvPr/>
        </p:nvSpPr>
        <p:spPr>
          <a:xfrm>
            <a:off x="6355080" y="2834640"/>
            <a:ext cx="2742480" cy="547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21"/>
          <p:cNvSpPr/>
          <p:nvPr/>
        </p:nvSpPr>
        <p:spPr>
          <a:xfrm>
            <a:off x="6355080" y="2834640"/>
            <a:ext cx="2742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🦁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COURAGE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22"/>
          <p:cNvSpPr/>
          <p:nvPr/>
        </p:nvSpPr>
        <p:spPr>
          <a:xfrm>
            <a:off x="6492240" y="3456360"/>
            <a:ext cx="246816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Team members have the courage to do the right thing and work on tough problems — even when it's difficult.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197" strike="noStrike">
                <a:solidFill>
                  <a:srgbClr val="ffffff"/>
                </a:solidFill>
                <a:latin typeface="Calibri"/>
              </a:rPr>
              <a:t>THE 3 PILLARS OF SCRUM (EMPIRICISM)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2"/>
          <p:cNvSpPr/>
          <p:nvPr/>
        </p:nvSpPr>
        <p:spPr>
          <a:xfrm>
            <a:off x="868680" y="960120"/>
            <a:ext cx="1690920" cy="1690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3"/>
          <p:cNvSpPr/>
          <p:nvPr/>
        </p:nvSpPr>
        <p:spPr>
          <a:xfrm>
            <a:off x="868680" y="960120"/>
            <a:ext cx="169092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👁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4"/>
          <p:cNvSpPr/>
          <p:nvPr/>
        </p:nvSpPr>
        <p:spPr>
          <a:xfrm>
            <a:off x="365760" y="2743200"/>
            <a:ext cx="2742480" cy="2084040"/>
          </a:xfrm>
          <a:prstGeom prst="rect">
            <a:avLst/>
          </a:prstGeom>
          <a:solidFill>
            <a:srgbClr val="182535"/>
          </a:solidFill>
          <a:ln w="25400">
            <a:solidFill>
              <a:srgbClr val="00a896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5"/>
          <p:cNvSpPr/>
          <p:nvPr/>
        </p:nvSpPr>
        <p:spPr>
          <a:xfrm>
            <a:off x="365760" y="2743200"/>
            <a:ext cx="2742480" cy="474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6"/>
          <p:cNvSpPr/>
          <p:nvPr/>
        </p:nvSpPr>
        <p:spPr>
          <a:xfrm>
            <a:off x="365760" y="2743200"/>
            <a:ext cx="2742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1628"/>
                </a:solidFill>
                <a:latin typeface="Calibri"/>
              </a:rPr>
              <a:t>TRANSPARENCY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7"/>
          <p:cNvSpPr/>
          <p:nvPr/>
        </p:nvSpPr>
        <p:spPr>
          <a:xfrm>
            <a:off x="475560" y="3273480"/>
            <a:ext cx="2522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All work is visible to everyone on the team. The backlog, sprint progress, and blockers are shared openly with all stakeholders.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8"/>
          <p:cNvSpPr/>
          <p:nvPr/>
        </p:nvSpPr>
        <p:spPr>
          <a:xfrm>
            <a:off x="475560" y="4069080"/>
            <a:ext cx="163800" cy="1638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9"/>
          <p:cNvSpPr/>
          <p:nvPr/>
        </p:nvSpPr>
        <p:spPr>
          <a:xfrm>
            <a:off x="704160" y="404172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0f7f9"/>
                </a:solidFill>
                <a:latin typeface="Calibri"/>
              </a:rPr>
              <a:t>Sprint board visible to all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10"/>
          <p:cNvSpPr/>
          <p:nvPr/>
        </p:nvSpPr>
        <p:spPr>
          <a:xfrm>
            <a:off x="475560" y="4270320"/>
            <a:ext cx="163800" cy="1638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1"/>
          <p:cNvSpPr/>
          <p:nvPr/>
        </p:nvSpPr>
        <p:spPr>
          <a:xfrm>
            <a:off x="704160" y="424296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0f7f9"/>
                </a:solidFill>
                <a:latin typeface="Calibri"/>
              </a:rPr>
              <a:t>Blockers surfaced immediately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12"/>
          <p:cNvSpPr/>
          <p:nvPr/>
        </p:nvSpPr>
        <p:spPr>
          <a:xfrm>
            <a:off x="475560" y="4471560"/>
            <a:ext cx="163800" cy="1638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13"/>
          <p:cNvSpPr/>
          <p:nvPr/>
        </p:nvSpPr>
        <p:spPr>
          <a:xfrm>
            <a:off x="704160" y="444384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0f7f9"/>
                </a:solidFill>
                <a:latin typeface="Calibri"/>
              </a:rPr>
              <a:t>Progress tracked openly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14"/>
          <p:cNvSpPr/>
          <p:nvPr/>
        </p:nvSpPr>
        <p:spPr>
          <a:xfrm>
            <a:off x="475560" y="4672440"/>
            <a:ext cx="163800" cy="1638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15"/>
          <p:cNvSpPr/>
          <p:nvPr/>
        </p:nvSpPr>
        <p:spPr>
          <a:xfrm>
            <a:off x="704160" y="464508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0f7f9"/>
                </a:solidFill>
                <a:latin typeface="Calibri"/>
              </a:rPr>
              <a:t>No hidden work or plans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16"/>
          <p:cNvSpPr/>
          <p:nvPr/>
        </p:nvSpPr>
        <p:spPr>
          <a:xfrm>
            <a:off x="3749040" y="960120"/>
            <a:ext cx="1690920" cy="1690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17"/>
          <p:cNvSpPr/>
          <p:nvPr/>
        </p:nvSpPr>
        <p:spPr>
          <a:xfrm>
            <a:off x="3749040" y="960120"/>
            <a:ext cx="169092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🔎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18"/>
          <p:cNvSpPr/>
          <p:nvPr/>
        </p:nvSpPr>
        <p:spPr>
          <a:xfrm>
            <a:off x="3246120" y="2743200"/>
            <a:ext cx="2742480" cy="2084040"/>
          </a:xfrm>
          <a:prstGeom prst="rect">
            <a:avLst/>
          </a:prstGeom>
          <a:solidFill>
            <a:srgbClr val="182535"/>
          </a:solidFill>
          <a:ln w="2540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19"/>
          <p:cNvSpPr/>
          <p:nvPr/>
        </p:nvSpPr>
        <p:spPr>
          <a:xfrm>
            <a:off x="3246120" y="2743200"/>
            <a:ext cx="2742480" cy="474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20"/>
          <p:cNvSpPr/>
          <p:nvPr/>
        </p:nvSpPr>
        <p:spPr>
          <a:xfrm>
            <a:off x="3246120" y="2743200"/>
            <a:ext cx="2742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1628"/>
                </a:solidFill>
                <a:latin typeface="Calibri"/>
              </a:rPr>
              <a:t>INSPECTION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21"/>
          <p:cNvSpPr/>
          <p:nvPr/>
        </p:nvSpPr>
        <p:spPr>
          <a:xfrm>
            <a:off x="3355920" y="3273480"/>
            <a:ext cx="2522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Teams regularly check progress toward the sprint goal and product vision. Scrum provides cadence through its 5 events to enable inspection.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22"/>
          <p:cNvSpPr/>
          <p:nvPr/>
        </p:nvSpPr>
        <p:spPr>
          <a:xfrm>
            <a:off x="3355920" y="4069080"/>
            <a:ext cx="163800" cy="163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23"/>
          <p:cNvSpPr/>
          <p:nvPr/>
        </p:nvSpPr>
        <p:spPr>
          <a:xfrm>
            <a:off x="3584520" y="404172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0f7f9"/>
                </a:solidFill>
                <a:latin typeface="Calibri"/>
              </a:rPr>
              <a:t>Daily Scrum checks progress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24"/>
          <p:cNvSpPr/>
          <p:nvPr/>
        </p:nvSpPr>
        <p:spPr>
          <a:xfrm>
            <a:off x="3355920" y="4270320"/>
            <a:ext cx="163800" cy="163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25"/>
          <p:cNvSpPr/>
          <p:nvPr/>
        </p:nvSpPr>
        <p:spPr>
          <a:xfrm>
            <a:off x="3584520" y="424296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0f7f9"/>
                </a:solidFill>
                <a:latin typeface="Calibri"/>
              </a:rPr>
              <a:t>Sprint Review inspects increment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26"/>
          <p:cNvSpPr/>
          <p:nvPr/>
        </p:nvSpPr>
        <p:spPr>
          <a:xfrm>
            <a:off x="3355920" y="4471560"/>
            <a:ext cx="163800" cy="163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27"/>
          <p:cNvSpPr/>
          <p:nvPr/>
        </p:nvSpPr>
        <p:spPr>
          <a:xfrm>
            <a:off x="3584520" y="444384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0f7f9"/>
                </a:solidFill>
                <a:latin typeface="Calibri"/>
              </a:rPr>
              <a:t>Retrospective inspects process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28"/>
          <p:cNvSpPr/>
          <p:nvPr/>
        </p:nvSpPr>
        <p:spPr>
          <a:xfrm>
            <a:off x="3355920" y="4672440"/>
            <a:ext cx="163800" cy="163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29"/>
          <p:cNvSpPr/>
          <p:nvPr/>
        </p:nvSpPr>
        <p:spPr>
          <a:xfrm>
            <a:off x="3584520" y="464508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0f7f9"/>
                </a:solidFill>
                <a:latin typeface="Calibri"/>
              </a:rPr>
              <a:t>Frequent artifact review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30"/>
          <p:cNvSpPr/>
          <p:nvPr/>
        </p:nvSpPr>
        <p:spPr>
          <a:xfrm>
            <a:off x="6629400" y="960120"/>
            <a:ext cx="1690920" cy="1690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31"/>
          <p:cNvSpPr/>
          <p:nvPr/>
        </p:nvSpPr>
        <p:spPr>
          <a:xfrm>
            <a:off x="6629400" y="960120"/>
            <a:ext cx="169092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🔧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32"/>
          <p:cNvSpPr/>
          <p:nvPr/>
        </p:nvSpPr>
        <p:spPr>
          <a:xfrm>
            <a:off x="6126480" y="2743200"/>
            <a:ext cx="2742480" cy="2084040"/>
          </a:xfrm>
          <a:prstGeom prst="rect">
            <a:avLst/>
          </a:prstGeom>
          <a:solidFill>
            <a:srgbClr val="182535"/>
          </a:solidFill>
          <a:ln w="25400">
            <a:solidFill>
              <a:srgbClr val="02c39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33"/>
          <p:cNvSpPr/>
          <p:nvPr/>
        </p:nvSpPr>
        <p:spPr>
          <a:xfrm>
            <a:off x="6126480" y="2743200"/>
            <a:ext cx="2742480" cy="474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34"/>
          <p:cNvSpPr/>
          <p:nvPr/>
        </p:nvSpPr>
        <p:spPr>
          <a:xfrm>
            <a:off x="6126480" y="2743200"/>
            <a:ext cx="2742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1628"/>
                </a:solidFill>
                <a:latin typeface="Calibri"/>
              </a:rPr>
              <a:t>ADAPTATION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35"/>
          <p:cNvSpPr/>
          <p:nvPr/>
        </p:nvSpPr>
        <p:spPr>
          <a:xfrm>
            <a:off x="6236280" y="3273480"/>
            <a:ext cx="2522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When inspection reveals a problem or better approach, teams adjust immediately rather than waiting for a phase gate or end-of-project review.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36"/>
          <p:cNvSpPr/>
          <p:nvPr/>
        </p:nvSpPr>
        <p:spPr>
          <a:xfrm>
            <a:off x="6236280" y="4069080"/>
            <a:ext cx="163800" cy="163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37"/>
          <p:cNvSpPr/>
          <p:nvPr/>
        </p:nvSpPr>
        <p:spPr>
          <a:xfrm>
            <a:off x="6464880" y="404172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0f7f9"/>
                </a:solidFill>
                <a:latin typeface="Calibri"/>
              </a:rPr>
              <a:t>Sprint backlog updated daily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38"/>
          <p:cNvSpPr/>
          <p:nvPr/>
        </p:nvSpPr>
        <p:spPr>
          <a:xfrm>
            <a:off x="6236280" y="4270320"/>
            <a:ext cx="163800" cy="163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39"/>
          <p:cNvSpPr/>
          <p:nvPr/>
        </p:nvSpPr>
        <p:spPr>
          <a:xfrm>
            <a:off x="6464880" y="424296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0f7f9"/>
                </a:solidFill>
                <a:latin typeface="Calibri"/>
              </a:rPr>
              <a:t>Backlog reprioritized continuously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40"/>
          <p:cNvSpPr/>
          <p:nvPr/>
        </p:nvSpPr>
        <p:spPr>
          <a:xfrm>
            <a:off x="6236280" y="4471560"/>
            <a:ext cx="163800" cy="163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41"/>
          <p:cNvSpPr/>
          <p:nvPr/>
        </p:nvSpPr>
        <p:spPr>
          <a:xfrm>
            <a:off x="6464880" y="444384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0f7f9"/>
                </a:solidFill>
                <a:latin typeface="Calibri"/>
              </a:rPr>
              <a:t>Process improved each sprint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42"/>
          <p:cNvSpPr/>
          <p:nvPr/>
        </p:nvSpPr>
        <p:spPr>
          <a:xfrm>
            <a:off x="6236280" y="4672440"/>
            <a:ext cx="163800" cy="163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43"/>
          <p:cNvSpPr/>
          <p:nvPr/>
        </p:nvSpPr>
        <p:spPr>
          <a:xfrm>
            <a:off x="6464880" y="464508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0f7f9"/>
                </a:solidFill>
                <a:latin typeface="Calibri"/>
              </a:rPr>
              <a:t>Team pivots when needed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6" strike="noStrike">
                <a:solidFill>
                  <a:srgbClr val="ffffff"/>
                </a:solidFill>
                <a:latin typeface="Calibri"/>
              </a:rPr>
              <a:t>SCRUM vs. KANBAN vs. AGILE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2"/>
          <p:cNvSpPr/>
          <p:nvPr/>
        </p:nvSpPr>
        <p:spPr>
          <a:xfrm>
            <a:off x="274320" y="914400"/>
            <a:ext cx="2056680" cy="474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3"/>
          <p:cNvSpPr/>
          <p:nvPr/>
        </p:nvSpPr>
        <p:spPr>
          <a:xfrm>
            <a:off x="274320" y="914400"/>
            <a:ext cx="20566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DIMENSION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4"/>
          <p:cNvSpPr/>
          <p:nvPr/>
        </p:nvSpPr>
        <p:spPr>
          <a:xfrm>
            <a:off x="2423160" y="914400"/>
            <a:ext cx="2056680" cy="474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5"/>
          <p:cNvSpPr/>
          <p:nvPr/>
        </p:nvSpPr>
        <p:spPr>
          <a:xfrm>
            <a:off x="2423160" y="914400"/>
            <a:ext cx="20566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SCRUM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6"/>
          <p:cNvSpPr/>
          <p:nvPr/>
        </p:nvSpPr>
        <p:spPr>
          <a:xfrm>
            <a:off x="4572000" y="914400"/>
            <a:ext cx="2056680" cy="474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7"/>
          <p:cNvSpPr/>
          <p:nvPr/>
        </p:nvSpPr>
        <p:spPr>
          <a:xfrm>
            <a:off x="4572000" y="914400"/>
            <a:ext cx="20566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KANBAN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8"/>
          <p:cNvSpPr/>
          <p:nvPr/>
        </p:nvSpPr>
        <p:spPr>
          <a:xfrm>
            <a:off x="6720840" y="914400"/>
            <a:ext cx="2056680" cy="4748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9"/>
          <p:cNvSpPr/>
          <p:nvPr/>
        </p:nvSpPr>
        <p:spPr>
          <a:xfrm>
            <a:off x="6720840" y="914400"/>
            <a:ext cx="20566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AGILE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0"/>
          <p:cNvSpPr/>
          <p:nvPr/>
        </p:nvSpPr>
        <p:spPr>
          <a:xfrm>
            <a:off x="274320" y="14446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11"/>
          <p:cNvSpPr/>
          <p:nvPr/>
        </p:nvSpPr>
        <p:spPr>
          <a:xfrm>
            <a:off x="320040" y="14446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1628"/>
                </a:solidFill>
                <a:latin typeface="Calibri"/>
              </a:rPr>
              <a:t>Type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2"/>
          <p:cNvSpPr/>
          <p:nvPr/>
        </p:nvSpPr>
        <p:spPr>
          <a:xfrm>
            <a:off x="2423160" y="14446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3"/>
          <p:cNvSpPr/>
          <p:nvPr/>
        </p:nvSpPr>
        <p:spPr>
          <a:xfrm>
            <a:off x="2468880" y="14446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Specific framework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14"/>
          <p:cNvSpPr/>
          <p:nvPr/>
        </p:nvSpPr>
        <p:spPr>
          <a:xfrm>
            <a:off x="4572000" y="14446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15"/>
          <p:cNvSpPr/>
          <p:nvPr/>
        </p:nvSpPr>
        <p:spPr>
          <a:xfrm>
            <a:off x="4617720" y="14446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Visual workflow method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6"/>
          <p:cNvSpPr/>
          <p:nvPr/>
        </p:nvSpPr>
        <p:spPr>
          <a:xfrm>
            <a:off x="6720840" y="14446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17"/>
          <p:cNvSpPr/>
          <p:nvPr/>
        </p:nvSpPr>
        <p:spPr>
          <a:xfrm>
            <a:off x="6766560" y="14446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Philosophy / mindset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18"/>
          <p:cNvSpPr/>
          <p:nvPr/>
        </p:nvSpPr>
        <p:spPr>
          <a:xfrm>
            <a:off x="274320" y="1956960"/>
            <a:ext cx="2056680" cy="474840"/>
          </a:xfrm>
          <a:prstGeom prst="rect">
            <a:avLst/>
          </a:prstGeom>
          <a:solidFill>
            <a:srgbClr val="f0f7f9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9"/>
          <p:cNvSpPr/>
          <p:nvPr/>
        </p:nvSpPr>
        <p:spPr>
          <a:xfrm>
            <a:off x="320040" y="195696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1628"/>
                </a:solidFill>
                <a:latin typeface="Calibri"/>
              </a:rPr>
              <a:t>Structure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20"/>
          <p:cNvSpPr/>
          <p:nvPr/>
        </p:nvSpPr>
        <p:spPr>
          <a:xfrm>
            <a:off x="2423160" y="1956960"/>
            <a:ext cx="2056680" cy="474840"/>
          </a:xfrm>
          <a:prstGeom prst="rect">
            <a:avLst/>
          </a:prstGeom>
          <a:solidFill>
            <a:srgbClr val="f0f7f9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1"/>
          <p:cNvSpPr/>
          <p:nvPr/>
        </p:nvSpPr>
        <p:spPr>
          <a:xfrm>
            <a:off x="2468880" y="195696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Rigid, prescriptive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22"/>
          <p:cNvSpPr/>
          <p:nvPr/>
        </p:nvSpPr>
        <p:spPr>
          <a:xfrm>
            <a:off x="4572000" y="1956960"/>
            <a:ext cx="2056680" cy="474840"/>
          </a:xfrm>
          <a:prstGeom prst="rect">
            <a:avLst/>
          </a:prstGeom>
          <a:solidFill>
            <a:srgbClr val="f0f7f9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23"/>
          <p:cNvSpPr/>
          <p:nvPr/>
        </p:nvSpPr>
        <p:spPr>
          <a:xfrm>
            <a:off x="4617720" y="195696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Flexible, continuous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24"/>
          <p:cNvSpPr/>
          <p:nvPr/>
        </p:nvSpPr>
        <p:spPr>
          <a:xfrm>
            <a:off x="6720840" y="1956960"/>
            <a:ext cx="2056680" cy="474840"/>
          </a:xfrm>
          <a:prstGeom prst="rect">
            <a:avLst/>
          </a:prstGeom>
          <a:solidFill>
            <a:srgbClr val="f0f7f9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25"/>
          <p:cNvSpPr/>
          <p:nvPr/>
        </p:nvSpPr>
        <p:spPr>
          <a:xfrm>
            <a:off x="6766560" y="195696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Broad principles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26"/>
          <p:cNvSpPr/>
          <p:nvPr/>
        </p:nvSpPr>
        <p:spPr>
          <a:xfrm>
            <a:off x="274320" y="24688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27"/>
          <p:cNvSpPr/>
          <p:nvPr/>
        </p:nvSpPr>
        <p:spPr>
          <a:xfrm>
            <a:off x="320040" y="24688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1628"/>
                </a:solidFill>
                <a:latin typeface="Calibri"/>
              </a:rPr>
              <a:t>Cadence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28"/>
          <p:cNvSpPr/>
          <p:nvPr/>
        </p:nvSpPr>
        <p:spPr>
          <a:xfrm>
            <a:off x="2423160" y="24688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29"/>
          <p:cNvSpPr/>
          <p:nvPr/>
        </p:nvSpPr>
        <p:spPr>
          <a:xfrm>
            <a:off x="2468880" y="24688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Fixed sprints (1–4wk)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30"/>
          <p:cNvSpPr/>
          <p:nvPr/>
        </p:nvSpPr>
        <p:spPr>
          <a:xfrm>
            <a:off x="4572000" y="24688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31"/>
          <p:cNvSpPr/>
          <p:nvPr/>
        </p:nvSpPr>
        <p:spPr>
          <a:xfrm>
            <a:off x="4617720" y="24688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Continuous flow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32"/>
          <p:cNvSpPr/>
          <p:nvPr/>
        </p:nvSpPr>
        <p:spPr>
          <a:xfrm>
            <a:off x="6720840" y="24688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33"/>
          <p:cNvSpPr/>
          <p:nvPr/>
        </p:nvSpPr>
        <p:spPr>
          <a:xfrm>
            <a:off x="6766560" y="24688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Team-defined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34"/>
          <p:cNvSpPr/>
          <p:nvPr/>
        </p:nvSpPr>
        <p:spPr>
          <a:xfrm>
            <a:off x="274320" y="2980800"/>
            <a:ext cx="2056680" cy="474840"/>
          </a:xfrm>
          <a:prstGeom prst="rect">
            <a:avLst/>
          </a:prstGeom>
          <a:solidFill>
            <a:srgbClr val="f0f7f9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35"/>
          <p:cNvSpPr/>
          <p:nvPr/>
        </p:nvSpPr>
        <p:spPr>
          <a:xfrm>
            <a:off x="320040" y="298080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1628"/>
                </a:solidFill>
                <a:latin typeface="Calibri"/>
              </a:rPr>
              <a:t>Roles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36"/>
          <p:cNvSpPr/>
          <p:nvPr/>
        </p:nvSpPr>
        <p:spPr>
          <a:xfrm>
            <a:off x="2423160" y="2980800"/>
            <a:ext cx="2056680" cy="474840"/>
          </a:xfrm>
          <a:prstGeom prst="rect">
            <a:avLst/>
          </a:prstGeom>
          <a:solidFill>
            <a:srgbClr val="f0f7f9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37"/>
          <p:cNvSpPr/>
          <p:nvPr/>
        </p:nvSpPr>
        <p:spPr>
          <a:xfrm>
            <a:off x="2468880" y="298080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3 defined roles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38"/>
          <p:cNvSpPr/>
          <p:nvPr/>
        </p:nvSpPr>
        <p:spPr>
          <a:xfrm>
            <a:off x="4572000" y="2980800"/>
            <a:ext cx="2056680" cy="474840"/>
          </a:xfrm>
          <a:prstGeom prst="rect">
            <a:avLst/>
          </a:prstGeom>
          <a:solidFill>
            <a:srgbClr val="f0f7f9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39"/>
          <p:cNvSpPr/>
          <p:nvPr/>
        </p:nvSpPr>
        <p:spPr>
          <a:xfrm>
            <a:off x="4617720" y="298080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No required roles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40"/>
          <p:cNvSpPr/>
          <p:nvPr/>
        </p:nvSpPr>
        <p:spPr>
          <a:xfrm>
            <a:off x="6720840" y="2980800"/>
            <a:ext cx="2056680" cy="474840"/>
          </a:xfrm>
          <a:prstGeom prst="rect">
            <a:avLst/>
          </a:prstGeom>
          <a:solidFill>
            <a:srgbClr val="f0f7f9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41"/>
          <p:cNvSpPr/>
          <p:nvPr/>
        </p:nvSpPr>
        <p:spPr>
          <a:xfrm>
            <a:off x="6766560" y="298080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No mandated roles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42"/>
          <p:cNvSpPr/>
          <p:nvPr/>
        </p:nvSpPr>
        <p:spPr>
          <a:xfrm>
            <a:off x="274320" y="34930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43"/>
          <p:cNvSpPr/>
          <p:nvPr/>
        </p:nvSpPr>
        <p:spPr>
          <a:xfrm>
            <a:off x="320040" y="34930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1628"/>
                </a:solidFill>
                <a:latin typeface="Calibri"/>
              </a:rPr>
              <a:t>Ceremonies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44"/>
          <p:cNvSpPr/>
          <p:nvPr/>
        </p:nvSpPr>
        <p:spPr>
          <a:xfrm>
            <a:off x="2423160" y="34930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45"/>
          <p:cNvSpPr/>
          <p:nvPr/>
        </p:nvSpPr>
        <p:spPr>
          <a:xfrm>
            <a:off x="2468880" y="34930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5 formal events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46"/>
          <p:cNvSpPr/>
          <p:nvPr/>
        </p:nvSpPr>
        <p:spPr>
          <a:xfrm>
            <a:off x="4572000" y="34930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47"/>
          <p:cNvSpPr/>
          <p:nvPr/>
        </p:nvSpPr>
        <p:spPr>
          <a:xfrm>
            <a:off x="4617720" y="34930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Optional meetings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48"/>
          <p:cNvSpPr/>
          <p:nvPr/>
        </p:nvSpPr>
        <p:spPr>
          <a:xfrm>
            <a:off x="6720840" y="34930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49"/>
          <p:cNvSpPr/>
          <p:nvPr/>
        </p:nvSpPr>
        <p:spPr>
          <a:xfrm>
            <a:off x="6766560" y="34930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No set meetings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50"/>
          <p:cNvSpPr/>
          <p:nvPr/>
        </p:nvSpPr>
        <p:spPr>
          <a:xfrm>
            <a:off x="274320" y="4005000"/>
            <a:ext cx="2056680" cy="474840"/>
          </a:xfrm>
          <a:prstGeom prst="rect">
            <a:avLst/>
          </a:prstGeom>
          <a:solidFill>
            <a:srgbClr val="f0f7f9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51"/>
          <p:cNvSpPr/>
          <p:nvPr/>
        </p:nvSpPr>
        <p:spPr>
          <a:xfrm>
            <a:off x="320040" y="400500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1628"/>
                </a:solidFill>
                <a:latin typeface="Calibri"/>
              </a:rPr>
              <a:t>Best For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52"/>
          <p:cNvSpPr/>
          <p:nvPr/>
        </p:nvSpPr>
        <p:spPr>
          <a:xfrm>
            <a:off x="2423160" y="4005000"/>
            <a:ext cx="2056680" cy="474840"/>
          </a:xfrm>
          <a:prstGeom prst="rect">
            <a:avLst/>
          </a:prstGeom>
          <a:solidFill>
            <a:srgbClr val="f0f7f9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53"/>
          <p:cNvSpPr/>
          <p:nvPr/>
        </p:nvSpPr>
        <p:spPr>
          <a:xfrm>
            <a:off x="2468880" y="400500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Complex dev projects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54"/>
          <p:cNvSpPr/>
          <p:nvPr/>
        </p:nvSpPr>
        <p:spPr>
          <a:xfrm>
            <a:off x="4572000" y="4005000"/>
            <a:ext cx="2056680" cy="474840"/>
          </a:xfrm>
          <a:prstGeom prst="rect">
            <a:avLst/>
          </a:prstGeom>
          <a:solidFill>
            <a:srgbClr val="f0f7f9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55"/>
          <p:cNvSpPr/>
          <p:nvPr/>
        </p:nvSpPr>
        <p:spPr>
          <a:xfrm>
            <a:off x="4617720" y="400500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Ops/support workflows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56"/>
          <p:cNvSpPr/>
          <p:nvPr/>
        </p:nvSpPr>
        <p:spPr>
          <a:xfrm>
            <a:off x="6720840" y="4005000"/>
            <a:ext cx="2056680" cy="474840"/>
          </a:xfrm>
          <a:prstGeom prst="rect">
            <a:avLst/>
          </a:prstGeom>
          <a:solidFill>
            <a:srgbClr val="f0f7f9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57"/>
          <p:cNvSpPr/>
          <p:nvPr/>
        </p:nvSpPr>
        <p:spPr>
          <a:xfrm>
            <a:off x="6766560" y="400500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Any agile adoption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58"/>
          <p:cNvSpPr/>
          <p:nvPr/>
        </p:nvSpPr>
        <p:spPr>
          <a:xfrm>
            <a:off x="274320" y="45172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59"/>
          <p:cNvSpPr/>
          <p:nvPr/>
        </p:nvSpPr>
        <p:spPr>
          <a:xfrm>
            <a:off x="320040" y="45172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1628"/>
                </a:solidFill>
                <a:latin typeface="Calibri"/>
              </a:rPr>
              <a:t>Change Mgmt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60"/>
          <p:cNvSpPr/>
          <p:nvPr/>
        </p:nvSpPr>
        <p:spPr>
          <a:xfrm>
            <a:off x="2423160" y="45172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61"/>
          <p:cNvSpPr/>
          <p:nvPr/>
        </p:nvSpPr>
        <p:spPr>
          <a:xfrm>
            <a:off x="2468880" y="45172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Between sprints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62"/>
          <p:cNvSpPr/>
          <p:nvPr/>
        </p:nvSpPr>
        <p:spPr>
          <a:xfrm>
            <a:off x="4572000" y="45172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63"/>
          <p:cNvSpPr/>
          <p:nvPr/>
        </p:nvSpPr>
        <p:spPr>
          <a:xfrm>
            <a:off x="4617720" y="45172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Anytime (WIP limits)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64"/>
          <p:cNvSpPr/>
          <p:nvPr/>
        </p:nvSpPr>
        <p:spPr>
          <a:xfrm>
            <a:off x="6720840" y="4517280"/>
            <a:ext cx="20566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65"/>
          <p:cNvSpPr/>
          <p:nvPr/>
        </p:nvSpPr>
        <p:spPr>
          <a:xfrm>
            <a:off x="6766560" y="4517280"/>
            <a:ext cx="196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d4a5a"/>
                </a:solidFill>
                <a:latin typeface="Calibri"/>
              </a:rPr>
              <a:t>Continuous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197" strike="noStrike">
                <a:solidFill>
                  <a:srgbClr val="ffffff"/>
                </a:solidFill>
                <a:latin typeface="Calibri"/>
              </a:rPr>
              <a:t>COMMON SCRUM MISTAKES TO AVOID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2"/>
          <p:cNvSpPr/>
          <p:nvPr/>
        </p:nvSpPr>
        <p:spPr>
          <a:xfrm>
            <a:off x="274320" y="960120"/>
            <a:ext cx="4205520" cy="1215360"/>
          </a:xfrm>
          <a:prstGeom prst="rect">
            <a:avLst/>
          </a:prstGeom>
          <a:solidFill>
            <a:srgbClr val="1a2535"/>
          </a:solidFill>
          <a:ln w="12700">
            <a:solidFill>
              <a:srgbClr val="e74c3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Shape 3"/>
          <p:cNvSpPr/>
          <p:nvPr/>
        </p:nvSpPr>
        <p:spPr>
          <a:xfrm>
            <a:off x="274320" y="960120"/>
            <a:ext cx="657720" cy="1215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4"/>
          <p:cNvSpPr/>
          <p:nvPr/>
        </p:nvSpPr>
        <p:spPr>
          <a:xfrm>
            <a:off x="274320" y="960120"/>
            <a:ext cx="657720" cy="12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❌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5"/>
          <p:cNvSpPr/>
          <p:nvPr/>
        </p:nvSpPr>
        <p:spPr>
          <a:xfrm>
            <a:off x="1024200" y="103320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74c3c"/>
                </a:solidFill>
                <a:latin typeface="Calibri"/>
              </a:rPr>
              <a:t>✗ </a:t>
            </a:r>
            <a:r>
              <a:rPr b="1" lang="en-US" sz="1150" spc="-1" strike="noStrike">
                <a:solidFill>
                  <a:srgbClr val="e74c3c"/>
                </a:solidFill>
                <a:latin typeface="Calibri"/>
              </a:rPr>
              <a:t>Unclear or overlapping roles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6"/>
          <p:cNvSpPr/>
          <p:nvPr/>
        </p:nvSpPr>
        <p:spPr>
          <a:xfrm>
            <a:off x="1024200" y="1417320"/>
            <a:ext cx="3336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✓ </a:t>
            </a: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Each role must be distinct: PO owns WHAT, SM owns HOW to work, Dev owns HOW to build. Never combine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7"/>
          <p:cNvSpPr/>
          <p:nvPr/>
        </p:nvSpPr>
        <p:spPr>
          <a:xfrm>
            <a:off x="4754880" y="960120"/>
            <a:ext cx="4205520" cy="1215360"/>
          </a:xfrm>
          <a:prstGeom prst="rect">
            <a:avLst/>
          </a:prstGeom>
          <a:solidFill>
            <a:srgbClr val="1a2535"/>
          </a:solidFill>
          <a:ln w="12700">
            <a:solidFill>
              <a:srgbClr val="e74c3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hape 8"/>
          <p:cNvSpPr/>
          <p:nvPr/>
        </p:nvSpPr>
        <p:spPr>
          <a:xfrm>
            <a:off x="4754880" y="960120"/>
            <a:ext cx="657720" cy="1215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9"/>
          <p:cNvSpPr/>
          <p:nvPr/>
        </p:nvSpPr>
        <p:spPr>
          <a:xfrm>
            <a:off x="4754880" y="960120"/>
            <a:ext cx="657720" cy="12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⏭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10"/>
          <p:cNvSpPr/>
          <p:nvPr/>
        </p:nvSpPr>
        <p:spPr>
          <a:xfrm>
            <a:off x="5504760" y="103320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74c3c"/>
                </a:solidFill>
                <a:latin typeface="Calibri"/>
              </a:rPr>
              <a:t>✗ </a:t>
            </a:r>
            <a:r>
              <a:rPr b="1" lang="en-US" sz="1150" spc="-1" strike="noStrike">
                <a:solidFill>
                  <a:srgbClr val="e74c3c"/>
                </a:solidFill>
                <a:latin typeface="Calibri"/>
              </a:rPr>
              <a:t>Skipping ceremonies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11"/>
          <p:cNvSpPr/>
          <p:nvPr/>
        </p:nvSpPr>
        <p:spPr>
          <a:xfrm>
            <a:off x="5504760" y="1417320"/>
            <a:ext cx="3336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✓ </a:t>
            </a: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All 5 events are essential. Skipping retrospectives means teams repeat mistakes every single sprint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12"/>
          <p:cNvSpPr/>
          <p:nvPr/>
        </p:nvSpPr>
        <p:spPr>
          <a:xfrm>
            <a:off x="274320" y="2313360"/>
            <a:ext cx="4205520" cy="1215360"/>
          </a:xfrm>
          <a:prstGeom prst="rect">
            <a:avLst/>
          </a:prstGeom>
          <a:solidFill>
            <a:srgbClr val="1a2535"/>
          </a:solidFill>
          <a:ln w="12700">
            <a:solidFill>
              <a:srgbClr val="e74c3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13"/>
          <p:cNvSpPr/>
          <p:nvPr/>
        </p:nvSpPr>
        <p:spPr>
          <a:xfrm>
            <a:off x="274320" y="2313360"/>
            <a:ext cx="657720" cy="1215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14"/>
          <p:cNvSpPr/>
          <p:nvPr/>
        </p:nvSpPr>
        <p:spPr>
          <a:xfrm>
            <a:off x="274320" y="2313360"/>
            <a:ext cx="657720" cy="12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📦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15"/>
          <p:cNvSpPr/>
          <p:nvPr/>
        </p:nvSpPr>
        <p:spPr>
          <a:xfrm>
            <a:off x="1024200" y="238644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74c3c"/>
                </a:solidFill>
                <a:latin typeface="Calibri"/>
              </a:rPr>
              <a:t>✗ </a:t>
            </a:r>
            <a:r>
              <a:rPr b="1" lang="en-US" sz="1150" spc="-1" strike="noStrike">
                <a:solidFill>
                  <a:srgbClr val="e74c3c"/>
                </a:solidFill>
                <a:latin typeface="Calibri"/>
              </a:rPr>
              <a:t>Overcommitting in sprints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16"/>
          <p:cNvSpPr/>
          <p:nvPr/>
        </p:nvSpPr>
        <p:spPr>
          <a:xfrm>
            <a:off x="1024200" y="2770560"/>
            <a:ext cx="3336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✓ </a:t>
            </a: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Use previous velocity data to plan realistically. Incomplete items damage team morale and predictability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17"/>
          <p:cNvSpPr/>
          <p:nvPr/>
        </p:nvSpPr>
        <p:spPr>
          <a:xfrm>
            <a:off x="4754880" y="2313360"/>
            <a:ext cx="4205520" cy="1215360"/>
          </a:xfrm>
          <a:prstGeom prst="rect">
            <a:avLst/>
          </a:prstGeom>
          <a:solidFill>
            <a:srgbClr val="1a2535"/>
          </a:solidFill>
          <a:ln w="12700">
            <a:solidFill>
              <a:srgbClr val="e74c3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18"/>
          <p:cNvSpPr/>
          <p:nvPr/>
        </p:nvSpPr>
        <p:spPr>
          <a:xfrm>
            <a:off x="4754880" y="2313360"/>
            <a:ext cx="657720" cy="1215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9"/>
          <p:cNvSpPr/>
          <p:nvPr/>
        </p:nvSpPr>
        <p:spPr>
          <a:xfrm>
            <a:off x="4754880" y="2313360"/>
            <a:ext cx="657720" cy="12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🚫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20"/>
          <p:cNvSpPr/>
          <p:nvPr/>
        </p:nvSpPr>
        <p:spPr>
          <a:xfrm>
            <a:off x="5504760" y="238644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74c3c"/>
                </a:solidFill>
                <a:latin typeface="Calibri"/>
              </a:rPr>
              <a:t>✗ </a:t>
            </a:r>
            <a:r>
              <a:rPr b="1" lang="en-US" sz="1150" spc="-1" strike="noStrike">
                <a:solidFill>
                  <a:srgbClr val="e74c3c"/>
                </a:solidFill>
                <a:latin typeface="Calibri"/>
              </a:rPr>
              <a:t>Not adapting based on feedback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21"/>
          <p:cNvSpPr/>
          <p:nvPr/>
        </p:nvSpPr>
        <p:spPr>
          <a:xfrm>
            <a:off x="5504760" y="2770560"/>
            <a:ext cx="3336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✓ </a:t>
            </a: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Scrum exists to enable adaptation. If teams ignore review feedback, they're doing waterfall with sprints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Shape 22"/>
          <p:cNvSpPr/>
          <p:nvPr/>
        </p:nvSpPr>
        <p:spPr>
          <a:xfrm>
            <a:off x="274320" y="3666600"/>
            <a:ext cx="4205520" cy="1215360"/>
          </a:xfrm>
          <a:prstGeom prst="rect">
            <a:avLst/>
          </a:prstGeom>
          <a:solidFill>
            <a:srgbClr val="1a2535"/>
          </a:solidFill>
          <a:ln w="12700">
            <a:solidFill>
              <a:srgbClr val="e74c3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23"/>
          <p:cNvSpPr/>
          <p:nvPr/>
        </p:nvSpPr>
        <p:spPr>
          <a:xfrm>
            <a:off x="274320" y="3666600"/>
            <a:ext cx="657720" cy="1215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24"/>
          <p:cNvSpPr/>
          <p:nvPr/>
        </p:nvSpPr>
        <p:spPr>
          <a:xfrm>
            <a:off x="274320" y="3666600"/>
            <a:ext cx="657720" cy="12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📏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25"/>
          <p:cNvSpPr/>
          <p:nvPr/>
        </p:nvSpPr>
        <p:spPr>
          <a:xfrm>
            <a:off x="1024200" y="374004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74c3c"/>
                </a:solidFill>
                <a:latin typeface="Calibri"/>
              </a:rPr>
              <a:t>✗ </a:t>
            </a:r>
            <a:r>
              <a:rPr b="1" lang="en-US" sz="1150" spc="-1" strike="noStrike">
                <a:solidFill>
                  <a:srgbClr val="e74c3c"/>
                </a:solidFill>
                <a:latin typeface="Calibri"/>
              </a:rPr>
              <a:t>'Almost done' counted as done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26"/>
          <p:cNvSpPr/>
          <p:nvPr/>
        </p:nvSpPr>
        <p:spPr>
          <a:xfrm>
            <a:off x="1024200" y="4123800"/>
            <a:ext cx="3336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✓ </a:t>
            </a: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The only measure of progress is a working increment meeting the Definition of Done — no partial credit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27"/>
          <p:cNvSpPr/>
          <p:nvPr/>
        </p:nvSpPr>
        <p:spPr>
          <a:xfrm>
            <a:off x="4754880" y="3666600"/>
            <a:ext cx="4205520" cy="1215360"/>
          </a:xfrm>
          <a:prstGeom prst="rect">
            <a:avLst/>
          </a:prstGeom>
          <a:solidFill>
            <a:srgbClr val="1a2535"/>
          </a:solidFill>
          <a:ln w="12700">
            <a:solidFill>
              <a:srgbClr val="e74c3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28"/>
          <p:cNvSpPr/>
          <p:nvPr/>
        </p:nvSpPr>
        <p:spPr>
          <a:xfrm>
            <a:off x="4754880" y="3666600"/>
            <a:ext cx="657720" cy="1215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29"/>
          <p:cNvSpPr/>
          <p:nvPr/>
        </p:nvSpPr>
        <p:spPr>
          <a:xfrm>
            <a:off x="4754880" y="3666600"/>
            <a:ext cx="657720" cy="12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🔀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30"/>
          <p:cNvSpPr/>
          <p:nvPr/>
        </p:nvSpPr>
        <p:spPr>
          <a:xfrm>
            <a:off x="5504760" y="374004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74c3c"/>
                </a:solidFill>
                <a:latin typeface="Calibri"/>
              </a:rPr>
              <a:t>✗ </a:t>
            </a:r>
            <a:r>
              <a:rPr b="1" lang="en-US" sz="1150" spc="-1" strike="noStrike">
                <a:solidFill>
                  <a:srgbClr val="e74c3c"/>
                </a:solidFill>
                <a:latin typeface="Calibri"/>
              </a:rPr>
              <a:t>Changing sprint scope mid-sprint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31"/>
          <p:cNvSpPr/>
          <p:nvPr/>
        </p:nvSpPr>
        <p:spPr>
          <a:xfrm>
            <a:off x="5504760" y="4123800"/>
            <a:ext cx="3336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✓ </a:t>
            </a:r>
            <a:r>
              <a:rPr b="0" lang="en-US" sz="1050" spc="-1" strike="noStrike">
                <a:solidFill>
                  <a:srgbClr val="f0f7f9"/>
                </a:solidFill>
                <a:latin typeface="Calibri"/>
              </a:rPr>
              <a:t>Frequent scope changes signal that work wasn't understood well enough during sprint planning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6" strike="noStrike">
                <a:solidFill>
                  <a:srgbClr val="ffffff"/>
                </a:solidFill>
                <a:latin typeface="Calibri"/>
              </a:rPr>
              <a:t>SCRUM METRICS &amp; TOOLS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2"/>
          <p:cNvSpPr/>
          <p:nvPr/>
        </p:nvSpPr>
        <p:spPr>
          <a:xfrm>
            <a:off x="274320" y="914400"/>
            <a:ext cx="4205520" cy="391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3"/>
          <p:cNvSpPr/>
          <p:nvPr/>
        </p:nvSpPr>
        <p:spPr>
          <a:xfrm>
            <a:off x="274320" y="914400"/>
            <a:ext cx="4205520" cy="502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4"/>
          <p:cNvSpPr/>
          <p:nvPr/>
        </p:nvSpPr>
        <p:spPr>
          <a:xfrm>
            <a:off x="274320" y="914400"/>
            <a:ext cx="4205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📊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KEY SCRUM METRICS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5"/>
          <p:cNvSpPr/>
          <p:nvPr/>
        </p:nvSpPr>
        <p:spPr>
          <a:xfrm>
            <a:off x="438840" y="1591200"/>
            <a:ext cx="291960" cy="291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6"/>
          <p:cNvSpPr/>
          <p:nvPr/>
        </p:nvSpPr>
        <p:spPr>
          <a:xfrm>
            <a:off x="822960" y="151776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</a:rPr>
              <a:t>Velocity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7"/>
          <p:cNvSpPr/>
          <p:nvPr/>
        </p:nvSpPr>
        <p:spPr>
          <a:xfrm>
            <a:off x="822960" y="178308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d8b"/>
                </a:solidFill>
                <a:latin typeface="Calibri"/>
              </a:rPr>
              <a:t>Story points completed per sprint — used to plan future sprints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8"/>
          <p:cNvSpPr/>
          <p:nvPr/>
        </p:nvSpPr>
        <p:spPr>
          <a:xfrm>
            <a:off x="438840" y="2139840"/>
            <a:ext cx="291960" cy="291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9"/>
          <p:cNvSpPr/>
          <p:nvPr/>
        </p:nvSpPr>
        <p:spPr>
          <a:xfrm>
            <a:off x="822960" y="206640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</a:rPr>
              <a:t>Burndown Chart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10"/>
          <p:cNvSpPr/>
          <p:nvPr/>
        </p:nvSpPr>
        <p:spPr>
          <a:xfrm>
            <a:off x="822960" y="233172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d8b"/>
                </a:solidFill>
                <a:latin typeface="Calibri"/>
              </a:rPr>
              <a:t>Shows remaining work vs. time. Tracks sprint progress daily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1"/>
          <p:cNvSpPr/>
          <p:nvPr/>
        </p:nvSpPr>
        <p:spPr>
          <a:xfrm>
            <a:off x="438840" y="2688480"/>
            <a:ext cx="291960" cy="291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12"/>
          <p:cNvSpPr/>
          <p:nvPr/>
        </p:nvSpPr>
        <p:spPr>
          <a:xfrm>
            <a:off x="822960" y="261504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</a:rPr>
              <a:t>Sprint Goal Hit Rate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13"/>
          <p:cNvSpPr/>
          <p:nvPr/>
        </p:nvSpPr>
        <p:spPr>
          <a:xfrm>
            <a:off x="822960" y="288036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d8b"/>
                </a:solidFill>
                <a:latin typeface="Calibri"/>
              </a:rPr>
              <a:t>% of sprints where the sprint goal was fully achieved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4"/>
          <p:cNvSpPr/>
          <p:nvPr/>
        </p:nvSpPr>
        <p:spPr>
          <a:xfrm>
            <a:off x="438840" y="3237120"/>
            <a:ext cx="291960" cy="291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15"/>
          <p:cNvSpPr/>
          <p:nvPr/>
        </p:nvSpPr>
        <p:spPr>
          <a:xfrm>
            <a:off x="822960" y="316368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</a:rPr>
              <a:t>Lead Time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16"/>
          <p:cNvSpPr/>
          <p:nvPr/>
        </p:nvSpPr>
        <p:spPr>
          <a:xfrm>
            <a:off x="822960" y="342900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d8b"/>
                </a:solidFill>
                <a:latin typeface="Calibri"/>
              </a:rPr>
              <a:t>Time from backlog item creation to delivery to stakeholders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7"/>
          <p:cNvSpPr/>
          <p:nvPr/>
        </p:nvSpPr>
        <p:spPr>
          <a:xfrm>
            <a:off x="438840" y="3785760"/>
            <a:ext cx="291960" cy="291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18"/>
          <p:cNvSpPr/>
          <p:nvPr/>
        </p:nvSpPr>
        <p:spPr>
          <a:xfrm>
            <a:off x="822960" y="371232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</a:rPr>
              <a:t>Cycle Time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19"/>
          <p:cNvSpPr/>
          <p:nvPr/>
        </p:nvSpPr>
        <p:spPr>
          <a:xfrm>
            <a:off x="822960" y="397764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d8b"/>
                </a:solidFill>
                <a:latin typeface="Calibri"/>
              </a:rPr>
              <a:t>Time from work starting to the item being marked done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20"/>
          <p:cNvSpPr/>
          <p:nvPr/>
        </p:nvSpPr>
        <p:spPr>
          <a:xfrm>
            <a:off x="438840" y="4334400"/>
            <a:ext cx="291960" cy="291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21"/>
          <p:cNvSpPr/>
          <p:nvPr/>
        </p:nvSpPr>
        <p:spPr>
          <a:xfrm>
            <a:off x="822960" y="426096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</a:rPr>
              <a:t>Team Happiness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22"/>
          <p:cNvSpPr/>
          <p:nvPr/>
        </p:nvSpPr>
        <p:spPr>
          <a:xfrm>
            <a:off x="822960" y="452628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d8b"/>
                </a:solidFill>
                <a:latin typeface="Calibri"/>
              </a:rPr>
              <a:t>Retrospective satisfaction scores — an underrated metric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3"/>
          <p:cNvSpPr/>
          <p:nvPr/>
        </p:nvSpPr>
        <p:spPr>
          <a:xfrm>
            <a:off x="4663440" y="914400"/>
            <a:ext cx="4205520" cy="391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24"/>
          <p:cNvSpPr/>
          <p:nvPr/>
        </p:nvSpPr>
        <p:spPr>
          <a:xfrm>
            <a:off x="4663440" y="914400"/>
            <a:ext cx="4205520" cy="502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25"/>
          <p:cNvSpPr/>
          <p:nvPr/>
        </p:nvSpPr>
        <p:spPr>
          <a:xfrm>
            <a:off x="4663440" y="914400"/>
            <a:ext cx="4205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1628"/>
                </a:solidFill>
                <a:latin typeface="Calibri"/>
              </a:rPr>
              <a:t>🛠  </a:t>
            </a:r>
            <a:r>
              <a:rPr b="1" lang="en-US" sz="1300" spc="-1" strike="noStrike">
                <a:solidFill>
                  <a:srgbClr val="0a1628"/>
                </a:solidFill>
                <a:latin typeface="Calibri"/>
              </a:rPr>
              <a:t>POPULAR SCRUM TOOLS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26"/>
          <p:cNvSpPr/>
          <p:nvPr/>
        </p:nvSpPr>
        <p:spPr>
          <a:xfrm>
            <a:off x="4827960" y="1591200"/>
            <a:ext cx="291960" cy="291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27"/>
          <p:cNvSpPr/>
          <p:nvPr/>
        </p:nvSpPr>
        <p:spPr>
          <a:xfrm>
            <a:off x="5212080" y="151776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</a:rPr>
              <a:t>Jira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28"/>
          <p:cNvSpPr/>
          <p:nvPr/>
        </p:nvSpPr>
        <p:spPr>
          <a:xfrm>
            <a:off x="5212080" y="178308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d8b"/>
                </a:solidFill>
                <a:latin typeface="Calibri"/>
              </a:rPr>
              <a:t>Backlog mgmt, sprint planning, boards, reports — Scrum-native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29"/>
          <p:cNvSpPr/>
          <p:nvPr/>
        </p:nvSpPr>
        <p:spPr>
          <a:xfrm>
            <a:off x="4827960" y="2139840"/>
            <a:ext cx="291960" cy="291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30"/>
          <p:cNvSpPr/>
          <p:nvPr/>
        </p:nvSpPr>
        <p:spPr>
          <a:xfrm>
            <a:off x="5212080" y="206640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</a:rPr>
              <a:t>Confluence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31"/>
          <p:cNvSpPr/>
          <p:nvPr/>
        </p:nvSpPr>
        <p:spPr>
          <a:xfrm>
            <a:off x="5212080" y="233172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d8b"/>
                </a:solidFill>
                <a:latin typeface="Calibri"/>
              </a:rPr>
              <a:t>Documentation, meeting notes, retrospective templates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32"/>
          <p:cNvSpPr/>
          <p:nvPr/>
        </p:nvSpPr>
        <p:spPr>
          <a:xfrm>
            <a:off x="4827960" y="2688480"/>
            <a:ext cx="291960" cy="291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33"/>
          <p:cNvSpPr/>
          <p:nvPr/>
        </p:nvSpPr>
        <p:spPr>
          <a:xfrm>
            <a:off x="5212080" y="261504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</a:rPr>
              <a:t>Trello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34"/>
          <p:cNvSpPr/>
          <p:nvPr/>
        </p:nvSpPr>
        <p:spPr>
          <a:xfrm>
            <a:off x="5212080" y="288036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d8b"/>
                </a:solidFill>
                <a:latin typeface="Calibri"/>
              </a:rPr>
              <a:t>Lightweight Kanban/Scrum boards for smaller teams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35"/>
          <p:cNvSpPr/>
          <p:nvPr/>
        </p:nvSpPr>
        <p:spPr>
          <a:xfrm>
            <a:off x="4827960" y="3237120"/>
            <a:ext cx="291960" cy="291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36"/>
          <p:cNvSpPr/>
          <p:nvPr/>
        </p:nvSpPr>
        <p:spPr>
          <a:xfrm>
            <a:off x="5212080" y="316368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</a:rPr>
              <a:t>Azure DevOps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37"/>
          <p:cNvSpPr/>
          <p:nvPr/>
        </p:nvSpPr>
        <p:spPr>
          <a:xfrm>
            <a:off x="5212080" y="342900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d8b"/>
                </a:solidFill>
                <a:latin typeface="Calibri"/>
              </a:rPr>
              <a:t>Sprint planning, backlogs, and CI/CD in one platform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38"/>
          <p:cNvSpPr/>
          <p:nvPr/>
        </p:nvSpPr>
        <p:spPr>
          <a:xfrm>
            <a:off x="4827960" y="3785760"/>
            <a:ext cx="291960" cy="291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39"/>
          <p:cNvSpPr/>
          <p:nvPr/>
        </p:nvSpPr>
        <p:spPr>
          <a:xfrm>
            <a:off x="5212080" y="371232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</a:rPr>
              <a:t>Miro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40"/>
          <p:cNvSpPr/>
          <p:nvPr/>
        </p:nvSpPr>
        <p:spPr>
          <a:xfrm>
            <a:off x="5212080" y="397764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d8b"/>
                </a:solidFill>
                <a:latin typeface="Calibri"/>
              </a:rPr>
              <a:t>Visual collaboration for remote retrospectives &amp; planning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41"/>
          <p:cNvSpPr/>
          <p:nvPr/>
        </p:nvSpPr>
        <p:spPr>
          <a:xfrm>
            <a:off x="4827960" y="4334400"/>
            <a:ext cx="291960" cy="291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42"/>
          <p:cNvSpPr/>
          <p:nvPr/>
        </p:nvSpPr>
        <p:spPr>
          <a:xfrm>
            <a:off x="5212080" y="426096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</a:rPr>
              <a:t>Notion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43"/>
          <p:cNvSpPr/>
          <p:nvPr/>
        </p:nvSpPr>
        <p:spPr>
          <a:xfrm>
            <a:off x="5212080" y="452628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d8b"/>
                </a:solidFill>
                <a:latin typeface="Calibri"/>
              </a:rPr>
              <a:t>All-in-one workspace for sprint documentation and notes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0"/>
          <p:cNvSpPr/>
          <p:nvPr/>
        </p:nvSpPr>
        <p:spPr>
          <a:xfrm>
            <a:off x="-1371600" y="2286000"/>
            <a:ext cx="4114080" cy="411408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1"/>
          <p:cNvSpPr/>
          <p:nvPr/>
        </p:nvSpPr>
        <p:spPr>
          <a:xfrm>
            <a:off x="7132320" y="-914400"/>
            <a:ext cx="3656880" cy="365688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Shape 2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Shape 3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4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6" strike="noStrike">
                <a:solidFill>
                  <a:srgbClr val="ffffff"/>
                </a:solidFill>
                <a:latin typeface="Calibri"/>
              </a:rPr>
              <a:t>KEY TAKEAWAYS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5"/>
          <p:cNvSpPr/>
          <p:nvPr/>
        </p:nvSpPr>
        <p:spPr>
          <a:xfrm>
            <a:off x="411480" y="960120"/>
            <a:ext cx="8320320" cy="56628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Shape 6"/>
          <p:cNvSpPr/>
          <p:nvPr/>
        </p:nvSpPr>
        <p:spPr>
          <a:xfrm>
            <a:off x="502920" y="1078920"/>
            <a:ext cx="328320" cy="328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7"/>
          <p:cNvSpPr/>
          <p:nvPr/>
        </p:nvSpPr>
        <p:spPr>
          <a:xfrm>
            <a:off x="502920" y="10789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8"/>
          <p:cNvSpPr/>
          <p:nvPr/>
        </p:nvSpPr>
        <p:spPr>
          <a:xfrm>
            <a:off x="960120" y="960120"/>
            <a:ext cx="7607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0f7f9"/>
                </a:solidFill>
                <a:latin typeface="Calibri"/>
              </a:rPr>
              <a:t>Scrum is a lightweight Agile framework with exactly 3 Roles, 5 Events, and 3 Artifacts (the 3:5:3 rule)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9"/>
          <p:cNvSpPr/>
          <p:nvPr/>
        </p:nvSpPr>
        <p:spPr>
          <a:xfrm>
            <a:off x="411480" y="1627560"/>
            <a:ext cx="8320320" cy="56628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Shape 10"/>
          <p:cNvSpPr/>
          <p:nvPr/>
        </p:nvSpPr>
        <p:spPr>
          <a:xfrm>
            <a:off x="502920" y="1746360"/>
            <a:ext cx="328320" cy="328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11"/>
          <p:cNvSpPr/>
          <p:nvPr/>
        </p:nvSpPr>
        <p:spPr>
          <a:xfrm>
            <a:off x="502920" y="17463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12"/>
          <p:cNvSpPr/>
          <p:nvPr/>
        </p:nvSpPr>
        <p:spPr>
          <a:xfrm>
            <a:off x="960120" y="1627560"/>
            <a:ext cx="7607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0f7f9"/>
                </a:solidFill>
                <a:latin typeface="Calibri"/>
              </a:rPr>
              <a:t>Sprints are fixed-length iterations (1–4 weeks) that are the heartbeat of Scrum — delivering value each cycle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13"/>
          <p:cNvSpPr/>
          <p:nvPr/>
        </p:nvSpPr>
        <p:spPr>
          <a:xfrm>
            <a:off x="411480" y="2295000"/>
            <a:ext cx="8320320" cy="56628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Shape 14"/>
          <p:cNvSpPr/>
          <p:nvPr/>
        </p:nvSpPr>
        <p:spPr>
          <a:xfrm>
            <a:off x="502920" y="2414160"/>
            <a:ext cx="328320" cy="328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15"/>
          <p:cNvSpPr/>
          <p:nvPr/>
        </p:nvSpPr>
        <p:spPr>
          <a:xfrm>
            <a:off x="502920" y="24141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16"/>
          <p:cNvSpPr/>
          <p:nvPr/>
        </p:nvSpPr>
        <p:spPr>
          <a:xfrm>
            <a:off x="960120" y="2295000"/>
            <a:ext cx="7607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0f7f9"/>
                </a:solidFill>
                <a:latin typeface="Calibri"/>
              </a:rPr>
              <a:t>The 3 pillars — Transparency, Inspection, and Adaptation — underpin everything in the Scrum framework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17"/>
          <p:cNvSpPr/>
          <p:nvPr/>
        </p:nvSpPr>
        <p:spPr>
          <a:xfrm>
            <a:off x="411480" y="2962800"/>
            <a:ext cx="8320320" cy="56628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18"/>
          <p:cNvSpPr/>
          <p:nvPr/>
        </p:nvSpPr>
        <p:spPr>
          <a:xfrm>
            <a:off x="502920" y="3081600"/>
            <a:ext cx="328320" cy="3283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19"/>
          <p:cNvSpPr/>
          <p:nvPr/>
        </p:nvSpPr>
        <p:spPr>
          <a:xfrm>
            <a:off x="502920" y="30816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20"/>
          <p:cNvSpPr/>
          <p:nvPr/>
        </p:nvSpPr>
        <p:spPr>
          <a:xfrm>
            <a:off x="960120" y="2962800"/>
            <a:ext cx="7607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0f7f9"/>
                </a:solidFill>
                <a:latin typeface="Calibri"/>
              </a:rPr>
              <a:t>Ceremonies are NOT optional: skipping retrospectives means teams repeat the same mistakes every sprint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21"/>
          <p:cNvSpPr/>
          <p:nvPr/>
        </p:nvSpPr>
        <p:spPr>
          <a:xfrm>
            <a:off x="411480" y="3630240"/>
            <a:ext cx="8320320" cy="56628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Shape 22"/>
          <p:cNvSpPr/>
          <p:nvPr/>
        </p:nvSpPr>
        <p:spPr>
          <a:xfrm>
            <a:off x="502920" y="3749040"/>
            <a:ext cx="328320" cy="32832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 23"/>
          <p:cNvSpPr/>
          <p:nvPr/>
        </p:nvSpPr>
        <p:spPr>
          <a:xfrm>
            <a:off x="502920" y="37490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24"/>
          <p:cNvSpPr/>
          <p:nvPr/>
        </p:nvSpPr>
        <p:spPr>
          <a:xfrm>
            <a:off x="960120" y="3630240"/>
            <a:ext cx="7607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0f7f9"/>
                </a:solidFill>
                <a:latin typeface="Calibri"/>
              </a:rPr>
              <a:t>Scrum teams are self-organizing and cross-functional — no one tells the team how to do the work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25"/>
          <p:cNvSpPr/>
          <p:nvPr/>
        </p:nvSpPr>
        <p:spPr>
          <a:xfrm>
            <a:off x="411480" y="4297680"/>
            <a:ext cx="8320320" cy="56628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Shape 26"/>
          <p:cNvSpPr/>
          <p:nvPr/>
        </p:nvSpPr>
        <p:spPr>
          <a:xfrm>
            <a:off x="502920" y="4416480"/>
            <a:ext cx="328320" cy="3283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27"/>
          <p:cNvSpPr/>
          <p:nvPr/>
        </p:nvSpPr>
        <p:spPr>
          <a:xfrm>
            <a:off x="502920" y="44164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28"/>
          <p:cNvSpPr/>
          <p:nvPr/>
        </p:nvSpPr>
        <p:spPr>
          <a:xfrm>
            <a:off x="960120" y="4297680"/>
            <a:ext cx="7607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0f7f9"/>
                </a:solidFill>
                <a:latin typeface="Calibri"/>
              </a:rPr>
              <a:t>The Definition of Done is sacred — 'almost done' is not done; only working increments count as progress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Shape 29"/>
          <p:cNvSpPr/>
          <p:nvPr/>
        </p:nvSpPr>
        <p:spPr>
          <a:xfrm>
            <a:off x="0" y="4873680"/>
            <a:ext cx="9143280" cy="2689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30"/>
          <p:cNvSpPr/>
          <p:nvPr/>
        </p:nvSpPr>
        <p:spPr>
          <a:xfrm>
            <a:off x="0" y="4873680"/>
            <a:ext cx="914328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2026-04-08T03:40:38Z</dcterms:created>
  <dc:creator>PptxGenJS</dc:creator>
  <dc:description/>
  <dc:language>en-US</dc:language>
  <cp:lastModifiedBy/>
  <dcterms:modified xsi:type="dcterms:W3CDTF">2026-04-10T10:41:40Z</dcterms:modified>
  <cp:revision>6</cp:revision>
  <dc:subject>PptxGenJS Presentation</dc:subject>
  <dc:title>Scrum – The Agile Framework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