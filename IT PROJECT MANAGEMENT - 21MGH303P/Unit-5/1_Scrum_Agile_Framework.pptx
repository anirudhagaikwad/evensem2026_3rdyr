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912D8C0-E8E2-44B4-934C-B8EDDBECF15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F32358-C5C8-4381-A6A4-531499A2F6B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8BDE1AD-F544-437D-BAD5-7B806210BF0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4EE906-3F63-4F66-B30A-9FCDEA914ED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D878C1-3CB5-4DD8-A2DD-06657CF7F68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DBE4FB-215C-4080-A104-57A35B12489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35AA6C-DAD0-43CC-AE92-2814BD6D7F4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CA7A94-AC39-427A-8FEA-1D0AB0095BE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579EC9-21A0-49E2-9FB5-F3E7C4F0150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E7FCD8-4900-4DD1-AFEB-1481991CFC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AE2E051-699F-4F02-A8E7-A8B0794ACD6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A3F3B21-1539-48B1-B57A-12CE0C966B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ED58C30-0A03-4742-8FAB-232ECF19FB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87057A7-95D3-4910-9764-EE2DCEDD099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</a:t>
            </a: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5303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5943600" y="0"/>
            <a:ext cx="3200040" cy="5143320"/>
          </a:xfrm>
          <a:prstGeom prst="rect">
            <a:avLst/>
          </a:prstGeom>
          <a:solidFill>
            <a:srgbClr val="0e2a47"/>
          </a:solidFill>
          <a:ln w="12700">
            <a:solidFill>
              <a:srgbClr val="0e2a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6583680" y="0"/>
            <a:ext cx="2559960" cy="5143320"/>
          </a:xfrm>
          <a:prstGeom prst="rect">
            <a:avLst/>
          </a:prstGeom>
          <a:solidFill>
            <a:srgbClr val="028090">
              <a:alpha val="65000"/>
            </a:srgbClr>
          </a:solidFill>
          <a:ln w="12700">
            <a:solidFill>
              <a:srgbClr val="02809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6400800" y="-822960"/>
            <a:ext cx="3200040" cy="3200040"/>
          </a:xfrm>
          <a:prstGeom prst="ellipse">
            <a:avLst/>
          </a:prstGeom>
          <a:solidFill>
            <a:srgbClr val="00a896">
              <a:alpha val="35000"/>
            </a:srgbClr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7132320" y="-91440"/>
            <a:ext cx="1828440" cy="1828440"/>
          </a:xfrm>
          <a:prstGeom prst="ellipse">
            <a:avLst/>
          </a:prstGeom>
          <a:solidFill>
            <a:srgbClr val="0a1628">
              <a:alpha val="60000"/>
            </a:srgbClr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7315200" y="3200400"/>
            <a:ext cx="502560" cy="5025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7863840" y="3200400"/>
            <a:ext cx="502560" cy="5025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7589520" y="3749040"/>
            <a:ext cx="502560" cy="5025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7200" y="914400"/>
            <a:ext cx="3200040" cy="347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9"/>
          <p:cNvSpPr/>
          <p:nvPr/>
        </p:nvSpPr>
        <p:spPr>
          <a:xfrm>
            <a:off x="457200" y="914400"/>
            <a:ext cx="32000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199" strike="noStrike">
                <a:solidFill>
                  <a:srgbClr val="ffffff"/>
                </a:solidFill>
                <a:latin typeface="Calibri"/>
              </a:rPr>
              <a:t>ATLASSIAN AGILE GUIDE · 2026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10"/>
          <p:cNvSpPr/>
          <p:nvPr/>
        </p:nvSpPr>
        <p:spPr>
          <a:xfrm>
            <a:off x="457200" y="1371600"/>
            <a:ext cx="54860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0" spc="797" strike="noStrike">
                <a:solidFill>
                  <a:srgbClr val="ffffff"/>
                </a:solidFill>
                <a:latin typeface="Calibri"/>
                <a:ea typeface="Calibri"/>
              </a:rPr>
              <a:t>SCRUM</a:t>
            </a:r>
            <a:endParaRPr b="0" lang="en-US" sz="8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11"/>
          <p:cNvSpPr/>
          <p:nvPr/>
        </p:nvSpPr>
        <p:spPr>
          <a:xfrm>
            <a:off x="457200" y="278892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The Agile Framework for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2c39a"/>
                </a:solidFill>
                <a:latin typeface="Calibri"/>
                <a:ea typeface="Calibri"/>
              </a:rPr>
              <a:t>Iterative Delivery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457200" y="3840480"/>
            <a:ext cx="54860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d8e8ec"/>
                </a:solidFill>
                <a:latin typeface="Calibri"/>
              </a:rPr>
              <a:t>Roles · Ceremonies · Artifacts · Sprints · Values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solidFill>
            <a:srgbClr val="0e2a47"/>
          </a:solidFill>
          <a:ln w="12700">
            <a:solidFill>
              <a:srgbClr val="0e2a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14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WHAT IS SCRUM?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Shape 2"/>
          <p:cNvSpPr/>
          <p:nvPr/>
        </p:nvSpPr>
        <p:spPr>
          <a:xfrm>
            <a:off x="365760" y="914400"/>
            <a:ext cx="8412120" cy="1096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3"/>
          <p:cNvSpPr/>
          <p:nvPr/>
        </p:nvSpPr>
        <p:spPr>
          <a:xfrm>
            <a:off x="365760" y="914400"/>
            <a:ext cx="84121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ffffff"/>
                </a:solidFill>
                <a:latin typeface="Calibri"/>
              </a:rPr>
              <a:t>Scrum is an Agile framework that structures work into time-boxed sprints, with defined roles, artifacts, and ceremonies for iterative delivery — enabling teams to respond to change and deliver value incrementally.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Shape 4"/>
          <p:cNvSpPr/>
          <p:nvPr/>
        </p:nvSpPr>
        <p:spPr>
          <a:xfrm>
            <a:off x="365760" y="2148840"/>
            <a:ext cx="420588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Shape 5"/>
          <p:cNvSpPr/>
          <p:nvPr/>
        </p:nvSpPr>
        <p:spPr>
          <a:xfrm>
            <a:off x="365760" y="2148840"/>
            <a:ext cx="164160" cy="1279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6"/>
          <p:cNvSpPr/>
          <p:nvPr/>
        </p:nvSpPr>
        <p:spPr>
          <a:xfrm>
            <a:off x="621720" y="224028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🔄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658440" y="221292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Iterative Delivery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658440" y="2624400"/>
            <a:ext cx="37486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d4a5a"/>
                </a:solidFill>
                <a:latin typeface="Calibri"/>
              </a:rPr>
              <a:t>Work is broken into short sprints (1–4 weeks), delivering working increments at the end of each cycle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4800600" y="2148840"/>
            <a:ext cx="420588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4800600" y="2148840"/>
            <a:ext cx="164160" cy="12798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5056560" y="224028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👥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12"/>
          <p:cNvSpPr/>
          <p:nvPr/>
        </p:nvSpPr>
        <p:spPr>
          <a:xfrm>
            <a:off x="5093280" y="221292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Self-Organizing Teams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5093280" y="2624400"/>
            <a:ext cx="37486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d4a5a"/>
                </a:solidFill>
                <a:latin typeface="Calibri"/>
              </a:rPr>
              <a:t>Cross-functional, self-managing teams decide how to accomplish work and take collective accountability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Shape 14"/>
          <p:cNvSpPr/>
          <p:nvPr/>
        </p:nvSpPr>
        <p:spPr>
          <a:xfrm>
            <a:off x="365760" y="3566160"/>
            <a:ext cx="420588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5"/>
          <p:cNvSpPr/>
          <p:nvPr/>
        </p:nvSpPr>
        <p:spPr>
          <a:xfrm>
            <a:off x="365760" y="3566160"/>
            <a:ext cx="164160" cy="127980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6"/>
          <p:cNvSpPr/>
          <p:nvPr/>
        </p:nvSpPr>
        <p:spPr>
          <a:xfrm>
            <a:off x="621720" y="365760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📊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17"/>
          <p:cNvSpPr/>
          <p:nvPr/>
        </p:nvSpPr>
        <p:spPr>
          <a:xfrm>
            <a:off x="658440" y="363024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Transparency &amp; Inspect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18"/>
          <p:cNvSpPr/>
          <p:nvPr/>
        </p:nvSpPr>
        <p:spPr>
          <a:xfrm>
            <a:off x="658440" y="4041720"/>
            <a:ext cx="37486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d4a5a"/>
                </a:solidFill>
                <a:latin typeface="Calibri"/>
              </a:rPr>
              <a:t>All work is visible — backlog, progress, and blockers are shared openly. Teams inspect and adapt continuously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9"/>
          <p:cNvSpPr/>
          <p:nvPr/>
        </p:nvSpPr>
        <p:spPr>
          <a:xfrm>
            <a:off x="4800600" y="3566160"/>
            <a:ext cx="4205880" cy="127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20"/>
          <p:cNvSpPr/>
          <p:nvPr/>
        </p:nvSpPr>
        <p:spPr>
          <a:xfrm>
            <a:off x="4800600" y="3566160"/>
            <a:ext cx="164160" cy="12798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21"/>
          <p:cNvSpPr/>
          <p:nvPr/>
        </p:nvSpPr>
        <p:spPr>
          <a:xfrm>
            <a:off x="5056560" y="3657600"/>
            <a:ext cx="639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💡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22"/>
          <p:cNvSpPr/>
          <p:nvPr/>
        </p:nvSpPr>
        <p:spPr>
          <a:xfrm>
            <a:off x="5093280" y="3630240"/>
            <a:ext cx="374868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Continuous Improvement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23"/>
          <p:cNvSpPr/>
          <p:nvPr/>
        </p:nvSpPr>
        <p:spPr>
          <a:xfrm>
            <a:off x="5093280" y="4041720"/>
            <a:ext cx="374868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2d4a5a"/>
                </a:solidFill>
                <a:latin typeface="Calibri"/>
              </a:rPr>
              <a:t>Clear communication, retrospectives, and a dedication to improvement are the hallmarks of successful Scrum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THE 3 : 5 : 3 SCRUM RULE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2"/>
          <p:cNvSpPr/>
          <p:nvPr/>
        </p:nvSpPr>
        <p:spPr>
          <a:xfrm>
            <a:off x="365760" y="868680"/>
            <a:ext cx="84121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2c39a"/>
                </a:solidFill>
                <a:latin typeface="Calibri"/>
              </a:rPr>
              <a:t>Scrum is intentionally minimal — exactly 3 Roles · 5 Events · 3 Artifacts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1005840" y="1389960"/>
            <a:ext cx="1371240" cy="13712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1005840" y="1389960"/>
            <a:ext cx="137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0a1628"/>
                </a:solidFill>
                <a:latin typeface="Calibri"/>
              </a:rPr>
              <a:t>3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5"/>
          <p:cNvSpPr/>
          <p:nvPr/>
        </p:nvSpPr>
        <p:spPr>
          <a:xfrm>
            <a:off x="365760" y="2853000"/>
            <a:ext cx="2651400" cy="4111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365760" y="2853000"/>
            <a:ext cx="2651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99" strike="noStrike">
                <a:solidFill>
                  <a:srgbClr val="0a1628"/>
                </a:solidFill>
                <a:latin typeface="Calibri"/>
              </a:rPr>
              <a:t>ROLES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530280" y="3392280"/>
            <a:ext cx="237240" cy="2372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850320" y="333756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Product Owner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530280" y="3758040"/>
            <a:ext cx="237240" cy="2372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850320" y="370332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Scrum Master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11"/>
          <p:cNvSpPr/>
          <p:nvPr/>
        </p:nvSpPr>
        <p:spPr>
          <a:xfrm>
            <a:off x="530280" y="4123800"/>
            <a:ext cx="237240" cy="23724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850320" y="406908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Development Team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3840480" y="1389960"/>
            <a:ext cx="1371240" cy="1371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3840480" y="1389960"/>
            <a:ext cx="137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0a1628"/>
                </a:solidFill>
                <a:latin typeface="Calibri"/>
              </a:rPr>
              <a:t>5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3200400" y="2853000"/>
            <a:ext cx="2651400" cy="4111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3200400" y="2853000"/>
            <a:ext cx="2651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99" strike="noStrike">
                <a:solidFill>
                  <a:srgbClr val="0a1628"/>
                </a:solidFill>
                <a:latin typeface="Calibri"/>
              </a:rPr>
              <a:t>EVENTS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3364920" y="3392280"/>
            <a:ext cx="237240" cy="237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3684960" y="333756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Sprint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Shape 19"/>
          <p:cNvSpPr/>
          <p:nvPr/>
        </p:nvSpPr>
        <p:spPr>
          <a:xfrm>
            <a:off x="3364920" y="3758040"/>
            <a:ext cx="237240" cy="237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3684960" y="370332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Sprint Planning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21"/>
          <p:cNvSpPr/>
          <p:nvPr/>
        </p:nvSpPr>
        <p:spPr>
          <a:xfrm>
            <a:off x="3364920" y="4123800"/>
            <a:ext cx="237240" cy="237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22"/>
          <p:cNvSpPr/>
          <p:nvPr/>
        </p:nvSpPr>
        <p:spPr>
          <a:xfrm>
            <a:off x="3684960" y="406908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Daily Scrum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Shape 23"/>
          <p:cNvSpPr/>
          <p:nvPr/>
        </p:nvSpPr>
        <p:spPr>
          <a:xfrm>
            <a:off x="3364920" y="4489560"/>
            <a:ext cx="237240" cy="237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24"/>
          <p:cNvSpPr/>
          <p:nvPr/>
        </p:nvSpPr>
        <p:spPr>
          <a:xfrm>
            <a:off x="3684960" y="443484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Sprint Review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Shape 25"/>
          <p:cNvSpPr/>
          <p:nvPr/>
        </p:nvSpPr>
        <p:spPr>
          <a:xfrm>
            <a:off x="3364920" y="4855320"/>
            <a:ext cx="237240" cy="2372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26"/>
          <p:cNvSpPr/>
          <p:nvPr/>
        </p:nvSpPr>
        <p:spPr>
          <a:xfrm>
            <a:off x="3684960" y="480060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Sprint Retrospective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Shape 27"/>
          <p:cNvSpPr/>
          <p:nvPr/>
        </p:nvSpPr>
        <p:spPr>
          <a:xfrm>
            <a:off x="6675120" y="1389960"/>
            <a:ext cx="1371240" cy="13712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28"/>
          <p:cNvSpPr/>
          <p:nvPr/>
        </p:nvSpPr>
        <p:spPr>
          <a:xfrm>
            <a:off x="6675120" y="1389960"/>
            <a:ext cx="137124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200" spc="-1" strike="noStrike">
                <a:solidFill>
                  <a:srgbClr val="0a1628"/>
                </a:solidFill>
                <a:latin typeface="Calibri"/>
              </a:rPr>
              <a:t>3</a:t>
            </a:r>
            <a:endParaRPr b="0" lang="en-US" sz="5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Shape 29"/>
          <p:cNvSpPr/>
          <p:nvPr/>
        </p:nvSpPr>
        <p:spPr>
          <a:xfrm>
            <a:off x="6035040" y="2853000"/>
            <a:ext cx="2651400" cy="411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Text 30"/>
          <p:cNvSpPr/>
          <p:nvPr/>
        </p:nvSpPr>
        <p:spPr>
          <a:xfrm>
            <a:off x="6035040" y="2853000"/>
            <a:ext cx="265140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199" strike="noStrike">
                <a:solidFill>
                  <a:srgbClr val="0a1628"/>
                </a:solidFill>
                <a:latin typeface="Calibri"/>
              </a:rPr>
              <a:t>ARTIFACTS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Shape 31"/>
          <p:cNvSpPr/>
          <p:nvPr/>
        </p:nvSpPr>
        <p:spPr>
          <a:xfrm>
            <a:off x="6199560" y="3392280"/>
            <a:ext cx="237240" cy="2372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32"/>
          <p:cNvSpPr/>
          <p:nvPr/>
        </p:nvSpPr>
        <p:spPr>
          <a:xfrm>
            <a:off x="6519600" y="333756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Product Backlog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Shape 33"/>
          <p:cNvSpPr/>
          <p:nvPr/>
        </p:nvSpPr>
        <p:spPr>
          <a:xfrm>
            <a:off x="6199560" y="3758040"/>
            <a:ext cx="237240" cy="2372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34"/>
          <p:cNvSpPr/>
          <p:nvPr/>
        </p:nvSpPr>
        <p:spPr>
          <a:xfrm>
            <a:off x="6519600" y="370332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Sprint Backlog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Shape 35"/>
          <p:cNvSpPr/>
          <p:nvPr/>
        </p:nvSpPr>
        <p:spPr>
          <a:xfrm>
            <a:off x="6199560" y="4123800"/>
            <a:ext cx="237240" cy="23724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Text 36"/>
          <p:cNvSpPr/>
          <p:nvPr/>
        </p:nvSpPr>
        <p:spPr>
          <a:xfrm>
            <a:off x="6519600" y="4069080"/>
            <a:ext cx="21027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Calibri"/>
              </a:rPr>
              <a:t>Increment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SCRUM ROLES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"/>
          <p:cNvSpPr/>
          <p:nvPr/>
        </p:nvSpPr>
        <p:spPr>
          <a:xfrm>
            <a:off x="274320" y="914400"/>
            <a:ext cx="2788560" cy="393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"/>
          <p:cNvSpPr/>
          <p:nvPr/>
        </p:nvSpPr>
        <p:spPr>
          <a:xfrm>
            <a:off x="274320" y="914400"/>
            <a:ext cx="2788560" cy="868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274320" y="91440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🧑‍💼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5"/>
          <p:cNvSpPr/>
          <p:nvPr/>
        </p:nvSpPr>
        <p:spPr>
          <a:xfrm>
            <a:off x="274320" y="1316880"/>
            <a:ext cx="2788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ffffff"/>
                </a:solidFill>
                <a:latin typeface="Calibri"/>
              </a:rPr>
              <a:t>PRODUCT OWNER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6"/>
          <p:cNvSpPr/>
          <p:nvPr/>
        </p:nvSpPr>
        <p:spPr>
          <a:xfrm>
            <a:off x="548640" y="1847160"/>
            <a:ext cx="2239920" cy="292320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7"/>
          <p:cNvSpPr/>
          <p:nvPr/>
        </p:nvSpPr>
        <p:spPr>
          <a:xfrm>
            <a:off x="548640" y="184716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2d4a5a"/>
                </a:solidFill>
                <a:latin typeface="Calibri"/>
              </a:rPr>
              <a:t>Owns: "What to build"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8"/>
          <p:cNvSpPr/>
          <p:nvPr/>
        </p:nvSpPr>
        <p:spPr>
          <a:xfrm>
            <a:off x="411480" y="2176200"/>
            <a:ext cx="2514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Manages and prioritizes the product backlog based on customer and business requirements. Represents stakeholders and ensures the team delivers maximum value.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9"/>
          <p:cNvSpPr/>
          <p:nvPr/>
        </p:nvSpPr>
        <p:spPr>
          <a:xfrm>
            <a:off x="411480" y="3182040"/>
            <a:ext cx="200880" cy="200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10"/>
          <p:cNvSpPr/>
          <p:nvPr/>
        </p:nvSpPr>
        <p:spPr>
          <a:xfrm>
            <a:off x="685800" y="30906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Creates and maintains the product backlog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11"/>
          <p:cNvSpPr/>
          <p:nvPr/>
        </p:nvSpPr>
        <p:spPr>
          <a:xfrm>
            <a:off x="411480" y="3584520"/>
            <a:ext cx="200880" cy="200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12"/>
          <p:cNvSpPr/>
          <p:nvPr/>
        </p:nvSpPr>
        <p:spPr>
          <a:xfrm>
            <a:off x="685800" y="34930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Prioritizes features based on business value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13"/>
          <p:cNvSpPr/>
          <p:nvPr/>
        </p:nvSpPr>
        <p:spPr>
          <a:xfrm>
            <a:off x="411480" y="3986640"/>
            <a:ext cx="200880" cy="200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685800" y="38952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Defines acceptance criteria for stories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15"/>
          <p:cNvSpPr/>
          <p:nvPr/>
        </p:nvSpPr>
        <p:spPr>
          <a:xfrm>
            <a:off x="411480" y="4389120"/>
            <a:ext cx="200880" cy="2008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Text 16"/>
          <p:cNvSpPr/>
          <p:nvPr/>
        </p:nvSpPr>
        <p:spPr>
          <a:xfrm>
            <a:off x="685800" y="42976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Bridges business and development team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17"/>
          <p:cNvSpPr/>
          <p:nvPr/>
        </p:nvSpPr>
        <p:spPr>
          <a:xfrm>
            <a:off x="3182040" y="914400"/>
            <a:ext cx="2788560" cy="393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18"/>
          <p:cNvSpPr/>
          <p:nvPr/>
        </p:nvSpPr>
        <p:spPr>
          <a:xfrm>
            <a:off x="3182040" y="914400"/>
            <a:ext cx="2788560" cy="868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Text 19"/>
          <p:cNvSpPr/>
          <p:nvPr/>
        </p:nvSpPr>
        <p:spPr>
          <a:xfrm>
            <a:off x="3182040" y="91440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🧑‍🏫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0"/>
          <p:cNvSpPr/>
          <p:nvPr/>
        </p:nvSpPr>
        <p:spPr>
          <a:xfrm>
            <a:off x="3182040" y="1316880"/>
            <a:ext cx="2788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ffffff"/>
                </a:solidFill>
                <a:latin typeface="Calibri"/>
              </a:rPr>
              <a:t>SCRUM MASTER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21"/>
          <p:cNvSpPr/>
          <p:nvPr/>
        </p:nvSpPr>
        <p:spPr>
          <a:xfrm>
            <a:off x="3456360" y="1847160"/>
            <a:ext cx="2239920" cy="292320"/>
          </a:xfrm>
          <a:prstGeom prst="rect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22"/>
          <p:cNvSpPr/>
          <p:nvPr/>
        </p:nvSpPr>
        <p:spPr>
          <a:xfrm>
            <a:off x="3456360" y="184716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2d4a5a"/>
                </a:solidFill>
                <a:latin typeface="Calibri"/>
              </a:rPr>
              <a:t>Owns: "How to work"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3"/>
          <p:cNvSpPr/>
          <p:nvPr/>
        </p:nvSpPr>
        <p:spPr>
          <a:xfrm>
            <a:off x="3319200" y="2176200"/>
            <a:ext cx="2514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Facilitates Scrum ceremonies, removes blockers, and coaches the team on agile principles. Acts as a servant leader — not a traditional project manager.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4"/>
          <p:cNvSpPr/>
          <p:nvPr/>
        </p:nvSpPr>
        <p:spPr>
          <a:xfrm>
            <a:off x="3319200" y="3182040"/>
            <a:ext cx="200880" cy="200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Text 25"/>
          <p:cNvSpPr/>
          <p:nvPr/>
        </p:nvSpPr>
        <p:spPr>
          <a:xfrm>
            <a:off x="3593520" y="30906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Guides and facilitates all Scrum ceremonies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Shape 26"/>
          <p:cNvSpPr/>
          <p:nvPr/>
        </p:nvSpPr>
        <p:spPr>
          <a:xfrm>
            <a:off x="3319200" y="3584520"/>
            <a:ext cx="200880" cy="200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Text 27"/>
          <p:cNvSpPr/>
          <p:nvPr/>
        </p:nvSpPr>
        <p:spPr>
          <a:xfrm>
            <a:off x="3593520" y="34930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Removes impediments blocking the team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8"/>
          <p:cNvSpPr/>
          <p:nvPr/>
        </p:nvSpPr>
        <p:spPr>
          <a:xfrm>
            <a:off x="3319200" y="3986640"/>
            <a:ext cx="200880" cy="200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Text 29"/>
          <p:cNvSpPr/>
          <p:nvPr/>
        </p:nvSpPr>
        <p:spPr>
          <a:xfrm>
            <a:off x="3593520" y="38952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Coaches team members on agile practices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30"/>
          <p:cNvSpPr/>
          <p:nvPr/>
        </p:nvSpPr>
        <p:spPr>
          <a:xfrm>
            <a:off x="3319200" y="4389120"/>
            <a:ext cx="200880" cy="2008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Text 31"/>
          <p:cNvSpPr/>
          <p:nvPr/>
        </p:nvSpPr>
        <p:spPr>
          <a:xfrm>
            <a:off x="3593520" y="42976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Shields the team from external disruptions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32"/>
          <p:cNvSpPr/>
          <p:nvPr/>
        </p:nvSpPr>
        <p:spPr>
          <a:xfrm>
            <a:off x="6089760" y="914400"/>
            <a:ext cx="2788560" cy="393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33"/>
          <p:cNvSpPr/>
          <p:nvPr/>
        </p:nvSpPr>
        <p:spPr>
          <a:xfrm>
            <a:off x="6089760" y="914400"/>
            <a:ext cx="2788560" cy="86832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34"/>
          <p:cNvSpPr/>
          <p:nvPr/>
        </p:nvSpPr>
        <p:spPr>
          <a:xfrm>
            <a:off x="6089760" y="914400"/>
            <a:ext cx="27885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👨‍💻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35"/>
          <p:cNvSpPr/>
          <p:nvPr/>
        </p:nvSpPr>
        <p:spPr>
          <a:xfrm>
            <a:off x="6089760" y="1316880"/>
            <a:ext cx="27885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97" strike="noStrike">
                <a:solidFill>
                  <a:srgbClr val="ffffff"/>
                </a:solidFill>
                <a:latin typeface="Calibri"/>
              </a:rPr>
              <a:t>DEVELOPMENT TEAM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36"/>
          <p:cNvSpPr/>
          <p:nvPr/>
        </p:nvSpPr>
        <p:spPr>
          <a:xfrm>
            <a:off x="6364080" y="1847160"/>
            <a:ext cx="2239920" cy="292320"/>
          </a:xfrm>
          <a:prstGeom prst="rect">
            <a:avLst/>
          </a:prstGeom>
          <a:solidFill>
            <a:srgbClr val="1e8449">
              <a:alpha val="20000"/>
            </a:srgbClr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Text 37"/>
          <p:cNvSpPr/>
          <p:nvPr/>
        </p:nvSpPr>
        <p:spPr>
          <a:xfrm>
            <a:off x="6364080" y="1847160"/>
            <a:ext cx="223992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000" spc="-1" strike="noStrike">
                <a:solidFill>
                  <a:srgbClr val="2d4a5a"/>
                </a:solidFill>
                <a:latin typeface="Calibri"/>
              </a:rPr>
              <a:t>Owns: "How to deliver"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38"/>
          <p:cNvSpPr/>
          <p:nvPr/>
        </p:nvSpPr>
        <p:spPr>
          <a:xfrm>
            <a:off x="6226920" y="2176200"/>
            <a:ext cx="251424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Cross-functional, self-organizing team responsible for delivering working increments each sprint. Collectively accountable for sprint deliverables — no titles within the team.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39"/>
          <p:cNvSpPr/>
          <p:nvPr/>
        </p:nvSpPr>
        <p:spPr>
          <a:xfrm>
            <a:off x="6226920" y="3182040"/>
            <a:ext cx="200880" cy="20088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40"/>
          <p:cNvSpPr/>
          <p:nvPr/>
        </p:nvSpPr>
        <p:spPr>
          <a:xfrm>
            <a:off x="6501240" y="30906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Delivers working increments every sprint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1"/>
          <p:cNvSpPr/>
          <p:nvPr/>
        </p:nvSpPr>
        <p:spPr>
          <a:xfrm>
            <a:off x="6226920" y="3584520"/>
            <a:ext cx="200880" cy="20088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Text 42"/>
          <p:cNvSpPr/>
          <p:nvPr/>
        </p:nvSpPr>
        <p:spPr>
          <a:xfrm>
            <a:off x="6501240" y="34930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Self-organizes to decide how to complete work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43"/>
          <p:cNvSpPr/>
          <p:nvPr/>
        </p:nvSpPr>
        <p:spPr>
          <a:xfrm>
            <a:off x="6226920" y="3986640"/>
            <a:ext cx="200880" cy="20088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Text 44"/>
          <p:cNvSpPr/>
          <p:nvPr/>
        </p:nvSpPr>
        <p:spPr>
          <a:xfrm>
            <a:off x="6501240" y="389520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Runs the daily standup meeting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45"/>
          <p:cNvSpPr/>
          <p:nvPr/>
        </p:nvSpPr>
        <p:spPr>
          <a:xfrm>
            <a:off x="6226920" y="4389120"/>
            <a:ext cx="200880" cy="20088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46"/>
          <p:cNvSpPr/>
          <p:nvPr/>
        </p:nvSpPr>
        <p:spPr>
          <a:xfrm>
            <a:off x="6501240" y="4297680"/>
            <a:ext cx="22856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2d4a5a"/>
                </a:solidFill>
                <a:latin typeface="Calibri"/>
              </a:rPr>
              <a:t>Commits to sprint goals collectively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0a1628"/>
                </a:solidFill>
                <a:latin typeface="Calibri"/>
              </a:rPr>
              <a:t>SCRUM CEREMONIES (EVENTS)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320040" y="932760"/>
            <a:ext cx="8503560" cy="712800"/>
          </a:xfrm>
          <a:prstGeom prst="rect">
            <a:avLst/>
          </a:prstGeom>
          <a:solidFill>
            <a:srgbClr val="152030"/>
          </a:solidFill>
          <a:ln w="19050">
            <a:solidFill>
              <a:srgbClr val="028090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Shape 3"/>
          <p:cNvSpPr/>
          <p:nvPr/>
        </p:nvSpPr>
        <p:spPr>
          <a:xfrm>
            <a:off x="320040" y="932760"/>
            <a:ext cx="712800" cy="7128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320040" y="93276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📅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1115640" y="996840"/>
            <a:ext cx="2194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28090"/>
                </a:solidFill>
                <a:latin typeface="Calibri"/>
              </a:rPr>
              <a:t>Sprint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1115640" y="1334880"/>
            <a:ext cx="1416960" cy="21924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1115640" y="1334880"/>
            <a:ext cx="1416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⏱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1–4 weeks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3108960" y="1024200"/>
            <a:ext cx="5577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The heartbeat of Scrum — a fixed-length iteration where ideas are turned into value. A new sprint begins immediately after the last.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Shape 9"/>
          <p:cNvSpPr/>
          <p:nvPr/>
        </p:nvSpPr>
        <p:spPr>
          <a:xfrm>
            <a:off x="3017520" y="1069920"/>
            <a:ext cx="27000" cy="438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20040" y="1755720"/>
            <a:ext cx="8503560" cy="712800"/>
          </a:xfrm>
          <a:prstGeom prst="rect">
            <a:avLst/>
          </a:prstGeom>
          <a:solidFill>
            <a:srgbClr val="152030"/>
          </a:solidFill>
          <a:ln w="1905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Shape 11"/>
          <p:cNvSpPr/>
          <p:nvPr/>
        </p:nvSpPr>
        <p:spPr>
          <a:xfrm>
            <a:off x="320040" y="1755720"/>
            <a:ext cx="712800" cy="7128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320040" y="175572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🗓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115640" y="1819800"/>
            <a:ext cx="2194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0a896"/>
                </a:solidFill>
                <a:latin typeface="Calibri"/>
              </a:rPr>
              <a:t>Sprint Planning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Shape 14"/>
          <p:cNvSpPr/>
          <p:nvPr/>
        </p:nvSpPr>
        <p:spPr>
          <a:xfrm>
            <a:off x="1115640" y="2157840"/>
            <a:ext cx="1416960" cy="219240"/>
          </a:xfrm>
          <a:prstGeom prst="rect">
            <a:avLst/>
          </a:prstGeom>
          <a:solidFill>
            <a:srgbClr val="00a896">
              <a:alpha val="30000"/>
            </a:srgbClr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1115640" y="2157840"/>
            <a:ext cx="1416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⏱ ≤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8 hrs/month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Text 16"/>
          <p:cNvSpPr/>
          <p:nvPr/>
        </p:nvSpPr>
        <p:spPr>
          <a:xfrm>
            <a:off x="3108960" y="1847160"/>
            <a:ext cx="5577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Team selects backlog items and defines the sprint goal — a single sentence describing what the sprint will accomplish. Converts backlog into commitment.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017520" y="1892880"/>
            <a:ext cx="27000" cy="4384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18"/>
          <p:cNvSpPr/>
          <p:nvPr/>
        </p:nvSpPr>
        <p:spPr>
          <a:xfrm>
            <a:off x="320040" y="2578680"/>
            <a:ext cx="8503560" cy="712800"/>
          </a:xfrm>
          <a:prstGeom prst="rect">
            <a:avLst/>
          </a:prstGeom>
          <a:solidFill>
            <a:srgbClr val="152030"/>
          </a:solidFill>
          <a:ln w="1905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Shape 19"/>
          <p:cNvSpPr/>
          <p:nvPr/>
        </p:nvSpPr>
        <p:spPr>
          <a:xfrm>
            <a:off x="320040" y="2578680"/>
            <a:ext cx="712800" cy="712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320040" y="257868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🌅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1115640" y="2642760"/>
            <a:ext cx="2194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5a623"/>
                </a:solidFill>
                <a:latin typeface="Calibri"/>
              </a:rPr>
              <a:t>Daily Scrum (Standup)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1115640" y="2980800"/>
            <a:ext cx="1416960" cy="219240"/>
          </a:xfrm>
          <a:prstGeom prst="rect">
            <a:avLst/>
          </a:prstGeom>
          <a:solidFill>
            <a:srgbClr val="f5a623">
              <a:alpha val="30000"/>
            </a:srgbClr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23"/>
          <p:cNvSpPr/>
          <p:nvPr/>
        </p:nvSpPr>
        <p:spPr>
          <a:xfrm>
            <a:off x="1115640" y="2980800"/>
            <a:ext cx="1416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⏱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15 min daily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Text 24"/>
          <p:cNvSpPr/>
          <p:nvPr/>
        </p:nvSpPr>
        <p:spPr>
          <a:xfrm>
            <a:off x="3108960" y="2670120"/>
            <a:ext cx="5577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Team meets daily to share progress, plan the day, and surface blockers. Kept standing to stay short! Promotes transparency across the team.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Shape 25"/>
          <p:cNvSpPr/>
          <p:nvPr/>
        </p:nvSpPr>
        <p:spPr>
          <a:xfrm>
            <a:off x="3017520" y="2715840"/>
            <a:ext cx="27000" cy="438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26"/>
          <p:cNvSpPr/>
          <p:nvPr/>
        </p:nvSpPr>
        <p:spPr>
          <a:xfrm>
            <a:off x="320040" y="3401640"/>
            <a:ext cx="8503560" cy="712800"/>
          </a:xfrm>
          <a:prstGeom prst="rect">
            <a:avLst/>
          </a:prstGeom>
          <a:solidFill>
            <a:srgbClr val="152030"/>
          </a:solidFill>
          <a:ln w="19050">
            <a:solidFill>
              <a:srgbClr val="1e8449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320040" y="3401640"/>
            <a:ext cx="712800" cy="71280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 28"/>
          <p:cNvSpPr/>
          <p:nvPr/>
        </p:nvSpPr>
        <p:spPr>
          <a:xfrm>
            <a:off x="320040" y="340164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🔍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1115640" y="3465720"/>
            <a:ext cx="2194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e8449"/>
                </a:solidFill>
                <a:latin typeface="Calibri"/>
              </a:rPr>
              <a:t>Sprint Review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1115640" y="3803760"/>
            <a:ext cx="1416960" cy="219240"/>
          </a:xfrm>
          <a:prstGeom prst="rect">
            <a:avLst/>
          </a:prstGeom>
          <a:solidFill>
            <a:srgbClr val="1e8449">
              <a:alpha val="30000"/>
            </a:srgbClr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 31"/>
          <p:cNvSpPr/>
          <p:nvPr/>
        </p:nvSpPr>
        <p:spPr>
          <a:xfrm>
            <a:off x="1115640" y="3803760"/>
            <a:ext cx="1416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⏱ ≤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4 hrs/month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3108960" y="3493080"/>
            <a:ext cx="5577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Team demonstrates completed work to stakeholders and gathers feedback. Determines what is done and updates the product backlog accordingly.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3017520" y="3538800"/>
            <a:ext cx="27000" cy="4384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34"/>
          <p:cNvSpPr/>
          <p:nvPr/>
        </p:nvSpPr>
        <p:spPr>
          <a:xfrm>
            <a:off x="320040" y="4224600"/>
            <a:ext cx="8503560" cy="712800"/>
          </a:xfrm>
          <a:prstGeom prst="rect">
            <a:avLst/>
          </a:prstGeom>
          <a:solidFill>
            <a:srgbClr val="152030"/>
          </a:solidFill>
          <a:ln w="19050">
            <a:solidFill>
              <a:srgbClr val="6c348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320040" y="4224600"/>
            <a:ext cx="712800" cy="7128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36"/>
          <p:cNvSpPr/>
          <p:nvPr/>
        </p:nvSpPr>
        <p:spPr>
          <a:xfrm>
            <a:off x="320040" y="4224600"/>
            <a:ext cx="712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🔄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37"/>
          <p:cNvSpPr/>
          <p:nvPr/>
        </p:nvSpPr>
        <p:spPr>
          <a:xfrm>
            <a:off x="1115640" y="4288680"/>
            <a:ext cx="2194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6c3483"/>
                </a:solidFill>
                <a:latin typeface="Calibri"/>
              </a:rPr>
              <a:t>Sprint Retrospective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1115640" y="4626720"/>
            <a:ext cx="1416960" cy="219240"/>
          </a:xfrm>
          <a:prstGeom prst="rect">
            <a:avLst/>
          </a:prstGeom>
          <a:solidFill>
            <a:srgbClr val="6c3483">
              <a:alpha val="30000"/>
            </a:srgbClr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 39"/>
          <p:cNvSpPr/>
          <p:nvPr/>
        </p:nvSpPr>
        <p:spPr>
          <a:xfrm>
            <a:off x="1115640" y="4626720"/>
            <a:ext cx="14169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⏱ ≤ </a:t>
            </a:r>
            <a:r>
              <a:rPr b="1" lang="en-US" sz="950" spc="-1" strike="noStrike">
                <a:solidFill>
                  <a:srgbClr val="ffffff"/>
                </a:solidFill>
                <a:latin typeface="Calibri"/>
              </a:rPr>
              <a:t>3 hrs/month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" name="Text 40"/>
          <p:cNvSpPr/>
          <p:nvPr/>
        </p:nvSpPr>
        <p:spPr>
          <a:xfrm>
            <a:off x="3108960" y="4316040"/>
            <a:ext cx="55774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Team reflects on how they worked: what went well, what didn't, and how to improve. Retrospectives are NOT optional — they drive continuous improvement.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3017520" y="4361760"/>
            <a:ext cx="27000" cy="4384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SCRUM ARTIFACTS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2"/>
          <p:cNvSpPr/>
          <p:nvPr/>
        </p:nvSpPr>
        <p:spPr>
          <a:xfrm>
            <a:off x="365760" y="841320"/>
            <a:ext cx="8412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28090"/>
                </a:solidFill>
                <a:latin typeface="Calibri"/>
              </a:rPr>
              <a:t>Artifacts provide transparency and structure — maximizing visibility of key information for the whole team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3"/>
          <p:cNvSpPr/>
          <p:nvPr/>
        </p:nvSpPr>
        <p:spPr>
          <a:xfrm>
            <a:off x="255960" y="1280160"/>
            <a:ext cx="278856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4"/>
          <p:cNvSpPr/>
          <p:nvPr/>
        </p:nvSpPr>
        <p:spPr>
          <a:xfrm>
            <a:off x="255960" y="1280160"/>
            <a:ext cx="2788560" cy="685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5"/>
          <p:cNvSpPr/>
          <p:nvPr/>
        </p:nvSpPr>
        <p:spPr>
          <a:xfrm>
            <a:off x="255960" y="1280160"/>
            <a:ext cx="2788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6"/>
          <p:cNvSpPr/>
          <p:nvPr/>
        </p:nvSpPr>
        <p:spPr>
          <a:xfrm>
            <a:off x="365760" y="203004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97" strike="noStrike">
                <a:solidFill>
                  <a:srgbClr val="028090"/>
                </a:solidFill>
                <a:latin typeface="Calibri"/>
              </a:rPr>
              <a:t>PRODUCT BACKLOG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7"/>
          <p:cNvSpPr/>
          <p:nvPr/>
        </p:nvSpPr>
        <p:spPr>
          <a:xfrm>
            <a:off x="484560" y="2468880"/>
            <a:ext cx="2331360" cy="273960"/>
          </a:xfrm>
          <a:prstGeom prst="rect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8"/>
          <p:cNvSpPr/>
          <p:nvPr/>
        </p:nvSpPr>
        <p:spPr>
          <a:xfrm>
            <a:off x="484560" y="24688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d4a5a"/>
                </a:solidFill>
                <a:latin typeface="Calibri"/>
              </a:rPr>
              <a:t>Commitment: Product Goal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365760" y="2788920"/>
            <a:ext cx="25599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4a5a"/>
                </a:solidFill>
                <a:latin typeface="Calibri"/>
              </a:rPr>
              <a:t>An emergent, ordered list of everything needed to improve the product — features, enhancements, bug fixes, and tasks. Compiled from customers, competitors, and business analysis. Always evolving.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0"/>
          <p:cNvSpPr/>
          <p:nvPr/>
        </p:nvSpPr>
        <p:spPr>
          <a:xfrm>
            <a:off x="393120" y="3712320"/>
            <a:ext cx="182520" cy="182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640080" y="365760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Maintained by the Product Owner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2"/>
          <p:cNvSpPr/>
          <p:nvPr/>
        </p:nvSpPr>
        <p:spPr>
          <a:xfrm>
            <a:off x="393120" y="4005000"/>
            <a:ext cx="182520" cy="182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" name="Text 13"/>
          <p:cNvSpPr/>
          <p:nvPr/>
        </p:nvSpPr>
        <p:spPr>
          <a:xfrm>
            <a:off x="640080" y="3950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Priority ordered at all times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4"/>
          <p:cNvSpPr/>
          <p:nvPr/>
        </p:nvSpPr>
        <p:spPr>
          <a:xfrm>
            <a:off x="393120" y="4297680"/>
            <a:ext cx="182520" cy="182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 15"/>
          <p:cNvSpPr/>
          <p:nvPr/>
        </p:nvSpPr>
        <p:spPr>
          <a:xfrm>
            <a:off x="640080" y="42429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The single source of team work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6"/>
          <p:cNvSpPr/>
          <p:nvPr/>
        </p:nvSpPr>
        <p:spPr>
          <a:xfrm>
            <a:off x="393120" y="4590360"/>
            <a:ext cx="182520" cy="1825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17"/>
          <p:cNvSpPr/>
          <p:nvPr/>
        </p:nvSpPr>
        <p:spPr>
          <a:xfrm>
            <a:off x="640080" y="4535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Refined continuously (backlog grooming)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8"/>
          <p:cNvSpPr/>
          <p:nvPr/>
        </p:nvSpPr>
        <p:spPr>
          <a:xfrm>
            <a:off x="3182040" y="1280160"/>
            <a:ext cx="278856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9"/>
          <p:cNvSpPr/>
          <p:nvPr/>
        </p:nvSpPr>
        <p:spPr>
          <a:xfrm>
            <a:off x="3182040" y="1280160"/>
            <a:ext cx="2788560" cy="685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20"/>
          <p:cNvSpPr/>
          <p:nvPr/>
        </p:nvSpPr>
        <p:spPr>
          <a:xfrm>
            <a:off x="3182040" y="1280160"/>
            <a:ext cx="2788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📌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21"/>
          <p:cNvSpPr/>
          <p:nvPr/>
        </p:nvSpPr>
        <p:spPr>
          <a:xfrm>
            <a:off x="3291840" y="203004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97" strike="noStrike">
                <a:solidFill>
                  <a:srgbClr val="00a896"/>
                </a:solidFill>
                <a:latin typeface="Calibri"/>
              </a:rPr>
              <a:t>SPRINT BACKLOG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2"/>
          <p:cNvSpPr/>
          <p:nvPr/>
        </p:nvSpPr>
        <p:spPr>
          <a:xfrm>
            <a:off x="3410640" y="2468880"/>
            <a:ext cx="2331360" cy="273960"/>
          </a:xfrm>
          <a:prstGeom prst="rect">
            <a:avLst/>
          </a:prstGeom>
          <a:solidFill>
            <a:srgbClr val="00a896">
              <a:alpha val="20000"/>
            </a:srgbClr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23"/>
          <p:cNvSpPr/>
          <p:nvPr/>
        </p:nvSpPr>
        <p:spPr>
          <a:xfrm>
            <a:off x="3410640" y="24688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d4a5a"/>
                </a:solidFill>
                <a:latin typeface="Calibri"/>
              </a:rPr>
              <a:t>Commitment: Sprint Goal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24"/>
          <p:cNvSpPr/>
          <p:nvPr/>
        </p:nvSpPr>
        <p:spPr>
          <a:xfrm>
            <a:off x="3291840" y="2788920"/>
            <a:ext cx="25599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4a5a"/>
                </a:solidFill>
                <a:latin typeface="Calibri"/>
              </a:rPr>
              <a:t>The subset of product backlog items selected for the current sprint, plus a plan for delivering the sprint goal. Created during sprint planning and owned by the development team.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5"/>
          <p:cNvSpPr/>
          <p:nvPr/>
        </p:nvSpPr>
        <p:spPr>
          <a:xfrm>
            <a:off x="3319200" y="3712320"/>
            <a:ext cx="182520" cy="1825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26"/>
          <p:cNvSpPr/>
          <p:nvPr/>
        </p:nvSpPr>
        <p:spPr>
          <a:xfrm>
            <a:off x="3566160" y="365760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Selected during Sprint Planning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7"/>
          <p:cNvSpPr/>
          <p:nvPr/>
        </p:nvSpPr>
        <p:spPr>
          <a:xfrm>
            <a:off x="3319200" y="4005000"/>
            <a:ext cx="182520" cy="1825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28"/>
          <p:cNvSpPr/>
          <p:nvPr/>
        </p:nvSpPr>
        <p:spPr>
          <a:xfrm>
            <a:off x="3566160" y="3950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Owned by the development team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9"/>
          <p:cNvSpPr/>
          <p:nvPr/>
        </p:nvSpPr>
        <p:spPr>
          <a:xfrm>
            <a:off x="3319200" y="4297680"/>
            <a:ext cx="182520" cy="1825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 30"/>
          <p:cNvSpPr/>
          <p:nvPr/>
        </p:nvSpPr>
        <p:spPr>
          <a:xfrm>
            <a:off x="3566160" y="42429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Updated daily as work progresses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1"/>
          <p:cNvSpPr/>
          <p:nvPr/>
        </p:nvSpPr>
        <p:spPr>
          <a:xfrm>
            <a:off x="3319200" y="4590360"/>
            <a:ext cx="182520" cy="18252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Text 32"/>
          <p:cNvSpPr/>
          <p:nvPr/>
        </p:nvSpPr>
        <p:spPr>
          <a:xfrm>
            <a:off x="3566160" y="4535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Makes sprint goal and plan visible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33"/>
          <p:cNvSpPr/>
          <p:nvPr/>
        </p:nvSpPr>
        <p:spPr>
          <a:xfrm>
            <a:off x="6108120" y="1280160"/>
            <a:ext cx="2788560" cy="356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34"/>
          <p:cNvSpPr/>
          <p:nvPr/>
        </p:nvSpPr>
        <p:spPr>
          <a:xfrm>
            <a:off x="6108120" y="1280160"/>
            <a:ext cx="2788560" cy="68544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35"/>
          <p:cNvSpPr/>
          <p:nvPr/>
        </p:nvSpPr>
        <p:spPr>
          <a:xfrm>
            <a:off x="6108120" y="1280160"/>
            <a:ext cx="2788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✅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36"/>
          <p:cNvSpPr/>
          <p:nvPr/>
        </p:nvSpPr>
        <p:spPr>
          <a:xfrm>
            <a:off x="6217920" y="2030040"/>
            <a:ext cx="25599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97" strike="noStrike">
                <a:solidFill>
                  <a:srgbClr val="1e8449"/>
                </a:solidFill>
                <a:latin typeface="Calibri"/>
              </a:rPr>
              <a:t>INCREMENT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7"/>
          <p:cNvSpPr/>
          <p:nvPr/>
        </p:nvSpPr>
        <p:spPr>
          <a:xfrm>
            <a:off x="6336720" y="2468880"/>
            <a:ext cx="2331360" cy="273960"/>
          </a:xfrm>
          <a:prstGeom prst="rect">
            <a:avLst/>
          </a:prstGeom>
          <a:solidFill>
            <a:srgbClr val="1e8449">
              <a:alpha val="20000"/>
            </a:srgbClr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38"/>
          <p:cNvSpPr/>
          <p:nvPr/>
        </p:nvSpPr>
        <p:spPr>
          <a:xfrm>
            <a:off x="6336720" y="2468880"/>
            <a:ext cx="2331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2d4a5a"/>
                </a:solidFill>
                <a:latin typeface="Calibri"/>
              </a:rPr>
              <a:t>Commitment: Definition of Done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39"/>
          <p:cNvSpPr/>
          <p:nvPr/>
        </p:nvSpPr>
        <p:spPr>
          <a:xfrm>
            <a:off x="6217920" y="2788920"/>
            <a:ext cx="255996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2d4a5a"/>
                </a:solidFill>
                <a:latin typeface="Calibri"/>
              </a:rPr>
              <a:t>The sum of all completed product backlog items that meet the Definition of Done. Each increment is additive to prior increments and fully usable — whether or not the team decides to release.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40"/>
          <p:cNvSpPr/>
          <p:nvPr/>
        </p:nvSpPr>
        <p:spPr>
          <a:xfrm>
            <a:off x="6245280" y="3712320"/>
            <a:ext cx="182520" cy="1825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 41"/>
          <p:cNvSpPr/>
          <p:nvPr/>
        </p:nvSpPr>
        <p:spPr>
          <a:xfrm>
            <a:off x="6492240" y="365760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Must meet Definition of Done (DoD)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42"/>
          <p:cNvSpPr/>
          <p:nvPr/>
        </p:nvSpPr>
        <p:spPr>
          <a:xfrm>
            <a:off x="6245280" y="4005000"/>
            <a:ext cx="182520" cy="1825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Text 43"/>
          <p:cNvSpPr/>
          <p:nvPr/>
        </p:nvSpPr>
        <p:spPr>
          <a:xfrm>
            <a:off x="6492240" y="3950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Delivered every sprint without exception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hape 44"/>
          <p:cNvSpPr/>
          <p:nvPr/>
        </p:nvSpPr>
        <p:spPr>
          <a:xfrm>
            <a:off x="6245280" y="4297680"/>
            <a:ext cx="182520" cy="1825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Text 45"/>
          <p:cNvSpPr/>
          <p:nvPr/>
        </p:nvSpPr>
        <p:spPr>
          <a:xfrm>
            <a:off x="6492240" y="424296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Supports CI/CD and version tracking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6"/>
          <p:cNvSpPr/>
          <p:nvPr/>
        </p:nvSpPr>
        <p:spPr>
          <a:xfrm>
            <a:off x="6245280" y="4590360"/>
            <a:ext cx="182520" cy="18252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Text 47"/>
          <p:cNvSpPr/>
          <p:nvPr/>
        </p:nvSpPr>
        <p:spPr>
          <a:xfrm>
            <a:off x="6492240" y="4535280"/>
            <a:ext cx="22856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2d4a5a"/>
                </a:solidFill>
                <a:latin typeface="Calibri"/>
              </a:rPr>
              <a:t>Enables rollback if needed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e2a47"/>
          </a:solidFill>
          <a:ln w="12700">
            <a:solidFill>
              <a:srgbClr val="0e2a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THE SPRINT CYCLE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Shape 2"/>
          <p:cNvSpPr/>
          <p:nvPr/>
        </p:nvSpPr>
        <p:spPr>
          <a:xfrm>
            <a:off x="1517760" y="1847160"/>
            <a:ext cx="200880" cy="1458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Shape 3"/>
          <p:cNvSpPr/>
          <p:nvPr/>
        </p:nvSpPr>
        <p:spPr>
          <a:xfrm>
            <a:off x="420480" y="868680"/>
            <a:ext cx="959760" cy="95976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"/>
          <p:cNvSpPr/>
          <p:nvPr/>
        </p:nvSpPr>
        <p:spPr>
          <a:xfrm>
            <a:off x="42048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📋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Shape 5"/>
          <p:cNvSpPr/>
          <p:nvPr/>
        </p:nvSpPr>
        <p:spPr>
          <a:xfrm>
            <a:off x="25596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028090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Shape 6"/>
          <p:cNvSpPr/>
          <p:nvPr/>
        </p:nvSpPr>
        <p:spPr>
          <a:xfrm>
            <a:off x="255960" y="1920240"/>
            <a:ext cx="1416960" cy="502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7"/>
          <p:cNvSpPr/>
          <p:nvPr/>
        </p:nvSpPr>
        <p:spPr>
          <a:xfrm>
            <a:off x="25596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PRODUCT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BACKLOG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 8"/>
          <p:cNvSpPr/>
          <p:nvPr/>
        </p:nvSpPr>
        <p:spPr>
          <a:xfrm>
            <a:off x="34740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Prioritised list of all desired work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Shape 9"/>
          <p:cNvSpPr/>
          <p:nvPr/>
        </p:nvSpPr>
        <p:spPr>
          <a:xfrm>
            <a:off x="2980800" y="1847160"/>
            <a:ext cx="200880" cy="1458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1" name="Shape 10"/>
          <p:cNvSpPr/>
          <p:nvPr/>
        </p:nvSpPr>
        <p:spPr>
          <a:xfrm>
            <a:off x="1883520" y="868680"/>
            <a:ext cx="959760" cy="9597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11"/>
          <p:cNvSpPr/>
          <p:nvPr/>
        </p:nvSpPr>
        <p:spPr>
          <a:xfrm>
            <a:off x="188352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🗓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Shape 12"/>
          <p:cNvSpPr/>
          <p:nvPr/>
        </p:nvSpPr>
        <p:spPr>
          <a:xfrm>
            <a:off x="171900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Shape 13"/>
          <p:cNvSpPr/>
          <p:nvPr/>
        </p:nvSpPr>
        <p:spPr>
          <a:xfrm>
            <a:off x="1719000" y="1920240"/>
            <a:ext cx="1416960" cy="502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4"/>
          <p:cNvSpPr/>
          <p:nvPr/>
        </p:nvSpPr>
        <p:spPr>
          <a:xfrm>
            <a:off x="171900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SPRINT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PLANNING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Text 15"/>
          <p:cNvSpPr/>
          <p:nvPr/>
        </p:nvSpPr>
        <p:spPr>
          <a:xfrm>
            <a:off x="181044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Select items &amp; define sprint goal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Shape 16"/>
          <p:cNvSpPr/>
          <p:nvPr/>
        </p:nvSpPr>
        <p:spPr>
          <a:xfrm>
            <a:off x="4443840" y="1847160"/>
            <a:ext cx="200880" cy="1458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Shape 17"/>
          <p:cNvSpPr/>
          <p:nvPr/>
        </p:nvSpPr>
        <p:spPr>
          <a:xfrm>
            <a:off x="3346560" y="868680"/>
            <a:ext cx="959760" cy="9597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18"/>
          <p:cNvSpPr/>
          <p:nvPr/>
        </p:nvSpPr>
        <p:spPr>
          <a:xfrm>
            <a:off x="334656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⚡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Shape 19"/>
          <p:cNvSpPr/>
          <p:nvPr/>
        </p:nvSpPr>
        <p:spPr>
          <a:xfrm>
            <a:off x="318204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Shape 20"/>
          <p:cNvSpPr/>
          <p:nvPr/>
        </p:nvSpPr>
        <p:spPr>
          <a:xfrm>
            <a:off x="3182040" y="1920240"/>
            <a:ext cx="1416960" cy="5025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1"/>
          <p:cNvSpPr/>
          <p:nvPr/>
        </p:nvSpPr>
        <p:spPr>
          <a:xfrm>
            <a:off x="318204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SPRINT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(1–4 wks)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Text 22"/>
          <p:cNvSpPr/>
          <p:nvPr/>
        </p:nvSpPr>
        <p:spPr>
          <a:xfrm>
            <a:off x="327348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Daily work + daily standups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Shape 23"/>
          <p:cNvSpPr/>
          <p:nvPr/>
        </p:nvSpPr>
        <p:spPr>
          <a:xfrm>
            <a:off x="5906880" y="1847160"/>
            <a:ext cx="200880" cy="1458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Shape 24"/>
          <p:cNvSpPr/>
          <p:nvPr/>
        </p:nvSpPr>
        <p:spPr>
          <a:xfrm>
            <a:off x="4809600" y="868680"/>
            <a:ext cx="959760" cy="95976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Text 25"/>
          <p:cNvSpPr/>
          <p:nvPr/>
        </p:nvSpPr>
        <p:spPr>
          <a:xfrm>
            <a:off x="480960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🔍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Shape 26"/>
          <p:cNvSpPr/>
          <p:nvPr/>
        </p:nvSpPr>
        <p:spPr>
          <a:xfrm>
            <a:off x="464508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1e8449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Shape 27"/>
          <p:cNvSpPr/>
          <p:nvPr/>
        </p:nvSpPr>
        <p:spPr>
          <a:xfrm>
            <a:off x="4645080" y="1920240"/>
            <a:ext cx="1416960" cy="50256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Text 28"/>
          <p:cNvSpPr/>
          <p:nvPr/>
        </p:nvSpPr>
        <p:spPr>
          <a:xfrm>
            <a:off x="464508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SPRINT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REVIEW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Text 29"/>
          <p:cNvSpPr/>
          <p:nvPr/>
        </p:nvSpPr>
        <p:spPr>
          <a:xfrm>
            <a:off x="473652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Demo working software to stakeholders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Shape 30"/>
          <p:cNvSpPr/>
          <p:nvPr/>
        </p:nvSpPr>
        <p:spPr>
          <a:xfrm>
            <a:off x="7369920" y="1847160"/>
            <a:ext cx="200880" cy="145800"/>
          </a:xfrm>
          <a:prstGeom prst="rect">
            <a:avLst/>
          </a:prstGeom>
          <a:solidFill>
            <a:srgbClr val="607d8b"/>
          </a:solidFill>
          <a:ln w="12700">
            <a:solidFill>
              <a:srgbClr val="607d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31"/>
          <p:cNvSpPr/>
          <p:nvPr/>
        </p:nvSpPr>
        <p:spPr>
          <a:xfrm>
            <a:off x="6272640" y="868680"/>
            <a:ext cx="959760" cy="959760"/>
          </a:xfrm>
          <a:prstGeom prst="ellipse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Text 32"/>
          <p:cNvSpPr/>
          <p:nvPr/>
        </p:nvSpPr>
        <p:spPr>
          <a:xfrm>
            <a:off x="627264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🔄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3"/>
          <p:cNvSpPr/>
          <p:nvPr/>
        </p:nvSpPr>
        <p:spPr>
          <a:xfrm>
            <a:off x="610812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6c348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34"/>
          <p:cNvSpPr/>
          <p:nvPr/>
        </p:nvSpPr>
        <p:spPr>
          <a:xfrm>
            <a:off x="6108120" y="1920240"/>
            <a:ext cx="1416960" cy="50256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Text 35"/>
          <p:cNvSpPr/>
          <p:nvPr/>
        </p:nvSpPr>
        <p:spPr>
          <a:xfrm>
            <a:off x="610812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RETRO-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SPECTIVE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36"/>
          <p:cNvSpPr/>
          <p:nvPr/>
        </p:nvSpPr>
        <p:spPr>
          <a:xfrm>
            <a:off x="619956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Inspect &amp; improve the process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37"/>
          <p:cNvSpPr/>
          <p:nvPr/>
        </p:nvSpPr>
        <p:spPr>
          <a:xfrm>
            <a:off x="7735680" y="868680"/>
            <a:ext cx="959760" cy="9597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38"/>
          <p:cNvSpPr/>
          <p:nvPr/>
        </p:nvSpPr>
        <p:spPr>
          <a:xfrm>
            <a:off x="7735680" y="868680"/>
            <a:ext cx="959760" cy="95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✅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39"/>
          <p:cNvSpPr/>
          <p:nvPr/>
        </p:nvSpPr>
        <p:spPr>
          <a:xfrm>
            <a:off x="7571160" y="1920240"/>
            <a:ext cx="1416960" cy="2907360"/>
          </a:xfrm>
          <a:prstGeom prst="rect">
            <a:avLst/>
          </a:prstGeom>
          <a:solidFill>
            <a:srgbClr val="182535"/>
          </a:solidFill>
          <a:ln w="19050">
            <a:solidFill>
              <a:srgbClr val="02c39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Shape 40"/>
          <p:cNvSpPr/>
          <p:nvPr/>
        </p:nvSpPr>
        <p:spPr>
          <a:xfrm>
            <a:off x="7571160" y="1920240"/>
            <a:ext cx="1416960" cy="5025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Text 41"/>
          <p:cNvSpPr/>
          <p:nvPr/>
        </p:nvSpPr>
        <p:spPr>
          <a:xfrm>
            <a:off x="7571160" y="1920240"/>
            <a:ext cx="1416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PRODUCT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a1628"/>
                </a:solidFill>
                <a:latin typeface="Calibri"/>
              </a:rPr>
              <a:t>INCREMENT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42"/>
          <p:cNvSpPr/>
          <p:nvPr/>
        </p:nvSpPr>
        <p:spPr>
          <a:xfrm>
            <a:off x="7662600" y="2487240"/>
            <a:ext cx="1234080" cy="226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0f7f9"/>
                </a:solidFill>
                <a:latin typeface="Calibri"/>
              </a:rPr>
              <a:t>Potentially shippable product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THE 5 SCRUM VALUES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365760" y="850320"/>
            <a:ext cx="841212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028090"/>
                </a:solidFill>
                <a:latin typeface="Calibri"/>
              </a:rPr>
              <a:t>These values give direction to the Scrum Team with regard to their work, actions, and behavior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1371600" y="1298520"/>
            <a:ext cx="2742840" cy="1755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28090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1371600" y="1298520"/>
            <a:ext cx="2742840" cy="548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1371600" y="129852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💪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COMMITMENT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508760" y="1920240"/>
            <a:ext cx="24685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The Scrum Team commits to achieving its goals and to supporting each other. Primary focus is on the work of the sprint.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5212080" y="1298520"/>
            <a:ext cx="2742840" cy="17553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5212080" y="1298520"/>
            <a:ext cx="2742840" cy="548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5212080" y="129852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🎯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FOCUS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10"/>
          <p:cNvSpPr/>
          <p:nvPr/>
        </p:nvSpPr>
        <p:spPr>
          <a:xfrm>
            <a:off x="5349240" y="1920240"/>
            <a:ext cx="24685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Everyone focuses on the work of the sprint and the sprint goals, avoiding distractions and multitasking.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11"/>
          <p:cNvSpPr/>
          <p:nvPr/>
        </p:nvSpPr>
        <p:spPr>
          <a:xfrm>
            <a:off x="320040" y="2834640"/>
            <a:ext cx="2742840" cy="175536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320040" y="2834640"/>
            <a:ext cx="2742840" cy="5482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320040" y="283464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🔓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OPENNESS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457200" y="3456360"/>
            <a:ext cx="24685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The Scrum Team is open about all work and challenges. Transparency is maintained with the team and all stakeholders.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5"/>
          <p:cNvSpPr/>
          <p:nvPr/>
        </p:nvSpPr>
        <p:spPr>
          <a:xfrm>
            <a:off x="3337560" y="2834640"/>
            <a:ext cx="2742840" cy="1755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e8449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16"/>
          <p:cNvSpPr/>
          <p:nvPr/>
        </p:nvSpPr>
        <p:spPr>
          <a:xfrm>
            <a:off x="3337560" y="2834640"/>
            <a:ext cx="2742840" cy="548280"/>
          </a:xfrm>
          <a:prstGeom prst="rect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17"/>
          <p:cNvSpPr/>
          <p:nvPr/>
        </p:nvSpPr>
        <p:spPr>
          <a:xfrm>
            <a:off x="3337560" y="283464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🤝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RESPECT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18"/>
          <p:cNvSpPr/>
          <p:nvPr/>
        </p:nvSpPr>
        <p:spPr>
          <a:xfrm>
            <a:off x="3474720" y="3456360"/>
            <a:ext cx="24685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Team members respect each other as capable, independent people and are respected by those with whom they work.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6355080" y="2834640"/>
            <a:ext cx="2742840" cy="1755360"/>
          </a:xfrm>
          <a:prstGeom prst="rect">
            <a:avLst/>
          </a:prstGeom>
          <a:solidFill>
            <a:srgbClr val="ffffff"/>
          </a:solidFill>
          <a:ln w="25400">
            <a:solidFill>
              <a:srgbClr val="6c348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20"/>
          <p:cNvSpPr/>
          <p:nvPr/>
        </p:nvSpPr>
        <p:spPr>
          <a:xfrm>
            <a:off x="6355080" y="2834640"/>
            <a:ext cx="2742840" cy="54828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21"/>
          <p:cNvSpPr/>
          <p:nvPr/>
        </p:nvSpPr>
        <p:spPr>
          <a:xfrm>
            <a:off x="6355080" y="2834640"/>
            <a:ext cx="2742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🦁  </a:t>
            </a:r>
            <a:r>
              <a:rPr b="1" lang="en-US" sz="1400" spc="-1" strike="noStrike">
                <a:solidFill>
                  <a:srgbClr val="ffffff"/>
                </a:solidFill>
                <a:latin typeface="Calibri"/>
              </a:rPr>
              <a:t>COURAGE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22"/>
          <p:cNvSpPr/>
          <p:nvPr/>
        </p:nvSpPr>
        <p:spPr>
          <a:xfrm>
            <a:off x="6492240" y="3456360"/>
            <a:ext cx="2468520" cy="104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Team members have the courage to do the right thing and work on tough problems — even when it's difficult.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199" strike="noStrike">
                <a:solidFill>
                  <a:srgbClr val="ffffff"/>
                </a:solidFill>
                <a:latin typeface="Calibri"/>
              </a:rPr>
              <a:t>THE 3 PILLARS OF SCRUM (EMPIRICISM)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Shape 2"/>
          <p:cNvSpPr/>
          <p:nvPr/>
        </p:nvSpPr>
        <p:spPr>
          <a:xfrm>
            <a:off x="868680" y="960120"/>
            <a:ext cx="1691280" cy="16912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868680" y="960120"/>
            <a:ext cx="16912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</a:rPr>
              <a:t>👁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Shape 4"/>
          <p:cNvSpPr/>
          <p:nvPr/>
        </p:nvSpPr>
        <p:spPr>
          <a:xfrm>
            <a:off x="365760" y="2743200"/>
            <a:ext cx="2742840" cy="2084400"/>
          </a:xfrm>
          <a:prstGeom prst="rect">
            <a:avLst/>
          </a:prstGeom>
          <a:solidFill>
            <a:srgbClr val="182535"/>
          </a:solidFill>
          <a:ln w="25400">
            <a:solidFill>
              <a:srgbClr val="00a896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Shape 5"/>
          <p:cNvSpPr/>
          <p:nvPr/>
        </p:nvSpPr>
        <p:spPr>
          <a:xfrm>
            <a:off x="365760" y="2743200"/>
            <a:ext cx="2742840" cy="475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365760" y="2743200"/>
            <a:ext cx="2742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</a:rPr>
              <a:t>TRANSPARENCY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Text 7"/>
          <p:cNvSpPr/>
          <p:nvPr/>
        </p:nvSpPr>
        <p:spPr>
          <a:xfrm>
            <a:off x="475560" y="3273480"/>
            <a:ext cx="25232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All work is visible to everyone on the team. The backlog, sprint progress, and blockers are shared openly with all stakeholders.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Shape 8"/>
          <p:cNvSpPr/>
          <p:nvPr/>
        </p:nvSpPr>
        <p:spPr>
          <a:xfrm>
            <a:off x="475560" y="4069080"/>
            <a:ext cx="164160" cy="164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9"/>
          <p:cNvSpPr/>
          <p:nvPr/>
        </p:nvSpPr>
        <p:spPr>
          <a:xfrm>
            <a:off x="704160" y="404172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Sprint board visible to all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10"/>
          <p:cNvSpPr/>
          <p:nvPr/>
        </p:nvSpPr>
        <p:spPr>
          <a:xfrm>
            <a:off x="475560" y="4270320"/>
            <a:ext cx="164160" cy="164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11"/>
          <p:cNvSpPr/>
          <p:nvPr/>
        </p:nvSpPr>
        <p:spPr>
          <a:xfrm>
            <a:off x="704160" y="424296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Blockers surfaced immediately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Shape 12"/>
          <p:cNvSpPr/>
          <p:nvPr/>
        </p:nvSpPr>
        <p:spPr>
          <a:xfrm>
            <a:off x="475560" y="4471560"/>
            <a:ext cx="164160" cy="164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13"/>
          <p:cNvSpPr/>
          <p:nvPr/>
        </p:nvSpPr>
        <p:spPr>
          <a:xfrm>
            <a:off x="704160" y="4443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Progress tracked openly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Shape 14"/>
          <p:cNvSpPr/>
          <p:nvPr/>
        </p:nvSpPr>
        <p:spPr>
          <a:xfrm>
            <a:off x="475560" y="4672440"/>
            <a:ext cx="164160" cy="1641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15"/>
          <p:cNvSpPr/>
          <p:nvPr/>
        </p:nvSpPr>
        <p:spPr>
          <a:xfrm>
            <a:off x="704160" y="464508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No hidden work or plans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Shape 16"/>
          <p:cNvSpPr/>
          <p:nvPr/>
        </p:nvSpPr>
        <p:spPr>
          <a:xfrm>
            <a:off x="3749040" y="960120"/>
            <a:ext cx="1691280" cy="16912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 17"/>
          <p:cNvSpPr/>
          <p:nvPr/>
        </p:nvSpPr>
        <p:spPr>
          <a:xfrm>
            <a:off x="3749040" y="960120"/>
            <a:ext cx="16912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</a:rPr>
              <a:t>🔎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Shape 18"/>
          <p:cNvSpPr/>
          <p:nvPr/>
        </p:nvSpPr>
        <p:spPr>
          <a:xfrm>
            <a:off x="3246120" y="2743200"/>
            <a:ext cx="2742840" cy="2084400"/>
          </a:xfrm>
          <a:prstGeom prst="rect">
            <a:avLst/>
          </a:prstGeom>
          <a:solidFill>
            <a:srgbClr val="182535"/>
          </a:solidFill>
          <a:ln w="25400">
            <a:solidFill>
              <a:srgbClr val="f5a623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Shape 19"/>
          <p:cNvSpPr/>
          <p:nvPr/>
        </p:nvSpPr>
        <p:spPr>
          <a:xfrm>
            <a:off x="3246120" y="2743200"/>
            <a:ext cx="2742840" cy="475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20"/>
          <p:cNvSpPr/>
          <p:nvPr/>
        </p:nvSpPr>
        <p:spPr>
          <a:xfrm>
            <a:off x="3246120" y="2743200"/>
            <a:ext cx="2742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</a:rPr>
              <a:t>INSPECTION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Text 21"/>
          <p:cNvSpPr/>
          <p:nvPr/>
        </p:nvSpPr>
        <p:spPr>
          <a:xfrm>
            <a:off x="3355920" y="3273480"/>
            <a:ext cx="25232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Teams regularly check progress toward the sprint goal and product vision. Scrum provides cadence through its 5 events to enable inspection.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Shape 22"/>
          <p:cNvSpPr/>
          <p:nvPr/>
        </p:nvSpPr>
        <p:spPr>
          <a:xfrm>
            <a:off x="3355920" y="4069080"/>
            <a:ext cx="164160" cy="164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 23"/>
          <p:cNvSpPr/>
          <p:nvPr/>
        </p:nvSpPr>
        <p:spPr>
          <a:xfrm>
            <a:off x="3584520" y="404172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Daily Scrum checks progress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Shape 24"/>
          <p:cNvSpPr/>
          <p:nvPr/>
        </p:nvSpPr>
        <p:spPr>
          <a:xfrm>
            <a:off x="3355920" y="4270320"/>
            <a:ext cx="164160" cy="164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25"/>
          <p:cNvSpPr/>
          <p:nvPr/>
        </p:nvSpPr>
        <p:spPr>
          <a:xfrm>
            <a:off x="3584520" y="424296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Sprint Review inspects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26"/>
          <p:cNvSpPr/>
          <p:nvPr/>
        </p:nvSpPr>
        <p:spPr>
          <a:xfrm>
            <a:off x="3355920" y="4471560"/>
            <a:ext cx="164160" cy="164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 27"/>
          <p:cNvSpPr/>
          <p:nvPr/>
        </p:nvSpPr>
        <p:spPr>
          <a:xfrm>
            <a:off x="3584520" y="4443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Retrospective inspects process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Shape 28"/>
          <p:cNvSpPr/>
          <p:nvPr/>
        </p:nvSpPr>
        <p:spPr>
          <a:xfrm>
            <a:off x="3355920" y="4672440"/>
            <a:ext cx="164160" cy="1641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29"/>
          <p:cNvSpPr/>
          <p:nvPr/>
        </p:nvSpPr>
        <p:spPr>
          <a:xfrm>
            <a:off x="3584520" y="464508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Frequent artifact review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" name="Shape 30"/>
          <p:cNvSpPr/>
          <p:nvPr/>
        </p:nvSpPr>
        <p:spPr>
          <a:xfrm>
            <a:off x="6629400" y="960120"/>
            <a:ext cx="1691280" cy="16912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 31"/>
          <p:cNvSpPr/>
          <p:nvPr/>
        </p:nvSpPr>
        <p:spPr>
          <a:xfrm>
            <a:off x="6629400" y="960120"/>
            <a:ext cx="1691280" cy="169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3600" spc="-1" strike="noStrike">
                <a:solidFill>
                  <a:srgbClr val="000000"/>
                </a:solidFill>
                <a:latin typeface="Calibri"/>
              </a:rPr>
              <a:t>🔧</a:t>
            </a:r>
            <a:endParaRPr b="0" lang="en-US" sz="3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9" name="Shape 32"/>
          <p:cNvSpPr/>
          <p:nvPr/>
        </p:nvSpPr>
        <p:spPr>
          <a:xfrm>
            <a:off x="6126480" y="2743200"/>
            <a:ext cx="2742840" cy="2084400"/>
          </a:xfrm>
          <a:prstGeom prst="rect">
            <a:avLst/>
          </a:prstGeom>
          <a:solidFill>
            <a:srgbClr val="182535"/>
          </a:solidFill>
          <a:ln w="25400">
            <a:solidFill>
              <a:srgbClr val="02c39a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Shape 33"/>
          <p:cNvSpPr/>
          <p:nvPr/>
        </p:nvSpPr>
        <p:spPr>
          <a:xfrm>
            <a:off x="6126480" y="2743200"/>
            <a:ext cx="2742840" cy="475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1" name="Text 34"/>
          <p:cNvSpPr/>
          <p:nvPr/>
        </p:nvSpPr>
        <p:spPr>
          <a:xfrm>
            <a:off x="6126480" y="2743200"/>
            <a:ext cx="27428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a1628"/>
                </a:solidFill>
                <a:latin typeface="Calibri"/>
              </a:rPr>
              <a:t>ADAPTATION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Text 35"/>
          <p:cNvSpPr/>
          <p:nvPr/>
        </p:nvSpPr>
        <p:spPr>
          <a:xfrm>
            <a:off x="6236280" y="3273480"/>
            <a:ext cx="252324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When inspection reveals a problem or better approach, teams adjust immediately rather than waiting for a phase gate or end-of-project review.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36"/>
          <p:cNvSpPr/>
          <p:nvPr/>
        </p:nvSpPr>
        <p:spPr>
          <a:xfrm>
            <a:off x="6236280" y="4069080"/>
            <a:ext cx="164160" cy="1641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Text 37"/>
          <p:cNvSpPr/>
          <p:nvPr/>
        </p:nvSpPr>
        <p:spPr>
          <a:xfrm>
            <a:off x="6464880" y="404172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Sprint backlog updated daily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Shape 38"/>
          <p:cNvSpPr/>
          <p:nvPr/>
        </p:nvSpPr>
        <p:spPr>
          <a:xfrm>
            <a:off x="6236280" y="4270320"/>
            <a:ext cx="164160" cy="1641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39"/>
          <p:cNvSpPr/>
          <p:nvPr/>
        </p:nvSpPr>
        <p:spPr>
          <a:xfrm>
            <a:off x="6464880" y="424296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Backlog reprioritized continuously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7" name="Shape 40"/>
          <p:cNvSpPr/>
          <p:nvPr/>
        </p:nvSpPr>
        <p:spPr>
          <a:xfrm>
            <a:off x="6236280" y="4471560"/>
            <a:ext cx="164160" cy="1641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8" name="Text 41"/>
          <p:cNvSpPr/>
          <p:nvPr/>
        </p:nvSpPr>
        <p:spPr>
          <a:xfrm>
            <a:off x="6464880" y="444384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Process improved each sprint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Shape 42"/>
          <p:cNvSpPr/>
          <p:nvPr/>
        </p:nvSpPr>
        <p:spPr>
          <a:xfrm>
            <a:off x="6236280" y="4672440"/>
            <a:ext cx="164160" cy="1641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 43"/>
          <p:cNvSpPr/>
          <p:nvPr/>
        </p:nvSpPr>
        <p:spPr>
          <a:xfrm>
            <a:off x="6464880" y="4645080"/>
            <a:ext cx="2285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0f7f9"/>
                </a:solidFill>
                <a:latin typeface="Calibri"/>
              </a:rPr>
              <a:t>Team pivots when needed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2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SCRUM vs. KANBAN vs. AGILE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2"/>
          <p:cNvSpPr/>
          <p:nvPr/>
        </p:nvSpPr>
        <p:spPr>
          <a:xfrm>
            <a:off x="274320" y="914400"/>
            <a:ext cx="2057040" cy="4752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Text 3"/>
          <p:cNvSpPr/>
          <p:nvPr/>
        </p:nvSpPr>
        <p:spPr>
          <a:xfrm>
            <a:off x="274320" y="914400"/>
            <a:ext cx="2057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DIMENSION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4"/>
          <p:cNvSpPr/>
          <p:nvPr/>
        </p:nvSpPr>
        <p:spPr>
          <a:xfrm>
            <a:off x="2423160" y="914400"/>
            <a:ext cx="2057040" cy="475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Text 5"/>
          <p:cNvSpPr/>
          <p:nvPr/>
        </p:nvSpPr>
        <p:spPr>
          <a:xfrm>
            <a:off x="2423160" y="914400"/>
            <a:ext cx="2057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SCRUM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6"/>
          <p:cNvSpPr/>
          <p:nvPr/>
        </p:nvSpPr>
        <p:spPr>
          <a:xfrm>
            <a:off x="4572000" y="914400"/>
            <a:ext cx="2057040" cy="47520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 7"/>
          <p:cNvSpPr/>
          <p:nvPr/>
        </p:nvSpPr>
        <p:spPr>
          <a:xfrm>
            <a:off x="4572000" y="914400"/>
            <a:ext cx="2057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KANBAN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8"/>
          <p:cNvSpPr/>
          <p:nvPr/>
        </p:nvSpPr>
        <p:spPr>
          <a:xfrm>
            <a:off x="6720840" y="914400"/>
            <a:ext cx="2057040" cy="4752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0" name="Text 9"/>
          <p:cNvSpPr/>
          <p:nvPr/>
        </p:nvSpPr>
        <p:spPr>
          <a:xfrm>
            <a:off x="6720840" y="914400"/>
            <a:ext cx="2057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ffffff"/>
                </a:solidFill>
                <a:latin typeface="Calibri"/>
              </a:rPr>
              <a:t>AGILE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Shape 10"/>
          <p:cNvSpPr/>
          <p:nvPr/>
        </p:nvSpPr>
        <p:spPr>
          <a:xfrm>
            <a:off x="274320" y="14446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11"/>
          <p:cNvSpPr/>
          <p:nvPr/>
        </p:nvSpPr>
        <p:spPr>
          <a:xfrm>
            <a:off x="320040" y="14446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Type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12"/>
          <p:cNvSpPr/>
          <p:nvPr/>
        </p:nvSpPr>
        <p:spPr>
          <a:xfrm>
            <a:off x="2423160" y="14446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13"/>
          <p:cNvSpPr/>
          <p:nvPr/>
        </p:nvSpPr>
        <p:spPr>
          <a:xfrm>
            <a:off x="2468880" y="14446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Specific framework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14"/>
          <p:cNvSpPr/>
          <p:nvPr/>
        </p:nvSpPr>
        <p:spPr>
          <a:xfrm>
            <a:off x="4572000" y="14446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15"/>
          <p:cNvSpPr/>
          <p:nvPr/>
        </p:nvSpPr>
        <p:spPr>
          <a:xfrm>
            <a:off x="4617720" y="14446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Visual workflow method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16"/>
          <p:cNvSpPr/>
          <p:nvPr/>
        </p:nvSpPr>
        <p:spPr>
          <a:xfrm>
            <a:off x="6720840" y="14446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17"/>
          <p:cNvSpPr/>
          <p:nvPr/>
        </p:nvSpPr>
        <p:spPr>
          <a:xfrm>
            <a:off x="6766560" y="14446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Philosophy / mindset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18"/>
          <p:cNvSpPr/>
          <p:nvPr/>
        </p:nvSpPr>
        <p:spPr>
          <a:xfrm>
            <a:off x="274320" y="195696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9"/>
          <p:cNvSpPr/>
          <p:nvPr/>
        </p:nvSpPr>
        <p:spPr>
          <a:xfrm>
            <a:off x="320040" y="195696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Structure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20"/>
          <p:cNvSpPr/>
          <p:nvPr/>
        </p:nvSpPr>
        <p:spPr>
          <a:xfrm>
            <a:off x="2423160" y="195696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21"/>
          <p:cNvSpPr/>
          <p:nvPr/>
        </p:nvSpPr>
        <p:spPr>
          <a:xfrm>
            <a:off x="2468880" y="195696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Rigid, prescriptive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22"/>
          <p:cNvSpPr/>
          <p:nvPr/>
        </p:nvSpPr>
        <p:spPr>
          <a:xfrm>
            <a:off x="4572000" y="195696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23"/>
          <p:cNvSpPr/>
          <p:nvPr/>
        </p:nvSpPr>
        <p:spPr>
          <a:xfrm>
            <a:off x="4617720" y="195696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Flexible, continuous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24"/>
          <p:cNvSpPr/>
          <p:nvPr/>
        </p:nvSpPr>
        <p:spPr>
          <a:xfrm>
            <a:off x="6720840" y="195696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 25"/>
          <p:cNvSpPr/>
          <p:nvPr/>
        </p:nvSpPr>
        <p:spPr>
          <a:xfrm>
            <a:off x="6766560" y="195696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Broad principles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26"/>
          <p:cNvSpPr/>
          <p:nvPr/>
        </p:nvSpPr>
        <p:spPr>
          <a:xfrm>
            <a:off x="274320" y="24688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27"/>
          <p:cNvSpPr/>
          <p:nvPr/>
        </p:nvSpPr>
        <p:spPr>
          <a:xfrm>
            <a:off x="320040" y="24688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Cadence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28"/>
          <p:cNvSpPr/>
          <p:nvPr/>
        </p:nvSpPr>
        <p:spPr>
          <a:xfrm>
            <a:off x="2423160" y="24688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 29"/>
          <p:cNvSpPr/>
          <p:nvPr/>
        </p:nvSpPr>
        <p:spPr>
          <a:xfrm>
            <a:off x="2468880" y="24688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Fixed sprints (1–4wk)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30"/>
          <p:cNvSpPr/>
          <p:nvPr/>
        </p:nvSpPr>
        <p:spPr>
          <a:xfrm>
            <a:off x="4572000" y="24688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31"/>
          <p:cNvSpPr/>
          <p:nvPr/>
        </p:nvSpPr>
        <p:spPr>
          <a:xfrm>
            <a:off x="4617720" y="24688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Continuous flow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32"/>
          <p:cNvSpPr/>
          <p:nvPr/>
        </p:nvSpPr>
        <p:spPr>
          <a:xfrm>
            <a:off x="6720840" y="24688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33"/>
          <p:cNvSpPr/>
          <p:nvPr/>
        </p:nvSpPr>
        <p:spPr>
          <a:xfrm>
            <a:off x="6766560" y="24688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Team-defined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34"/>
          <p:cNvSpPr/>
          <p:nvPr/>
        </p:nvSpPr>
        <p:spPr>
          <a:xfrm>
            <a:off x="274320" y="29808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35"/>
          <p:cNvSpPr/>
          <p:nvPr/>
        </p:nvSpPr>
        <p:spPr>
          <a:xfrm>
            <a:off x="320040" y="29808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Roles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36"/>
          <p:cNvSpPr/>
          <p:nvPr/>
        </p:nvSpPr>
        <p:spPr>
          <a:xfrm>
            <a:off x="2423160" y="29808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37"/>
          <p:cNvSpPr/>
          <p:nvPr/>
        </p:nvSpPr>
        <p:spPr>
          <a:xfrm>
            <a:off x="2468880" y="29808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3 defined roles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38"/>
          <p:cNvSpPr/>
          <p:nvPr/>
        </p:nvSpPr>
        <p:spPr>
          <a:xfrm>
            <a:off x="4572000" y="29808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 39"/>
          <p:cNvSpPr/>
          <p:nvPr/>
        </p:nvSpPr>
        <p:spPr>
          <a:xfrm>
            <a:off x="4617720" y="29808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No required roles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40"/>
          <p:cNvSpPr/>
          <p:nvPr/>
        </p:nvSpPr>
        <p:spPr>
          <a:xfrm>
            <a:off x="6720840" y="29808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41"/>
          <p:cNvSpPr/>
          <p:nvPr/>
        </p:nvSpPr>
        <p:spPr>
          <a:xfrm>
            <a:off x="6766560" y="29808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No mandated roles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42"/>
          <p:cNvSpPr/>
          <p:nvPr/>
        </p:nvSpPr>
        <p:spPr>
          <a:xfrm>
            <a:off x="274320" y="34930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43"/>
          <p:cNvSpPr/>
          <p:nvPr/>
        </p:nvSpPr>
        <p:spPr>
          <a:xfrm>
            <a:off x="320040" y="34930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Ceremonies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44"/>
          <p:cNvSpPr/>
          <p:nvPr/>
        </p:nvSpPr>
        <p:spPr>
          <a:xfrm>
            <a:off x="2423160" y="34930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45"/>
          <p:cNvSpPr/>
          <p:nvPr/>
        </p:nvSpPr>
        <p:spPr>
          <a:xfrm>
            <a:off x="2468880" y="34930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5 formal events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46"/>
          <p:cNvSpPr/>
          <p:nvPr/>
        </p:nvSpPr>
        <p:spPr>
          <a:xfrm>
            <a:off x="4572000" y="34930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 47"/>
          <p:cNvSpPr/>
          <p:nvPr/>
        </p:nvSpPr>
        <p:spPr>
          <a:xfrm>
            <a:off x="4617720" y="34930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Optional meetings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48"/>
          <p:cNvSpPr/>
          <p:nvPr/>
        </p:nvSpPr>
        <p:spPr>
          <a:xfrm>
            <a:off x="6720840" y="34930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49"/>
          <p:cNvSpPr/>
          <p:nvPr/>
        </p:nvSpPr>
        <p:spPr>
          <a:xfrm>
            <a:off x="6766560" y="34930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No set meetings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50"/>
          <p:cNvSpPr/>
          <p:nvPr/>
        </p:nvSpPr>
        <p:spPr>
          <a:xfrm>
            <a:off x="274320" y="40050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 51"/>
          <p:cNvSpPr/>
          <p:nvPr/>
        </p:nvSpPr>
        <p:spPr>
          <a:xfrm>
            <a:off x="320040" y="40050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Best For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52"/>
          <p:cNvSpPr/>
          <p:nvPr/>
        </p:nvSpPr>
        <p:spPr>
          <a:xfrm>
            <a:off x="2423160" y="40050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53"/>
          <p:cNvSpPr/>
          <p:nvPr/>
        </p:nvSpPr>
        <p:spPr>
          <a:xfrm>
            <a:off x="2468880" y="40050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Complex dev projects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54"/>
          <p:cNvSpPr/>
          <p:nvPr/>
        </p:nvSpPr>
        <p:spPr>
          <a:xfrm>
            <a:off x="4572000" y="40050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55"/>
          <p:cNvSpPr/>
          <p:nvPr/>
        </p:nvSpPr>
        <p:spPr>
          <a:xfrm>
            <a:off x="4617720" y="40050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Ops/support workflows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56"/>
          <p:cNvSpPr/>
          <p:nvPr/>
        </p:nvSpPr>
        <p:spPr>
          <a:xfrm>
            <a:off x="6720840" y="4005000"/>
            <a:ext cx="2057040" cy="475200"/>
          </a:xfrm>
          <a:prstGeom prst="rect">
            <a:avLst/>
          </a:prstGeom>
          <a:solidFill>
            <a:srgbClr val="f0f7f9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57"/>
          <p:cNvSpPr/>
          <p:nvPr/>
        </p:nvSpPr>
        <p:spPr>
          <a:xfrm>
            <a:off x="6766560" y="400500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Any agile adoption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58"/>
          <p:cNvSpPr/>
          <p:nvPr/>
        </p:nvSpPr>
        <p:spPr>
          <a:xfrm>
            <a:off x="274320" y="45172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59"/>
          <p:cNvSpPr/>
          <p:nvPr/>
        </p:nvSpPr>
        <p:spPr>
          <a:xfrm>
            <a:off x="320040" y="45172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0a1628"/>
                </a:solidFill>
                <a:latin typeface="Calibri"/>
              </a:rPr>
              <a:t>Change Mgmt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60"/>
          <p:cNvSpPr/>
          <p:nvPr/>
        </p:nvSpPr>
        <p:spPr>
          <a:xfrm>
            <a:off x="2423160" y="45172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61"/>
          <p:cNvSpPr/>
          <p:nvPr/>
        </p:nvSpPr>
        <p:spPr>
          <a:xfrm>
            <a:off x="2468880" y="45172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Between sprints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62"/>
          <p:cNvSpPr/>
          <p:nvPr/>
        </p:nvSpPr>
        <p:spPr>
          <a:xfrm>
            <a:off x="4572000" y="45172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63"/>
          <p:cNvSpPr/>
          <p:nvPr/>
        </p:nvSpPr>
        <p:spPr>
          <a:xfrm>
            <a:off x="4617720" y="45172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Anytime (WIP limits)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64"/>
          <p:cNvSpPr/>
          <p:nvPr/>
        </p:nvSpPr>
        <p:spPr>
          <a:xfrm>
            <a:off x="6720840" y="4517280"/>
            <a:ext cx="2057040" cy="475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e8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Text 65"/>
          <p:cNvSpPr/>
          <p:nvPr/>
        </p:nvSpPr>
        <p:spPr>
          <a:xfrm>
            <a:off x="6766560" y="4517280"/>
            <a:ext cx="19656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2d4a5a"/>
                </a:solidFill>
                <a:latin typeface="Calibri"/>
              </a:rPr>
              <a:t>Continuous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8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199" strike="noStrike">
                <a:solidFill>
                  <a:srgbClr val="ffffff"/>
                </a:solidFill>
                <a:latin typeface="Calibri"/>
              </a:rPr>
              <a:t>COMMON SCRUM MISTAKES TO AVOID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2"/>
          <p:cNvSpPr/>
          <p:nvPr/>
        </p:nvSpPr>
        <p:spPr>
          <a:xfrm>
            <a:off x="274320" y="96012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Shape 3"/>
          <p:cNvSpPr/>
          <p:nvPr/>
        </p:nvSpPr>
        <p:spPr>
          <a:xfrm>
            <a:off x="274320" y="96012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4"/>
          <p:cNvSpPr/>
          <p:nvPr/>
        </p:nvSpPr>
        <p:spPr>
          <a:xfrm>
            <a:off x="274320" y="96012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❌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Text 5"/>
          <p:cNvSpPr/>
          <p:nvPr/>
        </p:nvSpPr>
        <p:spPr>
          <a:xfrm>
            <a:off x="1024200" y="103320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Unclear or overlapping roles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6"/>
          <p:cNvSpPr/>
          <p:nvPr/>
        </p:nvSpPr>
        <p:spPr>
          <a:xfrm>
            <a:off x="1024200" y="141732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Each role must be distinct: PO owns WHAT, SM owns HOW to work, Dev owns HOW to build. Never combine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Shape 7"/>
          <p:cNvSpPr/>
          <p:nvPr/>
        </p:nvSpPr>
        <p:spPr>
          <a:xfrm>
            <a:off x="4754880" y="96012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5" name="Shape 8"/>
          <p:cNvSpPr/>
          <p:nvPr/>
        </p:nvSpPr>
        <p:spPr>
          <a:xfrm>
            <a:off x="4754880" y="96012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9"/>
          <p:cNvSpPr/>
          <p:nvPr/>
        </p:nvSpPr>
        <p:spPr>
          <a:xfrm>
            <a:off x="4754880" y="96012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⏭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7" name="Text 10"/>
          <p:cNvSpPr/>
          <p:nvPr/>
        </p:nvSpPr>
        <p:spPr>
          <a:xfrm>
            <a:off x="5504760" y="103320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Skipping ceremonies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11"/>
          <p:cNvSpPr/>
          <p:nvPr/>
        </p:nvSpPr>
        <p:spPr>
          <a:xfrm>
            <a:off x="5504760" y="141732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All 5 events are essential. Skipping retrospectives means teams repeat mistakes every single sprint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Shape 12"/>
          <p:cNvSpPr/>
          <p:nvPr/>
        </p:nvSpPr>
        <p:spPr>
          <a:xfrm>
            <a:off x="274320" y="231336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Shape 13"/>
          <p:cNvSpPr/>
          <p:nvPr/>
        </p:nvSpPr>
        <p:spPr>
          <a:xfrm>
            <a:off x="274320" y="231336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 14"/>
          <p:cNvSpPr/>
          <p:nvPr/>
        </p:nvSpPr>
        <p:spPr>
          <a:xfrm>
            <a:off x="274320" y="231336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📦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 15"/>
          <p:cNvSpPr/>
          <p:nvPr/>
        </p:nvSpPr>
        <p:spPr>
          <a:xfrm>
            <a:off x="1024200" y="238644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Overcommitting in sprints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ext 16"/>
          <p:cNvSpPr/>
          <p:nvPr/>
        </p:nvSpPr>
        <p:spPr>
          <a:xfrm>
            <a:off x="1024200" y="277056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Use previous velocity data to plan realistically. Incomplete items damage team morale and predictability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Shape 17"/>
          <p:cNvSpPr/>
          <p:nvPr/>
        </p:nvSpPr>
        <p:spPr>
          <a:xfrm>
            <a:off x="4754880" y="231336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Shape 18"/>
          <p:cNvSpPr/>
          <p:nvPr/>
        </p:nvSpPr>
        <p:spPr>
          <a:xfrm>
            <a:off x="4754880" y="231336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19"/>
          <p:cNvSpPr/>
          <p:nvPr/>
        </p:nvSpPr>
        <p:spPr>
          <a:xfrm>
            <a:off x="4754880" y="231336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🚫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Text 20"/>
          <p:cNvSpPr/>
          <p:nvPr/>
        </p:nvSpPr>
        <p:spPr>
          <a:xfrm>
            <a:off x="5504760" y="238644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Not adapting based on feedback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 21"/>
          <p:cNvSpPr/>
          <p:nvPr/>
        </p:nvSpPr>
        <p:spPr>
          <a:xfrm>
            <a:off x="5504760" y="277056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Scrum exists to enable adaptation. If teams ignore review feedback, they're doing waterfall with sprints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Shape 22"/>
          <p:cNvSpPr/>
          <p:nvPr/>
        </p:nvSpPr>
        <p:spPr>
          <a:xfrm>
            <a:off x="274320" y="366660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Shape 23"/>
          <p:cNvSpPr/>
          <p:nvPr/>
        </p:nvSpPr>
        <p:spPr>
          <a:xfrm>
            <a:off x="274320" y="366660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1" name="Text 24"/>
          <p:cNvSpPr/>
          <p:nvPr/>
        </p:nvSpPr>
        <p:spPr>
          <a:xfrm>
            <a:off x="274320" y="366660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📏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 25"/>
          <p:cNvSpPr/>
          <p:nvPr/>
        </p:nvSpPr>
        <p:spPr>
          <a:xfrm>
            <a:off x="1024200" y="374004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'Almost done' counted as done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3" name="Text 26"/>
          <p:cNvSpPr/>
          <p:nvPr/>
        </p:nvSpPr>
        <p:spPr>
          <a:xfrm>
            <a:off x="1024200" y="412380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The only measure of progress is a working increment meeting the Definition of Done — no partial credit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4" name="Shape 27"/>
          <p:cNvSpPr/>
          <p:nvPr/>
        </p:nvSpPr>
        <p:spPr>
          <a:xfrm>
            <a:off x="4754880" y="3666600"/>
            <a:ext cx="4205880" cy="1215720"/>
          </a:xfrm>
          <a:prstGeom prst="rect">
            <a:avLst/>
          </a:prstGeom>
          <a:solidFill>
            <a:srgbClr val="1a2535"/>
          </a:solidFill>
          <a:ln w="12700">
            <a:solidFill>
              <a:srgbClr val="e74c3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5" name="Shape 28"/>
          <p:cNvSpPr/>
          <p:nvPr/>
        </p:nvSpPr>
        <p:spPr>
          <a:xfrm>
            <a:off x="4754880" y="3666600"/>
            <a:ext cx="658080" cy="12157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Text 29"/>
          <p:cNvSpPr/>
          <p:nvPr/>
        </p:nvSpPr>
        <p:spPr>
          <a:xfrm>
            <a:off x="4754880" y="3666600"/>
            <a:ext cx="65808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200" spc="-1" strike="noStrike">
                <a:solidFill>
                  <a:srgbClr val="000000"/>
                </a:solidFill>
                <a:latin typeface="Calibri"/>
              </a:rPr>
              <a:t>🔀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7" name="Text 30"/>
          <p:cNvSpPr/>
          <p:nvPr/>
        </p:nvSpPr>
        <p:spPr>
          <a:xfrm>
            <a:off x="5504760" y="3740040"/>
            <a:ext cx="33372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✗ </a:t>
            </a:r>
            <a:r>
              <a:rPr b="1" lang="en-US" sz="1150" spc="-1" strike="noStrike">
                <a:solidFill>
                  <a:srgbClr val="e74c3c"/>
                </a:solidFill>
                <a:latin typeface="Calibri"/>
              </a:rPr>
              <a:t>Changing sprint scope mid-sprint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31"/>
          <p:cNvSpPr/>
          <p:nvPr/>
        </p:nvSpPr>
        <p:spPr>
          <a:xfrm>
            <a:off x="5504760" y="4123800"/>
            <a:ext cx="33372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✓ </a:t>
            </a:r>
            <a:r>
              <a:rPr b="0" lang="en-US" sz="1050" spc="-1" strike="noStrike">
                <a:solidFill>
                  <a:srgbClr val="f0f7f9"/>
                </a:solidFill>
                <a:latin typeface="Calibri"/>
              </a:rPr>
              <a:t>Frequent scope changes signal that work wasn't understood well enough during sprint planning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0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SCRUM METRICS &amp; TOOLS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"/>
          <p:cNvSpPr/>
          <p:nvPr/>
        </p:nvSpPr>
        <p:spPr>
          <a:xfrm>
            <a:off x="274320" y="914400"/>
            <a:ext cx="4205880" cy="391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3"/>
          <p:cNvSpPr/>
          <p:nvPr/>
        </p:nvSpPr>
        <p:spPr>
          <a:xfrm>
            <a:off x="274320" y="914400"/>
            <a:ext cx="4205880" cy="502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3" name="Text 4"/>
          <p:cNvSpPr/>
          <p:nvPr/>
        </p:nvSpPr>
        <p:spPr>
          <a:xfrm>
            <a:off x="274320" y="9144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📊  </a:t>
            </a:r>
            <a:r>
              <a:rPr b="1" lang="en-US" sz="1300" spc="-1" strike="noStrike">
                <a:solidFill>
                  <a:srgbClr val="ffffff"/>
                </a:solidFill>
                <a:latin typeface="Calibri"/>
              </a:rPr>
              <a:t>KEY SCRUM METRICS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5"/>
          <p:cNvSpPr/>
          <p:nvPr/>
        </p:nvSpPr>
        <p:spPr>
          <a:xfrm>
            <a:off x="438840" y="159120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5" name="Text 6"/>
          <p:cNvSpPr/>
          <p:nvPr/>
        </p:nvSpPr>
        <p:spPr>
          <a:xfrm>
            <a:off x="822960" y="15177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Velocity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 7"/>
          <p:cNvSpPr/>
          <p:nvPr/>
        </p:nvSpPr>
        <p:spPr>
          <a:xfrm>
            <a:off x="822960" y="17830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Story points completed per sprint — used to plan future sprints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8"/>
          <p:cNvSpPr/>
          <p:nvPr/>
        </p:nvSpPr>
        <p:spPr>
          <a:xfrm>
            <a:off x="438840" y="213984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 9"/>
          <p:cNvSpPr/>
          <p:nvPr/>
        </p:nvSpPr>
        <p:spPr>
          <a:xfrm>
            <a:off x="822960" y="206640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Burndown Chart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 10"/>
          <p:cNvSpPr/>
          <p:nvPr/>
        </p:nvSpPr>
        <p:spPr>
          <a:xfrm>
            <a:off x="822960" y="233172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Shows remaining work vs. time. Tracks sprint progress daily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11"/>
          <p:cNvSpPr/>
          <p:nvPr/>
        </p:nvSpPr>
        <p:spPr>
          <a:xfrm>
            <a:off x="438840" y="268848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Text 12"/>
          <p:cNvSpPr/>
          <p:nvPr/>
        </p:nvSpPr>
        <p:spPr>
          <a:xfrm>
            <a:off x="822960" y="26150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Sprint Goal Hit Rate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 13"/>
          <p:cNvSpPr/>
          <p:nvPr/>
        </p:nvSpPr>
        <p:spPr>
          <a:xfrm>
            <a:off x="822960" y="288036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% of sprints where the sprint goal was fully achieved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14"/>
          <p:cNvSpPr/>
          <p:nvPr/>
        </p:nvSpPr>
        <p:spPr>
          <a:xfrm>
            <a:off x="438840" y="323712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 15"/>
          <p:cNvSpPr/>
          <p:nvPr/>
        </p:nvSpPr>
        <p:spPr>
          <a:xfrm>
            <a:off x="822960" y="316368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Lead Time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 16"/>
          <p:cNvSpPr/>
          <p:nvPr/>
        </p:nvSpPr>
        <p:spPr>
          <a:xfrm>
            <a:off x="822960" y="342900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Time from backlog item creation to delivery to stakeholders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17"/>
          <p:cNvSpPr/>
          <p:nvPr/>
        </p:nvSpPr>
        <p:spPr>
          <a:xfrm>
            <a:off x="438840" y="378576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18"/>
          <p:cNvSpPr/>
          <p:nvPr/>
        </p:nvSpPr>
        <p:spPr>
          <a:xfrm>
            <a:off x="822960" y="3712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Cycle Time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19"/>
          <p:cNvSpPr/>
          <p:nvPr/>
        </p:nvSpPr>
        <p:spPr>
          <a:xfrm>
            <a:off x="822960" y="397764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Time from work starting to the item being marked done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0"/>
          <p:cNvSpPr/>
          <p:nvPr/>
        </p:nvSpPr>
        <p:spPr>
          <a:xfrm>
            <a:off x="438840" y="4334400"/>
            <a:ext cx="292320" cy="2923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21"/>
          <p:cNvSpPr/>
          <p:nvPr/>
        </p:nvSpPr>
        <p:spPr>
          <a:xfrm>
            <a:off x="822960" y="42609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Team Happiness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22"/>
          <p:cNvSpPr/>
          <p:nvPr/>
        </p:nvSpPr>
        <p:spPr>
          <a:xfrm>
            <a:off x="822960" y="45262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Retrospective satisfaction scores — an underrated metric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23"/>
          <p:cNvSpPr/>
          <p:nvPr/>
        </p:nvSpPr>
        <p:spPr>
          <a:xfrm>
            <a:off x="4663440" y="914400"/>
            <a:ext cx="4205880" cy="391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8ec"/>
            </a:solidFill>
            <a:round/>
          </a:ln>
          <a:effectLst>
            <a:outerShdw algn="bl" blurRad="88920" dir="8100000" dist="25455" kx="0" ky="0" rotWithShape="0" sx="100000" sy="100000">
              <a:srgbClr val="000000">
                <a:alpha val="1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24"/>
          <p:cNvSpPr/>
          <p:nvPr/>
        </p:nvSpPr>
        <p:spPr>
          <a:xfrm>
            <a:off x="4663440" y="914400"/>
            <a:ext cx="4205880" cy="5025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25"/>
          <p:cNvSpPr/>
          <p:nvPr/>
        </p:nvSpPr>
        <p:spPr>
          <a:xfrm>
            <a:off x="4663440" y="914400"/>
            <a:ext cx="42058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🛠  </a:t>
            </a:r>
            <a:r>
              <a:rPr b="1" lang="en-US" sz="1300" spc="-1" strike="noStrike">
                <a:solidFill>
                  <a:srgbClr val="0a1628"/>
                </a:solidFill>
                <a:latin typeface="Calibri"/>
              </a:rPr>
              <a:t>POPULAR SCRUM TOOLS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26"/>
          <p:cNvSpPr/>
          <p:nvPr/>
        </p:nvSpPr>
        <p:spPr>
          <a:xfrm>
            <a:off x="4827960" y="159120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27"/>
          <p:cNvSpPr/>
          <p:nvPr/>
        </p:nvSpPr>
        <p:spPr>
          <a:xfrm>
            <a:off x="5212080" y="15177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Jira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28"/>
          <p:cNvSpPr/>
          <p:nvPr/>
        </p:nvSpPr>
        <p:spPr>
          <a:xfrm>
            <a:off x="5212080" y="17830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Backlog mgmt, sprint planning, boards, reports — Scrum-native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Shape 29"/>
          <p:cNvSpPr/>
          <p:nvPr/>
        </p:nvSpPr>
        <p:spPr>
          <a:xfrm>
            <a:off x="4827960" y="213984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30"/>
          <p:cNvSpPr/>
          <p:nvPr/>
        </p:nvSpPr>
        <p:spPr>
          <a:xfrm>
            <a:off x="5212080" y="206640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Confluence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31"/>
          <p:cNvSpPr/>
          <p:nvPr/>
        </p:nvSpPr>
        <p:spPr>
          <a:xfrm>
            <a:off x="5212080" y="233172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Documentation, meeting notes, retrospective templates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2"/>
          <p:cNvSpPr/>
          <p:nvPr/>
        </p:nvSpPr>
        <p:spPr>
          <a:xfrm>
            <a:off x="4827960" y="268848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33"/>
          <p:cNvSpPr/>
          <p:nvPr/>
        </p:nvSpPr>
        <p:spPr>
          <a:xfrm>
            <a:off x="5212080" y="261504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Trello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34"/>
          <p:cNvSpPr/>
          <p:nvPr/>
        </p:nvSpPr>
        <p:spPr>
          <a:xfrm>
            <a:off x="5212080" y="288036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Lightweight Kanban/Scrum boards for smaller teams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Shape 35"/>
          <p:cNvSpPr/>
          <p:nvPr/>
        </p:nvSpPr>
        <p:spPr>
          <a:xfrm>
            <a:off x="4827960" y="323712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36"/>
          <p:cNvSpPr/>
          <p:nvPr/>
        </p:nvSpPr>
        <p:spPr>
          <a:xfrm>
            <a:off x="5212080" y="316368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Azure DevOps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37"/>
          <p:cNvSpPr/>
          <p:nvPr/>
        </p:nvSpPr>
        <p:spPr>
          <a:xfrm>
            <a:off x="5212080" y="342900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Sprint planning, backlogs, and CI/CD in one platform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38"/>
          <p:cNvSpPr/>
          <p:nvPr/>
        </p:nvSpPr>
        <p:spPr>
          <a:xfrm>
            <a:off x="4827960" y="378576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39"/>
          <p:cNvSpPr/>
          <p:nvPr/>
        </p:nvSpPr>
        <p:spPr>
          <a:xfrm>
            <a:off x="5212080" y="371232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Miro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40"/>
          <p:cNvSpPr/>
          <p:nvPr/>
        </p:nvSpPr>
        <p:spPr>
          <a:xfrm>
            <a:off x="5212080" y="397764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Visual collaboration for remote retrospectives &amp; planning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41"/>
          <p:cNvSpPr/>
          <p:nvPr/>
        </p:nvSpPr>
        <p:spPr>
          <a:xfrm>
            <a:off x="4827960" y="4334400"/>
            <a:ext cx="292320" cy="2923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 42"/>
          <p:cNvSpPr/>
          <p:nvPr/>
        </p:nvSpPr>
        <p:spPr>
          <a:xfrm>
            <a:off x="5212080" y="4260960"/>
            <a:ext cx="35200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a1628"/>
                </a:solidFill>
                <a:latin typeface="Calibri"/>
              </a:rPr>
              <a:t>Notion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 43"/>
          <p:cNvSpPr/>
          <p:nvPr/>
        </p:nvSpPr>
        <p:spPr>
          <a:xfrm>
            <a:off x="5212080" y="4526280"/>
            <a:ext cx="352008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607d8b"/>
                </a:solidFill>
                <a:latin typeface="Calibri"/>
              </a:rPr>
              <a:t>All-in-one workspace for sprint documentation and notes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-1371600" y="2286000"/>
            <a:ext cx="4114440" cy="4114440"/>
          </a:xfrm>
          <a:prstGeom prst="ellipse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Shape 1"/>
          <p:cNvSpPr/>
          <p:nvPr/>
        </p:nvSpPr>
        <p:spPr>
          <a:xfrm>
            <a:off x="7132320" y="-914400"/>
            <a:ext cx="3657240" cy="3657240"/>
          </a:xfrm>
          <a:prstGeom prst="ellipse">
            <a:avLst/>
          </a:prstGeom>
          <a:solidFill>
            <a:srgbClr val="00a896">
              <a:alpha val="25000"/>
            </a:srgbClr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5" name="Shape 2"/>
          <p:cNvSpPr/>
          <p:nvPr/>
        </p:nvSpPr>
        <p:spPr>
          <a:xfrm>
            <a:off x="0" y="0"/>
            <a:ext cx="200880" cy="5143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Shape 3"/>
          <p:cNvSpPr/>
          <p:nvPr/>
        </p:nvSpPr>
        <p:spPr>
          <a:xfrm>
            <a:off x="0" y="0"/>
            <a:ext cx="9143640" cy="776880"/>
          </a:xfrm>
          <a:prstGeom prst="rect">
            <a:avLst/>
          </a:prstGeom>
          <a:solidFill>
            <a:srgbClr val="0e2a47"/>
          </a:solidFill>
          <a:ln w="12700">
            <a:solidFill>
              <a:srgbClr val="0e2a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7" name="Text 4"/>
          <p:cNvSpPr/>
          <p:nvPr/>
        </p:nvSpPr>
        <p:spPr>
          <a:xfrm>
            <a:off x="365760" y="0"/>
            <a:ext cx="8412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299" strike="noStrike">
                <a:solidFill>
                  <a:srgbClr val="ffffff"/>
                </a:solidFill>
                <a:latin typeface="Calibri"/>
              </a:rPr>
              <a:t>KEY TAKEAWAYS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Shape 5"/>
          <p:cNvSpPr/>
          <p:nvPr/>
        </p:nvSpPr>
        <p:spPr>
          <a:xfrm>
            <a:off x="411480" y="96012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9" name="Shape 6"/>
          <p:cNvSpPr/>
          <p:nvPr/>
        </p:nvSpPr>
        <p:spPr>
          <a:xfrm>
            <a:off x="502920" y="1078920"/>
            <a:ext cx="328680" cy="3286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Text 7"/>
          <p:cNvSpPr/>
          <p:nvPr/>
        </p:nvSpPr>
        <p:spPr>
          <a:xfrm>
            <a:off x="502920" y="10789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1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Text 8"/>
          <p:cNvSpPr/>
          <p:nvPr/>
        </p:nvSpPr>
        <p:spPr>
          <a:xfrm>
            <a:off x="960120" y="96012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Scrum is a lightweight Agile framework with exactly 3 Roles, 5 Events, and 3 Artifacts (the 3:5:3 rule)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Shape 9"/>
          <p:cNvSpPr/>
          <p:nvPr/>
        </p:nvSpPr>
        <p:spPr>
          <a:xfrm>
            <a:off x="411480" y="162756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Shape 10"/>
          <p:cNvSpPr/>
          <p:nvPr/>
        </p:nvSpPr>
        <p:spPr>
          <a:xfrm>
            <a:off x="502920" y="1746360"/>
            <a:ext cx="328680" cy="3286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Text 11"/>
          <p:cNvSpPr/>
          <p:nvPr/>
        </p:nvSpPr>
        <p:spPr>
          <a:xfrm>
            <a:off x="502920" y="17463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2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Text 12"/>
          <p:cNvSpPr/>
          <p:nvPr/>
        </p:nvSpPr>
        <p:spPr>
          <a:xfrm>
            <a:off x="960120" y="162756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Sprints are fixed-length iterations (1–4 weeks) that are the heartbeat of Scrum — delivering value each cycle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13"/>
          <p:cNvSpPr/>
          <p:nvPr/>
        </p:nvSpPr>
        <p:spPr>
          <a:xfrm>
            <a:off x="411480" y="229500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14"/>
          <p:cNvSpPr/>
          <p:nvPr/>
        </p:nvSpPr>
        <p:spPr>
          <a:xfrm>
            <a:off x="502920" y="2414160"/>
            <a:ext cx="328680" cy="32868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 15"/>
          <p:cNvSpPr/>
          <p:nvPr/>
        </p:nvSpPr>
        <p:spPr>
          <a:xfrm>
            <a:off x="502920" y="2414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3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 16"/>
          <p:cNvSpPr/>
          <p:nvPr/>
        </p:nvSpPr>
        <p:spPr>
          <a:xfrm>
            <a:off x="960120" y="229500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The 3 pillars — Transparency, Inspection, and Adaptation — underpin everything in the Scrum framework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17"/>
          <p:cNvSpPr/>
          <p:nvPr/>
        </p:nvSpPr>
        <p:spPr>
          <a:xfrm>
            <a:off x="411480" y="296280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18"/>
          <p:cNvSpPr/>
          <p:nvPr/>
        </p:nvSpPr>
        <p:spPr>
          <a:xfrm>
            <a:off x="502920" y="3081600"/>
            <a:ext cx="328680" cy="328680"/>
          </a:xfrm>
          <a:prstGeom prst="ellipse">
            <a:avLst/>
          </a:prstGeom>
          <a:solidFill>
            <a:srgbClr val="1e8449"/>
          </a:solidFill>
          <a:ln w="12700">
            <a:solidFill>
              <a:srgbClr val="1e844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Text 19"/>
          <p:cNvSpPr/>
          <p:nvPr/>
        </p:nvSpPr>
        <p:spPr>
          <a:xfrm>
            <a:off x="502920" y="30816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4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Text 20"/>
          <p:cNvSpPr/>
          <p:nvPr/>
        </p:nvSpPr>
        <p:spPr>
          <a:xfrm>
            <a:off x="960120" y="296280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Ceremonies are NOT optional: skipping retrospectives means teams repeat the same mistakes every sprint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21"/>
          <p:cNvSpPr/>
          <p:nvPr/>
        </p:nvSpPr>
        <p:spPr>
          <a:xfrm>
            <a:off x="411480" y="363024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22"/>
          <p:cNvSpPr/>
          <p:nvPr/>
        </p:nvSpPr>
        <p:spPr>
          <a:xfrm>
            <a:off x="502920" y="3749040"/>
            <a:ext cx="328680" cy="328680"/>
          </a:xfrm>
          <a:prstGeom prst="ellipse">
            <a:avLst/>
          </a:prstGeom>
          <a:solidFill>
            <a:srgbClr val="6c3483"/>
          </a:solidFill>
          <a:ln w="12700">
            <a:solidFill>
              <a:srgbClr val="6c348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 23"/>
          <p:cNvSpPr/>
          <p:nvPr/>
        </p:nvSpPr>
        <p:spPr>
          <a:xfrm>
            <a:off x="502920" y="374904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5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 24"/>
          <p:cNvSpPr/>
          <p:nvPr/>
        </p:nvSpPr>
        <p:spPr>
          <a:xfrm>
            <a:off x="960120" y="363024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Scrum teams are self-organizing and cross-functional — no one tells the team how to do the work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25"/>
          <p:cNvSpPr/>
          <p:nvPr/>
        </p:nvSpPr>
        <p:spPr>
          <a:xfrm>
            <a:off x="411480" y="4297680"/>
            <a:ext cx="8320680" cy="566640"/>
          </a:xfrm>
          <a:prstGeom prst="rect">
            <a:avLst/>
          </a:prstGeom>
          <a:solidFill>
            <a:srgbClr val="14202e">
              <a:alpha val="90000"/>
            </a:srgbClr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26"/>
          <p:cNvSpPr/>
          <p:nvPr/>
        </p:nvSpPr>
        <p:spPr>
          <a:xfrm>
            <a:off x="502920" y="4416480"/>
            <a:ext cx="328680" cy="328680"/>
          </a:xfrm>
          <a:prstGeom prst="ellipse">
            <a:avLst/>
          </a:prstGeom>
          <a:solidFill>
            <a:srgbClr val="e74c3c"/>
          </a:solidFill>
          <a:ln w="12700">
            <a:solidFill>
              <a:srgbClr val="e74c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 27"/>
          <p:cNvSpPr/>
          <p:nvPr/>
        </p:nvSpPr>
        <p:spPr>
          <a:xfrm>
            <a:off x="502920" y="44164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6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Text 28"/>
          <p:cNvSpPr/>
          <p:nvPr/>
        </p:nvSpPr>
        <p:spPr>
          <a:xfrm>
            <a:off x="960120" y="4297680"/>
            <a:ext cx="76075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f0f7f9"/>
                </a:solidFill>
                <a:latin typeface="Calibri"/>
              </a:rPr>
              <a:t>The Definition of Done is sacred — 'almost done' is not done; only working increments count as progress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29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solidFill>
            <a:srgbClr val="0e2a47"/>
          </a:solidFill>
          <a:ln w="12700">
            <a:solidFill>
              <a:srgbClr val="0e2a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Text 30"/>
          <p:cNvSpPr/>
          <p:nvPr/>
        </p:nvSpPr>
        <p:spPr>
          <a:xfrm>
            <a:off x="0" y="4873680"/>
            <a:ext cx="914364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02c39a"/>
                </a:solidFill>
                <a:latin typeface="Calibri"/>
              </a:rPr>
              <a:t>Source: atlassian.com/agile/scrum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2026-04-08T03:40:38Z</dcterms:created>
  <dc:creator>PptxGenJS</dc:creator>
  <dc:description/>
  <dc:language>en-US</dc:language>
  <cp:lastModifiedBy/>
  <dcterms:modified xsi:type="dcterms:W3CDTF">2026-04-08T13:56:27Z</dcterms:modified>
  <cp:revision>3</cp:revision>
  <dc:subject>PptxGenJS Presentation</dc:subject>
  <dc:title>Scrum – The Agile Framework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13</vt:i4>
  </property>
  <property fmtid="{D5CDD505-2E9C-101B-9397-08002B2CF9AE}" pid="3" name="PresentationFormat">
    <vt:lpwstr>On-screen Show (16:9)</vt:lpwstr>
  </property>
  <property fmtid="{D5CDD505-2E9C-101B-9397-08002B2CF9AE}" pid="4" name="Slides">
    <vt:i4>13</vt:i4>
  </property>
</Properties>
</file>