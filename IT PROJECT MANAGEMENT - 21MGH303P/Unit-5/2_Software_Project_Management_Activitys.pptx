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5F1383A-C497-47C8-BBA2-E070DB37BB7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F19F32-B4FB-4EF7-828E-D85B00F0520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29ECC8-5565-447A-848D-83418F09F2C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4477C9-FEED-41B6-932C-2021929478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F4A366-83A8-4054-85EE-C09B6C42552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656355-32F5-4284-A106-749F18D44BB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CFC88B-E450-4224-BE94-EE3E0B55B9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C3AFC7-8E77-4B85-BFF0-86A6F658D8E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334744-921F-4EDB-8528-FC427F2615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C8EA63-4DBC-4FA0-BB4A-0B328AC558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1A55D2-121C-4FB8-A4E5-29182CCF442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15C87F-795E-436D-9B1E-4107F98F33F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7D4FF5-995D-49F1-BD75-48750F0EF4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852160" y="0"/>
            <a:ext cx="3291120" cy="514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583680" y="0"/>
            <a:ext cx="2559600" cy="514296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309360" y="-731520"/>
            <a:ext cx="3108240" cy="3108240"/>
          </a:xfrm>
          <a:prstGeom prst="ellipse">
            <a:avLst/>
          </a:prstGeom>
          <a:solidFill>
            <a:srgbClr val="2196a5">
              <a:alpha val="40000"/>
            </a:srgbClr>
          </a:solidFill>
          <a:ln w="12700">
            <a:solidFill>
              <a:srgbClr val="b8db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7040880" y="-91440"/>
            <a:ext cx="1736640" cy="1736640"/>
          </a:xfrm>
          <a:prstGeom prst="ellipse">
            <a:avLst/>
          </a:prstGeom>
          <a:solidFill>
            <a:srgbClr val="0d1f2d">
              <a:alpha val="60000"/>
            </a:srgbClr>
          </a:solidFill>
          <a:ln w="12700">
            <a:solidFill>
              <a:srgbClr val="b8db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7360920" y="3291840"/>
            <a:ext cx="109080" cy="109080"/>
          </a:xfrm>
          <a:prstGeom prst="ellipse">
            <a:avLst/>
          </a:prstGeom>
          <a:solidFill>
            <a:srgbClr val="b8dbe4">
              <a:alpha val="60000"/>
            </a:srgbClr>
          </a:solidFill>
          <a:ln w="12700">
            <a:solidFill>
              <a:srgbClr val="b8dbe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7708320" y="3291840"/>
            <a:ext cx="109080" cy="109080"/>
          </a:xfrm>
          <a:prstGeom prst="ellipse">
            <a:avLst/>
          </a:prstGeom>
          <a:solidFill>
            <a:srgbClr val="b8dbe4">
              <a:alpha val="60000"/>
            </a:srgbClr>
          </a:solidFill>
          <a:ln w="12700">
            <a:solidFill>
              <a:srgbClr val="b8dbe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8055720" y="3291840"/>
            <a:ext cx="109080" cy="109080"/>
          </a:xfrm>
          <a:prstGeom prst="ellipse">
            <a:avLst/>
          </a:prstGeom>
          <a:solidFill>
            <a:srgbClr val="b8dbe4">
              <a:alpha val="60000"/>
            </a:srgbClr>
          </a:solidFill>
          <a:ln w="12700">
            <a:solidFill>
              <a:srgbClr val="b8dbe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8403480" y="3291840"/>
            <a:ext cx="109080" cy="109080"/>
          </a:xfrm>
          <a:prstGeom prst="ellipse">
            <a:avLst/>
          </a:prstGeom>
          <a:solidFill>
            <a:srgbClr val="b8dbe4">
              <a:alpha val="60000"/>
            </a:srgbClr>
          </a:solidFill>
          <a:ln w="12700">
            <a:solidFill>
              <a:srgbClr val="b8dbe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7360920" y="3639240"/>
            <a:ext cx="109080" cy="109080"/>
          </a:xfrm>
          <a:prstGeom prst="ellipse">
            <a:avLst/>
          </a:prstGeom>
          <a:solidFill>
            <a:srgbClr val="b8dbe4">
              <a:alpha val="60000"/>
            </a:srgbClr>
          </a:solidFill>
          <a:ln w="12700">
            <a:solidFill>
              <a:srgbClr val="b8dbe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7708320" y="3639240"/>
            <a:ext cx="109080" cy="109080"/>
          </a:xfrm>
          <a:prstGeom prst="ellipse">
            <a:avLst/>
          </a:prstGeom>
          <a:solidFill>
            <a:srgbClr val="b8dbe4">
              <a:alpha val="60000"/>
            </a:srgbClr>
          </a:solidFill>
          <a:ln w="12700">
            <a:solidFill>
              <a:srgbClr val="b8dbe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8055720" y="3639240"/>
            <a:ext cx="109080" cy="109080"/>
          </a:xfrm>
          <a:prstGeom prst="ellipse">
            <a:avLst/>
          </a:prstGeom>
          <a:solidFill>
            <a:srgbClr val="b8dbe4">
              <a:alpha val="60000"/>
            </a:srgbClr>
          </a:solidFill>
          <a:ln w="12700">
            <a:solidFill>
              <a:srgbClr val="b8dbe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8403480" y="3639240"/>
            <a:ext cx="109080" cy="109080"/>
          </a:xfrm>
          <a:prstGeom prst="ellipse">
            <a:avLst/>
          </a:prstGeom>
          <a:solidFill>
            <a:srgbClr val="b8dbe4">
              <a:alpha val="60000"/>
            </a:srgbClr>
          </a:solidFill>
          <a:ln w="12700">
            <a:solidFill>
              <a:srgbClr val="b8dbe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7360920" y="3986640"/>
            <a:ext cx="109080" cy="109080"/>
          </a:xfrm>
          <a:prstGeom prst="ellipse">
            <a:avLst/>
          </a:prstGeom>
          <a:solidFill>
            <a:srgbClr val="b8dbe4">
              <a:alpha val="60000"/>
            </a:srgbClr>
          </a:solidFill>
          <a:ln w="12700">
            <a:solidFill>
              <a:srgbClr val="b8dbe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708320" y="3986640"/>
            <a:ext cx="109080" cy="109080"/>
          </a:xfrm>
          <a:prstGeom prst="ellipse">
            <a:avLst/>
          </a:prstGeom>
          <a:solidFill>
            <a:srgbClr val="b8dbe4">
              <a:alpha val="60000"/>
            </a:srgbClr>
          </a:solidFill>
          <a:ln w="12700">
            <a:solidFill>
              <a:srgbClr val="b8dbe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8055720" y="3986640"/>
            <a:ext cx="109080" cy="109080"/>
          </a:xfrm>
          <a:prstGeom prst="ellipse">
            <a:avLst/>
          </a:prstGeom>
          <a:solidFill>
            <a:srgbClr val="b8dbe4">
              <a:alpha val="60000"/>
            </a:srgbClr>
          </a:solidFill>
          <a:ln w="12700">
            <a:solidFill>
              <a:srgbClr val="b8dbe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403480" y="3986640"/>
            <a:ext cx="109080" cy="109080"/>
          </a:xfrm>
          <a:prstGeom prst="ellipse">
            <a:avLst/>
          </a:prstGeom>
          <a:solidFill>
            <a:srgbClr val="b8dbe4">
              <a:alpha val="60000"/>
            </a:srgbClr>
          </a:solidFill>
          <a:ln w="12700">
            <a:solidFill>
              <a:srgbClr val="b8dbe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7360920" y="4334400"/>
            <a:ext cx="109080" cy="109080"/>
          </a:xfrm>
          <a:prstGeom prst="ellipse">
            <a:avLst/>
          </a:prstGeom>
          <a:solidFill>
            <a:srgbClr val="b8dbe4">
              <a:alpha val="60000"/>
            </a:srgbClr>
          </a:solidFill>
          <a:ln w="12700">
            <a:solidFill>
              <a:srgbClr val="b8dbe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7708320" y="4334400"/>
            <a:ext cx="109080" cy="109080"/>
          </a:xfrm>
          <a:prstGeom prst="ellipse">
            <a:avLst/>
          </a:prstGeom>
          <a:solidFill>
            <a:srgbClr val="b8dbe4">
              <a:alpha val="60000"/>
            </a:srgbClr>
          </a:solidFill>
          <a:ln w="12700">
            <a:solidFill>
              <a:srgbClr val="b8dbe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8055720" y="4334400"/>
            <a:ext cx="109080" cy="109080"/>
          </a:xfrm>
          <a:prstGeom prst="ellipse">
            <a:avLst/>
          </a:prstGeom>
          <a:solidFill>
            <a:srgbClr val="b8dbe4">
              <a:alpha val="60000"/>
            </a:srgbClr>
          </a:solidFill>
          <a:ln w="12700">
            <a:solidFill>
              <a:srgbClr val="b8dbe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8403480" y="4334400"/>
            <a:ext cx="109080" cy="109080"/>
          </a:xfrm>
          <a:prstGeom prst="ellipse">
            <a:avLst/>
          </a:prstGeom>
          <a:solidFill>
            <a:srgbClr val="b8dbe4">
              <a:alpha val="60000"/>
            </a:srgbClr>
          </a:solidFill>
          <a:ln w="12700">
            <a:solidFill>
              <a:srgbClr val="b8dbe4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0" y="0"/>
            <a:ext cx="200520" cy="514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457200" y="914400"/>
            <a:ext cx="3474000" cy="346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457200" y="91440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4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en-US" sz="850" spc="145" strike="noStrike">
                <a:solidFill>
                  <a:srgbClr val="ffffff"/>
                </a:solidFill>
                <a:latin typeface="Calibri"/>
              </a:rPr>
              <a:t>PROJECT MANAGEMENT GUIDE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457200" y="1371600"/>
            <a:ext cx="5760000" cy="26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94" strike="noStrike">
                <a:solidFill>
                  <a:srgbClr val="ffffff"/>
                </a:solidFill>
                <a:latin typeface="Calibri"/>
                <a:ea typeface="Calibri"/>
              </a:rPr>
              <a:t>SOFTWARE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94" strike="noStrike">
                <a:solidFill>
                  <a:srgbClr val="ffffff"/>
                </a:solidFill>
                <a:latin typeface="Calibri"/>
                <a:ea typeface="Calibri"/>
              </a:rPr>
              <a:t>PROJECT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94" strike="noStrike">
                <a:solidFill>
                  <a:srgbClr val="ffffff"/>
                </a:solidFill>
                <a:latin typeface="Calibri"/>
                <a:ea typeface="Calibri"/>
              </a:rPr>
              <a:t>MANAGEMENT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457200" y="4069080"/>
            <a:ext cx="5760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b8dbe4"/>
                </a:solidFill>
                <a:latin typeface="Calibri"/>
              </a:rPr>
              <a:t>8 Core Activities · From Planning to Delivery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4873680"/>
            <a:ext cx="9143280" cy="268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0" y="4873680"/>
            <a:ext cx="914328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7" strike="noStrike">
                <a:solidFill>
                  <a:srgbClr val="ffffff"/>
                </a:solidFill>
                <a:latin typeface="Calibri"/>
              </a:rPr>
              <a:t>WHAT IS SOFTWARE PROJECT MANAGEMENT?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365760" y="914400"/>
            <a:ext cx="8411760" cy="1050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365760" y="914400"/>
            <a:ext cx="841176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ffffff"/>
                </a:solidFill>
                <a:latin typeface="Calibri"/>
              </a:rPr>
              <a:t>Software project management is the process of overseeing and coordinating software development projects — from planning and budgeting to development and testing — ensuring teams deliver on time, within scope and budget.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4"/>
          <p:cNvSpPr/>
          <p:nvPr/>
        </p:nvSpPr>
        <p:spPr>
          <a:xfrm>
            <a:off x="365760" y="2103120"/>
            <a:ext cx="4205520" cy="1261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365760" y="2103120"/>
            <a:ext cx="163800" cy="1261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621720" y="2194560"/>
            <a:ext cx="63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🗺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658440" y="2167200"/>
            <a:ext cx="3748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f2d"/>
                </a:solidFill>
                <a:latin typeface="Calibri"/>
              </a:rPr>
              <a:t>Overseeing &amp; Coordinating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658440" y="2578680"/>
            <a:ext cx="374832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3a4a"/>
                </a:solidFill>
                <a:latin typeface="Calibri"/>
              </a:rPr>
              <a:t>PM manages all moving parts of a software project — from team coordination to stakeholder updates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4800600" y="2103120"/>
            <a:ext cx="4205520" cy="1261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0"/>
          <p:cNvSpPr/>
          <p:nvPr/>
        </p:nvSpPr>
        <p:spPr>
          <a:xfrm>
            <a:off x="4800600" y="2103120"/>
            <a:ext cx="163800" cy="1261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5056560" y="2194560"/>
            <a:ext cx="63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5093280" y="2167200"/>
            <a:ext cx="3748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f2d"/>
                </a:solidFill>
                <a:latin typeface="Calibri"/>
              </a:rPr>
              <a:t>Planning &amp; Budgeting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5093280" y="2578680"/>
            <a:ext cx="374832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3a4a"/>
                </a:solidFill>
                <a:latin typeface="Calibri"/>
              </a:rPr>
              <a:t>Identifies tasks, creates schedules, and establishes cost estimates before development begins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4"/>
          <p:cNvSpPr/>
          <p:nvPr/>
        </p:nvSpPr>
        <p:spPr>
          <a:xfrm>
            <a:off x="365760" y="3493080"/>
            <a:ext cx="4205520" cy="1261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5"/>
          <p:cNvSpPr/>
          <p:nvPr/>
        </p:nvSpPr>
        <p:spPr>
          <a:xfrm>
            <a:off x="365760" y="3493080"/>
            <a:ext cx="163800" cy="12610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621720" y="3584520"/>
            <a:ext cx="63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🔧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7"/>
          <p:cNvSpPr/>
          <p:nvPr/>
        </p:nvSpPr>
        <p:spPr>
          <a:xfrm>
            <a:off x="658440" y="3557160"/>
            <a:ext cx="3748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f2d"/>
                </a:solidFill>
                <a:latin typeface="Calibri"/>
              </a:rPr>
              <a:t>Development &amp; Testing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8"/>
          <p:cNvSpPr/>
          <p:nvPr/>
        </p:nvSpPr>
        <p:spPr>
          <a:xfrm>
            <a:off x="658440" y="3968640"/>
            <a:ext cx="374832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3a4a"/>
                </a:solidFill>
                <a:latin typeface="Calibri"/>
              </a:rPr>
              <a:t>Oversees each phase of the software lifecycle from coding through QA and final delivery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9"/>
          <p:cNvSpPr/>
          <p:nvPr/>
        </p:nvSpPr>
        <p:spPr>
          <a:xfrm>
            <a:off x="4800600" y="3493080"/>
            <a:ext cx="4205520" cy="1261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20"/>
          <p:cNvSpPr/>
          <p:nvPr/>
        </p:nvSpPr>
        <p:spPr>
          <a:xfrm>
            <a:off x="4800600" y="3493080"/>
            <a:ext cx="163800" cy="1261080"/>
          </a:xfrm>
          <a:prstGeom prst="rect">
            <a:avLst/>
          </a:prstGeom>
          <a:solidFill>
            <a:srgbClr val="5b3d8a"/>
          </a:solidFill>
          <a:ln w="12700">
            <a:solidFill>
              <a:srgbClr val="5b3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5056560" y="3584520"/>
            <a:ext cx="63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🤝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2"/>
          <p:cNvSpPr/>
          <p:nvPr/>
        </p:nvSpPr>
        <p:spPr>
          <a:xfrm>
            <a:off x="5093280" y="3557160"/>
            <a:ext cx="3748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f2d"/>
                </a:solidFill>
                <a:latin typeface="Calibri"/>
              </a:rPr>
              <a:t>Team Communication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23"/>
          <p:cNvSpPr/>
          <p:nvPr/>
        </p:nvSpPr>
        <p:spPr>
          <a:xfrm>
            <a:off x="5093280" y="3968640"/>
            <a:ext cx="374832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3a4a"/>
                </a:solidFill>
                <a:latin typeface="Calibri"/>
              </a:rPr>
              <a:t>PMs must communicate effectively with all development team members and stakeholders at all times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197" strike="noStrike">
                <a:solidFill>
                  <a:srgbClr val="ffffff"/>
                </a:solidFill>
                <a:latin typeface="Calibri"/>
              </a:rPr>
              <a:t>8 KEY ACTIVITIES IN SOFTWARE PROJECT MANAGEMENT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274320" y="960120"/>
            <a:ext cx="2010960" cy="1828080"/>
          </a:xfrm>
          <a:prstGeom prst="rect">
            <a:avLst/>
          </a:prstGeom>
          <a:solidFill>
            <a:srgbClr val="182535"/>
          </a:solidFill>
          <a:ln w="25400">
            <a:solidFill>
              <a:srgbClr val="1c729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274320" y="960120"/>
            <a:ext cx="2010960" cy="657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274320" y="960120"/>
            <a:ext cx="20109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🗓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384120" y="167328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7293"/>
                </a:solidFill>
                <a:latin typeface="Calibri"/>
              </a:rPr>
              <a:t>01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384120" y="1710000"/>
            <a:ext cx="17913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Project Planning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&amp; Tracking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2450520" y="960120"/>
            <a:ext cx="2010960" cy="1828080"/>
          </a:xfrm>
          <a:prstGeom prst="rect">
            <a:avLst/>
          </a:prstGeom>
          <a:solidFill>
            <a:srgbClr val="182535"/>
          </a:solidFill>
          <a:ln w="25400">
            <a:solidFill>
              <a:srgbClr val="065a82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2450520" y="960120"/>
            <a:ext cx="2010960" cy="657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2450520" y="960120"/>
            <a:ext cx="20109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👥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2560320" y="167328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alibri"/>
              </a:rPr>
              <a:t>02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2560320" y="1710000"/>
            <a:ext cx="17913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Resource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Management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2"/>
          <p:cNvSpPr/>
          <p:nvPr/>
        </p:nvSpPr>
        <p:spPr>
          <a:xfrm>
            <a:off x="4626720" y="960120"/>
            <a:ext cx="2010960" cy="1828080"/>
          </a:xfrm>
          <a:prstGeom prst="rect">
            <a:avLst/>
          </a:prstGeom>
          <a:solidFill>
            <a:srgbClr val="182535"/>
          </a:solidFill>
          <a:ln w="25400">
            <a:solidFill>
              <a:srgbClr val="f5a62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13"/>
          <p:cNvSpPr/>
          <p:nvPr/>
        </p:nvSpPr>
        <p:spPr>
          <a:xfrm>
            <a:off x="4626720" y="960120"/>
            <a:ext cx="2010960" cy="657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4"/>
          <p:cNvSpPr/>
          <p:nvPr/>
        </p:nvSpPr>
        <p:spPr>
          <a:xfrm>
            <a:off x="4626720" y="960120"/>
            <a:ext cx="20109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📐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5"/>
          <p:cNvSpPr/>
          <p:nvPr/>
        </p:nvSpPr>
        <p:spPr>
          <a:xfrm>
            <a:off x="4736520" y="167328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5a623"/>
                </a:solidFill>
                <a:latin typeface="Calibri"/>
              </a:rPr>
              <a:t>03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6"/>
          <p:cNvSpPr/>
          <p:nvPr/>
        </p:nvSpPr>
        <p:spPr>
          <a:xfrm>
            <a:off x="4736520" y="1710000"/>
            <a:ext cx="17913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Scope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Management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7"/>
          <p:cNvSpPr/>
          <p:nvPr/>
        </p:nvSpPr>
        <p:spPr>
          <a:xfrm>
            <a:off x="6803280" y="960120"/>
            <a:ext cx="2010960" cy="1828080"/>
          </a:xfrm>
          <a:prstGeom prst="rect">
            <a:avLst/>
          </a:prstGeom>
          <a:solidFill>
            <a:srgbClr val="182535"/>
          </a:solidFill>
          <a:ln w="25400">
            <a:solidFill>
              <a:srgbClr val="1a7a4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18"/>
          <p:cNvSpPr/>
          <p:nvPr/>
        </p:nvSpPr>
        <p:spPr>
          <a:xfrm>
            <a:off x="6803280" y="960120"/>
            <a:ext cx="2010960" cy="6577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9"/>
          <p:cNvSpPr/>
          <p:nvPr/>
        </p:nvSpPr>
        <p:spPr>
          <a:xfrm>
            <a:off x="6803280" y="960120"/>
            <a:ext cx="20109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🔢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20"/>
          <p:cNvSpPr/>
          <p:nvPr/>
        </p:nvSpPr>
        <p:spPr>
          <a:xfrm>
            <a:off x="6912720" y="167328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7a4a"/>
                </a:solidFill>
                <a:latin typeface="Calibri"/>
              </a:rPr>
              <a:t>04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1"/>
          <p:cNvSpPr/>
          <p:nvPr/>
        </p:nvSpPr>
        <p:spPr>
          <a:xfrm>
            <a:off x="6912720" y="1710000"/>
            <a:ext cx="17913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Estimation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Management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22"/>
          <p:cNvSpPr/>
          <p:nvPr/>
        </p:nvSpPr>
        <p:spPr>
          <a:xfrm>
            <a:off x="274320" y="2953440"/>
            <a:ext cx="2010960" cy="1828080"/>
          </a:xfrm>
          <a:prstGeom prst="rect">
            <a:avLst/>
          </a:prstGeom>
          <a:solidFill>
            <a:srgbClr val="182535"/>
          </a:solidFill>
          <a:ln w="25400">
            <a:solidFill>
              <a:srgbClr val="e05c44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23"/>
          <p:cNvSpPr/>
          <p:nvPr/>
        </p:nvSpPr>
        <p:spPr>
          <a:xfrm>
            <a:off x="274320" y="2953440"/>
            <a:ext cx="2010960" cy="657720"/>
          </a:xfrm>
          <a:prstGeom prst="rect">
            <a:avLst/>
          </a:prstGeom>
          <a:solidFill>
            <a:srgbClr val="e05c44"/>
          </a:solidFill>
          <a:ln w="12700">
            <a:solidFill>
              <a:srgbClr val="e05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24"/>
          <p:cNvSpPr/>
          <p:nvPr/>
        </p:nvSpPr>
        <p:spPr>
          <a:xfrm>
            <a:off x="274320" y="2953440"/>
            <a:ext cx="20109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⚠️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25"/>
          <p:cNvSpPr/>
          <p:nvPr/>
        </p:nvSpPr>
        <p:spPr>
          <a:xfrm>
            <a:off x="384120" y="366660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5c44"/>
                </a:solidFill>
                <a:latin typeface="Calibri"/>
              </a:rPr>
              <a:t>05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26"/>
          <p:cNvSpPr/>
          <p:nvPr/>
        </p:nvSpPr>
        <p:spPr>
          <a:xfrm>
            <a:off x="384120" y="3703320"/>
            <a:ext cx="17913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Risk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Management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27"/>
          <p:cNvSpPr/>
          <p:nvPr/>
        </p:nvSpPr>
        <p:spPr>
          <a:xfrm>
            <a:off x="2450520" y="2953440"/>
            <a:ext cx="2010960" cy="1828080"/>
          </a:xfrm>
          <a:prstGeom prst="rect">
            <a:avLst/>
          </a:prstGeom>
          <a:solidFill>
            <a:srgbClr val="182535"/>
          </a:solidFill>
          <a:ln w="25400">
            <a:solidFill>
              <a:srgbClr val="5b3d8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28"/>
          <p:cNvSpPr/>
          <p:nvPr/>
        </p:nvSpPr>
        <p:spPr>
          <a:xfrm>
            <a:off x="2450520" y="2953440"/>
            <a:ext cx="2010960" cy="657720"/>
          </a:xfrm>
          <a:prstGeom prst="rect">
            <a:avLst/>
          </a:prstGeom>
          <a:solidFill>
            <a:srgbClr val="5b3d8a"/>
          </a:solidFill>
          <a:ln w="12700">
            <a:solidFill>
              <a:srgbClr val="5b3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29"/>
          <p:cNvSpPr/>
          <p:nvPr/>
        </p:nvSpPr>
        <p:spPr>
          <a:xfrm>
            <a:off x="2450520" y="2953440"/>
            <a:ext cx="20109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📅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30"/>
          <p:cNvSpPr/>
          <p:nvPr/>
        </p:nvSpPr>
        <p:spPr>
          <a:xfrm>
            <a:off x="2560320" y="366660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5b3d8a"/>
                </a:solidFill>
                <a:latin typeface="Calibri"/>
              </a:rPr>
              <a:t>06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1"/>
          <p:cNvSpPr/>
          <p:nvPr/>
        </p:nvSpPr>
        <p:spPr>
          <a:xfrm>
            <a:off x="2560320" y="3703320"/>
            <a:ext cx="17913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Scheduling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Management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32"/>
          <p:cNvSpPr/>
          <p:nvPr/>
        </p:nvSpPr>
        <p:spPr>
          <a:xfrm>
            <a:off x="4626720" y="2953440"/>
            <a:ext cx="2010960" cy="1828080"/>
          </a:xfrm>
          <a:prstGeom prst="rect">
            <a:avLst/>
          </a:prstGeom>
          <a:solidFill>
            <a:srgbClr val="182535"/>
          </a:solidFill>
          <a:ln w="25400">
            <a:solidFill>
              <a:srgbClr val="1abc9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33"/>
          <p:cNvSpPr/>
          <p:nvPr/>
        </p:nvSpPr>
        <p:spPr>
          <a:xfrm>
            <a:off x="4626720" y="2953440"/>
            <a:ext cx="2010960" cy="657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34"/>
          <p:cNvSpPr/>
          <p:nvPr/>
        </p:nvSpPr>
        <p:spPr>
          <a:xfrm>
            <a:off x="4626720" y="2953440"/>
            <a:ext cx="20109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💬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35"/>
          <p:cNvSpPr/>
          <p:nvPr/>
        </p:nvSpPr>
        <p:spPr>
          <a:xfrm>
            <a:off x="4736520" y="366660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bc9c"/>
                </a:solidFill>
                <a:latin typeface="Calibri"/>
              </a:rPr>
              <a:t>07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36"/>
          <p:cNvSpPr/>
          <p:nvPr/>
        </p:nvSpPr>
        <p:spPr>
          <a:xfrm>
            <a:off x="4736520" y="3703320"/>
            <a:ext cx="17913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Communication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Management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37"/>
          <p:cNvSpPr/>
          <p:nvPr/>
        </p:nvSpPr>
        <p:spPr>
          <a:xfrm>
            <a:off x="6803280" y="2953440"/>
            <a:ext cx="2010960" cy="1828080"/>
          </a:xfrm>
          <a:prstGeom prst="rect">
            <a:avLst/>
          </a:prstGeom>
          <a:solidFill>
            <a:srgbClr val="182535"/>
          </a:solidFill>
          <a:ln w="25400">
            <a:solidFill>
              <a:srgbClr val="e67e22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38"/>
          <p:cNvSpPr/>
          <p:nvPr/>
        </p:nvSpPr>
        <p:spPr>
          <a:xfrm>
            <a:off x="6803280" y="2953440"/>
            <a:ext cx="2010960" cy="657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39"/>
          <p:cNvSpPr/>
          <p:nvPr/>
        </p:nvSpPr>
        <p:spPr>
          <a:xfrm>
            <a:off x="6803280" y="2953440"/>
            <a:ext cx="20109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⚙️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40"/>
          <p:cNvSpPr/>
          <p:nvPr/>
        </p:nvSpPr>
        <p:spPr>
          <a:xfrm>
            <a:off x="6912720" y="366660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67e22"/>
                </a:solidFill>
                <a:latin typeface="Calibri"/>
              </a:rPr>
              <a:t>08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41"/>
          <p:cNvSpPr/>
          <p:nvPr/>
        </p:nvSpPr>
        <p:spPr>
          <a:xfrm>
            <a:off x="6912720" y="3703320"/>
            <a:ext cx="17913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Configuration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Management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1"/>
          <p:cNvSpPr/>
          <p:nvPr/>
        </p:nvSpPr>
        <p:spPr>
          <a:xfrm>
            <a:off x="320040" y="137160"/>
            <a:ext cx="502200" cy="502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320040" y="13716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960120" y="0"/>
            <a:ext cx="78174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7" strike="noStrike">
                <a:solidFill>
                  <a:srgbClr val="ffffff"/>
                </a:solidFill>
                <a:latin typeface="Calibri"/>
              </a:rPr>
              <a:t>PROJECT PLANNING &amp; TRACKING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4"/>
          <p:cNvSpPr/>
          <p:nvPr/>
        </p:nvSpPr>
        <p:spPr>
          <a:xfrm>
            <a:off x="320040" y="914400"/>
            <a:ext cx="4068360" cy="393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320040" y="914400"/>
            <a:ext cx="4068360" cy="502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320040" y="914400"/>
            <a:ext cx="40683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🗓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OVERVIEW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457200" y="1481400"/>
            <a:ext cx="3794040" cy="32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3a4a"/>
                </a:solidFill>
                <a:latin typeface="Calibri"/>
              </a:rPr>
              <a:t>The development process can be broadly divided into two phases: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3a4a"/>
                </a:solidFill>
                <a:latin typeface="Calibri"/>
              </a:rPr>
              <a:t>• </a:t>
            </a:r>
            <a:r>
              <a:rPr b="0" lang="en-US" sz="1150" spc="-1" strike="noStrike">
                <a:solidFill>
                  <a:srgbClr val="1d3a4a"/>
                </a:solidFill>
                <a:latin typeface="Calibri"/>
              </a:rPr>
              <a:t>Planning Phase: All necessary tasks are identified and scheduled — defining deliverables, timelines, and responsibilities.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3a4a"/>
                </a:solidFill>
                <a:latin typeface="Calibri"/>
              </a:rPr>
              <a:t>• </a:t>
            </a:r>
            <a:r>
              <a:rPr b="0" lang="en-US" sz="1150" spc="-1" strike="noStrike">
                <a:solidFill>
                  <a:srgbClr val="1d3a4a"/>
                </a:solidFill>
                <a:latin typeface="Calibri"/>
              </a:rPr>
              <a:t>Execution Phase: The development team works on completing tasks according to the plan.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3a4a"/>
                </a:solidFill>
                <a:latin typeface="Calibri"/>
              </a:rPr>
              <a:t>Tracking progress ensures the project stays on track. Managers use Gantt charts and project management software to monitor status and identify issues early.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8"/>
          <p:cNvSpPr/>
          <p:nvPr/>
        </p:nvSpPr>
        <p:spPr>
          <a:xfrm>
            <a:off x="4663440" y="914400"/>
            <a:ext cx="4159800" cy="1352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4663440" y="914400"/>
            <a:ext cx="4159800" cy="474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4663440" y="914400"/>
            <a:ext cx="41598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📝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PLANNING PHASE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4800600" y="1444680"/>
            <a:ext cx="38854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3a4a"/>
                </a:solidFill>
                <a:latin typeface="Calibri"/>
              </a:rPr>
              <a:t>Identify all tasks, schedule activities, define deliverables and assign ownership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12"/>
          <p:cNvSpPr/>
          <p:nvPr/>
        </p:nvSpPr>
        <p:spPr>
          <a:xfrm>
            <a:off x="4663440" y="2395800"/>
            <a:ext cx="4159800" cy="1352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3"/>
          <p:cNvSpPr/>
          <p:nvPr/>
        </p:nvSpPr>
        <p:spPr>
          <a:xfrm>
            <a:off x="4663440" y="2395800"/>
            <a:ext cx="4159800" cy="474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4663440" y="2395800"/>
            <a:ext cx="41598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⚡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EXECUTION PHASE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4800600" y="2926080"/>
            <a:ext cx="38854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3a4a"/>
                </a:solidFill>
                <a:latin typeface="Calibri"/>
              </a:rPr>
              <a:t>Development team executes scheduled tasks and delivers working software incrementally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16"/>
          <p:cNvSpPr/>
          <p:nvPr/>
        </p:nvSpPr>
        <p:spPr>
          <a:xfrm>
            <a:off x="4663440" y="3017520"/>
            <a:ext cx="4159800" cy="182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17"/>
          <p:cNvSpPr/>
          <p:nvPr/>
        </p:nvSpPr>
        <p:spPr>
          <a:xfrm>
            <a:off x="4663440" y="3017520"/>
            <a:ext cx="4159800" cy="410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8"/>
          <p:cNvSpPr/>
          <p:nvPr/>
        </p:nvSpPr>
        <p:spPr>
          <a:xfrm>
            <a:off x="4663440" y="3017520"/>
            <a:ext cx="41598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d1f2d"/>
                </a:solidFill>
                <a:latin typeface="Calibri"/>
              </a:rPr>
              <a:t>🛠  </a:t>
            </a:r>
            <a:r>
              <a:rPr b="1" lang="en-US" sz="1200" spc="-1" strike="noStrike">
                <a:solidFill>
                  <a:srgbClr val="0d1f2d"/>
                </a:solidFill>
                <a:latin typeface="Calibri"/>
              </a:rPr>
              <a:t>TRACKING TOOLS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9"/>
          <p:cNvSpPr/>
          <p:nvPr/>
        </p:nvSpPr>
        <p:spPr>
          <a:xfrm>
            <a:off x="4773240" y="3557160"/>
            <a:ext cx="200520" cy="200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5047560" y="3493080"/>
            <a:ext cx="36111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3a4a"/>
                </a:solidFill>
                <a:latin typeface="Calibri"/>
              </a:rPr>
              <a:t>Gantt Charts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1"/>
          <p:cNvSpPr/>
          <p:nvPr/>
        </p:nvSpPr>
        <p:spPr>
          <a:xfrm>
            <a:off x="4773240" y="3877200"/>
            <a:ext cx="200520" cy="200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22"/>
          <p:cNvSpPr/>
          <p:nvPr/>
        </p:nvSpPr>
        <p:spPr>
          <a:xfrm>
            <a:off x="5047560" y="3813120"/>
            <a:ext cx="36111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3a4a"/>
                </a:solidFill>
                <a:latin typeface="Calibri"/>
              </a:rPr>
              <a:t>Project Management Software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23"/>
          <p:cNvSpPr/>
          <p:nvPr/>
        </p:nvSpPr>
        <p:spPr>
          <a:xfrm>
            <a:off x="4773240" y="4197240"/>
            <a:ext cx="200520" cy="200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24"/>
          <p:cNvSpPr/>
          <p:nvPr/>
        </p:nvSpPr>
        <p:spPr>
          <a:xfrm>
            <a:off x="5047560" y="4133160"/>
            <a:ext cx="36111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3a4a"/>
                </a:solidFill>
                <a:latin typeface="Calibri"/>
              </a:rPr>
              <a:t>Work Breakdown Structure (WBS)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25"/>
          <p:cNvSpPr/>
          <p:nvPr/>
        </p:nvSpPr>
        <p:spPr>
          <a:xfrm>
            <a:off x="4773240" y="4517280"/>
            <a:ext cx="200520" cy="200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26"/>
          <p:cNvSpPr/>
          <p:nvPr/>
        </p:nvSpPr>
        <p:spPr>
          <a:xfrm>
            <a:off x="5047560" y="4453200"/>
            <a:ext cx="36111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3a4a"/>
                </a:solidFill>
                <a:latin typeface="Calibri"/>
              </a:rPr>
              <a:t>Sprint Boards &amp; Kanban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197" strike="noStrike">
                <a:solidFill>
                  <a:srgbClr val="ffffff"/>
                </a:solidFill>
                <a:latin typeface="Calibri"/>
              </a:rPr>
              <a:t>RESOURCE MANAGEMENT  &amp;  SCOPE MANAGEMENT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2"/>
          <p:cNvSpPr/>
          <p:nvPr/>
        </p:nvSpPr>
        <p:spPr>
          <a:xfrm>
            <a:off x="274320" y="914400"/>
            <a:ext cx="4159800" cy="3912840"/>
          </a:xfrm>
          <a:prstGeom prst="rect">
            <a:avLst/>
          </a:prstGeom>
          <a:solidFill>
            <a:srgbClr val="152030"/>
          </a:solidFill>
          <a:ln w="25400">
            <a:solidFill>
              <a:srgbClr val="065a82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274320" y="914400"/>
            <a:ext cx="4159800" cy="593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4"/>
          <p:cNvSpPr/>
          <p:nvPr/>
        </p:nvSpPr>
        <p:spPr>
          <a:xfrm>
            <a:off x="384120" y="978480"/>
            <a:ext cx="456480" cy="456480"/>
          </a:xfrm>
          <a:prstGeom prst="ellipse">
            <a:avLst/>
          </a:prstGeom>
          <a:solidFill>
            <a:srgbClr val="0d1f2d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384120" y="9784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6"/>
          <p:cNvSpPr/>
          <p:nvPr/>
        </p:nvSpPr>
        <p:spPr>
          <a:xfrm>
            <a:off x="960120" y="914400"/>
            <a:ext cx="3336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👥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RESOURCE MANAGEMENT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7"/>
          <p:cNvSpPr/>
          <p:nvPr/>
        </p:nvSpPr>
        <p:spPr>
          <a:xfrm>
            <a:off x="411480" y="1572840"/>
            <a:ext cx="3885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8dbe4"/>
                </a:solidFill>
                <a:latin typeface="Calibri"/>
              </a:rPr>
              <a:t>Identify and manage all resources needed to complete the project successfully.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8"/>
          <p:cNvSpPr/>
          <p:nvPr/>
        </p:nvSpPr>
        <p:spPr>
          <a:xfrm>
            <a:off x="411480" y="2148840"/>
            <a:ext cx="3885480" cy="1206360"/>
          </a:xfrm>
          <a:prstGeom prst="rect">
            <a:avLst/>
          </a:prstGeom>
          <a:solidFill>
            <a:srgbClr val="1e3040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9"/>
          <p:cNvSpPr/>
          <p:nvPr/>
        </p:nvSpPr>
        <p:spPr>
          <a:xfrm>
            <a:off x="411480" y="2148840"/>
            <a:ext cx="456480" cy="1206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10"/>
          <p:cNvSpPr/>
          <p:nvPr/>
        </p:nvSpPr>
        <p:spPr>
          <a:xfrm>
            <a:off x="411480" y="2148840"/>
            <a:ext cx="456480" cy="12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HR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1"/>
          <p:cNvSpPr/>
          <p:nvPr/>
        </p:nvSpPr>
        <p:spPr>
          <a:xfrm>
            <a:off x="932760" y="2221920"/>
            <a:ext cx="3245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c7293"/>
                </a:solidFill>
                <a:latin typeface="Calibri"/>
              </a:rPr>
              <a:t>Human Resources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2"/>
          <p:cNvSpPr/>
          <p:nvPr/>
        </p:nvSpPr>
        <p:spPr>
          <a:xfrm>
            <a:off x="932760" y="2569320"/>
            <a:ext cx="32454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b8dbe4"/>
                </a:solidFill>
                <a:latin typeface="Calibri"/>
              </a:rPr>
              <a:t>Development team, designers, QA engineers, project managers, business analysts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3"/>
          <p:cNvSpPr/>
          <p:nvPr/>
        </p:nvSpPr>
        <p:spPr>
          <a:xfrm>
            <a:off x="411480" y="3502080"/>
            <a:ext cx="3885480" cy="1206360"/>
          </a:xfrm>
          <a:prstGeom prst="rect">
            <a:avLst/>
          </a:prstGeom>
          <a:solidFill>
            <a:srgbClr val="1e3040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14"/>
          <p:cNvSpPr/>
          <p:nvPr/>
        </p:nvSpPr>
        <p:spPr>
          <a:xfrm>
            <a:off x="411480" y="3502080"/>
            <a:ext cx="456480" cy="1206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5"/>
          <p:cNvSpPr/>
          <p:nvPr/>
        </p:nvSpPr>
        <p:spPr>
          <a:xfrm>
            <a:off x="411480" y="3502080"/>
            <a:ext cx="456480" cy="12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IT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6"/>
          <p:cNvSpPr/>
          <p:nvPr/>
        </p:nvSpPr>
        <p:spPr>
          <a:xfrm>
            <a:off x="932760" y="3575160"/>
            <a:ext cx="3245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5a623"/>
                </a:solidFill>
                <a:latin typeface="Calibri"/>
              </a:rPr>
              <a:t>Material Resources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7"/>
          <p:cNvSpPr/>
          <p:nvPr/>
        </p:nvSpPr>
        <p:spPr>
          <a:xfrm>
            <a:off x="932760" y="3922920"/>
            <a:ext cx="32454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b8dbe4"/>
                </a:solidFill>
                <a:latin typeface="Calibri"/>
              </a:rPr>
              <a:t>Computers, software licenses, development tools, office equipment, cloud services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8"/>
          <p:cNvSpPr/>
          <p:nvPr/>
        </p:nvSpPr>
        <p:spPr>
          <a:xfrm>
            <a:off x="411480" y="4480560"/>
            <a:ext cx="3885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5a623"/>
                </a:solidFill>
                <a:latin typeface="Calibri"/>
              </a:rPr>
              <a:t>⚠  </a:t>
            </a:r>
            <a:r>
              <a:rPr b="0" i="1" lang="en-US" sz="1000" spc="-1" strike="noStrike">
                <a:solidFill>
                  <a:srgbClr val="f5a623"/>
                </a:solidFill>
                <a:latin typeface="Calibri"/>
              </a:rPr>
              <a:t>Clear resource planning prevents delays and cost overruns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19"/>
          <p:cNvSpPr/>
          <p:nvPr/>
        </p:nvSpPr>
        <p:spPr>
          <a:xfrm>
            <a:off x="4709160" y="914400"/>
            <a:ext cx="4159800" cy="3912840"/>
          </a:xfrm>
          <a:prstGeom prst="rect">
            <a:avLst/>
          </a:prstGeom>
          <a:solidFill>
            <a:srgbClr val="152030"/>
          </a:solidFill>
          <a:ln w="25400">
            <a:solidFill>
              <a:srgbClr val="f5a62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20"/>
          <p:cNvSpPr/>
          <p:nvPr/>
        </p:nvSpPr>
        <p:spPr>
          <a:xfrm>
            <a:off x="4709160" y="914400"/>
            <a:ext cx="4159800" cy="593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1"/>
          <p:cNvSpPr/>
          <p:nvPr/>
        </p:nvSpPr>
        <p:spPr>
          <a:xfrm>
            <a:off x="4818960" y="978480"/>
            <a:ext cx="456480" cy="456480"/>
          </a:xfrm>
          <a:prstGeom prst="ellipse">
            <a:avLst/>
          </a:prstGeom>
          <a:solidFill>
            <a:srgbClr val="0d1f2d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22"/>
          <p:cNvSpPr/>
          <p:nvPr/>
        </p:nvSpPr>
        <p:spPr>
          <a:xfrm>
            <a:off x="4818960" y="9784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23"/>
          <p:cNvSpPr/>
          <p:nvPr/>
        </p:nvSpPr>
        <p:spPr>
          <a:xfrm>
            <a:off x="5394960" y="914400"/>
            <a:ext cx="3336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d1f2d"/>
                </a:solidFill>
                <a:latin typeface="Calibri"/>
              </a:rPr>
              <a:t>📐  </a:t>
            </a:r>
            <a:r>
              <a:rPr b="1" lang="en-US" sz="1250" spc="-1" strike="noStrike">
                <a:solidFill>
                  <a:srgbClr val="0d1f2d"/>
                </a:solidFill>
                <a:latin typeface="Calibri"/>
              </a:rPr>
              <a:t>SCOPE MANAGEMENT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24"/>
          <p:cNvSpPr/>
          <p:nvPr/>
        </p:nvSpPr>
        <p:spPr>
          <a:xfrm>
            <a:off x="4846320" y="1572840"/>
            <a:ext cx="3885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b8dbe4"/>
                </a:solidFill>
                <a:latin typeface="Calibri"/>
              </a:rPr>
              <a:t>Ensure all required work is clearly defined and included — preventing scope creep.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25"/>
          <p:cNvSpPr/>
          <p:nvPr/>
        </p:nvSpPr>
        <p:spPr>
          <a:xfrm>
            <a:off x="4846320" y="2148840"/>
            <a:ext cx="3885480" cy="566280"/>
          </a:xfrm>
          <a:prstGeom prst="rect">
            <a:avLst/>
          </a:prstGeom>
          <a:solidFill>
            <a:srgbClr val="1e3040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26"/>
          <p:cNvSpPr/>
          <p:nvPr/>
        </p:nvSpPr>
        <p:spPr>
          <a:xfrm>
            <a:off x="4846320" y="2148840"/>
            <a:ext cx="163800" cy="566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27"/>
          <p:cNvSpPr/>
          <p:nvPr/>
        </p:nvSpPr>
        <p:spPr>
          <a:xfrm>
            <a:off x="5074920" y="2185560"/>
            <a:ext cx="3656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c7293"/>
                </a:solidFill>
                <a:latin typeface="Calibri"/>
              </a:rPr>
              <a:t>Define Deliverables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28"/>
          <p:cNvSpPr/>
          <p:nvPr/>
        </p:nvSpPr>
        <p:spPr>
          <a:xfrm>
            <a:off x="5074920" y="245052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dbe4"/>
                </a:solidFill>
                <a:latin typeface="Calibri"/>
              </a:rPr>
              <a:t>Clearly document what will and won't be built in this project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29"/>
          <p:cNvSpPr/>
          <p:nvPr/>
        </p:nvSpPr>
        <p:spPr>
          <a:xfrm>
            <a:off x="4846320" y="2807280"/>
            <a:ext cx="3885480" cy="566280"/>
          </a:xfrm>
          <a:prstGeom prst="rect">
            <a:avLst/>
          </a:prstGeom>
          <a:solidFill>
            <a:srgbClr val="1e3040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30"/>
          <p:cNvSpPr/>
          <p:nvPr/>
        </p:nvSpPr>
        <p:spPr>
          <a:xfrm>
            <a:off x="4846320" y="2807280"/>
            <a:ext cx="163800" cy="5662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31"/>
          <p:cNvSpPr/>
          <p:nvPr/>
        </p:nvSpPr>
        <p:spPr>
          <a:xfrm>
            <a:off x="5074920" y="2843640"/>
            <a:ext cx="3656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a7a4a"/>
                </a:solidFill>
                <a:latin typeface="Calibri"/>
              </a:rPr>
              <a:t>WBS Charts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32"/>
          <p:cNvSpPr/>
          <p:nvPr/>
        </p:nvSpPr>
        <p:spPr>
          <a:xfrm>
            <a:off x="5074920" y="310896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dbe4"/>
                </a:solidFill>
                <a:latin typeface="Calibri"/>
              </a:rPr>
              <a:t>Work Breakdown Structure decomposes work into manageable pieces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33"/>
          <p:cNvSpPr/>
          <p:nvPr/>
        </p:nvSpPr>
        <p:spPr>
          <a:xfrm>
            <a:off x="4846320" y="3465720"/>
            <a:ext cx="3885480" cy="566280"/>
          </a:xfrm>
          <a:prstGeom prst="rect">
            <a:avLst/>
          </a:prstGeom>
          <a:solidFill>
            <a:srgbClr val="1e3040"/>
          </a:solidFill>
          <a:ln w="12700">
            <a:solidFill>
              <a:srgbClr val="e05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34"/>
          <p:cNvSpPr/>
          <p:nvPr/>
        </p:nvSpPr>
        <p:spPr>
          <a:xfrm>
            <a:off x="4846320" y="3465720"/>
            <a:ext cx="163800" cy="566280"/>
          </a:xfrm>
          <a:prstGeom prst="rect">
            <a:avLst/>
          </a:prstGeom>
          <a:solidFill>
            <a:srgbClr val="e05c44"/>
          </a:solidFill>
          <a:ln w="12700">
            <a:solidFill>
              <a:srgbClr val="e05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35"/>
          <p:cNvSpPr/>
          <p:nvPr/>
        </p:nvSpPr>
        <p:spPr>
          <a:xfrm>
            <a:off x="5074920" y="3502080"/>
            <a:ext cx="3656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05c44"/>
                </a:solidFill>
                <a:latin typeface="Calibri"/>
              </a:rPr>
              <a:t>Project Templates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36"/>
          <p:cNvSpPr/>
          <p:nvPr/>
        </p:nvSpPr>
        <p:spPr>
          <a:xfrm>
            <a:off x="5074920" y="3767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dbe4"/>
                </a:solidFill>
                <a:latin typeface="Calibri"/>
              </a:rPr>
              <a:t>Reusable templates speed up scope definition and reduce ambiguity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37"/>
          <p:cNvSpPr/>
          <p:nvPr/>
        </p:nvSpPr>
        <p:spPr>
          <a:xfrm>
            <a:off x="4846320" y="4123800"/>
            <a:ext cx="3885480" cy="566280"/>
          </a:xfrm>
          <a:prstGeom prst="rect">
            <a:avLst/>
          </a:prstGeom>
          <a:solidFill>
            <a:srgbClr val="1e3040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38"/>
          <p:cNvSpPr/>
          <p:nvPr/>
        </p:nvSpPr>
        <p:spPr>
          <a:xfrm>
            <a:off x="4846320" y="4123800"/>
            <a:ext cx="163800" cy="5662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39"/>
          <p:cNvSpPr/>
          <p:nvPr/>
        </p:nvSpPr>
        <p:spPr>
          <a:xfrm>
            <a:off x="5074920" y="4160520"/>
            <a:ext cx="3656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abc9c"/>
                </a:solidFill>
                <a:latin typeface="Calibri"/>
              </a:rPr>
              <a:t>Prevent Scope Creep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40"/>
          <p:cNvSpPr/>
          <p:nvPr/>
        </p:nvSpPr>
        <p:spPr>
          <a:xfrm>
            <a:off x="5074920" y="442584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dbe4"/>
                </a:solidFill>
                <a:latin typeface="Calibri"/>
              </a:rPr>
              <a:t>Change control processes protect the original project boundaries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1"/>
          <p:cNvSpPr/>
          <p:nvPr/>
        </p:nvSpPr>
        <p:spPr>
          <a:xfrm>
            <a:off x="320040" y="137160"/>
            <a:ext cx="502200" cy="5022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320040" y="13716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3"/>
          <p:cNvSpPr/>
          <p:nvPr/>
        </p:nvSpPr>
        <p:spPr>
          <a:xfrm>
            <a:off x="960120" y="0"/>
            <a:ext cx="78174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7" strike="noStrike">
                <a:solidFill>
                  <a:srgbClr val="ffffff"/>
                </a:solidFill>
                <a:latin typeface="Calibri"/>
              </a:rPr>
              <a:t>ESTIMATION MANAGEMENT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4"/>
          <p:cNvSpPr/>
          <p:nvPr/>
        </p:nvSpPr>
        <p:spPr>
          <a:xfrm>
            <a:off x="365760" y="914400"/>
            <a:ext cx="8411760" cy="867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365760" y="914400"/>
            <a:ext cx="84117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ffff"/>
                </a:solidFill>
                <a:latin typeface="Calibri"/>
              </a:rPr>
              <a:t>Estimation determines how long a project will take and how much it will cost — enabling managers to set realistic expectations and ensure resources are allocated efficiently.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6"/>
          <p:cNvSpPr/>
          <p:nvPr/>
        </p:nvSpPr>
        <p:spPr>
          <a:xfrm>
            <a:off x="365760" y="1920240"/>
            <a:ext cx="2742480" cy="2925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7"/>
          <p:cNvSpPr/>
          <p:nvPr/>
        </p:nvSpPr>
        <p:spPr>
          <a:xfrm>
            <a:off x="365760" y="1920240"/>
            <a:ext cx="2742480" cy="657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>
            <a:off x="365760" y="1920240"/>
            <a:ext cx="2742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📊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Bottom-Up Analysis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9"/>
          <p:cNvSpPr/>
          <p:nvPr/>
        </p:nvSpPr>
        <p:spPr>
          <a:xfrm>
            <a:off x="475560" y="2633400"/>
            <a:ext cx="252288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3a4a"/>
                </a:solidFill>
                <a:latin typeface="Calibri"/>
              </a:rPr>
              <a:t>Estimate individual tasks and components first, then roll up to total project cost and duration. Most accurate but time-consuming.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0"/>
          <p:cNvSpPr/>
          <p:nvPr/>
        </p:nvSpPr>
        <p:spPr>
          <a:xfrm>
            <a:off x="502920" y="3758040"/>
            <a:ext cx="218880" cy="218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11"/>
          <p:cNvSpPr/>
          <p:nvPr/>
        </p:nvSpPr>
        <p:spPr>
          <a:xfrm>
            <a:off x="795600" y="3675960"/>
            <a:ext cx="2239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3a4a"/>
                </a:solidFill>
                <a:latin typeface="Calibri"/>
              </a:rPr>
              <a:t>High accuracy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2"/>
          <p:cNvSpPr/>
          <p:nvPr/>
        </p:nvSpPr>
        <p:spPr>
          <a:xfrm>
            <a:off x="502920" y="4142160"/>
            <a:ext cx="218880" cy="218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13"/>
          <p:cNvSpPr/>
          <p:nvPr/>
        </p:nvSpPr>
        <p:spPr>
          <a:xfrm>
            <a:off x="795600" y="4060080"/>
            <a:ext cx="2239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3a4a"/>
                </a:solidFill>
                <a:latin typeface="Calibri"/>
              </a:rPr>
              <a:t>Detailed granularity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4"/>
          <p:cNvSpPr/>
          <p:nvPr/>
        </p:nvSpPr>
        <p:spPr>
          <a:xfrm>
            <a:off x="502920" y="4526280"/>
            <a:ext cx="218880" cy="218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5"/>
          <p:cNvSpPr/>
          <p:nvPr/>
        </p:nvSpPr>
        <p:spPr>
          <a:xfrm>
            <a:off x="795600" y="4443840"/>
            <a:ext cx="2239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3a4a"/>
                </a:solidFill>
                <a:latin typeface="Calibri"/>
              </a:rPr>
              <a:t>Identifies hidden tasks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6"/>
          <p:cNvSpPr/>
          <p:nvPr/>
        </p:nvSpPr>
        <p:spPr>
          <a:xfrm>
            <a:off x="3246120" y="1920240"/>
            <a:ext cx="2742480" cy="2925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7"/>
          <p:cNvSpPr/>
          <p:nvPr/>
        </p:nvSpPr>
        <p:spPr>
          <a:xfrm>
            <a:off x="3246120" y="1920240"/>
            <a:ext cx="2742480" cy="657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18"/>
          <p:cNvSpPr/>
          <p:nvPr/>
        </p:nvSpPr>
        <p:spPr>
          <a:xfrm>
            <a:off x="3246120" y="1920240"/>
            <a:ext cx="2742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📚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Historical Data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9"/>
          <p:cNvSpPr/>
          <p:nvPr/>
        </p:nvSpPr>
        <p:spPr>
          <a:xfrm>
            <a:off x="3355920" y="2633400"/>
            <a:ext cx="252288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3a4a"/>
                </a:solidFill>
                <a:latin typeface="Calibri"/>
              </a:rPr>
              <a:t>Use data from similar past projects as benchmarks. Fast and reliable when comparable projects exist. Best for repeat work.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0"/>
          <p:cNvSpPr/>
          <p:nvPr/>
        </p:nvSpPr>
        <p:spPr>
          <a:xfrm>
            <a:off x="3383280" y="3758040"/>
            <a:ext cx="218880" cy="218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21"/>
          <p:cNvSpPr/>
          <p:nvPr/>
        </p:nvSpPr>
        <p:spPr>
          <a:xfrm>
            <a:off x="3675960" y="3675960"/>
            <a:ext cx="2239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3a4a"/>
                </a:solidFill>
                <a:latin typeface="Calibri"/>
              </a:rPr>
              <a:t>Fast to apply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2"/>
          <p:cNvSpPr/>
          <p:nvPr/>
        </p:nvSpPr>
        <p:spPr>
          <a:xfrm>
            <a:off x="3383280" y="4142160"/>
            <a:ext cx="218880" cy="218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23"/>
          <p:cNvSpPr/>
          <p:nvPr/>
        </p:nvSpPr>
        <p:spPr>
          <a:xfrm>
            <a:off x="3675960" y="4060080"/>
            <a:ext cx="2239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3a4a"/>
                </a:solidFill>
                <a:latin typeface="Calibri"/>
              </a:rPr>
              <a:t>Based on real outcomes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24"/>
          <p:cNvSpPr/>
          <p:nvPr/>
        </p:nvSpPr>
        <p:spPr>
          <a:xfrm>
            <a:off x="3383280" y="4526280"/>
            <a:ext cx="218880" cy="218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25"/>
          <p:cNvSpPr/>
          <p:nvPr/>
        </p:nvSpPr>
        <p:spPr>
          <a:xfrm>
            <a:off x="3675960" y="4443840"/>
            <a:ext cx="2239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3a4a"/>
                </a:solidFill>
                <a:latin typeface="Calibri"/>
              </a:rPr>
              <a:t>Reduces estimation bias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26"/>
          <p:cNvSpPr/>
          <p:nvPr/>
        </p:nvSpPr>
        <p:spPr>
          <a:xfrm>
            <a:off x="6126480" y="1920240"/>
            <a:ext cx="2742480" cy="2925360"/>
          </a:xfrm>
          <a:prstGeom prst="rect">
            <a:avLst/>
          </a:prstGeom>
          <a:solidFill>
            <a:srgbClr val="ffffff"/>
          </a:solidFill>
          <a:ln w="25400">
            <a:solidFill>
              <a:srgbClr val="5b3d8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7"/>
          <p:cNvSpPr/>
          <p:nvPr/>
        </p:nvSpPr>
        <p:spPr>
          <a:xfrm>
            <a:off x="6126480" y="1920240"/>
            <a:ext cx="2742480" cy="657720"/>
          </a:xfrm>
          <a:prstGeom prst="rect">
            <a:avLst/>
          </a:prstGeom>
          <a:solidFill>
            <a:srgbClr val="5b3d8a"/>
          </a:solidFill>
          <a:ln w="12700">
            <a:solidFill>
              <a:srgbClr val="5b3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28"/>
          <p:cNvSpPr/>
          <p:nvPr/>
        </p:nvSpPr>
        <p:spPr>
          <a:xfrm>
            <a:off x="6126480" y="1920240"/>
            <a:ext cx="2742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🧠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Expert Judgment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29"/>
          <p:cNvSpPr/>
          <p:nvPr/>
        </p:nvSpPr>
        <p:spPr>
          <a:xfrm>
            <a:off x="6236280" y="2633400"/>
            <a:ext cx="252288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3a4a"/>
                </a:solidFill>
                <a:latin typeface="Calibri"/>
              </a:rPr>
              <a:t>Leverage experienced team members' knowledge to estimate effort and duration. Essential when historical data is limited.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30"/>
          <p:cNvSpPr/>
          <p:nvPr/>
        </p:nvSpPr>
        <p:spPr>
          <a:xfrm>
            <a:off x="6263640" y="3758040"/>
            <a:ext cx="218880" cy="218880"/>
          </a:xfrm>
          <a:prstGeom prst="ellipse">
            <a:avLst/>
          </a:prstGeom>
          <a:solidFill>
            <a:srgbClr val="5b3d8a"/>
          </a:solidFill>
          <a:ln w="12700">
            <a:solidFill>
              <a:srgbClr val="5b3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31"/>
          <p:cNvSpPr/>
          <p:nvPr/>
        </p:nvSpPr>
        <p:spPr>
          <a:xfrm>
            <a:off x="6556320" y="3675960"/>
            <a:ext cx="2239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3a4a"/>
                </a:solidFill>
                <a:latin typeface="Calibri"/>
              </a:rPr>
              <a:t>Captures tacit knowledge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32"/>
          <p:cNvSpPr/>
          <p:nvPr/>
        </p:nvSpPr>
        <p:spPr>
          <a:xfrm>
            <a:off x="6263640" y="4142160"/>
            <a:ext cx="218880" cy="218880"/>
          </a:xfrm>
          <a:prstGeom prst="ellipse">
            <a:avLst/>
          </a:prstGeom>
          <a:solidFill>
            <a:srgbClr val="5b3d8a"/>
          </a:solidFill>
          <a:ln w="12700">
            <a:solidFill>
              <a:srgbClr val="5b3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33"/>
          <p:cNvSpPr/>
          <p:nvPr/>
        </p:nvSpPr>
        <p:spPr>
          <a:xfrm>
            <a:off x="6556320" y="4060080"/>
            <a:ext cx="2239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3a4a"/>
                </a:solidFill>
                <a:latin typeface="Calibri"/>
              </a:rPr>
              <a:t>Flexible for new tech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34"/>
          <p:cNvSpPr/>
          <p:nvPr/>
        </p:nvSpPr>
        <p:spPr>
          <a:xfrm>
            <a:off x="6263640" y="4526280"/>
            <a:ext cx="218880" cy="218880"/>
          </a:xfrm>
          <a:prstGeom prst="ellipse">
            <a:avLst/>
          </a:prstGeom>
          <a:solidFill>
            <a:srgbClr val="5b3d8a"/>
          </a:solidFill>
          <a:ln w="12700">
            <a:solidFill>
              <a:srgbClr val="5b3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35"/>
          <p:cNvSpPr/>
          <p:nvPr/>
        </p:nvSpPr>
        <p:spPr>
          <a:xfrm>
            <a:off x="6556320" y="4443840"/>
            <a:ext cx="2239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d3a4a"/>
                </a:solidFill>
                <a:latin typeface="Calibri"/>
              </a:rPr>
              <a:t>Team buy-in built 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e05c44"/>
          </a:solidFill>
          <a:ln w="12700">
            <a:solidFill>
              <a:srgbClr val="e05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1"/>
          <p:cNvSpPr/>
          <p:nvPr/>
        </p:nvSpPr>
        <p:spPr>
          <a:xfrm>
            <a:off x="320040" y="137160"/>
            <a:ext cx="502200" cy="502200"/>
          </a:xfrm>
          <a:prstGeom prst="ellipse">
            <a:avLst/>
          </a:prstGeom>
          <a:solidFill>
            <a:srgbClr val="0d1f2d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320040" y="13716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05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960120" y="0"/>
            <a:ext cx="78174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7" strike="noStrike">
                <a:solidFill>
                  <a:srgbClr val="ffffff"/>
                </a:solidFill>
                <a:latin typeface="Calibri"/>
              </a:rPr>
              <a:t>PROJECT RISK MANAGEMENT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365760" y="868680"/>
            <a:ext cx="8411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b8dbe4"/>
                </a:solidFill>
                <a:latin typeface="Calibri"/>
              </a:rPr>
              <a:t>Risk management identifies and assesses threats that could impact project scope, schedule, or cost — and plans responses before they escalate.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5"/>
          <p:cNvSpPr/>
          <p:nvPr/>
        </p:nvSpPr>
        <p:spPr>
          <a:xfrm>
            <a:off x="274320" y="1444680"/>
            <a:ext cx="2742480" cy="1508040"/>
          </a:xfrm>
          <a:prstGeom prst="rect">
            <a:avLst/>
          </a:prstGeom>
          <a:solidFill>
            <a:srgbClr val="182535"/>
          </a:solidFill>
          <a:ln w="25400">
            <a:solidFill>
              <a:srgbClr val="e05c44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6"/>
          <p:cNvSpPr/>
          <p:nvPr/>
        </p:nvSpPr>
        <p:spPr>
          <a:xfrm>
            <a:off x="274320" y="1444680"/>
            <a:ext cx="2742480" cy="529560"/>
          </a:xfrm>
          <a:prstGeom prst="rect">
            <a:avLst/>
          </a:prstGeom>
          <a:solidFill>
            <a:srgbClr val="e05c44"/>
          </a:solidFill>
          <a:ln w="12700">
            <a:solidFill>
              <a:srgbClr val="e05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7"/>
          <p:cNvSpPr/>
          <p:nvPr/>
        </p:nvSpPr>
        <p:spPr>
          <a:xfrm>
            <a:off x="274320" y="1444680"/>
            <a:ext cx="27424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📅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Schedule Delays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384120" y="2030040"/>
            <a:ext cx="252288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b8dbe4"/>
                </a:solidFill>
                <a:latin typeface="Calibri"/>
              </a:rPr>
              <a:t>Missed milestones, underestimated task durations, resource unavailability, or dependency bottlenecks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9"/>
          <p:cNvSpPr/>
          <p:nvPr/>
        </p:nvSpPr>
        <p:spPr>
          <a:xfrm>
            <a:off x="3154680" y="1444680"/>
            <a:ext cx="2742480" cy="1508040"/>
          </a:xfrm>
          <a:prstGeom prst="rect">
            <a:avLst/>
          </a:prstGeom>
          <a:solidFill>
            <a:srgbClr val="182535"/>
          </a:solidFill>
          <a:ln w="25400">
            <a:solidFill>
              <a:srgbClr val="e67e22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10"/>
          <p:cNvSpPr/>
          <p:nvPr/>
        </p:nvSpPr>
        <p:spPr>
          <a:xfrm>
            <a:off x="3154680" y="1444680"/>
            <a:ext cx="2742480" cy="529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1"/>
          <p:cNvSpPr/>
          <p:nvPr/>
        </p:nvSpPr>
        <p:spPr>
          <a:xfrm>
            <a:off x="3154680" y="1444680"/>
            <a:ext cx="27424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💸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Cost Overruns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2"/>
          <p:cNvSpPr/>
          <p:nvPr/>
        </p:nvSpPr>
        <p:spPr>
          <a:xfrm>
            <a:off x="3264480" y="2030040"/>
            <a:ext cx="252288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b8dbe4"/>
                </a:solidFill>
                <a:latin typeface="Calibri"/>
              </a:rPr>
              <a:t>Unexpected expenses, inaccurate estimates, scope changes, or vendor price increases mid-project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13"/>
          <p:cNvSpPr/>
          <p:nvPr/>
        </p:nvSpPr>
        <p:spPr>
          <a:xfrm>
            <a:off x="6035040" y="1444680"/>
            <a:ext cx="2742480" cy="1508040"/>
          </a:xfrm>
          <a:prstGeom prst="rect">
            <a:avLst/>
          </a:prstGeom>
          <a:solidFill>
            <a:srgbClr val="182535"/>
          </a:solidFill>
          <a:ln w="25400">
            <a:solidFill>
              <a:srgbClr val="5b3d8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14"/>
          <p:cNvSpPr/>
          <p:nvPr/>
        </p:nvSpPr>
        <p:spPr>
          <a:xfrm>
            <a:off x="6035040" y="1444680"/>
            <a:ext cx="2742480" cy="529560"/>
          </a:xfrm>
          <a:prstGeom prst="rect">
            <a:avLst/>
          </a:prstGeom>
          <a:solidFill>
            <a:srgbClr val="5b3d8a"/>
          </a:solidFill>
          <a:ln w="12700">
            <a:solidFill>
              <a:srgbClr val="5b3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15"/>
          <p:cNvSpPr/>
          <p:nvPr/>
        </p:nvSpPr>
        <p:spPr>
          <a:xfrm>
            <a:off x="6035040" y="1444680"/>
            <a:ext cx="27424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🔀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Scope Creep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16"/>
          <p:cNvSpPr/>
          <p:nvPr/>
        </p:nvSpPr>
        <p:spPr>
          <a:xfrm>
            <a:off x="6144840" y="2030040"/>
            <a:ext cx="252288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b8dbe4"/>
                </a:solidFill>
                <a:latin typeface="Calibri"/>
              </a:rPr>
              <a:t>Uncontrolled additions to project requirements without corresponding adjustments to time or budget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365760" y="3063240"/>
            <a:ext cx="8411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5" strike="noStrike">
                <a:solidFill>
                  <a:srgbClr val="e05c44"/>
                </a:solidFill>
                <a:latin typeface="Calibri"/>
              </a:rPr>
              <a:t>RISK MANAGEMENT TOOLS &amp; TECHNIQUES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18"/>
          <p:cNvSpPr/>
          <p:nvPr/>
        </p:nvSpPr>
        <p:spPr>
          <a:xfrm>
            <a:off x="274320" y="3493080"/>
            <a:ext cx="4205520" cy="657720"/>
          </a:xfrm>
          <a:prstGeom prst="rect">
            <a:avLst/>
          </a:prstGeom>
          <a:solidFill>
            <a:srgbClr val="182535"/>
          </a:solidFill>
          <a:ln w="12700">
            <a:solidFill>
              <a:srgbClr val="e05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19"/>
          <p:cNvSpPr/>
          <p:nvPr/>
        </p:nvSpPr>
        <p:spPr>
          <a:xfrm>
            <a:off x="384120" y="3493080"/>
            <a:ext cx="456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20"/>
          <p:cNvSpPr/>
          <p:nvPr/>
        </p:nvSpPr>
        <p:spPr>
          <a:xfrm>
            <a:off x="896040" y="3538800"/>
            <a:ext cx="3474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05c44"/>
                </a:solidFill>
                <a:latin typeface="Calibri"/>
              </a:rPr>
              <a:t>Risk Register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21"/>
          <p:cNvSpPr/>
          <p:nvPr/>
        </p:nvSpPr>
        <p:spPr>
          <a:xfrm>
            <a:off x="896040" y="382212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dbe4"/>
                </a:solidFill>
                <a:latin typeface="Calibri"/>
              </a:rPr>
              <a:t>Document all identified risks with probability, impact, and mitigation plan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22"/>
          <p:cNvSpPr/>
          <p:nvPr/>
        </p:nvSpPr>
        <p:spPr>
          <a:xfrm>
            <a:off x="4709160" y="3493080"/>
            <a:ext cx="4205520" cy="657720"/>
          </a:xfrm>
          <a:prstGeom prst="rect">
            <a:avLst/>
          </a:prstGeom>
          <a:solidFill>
            <a:srgbClr val="182535"/>
          </a:solidFill>
          <a:ln w="12700">
            <a:solidFill>
              <a:srgbClr val="e05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23"/>
          <p:cNvSpPr/>
          <p:nvPr/>
        </p:nvSpPr>
        <p:spPr>
          <a:xfrm>
            <a:off x="4818960" y="3493080"/>
            <a:ext cx="456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🔲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24"/>
          <p:cNvSpPr/>
          <p:nvPr/>
        </p:nvSpPr>
        <p:spPr>
          <a:xfrm>
            <a:off x="5330880" y="3538800"/>
            <a:ext cx="3474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05c44"/>
                </a:solidFill>
                <a:latin typeface="Calibri"/>
              </a:rPr>
              <a:t>SWOT Analysis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25"/>
          <p:cNvSpPr/>
          <p:nvPr/>
        </p:nvSpPr>
        <p:spPr>
          <a:xfrm>
            <a:off x="5330880" y="382212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dbe4"/>
                </a:solidFill>
                <a:latin typeface="Calibri"/>
              </a:rPr>
              <a:t>Strengths, Weaknesses, Opportunities, Threats framework for project context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26"/>
          <p:cNvSpPr/>
          <p:nvPr/>
        </p:nvSpPr>
        <p:spPr>
          <a:xfrm>
            <a:off x="274320" y="4242960"/>
            <a:ext cx="4205520" cy="657720"/>
          </a:xfrm>
          <a:prstGeom prst="rect">
            <a:avLst/>
          </a:prstGeom>
          <a:solidFill>
            <a:srgbClr val="182535"/>
          </a:solidFill>
          <a:ln w="12700">
            <a:solidFill>
              <a:srgbClr val="e05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27"/>
          <p:cNvSpPr/>
          <p:nvPr/>
        </p:nvSpPr>
        <p:spPr>
          <a:xfrm>
            <a:off x="384120" y="4242960"/>
            <a:ext cx="456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28"/>
          <p:cNvSpPr/>
          <p:nvPr/>
        </p:nvSpPr>
        <p:spPr>
          <a:xfrm>
            <a:off x="896040" y="4288680"/>
            <a:ext cx="3474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05c44"/>
                </a:solidFill>
                <a:latin typeface="Calibri"/>
              </a:rPr>
              <a:t>Risk Matrix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29"/>
          <p:cNvSpPr/>
          <p:nvPr/>
        </p:nvSpPr>
        <p:spPr>
          <a:xfrm>
            <a:off x="896040" y="457200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dbe4"/>
                </a:solidFill>
                <a:latin typeface="Calibri"/>
              </a:rPr>
              <a:t>Probability × Impact grid to prioritize which risks need immediate attention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30"/>
          <p:cNvSpPr/>
          <p:nvPr/>
        </p:nvSpPr>
        <p:spPr>
          <a:xfrm>
            <a:off x="4709160" y="4242960"/>
            <a:ext cx="4205520" cy="657720"/>
          </a:xfrm>
          <a:prstGeom prst="rect">
            <a:avLst/>
          </a:prstGeom>
          <a:solidFill>
            <a:srgbClr val="182535"/>
          </a:solidFill>
          <a:ln w="12700">
            <a:solidFill>
              <a:srgbClr val="e05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31"/>
          <p:cNvSpPr/>
          <p:nvPr/>
        </p:nvSpPr>
        <p:spPr>
          <a:xfrm>
            <a:off x="4818960" y="4242960"/>
            <a:ext cx="4564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🛡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32"/>
          <p:cNvSpPr/>
          <p:nvPr/>
        </p:nvSpPr>
        <p:spPr>
          <a:xfrm>
            <a:off x="5330880" y="4288680"/>
            <a:ext cx="3474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05c44"/>
                </a:solidFill>
                <a:latin typeface="Calibri"/>
              </a:rPr>
              <a:t>Contingency Plans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33"/>
          <p:cNvSpPr/>
          <p:nvPr/>
        </p:nvSpPr>
        <p:spPr>
          <a:xfrm>
            <a:off x="5330880" y="457200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dbe4"/>
                </a:solidFill>
                <a:latin typeface="Calibri"/>
              </a:rPr>
              <a:t>Pre-agreed actions to take if a specific risk materializes during the project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145" strike="noStrike">
                <a:solidFill>
                  <a:srgbClr val="ffffff"/>
                </a:solidFill>
                <a:latin typeface="Calibri"/>
              </a:rPr>
              <a:t>SCHEDULING MANAGEMENT  &amp;  COMMUNICATION MANAGEMENT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"/>
          <p:cNvSpPr/>
          <p:nvPr/>
        </p:nvSpPr>
        <p:spPr>
          <a:xfrm>
            <a:off x="274320" y="914400"/>
            <a:ext cx="4159800" cy="3912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3d8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3"/>
          <p:cNvSpPr/>
          <p:nvPr/>
        </p:nvSpPr>
        <p:spPr>
          <a:xfrm>
            <a:off x="274320" y="914400"/>
            <a:ext cx="4159800" cy="566280"/>
          </a:xfrm>
          <a:prstGeom prst="rect">
            <a:avLst/>
          </a:prstGeom>
          <a:solidFill>
            <a:srgbClr val="5b3d8a"/>
          </a:solidFill>
          <a:ln w="12700">
            <a:solidFill>
              <a:srgbClr val="5b3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4"/>
          <p:cNvSpPr/>
          <p:nvPr/>
        </p:nvSpPr>
        <p:spPr>
          <a:xfrm>
            <a:off x="384120" y="969120"/>
            <a:ext cx="456480" cy="456480"/>
          </a:xfrm>
          <a:prstGeom prst="ellipse">
            <a:avLst/>
          </a:prstGeom>
          <a:solidFill>
            <a:srgbClr val="0d1f2d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5"/>
          <p:cNvSpPr/>
          <p:nvPr/>
        </p:nvSpPr>
        <p:spPr>
          <a:xfrm>
            <a:off x="384120" y="9691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960120" y="914400"/>
            <a:ext cx="33368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📅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SCHEDULING MANAGEMENT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7"/>
          <p:cNvSpPr/>
          <p:nvPr/>
        </p:nvSpPr>
        <p:spPr>
          <a:xfrm>
            <a:off x="411480" y="1554480"/>
            <a:ext cx="38854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3a4a"/>
                </a:solidFill>
                <a:latin typeface="Calibri"/>
              </a:rPr>
              <a:t>Creating and managing a project schedule that assigns tasks, owners, and timelines to ensure on-time delivery.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8"/>
          <p:cNvSpPr/>
          <p:nvPr/>
        </p:nvSpPr>
        <p:spPr>
          <a:xfrm>
            <a:off x="411480" y="2194560"/>
            <a:ext cx="3885480" cy="438120"/>
          </a:xfrm>
          <a:prstGeom prst="rect">
            <a:avLst/>
          </a:prstGeom>
          <a:solidFill>
            <a:srgbClr val="eef5f8"/>
          </a:solidFill>
          <a:ln w="12700">
            <a:solidFill>
              <a:srgbClr val="5b3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9"/>
          <p:cNvSpPr/>
          <p:nvPr/>
        </p:nvSpPr>
        <p:spPr>
          <a:xfrm>
            <a:off x="411480" y="2194560"/>
            <a:ext cx="163800" cy="438120"/>
          </a:xfrm>
          <a:prstGeom prst="rect">
            <a:avLst/>
          </a:prstGeom>
          <a:solidFill>
            <a:srgbClr val="5b3d8a"/>
          </a:solidFill>
          <a:ln w="12700">
            <a:solidFill>
              <a:srgbClr val="5b3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10"/>
          <p:cNvSpPr/>
          <p:nvPr/>
        </p:nvSpPr>
        <p:spPr>
          <a:xfrm>
            <a:off x="640080" y="2212920"/>
            <a:ext cx="1690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d1f2d"/>
                </a:solidFill>
                <a:latin typeface="Calibri"/>
              </a:rPr>
              <a:t>Task Identification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1"/>
          <p:cNvSpPr/>
          <p:nvPr/>
        </p:nvSpPr>
        <p:spPr>
          <a:xfrm>
            <a:off x="640080" y="2432160"/>
            <a:ext cx="35654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d8a9c"/>
                </a:solidFill>
                <a:latin typeface="Calibri"/>
              </a:rPr>
              <a:t>Break work into individual deliverable units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2"/>
          <p:cNvSpPr/>
          <p:nvPr/>
        </p:nvSpPr>
        <p:spPr>
          <a:xfrm>
            <a:off x="411480" y="2706480"/>
            <a:ext cx="3885480" cy="438120"/>
          </a:xfrm>
          <a:prstGeom prst="rect">
            <a:avLst/>
          </a:prstGeom>
          <a:solidFill>
            <a:srgbClr val="eef5f8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3"/>
          <p:cNvSpPr/>
          <p:nvPr/>
        </p:nvSpPr>
        <p:spPr>
          <a:xfrm>
            <a:off x="411480" y="2706480"/>
            <a:ext cx="163800" cy="438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14"/>
          <p:cNvSpPr/>
          <p:nvPr/>
        </p:nvSpPr>
        <p:spPr>
          <a:xfrm>
            <a:off x="640080" y="2724840"/>
            <a:ext cx="1690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d1f2d"/>
                </a:solidFill>
                <a:latin typeface="Calibri"/>
              </a:rPr>
              <a:t>Timeline Assignment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15"/>
          <p:cNvSpPr/>
          <p:nvPr/>
        </p:nvSpPr>
        <p:spPr>
          <a:xfrm>
            <a:off x="640080" y="2944440"/>
            <a:ext cx="35654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d8a9c"/>
                </a:solidFill>
                <a:latin typeface="Calibri"/>
              </a:rPr>
              <a:t>Set start/end dates and milestones for each task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16"/>
          <p:cNvSpPr/>
          <p:nvPr/>
        </p:nvSpPr>
        <p:spPr>
          <a:xfrm>
            <a:off x="411480" y="3218760"/>
            <a:ext cx="3885480" cy="438120"/>
          </a:xfrm>
          <a:prstGeom prst="rect">
            <a:avLst/>
          </a:prstGeom>
          <a:solidFill>
            <a:srgbClr val="eef5f8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7"/>
          <p:cNvSpPr/>
          <p:nvPr/>
        </p:nvSpPr>
        <p:spPr>
          <a:xfrm>
            <a:off x="411480" y="3218760"/>
            <a:ext cx="163800" cy="438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18"/>
          <p:cNvSpPr/>
          <p:nvPr/>
        </p:nvSpPr>
        <p:spPr>
          <a:xfrm>
            <a:off x="640080" y="3237120"/>
            <a:ext cx="1690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d1f2d"/>
                </a:solidFill>
                <a:latin typeface="Calibri"/>
              </a:rPr>
              <a:t>Owner Assignment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19"/>
          <p:cNvSpPr/>
          <p:nvPr/>
        </p:nvSpPr>
        <p:spPr>
          <a:xfrm>
            <a:off x="640080" y="3456360"/>
            <a:ext cx="35654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d8a9c"/>
                </a:solidFill>
                <a:latin typeface="Calibri"/>
              </a:rPr>
              <a:t>Assign responsible team members to each task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20"/>
          <p:cNvSpPr/>
          <p:nvPr/>
        </p:nvSpPr>
        <p:spPr>
          <a:xfrm>
            <a:off x="411480" y="3730680"/>
            <a:ext cx="3885480" cy="438120"/>
          </a:xfrm>
          <a:prstGeom prst="rect">
            <a:avLst/>
          </a:prstGeom>
          <a:solidFill>
            <a:srgbClr val="eef5f8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21"/>
          <p:cNvSpPr/>
          <p:nvPr/>
        </p:nvSpPr>
        <p:spPr>
          <a:xfrm>
            <a:off x="411480" y="3730680"/>
            <a:ext cx="163800" cy="4381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22"/>
          <p:cNvSpPr/>
          <p:nvPr/>
        </p:nvSpPr>
        <p:spPr>
          <a:xfrm>
            <a:off x="640080" y="3749040"/>
            <a:ext cx="1690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d1f2d"/>
                </a:solidFill>
                <a:latin typeface="Calibri"/>
              </a:rPr>
              <a:t>Dependency Mapping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23"/>
          <p:cNvSpPr/>
          <p:nvPr/>
        </p:nvSpPr>
        <p:spPr>
          <a:xfrm>
            <a:off x="640080" y="3968640"/>
            <a:ext cx="35654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d8a9c"/>
                </a:solidFill>
                <a:latin typeface="Calibri"/>
              </a:rPr>
              <a:t>Identify task dependencies to sequence correctly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4"/>
          <p:cNvSpPr/>
          <p:nvPr/>
        </p:nvSpPr>
        <p:spPr>
          <a:xfrm>
            <a:off x="411480" y="4242960"/>
            <a:ext cx="3885480" cy="438120"/>
          </a:xfrm>
          <a:prstGeom prst="rect">
            <a:avLst/>
          </a:prstGeom>
          <a:solidFill>
            <a:srgbClr val="eef5f8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5"/>
          <p:cNvSpPr/>
          <p:nvPr/>
        </p:nvSpPr>
        <p:spPr>
          <a:xfrm>
            <a:off x="411480" y="4242960"/>
            <a:ext cx="163800" cy="438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26"/>
          <p:cNvSpPr/>
          <p:nvPr/>
        </p:nvSpPr>
        <p:spPr>
          <a:xfrm>
            <a:off x="640080" y="4260960"/>
            <a:ext cx="1690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d1f2d"/>
                </a:solidFill>
                <a:latin typeface="Calibri"/>
              </a:rPr>
              <a:t>Gantt Charts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27"/>
          <p:cNvSpPr/>
          <p:nvPr/>
        </p:nvSpPr>
        <p:spPr>
          <a:xfrm>
            <a:off x="640080" y="4480560"/>
            <a:ext cx="35654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d8a9c"/>
                </a:solidFill>
                <a:latin typeface="Calibri"/>
              </a:rPr>
              <a:t>Visualise schedule on a timeline for all stakeholders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28"/>
          <p:cNvSpPr/>
          <p:nvPr/>
        </p:nvSpPr>
        <p:spPr>
          <a:xfrm>
            <a:off x="4709160" y="914400"/>
            <a:ext cx="4159800" cy="3912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29"/>
          <p:cNvSpPr/>
          <p:nvPr/>
        </p:nvSpPr>
        <p:spPr>
          <a:xfrm>
            <a:off x="4709160" y="914400"/>
            <a:ext cx="4159800" cy="5662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30"/>
          <p:cNvSpPr/>
          <p:nvPr/>
        </p:nvSpPr>
        <p:spPr>
          <a:xfrm>
            <a:off x="4818960" y="969120"/>
            <a:ext cx="456480" cy="456480"/>
          </a:xfrm>
          <a:prstGeom prst="ellipse">
            <a:avLst/>
          </a:prstGeom>
          <a:solidFill>
            <a:srgbClr val="0d1f2d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31"/>
          <p:cNvSpPr/>
          <p:nvPr/>
        </p:nvSpPr>
        <p:spPr>
          <a:xfrm>
            <a:off x="4818960" y="9691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32"/>
          <p:cNvSpPr/>
          <p:nvPr/>
        </p:nvSpPr>
        <p:spPr>
          <a:xfrm>
            <a:off x="5394960" y="914400"/>
            <a:ext cx="33368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💬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COMMUNICATION MANAGEMENT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33"/>
          <p:cNvSpPr/>
          <p:nvPr/>
        </p:nvSpPr>
        <p:spPr>
          <a:xfrm>
            <a:off x="4846320" y="1554480"/>
            <a:ext cx="38854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d3a4a"/>
                </a:solidFill>
                <a:latin typeface="Calibri"/>
              </a:rPr>
              <a:t>Communication is a key pillar of PM — keeping all stakeholders, developers, and decision-makers aligned throughout the project.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34"/>
          <p:cNvSpPr/>
          <p:nvPr/>
        </p:nvSpPr>
        <p:spPr>
          <a:xfrm>
            <a:off x="4846320" y="2194560"/>
            <a:ext cx="3885480" cy="438120"/>
          </a:xfrm>
          <a:prstGeom prst="rect">
            <a:avLst/>
          </a:prstGeom>
          <a:solidFill>
            <a:srgbClr val="eef5f8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5"/>
          <p:cNvSpPr/>
          <p:nvPr/>
        </p:nvSpPr>
        <p:spPr>
          <a:xfrm>
            <a:off x="4846320" y="2194560"/>
            <a:ext cx="163800" cy="4381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36"/>
          <p:cNvSpPr/>
          <p:nvPr/>
        </p:nvSpPr>
        <p:spPr>
          <a:xfrm>
            <a:off x="5074920" y="2212920"/>
            <a:ext cx="1690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d1f2d"/>
                </a:solidFill>
                <a:latin typeface="Calibri"/>
              </a:rPr>
              <a:t>Stakeholder Updates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37"/>
          <p:cNvSpPr/>
          <p:nvPr/>
        </p:nvSpPr>
        <p:spPr>
          <a:xfrm>
            <a:off x="5074920" y="2432160"/>
            <a:ext cx="35654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d8a9c"/>
                </a:solidFill>
                <a:latin typeface="Calibri"/>
              </a:rPr>
              <a:t>Regular status reports to sponsors and clients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38"/>
          <p:cNvSpPr/>
          <p:nvPr/>
        </p:nvSpPr>
        <p:spPr>
          <a:xfrm>
            <a:off x="4846320" y="2706480"/>
            <a:ext cx="3885480" cy="438120"/>
          </a:xfrm>
          <a:prstGeom prst="rect">
            <a:avLst/>
          </a:prstGeom>
          <a:solidFill>
            <a:srgbClr val="eef5f8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39"/>
          <p:cNvSpPr/>
          <p:nvPr/>
        </p:nvSpPr>
        <p:spPr>
          <a:xfrm>
            <a:off x="4846320" y="2706480"/>
            <a:ext cx="163800" cy="438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40"/>
          <p:cNvSpPr/>
          <p:nvPr/>
        </p:nvSpPr>
        <p:spPr>
          <a:xfrm>
            <a:off x="5074920" y="2724840"/>
            <a:ext cx="1690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d1f2d"/>
                </a:solidFill>
                <a:latin typeface="Calibri"/>
              </a:rPr>
              <a:t>Team Communication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41"/>
          <p:cNvSpPr/>
          <p:nvPr/>
        </p:nvSpPr>
        <p:spPr>
          <a:xfrm>
            <a:off x="5074920" y="2944440"/>
            <a:ext cx="35654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d8a9c"/>
                </a:solidFill>
                <a:latin typeface="Calibri"/>
              </a:rPr>
              <a:t>Daily standups and sprint updates across dev team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42"/>
          <p:cNvSpPr/>
          <p:nvPr/>
        </p:nvSpPr>
        <p:spPr>
          <a:xfrm>
            <a:off x="4846320" y="3218760"/>
            <a:ext cx="3885480" cy="438120"/>
          </a:xfrm>
          <a:prstGeom prst="rect">
            <a:avLst/>
          </a:prstGeom>
          <a:solidFill>
            <a:srgbClr val="eef5f8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43"/>
          <p:cNvSpPr/>
          <p:nvPr/>
        </p:nvSpPr>
        <p:spPr>
          <a:xfrm>
            <a:off x="4846320" y="3218760"/>
            <a:ext cx="163800" cy="438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44"/>
          <p:cNvSpPr/>
          <p:nvPr/>
        </p:nvSpPr>
        <p:spPr>
          <a:xfrm>
            <a:off x="5074920" y="3237120"/>
            <a:ext cx="1690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d1f2d"/>
                </a:solidFill>
                <a:latin typeface="Calibri"/>
              </a:rPr>
              <a:t>Change Notifications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45"/>
          <p:cNvSpPr/>
          <p:nvPr/>
        </p:nvSpPr>
        <p:spPr>
          <a:xfrm>
            <a:off x="5074920" y="3456360"/>
            <a:ext cx="35654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d8a9c"/>
                </a:solidFill>
                <a:latin typeface="Calibri"/>
              </a:rPr>
              <a:t>Communicate scope/timeline changes immediately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46"/>
          <p:cNvSpPr/>
          <p:nvPr/>
        </p:nvSpPr>
        <p:spPr>
          <a:xfrm>
            <a:off x="4846320" y="3730680"/>
            <a:ext cx="3885480" cy="438120"/>
          </a:xfrm>
          <a:prstGeom prst="rect">
            <a:avLst/>
          </a:prstGeom>
          <a:solidFill>
            <a:srgbClr val="eef5f8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47"/>
          <p:cNvSpPr/>
          <p:nvPr/>
        </p:nvSpPr>
        <p:spPr>
          <a:xfrm>
            <a:off x="4846320" y="3730680"/>
            <a:ext cx="163800" cy="4381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48"/>
          <p:cNvSpPr/>
          <p:nvPr/>
        </p:nvSpPr>
        <p:spPr>
          <a:xfrm>
            <a:off x="5074920" y="3749040"/>
            <a:ext cx="1690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d1f2d"/>
                </a:solidFill>
                <a:latin typeface="Calibri"/>
              </a:rPr>
              <a:t>Progress Reporting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49"/>
          <p:cNvSpPr/>
          <p:nvPr/>
        </p:nvSpPr>
        <p:spPr>
          <a:xfrm>
            <a:off x="5074920" y="3968640"/>
            <a:ext cx="35654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d8a9c"/>
                </a:solidFill>
                <a:latin typeface="Calibri"/>
              </a:rPr>
              <a:t>Dashboards and reports tracking key metrics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50"/>
          <p:cNvSpPr/>
          <p:nvPr/>
        </p:nvSpPr>
        <p:spPr>
          <a:xfrm>
            <a:off x="4846320" y="4242960"/>
            <a:ext cx="3885480" cy="438120"/>
          </a:xfrm>
          <a:prstGeom prst="rect">
            <a:avLst/>
          </a:prstGeom>
          <a:solidFill>
            <a:srgbClr val="eef5f8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51"/>
          <p:cNvSpPr/>
          <p:nvPr/>
        </p:nvSpPr>
        <p:spPr>
          <a:xfrm>
            <a:off x="4846320" y="4242960"/>
            <a:ext cx="163800" cy="438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52"/>
          <p:cNvSpPr/>
          <p:nvPr/>
        </p:nvSpPr>
        <p:spPr>
          <a:xfrm>
            <a:off x="5074920" y="4260960"/>
            <a:ext cx="1690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d1f2d"/>
                </a:solidFill>
                <a:latin typeface="Calibri"/>
              </a:rPr>
              <a:t>PM Software &amp; Email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53"/>
          <p:cNvSpPr/>
          <p:nvPr/>
        </p:nvSpPr>
        <p:spPr>
          <a:xfrm>
            <a:off x="5074920" y="4480560"/>
            <a:ext cx="35654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d8a9c"/>
                </a:solidFill>
                <a:latin typeface="Calibri"/>
              </a:rPr>
              <a:t>Tools like Jira, Slack, Teams, and Confluence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1"/>
          <p:cNvSpPr/>
          <p:nvPr/>
        </p:nvSpPr>
        <p:spPr>
          <a:xfrm>
            <a:off x="320040" y="137160"/>
            <a:ext cx="502200" cy="502200"/>
          </a:xfrm>
          <a:prstGeom prst="ellipse">
            <a:avLst/>
          </a:prstGeom>
          <a:solidFill>
            <a:srgbClr val="0d1f2d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2"/>
          <p:cNvSpPr/>
          <p:nvPr/>
        </p:nvSpPr>
        <p:spPr>
          <a:xfrm>
            <a:off x="320040" y="13716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08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3"/>
          <p:cNvSpPr/>
          <p:nvPr/>
        </p:nvSpPr>
        <p:spPr>
          <a:xfrm>
            <a:off x="960120" y="0"/>
            <a:ext cx="78174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7" strike="noStrike">
                <a:solidFill>
                  <a:srgbClr val="ffffff"/>
                </a:solidFill>
                <a:latin typeface="Calibri"/>
              </a:rPr>
              <a:t>CONFIGURATION MANAGEMENT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Shape 4"/>
          <p:cNvSpPr/>
          <p:nvPr/>
        </p:nvSpPr>
        <p:spPr>
          <a:xfrm>
            <a:off x="365760" y="914400"/>
            <a:ext cx="8411760" cy="913680"/>
          </a:xfrm>
          <a:prstGeom prst="rect">
            <a:avLst/>
          </a:prstGeom>
          <a:solidFill>
            <a:srgbClr val="1a2535"/>
          </a:solidFill>
          <a:ln w="1905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5"/>
          <p:cNvSpPr/>
          <p:nvPr/>
        </p:nvSpPr>
        <p:spPr>
          <a:xfrm>
            <a:off x="502920" y="91440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b8dbe4"/>
                </a:solidFill>
                <a:latin typeface="Calibri"/>
              </a:rPr>
              <a:t>Configuration management is the process of tracking and managing changes to the development team's work — including code changes, development tools, and all software artifacts — to keep the project history accurate and auditable.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6"/>
          <p:cNvSpPr/>
          <p:nvPr/>
        </p:nvSpPr>
        <p:spPr>
          <a:xfrm>
            <a:off x="365760" y="1920240"/>
            <a:ext cx="8411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5" strike="noStrike">
                <a:solidFill>
                  <a:srgbClr val="e67e22"/>
                </a:solidFill>
                <a:latin typeface="Calibri"/>
              </a:rPr>
              <a:t>WHY CONFIGURATION MANAGEMENT MATTERS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Shape 7"/>
          <p:cNvSpPr/>
          <p:nvPr/>
        </p:nvSpPr>
        <p:spPr>
          <a:xfrm>
            <a:off x="274320" y="2331720"/>
            <a:ext cx="2742480" cy="1416600"/>
          </a:xfrm>
          <a:prstGeom prst="rect">
            <a:avLst/>
          </a:prstGeom>
          <a:solidFill>
            <a:srgbClr val="182535"/>
          </a:solidFill>
          <a:ln w="25400">
            <a:solidFill>
              <a:srgbClr val="1c729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Shape 8"/>
          <p:cNvSpPr/>
          <p:nvPr/>
        </p:nvSpPr>
        <p:spPr>
          <a:xfrm>
            <a:off x="274320" y="2331720"/>
            <a:ext cx="2742480" cy="529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9"/>
          <p:cNvSpPr/>
          <p:nvPr/>
        </p:nvSpPr>
        <p:spPr>
          <a:xfrm>
            <a:off x="274320" y="2331720"/>
            <a:ext cx="27424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🔧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Easier Tool Management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10"/>
          <p:cNvSpPr/>
          <p:nvPr/>
        </p:nvSpPr>
        <p:spPr>
          <a:xfrm>
            <a:off x="384120" y="2907720"/>
            <a:ext cx="25228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b8dbe4"/>
                </a:solidFill>
                <a:latin typeface="Calibri"/>
              </a:rPr>
              <a:t>Standardised environments ensure all developers use the same tools and versions, reducing conflicts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11"/>
          <p:cNvSpPr/>
          <p:nvPr/>
        </p:nvSpPr>
        <p:spPr>
          <a:xfrm>
            <a:off x="3154680" y="2331720"/>
            <a:ext cx="2742480" cy="1416600"/>
          </a:xfrm>
          <a:prstGeom prst="rect">
            <a:avLst/>
          </a:prstGeom>
          <a:solidFill>
            <a:srgbClr val="182535"/>
          </a:solidFill>
          <a:ln w="25400">
            <a:solidFill>
              <a:srgbClr val="e67e22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Shape 12"/>
          <p:cNvSpPr/>
          <p:nvPr/>
        </p:nvSpPr>
        <p:spPr>
          <a:xfrm>
            <a:off x="3154680" y="2331720"/>
            <a:ext cx="2742480" cy="529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13"/>
          <p:cNvSpPr/>
          <p:nvPr/>
        </p:nvSpPr>
        <p:spPr>
          <a:xfrm>
            <a:off x="3154680" y="2331720"/>
            <a:ext cx="27424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📝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Track Code Changes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14"/>
          <p:cNvSpPr/>
          <p:nvPr/>
        </p:nvSpPr>
        <p:spPr>
          <a:xfrm>
            <a:off x="3264480" y="2907720"/>
            <a:ext cx="25228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b8dbe4"/>
                </a:solidFill>
                <a:latin typeface="Calibri"/>
              </a:rPr>
              <a:t>Every code modification is logged, attributed, and reversible — preventing accidental overwrites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15"/>
          <p:cNvSpPr/>
          <p:nvPr/>
        </p:nvSpPr>
        <p:spPr>
          <a:xfrm>
            <a:off x="6035040" y="2331720"/>
            <a:ext cx="2742480" cy="1416600"/>
          </a:xfrm>
          <a:prstGeom prst="rect">
            <a:avLst/>
          </a:prstGeom>
          <a:solidFill>
            <a:srgbClr val="182535"/>
          </a:solidFill>
          <a:ln w="25400">
            <a:solidFill>
              <a:srgbClr val="5b3d8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16"/>
          <p:cNvSpPr/>
          <p:nvPr/>
        </p:nvSpPr>
        <p:spPr>
          <a:xfrm>
            <a:off x="6035040" y="2331720"/>
            <a:ext cx="2742480" cy="529560"/>
          </a:xfrm>
          <a:prstGeom prst="rect">
            <a:avLst/>
          </a:prstGeom>
          <a:solidFill>
            <a:srgbClr val="5b3d8a"/>
          </a:solidFill>
          <a:ln w="12700">
            <a:solidFill>
              <a:srgbClr val="5b3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17"/>
          <p:cNvSpPr/>
          <p:nvPr/>
        </p:nvSpPr>
        <p:spPr>
          <a:xfrm>
            <a:off x="6035040" y="2331720"/>
            <a:ext cx="27424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👥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Manage Team's Work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18"/>
          <p:cNvSpPr/>
          <p:nvPr/>
        </p:nvSpPr>
        <p:spPr>
          <a:xfrm>
            <a:off x="6144840" y="2907720"/>
            <a:ext cx="25228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b8dbe4"/>
                </a:solidFill>
                <a:latin typeface="Calibri"/>
              </a:rPr>
              <a:t>Oversee what each team member is working on, preventing duplicate work and merging conflicts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19"/>
          <p:cNvSpPr/>
          <p:nvPr/>
        </p:nvSpPr>
        <p:spPr>
          <a:xfrm>
            <a:off x="365760" y="3840480"/>
            <a:ext cx="8411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5" strike="noStrike">
                <a:solidFill>
                  <a:srgbClr val="e67e22"/>
                </a:solidFill>
                <a:latin typeface="Calibri"/>
              </a:rPr>
              <a:t>CONFIGURATION MANAGEMENT TOOLS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20"/>
          <p:cNvSpPr/>
          <p:nvPr/>
        </p:nvSpPr>
        <p:spPr>
          <a:xfrm>
            <a:off x="274320" y="4224600"/>
            <a:ext cx="4205520" cy="365040"/>
          </a:xfrm>
          <a:prstGeom prst="rect">
            <a:avLst/>
          </a:prstGeom>
          <a:solidFill>
            <a:srgbClr val="1a2535"/>
          </a:solidFill>
          <a:ln w="635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21"/>
          <p:cNvSpPr/>
          <p:nvPr/>
        </p:nvSpPr>
        <p:spPr>
          <a:xfrm>
            <a:off x="384120" y="4306680"/>
            <a:ext cx="200520" cy="2005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22"/>
          <p:cNvSpPr/>
          <p:nvPr/>
        </p:nvSpPr>
        <p:spPr>
          <a:xfrm>
            <a:off x="658440" y="4242960"/>
            <a:ext cx="1828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67e22"/>
                </a:solidFill>
                <a:latin typeface="Calibri"/>
              </a:rPr>
              <a:t>Git / GitHub / GitLab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23"/>
          <p:cNvSpPr/>
          <p:nvPr/>
        </p:nvSpPr>
        <p:spPr>
          <a:xfrm>
            <a:off x="658440" y="4425840"/>
            <a:ext cx="37026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8dbe4"/>
                </a:solidFill>
                <a:latin typeface="Calibri"/>
              </a:rPr>
              <a:t>Version control for all source code changes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Shape 24"/>
          <p:cNvSpPr/>
          <p:nvPr/>
        </p:nvSpPr>
        <p:spPr>
          <a:xfrm>
            <a:off x="4709160" y="4224600"/>
            <a:ext cx="4205520" cy="365040"/>
          </a:xfrm>
          <a:prstGeom prst="rect">
            <a:avLst/>
          </a:prstGeom>
          <a:solidFill>
            <a:srgbClr val="1a2535"/>
          </a:solidFill>
          <a:ln w="635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25"/>
          <p:cNvSpPr/>
          <p:nvPr/>
        </p:nvSpPr>
        <p:spPr>
          <a:xfrm>
            <a:off x="4818960" y="4306680"/>
            <a:ext cx="200520" cy="2005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26"/>
          <p:cNvSpPr/>
          <p:nvPr/>
        </p:nvSpPr>
        <p:spPr>
          <a:xfrm>
            <a:off x="5093280" y="4242960"/>
            <a:ext cx="1828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67e22"/>
                </a:solidFill>
                <a:latin typeface="Calibri"/>
              </a:rPr>
              <a:t>Docker / Kubernetes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27"/>
          <p:cNvSpPr/>
          <p:nvPr/>
        </p:nvSpPr>
        <p:spPr>
          <a:xfrm>
            <a:off x="5093280" y="4425840"/>
            <a:ext cx="37026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8dbe4"/>
                </a:solidFill>
                <a:latin typeface="Calibri"/>
              </a:rPr>
              <a:t>Container management for consistent environments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Shape 28"/>
          <p:cNvSpPr/>
          <p:nvPr/>
        </p:nvSpPr>
        <p:spPr>
          <a:xfrm>
            <a:off x="274320" y="4663440"/>
            <a:ext cx="4205520" cy="365040"/>
          </a:xfrm>
          <a:prstGeom prst="rect">
            <a:avLst/>
          </a:prstGeom>
          <a:solidFill>
            <a:srgbClr val="1a2535"/>
          </a:solidFill>
          <a:ln w="635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Shape 29"/>
          <p:cNvSpPr/>
          <p:nvPr/>
        </p:nvSpPr>
        <p:spPr>
          <a:xfrm>
            <a:off x="384120" y="4745880"/>
            <a:ext cx="200520" cy="2005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30"/>
          <p:cNvSpPr/>
          <p:nvPr/>
        </p:nvSpPr>
        <p:spPr>
          <a:xfrm>
            <a:off x="658440" y="4681800"/>
            <a:ext cx="1828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67e22"/>
                </a:solidFill>
                <a:latin typeface="Calibri"/>
              </a:rPr>
              <a:t>CI/CD Pipelines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31"/>
          <p:cNvSpPr/>
          <p:nvPr/>
        </p:nvSpPr>
        <p:spPr>
          <a:xfrm>
            <a:off x="658440" y="4864680"/>
            <a:ext cx="37026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8dbe4"/>
                </a:solidFill>
                <a:latin typeface="Calibri"/>
              </a:rPr>
              <a:t>Automated build, test, and deployment workflows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32"/>
          <p:cNvSpPr/>
          <p:nvPr/>
        </p:nvSpPr>
        <p:spPr>
          <a:xfrm>
            <a:off x="4709160" y="4663440"/>
            <a:ext cx="4205520" cy="365040"/>
          </a:xfrm>
          <a:prstGeom prst="rect">
            <a:avLst/>
          </a:prstGeom>
          <a:solidFill>
            <a:srgbClr val="1a2535"/>
          </a:solidFill>
          <a:ln w="635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33"/>
          <p:cNvSpPr/>
          <p:nvPr/>
        </p:nvSpPr>
        <p:spPr>
          <a:xfrm>
            <a:off x="4818960" y="4745880"/>
            <a:ext cx="200520" cy="2005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34"/>
          <p:cNvSpPr/>
          <p:nvPr/>
        </p:nvSpPr>
        <p:spPr>
          <a:xfrm>
            <a:off x="5093280" y="4681800"/>
            <a:ext cx="1828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67e22"/>
                </a:solidFill>
                <a:latin typeface="Calibri"/>
              </a:rPr>
              <a:t>Jira / Confluence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35"/>
          <p:cNvSpPr/>
          <p:nvPr/>
        </p:nvSpPr>
        <p:spPr>
          <a:xfrm>
            <a:off x="5093280" y="4864680"/>
            <a:ext cx="37026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8dbe4"/>
                </a:solidFill>
                <a:latin typeface="Calibri"/>
              </a:rPr>
              <a:t>Issue tracking, documentation, and knowledge base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197" strike="noStrike">
                <a:solidFill>
                  <a:srgbClr val="ffffff"/>
                </a:solidFill>
                <a:latin typeface="Calibri"/>
              </a:rPr>
              <a:t>THE SOFTWARE PROJECT MANAGEMENT PROCESS FLOW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2"/>
          <p:cNvSpPr/>
          <p:nvPr/>
        </p:nvSpPr>
        <p:spPr>
          <a:xfrm>
            <a:off x="1737360" y="1874520"/>
            <a:ext cx="227880" cy="163800"/>
          </a:xfrm>
          <a:prstGeom prst="rect">
            <a:avLst/>
          </a:prstGeom>
          <a:solidFill>
            <a:srgbClr val="5d8a9c"/>
          </a:solidFill>
          <a:ln w="12700">
            <a:solidFill>
              <a:srgbClr val="5d8a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Shape 3"/>
          <p:cNvSpPr/>
          <p:nvPr/>
        </p:nvSpPr>
        <p:spPr>
          <a:xfrm>
            <a:off x="411480" y="896040"/>
            <a:ext cx="1005120" cy="10051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4"/>
          <p:cNvSpPr/>
          <p:nvPr/>
        </p:nvSpPr>
        <p:spPr>
          <a:xfrm>
            <a:off x="411480" y="896040"/>
            <a:ext cx="1005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🚀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5"/>
          <p:cNvSpPr/>
          <p:nvPr/>
        </p:nvSpPr>
        <p:spPr>
          <a:xfrm>
            <a:off x="228600" y="2011680"/>
            <a:ext cx="1599480" cy="281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6"/>
          <p:cNvSpPr/>
          <p:nvPr/>
        </p:nvSpPr>
        <p:spPr>
          <a:xfrm>
            <a:off x="228600" y="2011680"/>
            <a:ext cx="1599480" cy="474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7"/>
          <p:cNvSpPr/>
          <p:nvPr/>
        </p:nvSpPr>
        <p:spPr>
          <a:xfrm>
            <a:off x="228600" y="2011680"/>
            <a:ext cx="15994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1. INITIATION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8"/>
          <p:cNvSpPr/>
          <p:nvPr/>
        </p:nvSpPr>
        <p:spPr>
          <a:xfrm>
            <a:off x="320040" y="2541960"/>
            <a:ext cx="1416600" cy="22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d3a4a"/>
                </a:solidFill>
                <a:latin typeface="Calibri"/>
              </a:rPr>
              <a:t>Define project goals, scope, and feasibility. Identify stakeholders and resources.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9"/>
          <p:cNvSpPr/>
          <p:nvPr/>
        </p:nvSpPr>
        <p:spPr>
          <a:xfrm>
            <a:off x="3474720" y="1874520"/>
            <a:ext cx="227880" cy="163800"/>
          </a:xfrm>
          <a:prstGeom prst="rect">
            <a:avLst/>
          </a:prstGeom>
          <a:solidFill>
            <a:srgbClr val="5d8a9c"/>
          </a:solidFill>
          <a:ln w="12700">
            <a:solidFill>
              <a:srgbClr val="5d8a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Shape 10"/>
          <p:cNvSpPr/>
          <p:nvPr/>
        </p:nvSpPr>
        <p:spPr>
          <a:xfrm>
            <a:off x="2148840" y="896040"/>
            <a:ext cx="1005120" cy="10051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11"/>
          <p:cNvSpPr/>
          <p:nvPr/>
        </p:nvSpPr>
        <p:spPr>
          <a:xfrm>
            <a:off x="2148840" y="896040"/>
            <a:ext cx="1005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📋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2"/>
          <p:cNvSpPr/>
          <p:nvPr/>
        </p:nvSpPr>
        <p:spPr>
          <a:xfrm>
            <a:off x="1965960" y="2011680"/>
            <a:ext cx="1599480" cy="281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3"/>
          <p:cNvSpPr/>
          <p:nvPr/>
        </p:nvSpPr>
        <p:spPr>
          <a:xfrm>
            <a:off x="1965960" y="2011680"/>
            <a:ext cx="1599480" cy="474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14"/>
          <p:cNvSpPr/>
          <p:nvPr/>
        </p:nvSpPr>
        <p:spPr>
          <a:xfrm>
            <a:off x="1965960" y="2011680"/>
            <a:ext cx="15994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2. PLANNING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15"/>
          <p:cNvSpPr/>
          <p:nvPr/>
        </p:nvSpPr>
        <p:spPr>
          <a:xfrm>
            <a:off x="2057400" y="2541960"/>
            <a:ext cx="1416600" cy="22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d3a4a"/>
                </a:solidFill>
                <a:latin typeface="Calibri"/>
              </a:rPr>
              <a:t>Create schedules, budgets, WBS. Identify risks and define quality standards.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16"/>
          <p:cNvSpPr/>
          <p:nvPr/>
        </p:nvSpPr>
        <p:spPr>
          <a:xfrm>
            <a:off x="5212080" y="1874520"/>
            <a:ext cx="227880" cy="163800"/>
          </a:xfrm>
          <a:prstGeom prst="rect">
            <a:avLst/>
          </a:prstGeom>
          <a:solidFill>
            <a:srgbClr val="5d8a9c"/>
          </a:solidFill>
          <a:ln w="12700">
            <a:solidFill>
              <a:srgbClr val="5d8a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17"/>
          <p:cNvSpPr/>
          <p:nvPr/>
        </p:nvSpPr>
        <p:spPr>
          <a:xfrm>
            <a:off x="3886200" y="896040"/>
            <a:ext cx="1005120" cy="10051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18"/>
          <p:cNvSpPr/>
          <p:nvPr/>
        </p:nvSpPr>
        <p:spPr>
          <a:xfrm>
            <a:off x="3886200" y="896040"/>
            <a:ext cx="1005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⚡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19"/>
          <p:cNvSpPr/>
          <p:nvPr/>
        </p:nvSpPr>
        <p:spPr>
          <a:xfrm>
            <a:off x="3703320" y="2011680"/>
            <a:ext cx="1599480" cy="281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a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20"/>
          <p:cNvSpPr/>
          <p:nvPr/>
        </p:nvSpPr>
        <p:spPr>
          <a:xfrm>
            <a:off x="3703320" y="2011680"/>
            <a:ext cx="1599480" cy="474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21"/>
          <p:cNvSpPr/>
          <p:nvPr/>
        </p:nvSpPr>
        <p:spPr>
          <a:xfrm>
            <a:off x="3703320" y="2011680"/>
            <a:ext cx="15994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3. EXECUTION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22"/>
          <p:cNvSpPr/>
          <p:nvPr/>
        </p:nvSpPr>
        <p:spPr>
          <a:xfrm>
            <a:off x="3794760" y="2541960"/>
            <a:ext cx="1416600" cy="22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d3a4a"/>
                </a:solidFill>
                <a:latin typeface="Calibri"/>
              </a:rPr>
              <a:t>Development team builds the software. PM coordinates tasks and monitors progress.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23"/>
          <p:cNvSpPr/>
          <p:nvPr/>
        </p:nvSpPr>
        <p:spPr>
          <a:xfrm>
            <a:off x="6949440" y="1874520"/>
            <a:ext cx="227880" cy="163800"/>
          </a:xfrm>
          <a:prstGeom prst="rect">
            <a:avLst/>
          </a:prstGeom>
          <a:solidFill>
            <a:srgbClr val="5d8a9c"/>
          </a:solidFill>
          <a:ln w="12700">
            <a:solidFill>
              <a:srgbClr val="5d8a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Shape 24"/>
          <p:cNvSpPr/>
          <p:nvPr/>
        </p:nvSpPr>
        <p:spPr>
          <a:xfrm>
            <a:off x="5623560" y="896040"/>
            <a:ext cx="1005120" cy="10051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25"/>
          <p:cNvSpPr/>
          <p:nvPr/>
        </p:nvSpPr>
        <p:spPr>
          <a:xfrm>
            <a:off x="5623560" y="896040"/>
            <a:ext cx="1005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26"/>
          <p:cNvSpPr/>
          <p:nvPr/>
        </p:nvSpPr>
        <p:spPr>
          <a:xfrm>
            <a:off x="5440680" y="2011680"/>
            <a:ext cx="1599480" cy="281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27"/>
          <p:cNvSpPr/>
          <p:nvPr/>
        </p:nvSpPr>
        <p:spPr>
          <a:xfrm>
            <a:off x="5440680" y="2011680"/>
            <a:ext cx="1599480" cy="474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28"/>
          <p:cNvSpPr/>
          <p:nvPr/>
        </p:nvSpPr>
        <p:spPr>
          <a:xfrm>
            <a:off x="5440680" y="2011680"/>
            <a:ext cx="15994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4. MONITORING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29"/>
          <p:cNvSpPr/>
          <p:nvPr/>
        </p:nvSpPr>
        <p:spPr>
          <a:xfrm>
            <a:off x="5532120" y="2541960"/>
            <a:ext cx="1416600" cy="22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d3a4a"/>
                </a:solidFill>
                <a:latin typeface="Calibri"/>
              </a:rPr>
              <a:t>Track KPIs, detect variances, manage changes. Update stakeholders regularly.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30"/>
          <p:cNvSpPr/>
          <p:nvPr/>
        </p:nvSpPr>
        <p:spPr>
          <a:xfrm>
            <a:off x="7360920" y="896040"/>
            <a:ext cx="1005120" cy="1005120"/>
          </a:xfrm>
          <a:prstGeom prst="ellipse">
            <a:avLst/>
          </a:prstGeom>
          <a:solidFill>
            <a:srgbClr val="e05c44"/>
          </a:solidFill>
          <a:ln w="12700">
            <a:solidFill>
              <a:srgbClr val="e05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31"/>
          <p:cNvSpPr/>
          <p:nvPr/>
        </p:nvSpPr>
        <p:spPr>
          <a:xfrm>
            <a:off x="7360920" y="896040"/>
            <a:ext cx="1005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32"/>
          <p:cNvSpPr/>
          <p:nvPr/>
        </p:nvSpPr>
        <p:spPr>
          <a:xfrm>
            <a:off x="7178040" y="2011680"/>
            <a:ext cx="1599480" cy="281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05c44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33"/>
          <p:cNvSpPr/>
          <p:nvPr/>
        </p:nvSpPr>
        <p:spPr>
          <a:xfrm>
            <a:off x="7178040" y="2011680"/>
            <a:ext cx="1599480" cy="474840"/>
          </a:xfrm>
          <a:prstGeom prst="rect">
            <a:avLst/>
          </a:prstGeom>
          <a:solidFill>
            <a:srgbClr val="e05c44"/>
          </a:solidFill>
          <a:ln w="12700">
            <a:solidFill>
              <a:srgbClr val="e05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34"/>
          <p:cNvSpPr/>
          <p:nvPr/>
        </p:nvSpPr>
        <p:spPr>
          <a:xfrm>
            <a:off x="7178040" y="2011680"/>
            <a:ext cx="15994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5. CLOSURE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35"/>
          <p:cNvSpPr/>
          <p:nvPr/>
        </p:nvSpPr>
        <p:spPr>
          <a:xfrm>
            <a:off x="7269480" y="2541960"/>
            <a:ext cx="1416600" cy="22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d3a4a"/>
                </a:solidFill>
                <a:latin typeface="Calibri"/>
              </a:rPr>
              <a:t>Deliver final product. Conduct post-mortem. Archive documents and release team.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1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197" strike="noStrike">
                <a:solidFill>
                  <a:srgbClr val="ffffff"/>
                </a:solidFill>
                <a:latin typeface="Calibri"/>
              </a:rPr>
              <a:t>TOOLS &amp; BEST PRACTICES FOR SPM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Shape 2"/>
          <p:cNvSpPr/>
          <p:nvPr/>
        </p:nvSpPr>
        <p:spPr>
          <a:xfrm>
            <a:off x="274320" y="914400"/>
            <a:ext cx="4159800" cy="3912840"/>
          </a:xfrm>
          <a:prstGeom prst="rect">
            <a:avLst/>
          </a:prstGeom>
          <a:solidFill>
            <a:srgbClr val="152030"/>
          </a:solidFill>
          <a:ln w="25400">
            <a:solidFill>
              <a:srgbClr val="1c729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3"/>
          <p:cNvSpPr/>
          <p:nvPr/>
        </p:nvSpPr>
        <p:spPr>
          <a:xfrm>
            <a:off x="274320" y="914400"/>
            <a:ext cx="4159800" cy="502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4"/>
          <p:cNvSpPr/>
          <p:nvPr/>
        </p:nvSpPr>
        <p:spPr>
          <a:xfrm>
            <a:off x="274320" y="914400"/>
            <a:ext cx="4159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🛠  </a:t>
            </a:r>
            <a:r>
              <a:rPr b="1" lang="en-US" sz="1350" spc="-1" strike="noStrike">
                <a:solidFill>
                  <a:srgbClr val="ffffff"/>
                </a:solidFill>
                <a:latin typeface="Calibri"/>
              </a:rPr>
              <a:t>PM TOOLS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Shape 5"/>
          <p:cNvSpPr/>
          <p:nvPr/>
        </p:nvSpPr>
        <p:spPr>
          <a:xfrm>
            <a:off x="411480" y="1591200"/>
            <a:ext cx="273600" cy="273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6"/>
          <p:cNvSpPr/>
          <p:nvPr/>
        </p:nvSpPr>
        <p:spPr>
          <a:xfrm>
            <a:off x="777240" y="151776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c7293"/>
                </a:solidFill>
                <a:latin typeface="Calibri"/>
              </a:rPr>
              <a:t>Jira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Text 7"/>
          <p:cNvSpPr/>
          <p:nvPr/>
        </p:nvSpPr>
        <p:spPr>
          <a:xfrm>
            <a:off x="777240" y="178308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dbe4"/>
                </a:solidFill>
                <a:latin typeface="Calibri"/>
              </a:rPr>
              <a:t>Agile planning, sprint tracking, backlogs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8"/>
          <p:cNvSpPr/>
          <p:nvPr/>
        </p:nvSpPr>
        <p:spPr>
          <a:xfrm>
            <a:off x="411480" y="2139840"/>
            <a:ext cx="273600" cy="2736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9"/>
          <p:cNvSpPr/>
          <p:nvPr/>
        </p:nvSpPr>
        <p:spPr>
          <a:xfrm>
            <a:off x="777240" y="206640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a82"/>
                </a:solidFill>
                <a:latin typeface="Calibri"/>
              </a:rPr>
              <a:t>MS Project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10"/>
          <p:cNvSpPr/>
          <p:nvPr/>
        </p:nvSpPr>
        <p:spPr>
          <a:xfrm>
            <a:off x="777240" y="233172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dbe4"/>
                </a:solidFill>
                <a:latin typeface="Calibri"/>
              </a:rPr>
              <a:t>Gantt charts, resource allocation, scheduling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Shape 11"/>
          <p:cNvSpPr/>
          <p:nvPr/>
        </p:nvSpPr>
        <p:spPr>
          <a:xfrm>
            <a:off x="411480" y="2688480"/>
            <a:ext cx="273600" cy="273600"/>
          </a:xfrm>
          <a:prstGeom prst="ellipse">
            <a:avLst/>
          </a:prstGeom>
          <a:solidFill>
            <a:srgbClr val="2196a5"/>
          </a:solidFill>
          <a:ln w="12700">
            <a:solidFill>
              <a:srgbClr val="2196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12"/>
          <p:cNvSpPr/>
          <p:nvPr/>
        </p:nvSpPr>
        <p:spPr>
          <a:xfrm>
            <a:off x="777240" y="261504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196a5"/>
                </a:solidFill>
                <a:latin typeface="Calibri"/>
              </a:rPr>
              <a:t>Confluence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13"/>
          <p:cNvSpPr/>
          <p:nvPr/>
        </p:nvSpPr>
        <p:spPr>
          <a:xfrm>
            <a:off x="777240" y="288036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dbe4"/>
                </a:solidFill>
                <a:latin typeface="Calibri"/>
              </a:rPr>
              <a:t>Documentation, knowledge base, team wikis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Shape 14"/>
          <p:cNvSpPr/>
          <p:nvPr/>
        </p:nvSpPr>
        <p:spPr>
          <a:xfrm>
            <a:off x="411480" y="3237120"/>
            <a:ext cx="273600" cy="273600"/>
          </a:xfrm>
          <a:prstGeom prst="ellipse">
            <a:avLst/>
          </a:prstGeom>
          <a:solidFill>
            <a:srgbClr val="5b3d8a"/>
          </a:solidFill>
          <a:ln w="12700">
            <a:solidFill>
              <a:srgbClr val="5b3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15"/>
          <p:cNvSpPr/>
          <p:nvPr/>
        </p:nvSpPr>
        <p:spPr>
          <a:xfrm>
            <a:off x="777240" y="316368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b3d8a"/>
                </a:solidFill>
                <a:latin typeface="Calibri"/>
              </a:rPr>
              <a:t>Slack / Teams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16"/>
          <p:cNvSpPr/>
          <p:nvPr/>
        </p:nvSpPr>
        <p:spPr>
          <a:xfrm>
            <a:off x="777240" y="342900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dbe4"/>
                </a:solidFill>
                <a:latin typeface="Calibri"/>
              </a:rPr>
              <a:t>Real-time team and stakeholder communication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Shape 17"/>
          <p:cNvSpPr/>
          <p:nvPr/>
        </p:nvSpPr>
        <p:spPr>
          <a:xfrm>
            <a:off x="411480" y="3785760"/>
            <a:ext cx="273600" cy="2736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 18"/>
          <p:cNvSpPr/>
          <p:nvPr/>
        </p:nvSpPr>
        <p:spPr>
          <a:xfrm>
            <a:off x="777240" y="371232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67e22"/>
                </a:solidFill>
                <a:latin typeface="Calibri"/>
              </a:rPr>
              <a:t>GitHub / GitLab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19"/>
          <p:cNvSpPr/>
          <p:nvPr/>
        </p:nvSpPr>
        <p:spPr>
          <a:xfrm>
            <a:off x="777240" y="397764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dbe4"/>
                </a:solidFill>
                <a:latin typeface="Calibri"/>
              </a:rPr>
              <a:t>Version control and configuration management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Shape 20"/>
          <p:cNvSpPr/>
          <p:nvPr/>
        </p:nvSpPr>
        <p:spPr>
          <a:xfrm>
            <a:off x="411480" y="4334400"/>
            <a:ext cx="273600" cy="2736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21"/>
          <p:cNvSpPr/>
          <p:nvPr/>
        </p:nvSpPr>
        <p:spPr>
          <a:xfrm>
            <a:off x="777240" y="4260960"/>
            <a:ext cx="3519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a7a4a"/>
                </a:solidFill>
                <a:latin typeface="Calibri"/>
              </a:rPr>
              <a:t>Trello / Asana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22"/>
          <p:cNvSpPr/>
          <p:nvPr/>
        </p:nvSpPr>
        <p:spPr>
          <a:xfrm>
            <a:off x="777240" y="4526280"/>
            <a:ext cx="3519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8dbe4"/>
                </a:solidFill>
                <a:latin typeface="Calibri"/>
              </a:rPr>
              <a:t>Kanban boards and task management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Shape 23"/>
          <p:cNvSpPr/>
          <p:nvPr/>
        </p:nvSpPr>
        <p:spPr>
          <a:xfrm>
            <a:off x="4709160" y="914400"/>
            <a:ext cx="4159800" cy="3912840"/>
          </a:xfrm>
          <a:prstGeom prst="rect">
            <a:avLst/>
          </a:prstGeom>
          <a:solidFill>
            <a:srgbClr val="152030"/>
          </a:solidFill>
          <a:ln w="25400">
            <a:solidFill>
              <a:srgbClr val="f5a623"/>
            </a:solidFill>
            <a:round/>
          </a:ln>
          <a:effectLst>
            <a:outerShdw algn="bl" blurRad="88920" dir="8100000" dist="25455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Shape 24"/>
          <p:cNvSpPr/>
          <p:nvPr/>
        </p:nvSpPr>
        <p:spPr>
          <a:xfrm>
            <a:off x="4709160" y="914400"/>
            <a:ext cx="4159800" cy="502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25"/>
          <p:cNvSpPr/>
          <p:nvPr/>
        </p:nvSpPr>
        <p:spPr>
          <a:xfrm>
            <a:off x="4709160" y="914400"/>
            <a:ext cx="4159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d1f2d"/>
                </a:solidFill>
                <a:latin typeface="Calibri"/>
              </a:rPr>
              <a:t>⭐  </a:t>
            </a:r>
            <a:r>
              <a:rPr b="1" lang="en-US" sz="1350" spc="-1" strike="noStrike">
                <a:solidFill>
                  <a:srgbClr val="0d1f2d"/>
                </a:solidFill>
                <a:latin typeface="Calibri"/>
              </a:rPr>
              <a:t>BEST PRACTICES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Shape 26"/>
          <p:cNvSpPr/>
          <p:nvPr/>
        </p:nvSpPr>
        <p:spPr>
          <a:xfrm>
            <a:off x="4827960" y="1591200"/>
            <a:ext cx="273600" cy="273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27"/>
          <p:cNvSpPr/>
          <p:nvPr/>
        </p:nvSpPr>
        <p:spPr>
          <a:xfrm>
            <a:off x="5166360" y="1481400"/>
            <a:ext cx="3565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dbe4"/>
                </a:solidFill>
                <a:latin typeface="Calibri"/>
              </a:rPr>
              <a:t>Set clear, measurable project goals before starting development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Shape 28"/>
          <p:cNvSpPr/>
          <p:nvPr/>
        </p:nvSpPr>
        <p:spPr>
          <a:xfrm>
            <a:off x="4827960" y="2139840"/>
            <a:ext cx="273600" cy="273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29"/>
          <p:cNvSpPr/>
          <p:nvPr/>
        </p:nvSpPr>
        <p:spPr>
          <a:xfrm>
            <a:off x="5166360" y="2030040"/>
            <a:ext cx="3565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dbe4"/>
                </a:solidFill>
                <a:latin typeface="Calibri"/>
              </a:rPr>
              <a:t>Use WBS to decompose complex work into manageable tasks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Shape 30"/>
          <p:cNvSpPr/>
          <p:nvPr/>
        </p:nvSpPr>
        <p:spPr>
          <a:xfrm>
            <a:off x="4827960" y="2688480"/>
            <a:ext cx="273600" cy="273600"/>
          </a:xfrm>
          <a:prstGeom prst="ellipse">
            <a:avLst/>
          </a:prstGeom>
          <a:solidFill>
            <a:srgbClr val="e05c44"/>
          </a:solidFill>
          <a:ln w="12700">
            <a:solidFill>
              <a:srgbClr val="e05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31"/>
          <p:cNvSpPr/>
          <p:nvPr/>
        </p:nvSpPr>
        <p:spPr>
          <a:xfrm>
            <a:off x="5166360" y="2578680"/>
            <a:ext cx="3565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dbe4"/>
                </a:solidFill>
                <a:latin typeface="Calibri"/>
              </a:rPr>
              <a:t>Track risk register and update it regularly throughout the project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Shape 32"/>
          <p:cNvSpPr/>
          <p:nvPr/>
        </p:nvSpPr>
        <p:spPr>
          <a:xfrm>
            <a:off x="4827960" y="3237120"/>
            <a:ext cx="273600" cy="27360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33"/>
          <p:cNvSpPr/>
          <p:nvPr/>
        </p:nvSpPr>
        <p:spPr>
          <a:xfrm>
            <a:off x="5166360" y="3127320"/>
            <a:ext cx="3565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dbe4"/>
                </a:solidFill>
                <a:latin typeface="Calibri"/>
              </a:rPr>
              <a:t>Communicate changes to all stakeholders immediately and clearly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Shape 34"/>
          <p:cNvSpPr/>
          <p:nvPr/>
        </p:nvSpPr>
        <p:spPr>
          <a:xfrm>
            <a:off x="4827960" y="3785760"/>
            <a:ext cx="273600" cy="273600"/>
          </a:xfrm>
          <a:prstGeom prst="ellipse">
            <a:avLst/>
          </a:prstGeom>
          <a:solidFill>
            <a:srgbClr val="5b3d8a"/>
          </a:solidFill>
          <a:ln w="12700">
            <a:solidFill>
              <a:srgbClr val="5b3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35"/>
          <p:cNvSpPr/>
          <p:nvPr/>
        </p:nvSpPr>
        <p:spPr>
          <a:xfrm>
            <a:off x="5166360" y="3675960"/>
            <a:ext cx="3565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dbe4"/>
                </a:solidFill>
                <a:latin typeface="Calibri"/>
              </a:rPr>
              <a:t>Maintain version control for all code, configs, and documentation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Shape 36"/>
          <p:cNvSpPr/>
          <p:nvPr/>
        </p:nvSpPr>
        <p:spPr>
          <a:xfrm>
            <a:off x="4827960" y="4334400"/>
            <a:ext cx="273600" cy="2736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37"/>
          <p:cNvSpPr/>
          <p:nvPr/>
        </p:nvSpPr>
        <p:spPr>
          <a:xfrm>
            <a:off x="5166360" y="4224600"/>
            <a:ext cx="3565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8dbe4"/>
                </a:solidFill>
                <a:latin typeface="Calibri"/>
              </a:rPr>
              <a:t>Conduct retrospectives at project end to capture lessons learned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0"/>
          <p:cNvSpPr/>
          <p:nvPr/>
        </p:nvSpPr>
        <p:spPr>
          <a:xfrm>
            <a:off x="-1371600" y="2286000"/>
            <a:ext cx="4114080" cy="411408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1"/>
          <p:cNvSpPr/>
          <p:nvPr/>
        </p:nvSpPr>
        <p:spPr>
          <a:xfrm>
            <a:off x="7132320" y="-914400"/>
            <a:ext cx="3656880" cy="365688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Shape 2"/>
          <p:cNvSpPr/>
          <p:nvPr/>
        </p:nvSpPr>
        <p:spPr>
          <a:xfrm>
            <a:off x="0" y="0"/>
            <a:ext cx="200520" cy="514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Shape 3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4"/>
          <p:cNvSpPr/>
          <p:nvPr/>
        </p:nvSpPr>
        <p:spPr>
          <a:xfrm>
            <a:off x="365760" y="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296" strike="noStrike">
                <a:solidFill>
                  <a:srgbClr val="ffffff"/>
                </a:solidFill>
                <a:latin typeface="Calibri"/>
              </a:rPr>
              <a:t>KEY TAKEAWAYS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Shape 5"/>
          <p:cNvSpPr/>
          <p:nvPr/>
        </p:nvSpPr>
        <p:spPr>
          <a:xfrm>
            <a:off x="411480" y="960120"/>
            <a:ext cx="8320320" cy="56628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6"/>
          <p:cNvSpPr/>
          <p:nvPr/>
        </p:nvSpPr>
        <p:spPr>
          <a:xfrm>
            <a:off x="502920" y="1078920"/>
            <a:ext cx="328320" cy="328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7"/>
          <p:cNvSpPr/>
          <p:nvPr/>
        </p:nvSpPr>
        <p:spPr>
          <a:xfrm>
            <a:off x="502920" y="10789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8"/>
          <p:cNvSpPr/>
          <p:nvPr/>
        </p:nvSpPr>
        <p:spPr>
          <a:xfrm>
            <a:off x="960120" y="960120"/>
            <a:ext cx="7607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b8dbe4"/>
                </a:solidFill>
                <a:latin typeface="Calibri"/>
              </a:rPr>
              <a:t>Software PM coordinates the entire software lifecycle — from planning and budgeting through delivery and closure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Shape 9"/>
          <p:cNvSpPr/>
          <p:nvPr/>
        </p:nvSpPr>
        <p:spPr>
          <a:xfrm>
            <a:off x="411480" y="1627560"/>
            <a:ext cx="8320320" cy="56628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2196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hape 10"/>
          <p:cNvSpPr/>
          <p:nvPr/>
        </p:nvSpPr>
        <p:spPr>
          <a:xfrm>
            <a:off x="502920" y="1746360"/>
            <a:ext cx="328320" cy="328320"/>
          </a:xfrm>
          <a:prstGeom prst="ellipse">
            <a:avLst/>
          </a:prstGeom>
          <a:solidFill>
            <a:srgbClr val="2196a5"/>
          </a:solidFill>
          <a:ln w="12700">
            <a:solidFill>
              <a:srgbClr val="2196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11"/>
          <p:cNvSpPr/>
          <p:nvPr/>
        </p:nvSpPr>
        <p:spPr>
          <a:xfrm>
            <a:off x="502920" y="17463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12"/>
          <p:cNvSpPr/>
          <p:nvPr/>
        </p:nvSpPr>
        <p:spPr>
          <a:xfrm>
            <a:off x="960120" y="1627560"/>
            <a:ext cx="7607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b8dbe4"/>
                </a:solidFill>
                <a:latin typeface="Calibri"/>
              </a:rPr>
              <a:t>8 core activities: Planning, Resource, Scope, Estimation, Risk, Scheduling, Communication, and Configuration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Shape 13"/>
          <p:cNvSpPr/>
          <p:nvPr/>
        </p:nvSpPr>
        <p:spPr>
          <a:xfrm>
            <a:off x="411480" y="2295000"/>
            <a:ext cx="8320320" cy="56628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14"/>
          <p:cNvSpPr/>
          <p:nvPr/>
        </p:nvSpPr>
        <p:spPr>
          <a:xfrm>
            <a:off x="502920" y="2414160"/>
            <a:ext cx="328320" cy="328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15"/>
          <p:cNvSpPr/>
          <p:nvPr/>
        </p:nvSpPr>
        <p:spPr>
          <a:xfrm>
            <a:off x="502920" y="24141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16"/>
          <p:cNvSpPr/>
          <p:nvPr/>
        </p:nvSpPr>
        <p:spPr>
          <a:xfrm>
            <a:off x="960120" y="2295000"/>
            <a:ext cx="7607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b8dbe4"/>
                </a:solidFill>
                <a:latin typeface="Calibri"/>
              </a:rPr>
              <a:t>Effective estimation — using historical data, bottom-up analysis, and expert judgment — sets realistic expectations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Shape 17"/>
          <p:cNvSpPr/>
          <p:nvPr/>
        </p:nvSpPr>
        <p:spPr>
          <a:xfrm>
            <a:off x="411480" y="2962800"/>
            <a:ext cx="8320320" cy="56628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e05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18"/>
          <p:cNvSpPr/>
          <p:nvPr/>
        </p:nvSpPr>
        <p:spPr>
          <a:xfrm>
            <a:off x="502920" y="3081600"/>
            <a:ext cx="328320" cy="328320"/>
          </a:xfrm>
          <a:prstGeom prst="ellipse">
            <a:avLst/>
          </a:prstGeom>
          <a:solidFill>
            <a:srgbClr val="e05c44"/>
          </a:solidFill>
          <a:ln w="12700">
            <a:solidFill>
              <a:srgbClr val="e05c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19"/>
          <p:cNvSpPr/>
          <p:nvPr/>
        </p:nvSpPr>
        <p:spPr>
          <a:xfrm>
            <a:off x="502920" y="30816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20"/>
          <p:cNvSpPr/>
          <p:nvPr/>
        </p:nvSpPr>
        <p:spPr>
          <a:xfrm>
            <a:off x="960120" y="2962800"/>
            <a:ext cx="7607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b8dbe4"/>
                </a:solidFill>
                <a:latin typeface="Calibri"/>
              </a:rPr>
              <a:t>Risk management must be proactive: identify risks early and maintain a risk register throughout the project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21"/>
          <p:cNvSpPr/>
          <p:nvPr/>
        </p:nvSpPr>
        <p:spPr>
          <a:xfrm>
            <a:off x="411480" y="3630240"/>
            <a:ext cx="8320320" cy="56628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22"/>
          <p:cNvSpPr/>
          <p:nvPr/>
        </p:nvSpPr>
        <p:spPr>
          <a:xfrm>
            <a:off x="502920" y="3749040"/>
            <a:ext cx="328320" cy="3283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23"/>
          <p:cNvSpPr/>
          <p:nvPr/>
        </p:nvSpPr>
        <p:spPr>
          <a:xfrm>
            <a:off x="502920" y="37490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24"/>
          <p:cNvSpPr/>
          <p:nvPr/>
        </p:nvSpPr>
        <p:spPr>
          <a:xfrm>
            <a:off x="960120" y="3630240"/>
            <a:ext cx="7607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b8dbe4"/>
                </a:solidFill>
                <a:latin typeface="Calibri"/>
              </a:rPr>
              <a:t>Communication is the backbone of SPM — regular, clear updates to all stakeholders prevent costly misalignment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25"/>
          <p:cNvSpPr/>
          <p:nvPr/>
        </p:nvSpPr>
        <p:spPr>
          <a:xfrm>
            <a:off x="411480" y="4297680"/>
            <a:ext cx="8320320" cy="566280"/>
          </a:xfrm>
          <a:prstGeom prst="rect">
            <a:avLst/>
          </a:prstGeom>
          <a:solidFill>
            <a:srgbClr val="14202e">
              <a:alpha val="90000"/>
            </a:srgbClr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26"/>
          <p:cNvSpPr/>
          <p:nvPr/>
        </p:nvSpPr>
        <p:spPr>
          <a:xfrm>
            <a:off x="502920" y="4416480"/>
            <a:ext cx="328320" cy="3283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27"/>
          <p:cNvSpPr/>
          <p:nvPr/>
        </p:nvSpPr>
        <p:spPr>
          <a:xfrm>
            <a:off x="502920" y="44164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28"/>
          <p:cNvSpPr/>
          <p:nvPr/>
        </p:nvSpPr>
        <p:spPr>
          <a:xfrm>
            <a:off x="960120" y="4297680"/>
            <a:ext cx="7607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b8dbe4"/>
                </a:solidFill>
                <a:latin typeface="Calibri"/>
              </a:rPr>
              <a:t>Configuration management (version control, CI/CD) keeps code quality high and development teams in sync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29"/>
          <p:cNvSpPr/>
          <p:nvPr/>
        </p:nvSpPr>
        <p:spPr>
          <a:xfrm>
            <a:off x="0" y="4873680"/>
            <a:ext cx="9143280" cy="268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30"/>
          <p:cNvSpPr/>
          <p:nvPr/>
        </p:nvSpPr>
        <p:spPr>
          <a:xfrm>
            <a:off x="0" y="4873680"/>
            <a:ext cx="914328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2026-04-08T08:33:21Z</dcterms:created>
  <dc:creator>PptxGenJS</dc:creator>
  <dc:description/>
  <dc:language>en-US</dc:language>
  <cp:lastModifiedBy/>
  <dcterms:modified xsi:type="dcterms:W3CDTF">2026-04-10T10:42:08Z</dcterms:modified>
  <cp:revision>3</cp:revision>
  <dc:subject>PptxGenJS Presentation</dc:subject>
  <dc:title>Software Project Management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