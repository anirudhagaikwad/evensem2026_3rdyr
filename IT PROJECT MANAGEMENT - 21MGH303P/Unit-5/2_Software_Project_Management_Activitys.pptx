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DA3170F-45B7-4018-9B9C-9179EA8FDEBD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144313-FA48-474F-ADFB-41C073039C6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FFA858-516E-4A49-B15A-63FEE4E11E3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616A3D-A21F-4B0E-BC7A-557C7ADCC16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2B421B-B14F-4B37-9C1F-21CCD96E3A1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419F9B-B115-4118-ACDA-098C7FDC670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406DE2-0904-49E4-9F4F-8266E0793ED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23F607-7306-4FEC-9E2D-F9FE60AA6BE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6894CB-8116-47D6-AB21-77F5A1FE995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E6120D-5FD0-4761-9B88-1349DE91C02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2EB24A-45D1-4375-AEFB-C69AC3BC9F4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8E857B-250A-4F87-BA17-79A22F9A92E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B6F75D6-E810-4B13-BC4A-DA17149C717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30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5852160" y="0"/>
            <a:ext cx="3291480" cy="5143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6583680" y="0"/>
            <a:ext cx="2559960" cy="5143320"/>
          </a:xfrm>
          <a:prstGeom prst="rect">
            <a:avLst/>
          </a:prstGeom>
          <a:solidFill>
            <a:srgbClr val="1c7293">
              <a:alpha val="70000"/>
            </a:srgbClr>
          </a:solidFill>
          <a:ln w="12700">
            <a:solidFill>
              <a:srgbClr val="1c7293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6309360" y="-731520"/>
            <a:ext cx="3108600" cy="3108600"/>
          </a:xfrm>
          <a:prstGeom prst="ellipse">
            <a:avLst/>
          </a:prstGeom>
          <a:solidFill>
            <a:srgbClr val="2196a5">
              <a:alpha val="40000"/>
            </a:srgbClr>
          </a:solidFill>
          <a:ln w="12700">
            <a:solidFill>
              <a:srgbClr val="b8db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7040880" y="-91440"/>
            <a:ext cx="1737000" cy="1737000"/>
          </a:xfrm>
          <a:prstGeom prst="ellipse">
            <a:avLst/>
          </a:prstGeom>
          <a:solidFill>
            <a:srgbClr val="0d1f2d">
              <a:alpha val="60000"/>
            </a:srgbClr>
          </a:solidFill>
          <a:ln w="12700">
            <a:solidFill>
              <a:srgbClr val="b8db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7360920" y="329184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7708320" y="329184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8055720" y="329184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8403480" y="329184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7360920" y="363924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7708320" y="363924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8055720" y="363924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8403480" y="363924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7360920" y="398664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708320" y="398664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8055720" y="398664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403480" y="398664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7360920" y="433440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7708320" y="433440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8055720" y="433440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8403480" y="4334400"/>
            <a:ext cx="109440" cy="109440"/>
          </a:xfrm>
          <a:prstGeom prst="ellipse">
            <a:avLst/>
          </a:prstGeom>
          <a:solidFill>
            <a:srgbClr val="b8dbe4">
              <a:alpha val="60000"/>
            </a:srgbClr>
          </a:solidFill>
          <a:ln w="12700">
            <a:solidFill>
              <a:srgbClr val="b8dbe4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0" y="0"/>
            <a:ext cx="200880" cy="5143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457200" y="914400"/>
            <a:ext cx="3474360" cy="347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457200" y="914400"/>
            <a:ext cx="3474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48" strike="noStrike">
                <a:solidFill>
                  <a:srgbClr val="ffffff"/>
                </a:solidFill>
                <a:latin typeface="Calibri"/>
              </a:rPr>
              <a:t>SAIGON TECHNOLOGY · PROJECT MANAGEMENT GUIDE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23"/>
          <p:cNvSpPr/>
          <p:nvPr/>
        </p:nvSpPr>
        <p:spPr>
          <a:xfrm>
            <a:off x="457200" y="1371600"/>
            <a:ext cx="576036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200" spc="97" strike="noStrike">
                <a:solidFill>
                  <a:srgbClr val="ffffff"/>
                </a:solidFill>
                <a:latin typeface="Calibri"/>
                <a:ea typeface="Calibri"/>
              </a:rPr>
              <a:t>SOFTWARE</a:t>
            </a:r>
            <a:endParaRPr b="0" lang="en-US" sz="5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200" spc="97" strike="noStrike">
                <a:solidFill>
                  <a:srgbClr val="ffffff"/>
                </a:solidFill>
                <a:latin typeface="Calibri"/>
                <a:ea typeface="Calibri"/>
              </a:rPr>
              <a:t>PROJECT</a:t>
            </a:r>
            <a:endParaRPr b="0" lang="en-US" sz="5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200" spc="97" strike="noStrike">
                <a:solidFill>
                  <a:srgbClr val="ffffff"/>
                </a:solidFill>
                <a:latin typeface="Calibri"/>
                <a:ea typeface="Calibri"/>
              </a:rPr>
              <a:t>MANAGEMENT</a:t>
            </a:r>
            <a:endParaRPr b="0" lang="en-US" sz="5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24"/>
          <p:cNvSpPr/>
          <p:nvPr/>
        </p:nvSpPr>
        <p:spPr>
          <a:xfrm>
            <a:off x="457200" y="4069080"/>
            <a:ext cx="5760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b8dbe4"/>
                </a:solidFill>
                <a:latin typeface="Calibri"/>
              </a:rPr>
              <a:t>8 Core Activities · From Planning to Delivery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4873680"/>
            <a:ext cx="9143640" cy="269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0" y="4873680"/>
            <a:ext cx="914364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199" strike="noStrike">
                <a:solidFill>
                  <a:srgbClr val="ffffff"/>
                </a:solidFill>
                <a:latin typeface="Calibri"/>
              </a:rPr>
              <a:t>WHAT IS SOFTWARE PROJECT MANAGEMENT?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2"/>
          <p:cNvSpPr/>
          <p:nvPr/>
        </p:nvSpPr>
        <p:spPr>
          <a:xfrm>
            <a:off x="365760" y="914400"/>
            <a:ext cx="8412120" cy="1051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3"/>
          <p:cNvSpPr/>
          <p:nvPr/>
        </p:nvSpPr>
        <p:spPr>
          <a:xfrm>
            <a:off x="365760" y="914400"/>
            <a:ext cx="84121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Calibri"/>
              </a:rPr>
              <a:t>Software project management is the process of overseeing and coordinating software development projects — from planning and budgeting to development and testing — ensuring teams deliver on time, within scope and budget.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4"/>
          <p:cNvSpPr/>
          <p:nvPr/>
        </p:nvSpPr>
        <p:spPr>
          <a:xfrm>
            <a:off x="365760" y="2103120"/>
            <a:ext cx="4205880" cy="126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5"/>
          <p:cNvSpPr/>
          <p:nvPr/>
        </p:nvSpPr>
        <p:spPr>
          <a:xfrm>
            <a:off x="365760" y="2103120"/>
            <a:ext cx="164160" cy="12614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6"/>
          <p:cNvSpPr/>
          <p:nvPr/>
        </p:nvSpPr>
        <p:spPr>
          <a:xfrm>
            <a:off x="621720" y="2194560"/>
            <a:ext cx="63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🗺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7"/>
          <p:cNvSpPr/>
          <p:nvPr/>
        </p:nvSpPr>
        <p:spPr>
          <a:xfrm>
            <a:off x="658440" y="2167200"/>
            <a:ext cx="3748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d1f2d"/>
                </a:solidFill>
                <a:latin typeface="Calibri"/>
              </a:rPr>
              <a:t>Overseeing &amp; Coordinating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8"/>
          <p:cNvSpPr/>
          <p:nvPr/>
        </p:nvSpPr>
        <p:spPr>
          <a:xfrm>
            <a:off x="658440" y="2578680"/>
            <a:ext cx="374868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PM manages all moving parts of a software project — from team coordination to stakeholder updates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9"/>
          <p:cNvSpPr/>
          <p:nvPr/>
        </p:nvSpPr>
        <p:spPr>
          <a:xfrm>
            <a:off x="4800600" y="2103120"/>
            <a:ext cx="4205880" cy="126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10"/>
          <p:cNvSpPr/>
          <p:nvPr/>
        </p:nvSpPr>
        <p:spPr>
          <a:xfrm>
            <a:off x="4800600" y="2103120"/>
            <a:ext cx="164160" cy="12614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11"/>
          <p:cNvSpPr/>
          <p:nvPr/>
        </p:nvSpPr>
        <p:spPr>
          <a:xfrm>
            <a:off x="5056560" y="2194560"/>
            <a:ext cx="63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📋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5093280" y="2167200"/>
            <a:ext cx="3748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d1f2d"/>
                </a:solidFill>
                <a:latin typeface="Calibri"/>
              </a:rPr>
              <a:t>Planning &amp; Budgeting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5093280" y="2578680"/>
            <a:ext cx="374868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Identifies tasks, creates schedules, and establishes cost estimates before development begins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14"/>
          <p:cNvSpPr/>
          <p:nvPr/>
        </p:nvSpPr>
        <p:spPr>
          <a:xfrm>
            <a:off x="365760" y="3493080"/>
            <a:ext cx="4205880" cy="126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15"/>
          <p:cNvSpPr/>
          <p:nvPr/>
        </p:nvSpPr>
        <p:spPr>
          <a:xfrm>
            <a:off x="365760" y="3493080"/>
            <a:ext cx="164160" cy="126144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16"/>
          <p:cNvSpPr/>
          <p:nvPr/>
        </p:nvSpPr>
        <p:spPr>
          <a:xfrm>
            <a:off x="621720" y="3584520"/>
            <a:ext cx="63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🔧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7"/>
          <p:cNvSpPr/>
          <p:nvPr/>
        </p:nvSpPr>
        <p:spPr>
          <a:xfrm>
            <a:off x="658440" y="3557160"/>
            <a:ext cx="3748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d1f2d"/>
                </a:solidFill>
                <a:latin typeface="Calibri"/>
              </a:rPr>
              <a:t>Development &amp; Testing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658440" y="3968640"/>
            <a:ext cx="374868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Oversees each phase of the software lifecycle from coding through QA and final delivery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19"/>
          <p:cNvSpPr/>
          <p:nvPr/>
        </p:nvSpPr>
        <p:spPr>
          <a:xfrm>
            <a:off x="4800600" y="3493080"/>
            <a:ext cx="4205880" cy="126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20"/>
          <p:cNvSpPr/>
          <p:nvPr/>
        </p:nvSpPr>
        <p:spPr>
          <a:xfrm>
            <a:off x="4800600" y="3493080"/>
            <a:ext cx="164160" cy="1261440"/>
          </a:xfrm>
          <a:prstGeom prst="rect">
            <a:avLst/>
          </a:prstGeom>
          <a:solidFill>
            <a:srgbClr val="5b3d8a"/>
          </a:solidFill>
          <a:ln w="12700">
            <a:solidFill>
              <a:srgbClr val="5b3d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21"/>
          <p:cNvSpPr/>
          <p:nvPr/>
        </p:nvSpPr>
        <p:spPr>
          <a:xfrm>
            <a:off x="5056560" y="3584520"/>
            <a:ext cx="63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🤝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22"/>
          <p:cNvSpPr/>
          <p:nvPr/>
        </p:nvSpPr>
        <p:spPr>
          <a:xfrm>
            <a:off x="5093280" y="3557160"/>
            <a:ext cx="3748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d1f2d"/>
                </a:solidFill>
                <a:latin typeface="Calibri"/>
              </a:rPr>
              <a:t>Team Communication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23"/>
          <p:cNvSpPr/>
          <p:nvPr/>
        </p:nvSpPr>
        <p:spPr>
          <a:xfrm>
            <a:off x="5093280" y="3968640"/>
            <a:ext cx="374868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PMs must communicate effectively with all development team members and stakeholders at all times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199" strike="noStrike">
                <a:solidFill>
                  <a:srgbClr val="ffffff"/>
                </a:solidFill>
                <a:latin typeface="Calibri"/>
              </a:rPr>
              <a:t>8 KEY ACTIVITIES IN SOFTWARE PROJECT MANAGEMENT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Shape 2"/>
          <p:cNvSpPr/>
          <p:nvPr/>
        </p:nvSpPr>
        <p:spPr>
          <a:xfrm>
            <a:off x="274320" y="960120"/>
            <a:ext cx="2011320" cy="1828440"/>
          </a:xfrm>
          <a:prstGeom prst="rect">
            <a:avLst/>
          </a:prstGeom>
          <a:solidFill>
            <a:srgbClr val="182535"/>
          </a:solidFill>
          <a:ln w="25400">
            <a:solidFill>
              <a:srgbClr val="1c729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3"/>
          <p:cNvSpPr/>
          <p:nvPr/>
        </p:nvSpPr>
        <p:spPr>
          <a:xfrm>
            <a:off x="274320" y="960120"/>
            <a:ext cx="2011320" cy="6580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4"/>
          <p:cNvSpPr/>
          <p:nvPr/>
        </p:nvSpPr>
        <p:spPr>
          <a:xfrm>
            <a:off x="274320" y="960120"/>
            <a:ext cx="2011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🗓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5"/>
          <p:cNvSpPr/>
          <p:nvPr/>
        </p:nvSpPr>
        <p:spPr>
          <a:xfrm>
            <a:off x="384120" y="167328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7293"/>
                </a:solidFill>
                <a:latin typeface="Calibri"/>
              </a:rPr>
              <a:t>01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6"/>
          <p:cNvSpPr/>
          <p:nvPr/>
        </p:nvSpPr>
        <p:spPr>
          <a:xfrm>
            <a:off x="384120" y="1710000"/>
            <a:ext cx="1791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Project Planning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&amp; Tracking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Shape 7"/>
          <p:cNvSpPr/>
          <p:nvPr/>
        </p:nvSpPr>
        <p:spPr>
          <a:xfrm>
            <a:off x="2450520" y="960120"/>
            <a:ext cx="2011320" cy="1828440"/>
          </a:xfrm>
          <a:prstGeom prst="rect">
            <a:avLst/>
          </a:prstGeom>
          <a:solidFill>
            <a:srgbClr val="182535"/>
          </a:solidFill>
          <a:ln w="25400">
            <a:solidFill>
              <a:srgbClr val="065a82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Shape 8"/>
          <p:cNvSpPr/>
          <p:nvPr/>
        </p:nvSpPr>
        <p:spPr>
          <a:xfrm>
            <a:off x="2450520" y="960120"/>
            <a:ext cx="2011320" cy="6580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9"/>
          <p:cNvSpPr/>
          <p:nvPr/>
        </p:nvSpPr>
        <p:spPr>
          <a:xfrm>
            <a:off x="2450520" y="960120"/>
            <a:ext cx="2011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👥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10"/>
          <p:cNvSpPr/>
          <p:nvPr/>
        </p:nvSpPr>
        <p:spPr>
          <a:xfrm>
            <a:off x="2560320" y="167328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65a82"/>
                </a:solidFill>
                <a:latin typeface="Calibri"/>
              </a:rPr>
              <a:t>02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11"/>
          <p:cNvSpPr/>
          <p:nvPr/>
        </p:nvSpPr>
        <p:spPr>
          <a:xfrm>
            <a:off x="2560320" y="1710000"/>
            <a:ext cx="1791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Resource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Shape 12"/>
          <p:cNvSpPr/>
          <p:nvPr/>
        </p:nvSpPr>
        <p:spPr>
          <a:xfrm>
            <a:off x="4626720" y="960120"/>
            <a:ext cx="2011320" cy="1828440"/>
          </a:xfrm>
          <a:prstGeom prst="rect">
            <a:avLst/>
          </a:prstGeom>
          <a:solidFill>
            <a:srgbClr val="182535"/>
          </a:solidFill>
          <a:ln w="25400">
            <a:solidFill>
              <a:srgbClr val="f5a62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Shape 13"/>
          <p:cNvSpPr/>
          <p:nvPr/>
        </p:nvSpPr>
        <p:spPr>
          <a:xfrm>
            <a:off x="4626720" y="960120"/>
            <a:ext cx="2011320" cy="6580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14"/>
          <p:cNvSpPr/>
          <p:nvPr/>
        </p:nvSpPr>
        <p:spPr>
          <a:xfrm>
            <a:off x="4626720" y="960120"/>
            <a:ext cx="2011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📐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15"/>
          <p:cNvSpPr/>
          <p:nvPr/>
        </p:nvSpPr>
        <p:spPr>
          <a:xfrm>
            <a:off x="4736520" y="167328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5a623"/>
                </a:solidFill>
                <a:latin typeface="Calibri"/>
              </a:rPr>
              <a:t>03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16"/>
          <p:cNvSpPr/>
          <p:nvPr/>
        </p:nvSpPr>
        <p:spPr>
          <a:xfrm>
            <a:off x="4736520" y="1710000"/>
            <a:ext cx="1791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Scope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17"/>
          <p:cNvSpPr/>
          <p:nvPr/>
        </p:nvSpPr>
        <p:spPr>
          <a:xfrm>
            <a:off x="6803280" y="960120"/>
            <a:ext cx="2011320" cy="1828440"/>
          </a:xfrm>
          <a:prstGeom prst="rect">
            <a:avLst/>
          </a:prstGeom>
          <a:solidFill>
            <a:srgbClr val="182535"/>
          </a:solidFill>
          <a:ln w="25400">
            <a:solidFill>
              <a:srgbClr val="1a7a4a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Shape 18"/>
          <p:cNvSpPr/>
          <p:nvPr/>
        </p:nvSpPr>
        <p:spPr>
          <a:xfrm>
            <a:off x="6803280" y="960120"/>
            <a:ext cx="2011320" cy="65808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19"/>
          <p:cNvSpPr/>
          <p:nvPr/>
        </p:nvSpPr>
        <p:spPr>
          <a:xfrm>
            <a:off x="6803280" y="960120"/>
            <a:ext cx="2011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🔢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20"/>
          <p:cNvSpPr/>
          <p:nvPr/>
        </p:nvSpPr>
        <p:spPr>
          <a:xfrm>
            <a:off x="6912720" y="167328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7a4a"/>
                </a:solidFill>
                <a:latin typeface="Calibri"/>
              </a:rPr>
              <a:t>04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21"/>
          <p:cNvSpPr/>
          <p:nvPr/>
        </p:nvSpPr>
        <p:spPr>
          <a:xfrm>
            <a:off x="6912720" y="1710000"/>
            <a:ext cx="1791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Estimation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22"/>
          <p:cNvSpPr/>
          <p:nvPr/>
        </p:nvSpPr>
        <p:spPr>
          <a:xfrm>
            <a:off x="274320" y="2953440"/>
            <a:ext cx="2011320" cy="1828440"/>
          </a:xfrm>
          <a:prstGeom prst="rect">
            <a:avLst/>
          </a:prstGeom>
          <a:solidFill>
            <a:srgbClr val="182535"/>
          </a:solidFill>
          <a:ln w="25400">
            <a:solidFill>
              <a:srgbClr val="e05c44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Shape 23"/>
          <p:cNvSpPr/>
          <p:nvPr/>
        </p:nvSpPr>
        <p:spPr>
          <a:xfrm>
            <a:off x="274320" y="2953440"/>
            <a:ext cx="2011320" cy="658080"/>
          </a:xfrm>
          <a:prstGeom prst="rect">
            <a:avLst/>
          </a:prstGeom>
          <a:solidFill>
            <a:srgbClr val="e05c44"/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24"/>
          <p:cNvSpPr/>
          <p:nvPr/>
        </p:nvSpPr>
        <p:spPr>
          <a:xfrm>
            <a:off x="274320" y="2953440"/>
            <a:ext cx="2011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⚠️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25"/>
          <p:cNvSpPr/>
          <p:nvPr/>
        </p:nvSpPr>
        <p:spPr>
          <a:xfrm>
            <a:off x="384120" y="366660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5c44"/>
                </a:solidFill>
                <a:latin typeface="Calibri"/>
              </a:rPr>
              <a:t>05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 26"/>
          <p:cNvSpPr/>
          <p:nvPr/>
        </p:nvSpPr>
        <p:spPr>
          <a:xfrm>
            <a:off x="384120" y="3703320"/>
            <a:ext cx="1791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Risk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Shape 27"/>
          <p:cNvSpPr/>
          <p:nvPr/>
        </p:nvSpPr>
        <p:spPr>
          <a:xfrm>
            <a:off x="2450520" y="2953440"/>
            <a:ext cx="2011320" cy="1828440"/>
          </a:xfrm>
          <a:prstGeom prst="rect">
            <a:avLst/>
          </a:prstGeom>
          <a:solidFill>
            <a:srgbClr val="182535"/>
          </a:solidFill>
          <a:ln w="25400">
            <a:solidFill>
              <a:srgbClr val="5b3d8a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Shape 28"/>
          <p:cNvSpPr/>
          <p:nvPr/>
        </p:nvSpPr>
        <p:spPr>
          <a:xfrm>
            <a:off x="2450520" y="2953440"/>
            <a:ext cx="2011320" cy="658080"/>
          </a:xfrm>
          <a:prstGeom prst="rect">
            <a:avLst/>
          </a:prstGeom>
          <a:solidFill>
            <a:srgbClr val="5b3d8a"/>
          </a:solidFill>
          <a:ln w="12700">
            <a:solidFill>
              <a:srgbClr val="5b3d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29"/>
          <p:cNvSpPr/>
          <p:nvPr/>
        </p:nvSpPr>
        <p:spPr>
          <a:xfrm>
            <a:off x="2450520" y="2953440"/>
            <a:ext cx="2011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📅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30"/>
          <p:cNvSpPr/>
          <p:nvPr/>
        </p:nvSpPr>
        <p:spPr>
          <a:xfrm>
            <a:off x="2560320" y="366660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5b3d8a"/>
                </a:solidFill>
                <a:latin typeface="Calibri"/>
              </a:rPr>
              <a:t>06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1"/>
          <p:cNvSpPr/>
          <p:nvPr/>
        </p:nvSpPr>
        <p:spPr>
          <a:xfrm>
            <a:off x="2560320" y="3703320"/>
            <a:ext cx="1791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Scheduling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Shape 32"/>
          <p:cNvSpPr/>
          <p:nvPr/>
        </p:nvSpPr>
        <p:spPr>
          <a:xfrm>
            <a:off x="4626720" y="2953440"/>
            <a:ext cx="2011320" cy="1828440"/>
          </a:xfrm>
          <a:prstGeom prst="rect">
            <a:avLst/>
          </a:prstGeom>
          <a:solidFill>
            <a:srgbClr val="182535"/>
          </a:solidFill>
          <a:ln w="25400">
            <a:solidFill>
              <a:srgbClr val="1abc9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Shape 33"/>
          <p:cNvSpPr/>
          <p:nvPr/>
        </p:nvSpPr>
        <p:spPr>
          <a:xfrm>
            <a:off x="4626720" y="2953440"/>
            <a:ext cx="2011320" cy="658080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34"/>
          <p:cNvSpPr/>
          <p:nvPr/>
        </p:nvSpPr>
        <p:spPr>
          <a:xfrm>
            <a:off x="4626720" y="2953440"/>
            <a:ext cx="2011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💬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35"/>
          <p:cNvSpPr/>
          <p:nvPr/>
        </p:nvSpPr>
        <p:spPr>
          <a:xfrm>
            <a:off x="4736520" y="366660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bc9c"/>
                </a:solidFill>
                <a:latin typeface="Calibri"/>
              </a:rPr>
              <a:t>07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36"/>
          <p:cNvSpPr/>
          <p:nvPr/>
        </p:nvSpPr>
        <p:spPr>
          <a:xfrm>
            <a:off x="4736520" y="3703320"/>
            <a:ext cx="1791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Communication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Shape 37"/>
          <p:cNvSpPr/>
          <p:nvPr/>
        </p:nvSpPr>
        <p:spPr>
          <a:xfrm>
            <a:off x="6803280" y="2953440"/>
            <a:ext cx="2011320" cy="1828440"/>
          </a:xfrm>
          <a:prstGeom prst="rect">
            <a:avLst/>
          </a:prstGeom>
          <a:solidFill>
            <a:srgbClr val="182535"/>
          </a:solidFill>
          <a:ln w="25400">
            <a:solidFill>
              <a:srgbClr val="e67e22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Shape 38"/>
          <p:cNvSpPr/>
          <p:nvPr/>
        </p:nvSpPr>
        <p:spPr>
          <a:xfrm>
            <a:off x="6803280" y="2953440"/>
            <a:ext cx="2011320" cy="6580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39"/>
          <p:cNvSpPr/>
          <p:nvPr/>
        </p:nvSpPr>
        <p:spPr>
          <a:xfrm>
            <a:off x="6803280" y="2953440"/>
            <a:ext cx="2011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⚙️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40"/>
          <p:cNvSpPr/>
          <p:nvPr/>
        </p:nvSpPr>
        <p:spPr>
          <a:xfrm>
            <a:off x="6912720" y="366660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67e22"/>
                </a:solidFill>
                <a:latin typeface="Calibri"/>
              </a:rPr>
              <a:t>08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41"/>
          <p:cNvSpPr/>
          <p:nvPr/>
        </p:nvSpPr>
        <p:spPr>
          <a:xfrm>
            <a:off x="6912720" y="3703320"/>
            <a:ext cx="1791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Configuration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Shape 1"/>
          <p:cNvSpPr/>
          <p:nvPr/>
        </p:nvSpPr>
        <p:spPr>
          <a:xfrm>
            <a:off x="320040" y="137160"/>
            <a:ext cx="502560" cy="5025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2"/>
          <p:cNvSpPr/>
          <p:nvPr/>
        </p:nvSpPr>
        <p:spPr>
          <a:xfrm>
            <a:off x="320040" y="137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01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3"/>
          <p:cNvSpPr/>
          <p:nvPr/>
        </p:nvSpPr>
        <p:spPr>
          <a:xfrm>
            <a:off x="960120" y="0"/>
            <a:ext cx="78177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199" strike="noStrike">
                <a:solidFill>
                  <a:srgbClr val="ffffff"/>
                </a:solidFill>
                <a:latin typeface="Calibri"/>
              </a:rPr>
              <a:t>PROJECT PLANNING &amp; TRACKING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4"/>
          <p:cNvSpPr/>
          <p:nvPr/>
        </p:nvSpPr>
        <p:spPr>
          <a:xfrm>
            <a:off x="320040" y="914400"/>
            <a:ext cx="4068720" cy="393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5"/>
          <p:cNvSpPr/>
          <p:nvPr/>
        </p:nvSpPr>
        <p:spPr>
          <a:xfrm>
            <a:off x="320040" y="914400"/>
            <a:ext cx="4068720" cy="5025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320040" y="914400"/>
            <a:ext cx="4068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🗓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OVERVIEW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7"/>
          <p:cNvSpPr/>
          <p:nvPr/>
        </p:nvSpPr>
        <p:spPr>
          <a:xfrm>
            <a:off x="457200" y="1481400"/>
            <a:ext cx="3794400" cy="327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The development process can be broadly divided into two phases: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• </a:t>
            </a: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Planning Phase: All necessary tasks are identified and scheduled — defining deliverables, timelines, and responsibilities.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• </a:t>
            </a: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Execution Phase: The development team works on completing tasks according to the plan.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Tracking progress ensures the project stays on track. Managers use Gantt charts and project management software to monitor status and identify issues early.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8"/>
          <p:cNvSpPr/>
          <p:nvPr/>
        </p:nvSpPr>
        <p:spPr>
          <a:xfrm>
            <a:off x="4663440" y="914400"/>
            <a:ext cx="4160160" cy="1352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9"/>
          <p:cNvSpPr/>
          <p:nvPr/>
        </p:nvSpPr>
        <p:spPr>
          <a:xfrm>
            <a:off x="4663440" y="914400"/>
            <a:ext cx="4160160" cy="475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10"/>
          <p:cNvSpPr/>
          <p:nvPr/>
        </p:nvSpPr>
        <p:spPr>
          <a:xfrm>
            <a:off x="4663440" y="914400"/>
            <a:ext cx="41601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📝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PLANNING PHASE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11"/>
          <p:cNvSpPr/>
          <p:nvPr/>
        </p:nvSpPr>
        <p:spPr>
          <a:xfrm>
            <a:off x="4800600" y="1444680"/>
            <a:ext cx="38858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Identify all tasks, schedule activities, define deliverables and assign ownership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12"/>
          <p:cNvSpPr/>
          <p:nvPr/>
        </p:nvSpPr>
        <p:spPr>
          <a:xfrm>
            <a:off x="4663440" y="2395800"/>
            <a:ext cx="4160160" cy="1352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13"/>
          <p:cNvSpPr/>
          <p:nvPr/>
        </p:nvSpPr>
        <p:spPr>
          <a:xfrm>
            <a:off x="4663440" y="2395800"/>
            <a:ext cx="4160160" cy="475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14"/>
          <p:cNvSpPr/>
          <p:nvPr/>
        </p:nvSpPr>
        <p:spPr>
          <a:xfrm>
            <a:off x="4663440" y="2395800"/>
            <a:ext cx="41601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⚡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EXECUTION PHASE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15"/>
          <p:cNvSpPr/>
          <p:nvPr/>
        </p:nvSpPr>
        <p:spPr>
          <a:xfrm>
            <a:off x="4800600" y="2926080"/>
            <a:ext cx="38858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Development team executes scheduled tasks and delivers working software incrementally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16"/>
          <p:cNvSpPr/>
          <p:nvPr/>
        </p:nvSpPr>
        <p:spPr>
          <a:xfrm>
            <a:off x="4663440" y="3017520"/>
            <a:ext cx="4160160" cy="182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hape 17"/>
          <p:cNvSpPr/>
          <p:nvPr/>
        </p:nvSpPr>
        <p:spPr>
          <a:xfrm>
            <a:off x="4663440" y="3017520"/>
            <a:ext cx="4160160" cy="4111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18"/>
          <p:cNvSpPr/>
          <p:nvPr/>
        </p:nvSpPr>
        <p:spPr>
          <a:xfrm>
            <a:off x="4663440" y="3017520"/>
            <a:ext cx="4160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d1f2d"/>
                </a:solidFill>
                <a:latin typeface="Calibri"/>
              </a:rPr>
              <a:t>🛠  </a:t>
            </a:r>
            <a:r>
              <a:rPr b="1" lang="en-US" sz="1200" spc="-1" strike="noStrike">
                <a:solidFill>
                  <a:srgbClr val="0d1f2d"/>
                </a:solidFill>
                <a:latin typeface="Calibri"/>
              </a:rPr>
              <a:t>TRACKING TOOLS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19"/>
          <p:cNvSpPr/>
          <p:nvPr/>
        </p:nvSpPr>
        <p:spPr>
          <a:xfrm>
            <a:off x="4773240" y="3557160"/>
            <a:ext cx="200880" cy="2008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20"/>
          <p:cNvSpPr/>
          <p:nvPr/>
        </p:nvSpPr>
        <p:spPr>
          <a:xfrm>
            <a:off x="5047560" y="3493080"/>
            <a:ext cx="36115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Gantt Charts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1"/>
          <p:cNvSpPr/>
          <p:nvPr/>
        </p:nvSpPr>
        <p:spPr>
          <a:xfrm>
            <a:off x="4773240" y="3877200"/>
            <a:ext cx="200880" cy="2008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22"/>
          <p:cNvSpPr/>
          <p:nvPr/>
        </p:nvSpPr>
        <p:spPr>
          <a:xfrm>
            <a:off x="5047560" y="3813120"/>
            <a:ext cx="36115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Project Management Software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23"/>
          <p:cNvSpPr/>
          <p:nvPr/>
        </p:nvSpPr>
        <p:spPr>
          <a:xfrm>
            <a:off x="4773240" y="4197240"/>
            <a:ext cx="200880" cy="2008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24"/>
          <p:cNvSpPr/>
          <p:nvPr/>
        </p:nvSpPr>
        <p:spPr>
          <a:xfrm>
            <a:off x="5047560" y="4133160"/>
            <a:ext cx="36115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Work Breakdown Structure (WBS)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25"/>
          <p:cNvSpPr/>
          <p:nvPr/>
        </p:nvSpPr>
        <p:spPr>
          <a:xfrm>
            <a:off x="4773240" y="4517280"/>
            <a:ext cx="200880" cy="2008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26"/>
          <p:cNvSpPr/>
          <p:nvPr/>
        </p:nvSpPr>
        <p:spPr>
          <a:xfrm>
            <a:off x="5047560" y="4453200"/>
            <a:ext cx="36115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Sprint Boards &amp; Kanban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199" strike="noStrike">
                <a:solidFill>
                  <a:srgbClr val="ffffff"/>
                </a:solidFill>
                <a:latin typeface="Calibri"/>
              </a:rPr>
              <a:t>RESOURCE MANAGEMENT  &amp;  SCOPE MANAGEMENT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2"/>
          <p:cNvSpPr/>
          <p:nvPr/>
        </p:nvSpPr>
        <p:spPr>
          <a:xfrm>
            <a:off x="274320" y="914400"/>
            <a:ext cx="4160160" cy="3913200"/>
          </a:xfrm>
          <a:prstGeom prst="rect">
            <a:avLst/>
          </a:prstGeom>
          <a:solidFill>
            <a:srgbClr val="152030"/>
          </a:solidFill>
          <a:ln w="25400">
            <a:solidFill>
              <a:srgbClr val="065a82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Shape 3"/>
          <p:cNvSpPr/>
          <p:nvPr/>
        </p:nvSpPr>
        <p:spPr>
          <a:xfrm>
            <a:off x="274320" y="914400"/>
            <a:ext cx="4160160" cy="594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Shape 4"/>
          <p:cNvSpPr/>
          <p:nvPr/>
        </p:nvSpPr>
        <p:spPr>
          <a:xfrm>
            <a:off x="384120" y="978480"/>
            <a:ext cx="456840" cy="456840"/>
          </a:xfrm>
          <a:prstGeom prst="ellipse">
            <a:avLst/>
          </a:prstGeom>
          <a:solidFill>
            <a:srgbClr val="0d1f2d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384120" y="9784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02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6"/>
          <p:cNvSpPr/>
          <p:nvPr/>
        </p:nvSpPr>
        <p:spPr>
          <a:xfrm>
            <a:off x="960120" y="914400"/>
            <a:ext cx="3337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👥  </a:t>
            </a: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RESOURCE MANAGEMENT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7"/>
          <p:cNvSpPr/>
          <p:nvPr/>
        </p:nvSpPr>
        <p:spPr>
          <a:xfrm>
            <a:off x="411480" y="1572840"/>
            <a:ext cx="3885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b8dbe4"/>
                </a:solidFill>
                <a:latin typeface="Calibri"/>
              </a:rPr>
              <a:t>Identify and manage all resources needed to complete the project successfully.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8"/>
          <p:cNvSpPr/>
          <p:nvPr/>
        </p:nvSpPr>
        <p:spPr>
          <a:xfrm>
            <a:off x="411480" y="2148840"/>
            <a:ext cx="3885840" cy="1206720"/>
          </a:xfrm>
          <a:prstGeom prst="rect">
            <a:avLst/>
          </a:prstGeom>
          <a:solidFill>
            <a:srgbClr val="1e3040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Shape 9"/>
          <p:cNvSpPr/>
          <p:nvPr/>
        </p:nvSpPr>
        <p:spPr>
          <a:xfrm>
            <a:off x="411480" y="2148840"/>
            <a:ext cx="456840" cy="1206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10"/>
          <p:cNvSpPr/>
          <p:nvPr/>
        </p:nvSpPr>
        <p:spPr>
          <a:xfrm>
            <a:off x="411480" y="2148840"/>
            <a:ext cx="45684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HR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11"/>
          <p:cNvSpPr/>
          <p:nvPr/>
        </p:nvSpPr>
        <p:spPr>
          <a:xfrm>
            <a:off x="932760" y="2221920"/>
            <a:ext cx="32457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c7293"/>
                </a:solidFill>
                <a:latin typeface="Calibri"/>
              </a:rPr>
              <a:t>Human Resources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12"/>
          <p:cNvSpPr/>
          <p:nvPr/>
        </p:nvSpPr>
        <p:spPr>
          <a:xfrm>
            <a:off x="932760" y="2569320"/>
            <a:ext cx="32457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b8dbe4"/>
                </a:solidFill>
                <a:latin typeface="Calibri"/>
              </a:rPr>
              <a:t>Development team, designers, QA engineers, project managers, business analysts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13"/>
          <p:cNvSpPr/>
          <p:nvPr/>
        </p:nvSpPr>
        <p:spPr>
          <a:xfrm>
            <a:off x="411480" y="3502080"/>
            <a:ext cx="3885840" cy="1206720"/>
          </a:xfrm>
          <a:prstGeom prst="rect">
            <a:avLst/>
          </a:prstGeom>
          <a:solidFill>
            <a:srgbClr val="1e3040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Shape 14"/>
          <p:cNvSpPr/>
          <p:nvPr/>
        </p:nvSpPr>
        <p:spPr>
          <a:xfrm>
            <a:off x="411480" y="3502080"/>
            <a:ext cx="456840" cy="1206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15"/>
          <p:cNvSpPr/>
          <p:nvPr/>
        </p:nvSpPr>
        <p:spPr>
          <a:xfrm>
            <a:off x="411480" y="3502080"/>
            <a:ext cx="45684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IT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16"/>
          <p:cNvSpPr/>
          <p:nvPr/>
        </p:nvSpPr>
        <p:spPr>
          <a:xfrm>
            <a:off x="932760" y="3575160"/>
            <a:ext cx="32457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5a623"/>
                </a:solidFill>
                <a:latin typeface="Calibri"/>
              </a:rPr>
              <a:t>Material Resources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17"/>
          <p:cNvSpPr/>
          <p:nvPr/>
        </p:nvSpPr>
        <p:spPr>
          <a:xfrm>
            <a:off x="932760" y="3922920"/>
            <a:ext cx="32457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b8dbe4"/>
                </a:solidFill>
                <a:latin typeface="Calibri"/>
              </a:rPr>
              <a:t>Computers, software licenses, development tools, office equipment, cloud services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18"/>
          <p:cNvSpPr/>
          <p:nvPr/>
        </p:nvSpPr>
        <p:spPr>
          <a:xfrm>
            <a:off x="411480" y="4480560"/>
            <a:ext cx="3885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f5a623"/>
                </a:solidFill>
                <a:latin typeface="Calibri"/>
              </a:rPr>
              <a:t>⚠  </a:t>
            </a:r>
            <a:r>
              <a:rPr b="0" i="1" lang="en-US" sz="1000" spc="-1" strike="noStrike">
                <a:solidFill>
                  <a:srgbClr val="f5a623"/>
                </a:solidFill>
                <a:latin typeface="Calibri"/>
              </a:rPr>
              <a:t>Clear resource planning prevents delays and cost overruns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Shape 19"/>
          <p:cNvSpPr/>
          <p:nvPr/>
        </p:nvSpPr>
        <p:spPr>
          <a:xfrm>
            <a:off x="4709160" y="914400"/>
            <a:ext cx="4160160" cy="3913200"/>
          </a:xfrm>
          <a:prstGeom prst="rect">
            <a:avLst/>
          </a:prstGeom>
          <a:solidFill>
            <a:srgbClr val="152030"/>
          </a:solidFill>
          <a:ln w="25400">
            <a:solidFill>
              <a:srgbClr val="f5a62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20"/>
          <p:cNvSpPr/>
          <p:nvPr/>
        </p:nvSpPr>
        <p:spPr>
          <a:xfrm>
            <a:off x="4709160" y="914400"/>
            <a:ext cx="4160160" cy="594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1"/>
          <p:cNvSpPr/>
          <p:nvPr/>
        </p:nvSpPr>
        <p:spPr>
          <a:xfrm>
            <a:off x="4818960" y="978480"/>
            <a:ext cx="456840" cy="456840"/>
          </a:xfrm>
          <a:prstGeom prst="ellipse">
            <a:avLst/>
          </a:prstGeom>
          <a:solidFill>
            <a:srgbClr val="0d1f2d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22"/>
          <p:cNvSpPr/>
          <p:nvPr/>
        </p:nvSpPr>
        <p:spPr>
          <a:xfrm>
            <a:off x="4818960" y="9784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03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23"/>
          <p:cNvSpPr/>
          <p:nvPr/>
        </p:nvSpPr>
        <p:spPr>
          <a:xfrm>
            <a:off x="5394960" y="914400"/>
            <a:ext cx="3337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d1f2d"/>
                </a:solidFill>
                <a:latin typeface="Calibri"/>
              </a:rPr>
              <a:t>📐  </a:t>
            </a:r>
            <a:r>
              <a:rPr b="1" lang="en-US" sz="1250" spc="-1" strike="noStrike">
                <a:solidFill>
                  <a:srgbClr val="0d1f2d"/>
                </a:solidFill>
                <a:latin typeface="Calibri"/>
              </a:rPr>
              <a:t>SCOPE MANAGEMENT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 24"/>
          <p:cNvSpPr/>
          <p:nvPr/>
        </p:nvSpPr>
        <p:spPr>
          <a:xfrm>
            <a:off x="4846320" y="1572840"/>
            <a:ext cx="3885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b8dbe4"/>
                </a:solidFill>
                <a:latin typeface="Calibri"/>
              </a:rPr>
              <a:t>Ensure all required work is clearly defined and included — preventing scope creep.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Shape 25"/>
          <p:cNvSpPr/>
          <p:nvPr/>
        </p:nvSpPr>
        <p:spPr>
          <a:xfrm>
            <a:off x="4846320" y="2148840"/>
            <a:ext cx="3885840" cy="566640"/>
          </a:xfrm>
          <a:prstGeom prst="rect">
            <a:avLst/>
          </a:prstGeom>
          <a:solidFill>
            <a:srgbClr val="1e3040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Shape 26"/>
          <p:cNvSpPr/>
          <p:nvPr/>
        </p:nvSpPr>
        <p:spPr>
          <a:xfrm>
            <a:off x="4846320" y="2148840"/>
            <a:ext cx="164160" cy="566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27"/>
          <p:cNvSpPr/>
          <p:nvPr/>
        </p:nvSpPr>
        <p:spPr>
          <a:xfrm>
            <a:off x="5074920" y="2185560"/>
            <a:ext cx="3657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c7293"/>
                </a:solidFill>
                <a:latin typeface="Calibri"/>
              </a:rPr>
              <a:t>Define Deliverables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28"/>
          <p:cNvSpPr/>
          <p:nvPr/>
        </p:nvSpPr>
        <p:spPr>
          <a:xfrm>
            <a:off x="5074920" y="2450520"/>
            <a:ext cx="3657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Clearly document what will and won't be built in this project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hape 29"/>
          <p:cNvSpPr/>
          <p:nvPr/>
        </p:nvSpPr>
        <p:spPr>
          <a:xfrm>
            <a:off x="4846320" y="2807280"/>
            <a:ext cx="3885840" cy="566640"/>
          </a:xfrm>
          <a:prstGeom prst="rect">
            <a:avLst/>
          </a:prstGeom>
          <a:solidFill>
            <a:srgbClr val="1e3040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Shape 30"/>
          <p:cNvSpPr/>
          <p:nvPr/>
        </p:nvSpPr>
        <p:spPr>
          <a:xfrm>
            <a:off x="4846320" y="2807280"/>
            <a:ext cx="164160" cy="56664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31"/>
          <p:cNvSpPr/>
          <p:nvPr/>
        </p:nvSpPr>
        <p:spPr>
          <a:xfrm>
            <a:off x="5074920" y="2843640"/>
            <a:ext cx="3657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a7a4a"/>
                </a:solidFill>
                <a:latin typeface="Calibri"/>
              </a:rPr>
              <a:t>WBS Charts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32"/>
          <p:cNvSpPr/>
          <p:nvPr/>
        </p:nvSpPr>
        <p:spPr>
          <a:xfrm>
            <a:off x="5074920" y="3108960"/>
            <a:ext cx="3657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Work Breakdown Structure decomposes work into manageable pieces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33"/>
          <p:cNvSpPr/>
          <p:nvPr/>
        </p:nvSpPr>
        <p:spPr>
          <a:xfrm>
            <a:off x="4846320" y="3465720"/>
            <a:ext cx="3885840" cy="566640"/>
          </a:xfrm>
          <a:prstGeom prst="rect">
            <a:avLst/>
          </a:prstGeom>
          <a:solidFill>
            <a:srgbClr val="1e3040"/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Shape 34"/>
          <p:cNvSpPr/>
          <p:nvPr/>
        </p:nvSpPr>
        <p:spPr>
          <a:xfrm>
            <a:off x="4846320" y="3465720"/>
            <a:ext cx="164160" cy="566640"/>
          </a:xfrm>
          <a:prstGeom prst="rect">
            <a:avLst/>
          </a:prstGeom>
          <a:solidFill>
            <a:srgbClr val="e05c44"/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 35"/>
          <p:cNvSpPr/>
          <p:nvPr/>
        </p:nvSpPr>
        <p:spPr>
          <a:xfrm>
            <a:off x="5074920" y="3502080"/>
            <a:ext cx="3657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05c44"/>
                </a:solidFill>
                <a:latin typeface="Calibri"/>
              </a:rPr>
              <a:t>Project Templates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36"/>
          <p:cNvSpPr/>
          <p:nvPr/>
        </p:nvSpPr>
        <p:spPr>
          <a:xfrm>
            <a:off x="5074920" y="3767400"/>
            <a:ext cx="3657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Reusable templates speed up scope definition and reduce ambiguity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Shape 37"/>
          <p:cNvSpPr/>
          <p:nvPr/>
        </p:nvSpPr>
        <p:spPr>
          <a:xfrm>
            <a:off x="4846320" y="4123800"/>
            <a:ext cx="3885840" cy="566640"/>
          </a:xfrm>
          <a:prstGeom prst="rect">
            <a:avLst/>
          </a:prstGeom>
          <a:solidFill>
            <a:srgbClr val="1e3040"/>
          </a:solidFill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38"/>
          <p:cNvSpPr/>
          <p:nvPr/>
        </p:nvSpPr>
        <p:spPr>
          <a:xfrm>
            <a:off x="4846320" y="4123800"/>
            <a:ext cx="164160" cy="566640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39"/>
          <p:cNvSpPr/>
          <p:nvPr/>
        </p:nvSpPr>
        <p:spPr>
          <a:xfrm>
            <a:off x="5074920" y="4160520"/>
            <a:ext cx="3657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abc9c"/>
                </a:solidFill>
                <a:latin typeface="Calibri"/>
              </a:rPr>
              <a:t>Prevent Scope Creep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40"/>
          <p:cNvSpPr/>
          <p:nvPr/>
        </p:nvSpPr>
        <p:spPr>
          <a:xfrm>
            <a:off x="5074920" y="4425840"/>
            <a:ext cx="3657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Change control processes protect the original project boundaries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Shape 1"/>
          <p:cNvSpPr/>
          <p:nvPr/>
        </p:nvSpPr>
        <p:spPr>
          <a:xfrm>
            <a:off x="320040" y="137160"/>
            <a:ext cx="502560" cy="502560"/>
          </a:xfrm>
          <a:prstGeom prst="ellipse">
            <a:avLst/>
          </a:prstGeom>
          <a:solidFill>
            <a:srgbClr val="1a7a4a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2"/>
          <p:cNvSpPr/>
          <p:nvPr/>
        </p:nvSpPr>
        <p:spPr>
          <a:xfrm>
            <a:off x="320040" y="137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04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960120" y="0"/>
            <a:ext cx="78177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199" strike="noStrike">
                <a:solidFill>
                  <a:srgbClr val="ffffff"/>
                </a:solidFill>
                <a:latin typeface="Calibri"/>
              </a:rPr>
              <a:t>ESTIMATION MANAGEMENT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4"/>
          <p:cNvSpPr/>
          <p:nvPr/>
        </p:nvSpPr>
        <p:spPr>
          <a:xfrm>
            <a:off x="365760" y="914400"/>
            <a:ext cx="8412120" cy="86832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365760" y="914400"/>
            <a:ext cx="84121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ffffff"/>
                </a:solidFill>
                <a:latin typeface="Calibri"/>
              </a:rPr>
              <a:t>Estimation determines how long a project will take and how much it will cost — enabling managers to set realistic expectations and ensure resources are allocated efficiently.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6"/>
          <p:cNvSpPr/>
          <p:nvPr/>
        </p:nvSpPr>
        <p:spPr>
          <a:xfrm>
            <a:off x="365760" y="1920240"/>
            <a:ext cx="2742840" cy="2925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7"/>
          <p:cNvSpPr/>
          <p:nvPr/>
        </p:nvSpPr>
        <p:spPr>
          <a:xfrm>
            <a:off x="365760" y="1920240"/>
            <a:ext cx="2742840" cy="6580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8"/>
          <p:cNvSpPr/>
          <p:nvPr/>
        </p:nvSpPr>
        <p:spPr>
          <a:xfrm>
            <a:off x="365760" y="1920240"/>
            <a:ext cx="2742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📊  </a:t>
            </a: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Bottom-Up Analysis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9"/>
          <p:cNvSpPr/>
          <p:nvPr/>
        </p:nvSpPr>
        <p:spPr>
          <a:xfrm>
            <a:off x="475560" y="2633400"/>
            <a:ext cx="2523240" cy="9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Estimate individual tasks and components first, then roll up to total project cost and duration. Most accurate but time-consuming.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10"/>
          <p:cNvSpPr/>
          <p:nvPr/>
        </p:nvSpPr>
        <p:spPr>
          <a:xfrm>
            <a:off x="502920" y="3758040"/>
            <a:ext cx="219240" cy="2192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11"/>
          <p:cNvSpPr/>
          <p:nvPr/>
        </p:nvSpPr>
        <p:spPr>
          <a:xfrm>
            <a:off x="795600" y="3675960"/>
            <a:ext cx="2239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High accuracy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12"/>
          <p:cNvSpPr/>
          <p:nvPr/>
        </p:nvSpPr>
        <p:spPr>
          <a:xfrm>
            <a:off x="502920" y="4142160"/>
            <a:ext cx="219240" cy="2192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 13"/>
          <p:cNvSpPr/>
          <p:nvPr/>
        </p:nvSpPr>
        <p:spPr>
          <a:xfrm>
            <a:off x="795600" y="4060080"/>
            <a:ext cx="2239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Detailed granularity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14"/>
          <p:cNvSpPr/>
          <p:nvPr/>
        </p:nvSpPr>
        <p:spPr>
          <a:xfrm>
            <a:off x="502920" y="4526280"/>
            <a:ext cx="219240" cy="2192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15"/>
          <p:cNvSpPr/>
          <p:nvPr/>
        </p:nvSpPr>
        <p:spPr>
          <a:xfrm>
            <a:off x="795600" y="4443840"/>
            <a:ext cx="2239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Identifies hidden tasks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16"/>
          <p:cNvSpPr/>
          <p:nvPr/>
        </p:nvSpPr>
        <p:spPr>
          <a:xfrm>
            <a:off x="3246120" y="1920240"/>
            <a:ext cx="2742840" cy="2925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17"/>
          <p:cNvSpPr/>
          <p:nvPr/>
        </p:nvSpPr>
        <p:spPr>
          <a:xfrm>
            <a:off x="3246120" y="1920240"/>
            <a:ext cx="2742840" cy="6580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18"/>
          <p:cNvSpPr/>
          <p:nvPr/>
        </p:nvSpPr>
        <p:spPr>
          <a:xfrm>
            <a:off x="3246120" y="1920240"/>
            <a:ext cx="2742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📚  </a:t>
            </a: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Historical Data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19"/>
          <p:cNvSpPr/>
          <p:nvPr/>
        </p:nvSpPr>
        <p:spPr>
          <a:xfrm>
            <a:off x="3355920" y="2633400"/>
            <a:ext cx="2523240" cy="9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Use data from similar past projects as benchmarks. Fast and reliable when comparable projects exist. Best for repeat work.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20"/>
          <p:cNvSpPr/>
          <p:nvPr/>
        </p:nvSpPr>
        <p:spPr>
          <a:xfrm>
            <a:off x="3383280" y="3758040"/>
            <a:ext cx="219240" cy="2192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21"/>
          <p:cNvSpPr/>
          <p:nvPr/>
        </p:nvSpPr>
        <p:spPr>
          <a:xfrm>
            <a:off x="3675960" y="3675960"/>
            <a:ext cx="2239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Fast to apply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22"/>
          <p:cNvSpPr/>
          <p:nvPr/>
        </p:nvSpPr>
        <p:spPr>
          <a:xfrm>
            <a:off x="3383280" y="4142160"/>
            <a:ext cx="219240" cy="2192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23"/>
          <p:cNvSpPr/>
          <p:nvPr/>
        </p:nvSpPr>
        <p:spPr>
          <a:xfrm>
            <a:off x="3675960" y="4060080"/>
            <a:ext cx="2239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Based on real outcomes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24"/>
          <p:cNvSpPr/>
          <p:nvPr/>
        </p:nvSpPr>
        <p:spPr>
          <a:xfrm>
            <a:off x="3383280" y="4526280"/>
            <a:ext cx="219240" cy="2192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25"/>
          <p:cNvSpPr/>
          <p:nvPr/>
        </p:nvSpPr>
        <p:spPr>
          <a:xfrm>
            <a:off x="3675960" y="4443840"/>
            <a:ext cx="2239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Reduces estimation bias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26"/>
          <p:cNvSpPr/>
          <p:nvPr/>
        </p:nvSpPr>
        <p:spPr>
          <a:xfrm>
            <a:off x="6126480" y="1920240"/>
            <a:ext cx="2742840" cy="2925720"/>
          </a:xfrm>
          <a:prstGeom prst="rect">
            <a:avLst/>
          </a:prstGeom>
          <a:solidFill>
            <a:srgbClr val="ffffff"/>
          </a:solidFill>
          <a:ln w="25400">
            <a:solidFill>
              <a:srgbClr val="5b3d8a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27"/>
          <p:cNvSpPr/>
          <p:nvPr/>
        </p:nvSpPr>
        <p:spPr>
          <a:xfrm>
            <a:off x="6126480" y="1920240"/>
            <a:ext cx="2742840" cy="658080"/>
          </a:xfrm>
          <a:prstGeom prst="rect">
            <a:avLst/>
          </a:prstGeom>
          <a:solidFill>
            <a:srgbClr val="5b3d8a"/>
          </a:solidFill>
          <a:ln w="12700">
            <a:solidFill>
              <a:srgbClr val="5b3d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Text 28"/>
          <p:cNvSpPr/>
          <p:nvPr/>
        </p:nvSpPr>
        <p:spPr>
          <a:xfrm>
            <a:off x="6126480" y="1920240"/>
            <a:ext cx="2742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🧠  </a:t>
            </a: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Expert Judgment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 29"/>
          <p:cNvSpPr/>
          <p:nvPr/>
        </p:nvSpPr>
        <p:spPr>
          <a:xfrm>
            <a:off x="6236280" y="2633400"/>
            <a:ext cx="2523240" cy="9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Leverage experienced team members' knowledge to estimate effort and duration. Essential when historical data is limited.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30"/>
          <p:cNvSpPr/>
          <p:nvPr/>
        </p:nvSpPr>
        <p:spPr>
          <a:xfrm>
            <a:off x="6263640" y="3758040"/>
            <a:ext cx="219240" cy="219240"/>
          </a:xfrm>
          <a:prstGeom prst="ellipse">
            <a:avLst/>
          </a:prstGeom>
          <a:solidFill>
            <a:srgbClr val="5b3d8a"/>
          </a:solidFill>
          <a:ln w="12700">
            <a:solidFill>
              <a:srgbClr val="5b3d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31"/>
          <p:cNvSpPr/>
          <p:nvPr/>
        </p:nvSpPr>
        <p:spPr>
          <a:xfrm>
            <a:off x="6556320" y="3675960"/>
            <a:ext cx="2239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Captures tacit knowledge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32"/>
          <p:cNvSpPr/>
          <p:nvPr/>
        </p:nvSpPr>
        <p:spPr>
          <a:xfrm>
            <a:off x="6263640" y="4142160"/>
            <a:ext cx="219240" cy="219240"/>
          </a:xfrm>
          <a:prstGeom prst="ellipse">
            <a:avLst/>
          </a:prstGeom>
          <a:solidFill>
            <a:srgbClr val="5b3d8a"/>
          </a:solidFill>
          <a:ln w="12700">
            <a:solidFill>
              <a:srgbClr val="5b3d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Text 33"/>
          <p:cNvSpPr/>
          <p:nvPr/>
        </p:nvSpPr>
        <p:spPr>
          <a:xfrm>
            <a:off x="6556320" y="4060080"/>
            <a:ext cx="2239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Flexible for new tech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34"/>
          <p:cNvSpPr/>
          <p:nvPr/>
        </p:nvSpPr>
        <p:spPr>
          <a:xfrm>
            <a:off x="6263640" y="4526280"/>
            <a:ext cx="219240" cy="219240"/>
          </a:xfrm>
          <a:prstGeom prst="ellipse">
            <a:avLst/>
          </a:prstGeom>
          <a:solidFill>
            <a:srgbClr val="5b3d8a"/>
          </a:solidFill>
          <a:ln w="12700">
            <a:solidFill>
              <a:srgbClr val="5b3d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 35"/>
          <p:cNvSpPr/>
          <p:nvPr/>
        </p:nvSpPr>
        <p:spPr>
          <a:xfrm>
            <a:off x="6556320" y="4443840"/>
            <a:ext cx="2239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3a4a"/>
                </a:solidFill>
                <a:latin typeface="Calibri"/>
              </a:rPr>
              <a:t>Team buy-in built in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e05c44"/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Shape 1"/>
          <p:cNvSpPr/>
          <p:nvPr/>
        </p:nvSpPr>
        <p:spPr>
          <a:xfrm>
            <a:off x="320040" y="137160"/>
            <a:ext cx="502560" cy="502560"/>
          </a:xfrm>
          <a:prstGeom prst="ellipse">
            <a:avLst/>
          </a:prstGeom>
          <a:solidFill>
            <a:srgbClr val="0d1f2d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2"/>
          <p:cNvSpPr/>
          <p:nvPr/>
        </p:nvSpPr>
        <p:spPr>
          <a:xfrm>
            <a:off x="320040" y="137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05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 3"/>
          <p:cNvSpPr/>
          <p:nvPr/>
        </p:nvSpPr>
        <p:spPr>
          <a:xfrm>
            <a:off x="960120" y="0"/>
            <a:ext cx="78177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199" strike="noStrike">
                <a:solidFill>
                  <a:srgbClr val="ffffff"/>
                </a:solidFill>
                <a:latin typeface="Calibri"/>
              </a:rPr>
              <a:t>PROJECT RISK MANAGEMENT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365760" y="868680"/>
            <a:ext cx="8412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b8dbe4"/>
                </a:solidFill>
                <a:latin typeface="Calibri"/>
              </a:rPr>
              <a:t>Risk management identifies and assesses threats that could impact project scope, schedule, or cost — and plans responses before they escalate.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Shape 5"/>
          <p:cNvSpPr/>
          <p:nvPr/>
        </p:nvSpPr>
        <p:spPr>
          <a:xfrm>
            <a:off x="274320" y="1444680"/>
            <a:ext cx="2742840" cy="1508400"/>
          </a:xfrm>
          <a:prstGeom prst="rect">
            <a:avLst/>
          </a:prstGeom>
          <a:solidFill>
            <a:srgbClr val="182535"/>
          </a:solidFill>
          <a:ln w="25400">
            <a:solidFill>
              <a:srgbClr val="e05c44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Shape 6"/>
          <p:cNvSpPr/>
          <p:nvPr/>
        </p:nvSpPr>
        <p:spPr>
          <a:xfrm>
            <a:off x="274320" y="1444680"/>
            <a:ext cx="2742840" cy="529920"/>
          </a:xfrm>
          <a:prstGeom prst="rect">
            <a:avLst/>
          </a:prstGeom>
          <a:solidFill>
            <a:srgbClr val="e05c44"/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 7"/>
          <p:cNvSpPr/>
          <p:nvPr/>
        </p:nvSpPr>
        <p:spPr>
          <a:xfrm>
            <a:off x="274320" y="1444680"/>
            <a:ext cx="2742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📅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Schedule Delays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8"/>
          <p:cNvSpPr/>
          <p:nvPr/>
        </p:nvSpPr>
        <p:spPr>
          <a:xfrm>
            <a:off x="384120" y="2030040"/>
            <a:ext cx="252324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b8dbe4"/>
                </a:solidFill>
                <a:latin typeface="Calibri"/>
              </a:rPr>
              <a:t>Missed milestones, underestimated task durations, resource unavailability, or dependency bottlenecks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Shape 9"/>
          <p:cNvSpPr/>
          <p:nvPr/>
        </p:nvSpPr>
        <p:spPr>
          <a:xfrm>
            <a:off x="3154680" y="1444680"/>
            <a:ext cx="2742840" cy="1508400"/>
          </a:xfrm>
          <a:prstGeom prst="rect">
            <a:avLst/>
          </a:prstGeom>
          <a:solidFill>
            <a:srgbClr val="182535"/>
          </a:solidFill>
          <a:ln w="25400">
            <a:solidFill>
              <a:srgbClr val="e67e22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Shape 10"/>
          <p:cNvSpPr/>
          <p:nvPr/>
        </p:nvSpPr>
        <p:spPr>
          <a:xfrm>
            <a:off x="3154680" y="1444680"/>
            <a:ext cx="2742840" cy="5299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11"/>
          <p:cNvSpPr/>
          <p:nvPr/>
        </p:nvSpPr>
        <p:spPr>
          <a:xfrm>
            <a:off x="3154680" y="1444680"/>
            <a:ext cx="2742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💸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Cost Overruns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12"/>
          <p:cNvSpPr/>
          <p:nvPr/>
        </p:nvSpPr>
        <p:spPr>
          <a:xfrm>
            <a:off x="3264480" y="2030040"/>
            <a:ext cx="252324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b8dbe4"/>
                </a:solidFill>
                <a:latin typeface="Calibri"/>
              </a:rPr>
              <a:t>Unexpected expenses, inaccurate estimates, scope changes, or vendor price increases mid-project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Shape 13"/>
          <p:cNvSpPr/>
          <p:nvPr/>
        </p:nvSpPr>
        <p:spPr>
          <a:xfrm>
            <a:off x="6035040" y="1444680"/>
            <a:ext cx="2742840" cy="1508400"/>
          </a:xfrm>
          <a:prstGeom prst="rect">
            <a:avLst/>
          </a:prstGeom>
          <a:solidFill>
            <a:srgbClr val="182535"/>
          </a:solidFill>
          <a:ln w="25400">
            <a:solidFill>
              <a:srgbClr val="5b3d8a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Shape 14"/>
          <p:cNvSpPr/>
          <p:nvPr/>
        </p:nvSpPr>
        <p:spPr>
          <a:xfrm>
            <a:off x="6035040" y="1444680"/>
            <a:ext cx="2742840" cy="529920"/>
          </a:xfrm>
          <a:prstGeom prst="rect">
            <a:avLst/>
          </a:prstGeom>
          <a:solidFill>
            <a:srgbClr val="5b3d8a"/>
          </a:solidFill>
          <a:ln w="12700">
            <a:solidFill>
              <a:srgbClr val="5b3d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15"/>
          <p:cNvSpPr/>
          <p:nvPr/>
        </p:nvSpPr>
        <p:spPr>
          <a:xfrm>
            <a:off x="6035040" y="1444680"/>
            <a:ext cx="2742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🔀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Scope Creep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 16"/>
          <p:cNvSpPr/>
          <p:nvPr/>
        </p:nvSpPr>
        <p:spPr>
          <a:xfrm>
            <a:off x="6144840" y="2030040"/>
            <a:ext cx="252324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b8dbe4"/>
                </a:solidFill>
                <a:latin typeface="Calibri"/>
              </a:rPr>
              <a:t>Uncontrolled additions to project requirements without corresponding adjustments to time or budget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 17"/>
          <p:cNvSpPr/>
          <p:nvPr/>
        </p:nvSpPr>
        <p:spPr>
          <a:xfrm>
            <a:off x="365760" y="3063240"/>
            <a:ext cx="8412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148" strike="noStrike">
                <a:solidFill>
                  <a:srgbClr val="e05c44"/>
                </a:solidFill>
                <a:latin typeface="Calibri"/>
              </a:rPr>
              <a:t>RISK MANAGEMENT TOOLS &amp; TECHNIQUES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Shape 18"/>
          <p:cNvSpPr/>
          <p:nvPr/>
        </p:nvSpPr>
        <p:spPr>
          <a:xfrm>
            <a:off x="274320" y="3493080"/>
            <a:ext cx="4205880" cy="658080"/>
          </a:xfrm>
          <a:prstGeom prst="rect">
            <a:avLst/>
          </a:prstGeom>
          <a:solidFill>
            <a:srgbClr val="182535"/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19"/>
          <p:cNvSpPr/>
          <p:nvPr/>
        </p:nvSpPr>
        <p:spPr>
          <a:xfrm>
            <a:off x="384120" y="349308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📋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20"/>
          <p:cNvSpPr/>
          <p:nvPr/>
        </p:nvSpPr>
        <p:spPr>
          <a:xfrm>
            <a:off x="896040" y="3538800"/>
            <a:ext cx="3474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05c44"/>
                </a:solidFill>
                <a:latin typeface="Calibri"/>
              </a:rPr>
              <a:t>Risk Register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 21"/>
          <p:cNvSpPr/>
          <p:nvPr/>
        </p:nvSpPr>
        <p:spPr>
          <a:xfrm>
            <a:off x="896040" y="3822120"/>
            <a:ext cx="3474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Document all identified risks with probability, impact, and mitigation plan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Shape 22"/>
          <p:cNvSpPr/>
          <p:nvPr/>
        </p:nvSpPr>
        <p:spPr>
          <a:xfrm>
            <a:off x="4709160" y="3493080"/>
            <a:ext cx="4205880" cy="658080"/>
          </a:xfrm>
          <a:prstGeom prst="rect">
            <a:avLst/>
          </a:prstGeom>
          <a:solidFill>
            <a:srgbClr val="182535"/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23"/>
          <p:cNvSpPr/>
          <p:nvPr/>
        </p:nvSpPr>
        <p:spPr>
          <a:xfrm>
            <a:off x="4818960" y="349308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🔲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24"/>
          <p:cNvSpPr/>
          <p:nvPr/>
        </p:nvSpPr>
        <p:spPr>
          <a:xfrm>
            <a:off x="5330880" y="3538800"/>
            <a:ext cx="3474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05c44"/>
                </a:solidFill>
                <a:latin typeface="Calibri"/>
              </a:rPr>
              <a:t>SWOT Analysis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25"/>
          <p:cNvSpPr/>
          <p:nvPr/>
        </p:nvSpPr>
        <p:spPr>
          <a:xfrm>
            <a:off x="5330880" y="3822120"/>
            <a:ext cx="3474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Strengths, Weaknesses, Opportunities, Threats framework for project context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Shape 26"/>
          <p:cNvSpPr/>
          <p:nvPr/>
        </p:nvSpPr>
        <p:spPr>
          <a:xfrm>
            <a:off x="274320" y="4242960"/>
            <a:ext cx="4205880" cy="658080"/>
          </a:xfrm>
          <a:prstGeom prst="rect">
            <a:avLst/>
          </a:prstGeom>
          <a:solidFill>
            <a:srgbClr val="182535"/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27"/>
          <p:cNvSpPr/>
          <p:nvPr/>
        </p:nvSpPr>
        <p:spPr>
          <a:xfrm>
            <a:off x="384120" y="424296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📊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28"/>
          <p:cNvSpPr/>
          <p:nvPr/>
        </p:nvSpPr>
        <p:spPr>
          <a:xfrm>
            <a:off x="896040" y="4288680"/>
            <a:ext cx="3474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05c44"/>
                </a:solidFill>
                <a:latin typeface="Calibri"/>
              </a:rPr>
              <a:t>Risk Matrix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29"/>
          <p:cNvSpPr/>
          <p:nvPr/>
        </p:nvSpPr>
        <p:spPr>
          <a:xfrm>
            <a:off x="896040" y="4572000"/>
            <a:ext cx="3474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Probability × Impact grid to prioritize which risks need immediate attention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Shape 30"/>
          <p:cNvSpPr/>
          <p:nvPr/>
        </p:nvSpPr>
        <p:spPr>
          <a:xfrm>
            <a:off x="4709160" y="4242960"/>
            <a:ext cx="4205880" cy="658080"/>
          </a:xfrm>
          <a:prstGeom prst="rect">
            <a:avLst/>
          </a:prstGeom>
          <a:solidFill>
            <a:srgbClr val="182535"/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31"/>
          <p:cNvSpPr/>
          <p:nvPr/>
        </p:nvSpPr>
        <p:spPr>
          <a:xfrm>
            <a:off x="4818960" y="424296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🛡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 32"/>
          <p:cNvSpPr/>
          <p:nvPr/>
        </p:nvSpPr>
        <p:spPr>
          <a:xfrm>
            <a:off x="5330880" y="4288680"/>
            <a:ext cx="3474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05c44"/>
                </a:solidFill>
                <a:latin typeface="Calibri"/>
              </a:rPr>
              <a:t>Contingency Plans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 33"/>
          <p:cNvSpPr/>
          <p:nvPr/>
        </p:nvSpPr>
        <p:spPr>
          <a:xfrm>
            <a:off x="5330880" y="4572000"/>
            <a:ext cx="3474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Pre-agreed actions to take if a specific risk materializes during the project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50" spc="148" strike="noStrike">
                <a:solidFill>
                  <a:srgbClr val="ffffff"/>
                </a:solidFill>
                <a:latin typeface="Calibri"/>
              </a:rPr>
              <a:t>SCHEDULING MANAGEMENT  &amp;  COMMUNICATION MANAGEMENT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2"/>
          <p:cNvSpPr/>
          <p:nvPr/>
        </p:nvSpPr>
        <p:spPr>
          <a:xfrm>
            <a:off x="274320" y="914400"/>
            <a:ext cx="4160160" cy="391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5b3d8a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3"/>
          <p:cNvSpPr/>
          <p:nvPr/>
        </p:nvSpPr>
        <p:spPr>
          <a:xfrm>
            <a:off x="274320" y="914400"/>
            <a:ext cx="4160160" cy="566640"/>
          </a:xfrm>
          <a:prstGeom prst="rect">
            <a:avLst/>
          </a:prstGeom>
          <a:solidFill>
            <a:srgbClr val="5b3d8a"/>
          </a:solidFill>
          <a:ln w="12700">
            <a:solidFill>
              <a:srgbClr val="5b3d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Shape 4"/>
          <p:cNvSpPr/>
          <p:nvPr/>
        </p:nvSpPr>
        <p:spPr>
          <a:xfrm>
            <a:off x="384120" y="969120"/>
            <a:ext cx="456840" cy="456840"/>
          </a:xfrm>
          <a:prstGeom prst="ellipse">
            <a:avLst/>
          </a:prstGeom>
          <a:solidFill>
            <a:srgbClr val="0d1f2d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5"/>
          <p:cNvSpPr/>
          <p:nvPr/>
        </p:nvSpPr>
        <p:spPr>
          <a:xfrm>
            <a:off x="384120" y="96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06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 6"/>
          <p:cNvSpPr/>
          <p:nvPr/>
        </p:nvSpPr>
        <p:spPr>
          <a:xfrm>
            <a:off x="960120" y="914400"/>
            <a:ext cx="33372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📅  </a:t>
            </a: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SCHEDULING MANAGEMENT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7"/>
          <p:cNvSpPr/>
          <p:nvPr/>
        </p:nvSpPr>
        <p:spPr>
          <a:xfrm>
            <a:off x="411480" y="1554480"/>
            <a:ext cx="3885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Creating and managing a project schedule that assigns tasks, owners, and timelines to ensure on-time delivery.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8"/>
          <p:cNvSpPr/>
          <p:nvPr/>
        </p:nvSpPr>
        <p:spPr>
          <a:xfrm>
            <a:off x="411480" y="2194560"/>
            <a:ext cx="3885840" cy="438480"/>
          </a:xfrm>
          <a:prstGeom prst="rect">
            <a:avLst/>
          </a:prstGeom>
          <a:solidFill>
            <a:srgbClr val="eef5f8"/>
          </a:solidFill>
          <a:ln w="12700">
            <a:solidFill>
              <a:srgbClr val="5b3d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9"/>
          <p:cNvSpPr/>
          <p:nvPr/>
        </p:nvSpPr>
        <p:spPr>
          <a:xfrm>
            <a:off x="411480" y="2194560"/>
            <a:ext cx="164160" cy="438480"/>
          </a:xfrm>
          <a:prstGeom prst="rect">
            <a:avLst/>
          </a:prstGeom>
          <a:solidFill>
            <a:srgbClr val="5b3d8a"/>
          </a:solidFill>
          <a:ln w="12700">
            <a:solidFill>
              <a:srgbClr val="5b3d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 10"/>
          <p:cNvSpPr/>
          <p:nvPr/>
        </p:nvSpPr>
        <p:spPr>
          <a:xfrm>
            <a:off x="640080" y="2212920"/>
            <a:ext cx="1691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d1f2d"/>
                </a:solidFill>
                <a:latin typeface="Calibri"/>
              </a:rPr>
              <a:t>Task Identification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11"/>
          <p:cNvSpPr/>
          <p:nvPr/>
        </p:nvSpPr>
        <p:spPr>
          <a:xfrm>
            <a:off x="640080" y="2432160"/>
            <a:ext cx="35658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d8a9c"/>
                </a:solidFill>
                <a:latin typeface="Calibri"/>
              </a:rPr>
              <a:t>Break work into individual deliverable units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12"/>
          <p:cNvSpPr/>
          <p:nvPr/>
        </p:nvSpPr>
        <p:spPr>
          <a:xfrm>
            <a:off x="411480" y="2706480"/>
            <a:ext cx="3885840" cy="438480"/>
          </a:xfrm>
          <a:prstGeom prst="rect">
            <a:avLst/>
          </a:prstGeom>
          <a:solidFill>
            <a:srgbClr val="eef5f8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13"/>
          <p:cNvSpPr/>
          <p:nvPr/>
        </p:nvSpPr>
        <p:spPr>
          <a:xfrm>
            <a:off x="411480" y="2706480"/>
            <a:ext cx="164160" cy="438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 14"/>
          <p:cNvSpPr/>
          <p:nvPr/>
        </p:nvSpPr>
        <p:spPr>
          <a:xfrm>
            <a:off x="640080" y="2724840"/>
            <a:ext cx="1691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d1f2d"/>
                </a:solidFill>
                <a:latin typeface="Calibri"/>
              </a:rPr>
              <a:t>Timeline Assignment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15"/>
          <p:cNvSpPr/>
          <p:nvPr/>
        </p:nvSpPr>
        <p:spPr>
          <a:xfrm>
            <a:off x="640080" y="2944440"/>
            <a:ext cx="35658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d8a9c"/>
                </a:solidFill>
                <a:latin typeface="Calibri"/>
              </a:rPr>
              <a:t>Set start/end dates and milestones for each task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16"/>
          <p:cNvSpPr/>
          <p:nvPr/>
        </p:nvSpPr>
        <p:spPr>
          <a:xfrm>
            <a:off x="411480" y="3218760"/>
            <a:ext cx="3885840" cy="438480"/>
          </a:xfrm>
          <a:prstGeom prst="rect">
            <a:avLst/>
          </a:prstGeom>
          <a:solidFill>
            <a:srgbClr val="eef5f8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17"/>
          <p:cNvSpPr/>
          <p:nvPr/>
        </p:nvSpPr>
        <p:spPr>
          <a:xfrm>
            <a:off x="411480" y="3218760"/>
            <a:ext cx="164160" cy="438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18"/>
          <p:cNvSpPr/>
          <p:nvPr/>
        </p:nvSpPr>
        <p:spPr>
          <a:xfrm>
            <a:off x="640080" y="3237120"/>
            <a:ext cx="1691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d1f2d"/>
                </a:solidFill>
                <a:latin typeface="Calibri"/>
              </a:rPr>
              <a:t>Owner Assignment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19"/>
          <p:cNvSpPr/>
          <p:nvPr/>
        </p:nvSpPr>
        <p:spPr>
          <a:xfrm>
            <a:off x="640080" y="3456360"/>
            <a:ext cx="35658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d8a9c"/>
                </a:solidFill>
                <a:latin typeface="Calibri"/>
              </a:rPr>
              <a:t>Assign responsible team members to each task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20"/>
          <p:cNvSpPr/>
          <p:nvPr/>
        </p:nvSpPr>
        <p:spPr>
          <a:xfrm>
            <a:off x="411480" y="3730680"/>
            <a:ext cx="3885840" cy="438480"/>
          </a:xfrm>
          <a:prstGeom prst="rect">
            <a:avLst/>
          </a:prstGeom>
          <a:solidFill>
            <a:srgbClr val="eef5f8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21"/>
          <p:cNvSpPr/>
          <p:nvPr/>
        </p:nvSpPr>
        <p:spPr>
          <a:xfrm>
            <a:off x="411480" y="3730680"/>
            <a:ext cx="164160" cy="43848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22"/>
          <p:cNvSpPr/>
          <p:nvPr/>
        </p:nvSpPr>
        <p:spPr>
          <a:xfrm>
            <a:off x="640080" y="3749040"/>
            <a:ext cx="1691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d1f2d"/>
                </a:solidFill>
                <a:latin typeface="Calibri"/>
              </a:rPr>
              <a:t>Dependency Mapping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23"/>
          <p:cNvSpPr/>
          <p:nvPr/>
        </p:nvSpPr>
        <p:spPr>
          <a:xfrm>
            <a:off x="640080" y="3968640"/>
            <a:ext cx="35658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d8a9c"/>
                </a:solidFill>
                <a:latin typeface="Calibri"/>
              </a:rPr>
              <a:t>Identify task dependencies to sequence correctly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24"/>
          <p:cNvSpPr/>
          <p:nvPr/>
        </p:nvSpPr>
        <p:spPr>
          <a:xfrm>
            <a:off x="411480" y="4242960"/>
            <a:ext cx="3885840" cy="438480"/>
          </a:xfrm>
          <a:prstGeom prst="rect">
            <a:avLst/>
          </a:prstGeom>
          <a:solidFill>
            <a:srgbClr val="eef5f8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25"/>
          <p:cNvSpPr/>
          <p:nvPr/>
        </p:nvSpPr>
        <p:spPr>
          <a:xfrm>
            <a:off x="411480" y="4242960"/>
            <a:ext cx="164160" cy="438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26"/>
          <p:cNvSpPr/>
          <p:nvPr/>
        </p:nvSpPr>
        <p:spPr>
          <a:xfrm>
            <a:off x="640080" y="4260960"/>
            <a:ext cx="1691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d1f2d"/>
                </a:solidFill>
                <a:latin typeface="Calibri"/>
              </a:rPr>
              <a:t>Gantt Charts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27"/>
          <p:cNvSpPr/>
          <p:nvPr/>
        </p:nvSpPr>
        <p:spPr>
          <a:xfrm>
            <a:off x="640080" y="4480560"/>
            <a:ext cx="35658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d8a9c"/>
                </a:solidFill>
                <a:latin typeface="Calibri"/>
              </a:rPr>
              <a:t>Visualise schedule on a timeline for all stakeholders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28"/>
          <p:cNvSpPr/>
          <p:nvPr/>
        </p:nvSpPr>
        <p:spPr>
          <a:xfrm>
            <a:off x="4709160" y="914400"/>
            <a:ext cx="4160160" cy="391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bc9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29"/>
          <p:cNvSpPr/>
          <p:nvPr/>
        </p:nvSpPr>
        <p:spPr>
          <a:xfrm>
            <a:off x="4709160" y="914400"/>
            <a:ext cx="4160160" cy="566640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Shape 30"/>
          <p:cNvSpPr/>
          <p:nvPr/>
        </p:nvSpPr>
        <p:spPr>
          <a:xfrm>
            <a:off x="4818960" y="969120"/>
            <a:ext cx="456840" cy="456840"/>
          </a:xfrm>
          <a:prstGeom prst="ellipse">
            <a:avLst/>
          </a:prstGeom>
          <a:solidFill>
            <a:srgbClr val="0d1f2d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 31"/>
          <p:cNvSpPr/>
          <p:nvPr/>
        </p:nvSpPr>
        <p:spPr>
          <a:xfrm>
            <a:off x="4818960" y="96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07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 32"/>
          <p:cNvSpPr/>
          <p:nvPr/>
        </p:nvSpPr>
        <p:spPr>
          <a:xfrm>
            <a:off x="5394960" y="914400"/>
            <a:ext cx="33372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💬  </a:t>
            </a: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COMMUNICATION MANAGEMENT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33"/>
          <p:cNvSpPr/>
          <p:nvPr/>
        </p:nvSpPr>
        <p:spPr>
          <a:xfrm>
            <a:off x="4846320" y="1554480"/>
            <a:ext cx="3885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1d3a4a"/>
                </a:solidFill>
                <a:latin typeface="Calibri"/>
              </a:rPr>
              <a:t>Communication is a key pillar of PM — keeping all stakeholders, developers, and decision-makers aligned throughout the project.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34"/>
          <p:cNvSpPr/>
          <p:nvPr/>
        </p:nvSpPr>
        <p:spPr>
          <a:xfrm>
            <a:off x="4846320" y="2194560"/>
            <a:ext cx="3885840" cy="438480"/>
          </a:xfrm>
          <a:prstGeom prst="rect">
            <a:avLst/>
          </a:prstGeom>
          <a:solidFill>
            <a:srgbClr val="eef5f8"/>
          </a:solidFill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35"/>
          <p:cNvSpPr/>
          <p:nvPr/>
        </p:nvSpPr>
        <p:spPr>
          <a:xfrm>
            <a:off x="4846320" y="2194560"/>
            <a:ext cx="164160" cy="438480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36"/>
          <p:cNvSpPr/>
          <p:nvPr/>
        </p:nvSpPr>
        <p:spPr>
          <a:xfrm>
            <a:off x="5074920" y="2212920"/>
            <a:ext cx="1691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d1f2d"/>
                </a:solidFill>
                <a:latin typeface="Calibri"/>
              </a:rPr>
              <a:t>Stakeholder Updates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37"/>
          <p:cNvSpPr/>
          <p:nvPr/>
        </p:nvSpPr>
        <p:spPr>
          <a:xfrm>
            <a:off x="5074920" y="2432160"/>
            <a:ext cx="35658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d8a9c"/>
                </a:solidFill>
                <a:latin typeface="Calibri"/>
              </a:rPr>
              <a:t>Regular status reports to sponsors and clients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38"/>
          <p:cNvSpPr/>
          <p:nvPr/>
        </p:nvSpPr>
        <p:spPr>
          <a:xfrm>
            <a:off x="4846320" y="2706480"/>
            <a:ext cx="3885840" cy="438480"/>
          </a:xfrm>
          <a:prstGeom prst="rect">
            <a:avLst/>
          </a:prstGeom>
          <a:solidFill>
            <a:srgbClr val="eef5f8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39"/>
          <p:cNvSpPr/>
          <p:nvPr/>
        </p:nvSpPr>
        <p:spPr>
          <a:xfrm>
            <a:off x="4846320" y="2706480"/>
            <a:ext cx="164160" cy="438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40"/>
          <p:cNvSpPr/>
          <p:nvPr/>
        </p:nvSpPr>
        <p:spPr>
          <a:xfrm>
            <a:off x="5074920" y="2724840"/>
            <a:ext cx="1691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d1f2d"/>
                </a:solidFill>
                <a:latin typeface="Calibri"/>
              </a:rPr>
              <a:t>Team Communication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41"/>
          <p:cNvSpPr/>
          <p:nvPr/>
        </p:nvSpPr>
        <p:spPr>
          <a:xfrm>
            <a:off x="5074920" y="2944440"/>
            <a:ext cx="35658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d8a9c"/>
                </a:solidFill>
                <a:latin typeface="Calibri"/>
              </a:rPr>
              <a:t>Daily standups and sprint updates across dev team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42"/>
          <p:cNvSpPr/>
          <p:nvPr/>
        </p:nvSpPr>
        <p:spPr>
          <a:xfrm>
            <a:off x="4846320" y="3218760"/>
            <a:ext cx="3885840" cy="438480"/>
          </a:xfrm>
          <a:prstGeom prst="rect">
            <a:avLst/>
          </a:prstGeom>
          <a:solidFill>
            <a:srgbClr val="eef5f8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43"/>
          <p:cNvSpPr/>
          <p:nvPr/>
        </p:nvSpPr>
        <p:spPr>
          <a:xfrm>
            <a:off x="4846320" y="3218760"/>
            <a:ext cx="164160" cy="438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44"/>
          <p:cNvSpPr/>
          <p:nvPr/>
        </p:nvSpPr>
        <p:spPr>
          <a:xfrm>
            <a:off x="5074920" y="3237120"/>
            <a:ext cx="1691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d1f2d"/>
                </a:solidFill>
                <a:latin typeface="Calibri"/>
              </a:rPr>
              <a:t>Change Notifications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45"/>
          <p:cNvSpPr/>
          <p:nvPr/>
        </p:nvSpPr>
        <p:spPr>
          <a:xfrm>
            <a:off x="5074920" y="3456360"/>
            <a:ext cx="35658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d8a9c"/>
                </a:solidFill>
                <a:latin typeface="Calibri"/>
              </a:rPr>
              <a:t>Communicate scope/timeline changes immediately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46"/>
          <p:cNvSpPr/>
          <p:nvPr/>
        </p:nvSpPr>
        <p:spPr>
          <a:xfrm>
            <a:off x="4846320" y="3730680"/>
            <a:ext cx="3885840" cy="438480"/>
          </a:xfrm>
          <a:prstGeom prst="rect">
            <a:avLst/>
          </a:prstGeom>
          <a:solidFill>
            <a:srgbClr val="eef5f8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47"/>
          <p:cNvSpPr/>
          <p:nvPr/>
        </p:nvSpPr>
        <p:spPr>
          <a:xfrm>
            <a:off x="4846320" y="3730680"/>
            <a:ext cx="164160" cy="43848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48"/>
          <p:cNvSpPr/>
          <p:nvPr/>
        </p:nvSpPr>
        <p:spPr>
          <a:xfrm>
            <a:off x="5074920" y="3749040"/>
            <a:ext cx="1691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d1f2d"/>
                </a:solidFill>
                <a:latin typeface="Calibri"/>
              </a:rPr>
              <a:t>Progress Reporting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49"/>
          <p:cNvSpPr/>
          <p:nvPr/>
        </p:nvSpPr>
        <p:spPr>
          <a:xfrm>
            <a:off x="5074920" y="3968640"/>
            <a:ext cx="35658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d8a9c"/>
                </a:solidFill>
                <a:latin typeface="Calibri"/>
              </a:rPr>
              <a:t>Dashboards and reports tracking key metrics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50"/>
          <p:cNvSpPr/>
          <p:nvPr/>
        </p:nvSpPr>
        <p:spPr>
          <a:xfrm>
            <a:off x="4846320" y="4242960"/>
            <a:ext cx="3885840" cy="438480"/>
          </a:xfrm>
          <a:prstGeom prst="rect">
            <a:avLst/>
          </a:prstGeom>
          <a:solidFill>
            <a:srgbClr val="eef5f8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51"/>
          <p:cNvSpPr/>
          <p:nvPr/>
        </p:nvSpPr>
        <p:spPr>
          <a:xfrm>
            <a:off x="4846320" y="4242960"/>
            <a:ext cx="164160" cy="438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52"/>
          <p:cNvSpPr/>
          <p:nvPr/>
        </p:nvSpPr>
        <p:spPr>
          <a:xfrm>
            <a:off x="5074920" y="4260960"/>
            <a:ext cx="1691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d1f2d"/>
                </a:solidFill>
                <a:latin typeface="Calibri"/>
              </a:rPr>
              <a:t>PM Software &amp; Email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 53"/>
          <p:cNvSpPr/>
          <p:nvPr/>
        </p:nvSpPr>
        <p:spPr>
          <a:xfrm>
            <a:off x="5074920" y="4480560"/>
            <a:ext cx="35658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d8a9c"/>
                </a:solidFill>
                <a:latin typeface="Calibri"/>
              </a:rPr>
              <a:t>Tools like Jira, Slack, Teams, and Confluence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Shape 1"/>
          <p:cNvSpPr/>
          <p:nvPr/>
        </p:nvSpPr>
        <p:spPr>
          <a:xfrm>
            <a:off x="320040" y="137160"/>
            <a:ext cx="502560" cy="502560"/>
          </a:xfrm>
          <a:prstGeom prst="ellipse">
            <a:avLst/>
          </a:prstGeom>
          <a:solidFill>
            <a:srgbClr val="0d1f2d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2"/>
          <p:cNvSpPr/>
          <p:nvPr/>
        </p:nvSpPr>
        <p:spPr>
          <a:xfrm>
            <a:off x="320040" y="137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08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3"/>
          <p:cNvSpPr/>
          <p:nvPr/>
        </p:nvSpPr>
        <p:spPr>
          <a:xfrm>
            <a:off x="960120" y="0"/>
            <a:ext cx="78177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199" strike="noStrike">
                <a:solidFill>
                  <a:srgbClr val="ffffff"/>
                </a:solidFill>
                <a:latin typeface="Calibri"/>
              </a:rPr>
              <a:t>CONFIGURATION MANAGEMENT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Shape 4"/>
          <p:cNvSpPr/>
          <p:nvPr/>
        </p:nvSpPr>
        <p:spPr>
          <a:xfrm>
            <a:off x="365760" y="914400"/>
            <a:ext cx="8412120" cy="914040"/>
          </a:xfrm>
          <a:prstGeom prst="rect">
            <a:avLst/>
          </a:prstGeom>
          <a:solidFill>
            <a:srgbClr val="1a2535"/>
          </a:solidFill>
          <a:ln w="1905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 5"/>
          <p:cNvSpPr/>
          <p:nvPr/>
        </p:nvSpPr>
        <p:spPr>
          <a:xfrm>
            <a:off x="502920" y="914400"/>
            <a:ext cx="8229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b8dbe4"/>
                </a:solidFill>
                <a:latin typeface="Calibri"/>
              </a:rPr>
              <a:t>Configuration management is the process of tracking and managing changes to the development team's work — including code changes, development tools, and all software artifacts — to keep the project history accurate and auditable.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 6"/>
          <p:cNvSpPr/>
          <p:nvPr/>
        </p:nvSpPr>
        <p:spPr>
          <a:xfrm>
            <a:off x="365760" y="1920240"/>
            <a:ext cx="8412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48" strike="noStrike">
                <a:solidFill>
                  <a:srgbClr val="e67e22"/>
                </a:solidFill>
                <a:latin typeface="Calibri"/>
              </a:rPr>
              <a:t>WHY CONFIGURATION MANAGEMENT MATTERS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Shape 7"/>
          <p:cNvSpPr/>
          <p:nvPr/>
        </p:nvSpPr>
        <p:spPr>
          <a:xfrm>
            <a:off x="274320" y="2331720"/>
            <a:ext cx="2742840" cy="1416960"/>
          </a:xfrm>
          <a:prstGeom prst="rect">
            <a:avLst/>
          </a:prstGeom>
          <a:solidFill>
            <a:srgbClr val="182535"/>
          </a:solidFill>
          <a:ln w="25400">
            <a:solidFill>
              <a:srgbClr val="1c729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Shape 8"/>
          <p:cNvSpPr/>
          <p:nvPr/>
        </p:nvSpPr>
        <p:spPr>
          <a:xfrm>
            <a:off x="274320" y="2331720"/>
            <a:ext cx="2742840" cy="529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Text 9"/>
          <p:cNvSpPr/>
          <p:nvPr/>
        </p:nvSpPr>
        <p:spPr>
          <a:xfrm>
            <a:off x="274320" y="2331720"/>
            <a:ext cx="2742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🔧  </a:t>
            </a: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Easier Tool Management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 10"/>
          <p:cNvSpPr/>
          <p:nvPr/>
        </p:nvSpPr>
        <p:spPr>
          <a:xfrm>
            <a:off x="384120" y="2907720"/>
            <a:ext cx="25232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b8dbe4"/>
                </a:solidFill>
                <a:latin typeface="Calibri"/>
              </a:rPr>
              <a:t>Standardised environments ensure all developers use the same tools and versions, reducing conflicts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Shape 11"/>
          <p:cNvSpPr/>
          <p:nvPr/>
        </p:nvSpPr>
        <p:spPr>
          <a:xfrm>
            <a:off x="3154680" y="2331720"/>
            <a:ext cx="2742840" cy="1416960"/>
          </a:xfrm>
          <a:prstGeom prst="rect">
            <a:avLst/>
          </a:prstGeom>
          <a:solidFill>
            <a:srgbClr val="182535"/>
          </a:solidFill>
          <a:ln w="25400">
            <a:solidFill>
              <a:srgbClr val="e67e22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Shape 12"/>
          <p:cNvSpPr/>
          <p:nvPr/>
        </p:nvSpPr>
        <p:spPr>
          <a:xfrm>
            <a:off x="3154680" y="2331720"/>
            <a:ext cx="2742840" cy="5299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 13"/>
          <p:cNvSpPr/>
          <p:nvPr/>
        </p:nvSpPr>
        <p:spPr>
          <a:xfrm>
            <a:off x="3154680" y="2331720"/>
            <a:ext cx="2742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📝  </a:t>
            </a: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Track Code Changes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 14"/>
          <p:cNvSpPr/>
          <p:nvPr/>
        </p:nvSpPr>
        <p:spPr>
          <a:xfrm>
            <a:off x="3264480" y="2907720"/>
            <a:ext cx="25232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b8dbe4"/>
                </a:solidFill>
                <a:latin typeface="Calibri"/>
              </a:rPr>
              <a:t>Every code modification is logged, attributed, and reversible — preventing accidental overwrites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Shape 15"/>
          <p:cNvSpPr/>
          <p:nvPr/>
        </p:nvSpPr>
        <p:spPr>
          <a:xfrm>
            <a:off x="6035040" y="2331720"/>
            <a:ext cx="2742840" cy="1416960"/>
          </a:xfrm>
          <a:prstGeom prst="rect">
            <a:avLst/>
          </a:prstGeom>
          <a:solidFill>
            <a:srgbClr val="182535"/>
          </a:solidFill>
          <a:ln w="25400">
            <a:solidFill>
              <a:srgbClr val="5b3d8a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Shape 16"/>
          <p:cNvSpPr/>
          <p:nvPr/>
        </p:nvSpPr>
        <p:spPr>
          <a:xfrm>
            <a:off x="6035040" y="2331720"/>
            <a:ext cx="2742840" cy="529920"/>
          </a:xfrm>
          <a:prstGeom prst="rect">
            <a:avLst/>
          </a:prstGeom>
          <a:solidFill>
            <a:srgbClr val="5b3d8a"/>
          </a:solidFill>
          <a:ln w="12700">
            <a:solidFill>
              <a:srgbClr val="5b3d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17"/>
          <p:cNvSpPr/>
          <p:nvPr/>
        </p:nvSpPr>
        <p:spPr>
          <a:xfrm>
            <a:off x="6035040" y="2331720"/>
            <a:ext cx="27428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👥  </a:t>
            </a: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Manage Team's Work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 18"/>
          <p:cNvSpPr/>
          <p:nvPr/>
        </p:nvSpPr>
        <p:spPr>
          <a:xfrm>
            <a:off x="6144840" y="2907720"/>
            <a:ext cx="25232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b8dbe4"/>
                </a:solidFill>
                <a:latin typeface="Calibri"/>
              </a:rPr>
              <a:t>Oversee what each team member is working on, preventing duplicate work and merging conflicts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 19"/>
          <p:cNvSpPr/>
          <p:nvPr/>
        </p:nvSpPr>
        <p:spPr>
          <a:xfrm>
            <a:off x="365760" y="384048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48" strike="noStrike">
                <a:solidFill>
                  <a:srgbClr val="e67e22"/>
                </a:solidFill>
                <a:latin typeface="Calibri"/>
              </a:rPr>
              <a:t>CONFIGURATION MANAGEMENT TOOLS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Shape 20"/>
          <p:cNvSpPr/>
          <p:nvPr/>
        </p:nvSpPr>
        <p:spPr>
          <a:xfrm>
            <a:off x="274320" y="4224600"/>
            <a:ext cx="4205880" cy="365400"/>
          </a:xfrm>
          <a:prstGeom prst="rect">
            <a:avLst/>
          </a:prstGeom>
          <a:solidFill>
            <a:srgbClr val="1a2535"/>
          </a:solidFill>
          <a:ln w="635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Shape 21"/>
          <p:cNvSpPr/>
          <p:nvPr/>
        </p:nvSpPr>
        <p:spPr>
          <a:xfrm>
            <a:off x="384120" y="4306680"/>
            <a:ext cx="200880" cy="20088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22"/>
          <p:cNvSpPr/>
          <p:nvPr/>
        </p:nvSpPr>
        <p:spPr>
          <a:xfrm>
            <a:off x="658440" y="424296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67e22"/>
                </a:solidFill>
                <a:latin typeface="Calibri"/>
              </a:rPr>
              <a:t>Git / GitHub / GitLab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 23"/>
          <p:cNvSpPr/>
          <p:nvPr/>
        </p:nvSpPr>
        <p:spPr>
          <a:xfrm>
            <a:off x="658440" y="4425840"/>
            <a:ext cx="37029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8dbe4"/>
                </a:solidFill>
                <a:latin typeface="Calibri"/>
              </a:rPr>
              <a:t>Version control for all source code changes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Shape 24"/>
          <p:cNvSpPr/>
          <p:nvPr/>
        </p:nvSpPr>
        <p:spPr>
          <a:xfrm>
            <a:off x="4709160" y="4224600"/>
            <a:ext cx="4205880" cy="365400"/>
          </a:xfrm>
          <a:prstGeom prst="rect">
            <a:avLst/>
          </a:prstGeom>
          <a:solidFill>
            <a:srgbClr val="1a2535"/>
          </a:solidFill>
          <a:ln w="635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Shape 25"/>
          <p:cNvSpPr/>
          <p:nvPr/>
        </p:nvSpPr>
        <p:spPr>
          <a:xfrm>
            <a:off x="4818960" y="4306680"/>
            <a:ext cx="200880" cy="20088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Text 26"/>
          <p:cNvSpPr/>
          <p:nvPr/>
        </p:nvSpPr>
        <p:spPr>
          <a:xfrm>
            <a:off x="5093280" y="424296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67e22"/>
                </a:solidFill>
                <a:latin typeface="Calibri"/>
              </a:rPr>
              <a:t>Docker / Kubernetes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27"/>
          <p:cNvSpPr/>
          <p:nvPr/>
        </p:nvSpPr>
        <p:spPr>
          <a:xfrm>
            <a:off x="5093280" y="4425840"/>
            <a:ext cx="37029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8dbe4"/>
                </a:solidFill>
                <a:latin typeface="Calibri"/>
              </a:rPr>
              <a:t>Container management for consistent environments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Shape 28"/>
          <p:cNvSpPr/>
          <p:nvPr/>
        </p:nvSpPr>
        <p:spPr>
          <a:xfrm>
            <a:off x="274320" y="4663440"/>
            <a:ext cx="4205880" cy="365400"/>
          </a:xfrm>
          <a:prstGeom prst="rect">
            <a:avLst/>
          </a:prstGeom>
          <a:solidFill>
            <a:srgbClr val="1a2535"/>
          </a:solidFill>
          <a:ln w="635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Shape 29"/>
          <p:cNvSpPr/>
          <p:nvPr/>
        </p:nvSpPr>
        <p:spPr>
          <a:xfrm>
            <a:off x="384120" y="4745880"/>
            <a:ext cx="200880" cy="20088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 30"/>
          <p:cNvSpPr/>
          <p:nvPr/>
        </p:nvSpPr>
        <p:spPr>
          <a:xfrm>
            <a:off x="658440" y="468180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67e22"/>
                </a:solidFill>
                <a:latin typeface="Calibri"/>
              </a:rPr>
              <a:t>CI/CD Pipelines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Text 31"/>
          <p:cNvSpPr/>
          <p:nvPr/>
        </p:nvSpPr>
        <p:spPr>
          <a:xfrm>
            <a:off x="658440" y="4864680"/>
            <a:ext cx="37029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8dbe4"/>
                </a:solidFill>
                <a:latin typeface="Calibri"/>
              </a:rPr>
              <a:t>Automated build, test, and deployment workflows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Shape 32"/>
          <p:cNvSpPr/>
          <p:nvPr/>
        </p:nvSpPr>
        <p:spPr>
          <a:xfrm>
            <a:off x="4709160" y="4663440"/>
            <a:ext cx="4205880" cy="365400"/>
          </a:xfrm>
          <a:prstGeom prst="rect">
            <a:avLst/>
          </a:prstGeom>
          <a:solidFill>
            <a:srgbClr val="1a2535"/>
          </a:solidFill>
          <a:ln w="635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Shape 33"/>
          <p:cNvSpPr/>
          <p:nvPr/>
        </p:nvSpPr>
        <p:spPr>
          <a:xfrm>
            <a:off x="4818960" y="4745880"/>
            <a:ext cx="200880" cy="20088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Text 34"/>
          <p:cNvSpPr/>
          <p:nvPr/>
        </p:nvSpPr>
        <p:spPr>
          <a:xfrm>
            <a:off x="5093280" y="468180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67e22"/>
                </a:solidFill>
                <a:latin typeface="Calibri"/>
              </a:rPr>
              <a:t>Jira / Confluence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 35"/>
          <p:cNvSpPr/>
          <p:nvPr/>
        </p:nvSpPr>
        <p:spPr>
          <a:xfrm>
            <a:off x="5093280" y="4864680"/>
            <a:ext cx="37029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8dbe4"/>
                </a:solidFill>
                <a:latin typeface="Calibri"/>
              </a:rPr>
              <a:t>Issue tracking, documentation, and knowledge base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199" strike="noStrike">
                <a:solidFill>
                  <a:srgbClr val="ffffff"/>
                </a:solidFill>
                <a:latin typeface="Calibri"/>
              </a:rPr>
              <a:t>THE SOFTWARE PROJECT MANAGEMENT PROCESS FLOW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2"/>
          <p:cNvSpPr/>
          <p:nvPr/>
        </p:nvSpPr>
        <p:spPr>
          <a:xfrm>
            <a:off x="1737360" y="1874520"/>
            <a:ext cx="228240" cy="164160"/>
          </a:xfrm>
          <a:prstGeom prst="rect">
            <a:avLst/>
          </a:prstGeom>
          <a:solidFill>
            <a:srgbClr val="5d8a9c"/>
          </a:solidFill>
          <a:ln w="12700">
            <a:solidFill>
              <a:srgbClr val="5d8a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Shape 3"/>
          <p:cNvSpPr/>
          <p:nvPr/>
        </p:nvSpPr>
        <p:spPr>
          <a:xfrm>
            <a:off x="411480" y="896040"/>
            <a:ext cx="1005480" cy="1005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 4"/>
          <p:cNvSpPr/>
          <p:nvPr/>
        </p:nvSpPr>
        <p:spPr>
          <a:xfrm>
            <a:off x="411480" y="896040"/>
            <a:ext cx="1005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</a:rPr>
              <a:t>🚀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5"/>
          <p:cNvSpPr/>
          <p:nvPr/>
        </p:nvSpPr>
        <p:spPr>
          <a:xfrm>
            <a:off x="228600" y="2011680"/>
            <a:ext cx="1599840" cy="281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6"/>
          <p:cNvSpPr/>
          <p:nvPr/>
        </p:nvSpPr>
        <p:spPr>
          <a:xfrm>
            <a:off x="228600" y="2011680"/>
            <a:ext cx="1599840" cy="475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7"/>
          <p:cNvSpPr/>
          <p:nvPr/>
        </p:nvSpPr>
        <p:spPr>
          <a:xfrm>
            <a:off x="228600" y="2011680"/>
            <a:ext cx="15998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1. INITIATION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8"/>
          <p:cNvSpPr/>
          <p:nvPr/>
        </p:nvSpPr>
        <p:spPr>
          <a:xfrm>
            <a:off x="320040" y="2541960"/>
            <a:ext cx="1416960" cy="22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d3a4a"/>
                </a:solidFill>
                <a:latin typeface="Calibri"/>
              </a:rPr>
              <a:t>Define project goals, scope, and feasibility. Identify stakeholders and resources.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9"/>
          <p:cNvSpPr/>
          <p:nvPr/>
        </p:nvSpPr>
        <p:spPr>
          <a:xfrm>
            <a:off x="3474720" y="1874520"/>
            <a:ext cx="228240" cy="164160"/>
          </a:xfrm>
          <a:prstGeom prst="rect">
            <a:avLst/>
          </a:prstGeom>
          <a:solidFill>
            <a:srgbClr val="5d8a9c"/>
          </a:solidFill>
          <a:ln w="12700">
            <a:solidFill>
              <a:srgbClr val="5d8a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Shape 10"/>
          <p:cNvSpPr/>
          <p:nvPr/>
        </p:nvSpPr>
        <p:spPr>
          <a:xfrm>
            <a:off x="2148840" y="896040"/>
            <a:ext cx="1005480" cy="1005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 11"/>
          <p:cNvSpPr/>
          <p:nvPr/>
        </p:nvSpPr>
        <p:spPr>
          <a:xfrm>
            <a:off x="2148840" y="896040"/>
            <a:ext cx="1005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</a:rPr>
              <a:t>📋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12"/>
          <p:cNvSpPr/>
          <p:nvPr/>
        </p:nvSpPr>
        <p:spPr>
          <a:xfrm>
            <a:off x="1965960" y="2011680"/>
            <a:ext cx="1599840" cy="281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13"/>
          <p:cNvSpPr/>
          <p:nvPr/>
        </p:nvSpPr>
        <p:spPr>
          <a:xfrm>
            <a:off x="1965960" y="2011680"/>
            <a:ext cx="1599840" cy="475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Text 14"/>
          <p:cNvSpPr/>
          <p:nvPr/>
        </p:nvSpPr>
        <p:spPr>
          <a:xfrm>
            <a:off x="1965960" y="2011680"/>
            <a:ext cx="15998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2. PLANNING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 15"/>
          <p:cNvSpPr/>
          <p:nvPr/>
        </p:nvSpPr>
        <p:spPr>
          <a:xfrm>
            <a:off x="2057400" y="2541960"/>
            <a:ext cx="1416960" cy="22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d3a4a"/>
                </a:solidFill>
                <a:latin typeface="Calibri"/>
              </a:rPr>
              <a:t>Create schedules, budgets, WBS. Identify risks and define quality standards.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16"/>
          <p:cNvSpPr/>
          <p:nvPr/>
        </p:nvSpPr>
        <p:spPr>
          <a:xfrm>
            <a:off x="5212080" y="1874520"/>
            <a:ext cx="228240" cy="164160"/>
          </a:xfrm>
          <a:prstGeom prst="rect">
            <a:avLst/>
          </a:prstGeom>
          <a:solidFill>
            <a:srgbClr val="5d8a9c"/>
          </a:solidFill>
          <a:ln w="12700">
            <a:solidFill>
              <a:srgbClr val="5d8a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Shape 17"/>
          <p:cNvSpPr/>
          <p:nvPr/>
        </p:nvSpPr>
        <p:spPr>
          <a:xfrm>
            <a:off x="3886200" y="896040"/>
            <a:ext cx="1005480" cy="1005480"/>
          </a:xfrm>
          <a:prstGeom prst="ellipse">
            <a:avLst/>
          </a:prstGeom>
          <a:solidFill>
            <a:srgbClr val="1a7a4a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Text 18"/>
          <p:cNvSpPr/>
          <p:nvPr/>
        </p:nvSpPr>
        <p:spPr>
          <a:xfrm>
            <a:off x="3886200" y="896040"/>
            <a:ext cx="1005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</a:rPr>
              <a:t>⚡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19"/>
          <p:cNvSpPr/>
          <p:nvPr/>
        </p:nvSpPr>
        <p:spPr>
          <a:xfrm>
            <a:off x="3703320" y="2011680"/>
            <a:ext cx="1599840" cy="281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a7a4a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20"/>
          <p:cNvSpPr/>
          <p:nvPr/>
        </p:nvSpPr>
        <p:spPr>
          <a:xfrm>
            <a:off x="3703320" y="2011680"/>
            <a:ext cx="1599840" cy="47520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 21"/>
          <p:cNvSpPr/>
          <p:nvPr/>
        </p:nvSpPr>
        <p:spPr>
          <a:xfrm>
            <a:off x="3703320" y="2011680"/>
            <a:ext cx="15998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3. EXECUTION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 22"/>
          <p:cNvSpPr/>
          <p:nvPr/>
        </p:nvSpPr>
        <p:spPr>
          <a:xfrm>
            <a:off x="3794760" y="2541960"/>
            <a:ext cx="1416960" cy="22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d3a4a"/>
                </a:solidFill>
                <a:latin typeface="Calibri"/>
              </a:rPr>
              <a:t>Development team builds the software. PM coordinates tasks and monitors progress.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23"/>
          <p:cNvSpPr/>
          <p:nvPr/>
        </p:nvSpPr>
        <p:spPr>
          <a:xfrm>
            <a:off x="6949440" y="1874520"/>
            <a:ext cx="228240" cy="164160"/>
          </a:xfrm>
          <a:prstGeom prst="rect">
            <a:avLst/>
          </a:prstGeom>
          <a:solidFill>
            <a:srgbClr val="5d8a9c"/>
          </a:solidFill>
          <a:ln w="12700">
            <a:solidFill>
              <a:srgbClr val="5d8a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Shape 24"/>
          <p:cNvSpPr/>
          <p:nvPr/>
        </p:nvSpPr>
        <p:spPr>
          <a:xfrm>
            <a:off x="5623560" y="896040"/>
            <a:ext cx="1005480" cy="100548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 25"/>
          <p:cNvSpPr/>
          <p:nvPr/>
        </p:nvSpPr>
        <p:spPr>
          <a:xfrm>
            <a:off x="5623560" y="896040"/>
            <a:ext cx="1005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</a:rPr>
              <a:t>📊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26"/>
          <p:cNvSpPr/>
          <p:nvPr/>
        </p:nvSpPr>
        <p:spPr>
          <a:xfrm>
            <a:off x="5440680" y="2011680"/>
            <a:ext cx="1599840" cy="281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e67e22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27"/>
          <p:cNvSpPr/>
          <p:nvPr/>
        </p:nvSpPr>
        <p:spPr>
          <a:xfrm>
            <a:off x="5440680" y="2011680"/>
            <a:ext cx="1599840" cy="4752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Text 28"/>
          <p:cNvSpPr/>
          <p:nvPr/>
        </p:nvSpPr>
        <p:spPr>
          <a:xfrm>
            <a:off x="5440680" y="2011680"/>
            <a:ext cx="15998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4. MONITORING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 29"/>
          <p:cNvSpPr/>
          <p:nvPr/>
        </p:nvSpPr>
        <p:spPr>
          <a:xfrm>
            <a:off x="5532120" y="2541960"/>
            <a:ext cx="1416960" cy="22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d3a4a"/>
                </a:solidFill>
                <a:latin typeface="Calibri"/>
              </a:rPr>
              <a:t>Track KPIs, detect variances, manage changes. Update stakeholders regularly.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30"/>
          <p:cNvSpPr/>
          <p:nvPr/>
        </p:nvSpPr>
        <p:spPr>
          <a:xfrm>
            <a:off x="7360920" y="896040"/>
            <a:ext cx="1005480" cy="1005480"/>
          </a:xfrm>
          <a:prstGeom prst="ellipse">
            <a:avLst/>
          </a:prstGeom>
          <a:solidFill>
            <a:srgbClr val="e05c44"/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Text 31"/>
          <p:cNvSpPr/>
          <p:nvPr/>
        </p:nvSpPr>
        <p:spPr>
          <a:xfrm>
            <a:off x="7360920" y="896040"/>
            <a:ext cx="1005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</a:rPr>
              <a:t>✅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32"/>
          <p:cNvSpPr/>
          <p:nvPr/>
        </p:nvSpPr>
        <p:spPr>
          <a:xfrm>
            <a:off x="7178040" y="2011680"/>
            <a:ext cx="1599840" cy="281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e05c44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33"/>
          <p:cNvSpPr/>
          <p:nvPr/>
        </p:nvSpPr>
        <p:spPr>
          <a:xfrm>
            <a:off x="7178040" y="2011680"/>
            <a:ext cx="1599840" cy="475200"/>
          </a:xfrm>
          <a:prstGeom prst="rect">
            <a:avLst/>
          </a:prstGeom>
          <a:solidFill>
            <a:srgbClr val="e05c44"/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Text 34"/>
          <p:cNvSpPr/>
          <p:nvPr/>
        </p:nvSpPr>
        <p:spPr>
          <a:xfrm>
            <a:off x="7178040" y="2011680"/>
            <a:ext cx="15998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Calibri"/>
              </a:rPr>
              <a:t>5. CLOSURE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 35"/>
          <p:cNvSpPr/>
          <p:nvPr/>
        </p:nvSpPr>
        <p:spPr>
          <a:xfrm>
            <a:off x="7269480" y="2541960"/>
            <a:ext cx="1416960" cy="22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d3a4a"/>
                </a:solidFill>
                <a:latin typeface="Calibri"/>
              </a:rPr>
              <a:t>Deliver final product. Conduct post-mortem. Archive documents and release team.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199" strike="noStrike">
                <a:solidFill>
                  <a:srgbClr val="ffffff"/>
                </a:solidFill>
                <a:latin typeface="Calibri"/>
              </a:rPr>
              <a:t>TOOLS &amp; BEST PRACTICES FOR SPM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Shape 2"/>
          <p:cNvSpPr/>
          <p:nvPr/>
        </p:nvSpPr>
        <p:spPr>
          <a:xfrm>
            <a:off x="274320" y="914400"/>
            <a:ext cx="4160160" cy="3913200"/>
          </a:xfrm>
          <a:prstGeom prst="rect">
            <a:avLst/>
          </a:prstGeom>
          <a:solidFill>
            <a:srgbClr val="152030"/>
          </a:solidFill>
          <a:ln w="25400">
            <a:solidFill>
              <a:srgbClr val="1c729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Shape 3"/>
          <p:cNvSpPr/>
          <p:nvPr/>
        </p:nvSpPr>
        <p:spPr>
          <a:xfrm>
            <a:off x="274320" y="914400"/>
            <a:ext cx="4160160" cy="5025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Text 4"/>
          <p:cNvSpPr/>
          <p:nvPr/>
        </p:nvSpPr>
        <p:spPr>
          <a:xfrm>
            <a:off x="274320" y="914400"/>
            <a:ext cx="4160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🛠  </a:t>
            </a: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PM TOOLS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Shape 5"/>
          <p:cNvSpPr/>
          <p:nvPr/>
        </p:nvSpPr>
        <p:spPr>
          <a:xfrm>
            <a:off x="411480" y="1591200"/>
            <a:ext cx="273960" cy="273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 6"/>
          <p:cNvSpPr/>
          <p:nvPr/>
        </p:nvSpPr>
        <p:spPr>
          <a:xfrm>
            <a:off x="777240" y="151776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7293"/>
                </a:solidFill>
                <a:latin typeface="Calibri"/>
              </a:rPr>
              <a:t>Jira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Text 7"/>
          <p:cNvSpPr/>
          <p:nvPr/>
        </p:nvSpPr>
        <p:spPr>
          <a:xfrm>
            <a:off x="777240" y="178308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Agile planning, sprint tracking, backlogs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Shape 8"/>
          <p:cNvSpPr/>
          <p:nvPr/>
        </p:nvSpPr>
        <p:spPr>
          <a:xfrm>
            <a:off x="411480" y="2139840"/>
            <a:ext cx="273960" cy="2739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Text 9"/>
          <p:cNvSpPr/>
          <p:nvPr/>
        </p:nvSpPr>
        <p:spPr>
          <a:xfrm>
            <a:off x="777240" y="206640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65a82"/>
                </a:solidFill>
                <a:latin typeface="Calibri"/>
              </a:rPr>
              <a:t>MS Project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Text 10"/>
          <p:cNvSpPr/>
          <p:nvPr/>
        </p:nvSpPr>
        <p:spPr>
          <a:xfrm>
            <a:off x="777240" y="233172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Gantt charts, resource allocation, scheduling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Shape 11"/>
          <p:cNvSpPr/>
          <p:nvPr/>
        </p:nvSpPr>
        <p:spPr>
          <a:xfrm>
            <a:off x="411480" y="2688480"/>
            <a:ext cx="273960" cy="273960"/>
          </a:xfrm>
          <a:prstGeom prst="ellipse">
            <a:avLst/>
          </a:prstGeom>
          <a:solidFill>
            <a:srgbClr val="2196a5"/>
          </a:solidFill>
          <a:ln w="12700">
            <a:solidFill>
              <a:srgbClr val="2196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 12"/>
          <p:cNvSpPr/>
          <p:nvPr/>
        </p:nvSpPr>
        <p:spPr>
          <a:xfrm>
            <a:off x="777240" y="261504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2196a5"/>
                </a:solidFill>
                <a:latin typeface="Calibri"/>
              </a:rPr>
              <a:t>Confluence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 13"/>
          <p:cNvSpPr/>
          <p:nvPr/>
        </p:nvSpPr>
        <p:spPr>
          <a:xfrm>
            <a:off x="777240" y="288036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Documentation, knowledge base, team wikis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Shape 14"/>
          <p:cNvSpPr/>
          <p:nvPr/>
        </p:nvSpPr>
        <p:spPr>
          <a:xfrm>
            <a:off x="411480" y="3237120"/>
            <a:ext cx="273960" cy="273960"/>
          </a:xfrm>
          <a:prstGeom prst="ellipse">
            <a:avLst/>
          </a:prstGeom>
          <a:solidFill>
            <a:srgbClr val="5b3d8a"/>
          </a:solidFill>
          <a:ln w="12700">
            <a:solidFill>
              <a:srgbClr val="5b3d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Text 15"/>
          <p:cNvSpPr/>
          <p:nvPr/>
        </p:nvSpPr>
        <p:spPr>
          <a:xfrm>
            <a:off x="777240" y="316368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b3d8a"/>
                </a:solidFill>
                <a:latin typeface="Calibri"/>
              </a:rPr>
              <a:t>Slack / Teams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Text 16"/>
          <p:cNvSpPr/>
          <p:nvPr/>
        </p:nvSpPr>
        <p:spPr>
          <a:xfrm>
            <a:off x="777240" y="342900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Real-time team and stakeholder communication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Shape 17"/>
          <p:cNvSpPr/>
          <p:nvPr/>
        </p:nvSpPr>
        <p:spPr>
          <a:xfrm>
            <a:off x="411480" y="3785760"/>
            <a:ext cx="273960" cy="27396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Text 18"/>
          <p:cNvSpPr/>
          <p:nvPr/>
        </p:nvSpPr>
        <p:spPr>
          <a:xfrm>
            <a:off x="777240" y="371232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67e22"/>
                </a:solidFill>
                <a:latin typeface="Calibri"/>
              </a:rPr>
              <a:t>GitHub / GitLab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Text 19"/>
          <p:cNvSpPr/>
          <p:nvPr/>
        </p:nvSpPr>
        <p:spPr>
          <a:xfrm>
            <a:off x="777240" y="397764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Version control and configuration management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Shape 20"/>
          <p:cNvSpPr/>
          <p:nvPr/>
        </p:nvSpPr>
        <p:spPr>
          <a:xfrm>
            <a:off x="411480" y="4334400"/>
            <a:ext cx="273960" cy="273960"/>
          </a:xfrm>
          <a:prstGeom prst="ellipse">
            <a:avLst/>
          </a:prstGeom>
          <a:solidFill>
            <a:srgbClr val="1a7a4a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 21"/>
          <p:cNvSpPr/>
          <p:nvPr/>
        </p:nvSpPr>
        <p:spPr>
          <a:xfrm>
            <a:off x="777240" y="426096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a7a4a"/>
                </a:solidFill>
                <a:latin typeface="Calibri"/>
              </a:rPr>
              <a:t>Trello / Asana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Text 22"/>
          <p:cNvSpPr/>
          <p:nvPr/>
        </p:nvSpPr>
        <p:spPr>
          <a:xfrm>
            <a:off x="777240" y="452628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8dbe4"/>
                </a:solidFill>
                <a:latin typeface="Calibri"/>
              </a:rPr>
              <a:t>Kanban boards and task management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Shape 23"/>
          <p:cNvSpPr/>
          <p:nvPr/>
        </p:nvSpPr>
        <p:spPr>
          <a:xfrm>
            <a:off x="4709160" y="914400"/>
            <a:ext cx="4160160" cy="3913200"/>
          </a:xfrm>
          <a:prstGeom prst="rect">
            <a:avLst/>
          </a:prstGeom>
          <a:solidFill>
            <a:srgbClr val="152030"/>
          </a:solidFill>
          <a:ln w="25400">
            <a:solidFill>
              <a:srgbClr val="f5a62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Shape 24"/>
          <p:cNvSpPr/>
          <p:nvPr/>
        </p:nvSpPr>
        <p:spPr>
          <a:xfrm>
            <a:off x="4709160" y="914400"/>
            <a:ext cx="4160160" cy="5025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 25"/>
          <p:cNvSpPr/>
          <p:nvPr/>
        </p:nvSpPr>
        <p:spPr>
          <a:xfrm>
            <a:off x="4709160" y="914400"/>
            <a:ext cx="4160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d1f2d"/>
                </a:solidFill>
                <a:latin typeface="Calibri"/>
              </a:rPr>
              <a:t>⭐  </a:t>
            </a:r>
            <a:r>
              <a:rPr b="1" lang="en-US" sz="1350" spc="-1" strike="noStrike">
                <a:solidFill>
                  <a:srgbClr val="0d1f2d"/>
                </a:solidFill>
                <a:latin typeface="Calibri"/>
              </a:rPr>
              <a:t>BEST PRACTICES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Shape 26"/>
          <p:cNvSpPr/>
          <p:nvPr/>
        </p:nvSpPr>
        <p:spPr>
          <a:xfrm>
            <a:off x="4827960" y="1591200"/>
            <a:ext cx="273960" cy="273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Text 27"/>
          <p:cNvSpPr/>
          <p:nvPr/>
        </p:nvSpPr>
        <p:spPr>
          <a:xfrm>
            <a:off x="5166360" y="1481400"/>
            <a:ext cx="3565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b8dbe4"/>
                </a:solidFill>
                <a:latin typeface="Calibri"/>
              </a:rPr>
              <a:t>Set clear, measurable project goals before starting development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Shape 28"/>
          <p:cNvSpPr/>
          <p:nvPr/>
        </p:nvSpPr>
        <p:spPr>
          <a:xfrm>
            <a:off x="4827960" y="2139840"/>
            <a:ext cx="273960" cy="2739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29"/>
          <p:cNvSpPr/>
          <p:nvPr/>
        </p:nvSpPr>
        <p:spPr>
          <a:xfrm>
            <a:off x="5166360" y="2030040"/>
            <a:ext cx="3565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b8dbe4"/>
                </a:solidFill>
                <a:latin typeface="Calibri"/>
              </a:rPr>
              <a:t>Use WBS to decompose complex work into manageable tasks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" name="Shape 30"/>
          <p:cNvSpPr/>
          <p:nvPr/>
        </p:nvSpPr>
        <p:spPr>
          <a:xfrm>
            <a:off x="4827960" y="2688480"/>
            <a:ext cx="273960" cy="273960"/>
          </a:xfrm>
          <a:prstGeom prst="ellipse">
            <a:avLst/>
          </a:prstGeom>
          <a:solidFill>
            <a:srgbClr val="e05c44"/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 31"/>
          <p:cNvSpPr/>
          <p:nvPr/>
        </p:nvSpPr>
        <p:spPr>
          <a:xfrm>
            <a:off x="5166360" y="2578680"/>
            <a:ext cx="3565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b8dbe4"/>
                </a:solidFill>
                <a:latin typeface="Calibri"/>
              </a:rPr>
              <a:t>Track risk register and update it regularly throughout the project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Shape 32"/>
          <p:cNvSpPr/>
          <p:nvPr/>
        </p:nvSpPr>
        <p:spPr>
          <a:xfrm>
            <a:off x="4827960" y="3237120"/>
            <a:ext cx="273960" cy="273960"/>
          </a:xfrm>
          <a:prstGeom prst="ellipse">
            <a:avLst/>
          </a:prstGeom>
          <a:solidFill>
            <a:srgbClr val="1abc9c"/>
          </a:solidFill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Text 33"/>
          <p:cNvSpPr/>
          <p:nvPr/>
        </p:nvSpPr>
        <p:spPr>
          <a:xfrm>
            <a:off x="5166360" y="3127320"/>
            <a:ext cx="3565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b8dbe4"/>
                </a:solidFill>
                <a:latin typeface="Calibri"/>
              </a:rPr>
              <a:t>Communicate changes to all stakeholders immediately and clearly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Shape 34"/>
          <p:cNvSpPr/>
          <p:nvPr/>
        </p:nvSpPr>
        <p:spPr>
          <a:xfrm>
            <a:off x="4827960" y="3785760"/>
            <a:ext cx="273960" cy="273960"/>
          </a:xfrm>
          <a:prstGeom prst="ellipse">
            <a:avLst/>
          </a:prstGeom>
          <a:solidFill>
            <a:srgbClr val="5b3d8a"/>
          </a:solidFill>
          <a:ln w="12700">
            <a:solidFill>
              <a:srgbClr val="5b3d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Text 35"/>
          <p:cNvSpPr/>
          <p:nvPr/>
        </p:nvSpPr>
        <p:spPr>
          <a:xfrm>
            <a:off x="5166360" y="3675960"/>
            <a:ext cx="3565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b8dbe4"/>
                </a:solidFill>
                <a:latin typeface="Calibri"/>
              </a:rPr>
              <a:t>Maintain version control for all code, configs, and documentation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Shape 36"/>
          <p:cNvSpPr/>
          <p:nvPr/>
        </p:nvSpPr>
        <p:spPr>
          <a:xfrm>
            <a:off x="4827960" y="4334400"/>
            <a:ext cx="273960" cy="273960"/>
          </a:xfrm>
          <a:prstGeom prst="ellipse">
            <a:avLst/>
          </a:prstGeom>
          <a:solidFill>
            <a:srgbClr val="1a7a4a"/>
          </a:solidFill>
          <a:ln w="12700">
            <a:solidFill>
              <a:srgbClr val="1a7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Text 37"/>
          <p:cNvSpPr/>
          <p:nvPr/>
        </p:nvSpPr>
        <p:spPr>
          <a:xfrm>
            <a:off x="5166360" y="4224600"/>
            <a:ext cx="3565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b8dbe4"/>
                </a:solidFill>
                <a:latin typeface="Calibri"/>
              </a:rPr>
              <a:t>Conduct retrospectives at project end to capture lessons learned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Shape 0"/>
          <p:cNvSpPr/>
          <p:nvPr/>
        </p:nvSpPr>
        <p:spPr>
          <a:xfrm>
            <a:off x="-1371600" y="2286000"/>
            <a:ext cx="4114440" cy="4114440"/>
          </a:xfrm>
          <a:prstGeom prst="ellipse">
            <a:avLst/>
          </a:prstGeom>
          <a:solidFill>
            <a:srgbClr val="065a82">
              <a:alpha val="30000"/>
            </a:srgbClr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Shape 1"/>
          <p:cNvSpPr/>
          <p:nvPr/>
        </p:nvSpPr>
        <p:spPr>
          <a:xfrm>
            <a:off x="7132320" y="-914400"/>
            <a:ext cx="3657240" cy="3657240"/>
          </a:xfrm>
          <a:prstGeom prst="ellipse">
            <a:avLst/>
          </a:prstGeom>
          <a:solidFill>
            <a:srgbClr val="1c7293">
              <a:alpha val="3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Shape 2"/>
          <p:cNvSpPr/>
          <p:nvPr/>
        </p:nvSpPr>
        <p:spPr>
          <a:xfrm>
            <a:off x="0" y="0"/>
            <a:ext cx="200880" cy="5143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Shape 3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Text 4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299" strike="noStrike">
                <a:solidFill>
                  <a:srgbClr val="ffffff"/>
                </a:solidFill>
                <a:latin typeface="Calibri"/>
              </a:rPr>
              <a:t>KEY TAKEAWAYS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Shape 5"/>
          <p:cNvSpPr/>
          <p:nvPr/>
        </p:nvSpPr>
        <p:spPr>
          <a:xfrm>
            <a:off x="411480" y="960120"/>
            <a:ext cx="8320680" cy="566640"/>
          </a:xfrm>
          <a:prstGeom prst="rect">
            <a:avLst/>
          </a:prstGeom>
          <a:solidFill>
            <a:srgbClr val="14202e">
              <a:alpha val="90000"/>
            </a:srgbClr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Shape 6"/>
          <p:cNvSpPr/>
          <p:nvPr/>
        </p:nvSpPr>
        <p:spPr>
          <a:xfrm>
            <a:off x="502920" y="1078920"/>
            <a:ext cx="328680" cy="32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Text 7"/>
          <p:cNvSpPr/>
          <p:nvPr/>
        </p:nvSpPr>
        <p:spPr>
          <a:xfrm>
            <a:off x="502920" y="10789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 8"/>
          <p:cNvSpPr/>
          <p:nvPr/>
        </p:nvSpPr>
        <p:spPr>
          <a:xfrm>
            <a:off x="960120" y="960120"/>
            <a:ext cx="76075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b8dbe4"/>
                </a:solidFill>
                <a:latin typeface="Calibri"/>
              </a:rPr>
              <a:t>Software PM coordinates the entire software lifecycle — from planning and budgeting through delivery and closure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Shape 9"/>
          <p:cNvSpPr/>
          <p:nvPr/>
        </p:nvSpPr>
        <p:spPr>
          <a:xfrm>
            <a:off x="411480" y="1627560"/>
            <a:ext cx="8320680" cy="566640"/>
          </a:xfrm>
          <a:prstGeom prst="rect">
            <a:avLst/>
          </a:prstGeom>
          <a:solidFill>
            <a:srgbClr val="14202e">
              <a:alpha val="90000"/>
            </a:srgbClr>
          </a:solidFill>
          <a:ln w="12700">
            <a:solidFill>
              <a:srgbClr val="2196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Shape 10"/>
          <p:cNvSpPr/>
          <p:nvPr/>
        </p:nvSpPr>
        <p:spPr>
          <a:xfrm>
            <a:off x="502920" y="1746360"/>
            <a:ext cx="328680" cy="328680"/>
          </a:xfrm>
          <a:prstGeom prst="ellipse">
            <a:avLst/>
          </a:prstGeom>
          <a:solidFill>
            <a:srgbClr val="2196a5"/>
          </a:solidFill>
          <a:ln w="12700">
            <a:solidFill>
              <a:srgbClr val="2196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Text 11"/>
          <p:cNvSpPr/>
          <p:nvPr/>
        </p:nvSpPr>
        <p:spPr>
          <a:xfrm>
            <a:off x="502920" y="17463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Text 12"/>
          <p:cNvSpPr/>
          <p:nvPr/>
        </p:nvSpPr>
        <p:spPr>
          <a:xfrm>
            <a:off x="960120" y="1627560"/>
            <a:ext cx="76075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b8dbe4"/>
                </a:solidFill>
                <a:latin typeface="Calibri"/>
              </a:rPr>
              <a:t>8 core activities: Planning, Resource, Scope, Estimation, Risk, Scheduling, Communication, and Configuration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Shape 13"/>
          <p:cNvSpPr/>
          <p:nvPr/>
        </p:nvSpPr>
        <p:spPr>
          <a:xfrm>
            <a:off x="411480" y="2295000"/>
            <a:ext cx="8320680" cy="566640"/>
          </a:xfrm>
          <a:prstGeom prst="rect">
            <a:avLst/>
          </a:prstGeom>
          <a:solidFill>
            <a:srgbClr val="14202e">
              <a:alpha val="90000"/>
            </a:srgbClr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Shape 14"/>
          <p:cNvSpPr/>
          <p:nvPr/>
        </p:nvSpPr>
        <p:spPr>
          <a:xfrm>
            <a:off x="502920" y="2414160"/>
            <a:ext cx="328680" cy="3286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 15"/>
          <p:cNvSpPr/>
          <p:nvPr/>
        </p:nvSpPr>
        <p:spPr>
          <a:xfrm>
            <a:off x="502920" y="2414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 16"/>
          <p:cNvSpPr/>
          <p:nvPr/>
        </p:nvSpPr>
        <p:spPr>
          <a:xfrm>
            <a:off x="960120" y="2295000"/>
            <a:ext cx="76075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b8dbe4"/>
                </a:solidFill>
                <a:latin typeface="Calibri"/>
              </a:rPr>
              <a:t>Effective estimation — using historical data, bottom-up analysis, and expert judgment — sets realistic expectations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Shape 17"/>
          <p:cNvSpPr/>
          <p:nvPr/>
        </p:nvSpPr>
        <p:spPr>
          <a:xfrm>
            <a:off x="411480" y="2962800"/>
            <a:ext cx="8320680" cy="566640"/>
          </a:xfrm>
          <a:prstGeom prst="rect">
            <a:avLst/>
          </a:prstGeom>
          <a:solidFill>
            <a:srgbClr val="14202e">
              <a:alpha val="90000"/>
            </a:srgbClr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Shape 18"/>
          <p:cNvSpPr/>
          <p:nvPr/>
        </p:nvSpPr>
        <p:spPr>
          <a:xfrm>
            <a:off x="502920" y="3081600"/>
            <a:ext cx="328680" cy="328680"/>
          </a:xfrm>
          <a:prstGeom prst="ellipse">
            <a:avLst/>
          </a:prstGeom>
          <a:solidFill>
            <a:srgbClr val="e05c44"/>
          </a:solidFill>
          <a:ln w="12700">
            <a:solidFill>
              <a:srgbClr val="e05c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 19"/>
          <p:cNvSpPr/>
          <p:nvPr/>
        </p:nvSpPr>
        <p:spPr>
          <a:xfrm>
            <a:off x="502920" y="30816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 20"/>
          <p:cNvSpPr/>
          <p:nvPr/>
        </p:nvSpPr>
        <p:spPr>
          <a:xfrm>
            <a:off x="960120" y="2962800"/>
            <a:ext cx="76075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b8dbe4"/>
                </a:solidFill>
                <a:latin typeface="Calibri"/>
              </a:rPr>
              <a:t>Risk management must be proactive: identify risks early and maintain a risk register throughout the project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Shape 21"/>
          <p:cNvSpPr/>
          <p:nvPr/>
        </p:nvSpPr>
        <p:spPr>
          <a:xfrm>
            <a:off x="411480" y="3630240"/>
            <a:ext cx="8320680" cy="566640"/>
          </a:xfrm>
          <a:prstGeom prst="rect">
            <a:avLst/>
          </a:prstGeom>
          <a:solidFill>
            <a:srgbClr val="14202e">
              <a:alpha val="90000"/>
            </a:srgbClr>
          </a:solidFill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Shape 22"/>
          <p:cNvSpPr/>
          <p:nvPr/>
        </p:nvSpPr>
        <p:spPr>
          <a:xfrm>
            <a:off x="502920" y="3749040"/>
            <a:ext cx="328680" cy="328680"/>
          </a:xfrm>
          <a:prstGeom prst="ellipse">
            <a:avLst/>
          </a:prstGeom>
          <a:solidFill>
            <a:srgbClr val="1abc9c"/>
          </a:solidFill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Text 23"/>
          <p:cNvSpPr/>
          <p:nvPr/>
        </p:nvSpPr>
        <p:spPr>
          <a:xfrm>
            <a:off x="502920" y="37490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 24"/>
          <p:cNvSpPr/>
          <p:nvPr/>
        </p:nvSpPr>
        <p:spPr>
          <a:xfrm>
            <a:off x="960120" y="3630240"/>
            <a:ext cx="76075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b8dbe4"/>
                </a:solidFill>
                <a:latin typeface="Calibri"/>
              </a:rPr>
              <a:t>Communication is the backbone of SPM — regular, clear updates to all stakeholders prevent costly misalignment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Shape 25"/>
          <p:cNvSpPr/>
          <p:nvPr/>
        </p:nvSpPr>
        <p:spPr>
          <a:xfrm>
            <a:off x="411480" y="4297680"/>
            <a:ext cx="8320680" cy="566640"/>
          </a:xfrm>
          <a:prstGeom prst="rect">
            <a:avLst/>
          </a:prstGeom>
          <a:solidFill>
            <a:srgbClr val="14202e">
              <a:alpha val="90000"/>
            </a:srgbClr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Shape 26"/>
          <p:cNvSpPr/>
          <p:nvPr/>
        </p:nvSpPr>
        <p:spPr>
          <a:xfrm>
            <a:off x="502920" y="4416480"/>
            <a:ext cx="328680" cy="32868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 27"/>
          <p:cNvSpPr/>
          <p:nvPr/>
        </p:nvSpPr>
        <p:spPr>
          <a:xfrm>
            <a:off x="502920" y="44164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6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 28"/>
          <p:cNvSpPr/>
          <p:nvPr/>
        </p:nvSpPr>
        <p:spPr>
          <a:xfrm>
            <a:off x="960120" y="4297680"/>
            <a:ext cx="76075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b8dbe4"/>
                </a:solidFill>
                <a:latin typeface="Calibri"/>
              </a:rPr>
              <a:t>Configuration management (version control, CI/CD) keeps code quality high and development teams in sync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Shape 29"/>
          <p:cNvSpPr/>
          <p:nvPr/>
        </p:nvSpPr>
        <p:spPr>
          <a:xfrm>
            <a:off x="0" y="4873680"/>
            <a:ext cx="9143640" cy="269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 30"/>
          <p:cNvSpPr/>
          <p:nvPr/>
        </p:nvSpPr>
        <p:spPr>
          <a:xfrm>
            <a:off x="0" y="4873680"/>
            <a:ext cx="914364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2026-04-08T08:33:21Z</dcterms:created>
  <dc:creator>PptxGenJS</dc:creator>
  <dc:description/>
  <dc:language>en-US</dc:language>
  <cp:lastModifiedBy/>
  <dcterms:modified xsi:type="dcterms:W3CDTF">2026-04-09T08:40:14Z</dcterms:modified>
  <cp:revision>2</cp:revision>
  <dc:subject>PptxGenJS Presentation</dc:subject>
  <dc:title>Software Project Management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