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6F03151-8085-45C6-B6F9-F5916E112D9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F354D3-9F15-40FA-A906-F65B7B22E1B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DB6787-D0A7-450F-9271-D1890A22BC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C83FE9-97DF-4D87-950E-B0A8D410F6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5B02FE-631B-436B-A86E-1B185A8008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F05191-C30C-401E-83D9-1C23830FB3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75D967-20E6-44CA-B11F-DFADAE718A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D730C0-9D44-489E-BA61-A04941C431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EA2E53-74AD-4AE3-ACEF-83E246858E4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2881D9-4AE2-4F87-81DF-AB1E15F04FA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335F11-A523-42C3-94F1-365EB279E8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217920" y="-1463040"/>
            <a:ext cx="5303160" cy="530316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406640" y="457200"/>
            <a:ext cx="2377080" cy="2377080"/>
          </a:xfrm>
          <a:prstGeom prst="ellipse">
            <a:avLst/>
          </a:prstGeom>
          <a:solidFill>
            <a:srgbClr val="0891b2">
              <a:alpha val="35000"/>
            </a:srgbClr>
          </a:solidFill>
          <a:ln w="12700">
            <a:solidFill>
              <a:srgbClr val="0891b2">
                <a:alpha val="3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371600" y="3474720"/>
            <a:ext cx="3657240" cy="3657240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4572000" y="384120"/>
            <a:ext cx="255600" cy="255600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5120640" y="804600"/>
            <a:ext cx="164160" cy="16416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4114800" y="841320"/>
            <a:ext cx="136800" cy="1368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457200" y="658440"/>
            <a:ext cx="2651400" cy="365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57200" y="6584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80" strike="noStrike">
                <a:solidFill>
                  <a:srgbClr val="0f172a"/>
                </a:solidFill>
                <a:latin typeface="Calibri"/>
              </a:rPr>
              <a:t>SOFTWARE DELIVERY  ·  DEVOPS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57200" y="117036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pc="-1" strike="noStrike">
                <a:solidFill>
                  <a:srgbClr val="f8fafc"/>
                </a:solidFill>
                <a:latin typeface="Calibri"/>
                <a:ea typeface="Calibri"/>
              </a:rPr>
              <a:t>DevOps</a:t>
            </a:r>
            <a:endParaRPr b="0" lang="en-US" sz="5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57200" y="195696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pc="-1" strike="noStrike">
                <a:solidFill>
                  <a:srgbClr val="67e8f9"/>
                </a:solidFill>
                <a:latin typeface="Calibri"/>
                <a:ea typeface="Calibri"/>
              </a:rPr>
              <a:t>vs CI/CD</a:t>
            </a:r>
            <a:endParaRPr b="0" lang="en-US" sz="5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57200" y="287136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94a3b8"/>
                </a:solidFill>
                <a:latin typeface="Calibri"/>
                <a:ea typeface="Calibri"/>
              </a:rPr>
              <a:t>Definitions · Differences · Integration · Pipeline · Best Practices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457200" y="3420000"/>
            <a:ext cx="1992960" cy="914040"/>
          </a:xfrm>
          <a:prstGeom prst="rect">
            <a:avLst/>
          </a:prstGeom>
          <a:solidFill>
            <a:srgbClr val="1e293b"/>
          </a:solidFill>
          <a:ln w="1524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57200" y="3438000"/>
            <a:ext cx="1992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67e8f9"/>
                </a:solidFill>
                <a:latin typeface="Calibri"/>
                <a:ea typeface="Calibri"/>
              </a:rPr>
              <a:t>3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457200" y="3913560"/>
            <a:ext cx="1992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CI/CD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Stages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2624400" y="3420000"/>
            <a:ext cx="1992960" cy="914040"/>
          </a:xfrm>
          <a:prstGeom prst="rect">
            <a:avLst/>
          </a:prstGeom>
          <a:solidFill>
            <a:srgbClr val="1e293b"/>
          </a:solidFill>
          <a:ln w="1524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2624400" y="3438000"/>
            <a:ext cx="1992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67e8f9"/>
                </a:solidFill>
                <a:latin typeface="Calibri"/>
                <a:ea typeface="Calibri"/>
              </a:rPr>
              <a:t>6+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2624400" y="3913560"/>
            <a:ext cx="1992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DevOps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Principles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4791600" y="3420000"/>
            <a:ext cx="1992960" cy="914040"/>
          </a:xfrm>
          <a:prstGeom prst="rect">
            <a:avLst/>
          </a:prstGeom>
          <a:solidFill>
            <a:srgbClr val="1e293b"/>
          </a:solidFill>
          <a:ln w="1524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4791600" y="3438000"/>
            <a:ext cx="1992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67e8f9"/>
                </a:solidFill>
                <a:latin typeface="Calibri"/>
                <a:ea typeface="Calibri"/>
              </a:rPr>
              <a:t>8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4791600" y="3913560"/>
            <a:ext cx="1992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Pipeline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Steps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6958440" y="3420000"/>
            <a:ext cx="1992960" cy="914040"/>
          </a:xfrm>
          <a:prstGeom prst="rect">
            <a:avLst/>
          </a:prstGeom>
          <a:solidFill>
            <a:srgbClr val="1e293b"/>
          </a:solidFill>
          <a:ln w="1524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6958440" y="3438000"/>
            <a:ext cx="1992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67e8f9"/>
                </a:solidFill>
                <a:latin typeface="Calibri"/>
                <a:ea typeface="Calibri"/>
              </a:rPr>
              <a:t>5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6958440" y="3913560"/>
            <a:ext cx="1992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Key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Differences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960120"/>
            <a:ext cx="9143640" cy="63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411480" y="0"/>
            <a:ext cx="8320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67e8f9"/>
                </a:solidFill>
                <a:latin typeface="Calibri"/>
                <a:ea typeface="Calibri"/>
              </a:rPr>
              <a:t>What Is DevOps?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365760" y="1170360"/>
            <a:ext cx="8412120" cy="93240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530280" y="1188720"/>
            <a:ext cx="809208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7e8f9"/>
                </a:solidFill>
                <a:latin typeface="Calibri"/>
                <a:ea typeface="Calibri"/>
              </a:rPr>
              <a:t>DevOps </a:t>
            </a: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(Dev + Ops) is a cultural and organizational approach that unifies software development and IT operations into one integrated process — eliminating silos, encouraging collaboration, and enabling </a:t>
            </a:r>
            <a:r>
              <a:rPr b="1" lang="en-US" sz="1250" spc="-1" strike="noStrike">
                <a:solidFill>
                  <a:srgbClr val="fb923c"/>
                </a:solidFill>
                <a:latin typeface="Calibri"/>
                <a:ea typeface="Calibri"/>
              </a:rPr>
              <a:t>continuous improvement across the entire software lifecycle</a:t>
            </a: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5"/>
          <p:cNvSpPr/>
          <p:nvPr/>
        </p:nvSpPr>
        <p:spPr>
          <a:xfrm>
            <a:off x="347400" y="2249280"/>
            <a:ext cx="2724480" cy="1206720"/>
          </a:xfrm>
          <a:prstGeom prst="rect">
            <a:avLst/>
          </a:prstGeom>
          <a:solidFill>
            <a:srgbClr val="0f172a"/>
          </a:solidFill>
          <a:ln w="19050">
            <a:solidFill>
              <a:srgbClr val="0891b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6"/>
          <p:cNvSpPr/>
          <p:nvPr/>
        </p:nvSpPr>
        <p:spPr>
          <a:xfrm>
            <a:off x="347400" y="2249280"/>
            <a:ext cx="2724480" cy="42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347400" y="2249280"/>
            <a:ext cx="27244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🤝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438840" y="270648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Collaboration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9"/>
          <p:cNvSpPr/>
          <p:nvPr/>
        </p:nvSpPr>
        <p:spPr>
          <a:xfrm>
            <a:off x="438840" y="303588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Dev and Ops teams merge into a single unit with shared goals and collective ownership of the entire SDLC.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0"/>
          <p:cNvSpPr/>
          <p:nvPr/>
        </p:nvSpPr>
        <p:spPr>
          <a:xfrm>
            <a:off x="3200400" y="2249280"/>
            <a:ext cx="2724480" cy="1206720"/>
          </a:xfrm>
          <a:prstGeom prst="rect">
            <a:avLst/>
          </a:prstGeom>
          <a:solidFill>
            <a:srgbClr val="0f172a"/>
          </a:solidFill>
          <a:ln w="1905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11"/>
          <p:cNvSpPr/>
          <p:nvPr/>
        </p:nvSpPr>
        <p:spPr>
          <a:xfrm>
            <a:off x="3200400" y="2249280"/>
            <a:ext cx="2724480" cy="42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2"/>
          <p:cNvSpPr/>
          <p:nvPr/>
        </p:nvSpPr>
        <p:spPr>
          <a:xfrm>
            <a:off x="3200400" y="2249280"/>
            <a:ext cx="27244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⚙️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3291840" y="270648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Automation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4"/>
          <p:cNvSpPr/>
          <p:nvPr/>
        </p:nvSpPr>
        <p:spPr>
          <a:xfrm>
            <a:off x="3291840" y="303588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Automates repetitive tasks — build, test, deploy — reducing human error and accelerating delivery speed.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5"/>
          <p:cNvSpPr/>
          <p:nvPr/>
        </p:nvSpPr>
        <p:spPr>
          <a:xfrm>
            <a:off x="6053400" y="2249280"/>
            <a:ext cx="2724480" cy="1206720"/>
          </a:xfrm>
          <a:prstGeom prst="rect">
            <a:avLst/>
          </a:prstGeom>
          <a:solidFill>
            <a:srgbClr val="0f172a"/>
          </a:solidFill>
          <a:ln w="1905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6"/>
          <p:cNvSpPr/>
          <p:nvPr/>
        </p:nvSpPr>
        <p:spPr>
          <a:xfrm>
            <a:off x="6053400" y="2249280"/>
            <a:ext cx="2724480" cy="42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7"/>
          <p:cNvSpPr/>
          <p:nvPr/>
        </p:nvSpPr>
        <p:spPr>
          <a:xfrm>
            <a:off x="6053400" y="2249280"/>
            <a:ext cx="27244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🔄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8"/>
          <p:cNvSpPr/>
          <p:nvPr/>
        </p:nvSpPr>
        <p:spPr>
          <a:xfrm>
            <a:off x="6144840" y="270648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a78bfa"/>
                </a:solidFill>
                <a:latin typeface="Calibri"/>
                <a:ea typeface="Calibri"/>
              </a:rPr>
              <a:t>Continuous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a78bfa"/>
                </a:solidFill>
                <a:latin typeface="Calibri"/>
                <a:ea typeface="Calibri"/>
              </a:rPr>
              <a:t>Improvement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9"/>
          <p:cNvSpPr/>
          <p:nvPr/>
        </p:nvSpPr>
        <p:spPr>
          <a:xfrm>
            <a:off x="6144840" y="303588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Feedback loops and real-world performance data drive ongoing refinement of code and workflows.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20"/>
          <p:cNvSpPr/>
          <p:nvPr/>
        </p:nvSpPr>
        <p:spPr>
          <a:xfrm>
            <a:off x="347400" y="3602880"/>
            <a:ext cx="2724480" cy="1206720"/>
          </a:xfrm>
          <a:prstGeom prst="rect">
            <a:avLst/>
          </a:prstGeom>
          <a:solidFill>
            <a:srgbClr val="0f172a"/>
          </a:solidFill>
          <a:ln w="19050">
            <a:solidFill>
              <a:srgbClr val="0891b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21"/>
          <p:cNvSpPr/>
          <p:nvPr/>
        </p:nvSpPr>
        <p:spPr>
          <a:xfrm>
            <a:off x="347400" y="3602880"/>
            <a:ext cx="2724480" cy="42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22"/>
          <p:cNvSpPr/>
          <p:nvPr/>
        </p:nvSpPr>
        <p:spPr>
          <a:xfrm>
            <a:off x="347400" y="3602880"/>
            <a:ext cx="27244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3"/>
          <p:cNvSpPr/>
          <p:nvPr/>
        </p:nvSpPr>
        <p:spPr>
          <a:xfrm>
            <a:off x="438840" y="406008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Version Control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4"/>
          <p:cNvSpPr/>
          <p:nvPr/>
        </p:nvSpPr>
        <p:spPr>
          <a:xfrm>
            <a:off x="438840" y="438912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Tracks all changes across the codebase enabling multiple teams to work simultaneously on stable versions.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25"/>
          <p:cNvSpPr/>
          <p:nvPr/>
        </p:nvSpPr>
        <p:spPr>
          <a:xfrm>
            <a:off x="3200400" y="3602880"/>
            <a:ext cx="2724480" cy="1206720"/>
          </a:xfrm>
          <a:prstGeom prst="rect">
            <a:avLst/>
          </a:prstGeom>
          <a:solidFill>
            <a:srgbClr val="0f172a"/>
          </a:solidFill>
          <a:ln w="1905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26"/>
          <p:cNvSpPr/>
          <p:nvPr/>
        </p:nvSpPr>
        <p:spPr>
          <a:xfrm>
            <a:off x="3200400" y="3602880"/>
            <a:ext cx="2724480" cy="42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7"/>
          <p:cNvSpPr/>
          <p:nvPr/>
        </p:nvSpPr>
        <p:spPr>
          <a:xfrm>
            <a:off x="3200400" y="3602880"/>
            <a:ext cx="27244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🏃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8"/>
          <p:cNvSpPr/>
          <p:nvPr/>
        </p:nvSpPr>
        <p:spPr>
          <a:xfrm>
            <a:off x="3291840" y="406008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Agile Integration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29"/>
          <p:cNvSpPr/>
          <p:nvPr/>
        </p:nvSpPr>
        <p:spPr>
          <a:xfrm>
            <a:off x="3291840" y="438912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Works alongside Agile methodology — sprints align with DevOps cycles of build, test, release, and iterate.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30"/>
          <p:cNvSpPr/>
          <p:nvPr/>
        </p:nvSpPr>
        <p:spPr>
          <a:xfrm>
            <a:off x="6053400" y="3602880"/>
            <a:ext cx="2724480" cy="1206720"/>
          </a:xfrm>
          <a:prstGeom prst="rect">
            <a:avLst/>
          </a:prstGeom>
          <a:solidFill>
            <a:srgbClr val="0f172a"/>
          </a:solidFill>
          <a:ln w="1905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31"/>
          <p:cNvSpPr/>
          <p:nvPr/>
        </p:nvSpPr>
        <p:spPr>
          <a:xfrm>
            <a:off x="6053400" y="3602880"/>
            <a:ext cx="2724480" cy="42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32"/>
          <p:cNvSpPr/>
          <p:nvPr/>
        </p:nvSpPr>
        <p:spPr>
          <a:xfrm>
            <a:off x="6053400" y="3602880"/>
            <a:ext cx="27244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33"/>
          <p:cNvSpPr/>
          <p:nvPr/>
        </p:nvSpPr>
        <p:spPr>
          <a:xfrm>
            <a:off x="6144840" y="406008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a78bfa"/>
                </a:solidFill>
                <a:latin typeface="Calibri"/>
                <a:ea typeface="Calibri"/>
              </a:rPr>
              <a:t>Security (DevSecOps)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34"/>
          <p:cNvSpPr/>
          <p:nvPr/>
        </p:nvSpPr>
        <p:spPr>
          <a:xfrm>
            <a:off x="6144840" y="438912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Security is integrated early into the development pipeline rather than treated as an afterthought.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411480" y="0"/>
            <a:ext cx="8320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8fafc"/>
                </a:solidFill>
                <a:latin typeface="Calibri"/>
                <a:ea typeface="Calibri"/>
              </a:rPr>
              <a:t>What Is CI/CD?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320040" y="1078920"/>
            <a:ext cx="8503560" cy="749520"/>
          </a:xfrm>
          <a:prstGeom prst="rect">
            <a:avLst/>
          </a:prstGeom>
          <a:solidFill>
            <a:srgbClr val="334155"/>
          </a:solidFill>
          <a:ln w="1524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475560" y="1097280"/>
            <a:ext cx="822924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7e8f9"/>
                </a:solidFill>
                <a:latin typeface="Calibri"/>
                <a:ea typeface="Calibri"/>
              </a:rPr>
              <a:t>CI/CD </a:t>
            </a: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(Continuous Integration / Continuous Delivery or Deployment) is a principle within DevOps that </a:t>
            </a:r>
            <a:r>
              <a:rPr b="1" lang="en-US" sz="1250" spc="-1" strike="noStrike">
                <a:solidFill>
                  <a:srgbClr val="fb923c"/>
                </a:solidFill>
                <a:latin typeface="Calibri"/>
                <a:ea typeface="Calibri"/>
              </a:rPr>
              <a:t>automates the stages of code integration, testing, and deployment</a:t>
            </a:r>
            <a:r>
              <a:rPr b="0" lang="en-US" sz="1250" spc="-1" strike="noStrike">
                <a:solidFill>
                  <a:srgbClr val="f8fafc"/>
                </a:solidFill>
                <a:latin typeface="Calibri"/>
                <a:ea typeface="Calibri"/>
              </a:rPr>
              <a:t> — delivering software faster, more frequently, and with fewer errors.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274320" y="1956960"/>
            <a:ext cx="2761200" cy="299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0891b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6"/>
          <p:cNvSpPr/>
          <p:nvPr/>
        </p:nvSpPr>
        <p:spPr>
          <a:xfrm>
            <a:off x="274320" y="1956960"/>
            <a:ext cx="2761200" cy="51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365760" y="1956960"/>
            <a:ext cx="25783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0617"/>
                </a:solidFill>
                <a:latin typeface="Calibri"/>
                <a:ea typeface="Calibri"/>
              </a:rPr>
              <a:t>🔀  </a:t>
            </a:r>
            <a:r>
              <a:rPr b="1" lang="en-US" sz="1200" spc="-1" strike="noStrike">
                <a:solidFill>
                  <a:srgbClr val="020617"/>
                </a:solidFill>
                <a:latin typeface="Calibri"/>
                <a:ea typeface="Calibri"/>
              </a:rPr>
              <a:t>CI — Continuous Integration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384120" y="2523600"/>
            <a:ext cx="25416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Developers frequently merge their code changes into a central shared repository — multiple times a day.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384120" y="3145680"/>
            <a:ext cx="2541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891b2"/>
                </a:solidFill>
                <a:latin typeface="Calibri"/>
                <a:ea typeface="Calibri"/>
              </a:rPr>
              <a:t>▸  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Automated builds triggered on every commit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384120" y="3584520"/>
            <a:ext cx="2541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891b2"/>
                </a:solidFill>
                <a:latin typeface="Calibri"/>
                <a:ea typeface="Calibri"/>
              </a:rPr>
              <a:t>▸  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Automated tests run to validate new code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384120" y="4023360"/>
            <a:ext cx="2541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891b2"/>
                </a:solidFill>
                <a:latin typeface="Calibri"/>
                <a:ea typeface="Calibri"/>
              </a:rPr>
              <a:t>▸  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Prevents integration problems before release day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384120" y="4462200"/>
            <a:ext cx="2541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891b2"/>
                </a:solidFill>
                <a:latin typeface="Calibri"/>
                <a:ea typeface="Calibri"/>
              </a:rPr>
              <a:t>▸  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Application always in a buildable, testable state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3182040" y="1956960"/>
            <a:ext cx="2761200" cy="299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14"/>
          <p:cNvSpPr/>
          <p:nvPr/>
        </p:nvSpPr>
        <p:spPr>
          <a:xfrm>
            <a:off x="3182040" y="1956960"/>
            <a:ext cx="2761200" cy="51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3273480" y="1956960"/>
            <a:ext cx="25783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0617"/>
                </a:solidFill>
                <a:latin typeface="Calibri"/>
                <a:ea typeface="Calibri"/>
              </a:rPr>
              <a:t>📦  </a:t>
            </a:r>
            <a:r>
              <a:rPr b="1" lang="en-US" sz="1200" spc="-1" strike="noStrike">
                <a:solidFill>
                  <a:srgbClr val="020617"/>
                </a:solidFill>
                <a:latin typeface="Calibri"/>
                <a:ea typeface="Calibri"/>
              </a:rPr>
              <a:t>CD — Continuous Delivery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3291840" y="2523600"/>
            <a:ext cx="25416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Extends CI — automatically deploys code changes to a testing and/or staging environment after the build stage.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3291840" y="3145680"/>
            <a:ext cx="2541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Calibri"/>
                <a:ea typeface="Calibri"/>
              </a:rPr>
              <a:t>▸  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Automated release process after every build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3291840" y="3584520"/>
            <a:ext cx="2541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Calibri"/>
                <a:ea typeface="Calibri"/>
              </a:rPr>
              <a:t>▸  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Deploy to production manually at any time with a button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3291840" y="4023360"/>
            <a:ext cx="2541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Calibri"/>
                <a:ea typeface="Calibri"/>
              </a:rPr>
              <a:t>▸  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Deploy daily, weekly, or on any business cadence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3291840" y="4462200"/>
            <a:ext cx="2541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Calibri"/>
                <a:ea typeface="Calibri"/>
              </a:rPr>
              <a:t>▸  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Small batches released → easy to troubleshoot issues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21"/>
          <p:cNvSpPr/>
          <p:nvPr/>
        </p:nvSpPr>
        <p:spPr>
          <a:xfrm>
            <a:off x="6089760" y="1956960"/>
            <a:ext cx="2761200" cy="299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22"/>
          <p:cNvSpPr/>
          <p:nvPr/>
        </p:nvSpPr>
        <p:spPr>
          <a:xfrm>
            <a:off x="6089760" y="1956960"/>
            <a:ext cx="2761200" cy="51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23"/>
          <p:cNvSpPr/>
          <p:nvPr/>
        </p:nvSpPr>
        <p:spPr>
          <a:xfrm>
            <a:off x="6181200" y="1956960"/>
            <a:ext cx="25783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0617"/>
                </a:solidFill>
                <a:latin typeface="Calibri"/>
                <a:ea typeface="Calibri"/>
              </a:rPr>
              <a:t>🚀  </a:t>
            </a:r>
            <a:r>
              <a:rPr b="1" lang="en-US" sz="1200" spc="-1" strike="noStrike">
                <a:solidFill>
                  <a:srgbClr val="020617"/>
                </a:solidFill>
                <a:latin typeface="Calibri"/>
                <a:ea typeface="Calibri"/>
              </a:rPr>
              <a:t>CD — Continuous Deployment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24"/>
          <p:cNvSpPr/>
          <p:nvPr/>
        </p:nvSpPr>
        <p:spPr>
          <a:xfrm>
            <a:off x="6199560" y="2523600"/>
            <a:ext cx="25416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Goes one step further — every change that passes all production pipeline stages is automatically released to customers.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25"/>
          <p:cNvSpPr/>
          <p:nvPr/>
        </p:nvSpPr>
        <p:spPr>
          <a:xfrm>
            <a:off x="6199560" y="3145680"/>
            <a:ext cx="2541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7c3aed"/>
                </a:solidFill>
                <a:latin typeface="Calibri"/>
                <a:ea typeface="Calibri"/>
              </a:rPr>
              <a:t>▸  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No human intervention needed at any step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26"/>
          <p:cNvSpPr/>
          <p:nvPr/>
        </p:nvSpPr>
        <p:spPr>
          <a:xfrm>
            <a:off x="6199560" y="3584520"/>
            <a:ext cx="2541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7c3aed"/>
                </a:solidFill>
                <a:latin typeface="Calibri"/>
                <a:ea typeface="Calibri"/>
              </a:rPr>
              <a:t>▸  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Only a failed test stops deployment to production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27"/>
          <p:cNvSpPr/>
          <p:nvPr/>
        </p:nvSpPr>
        <p:spPr>
          <a:xfrm>
            <a:off x="6199560" y="4023360"/>
            <a:ext cx="2541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7c3aed"/>
                </a:solidFill>
                <a:latin typeface="Calibri"/>
                <a:ea typeface="Calibri"/>
              </a:rPr>
              <a:t>▸  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Maximum speed and frequency of delivery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28"/>
          <p:cNvSpPr/>
          <p:nvPr/>
        </p:nvSpPr>
        <p:spPr>
          <a:xfrm>
            <a:off x="6199560" y="4462200"/>
            <a:ext cx="2541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7c3aed"/>
                </a:solidFill>
                <a:latin typeface="Calibri"/>
                <a:ea typeface="Calibri"/>
              </a:rPr>
              <a:t>▸  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Requires comprehensive, trustworthy test coverage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1"/>
          <p:cNvSpPr/>
          <p:nvPr/>
        </p:nvSpPr>
        <p:spPr>
          <a:xfrm>
            <a:off x="0" y="960120"/>
            <a:ext cx="9143640" cy="63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411480" y="0"/>
            <a:ext cx="8320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8fafc"/>
                </a:solidFill>
                <a:latin typeface="Calibri"/>
                <a:ea typeface="Calibri"/>
              </a:rPr>
              <a:t>DevOps vs CI/CD — 5 Key Differences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9" name="Table 0"/>
          <p:cNvGraphicFramePr/>
          <p:nvPr/>
        </p:nvGraphicFramePr>
        <p:xfrm>
          <a:off x="320040" y="1078920"/>
          <a:ext cx="8503560" cy="393156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  <a:gridCol w="3291840"/>
              </a:tblGrid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67e8f9"/>
                          </a:solidFill>
                          <a:latin typeface="Calibri"/>
                        </a:rPr>
                        <a:t>Dimension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0617"/>
                          </a:solidFill>
                          <a:latin typeface="Calibri"/>
                        </a:rPr>
                        <a:t>DevOps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0617"/>
                          </a:solidFill>
                          <a:latin typeface="Calibri"/>
                        </a:rPr>
                        <a:t>CI/CD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Scope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67e8f9"/>
                          </a:solidFill>
                          <a:latin typeface="Calibri"/>
                          <a:ea typeface="Calibri"/>
                        </a:rPr>
                        <a:t>Entire SDLC — planning, coding, testing, deploy, operate, monitor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b923c"/>
                          </a:solidFill>
                          <a:latin typeface="Calibri"/>
                          <a:ea typeface="Calibri"/>
                        </a:rPr>
                        <a:t>Focused on automating code integration, testing &amp; deployment pipeline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Nature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67e8f9"/>
                          </a:solidFill>
                          <a:latin typeface="Calibri"/>
                          <a:ea typeface="Calibri"/>
                        </a:rPr>
                        <a:t>Cultural movement + mindset shift across teams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b923c"/>
                          </a:solidFill>
                          <a:latin typeface="Calibri"/>
                          <a:ea typeface="Calibri"/>
                        </a:rPr>
                        <a:t>Technical process + toolset for automation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Goal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67e8f9"/>
                          </a:solidFill>
                          <a:latin typeface="Calibri"/>
                          <a:ea typeface="Calibri"/>
                        </a:rPr>
                        <a:t>Break down silos; foster collaboration between Dev and Ops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b923c"/>
                          </a:solidFill>
                          <a:latin typeface="Calibri"/>
                          <a:ea typeface="Calibri"/>
                        </a:rPr>
                        <a:t>Automate delivery path from codebase to production environment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Implementation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67e8f9"/>
                          </a:solidFill>
                          <a:latin typeface="Calibri"/>
                          <a:ea typeface="Calibri"/>
                        </a:rPr>
                        <a:t>Requires cultural change, soft skills, Agile adoption, cross-team work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b923c"/>
                          </a:solidFill>
                          <a:latin typeface="Calibri"/>
                          <a:ea typeface="Calibri"/>
                        </a:rPr>
                        <a:t>Technical setup: pipelines, test automation, deployment scripts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Tools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67e8f9"/>
                          </a:solidFill>
                          <a:latin typeface="Calibri"/>
                          <a:ea typeface="Calibri"/>
                        </a:rPr>
                        <a:t>Jira, Confluence, Kubernetes, Ansible, Terraform, monitoring tools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b923c"/>
                          </a:solidFill>
                          <a:latin typeface="Calibri"/>
                          <a:ea typeface="Calibri"/>
                        </a:rPr>
                        <a:t>Jenkins, GitHub Actions, CircleCI, Azure Pipelines, GitLab CI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Relationship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67e8f9"/>
                          </a:solidFill>
                          <a:latin typeface="Calibri"/>
                          <a:ea typeface="Calibri"/>
                        </a:rPr>
                        <a:t>DevOps is the broader philosophy and cultural framework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b923c"/>
                          </a:solidFill>
                          <a:latin typeface="Calibri"/>
                          <a:ea typeface="Calibri"/>
                        </a:rPr>
                        <a:t>CI/CD is a core practice and automation engine within DevOps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411480" y="0"/>
            <a:ext cx="8320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20617"/>
                </a:solidFill>
                <a:latin typeface="Calibri"/>
                <a:ea typeface="Calibri"/>
              </a:rPr>
              <a:t>The CI/CD Pipeline — 8 Steps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274320" y="1060560"/>
            <a:ext cx="2029680" cy="1773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4"/>
          <p:cNvSpPr/>
          <p:nvPr/>
        </p:nvSpPr>
        <p:spPr>
          <a:xfrm>
            <a:off x="274320" y="1060560"/>
            <a:ext cx="2029680" cy="456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5"/>
          <p:cNvSpPr/>
          <p:nvPr/>
        </p:nvSpPr>
        <p:spPr>
          <a:xfrm>
            <a:off x="384120" y="1152000"/>
            <a:ext cx="292320" cy="2923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6"/>
          <p:cNvSpPr/>
          <p:nvPr/>
        </p:nvSpPr>
        <p:spPr>
          <a:xfrm>
            <a:off x="384120" y="1152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6b6d4"/>
                </a:solidFill>
                <a:latin typeface="Calibri"/>
              </a:rPr>
              <a:t>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731520" y="106056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✍️  </a:t>
            </a: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Code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Commit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8"/>
          <p:cNvSpPr/>
          <p:nvPr/>
        </p:nvSpPr>
        <p:spPr>
          <a:xfrm>
            <a:off x="384120" y="1572840"/>
            <a:ext cx="1810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Developer commits code changes to a shared repository (GitHub, GitLab, Bitbucket).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9"/>
          <p:cNvSpPr/>
          <p:nvPr/>
        </p:nvSpPr>
        <p:spPr>
          <a:xfrm>
            <a:off x="2304360" y="1316880"/>
            <a:ext cx="145800" cy="292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10"/>
          <p:cNvSpPr/>
          <p:nvPr/>
        </p:nvSpPr>
        <p:spPr>
          <a:xfrm>
            <a:off x="2450520" y="1060560"/>
            <a:ext cx="2029680" cy="177372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1"/>
          <p:cNvSpPr/>
          <p:nvPr/>
        </p:nvSpPr>
        <p:spPr>
          <a:xfrm>
            <a:off x="2450520" y="1060560"/>
            <a:ext cx="2029680" cy="456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2"/>
          <p:cNvSpPr/>
          <p:nvPr/>
        </p:nvSpPr>
        <p:spPr>
          <a:xfrm>
            <a:off x="2560320" y="1152000"/>
            <a:ext cx="292320" cy="2923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3"/>
          <p:cNvSpPr/>
          <p:nvPr/>
        </p:nvSpPr>
        <p:spPr>
          <a:xfrm>
            <a:off x="2560320" y="1152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7c3aed"/>
                </a:solidFill>
                <a:latin typeface="Calibri"/>
              </a:rPr>
              <a:t>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4"/>
          <p:cNvSpPr/>
          <p:nvPr/>
        </p:nvSpPr>
        <p:spPr>
          <a:xfrm>
            <a:off x="2907720" y="106056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🏗️  </a:t>
            </a: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Automated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Build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5"/>
          <p:cNvSpPr/>
          <p:nvPr/>
        </p:nvSpPr>
        <p:spPr>
          <a:xfrm>
            <a:off x="2560320" y="1572840"/>
            <a:ext cx="1810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CI tool (Jenkins, GitHub Actions) automatically pulls and builds the code from the repo.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6"/>
          <p:cNvSpPr/>
          <p:nvPr/>
        </p:nvSpPr>
        <p:spPr>
          <a:xfrm>
            <a:off x="4480560" y="1316880"/>
            <a:ext cx="145800" cy="292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7"/>
          <p:cNvSpPr/>
          <p:nvPr/>
        </p:nvSpPr>
        <p:spPr>
          <a:xfrm>
            <a:off x="4626720" y="1060560"/>
            <a:ext cx="2029680" cy="1773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8"/>
          <p:cNvSpPr/>
          <p:nvPr/>
        </p:nvSpPr>
        <p:spPr>
          <a:xfrm>
            <a:off x="4626720" y="1060560"/>
            <a:ext cx="2029680" cy="456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19"/>
          <p:cNvSpPr/>
          <p:nvPr/>
        </p:nvSpPr>
        <p:spPr>
          <a:xfrm>
            <a:off x="4736520" y="1152000"/>
            <a:ext cx="292320" cy="2923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20"/>
          <p:cNvSpPr/>
          <p:nvPr/>
        </p:nvSpPr>
        <p:spPr>
          <a:xfrm>
            <a:off x="4736520" y="1152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891b2"/>
                </a:solidFill>
                <a:latin typeface="Calibri"/>
              </a:rPr>
              <a:t>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21"/>
          <p:cNvSpPr/>
          <p:nvPr/>
        </p:nvSpPr>
        <p:spPr>
          <a:xfrm>
            <a:off x="5083920" y="106056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🧪  </a:t>
            </a: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Unit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Testing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2"/>
          <p:cNvSpPr/>
          <p:nvPr/>
        </p:nvSpPr>
        <p:spPr>
          <a:xfrm>
            <a:off x="4736520" y="1572840"/>
            <a:ext cx="1810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Automated unit tests run against the new build to catch bugs and regressions early.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23"/>
          <p:cNvSpPr/>
          <p:nvPr/>
        </p:nvSpPr>
        <p:spPr>
          <a:xfrm>
            <a:off x="6656760" y="1316880"/>
            <a:ext cx="145800" cy="292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24"/>
          <p:cNvSpPr/>
          <p:nvPr/>
        </p:nvSpPr>
        <p:spPr>
          <a:xfrm>
            <a:off x="6803280" y="1060560"/>
            <a:ext cx="2029680" cy="1773720"/>
          </a:xfrm>
          <a:prstGeom prst="rect">
            <a:avLst/>
          </a:prstGeom>
          <a:solidFill>
            <a:srgbClr val="1e293b"/>
          </a:solidFill>
          <a:ln w="1905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25"/>
          <p:cNvSpPr/>
          <p:nvPr/>
        </p:nvSpPr>
        <p:spPr>
          <a:xfrm>
            <a:off x="6803280" y="1060560"/>
            <a:ext cx="2029680" cy="456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26"/>
          <p:cNvSpPr/>
          <p:nvPr/>
        </p:nvSpPr>
        <p:spPr>
          <a:xfrm>
            <a:off x="6912720" y="1152000"/>
            <a:ext cx="292320" cy="2923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27"/>
          <p:cNvSpPr/>
          <p:nvPr/>
        </p:nvSpPr>
        <p:spPr>
          <a:xfrm>
            <a:off x="6912720" y="1152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Calibri"/>
              </a:rPr>
              <a:t>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28"/>
          <p:cNvSpPr/>
          <p:nvPr/>
        </p:nvSpPr>
        <p:spPr>
          <a:xfrm>
            <a:off x="7260480" y="106056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📊  </a:t>
            </a: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Code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Quality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29"/>
          <p:cNvSpPr/>
          <p:nvPr/>
        </p:nvSpPr>
        <p:spPr>
          <a:xfrm>
            <a:off x="6912720" y="1572840"/>
            <a:ext cx="1810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Static analysis and code coverage tools scan for quality issues, smells, and coverage gaps.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30"/>
          <p:cNvSpPr/>
          <p:nvPr/>
        </p:nvSpPr>
        <p:spPr>
          <a:xfrm>
            <a:off x="274320" y="2980800"/>
            <a:ext cx="2029680" cy="1773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31"/>
          <p:cNvSpPr/>
          <p:nvPr/>
        </p:nvSpPr>
        <p:spPr>
          <a:xfrm>
            <a:off x="274320" y="2980800"/>
            <a:ext cx="2029680" cy="456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32"/>
          <p:cNvSpPr/>
          <p:nvPr/>
        </p:nvSpPr>
        <p:spPr>
          <a:xfrm>
            <a:off x="384120" y="3072240"/>
            <a:ext cx="292320" cy="2923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33"/>
          <p:cNvSpPr/>
          <p:nvPr/>
        </p:nvSpPr>
        <p:spPr>
          <a:xfrm>
            <a:off x="384120" y="30722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6b6d4"/>
                </a:solidFill>
                <a:latin typeface="Calibri"/>
              </a:rPr>
              <a:t>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34"/>
          <p:cNvSpPr/>
          <p:nvPr/>
        </p:nvSpPr>
        <p:spPr>
          <a:xfrm>
            <a:off x="731520" y="298080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🔗  </a:t>
            </a: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Integration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Tests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35"/>
          <p:cNvSpPr/>
          <p:nvPr/>
        </p:nvSpPr>
        <p:spPr>
          <a:xfrm>
            <a:off x="384120" y="3493080"/>
            <a:ext cx="1810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Integration tests validate that the new code works correctly with other system components.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36"/>
          <p:cNvSpPr/>
          <p:nvPr/>
        </p:nvSpPr>
        <p:spPr>
          <a:xfrm>
            <a:off x="2304360" y="3237120"/>
            <a:ext cx="145800" cy="292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37"/>
          <p:cNvSpPr/>
          <p:nvPr/>
        </p:nvSpPr>
        <p:spPr>
          <a:xfrm>
            <a:off x="2450520" y="2980800"/>
            <a:ext cx="2029680" cy="177372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38"/>
          <p:cNvSpPr/>
          <p:nvPr/>
        </p:nvSpPr>
        <p:spPr>
          <a:xfrm>
            <a:off x="2450520" y="2980800"/>
            <a:ext cx="2029680" cy="456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39"/>
          <p:cNvSpPr/>
          <p:nvPr/>
        </p:nvSpPr>
        <p:spPr>
          <a:xfrm>
            <a:off x="2560320" y="3072240"/>
            <a:ext cx="292320" cy="2923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40"/>
          <p:cNvSpPr/>
          <p:nvPr/>
        </p:nvSpPr>
        <p:spPr>
          <a:xfrm>
            <a:off x="2560320" y="30722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7c3aed"/>
                </a:solidFill>
                <a:latin typeface="Calibri"/>
              </a:rPr>
              <a:t>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41"/>
          <p:cNvSpPr/>
          <p:nvPr/>
        </p:nvSpPr>
        <p:spPr>
          <a:xfrm>
            <a:off x="2907720" y="298080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📦  </a:t>
            </a: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Staging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Deploy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42"/>
          <p:cNvSpPr/>
          <p:nvPr/>
        </p:nvSpPr>
        <p:spPr>
          <a:xfrm>
            <a:off x="2560320" y="3493080"/>
            <a:ext cx="1810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Tested build is automatically deployed to a staging/UAT environment for pre-production validation.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43"/>
          <p:cNvSpPr/>
          <p:nvPr/>
        </p:nvSpPr>
        <p:spPr>
          <a:xfrm>
            <a:off x="4480560" y="3237120"/>
            <a:ext cx="145800" cy="292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44"/>
          <p:cNvSpPr/>
          <p:nvPr/>
        </p:nvSpPr>
        <p:spPr>
          <a:xfrm>
            <a:off x="4626720" y="2980800"/>
            <a:ext cx="2029680" cy="1773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45"/>
          <p:cNvSpPr/>
          <p:nvPr/>
        </p:nvSpPr>
        <p:spPr>
          <a:xfrm>
            <a:off x="4626720" y="2980800"/>
            <a:ext cx="2029680" cy="456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46"/>
          <p:cNvSpPr/>
          <p:nvPr/>
        </p:nvSpPr>
        <p:spPr>
          <a:xfrm>
            <a:off x="4736520" y="3072240"/>
            <a:ext cx="292320" cy="2923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47"/>
          <p:cNvSpPr/>
          <p:nvPr/>
        </p:nvSpPr>
        <p:spPr>
          <a:xfrm>
            <a:off x="4736520" y="30722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891b2"/>
                </a:solidFill>
                <a:latin typeface="Calibri"/>
              </a:rPr>
              <a:t>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48"/>
          <p:cNvSpPr/>
          <p:nvPr/>
        </p:nvSpPr>
        <p:spPr>
          <a:xfrm>
            <a:off x="5083920" y="298080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✅  </a:t>
            </a: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Acceptance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Tests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49"/>
          <p:cNvSpPr/>
          <p:nvPr/>
        </p:nvSpPr>
        <p:spPr>
          <a:xfrm>
            <a:off x="4736520" y="3493080"/>
            <a:ext cx="1810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Automated acceptance tests confirm the build meets business and functional requirements.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50"/>
          <p:cNvSpPr/>
          <p:nvPr/>
        </p:nvSpPr>
        <p:spPr>
          <a:xfrm>
            <a:off x="6656760" y="3237120"/>
            <a:ext cx="145800" cy="292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51"/>
          <p:cNvSpPr/>
          <p:nvPr/>
        </p:nvSpPr>
        <p:spPr>
          <a:xfrm>
            <a:off x="6803280" y="2980800"/>
            <a:ext cx="2029680" cy="1773720"/>
          </a:xfrm>
          <a:prstGeom prst="rect">
            <a:avLst/>
          </a:prstGeom>
          <a:solidFill>
            <a:srgbClr val="1e293b"/>
          </a:solidFill>
          <a:ln w="1905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52"/>
          <p:cNvSpPr/>
          <p:nvPr/>
        </p:nvSpPr>
        <p:spPr>
          <a:xfrm>
            <a:off x="6803280" y="2980800"/>
            <a:ext cx="2029680" cy="456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53"/>
          <p:cNvSpPr/>
          <p:nvPr/>
        </p:nvSpPr>
        <p:spPr>
          <a:xfrm>
            <a:off x="6912720" y="3072240"/>
            <a:ext cx="292320" cy="2923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54"/>
          <p:cNvSpPr/>
          <p:nvPr/>
        </p:nvSpPr>
        <p:spPr>
          <a:xfrm>
            <a:off x="6912720" y="30722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Calibri"/>
              </a:rPr>
              <a:t>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55"/>
          <p:cNvSpPr/>
          <p:nvPr/>
        </p:nvSpPr>
        <p:spPr>
          <a:xfrm>
            <a:off x="7260480" y="298080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🚀  </a:t>
            </a: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Production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20617"/>
                </a:solidFill>
                <a:latin typeface="Calibri"/>
                <a:ea typeface="Calibri"/>
              </a:rPr>
              <a:t>Deploy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56"/>
          <p:cNvSpPr/>
          <p:nvPr/>
        </p:nvSpPr>
        <p:spPr>
          <a:xfrm>
            <a:off x="6912720" y="3493080"/>
            <a:ext cx="1810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Continuous Delivery: manual release trigger. Continuous Deployment: fully automatic.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57"/>
          <p:cNvSpPr/>
          <p:nvPr/>
        </p:nvSpPr>
        <p:spPr>
          <a:xfrm>
            <a:off x="274320" y="4754880"/>
            <a:ext cx="859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CI ──────────────────────────────────────────────── CD (Delivery / Deployment) ──────────────────────────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1"/>
          <p:cNvSpPr/>
          <p:nvPr/>
        </p:nvSpPr>
        <p:spPr>
          <a:xfrm>
            <a:off x="0" y="960120"/>
            <a:ext cx="9143640" cy="63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411480" y="0"/>
            <a:ext cx="8320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b923c"/>
                </a:solidFill>
                <a:latin typeface="Calibri"/>
                <a:ea typeface="Calibri"/>
              </a:rPr>
              <a:t>How DevOps &amp; CI/CD Work Together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320040" y="1170360"/>
            <a:ext cx="8503560" cy="3547440"/>
          </a:xfrm>
          <a:prstGeom prst="rect">
            <a:avLst/>
          </a:prstGeom>
          <a:solidFill>
            <a:srgbClr val="0f172a"/>
          </a:solidFill>
          <a:ln w="254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320040" y="1170360"/>
            <a:ext cx="8503560" cy="42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438840" y="1170360"/>
            <a:ext cx="8229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20617"/>
                </a:solidFill>
                <a:latin typeface="Calibri"/>
                <a:ea typeface="Calibri"/>
              </a:rPr>
              <a:t>🏗  </a:t>
            </a:r>
            <a:r>
              <a:rPr b="1" lang="en-US" sz="1350" spc="-1" strike="noStrike">
                <a:solidFill>
                  <a:srgbClr val="020617"/>
                </a:solidFill>
                <a:latin typeface="Calibri"/>
                <a:ea typeface="Calibri"/>
              </a:rPr>
              <a:t>DevOps — Cultural Framework &amp; Complete SDLC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6"/>
          <p:cNvSpPr/>
          <p:nvPr/>
        </p:nvSpPr>
        <p:spPr>
          <a:xfrm>
            <a:off x="457200" y="1700640"/>
            <a:ext cx="2011320" cy="438480"/>
          </a:xfrm>
          <a:prstGeom prst="rect">
            <a:avLst/>
          </a:prstGeom>
          <a:solidFill>
            <a:srgbClr val="334155"/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548640" y="170064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🗓️  </a:t>
            </a: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Planning &amp; Agile Sprints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8"/>
          <p:cNvSpPr/>
          <p:nvPr/>
        </p:nvSpPr>
        <p:spPr>
          <a:xfrm>
            <a:off x="457200" y="2212920"/>
            <a:ext cx="2011320" cy="438480"/>
          </a:xfrm>
          <a:prstGeom prst="rect">
            <a:avLst/>
          </a:prstGeom>
          <a:solidFill>
            <a:srgbClr val="334155"/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548640" y="221292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💬  </a:t>
            </a: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Cross-Team Collaboration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0"/>
          <p:cNvSpPr/>
          <p:nvPr/>
        </p:nvSpPr>
        <p:spPr>
          <a:xfrm>
            <a:off x="457200" y="2724840"/>
            <a:ext cx="2011320" cy="438480"/>
          </a:xfrm>
          <a:prstGeom prst="rect">
            <a:avLst/>
          </a:prstGeom>
          <a:solidFill>
            <a:srgbClr val="334155"/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548640" y="272484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📡  </a:t>
            </a: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Monitoring &amp; Feedback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2"/>
          <p:cNvSpPr/>
          <p:nvPr/>
        </p:nvSpPr>
        <p:spPr>
          <a:xfrm>
            <a:off x="457200" y="3237120"/>
            <a:ext cx="2011320" cy="438480"/>
          </a:xfrm>
          <a:prstGeom prst="rect">
            <a:avLst/>
          </a:prstGeom>
          <a:solidFill>
            <a:srgbClr val="334155"/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548640" y="323712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☁️  </a:t>
            </a: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Infrastructure as Code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6766560" y="1700640"/>
            <a:ext cx="1919880" cy="438480"/>
          </a:xfrm>
          <a:prstGeom prst="rect">
            <a:avLst/>
          </a:prstGeom>
          <a:solidFill>
            <a:srgbClr val="334155"/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6858000" y="1700640"/>
            <a:ext cx="1737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🔧  </a:t>
            </a: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Config Management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6"/>
          <p:cNvSpPr/>
          <p:nvPr/>
        </p:nvSpPr>
        <p:spPr>
          <a:xfrm>
            <a:off x="6766560" y="2212920"/>
            <a:ext cx="1919880" cy="438480"/>
          </a:xfrm>
          <a:prstGeom prst="rect">
            <a:avLst/>
          </a:prstGeom>
          <a:solidFill>
            <a:srgbClr val="334155"/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6858000" y="2212920"/>
            <a:ext cx="1737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🐳  </a:t>
            </a: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Containerization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8"/>
          <p:cNvSpPr/>
          <p:nvPr/>
        </p:nvSpPr>
        <p:spPr>
          <a:xfrm>
            <a:off x="6766560" y="2724840"/>
            <a:ext cx="1919880" cy="438480"/>
          </a:xfrm>
          <a:prstGeom prst="rect">
            <a:avLst/>
          </a:prstGeom>
          <a:solidFill>
            <a:srgbClr val="334155"/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9"/>
          <p:cNvSpPr/>
          <p:nvPr/>
        </p:nvSpPr>
        <p:spPr>
          <a:xfrm>
            <a:off x="6858000" y="2724840"/>
            <a:ext cx="1737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🔐  </a:t>
            </a: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DevSecOps / Security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20"/>
          <p:cNvSpPr/>
          <p:nvPr/>
        </p:nvSpPr>
        <p:spPr>
          <a:xfrm>
            <a:off x="6766560" y="3237120"/>
            <a:ext cx="1919880" cy="438480"/>
          </a:xfrm>
          <a:prstGeom prst="rect">
            <a:avLst/>
          </a:prstGeom>
          <a:solidFill>
            <a:srgbClr val="334155"/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21"/>
          <p:cNvSpPr/>
          <p:nvPr/>
        </p:nvSpPr>
        <p:spPr>
          <a:xfrm>
            <a:off x="6858000" y="3237120"/>
            <a:ext cx="1737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📊  </a:t>
            </a:r>
            <a:r>
              <a:rPr b="1" lang="en-US" sz="1000" spc="-1" strike="noStrike">
                <a:solidFill>
                  <a:srgbClr val="67e8f9"/>
                </a:solidFill>
                <a:latin typeface="Calibri"/>
                <a:ea typeface="Calibri"/>
              </a:rPr>
              <a:t>Performance Analytics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2"/>
          <p:cNvSpPr/>
          <p:nvPr/>
        </p:nvSpPr>
        <p:spPr>
          <a:xfrm>
            <a:off x="2697480" y="1719000"/>
            <a:ext cx="3520080" cy="2797560"/>
          </a:xfrm>
          <a:prstGeom prst="rect">
            <a:avLst/>
          </a:prstGeom>
          <a:solidFill>
            <a:srgbClr val="1e293b"/>
          </a:solidFill>
          <a:ln w="254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23"/>
          <p:cNvSpPr/>
          <p:nvPr/>
        </p:nvSpPr>
        <p:spPr>
          <a:xfrm>
            <a:off x="2697480" y="1719000"/>
            <a:ext cx="3520080" cy="402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4"/>
          <p:cNvSpPr/>
          <p:nvPr/>
        </p:nvSpPr>
        <p:spPr>
          <a:xfrm>
            <a:off x="2788920" y="1719000"/>
            <a:ext cx="33372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20617"/>
                </a:solidFill>
                <a:latin typeface="Calibri"/>
                <a:ea typeface="Calibri"/>
              </a:rPr>
              <a:t>⚙️  </a:t>
            </a:r>
            <a:r>
              <a:rPr b="1" lang="en-US" sz="1250" spc="-1" strike="noStrike">
                <a:solidFill>
                  <a:srgbClr val="020617"/>
                </a:solidFill>
                <a:latin typeface="Calibri"/>
                <a:ea typeface="Calibri"/>
              </a:rPr>
              <a:t>CI/CD — Automation Engine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25"/>
          <p:cNvSpPr/>
          <p:nvPr/>
        </p:nvSpPr>
        <p:spPr>
          <a:xfrm>
            <a:off x="2816280" y="2194560"/>
            <a:ext cx="3273120" cy="438480"/>
          </a:xfrm>
          <a:prstGeom prst="rect">
            <a:avLst/>
          </a:prstGeom>
          <a:solidFill>
            <a:srgbClr val="334155"/>
          </a:solidFill>
          <a:ln w="9525">
            <a:solidFill>
              <a:srgbClr val="67e8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26"/>
          <p:cNvSpPr/>
          <p:nvPr/>
        </p:nvSpPr>
        <p:spPr>
          <a:xfrm>
            <a:off x="2907720" y="2194560"/>
            <a:ext cx="3090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7e8f9"/>
                </a:solidFill>
                <a:latin typeface="Calibri"/>
                <a:ea typeface="Calibri"/>
              </a:rPr>
              <a:t>🔀  </a:t>
            </a:r>
            <a:r>
              <a:rPr b="1" lang="en-US" sz="1100" spc="-1" strike="noStrike">
                <a:solidFill>
                  <a:srgbClr val="67e8f9"/>
                </a:solidFill>
                <a:latin typeface="Calibri"/>
                <a:ea typeface="Calibri"/>
              </a:rPr>
              <a:t>Continuous Integration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7"/>
          <p:cNvSpPr/>
          <p:nvPr/>
        </p:nvSpPr>
        <p:spPr>
          <a:xfrm>
            <a:off x="2816280" y="2706480"/>
            <a:ext cx="3273120" cy="438480"/>
          </a:xfrm>
          <a:prstGeom prst="rect">
            <a:avLst/>
          </a:prstGeom>
          <a:solidFill>
            <a:srgbClr val="334155"/>
          </a:solidFill>
          <a:ln w="9525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28"/>
          <p:cNvSpPr/>
          <p:nvPr/>
        </p:nvSpPr>
        <p:spPr>
          <a:xfrm>
            <a:off x="2907720" y="2706480"/>
            <a:ext cx="3090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b923c"/>
                </a:solidFill>
                <a:latin typeface="Calibri"/>
                <a:ea typeface="Calibri"/>
              </a:rPr>
              <a:t>📦  </a:t>
            </a:r>
            <a:r>
              <a:rPr b="1" lang="en-US" sz="1100" spc="-1" strike="noStrike">
                <a:solidFill>
                  <a:srgbClr val="fb923c"/>
                </a:solidFill>
                <a:latin typeface="Calibri"/>
                <a:ea typeface="Calibri"/>
              </a:rPr>
              <a:t>Continuous Delivery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29"/>
          <p:cNvSpPr/>
          <p:nvPr/>
        </p:nvSpPr>
        <p:spPr>
          <a:xfrm>
            <a:off x="2816280" y="3218760"/>
            <a:ext cx="3273120" cy="438480"/>
          </a:xfrm>
          <a:prstGeom prst="rect">
            <a:avLst/>
          </a:prstGeom>
          <a:solidFill>
            <a:srgbClr val="334155"/>
          </a:solidFill>
          <a:ln w="952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30"/>
          <p:cNvSpPr/>
          <p:nvPr/>
        </p:nvSpPr>
        <p:spPr>
          <a:xfrm>
            <a:off x="2907720" y="3218760"/>
            <a:ext cx="3090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78bfa"/>
                </a:solidFill>
                <a:latin typeface="Calibri"/>
                <a:ea typeface="Calibri"/>
              </a:rPr>
              <a:t>🚀  </a:t>
            </a:r>
            <a:r>
              <a:rPr b="1" lang="en-US" sz="1100" spc="-1" strike="noStrike">
                <a:solidFill>
                  <a:srgbClr val="a78bfa"/>
                </a:solidFill>
                <a:latin typeface="Calibri"/>
                <a:ea typeface="Calibri"/>
              </a:rPr>
              <a:t>Continuous Deployment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31"/>
          <p:cNvSpPr/>
          <p:nvPr/>
        </p:nvSpPr>
        <p:spPr>
          <a:xfrm>
            <a:off x="2816280" y="3730680"/>
            <a:ext cx="3273120" cy="438480"/>
          </a:xfrm>
          <a:prstGeom prst="rect">
            <a:avLst/>
          </a:prstGeom>
          <a:solidFill>
            <a:srgbClr val="334155"/>
          </a:solidFill>
          <a:ln w="9525">
            <a:solidFill>
              <a:srgbClr val="6ee7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32"/>
          <p:cNvSpPr/>
          <p:nvPr/>
        </p:nvSpPr>
        <p:spPr>
          <a:xfrm>
            <a:off x="2907720" y="3730680"/>
            <a:ext cx="3090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ee7b7"/>
                </a:solidFill>
                <a:latin typeface="Calibri"/>
                <a:ea typeface="Calibri"/>
              </a:rPr>
              <a:t>🧪  </a:t>
            </a:r>
            <a:r>
              <a:rPr b="1" lang="en-US" sz="1100" spc="-1" strike="noStrike">
                <a:solidFill>
                  <a:srgbClr val="6ee7b7"/>
                </a:solidFill>
                <a:latin typeface="Calibri"/>
                <a:ea typeface="Calibri"/>
              </a:rPr>
              <a:t>Automated Testing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33"/>
          <p:cNvSpPr/>
          <p:nvPr/>
        </p:nvSpPr>
        <p:spPr>
          <a:xfrm>
            <a:off x="320040" y="4827960"/>
            <a:ext cx="8503560" cy="273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34"/>
          <p:cNvSpPr/>
          <p:nvPr/>
        </p:nvSpPr>
        <p:spPr>
          <a:xfrm>
            <a:off x="438840" y="4827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7e8f9"/>
                </a:solidFill>
                <a:latin typeface="Calibri"/>
                <a:ea typeface="Calibri"/>
              </a:rPr>
              <a:t>CI/CD is the automation engine inside DevOps. DevOps provides the culture; CI/CD delivers the velocity.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411480" y="0"/>
            <a:ext cx="8320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67e8f9"/>
                </a:solidFill>
                <a:latin typeface="Calibri"/>
                <a:ea typeface="Calibri"/>
              </a:rPr>
              <a:t>Benefits of DevOps &amp; CI/CD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3"/>
          <p:cNvSpPr/>
          <p:nvPr/>
        </p:nvSpPr>
        <p:spPr>
          <a:xfrm>
            <a:off x="320040" y="1078920"/>
            <a:ext cx="4205880" cy="402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320040" y="1078920"/>
            <a:ext cx="4205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0617"/>
                </a:solidFill>
                <a:latin typeface="Calibri"/>
                <a:ea typeface="Calibri"/>
              </a:rPr>
              <a:t>DevOps Benefits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5"/>
          <p:cNvSpPr/>
          <p:nvPr/>
        </p:nvSpPr>
        <p:spPr>
          <a:xfrm>
            <a:off x="320040" y="1554480"/>
            <a:ext cx="4205880" cy="594000"/>
          </a:xfrm>
          <a:prstGeom prst="rect">
            <a:avLst/>
          </a:prstGeom>
          <a:solidFill>
            <a:srgbClr val="1e293b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6"/>
          <p:cNvSpPr/>
          <p:nvPr/>
        </p:nvSpPr>
        <p:spPr>
          <a:xfrm>
            <a:off x="320040" y="1554480"/>
            <a:ext cx="72720" cy="594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475560" y="159120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⚡  </a:t>
            </a: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Faster Time-to-Market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475560" y="184716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Automates development and deployment to reduce time from feature to release.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9"/>
          <p:cNvSpPr/>
          <p:nvPr/>
        </p:nvSpPr>
        <p:spPr>
          <a:xfrm>
            <a:off x="320040" y="2212920"/>
            <a:ext cx="4205880" cy="594000"/>
          </a:xfrm>
          <a:prstGeom prst="rect">
            <a:avLst/>
          </a:prstGeom>
          <a:solidFill>
            <a:srgbClr val="1e293b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10"/>
          <p:cNvSpPr/>
          <p:nvPr/>
        </p:nvSpPr>
        <p:spPr>
          <a:xfrm>
            <a:off x="320040" y="2212920"/>
            <a:ext cx="72720" cy="594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475560" y="224928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✅  </a:t>
            </a: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Enhanced Product Quality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475560" y="250560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Continuous testing and deployment catch bugs early in the development process.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13"/>
          <p:cNvSpPr/>
          <p:nvPr/>
        </p:nvSpPr>
        <p:spPr>
          <a:xfrm>
            <a:off x="320040" y="2871360"/>
            <a:ext cx="4205880" cy="594000"/>
          </a:xfrm>
          <a:prstGeom prst="rect">
            <a:avLst/>
          </a:prstGeom>
          <a:solidFill>
            <a:srgbClr val="1e293b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14"/>
          <p:cNvSpPr/>
          <p:nvPr/>
        </p:nvSpPr>
        <p:spPr>
          <a:xfrm>
            <a:off x="320040" y="2871360"/>
            <a:ext cx="72720" cy="594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475560" y="290772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📈  </a:t>
            </a: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Greater Scalability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16"/>
          <p:cNvSpPr/>
          <p:nvPr/>
        </p:nvSpPr>
        <p:spPr>
          <a:xfrm>
            <a:off x="475560" y="316368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Containerization and cloud computing enable rapid scaling to meet demand.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17"/>
          <p:cNvSpPr/>
          <p:nvPr/>
        </p:nvSpPr>
        <p:spPr>
          <a:xfrm>
            <a:off x="320040" y="3529440"/>
            <a:ext cx="4205880" cy="594000"/>
          </a:xfrm>
          <a:prstGeom prst="rect">
            <a:avLst/>
          </a:prstGeom>
          <a:solidFill>
            <a:srgbClr val="1e293b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18"/>
          <p:cNvSpPr/>
          <p:nvPr/>
        </p:nvSpPr>
        <p:spPr>
          <a:xfrm>
            <a:off x="320040" y="3529440"/>
            <a:ext cx="72720" cy="594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19"/>
          <p:cNvSpPr/>
          <p:nvPr/>
        </p:nvSpPr>
        <p:spPr>
          <a:xfrm>
            <a:off x="475560" y="356616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🔒  </a:t>
            </a: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Increased Security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20"/>
          <p:cNvSpPr/>
          <p:nvPr/>
        </p:nvSpPr>
        <p:spPr>
          <a:xfrm>
            <a:off x="475560" y="382212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Full lifecycle responsibility includes ensuring security at every stage.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21"/>
          <p:cNvSpPr/>
          <p:nvPr/>
        </p:nvSpPr>
        <p:spPr>
          <a:xfrm>
            <a:off x="320040" y="4187880"/>
            <a:ext cx="4205880" cy="594000"/>
          </a:xfrm>
          <a:prstGeom prst="rect">
            <a:avLst/>
          </a:prstGeom>
          <a:solidFill>
            <a:srgbClr val="1e293b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22"/>
          <p:cNvSpPr/>
          <p:nvPr/>
        </p:nvSpPr>
        <p:spPr>
          <a:xfrm>
            <a:off x="320040" y="4187880"/>
            <a:ext cx="72720" cy="594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23"/>
          <p:cNvSpPr/>
          <p:nvPr/>
        </p:nvSpPr>
        <p:spPr>
          <a:xfrm>
            <a:off x="475560" y="422460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🔁  </a:t>
            </a: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Continuous Improvement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24"/>
          <p:cNvSpPr/>
          <p:nvPr/>
        </p:nvSpPr>
        <p:spPr>
          <a:xfrm>
            <a:off x="475560" y="448056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Real-world feedback loops continuously refine workflows and software quality.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25"/>
          <p:cNvSpPr/>
          <p:nvPr/>
        </p:nvSpPr>
        <p:spPr>
          <a:xfrm>
            <a:off x="4617720" y="1078920"/>
            <a:ext cx="4205880" cy="402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26"/>
          <p:cNvSpPr/>
          <p:nvPr/>
        </p:nvSpPr>
        <p:spPr>
          <a:xfrm>
            <a:off x="4617720" y="1078920"/>
            <a:ext cx="4205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0617"/>
                </a:solidFill>
                <a:latin typeface="Calibri"/>
                <a:ea typeface="Calibri"/>
              </a:rPr>
              <a:t>CI/CD Benefits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27"/>
          <p:cNvSpPr/>
          <p:nvPr/>
        </p:nvSpPr>
        <p:spPr>
          <a:xfrm>
            <a:off x="4617720" y="1554480"/>
            <a:ext cx="4205880" cy="594000"/>
          </a:xfrm>
          <a:prstGeom prst="rect">
            <a:avLst/>
          </a:prstGeom>
          <a:solidFill>
            <a:srgbClr val="1e293b"/>
          </a:solidFill>
          <a:ln w="9525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28"/>
          <p:cNvSpPr/>
          <p:nvPr/>
        </p:nvSpPr>
        <p:spPr>
          <a:xfrm>
            <a:off x="4617720" y="1554480"/>
            <a:ext cx="727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9"/>
          <p:cNvSpPr/>
          <p:nvPr/>
        </p:nvSpPr>
        <p:spPr>
          <a:xfrm>
            <a:off x="4773240" y="159120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🚀  </a:t>
            </a: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Faster Software Delivery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30"/>
          <p:cNvSpPr/>
          <p:nvPr/>
        </p:nvSpPr>
        <p:spPr>
          <a:xfrm>
            <a:off x="4773240" y="184716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Get code out of production faster — focus on improvement once it's in the world.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31"/>
          <p:cNvSpPr/>
          <p:nvPr/>
        </p:nvSpPr>
        <p:spPr>
          <a:xfrm>
            <a:off x="4617720" y="2212920"/>
            <a:ext cx="4205880" cy="594000"/>
          </a:xfrm>
          <a:prstGeom prst="rect">
            <a:avLst/>
          </a:prstGeom>
          <a:solidFill>
            <a:srgbClr val="1e293b"/>
          </a:solidFill>
          <a:ln w="9525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32"/>
          <p:cNvSpPr/>
          <p:nvPr/>
        </p:nvSpPr>
        <p:spPr>
          <a:xfrm>
            <a:off x="4617720" y="2212920"/>
            <a:ext cx="727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33"/>
          <p:cNvSpPr/>
          <p:nvPr/>
        </p:nvSpPr>
        <p:spPr>
          <a:xfrm>
            <a:off x="4773240" y="224928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🐛  </a:t>
            </a: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Early Bug Detection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34"/>
          <p:cNvSpPr/>
          <p:nvPr/>
        </p:nvSpPr>
        <p:spPr>
          <a:xfrm>
            <a:off x="4773240" y="250560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Automated tests on every commit catch regressions before they reach production.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35"/>
          <p:cNvSpPr/>
          <p:nvPr/>
        </p:nvSpPr>
        <p:spPr>
          <a:xfrm>
            <a:off x="4617720" y="2871360"/>
            <a:ext cx="4205880" cy="594000"/>
          </a:xfrm>
          <a:prstGeom prst="rect">
            <a:avLst/>
          </a:prstGeom>
          <a:solidFill>
            <a:srgbClr val="1e293b"/>
          </a:solidFill>
          <a:ln w="9525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hape 36"/>
          <p:cNvSpPr/>
          <p:nvPr/>
        </p:nvSpPr>
        <p:spPr>
          <a:xfrm>
            <a:off x="4617720" y="2871360"/>
            <a:ext cx="727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37"/>
          <p:cNvSpPr/>
          <p:nvPr/>
        </p:nvSpPr>
        <p:spPr>
          <a:xfrm>
            <a:off x="4773240" y="290772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🤝  </a:t>
            </a: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Increased Collaboration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38"/>
          <p:cNvSpPr/>
          <p:nvPr/>
        </p:nvSpPr>
        <p:spPr>
          <a:xfrm>
            <a:off x="4773240" y="316368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Shared pipelines and automated feedback improve communication across teams.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39"/>
          <p:cNvSpPr/>
          <p:nvPr/>
        </p:nvSpPr>
        <p:spPr>
          <a:xfrm>
            <a:off x="4617720" y="3529440"/>
            <a:ext cx="4205880" cy="594000"/>
          </a:xfrm>
          <a:prstGeom prst="rect">
            <a:avLst/>
          </a:prstGeom>
          <a:solidFill>
            <a:srgbClr val="1e293b"/>
          </a:solidFill>
          <a:ln w="9525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40"/>
          <p:cNvSpPr/>
          <p:nvPr/>
        </p:nvSpPr>
        <p:spPr>
          <a:xfrm>
            <a:off x="4617720" y="3529440"/>
            <a:ext cx="727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41"/>
          <p:cNvSpPr/>
          <p:nvPr/>
        </p:nvSpPr>
        <p:spPr>
          <a:xfrm>
            <a:off x="4773240" y="356616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🔄  </a:t>
            </a: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Reliable Release Process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42"/>
          <p:cNvSpPr/>
          <p:nvPr/>
        </p:nvSpPr>
        <p:spPr>
          <a:xfrm>
            <a:off x="4773240" y="382212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Consistent automated steps reduce human error and variability in releases.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43"/>
          <p:cNvSpPr/>
          <p:nvPr/>
        </p:nvSpPr>
        <p:spPr>
          <a:xfrm>
            <a:off x="4617720" y="4187880"/>
            <a:ext cx="4205880" cy="594000"/>
          </a:xfrm>
          <a:prstGeom prst="rect">
            <a:avLst/>
          </a:prstGeom>
          <a:solidFill>
            <a:srgbClr val="1e293b"/>
          </a:solidFill>
          <a:ln w="9525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44"/>
          <p:cNvSpPr/>
          <p:nvPr/>
        </p:nvSpPr>
        <p:spPr>
          <a:xfrm>
            <a:off x="4617720" y="4187880"/>
            <a:ext cx="727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45"/>
          <p:cNvSpPr/>
          <p:nvPr/>
        </p:nvSpPr>
        <p:spPr>
          <a:xfrm>
            <a:off x="4773240" y="422460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📊  </a:t>
            </a: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Better Code Quality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46"/>
          <p:cNvSpPr/>
          <p:nvPr/>
        </p:nvSpPr>
        <p:spPr>
          <a:xfrm>
            <a:off x="4773240" y="448056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Frequent iteration based on user feedback leads to continuously improving code.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1"/>
          <p:cNvSpPr/>
          <p:nvPr/>
        </p:nvSpPr>
        <p:spPr>
          <a:xfrm>
            <a:off x="0" y="960120"/>
            <a:ext cx="9143640" cy="63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2"/>
          <p:cNvSpPr/>
          <p:nvPr/>
        </p:nvSpPr>
        <p:spPr>
          <a:xfrm>
            <a:off x="411480" y="0"/>
            <a:ext cx="8320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8fafc"/>
                </a:solidFill>
                <a:latin typeface="Calibri"/>
                <a:ea typeface="Calibri"/>
              </a:rPr>
              <a:t>Tools Ecosystem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365760" y="111564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a580c"/>
                </a:solidFill>
                <a:latin typeface="Calibri"/>
                <a:ea typeface="Calibri"/>
              </a:rPr>
              <a:t>CI/CD Tools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4"/>
          <p:cNvSpPr/>
          <p:nvPr/>
        </p:nvSpPr>
        <p:spPr>
          <a:xfrm>
            <a:off x="365760" y="1481400"/>
            <a:ext cx="4205880" cy="59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5"/>
          <p:cNvSpPr/>
          <p:nvPr/>
        </p:nvSpPr>
        <p:spPr>
          <a:xfrm>
            <a:off x="365760" y="1481400"/>
            <a:ext cx="727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6"/>
          <p:cNvSpPr/>
          <p:nvPr/>
        </p:nvSpPr>
        <p:spPr>
          <a:xfrm>
            <a:off x="530280" y="151776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923c"/>
                </a:solidFill>
                <a:latin typeface="Calibri"/>
                <a:ea typeface="Calibri"/>
              </a:rPr>
              <a:t>Jenkins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7"/>
          <p:cNvSpPr/>
          <p:nvPr/>
        </p:nvSpPr>
        <p:spPr>
          <a:xfrm>
            <a:off x="530280" y="177408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Open-source automation server — most widely used CI/CD tool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8"/>
          <p:cNvSpPr/>
          <p:nvPr/>
        </p:nvSpPr>
        <p:spPr>
          <a:xfrm>
            <a:off x="365760" y="2139840"/>
            <a:ext cx="4205880" cy="59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9"/>
          <p:cNvSpPr/>
          <p:nvPr/>
        </p:nvSpPr>
        <p:spPr>
          <a:xfrm>
            <a:off x="365760" y="2139840"/>
            <a:ext cx="727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10"/>
          <p:cNvSpPr/>
          <p:nvPr/>
        </p:nvSpPr>
        <p:spPr>
          <a:xfrm>
            <a:off x="530280" y="217620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923c"/>
                </a:solidFill>
                <a:latin typeface="Calibri"/>
                <a:ea typeface="Calibri"/>
              </a:rPr>
              <a:t>GitHub Actions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11"/>
          <p:cNvSpPr/>
          <p:nvPr/>
        </p:nvSpPr>
        <p:spPr>
          <a:xfrm>
            <a:off x="530280" y="243216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Native CI/CD workflows directly integrated into GitHub repos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2"/>
          <p:cNvSpPr/>
          <p:nvPr/>
        </p:nvSpPr>
        <p:spPr>
          <a:xfrm>
            <a:off x="365760" y="2797920"/>
            <a:ext cx="4205880" cy="59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13"/>
          <p:cNvSpPr/>
          <p:nvPr/>
        </p:nvSpPr>
        <p:spPr>
          <a:xfrm>
            <a:off x="365760" y="2797920"/>
            <a:ext cx="727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14"/>
          <p:cNvSpPr/>
          <p:nvPr/>
        </p:nvSpPr>
        <p:spPr>
          <a:xfrm>
            <a:off x="530280" y="283464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923c"/>
                </a:solidFill>
                <a:latin typeface="Calibri"/>
                <a:ea typeface="Calibri"/>
              </a:rPr>
              <a:t>CircleCI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5"/>
          <p:cNvSpPr/>
          <p:nvPr/>
        </p:nvSpPr>
        <p:spPr>
          <a:xfrm>
            <a:off x="530280" y="309060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Cloud-native CI/CD with fast pipelines and easy configuration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6"/>
          <p:cNvSpPr/>
          <p:nvPr/>
        </p:nvSpPr>
        <p:spPr>
          <a:xfrm>
            <a:off x="365760" y="3456360"/>
            <a:ext cx="4205880" cy="59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17"/>
          <p:cNvSpPr/>
          <p:nvPr/>
        </p:nvSpPr>
        <p:spPr>
          <a:xfrm>
            <a:off x="365760" y="3456360"/>
            <a:ext cx="727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8"/>
          <p:cNvSpPr/>
          <p:nvPr/>
        </p:nvSpPr>
        <p:spPr>
          <a:xfrm>
            <a:off x="530280" y="349308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923c"/>
                </a:solidFill>
                <a:latin typeface="Calibri"/>
                <a:ea typeface="Calibri"/>
              </a:rPr>
              <a:t>Azure Pipelines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9"/>
          <p:cNvSpPr/>
          <p:nvPr/>
        </p:nvSpPr>
        <p:spPr>
          <a:xfrm>
            <a:off x="530280" y="374904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Microsoft's CI/CD service with deep Azure and GitHub integration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0"/>
          <p:cNvSpPr/>
          <p:nvPr/>
        </p:nvSpPr>
        <p:spPr>
          <a:xfrm>
            <a:off x="365760" y="4114800"/>
            <a:ext cx="4205880" cy="59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21"/>
          <p:cNvSpPr/>
          <p:nvPr/>
        </p:nvSpPr>
        <p:spPr>
          <a:xfrm>
            <a:off x="365760" y="4114800"/>
            <a:ext cx="727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22"/>
          <p:cNvSpPr/>
          <p:nvPr/>
        </p:nvSpPr>
        <p:spPr>
          <a:xfrm>
            <a:off x="530280" y="415152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923c"/>
                </a:solidFill>
                <a:latin typeface="Calibri"/>
                <a:ea typeface="Calibri"/>
              </a:rPr>
              <a:t>GitLab CI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23"/>
          <p:cNvSpPr/>
          <p:nvPr/>
        </p:nvSpPr>
        <p:spPr>
          <a:xfrm>
            <a:off x="530280" y="440748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Built-in CI/CD in GitLab — pipeline as code using .gitlab-ci.yml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24"/>
          <p:cNvSpPr/>
          <p:nvPr/>
        </p:nvSpPr>
        <p:spPr>
          <a:xfrm>
            <a:off x="4663440" y="111564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6b6d4"/>
                </a:solidFill>
                <a:latin typeface="Calibri"/>
                <a:ea typeface="Calibri"/>
              </a:rPr>
              <a:t>DevOps Tools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25"/>
          <p:cNvSpPr/>
          <p:nvPr/>
        </p:nvSpPr>
        <p:spPr>
          <a:xfrm>
            <a:off x="4663440" y="1481400"/>
            <a:ext cx="4205880" cy="59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26"/>
          <p:cNvSpPr/>
          <p:nvPr/>
        </p:nvSpPr>
        <p:spPr>
          <a:xfrm>
            <a:off x="4663440" y="1481400"/>
            <a:ext cx="72720" cy="594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27"/>
          <p:cNvSpPr/>
          <p:nvPr/>
        </p:nvSpPr>
        <p:spPr>
          <a:xfrm>
            <a:off x="4827960" y="151776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7e8f9"/>
                </a:solidFill>
                <a:latin typeface="Calibri"/>
                <a:ea typeface="Calibri"/>
              </a:rPr>
              <a:t>Docker / Kubernetes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28"/>
          <p:cNvSpPr/>
          <p:nvPr/>
        </p:nvSpPr>
        <p:spPr>
          <a:xfrm>
            <a:off x="4827960" y="177408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Containerization and orchestration for scalable, consistent deployments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29"/>
          <p:cNvSpPr/>
          <p:nvPr/>
        </p:nvSpPr>
        <p:spPr>
          <a:xfrm>
            <a:off x="4663440" y="2139840"/>
            <a:ext cx="4205880" cy="59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30"/>
          <p:cNvSpPr/>
          <p:nvPr/>
        </p:nvSpPr>
        <p:spPr>
          <a:xfrm>
            <a:off x="4663440" y="2139840"/>
            <a:ext cx="72720" cy="594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31"/>
          <p:cNvSpPr/>
          <p:nvPr/>
        </p:nvSpPr>
        <p:spPr>
          <a:xfrm>
            <a:off x="4827960" y="217620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7e8f9"/>
                </a:solidFill>
                <a:latin typeface="Calibri"/>
                <a:ea typeface="Calibri"/>
              </a:rPr>
              <a:t>Terraform / Ansible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32"/>
          <p:cNvSpPr/>
          <p:nvPr/>
        </p:nvSpPr>
        <p:spPr>
          <a:xfrm>
            <a:off x="4827960" y="243216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Infrastructure as Code — provision and configure infrastructure automatically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33"/>
          <p:cNvSpPr/>
          <p:nvPr/>
        </p:nvSpPr>
        <p:spPr>
          <a:xfrm>
            <a:off x="4663440" y="2797920"/>
            <a:ext cx="4205880" cy="59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34"/>
          <p:cNvSpPr/>
          <p:nvPr/>
        </p:nvSpPr>
        <p:spPr>
          <a:xfrm>
            <a:off x="4663440" y="2797920"/>
            <a:ext cx="72720" cy="594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35"/>
          <p:cNvSpPr/>
          <p:nvPr/>
        </p:nvSpPr>
        <p:spPr>
          <a:xfrm>
            <a:off x="4827960" y="283464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7e8f9"/>
                </a:solidFill>
                <a:latin typeface="Calibri"/>
                <a:ea typeface="Calibri"/>
              </a:rPr>
              <a:t>Jira / Confluence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36"/>
          <p:cNvSpPr/>
          <p:nvPr/>
        </p:nvSpPr>
        <p:spPr>
          <a:xfrm>
            <a:off x="4827960" y="309060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Agile project management and team collaboration and documentation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37"/>
          <p:cNvSpPr/>
          <p:nvPr/>
        </p:nvSpPr>
        <p:spPr>
          <a:xfrm>
            <a:off x="4663440" y="3456360"/>
            <a:ext cx="4205880" cy="59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38"/>
          <p:cNvSpPr/>
          <p:nvPr/>
        </p:nvSpPr>
        <p:spPr>
          <a:xfrm>
            <a:off x="4663440" y="3456360"/>
            <a:ext cx="72720" cy="594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39"/>
          <p:cNvSpPr/>
          <p:nvPr/>
        </p:nvSpPr>
        <p:spPr>
          <a:xfrm>
            <a:off x="4827960" y="349308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7e8f9"/>
                </a:solidFill>
                <a:latin typeface="Calibri"/>
                <a:ea typeface="Calibri"/>
              </a:rPr>
              <a:t>Prometheus / Grafana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40"/>
          <p:cNvSpPr/>
          <p:nvPr/>
        </p:nvSpPr>
        <p:spPr>
          <a:xfrm>
            <a:off x="4827960" y="374904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Monitoring and observability — track application and infrastructure health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41"/>
          <p:cNvSpPr/>
          <p:nvPr/>
        </p:nvSpPr>
        <p:spPr>
          <a:xfrm>
            <a:off x="4663440" y="4114800"/>
            <a:ext cx="4205880" cy="59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42"/>
          <p:cNvSpPr/>
          <p:nvPr/>
        </p:nvSpPr>
        <p:spPr>
          <a:xfrm>
            <a:off x="4663440" y="4114800"/>
            <a:ext cx="72720" cy="594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43"/>
          <p:cNvSpPr/>
          <p:nvPr/>
        </p:nvSpPr>
        <p:spPr>
          <a:xfrm>
            <a:off x="4827960" y="415152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7e8f9"/>
                </a:solidFill>
                <a:latin typeface="Calibri"/>
                <a:ea typeface="Calibri"/>
              </a:rPr>
              <a:t>Git / GitHub / GitLab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44"/>
          <p:cNvSpPr/>
          <p:nvPr/>
        </p:nvSpPr>
        <p:spPr>
          <a:xfrm>
            <a:off x="4827960" y="440748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Version control systems enabling concurrent team development on stable branches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2"/>
          <p:cNvSpPr/>
          <p:nvPr/>
        </p:nvSpPr>
        <p:spPr>
          <a:xfrm>
            <a:off x="411480" y="0"/>
            <a:ext cx="8320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0617"/>
                </a:solidFill>
                <a:latin typeface="Calibri"/>
                <a:ea typeface="Calibri"/>
              </a:rPr>
              <a:t>Implementation Best Practices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3"/>
          <p:cNvSpPr/>
          <p:nvPr/>
        </p:nvSpPr>
        <p:spPr>
          <a:xfrm>
            <a:off x="274320" y="1060560"/>
            <a:ext cx="2761200" cy="1810080"/>
          </a:xfrm>
          <a:prstGeom prst="rect">
            <a:avLst/>
          </a:prstGeom>
          <a:solidFill>
            <a:srgbClr val="1e293b"/>
          </a:solidFill>
          <a:ln w="22860">
            <a:solidFill>
              <a:srgbClr val="0891b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4"/>
          <p:cNvSpPr/>
          <p:nvPr/>
        </p:nvSpPr>
        <p:spPr>
          <a:xfrm>
            <a:off x="274320" y="1060560"/>
            <a:ext cx="2761200" cy="456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5"/>
          <p:cNvSpPr/>
          <p:nvPr/>
        </p:nvSpPr>
        <p:spPr>
          <a:xfrm>
            <a:off x="384120" y="1152000"/>
            <a:ext cx="319680" cy="319680"/>
          </a:xfrm>
          <a:prstGeom prst="ellipse">
            <a:avLst/>
          </a:prstGeom>
          <a:solidFill>
            <a:srgbClr val="020617"/>
          </a:solidFill>
          <a:ln w="12700">
            <a:solidFill>
              <a:srgbClr val="0206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6"/>
          <p:cNvSpPr/>
          <p:nvPr/>
        </p:nvSpPr>
        <p:spPr>
          <a:xfrm>
            <a:off x="384120" y="11520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891b2"/>
                </a:solidFill>
                <a:latin typeface="Calibri"/>
              </a:rPr>
              <a:t>01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7"/>
          <p:cNvSpPr/>
          <p:nvPr/>
        </p:nvSpPr>
        <p:spPr>
          <a:xfrm>
            <a:off x="777240" y="10605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20617"/>
                </a:solidFill>
                <a:latin typeface="Calibri"/>
                <a:ea typeface="Calibri"/>
              </a:rPr>
              <a:t>🎯  </a:t>
            </a:r>
            <a:r>
              <a:rPr b="1" lang="en-US" sz="1250" spc="-1" strike="noStrike">
                <a:solidFill>
                  <a:srgbClr val="020617"/>
                </a:solidFill>
                <a:latin typeface="Calibri"/>
                <a:ea typeface="Calibri"/>
              </a:rPr>
              <a:t>Start Small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8"/>
          <p:cNvSpPr/>
          <p:nvPr/>
        </p:nvSpPr>
        <p:spPr>
          <a:xfrm>
            <a:off x="384120" y="1572840"/>
            <a:ext cx="25416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Begin with a small, manageable project to test DevOps and CI/CD processes. Identify issues and refine your approach before scaling up across the organisation.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9"/>
          <p:cNvSpPr/>
          <p:nvPr/>
        </p:nvSpPr>
        <p:spPr>
          <a:xfrm>
            <a:off x="3182040" y="1060560"/>
            <a:ext cx="2761200" cy="1810080"/>
          </a:xfrm>
          <a:prstGeom prst="rect">
            <a:avLst/>
          </a:prstGeom>
          <a:solidFill>
            <a:srgbClr val="1e293b"/>
          </a:solidFill>
          <a:ln w="2286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10"/>
          <p:cNvSpPr/>
          <p:nvPr/>
        </p:nvSpPr>
        <p:spPr>
          <a:xfrm>
            <a:off x="3182040" y="1060560"/>
            <a:ext cx="2761200" cy="456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Shape 11"/>
          <p:cNvSpPr/>
          <p:nvPr/>
        </p:nvSpPr>
        <p:spPr>
          <a:xfrm>
            <a:off x="3291840" y="1152000"/>
            <a:ext cx="319680" cy="319680"/>
          </a:xfrm>
          <a:prstGeom prst="ellipse">
            <a:avLst/>
          </a:prstGeom>
          <a:solidFill>
            <a:srgbClr val="020617"/>
          </a:solidFill>
          <a:ln w="12700">
            <a:solidFill>
              <a:srgbClr val="0206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12"/>
          <p:cNvSpPr/>
          <p:nvPr/>
        </p:nvSpPr>
        <p:spPr>
          <a:xfrm>
            <a:off x="3291840" y="11520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a580c"/>
                </a:solidFill>
                <a:latin typeface="Calibri"/>
              </a:rPr>
              <a:t>02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3"/>
          <p:cNvSpPr/>
          <p:nvPr/>
        </p:nvSpPr>
        <p:spPr>
          <a:xfrm>
            <a:off x="3684960" y="10605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20617"/>
                </a:solidFill>
                <a:latin typeface="Calibri"/>
                <a:ea typeface="Calibri"/>
              </a:rPr>
              <a:t>👥  </a:t>
            </a:r>
            <a:r>
              <a:rPr b="1" lang="en-US" sz="1250" spc="-1" strike="noStrike">
                <a:solidFill>
                  <a:srgbClr val="020617"/>
                </a:solidFill>
                <a:latin typeface="Calibri"/>
                <a:ea typeface="Calibri"/>
              </a:rPr>
              <a:t>Build Your Culture First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14"/>
          <p:cNvSpPr/>
          <p:nvPr/>
        </p:nvSpPr>
        <p:spPr>
          <a:xfrm>
            <a:off x="3291840" y="1572840"/>
            <a:ext cx="25416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Form cross-functional teams with developers, ops, QA, and stakeholders. Encourage transparent communication. DevOps is a cultural shift before it is a toolset.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15"/>
          <p:cNvSpPr/>
          <p:nvPr/>
        </p:nvSpPr>
        <p:spPr>
          <a:xfrm>
            <a:off x="6089760" y="1060560"/>
            <a:ext cx="2761200" cy="1810080"/>
          </a:xfrm>
          <a:prstGeom prst="rect">
            <a:avLst/>
          </a:prstGeom>
          <a:solidFill>
            <a:srgbClr val="1e293b"/>
          </a:solidFill>
          <a:ln w="2286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16"/>
          <p:cNvSpPr/>
          <p:nvPr/>
        </p:nvSpPr>
        <p:spPr>
          <a:xfrm>
            <a:off x="6089760" y="1060560"/>
            <a:ext cx="2761200" cy="456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17"/>
          <p:cNvSpPr/>
          <p:nvPr/>
        </p:nvSpPr>
        <p:spPr>
          <a:xfrm>
            <a:off x="6199560" y="1152000"/>
            <a:ext cx="319680" cy="319680"/>
          </a:xfrm>
          <a:prstGeom prst="ellipse">
            <a:avLst/>
          </a:prstGeom>
          <a:solidFill>
            <a:srgbClr val="020617"/>
          </a:solidFill>
          <a:ln w="12700">
            <a:solidFill>
              <a:srgbClr val="0206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18"/>
          <p:cNvSpPr/>
          <p:nvPr/>
        </p:nvSpPr>
        <p:spPr>
          <a:xfrm>
            <a:off x="6199560" y="11520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7c3aed"/>
                </a:solidFill>
                <a:latin typeface="Calibri"/>
              </a:rPr>
              <a:t>03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19"/>
          <p:cNvSpPr/>
          <p:nvPr/>
        </p:nvSpPr>
        <p:spPr>
          <a:xfrm>
            <a:off x="6592680" y="10605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20617"/>
                </a:solidFill>
                <a:latin typeface="Calibri"/>
                <a:ea typeface="Calibri"/>
              </a:rPr>
              <a:t>⚙️  </a:t>
            </a:r>
            <a:r>
              <a:rPr b="1" lang="en-US" sz="1250" spc="-1" strike="noStrike">
                <a:solidFill>
                  <a:srgbClr val="020617"/>
                </a:solidFill>
                <a:latin typeface="Calibri"/>
                <a:ea typeface="Calibri"/>
              </a:rPr>
              <a:t>Invest in Automation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20"/>
          <p:cNvSpPr/>
          <p:nvPr/>
        </p:nvSpPr>
        <p:spPr>
          <a:xfrm>
            <a:off x="6199560" y="1572840"/>
            <a:ext cx="25416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Automate repetitive tasks — testing, building, deploying. This reduces human error and frees your team to focus on higher-value, more strategic work.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Shape 21"/>
          <p:cNvSpPr/>
          <p:nvPr/>
        </p:nvSpPr>
        <p:spPr>
          <a:xfrm>
            <a:off x="274320" y="3017520"/>
            <a:ext cx="2761200" cy="1810080"/>
          </a:xfrm>
          <a:prstGeom prst="rect">
            <a:avLst/>
          </a:prstGeom>
          <a:solidFill>
            <a:srgbClr val="1e293b"/>
          </a:solidFill>
          <a:ln w="22860">
            <a:solidFill>
              <a:srgbClr val="0891b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22"/>
          <p:cNvSpPr/>
          <p:nvPr/>
        </p:nvSpPr>
        <p:spPr>
          <a:xfrm>
            <a:off x="274320" y="3017520"/>
            <a:ext cx="2761200" cy="456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23"/>
          <p:cNvSpPr/>
          <p:nvPr/>
        </p:nvSpPr>
        <p:spPr>
          <a:xfrm>
            <a:off x="384120" y="3108960"/>
            <a:ext cx="319680" cy="319680"/>
          </a:xfrm>
          <a:prstGeom prst="ellipse">
            <a:avLst/>
          </a:prstGeom>
          <a:solidFill>
            <a:srgbClr val="020617"/>
          </a:solidFill>
          <a:ln w="12700">
            <a:solidFill>
              <a:srgbClr val="0206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24"/>
          <p:cNvSpPr/>
          <p:nvPr/>
        </p:nvSpPr>
        <p:spPr>
          <a:xfrm>
            <a:off x="384120" y="31089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891b2"/>
                </a:solidFill>
                <a:latin typeface="Calibri"/>
              </a:rPr>
              <a:t>04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25"/>
          <p:cNvSpPr/>
          <p:nvPr/>
        </p:nvSpPr>
        <p:spPr>
          <a:xfrm>
            <a:off x="777240" y="301752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20617"/>
                </a:solidFill>
                <a:latin typeface="Calibri"/>
                <a:ea typeface="Calibri"/>
              </a:rPr>
              <a:t>📊  </a:t>
            </a:r>
            <a:r>
              <a:rPr b="1" lang="en-US" sz="1250" spc="-1" strike="noStrike">
                <a:solidFill>
                  <a:srgbClr val="020617"/>
                </a:solidFill>
                <a:latin typeface="Calibri"/>
                <a:ea typeface="Calibri"/>
              </a:rPr>
              <a:t>Monitor Performance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26"/>
          <p:cNvSpPr/>
          <p:nvPr/>
        </p:nvSpPr>
        <p:spPr>
          <a:xfrm>
            <a:off x="384120" y="3529440"/>
            <a:ext cx="25416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Continuously track KPIs: deployment frequency, lead time, mean time to recovery (MTTR). Use data to drive continuous improvement in every cycle.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Shape 27"/>
          <p:cNvSpPr/>
          <p:nvPr/>
        </p:nvSpPr>
        <p:spPr>
          <a:xfrm>
            <a:off x="3182040" y="3017520"/>
            <a:ext cx="2761200" cy="1810080"/>
          </a:xfrm>
          <a:prstGeom prst="rect">
            <a:avLst/>
          </a:prstGeom>
          <a:solidFill>
            <a:srgbClr val="1e293b"/>
          </a:solidFill>
          <a:ln w="2286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28"/>
          <p:cNvSpPr/>
          <p:nvPr/>
        </p:nvSpPr>
        <p:spPr>
          <a:xfrm>
            <a:off x="3182040" y="3017520"/>
            <a:ext cx="2761200" cy="456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29"/>
          <p:cNvSpPr/>
          <p:nvPr/>
        </p:nvSpPr>
        <p:spPr>
          <a:xfrm>
            <a:off x="3291840" y="3108960"/>
            <a:ext cx="319680" cy="319680"/>
          </a:xfrm>
          <a:prstGeom prst="ellipse">
            <a:avLst/>
          </a:prstGeom>
          <a:solidFill>
            <a:srgbClr val="020617"/>
          </a:solidFill>
          <a:ln w="12700">
            <a:solidFill>
              <a:srgbClr val="0206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30"/>
          <p:cNvSpPr/>
          <p:nvPr/>
        </p:nvSpPr>
        <p:spPr>
          <a:xfrm>
            <a:off x="3291840" y="31089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a580c"/>
                </a:solidFill>
                <a:latin typeface="Calibri"/>
              </a:rPr>
              <a:t>05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31"/>
          <p:cNvSpPr/>
          <p:nvPr/>
        </p:nvSpPr>
        <p:spPr>
          <a:xfrm>
            <a:off x="3684960" y="301752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20617"/>
                </a:solidFill>
                <a:latin typeface="Calibri"/>
                <a:ea typeface="Calibri"/>
              </a:rPr>
              <a:t>🔒  </a:t>
            </a:r>
            <a:r>
              <a:rPr b="1" lang="en-US" sz="1250" spc="-1" strike="noStrike">
                <a:solidFill>
                  <a:srgbClr val="020617"/>
                </a:solidFill>
                <a:latin typeface="Calibri"/>
                <a:ea typeface="Calibri"/>
              </a:rPr>
              <a:t>Shift Security Left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32"/>
          <p:cNvSpPr/>
          <p:nvPr/>
        </p:nvSpPr>
        <p:spPr>
          <a:xfrm>
            <a:off x="3291840" y="3529440"/>
            <a:ext cx="25416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Integrate security practices early in the development process (DevSecOps). Don't treat security as a final step — bake it into every pipeline stage.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33"/>
          <p:cNvSpPr/>
          <p:nvPr/>
        </p:nvSpPr>
        <p:spPr>
          <a:xfrm>
            <a:off x="6089760" y="3017520"/>
            <a:ext cx="2761200" cy="1810080"/>
          </a:xfrm>
          <a:prstGeom prst="rect">
            <a:avLst/>
          </a:prstGeom>
          <a:solidFill>
            <a:srgbClr val="1e293b"/>
          </a:solidFill>
          <a:ln w="2286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34"/>
          <p:cNvSpPr/>
          <p:nvPr/>
        </p:nvSpPr>
        <p:spPr>
          <a:xfrm>
            <a:off x="6089760" y="3017520"/>
            <a:ext cx="2761200" cy="456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35"/>
          <p:cNvSpPr/>
          <p:nvPr/>
        </p:nvSpPr>
        <p:spPr>
          <a:xfrm>
            <a:off x="6199560" y="3108960"/>
            <a:ext cx="319680" cy="319680"/>
          </a:xfrm>
          <a:prstGeom prst="ellipse">
            <a:avLst/>
          </a:prstGeom>
          <a:solidFill>
            <a:srgbClr val="020617"/>
          </a:solidFill>
          <a:ln w="12700">
            <a:solidFill>
              <a:srgbClr val="0206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36"/>
          <p:cNvSpPr/>
          <p:nvPr/>
        </p:nvSpPr>
        <p:spPr>
          <a:xfrm>
            <a:off x="6199560" y="31089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7c3aed"/>
                </a:solidFill>
                <a:latin typeface="Calibri"/>
              </a:rPr>
              <a:t>06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37"/>
          <p:cNvSpPr/>
          <p:nvPr/>
        </p:nvSpPr>
        <p:spPr>
          <a:xfrm>
            <a:off x="6592680" y="301752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20617"/>
                </a:solidFill>
                <a:latin typeface="Calibri"/>
                <a:ea typeface="Calibri"/>
              </a:rPr>
              <a:t>🔄  </a:t>
            </a:r>
            <a:r>
              <a:rPr b="1" lang="en-US" sz="1250" spc="-1" strike="noStrike">
                <a:solidFill>
                  <a:srgbClr val="020617"/>
                </a:solidFill>
                <a:latin typeface="Calibri"/>
                <a:ea typeface="Calibri"/>
              </a:rPr>
              <a:t>Maintain Feedback Loops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38"/>
          <p:cNvSpPr/>
          <p:nvPr/>
        </p:nvSpPr>
        <p:spPr>
          <a:xfrm>
            <a:off x="6199560" y="3529440"/>
            <a:ext cx="25416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Implement active monitoring and user feedback mechanisms. Use real-world performance data to continuously refine software and delivery processes.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6217920" y="-1371600"/>
            <a:ext cx="5028840" cy="50288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1"/>
          <p:cNvSpPr/>
          <p:nvPr/>
        </p:nvSpPr>
        <p:spPr>
          <a:xfrm>
            <a:off x="-1371600" y="3108960"/>
            <a:ext cx="4114440" cy="4114440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2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3"/>
          <p:cNvSpPr/>
          <p:nvPr/>
        </p:nvSpPr>
        <p:spPr>
          <a:xfrm>
            <a:off x="457200" y="2743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67e8f9"/>
                </a:solidFill>
                <a:latin typeface="Calibri"/>
                <a:ea typeface="Calibri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4"/>
          <p:cNvSpPr/>
          <p:nvPr/>
        </p:nvSpPr>
        <p:spPr>
          <a:xfrm>
            <a:off x="457200" y="877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</a:rPr>
              <a:t>DevOps vs CI/CD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5"/>
          <p:cNvSpPr/>
          <p:nvPr/>
        </p:nvSpPr>
        <p:spPr>
          <a:xfrm>
            <a:off x="457200" y="1389960"/>
            <a:ext cx="328680" cy="3286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6"/>
          <p:cNvSpPr/>
          <p:nvPr/>
        </p:nvSpPr>
        <p:spPr>
          <a:xfrm>
            <a:off x="457200" y="13899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20617"/>
                </a:solidFill>
                <a:latin typeface="Calibri"/>
              </a:rPr>
              <a:t>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7"/>
          <p:cNvSpPr/>
          <p:nvPr/>
        </p:nvSpPr>
        <p:spPr>
          <a:xfrm>
            <a:off x="932760" y="1316880"/>
            <a:ext cx="7817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  <a:ea typeface="Calibri"/>
              </a:rPr>
              <a:t>DevOps is the broader cultural and organizational framework that merges Dev and Ops into one unified team with shared responsibility.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8"/>
          <p:cNvSpPr/>
          <p:nvPr/>
        </p:nvSpPr>
        <p:spPr>
          <a:xfrm>
            <a:off x="457200" y="1965960"/>
            <a:ext cx="328680" cy="3286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9"/>
          <p:cNvSpPr/>
          <p:nvPr/>
        </p:nvSpPr>
        <p:spPr>
          <a:xfrm>
            <a:off x="457200" y="19659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20617"/>
                </a:solidFill>
                <a:latin typeface="Calibri"/>
              </a:rPr>
              <a:t>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10"/>
          <p:cNvSpPr/>
          <p:nvPr/>
        </p:nvSpPr>
        <p:spPr>
          <a:xfrm>
            <a:off x="932760" y="1892880"/>
            <a:ext cx="7817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  <a:ea typeface="Calibri"/>
              </a:rPr>
              <a:t>CI/CD is the automation engine within DevOps — comprising Continuous Integration, Continuous Delivery, and Continuous Deployment.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11"/>
          <p:cNvSpPr/>
          <p:nvPr/>
        </p:nvSpPr>
        <p:spPr>
          <a:xfrm>
            <a:off x="457200" y="2541960"/>
            <a:ext cx="328680" cy="3286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12"/>
          <p:cNvSpPr/>
          <p:nvPr/>
        </p:nvSpPr>
        <p:spPr>
          <a:xfrm>
            <a:off x="457200" y="25419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20617"/>
                </a:solidFill>
                <a:latin typeface="Calibri"/>
              </a:rPr>
              <a:t>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13"/>
          <p:cNvSpPr/>
          <p:nvPr/>
        </p:nvSpPr>
        <p:spPr>
          <a:xfrm>
            <a:off x="932760" y="2468880"/>
            <a:ext cx="7817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  <a:ea typeface="Calibri"/>
              </a:rPr>
              <a:t>DevOps vs CI/CD is not the right question — they are complementary. CI/CD automates; DevOps provides the culture and collaboration.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14"/>
          <p:cNvSpPr/>
          <p:nvPr/>
        </p:nvSpPr>
        <p:spPr>
          <a:xfrm>
            <a:off x="457200" y="3117960"/>
            <a:ext cx="328680" cy="3286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15"/>
          <p:cNvSpPr/>
          <p:nvPr/>
        </p:nvSpPr>
        <p:spPr>
          <a:xfrm>
            <a:off x="457200" y="31179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20617"/>
                </a:solidFill>
                <a:latin typeface="Calibri"/>
              </a:rPr>
              <a:t>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16"/>
          <p:cNvSpPr/>
          <p:nvPr/>
        </p:nvSpPr>
        <p:spPr>
          <a:xfrm>
            <a:off x="932760" y="3044880"/>
            <a:ext cx="7817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  <a:ea typeface="Calibri"/>
              </a:rPr>
              <a:t>The CI/CD pipeline has 8 stages: Commit → Build → Unit Test → Quality Check → Integration Test → Staging → Acceptance → Production.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Shape 17"/>
          <p:cNvSpPr/>
          <p:nvPr/>
        </p:nvSpPr>
        <p:spPr>
          <a:xfrm>
            <a:off x="457200" y="3694320"/>
            <a:ext cx="328680" cy="3286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18"/>
          <p:cNvSpPr/>
          <p:nvPr/>
        </p:nvSpPr>
        <p:spPr>
          <a:xfrm>
            <a:off x="457200" y="36943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20617"/>
                </a:solidFill>
                <a:latin typeface="Calibri"/>
              </a:rPr>
              <a:t>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19"/>
          <p:cNvSpPr/>
          <p:nvPr/>
        </p:nvSpPr>
        <p:spPr>
          <a:xfrm>
            <a:off x="932760" y="3620880"/>
            <a:ext cx="7817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  <a:ea typeface="Calibri"/>
              </a:rPr>
              <a:t>DevOps tools span collaboration, IaC, and monitoring. CI/CD tools focus on automation: Jenkins, GitHub Actions, Azure Pipelines.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Shape 20"/>
          <p:cNvSpPr/>
          <p:nvPr/>
        </p:nvSpPr>
        <p:spPr>
          <a:xfrm>
            <a:off x="457200" y="4270320"/>
            <a:ext cx="328680" cy="3286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21"/>
          <p:cNvSpPr/>
          <p:nvPr/>
        </p:nvSpPr>
        <p:spPr>
          <a:xfrm>
            <a:off x="457200" y="42703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20617"/>
                </a:solidFill>
                <a:latin typeface="Calibri"/>
              </a:rPr>
              <a:t>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22"/>
          <p:cNvSpPr/>
          <p:nvPr/>
        </p:nvSpPr>
        <p:spPr>
          <a:xfrm>
            <a:off x="932760" y="4197240"/>
            <a:ext cx="7817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  <a:ea typeface="Calibri"/>
              </a:rPr>
              <a:t>Successful implementation requires: start small, build culture first, invest in automation, monitor KPIs, shift security left, maintain feedback loops.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Shape 23"/>
          <p:cNvSpPr/>
          <p:nvPr/>
        </p:nvSpPr>
        <p:spPr>
          <a:xfrm>
            <a:off x="457200" y="4663440"/>
            <a:ext cx="8320680" cy="383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24"/>
          <p:cNvSpPr/>
          <p:nvPr/>
        </p:nvSpPr>
        <p:spPr>
          <a:xfrm>
            <a:off x="457200" y="4663440"/>
            <a:ext cx="832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0617"/>
                </a:solidFill>
                <a:latin typeface="Calibri"/>
                <a:ea typeface="Calibri"/>
              </a:rPr>
              <a:t>DevOps is the philosophy. CI/CD is the practice. Together, they power modern software delivery.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2026-04-10T03:21:44Z</dcterms:created>
  <dc:creator>PptxGenJS</dc:creator>
  <dc:description/>
  <dc:language>en-US</dc:language>
  <cp:lastModifiedBy>PptxGenJS</cp:lastModifiedBy>
  <dcterms:modified xsi:type="dcterms:W3CDTF">2026-04-10T03:21:44Z</dcterms:modified>
  <cp:revision>1</cp:revision>
  <dc:subject>PptxGenJS Presentation</dc:subject>
  <dc:title>DevOps vs CI/CD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