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notes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A4695316-EDF5-42BC-9FF5-3D36BAE6875C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BED9A66-6506-4EA4-BD98-A3591F54220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FE4231A-9B91-45E5-8F2F-59F6F98A0CF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0FFB5B-6ECD-471E-AD07-2BE11CE9A87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D97C911-783F-4C14-AC9A-DC88DEE2A52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B415A9-6DF8-443B-9024-8D3B7D81B3A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B2BFF18-B7E4-4EF9-9469-1156633961A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5A87E35-F692-46C2-88E2-AD9BA42DD81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A984DA2-8924-4012-A3AD-4F6A7DDF7ED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B1117B7-DAB3-452E-8787-139852FE286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0F22A3-4B36-4DC5-B9A2-5288DA1617C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D28D7A9-7696-4FD4-A2F2-137B77DC294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k to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the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text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for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530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201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5486400" y="-1371600"/>
            <a:ext cx="5943240" cy="5943240"/>
          </a:xfrm>
          <a:prstGeom prst="ellipse">
            <a:avLst/>
          </a:prstGeom>
          <a:solidFill>
            <a:srgbClr val="1e0a4a">
              <a:alpha val="60000"/>
            </a:srgbClr>
          </a:solidFill>
          <a:ln w="12700">
            <a:solidFill>
              <a:srgbClr val="1e0a4a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6583680" y="-548640"/>
            <a:ext cx="3840120" cy="3840120"/>
          </a:xfrm>
          <a:prstGeom prst="ellipse">
            <a:avLst/>
          </a:prstGeom>
          <a:solidFill>
            <a:srgbClr val="271060">
              <a:alpha val="50000"/>
            </a:srgbClr>
          </a:solidFill>
          <a:ln w="12700">
            <a:solidFill>
              <a:srgbClr val="271060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6830640" y="1188720"/>
            <a:ext cx="182520" cy="18252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7434000" y="1188720"/>
            <a:ext cx="182520" cy="18252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7132320" y="914400"/>
            <a:ext cx="182520" cy="18252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7132320" y="1490400"/>
            <a:ext cx="182520" cy="18252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6912720" y="1408320"/>
            <a:ext cx="182520" cy="18252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7351920" y="941760"/>
            <a:ext cx="182520" cy="18252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7059240" y="1115640"/>
            <a:ext cx="328680" cy="328680"/>
          </a:xfrm>
          <a:prstGeom prst="ellipse">
            <a:avLst/>
          </a:prstGeom>
          <a:solidFill>
            <a:srgbClr val="a855f7"/>
          </a:solidFill>
          <a:ln w="190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6729840" y="786240"/>
            <a:ext cx="987120" cy="987120"/>
          </a:xfrm>
          <a:prstGeom prst="ellipse">
            <a:avLst/>
          </a:prstGeom>
          <a:solidFill>
            <a:srgbClr val="a855f7">
              <a:alpha val="15000"/>
            </a:srgbClr>
          </a:solidFill>
          <a:ln w="12700">
            <a:solidFill>
              <a:srgbClr val="a855f7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8024040" y="2148840"/>
            <a:ext cx="182520" cy="18252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8435520" y="2057400"/>
            <a:ext cx="182520" cy="18252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8229600" y="1883520"/>
            <a:ext cx="182520" cy="18252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8275320" y="2322720"/>
            <a:ext cx="182520" cy="18252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8092440" y="1943280"/>
            <a:ext cx="182520" cy="18252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156520" y="2030040"/>
            <a:ext cx="328680" cy="328680"/>
          </a:xfrm>
          <a:prstGeom prst="ellipse">
            <a:avLst/>
          </a:prstGeom>
          <a:solidFill>
            <a:srgbClr val="ec4899"/>
          </a:solidFill>
          <a:ln w="190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7909560" y="1783080"/>
            <a:ext cx="822600" cy="822600"/>
          </a:xfrm>
          <a:prstGeom prst="ellipse">
            <a:avLst/>
          </a:prstGeom>
          <a:solidFill>
            <a:srgbClr val="ec4899">
              <a:alpha val="15000"/>
            </a:srgbClr>
          </a:solidFill>
          <a:ln w="12700">
            <a:solidFill>
              <a:srgbClr val="ec489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6602040" y="2489400"/>
            <a:ext cx="182520" cy="1825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6931080" y="2448360"/>
            <a:ext cx="182520" cy="1825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6807600" y="2296080"/>
            <a:ext cx="182520" cy="1825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6725520" y="2641680"/>
            <a:ext cx="182520" cy="1825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6910560" y="2592360"/>
            <a:ext cx="182520" cy="1825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6693480" y="2395800"/>
            <a:ext cx="328680" cy="328680"/>
          </a:xfrm>
          <a:prstGeom prst="ellipse">
            <a:avLst/>
          </a:prstGeom>
          <a:solidFill>
            <a:srgbClr val="22d3ee"/>
          </a:solidFill>
          <a:ln w="190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6487560" y="2189880"/>
            <a:ext cx="740160" cy="740160"/>
          </a:xfrm>
          <a:prstGeom prst="ellipse">
            <a:avLst/>
          </a:prstGeom>
          <a:solidFill>
            <a:srgbClr val="22d3ee">
              <a:alpha val="15000"/>
            </a:srgbClr>
          </a:solidFill>
          <a:ln w="12700">
            <a:solidFill>
              <a:srgbClr val="22d3ee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548640" y="685800"/>
            <a:ext cx="1828440" cy="347040"/>
          </a:xfrm>
          <a:prstGeom prst="roundRect">
            <a:avLst>
              <a:gd name="adj" fmla="val 31579"/>
            </a:avLst>
          </a:prstGeom>
          <a:solidFill>
            <a:srgbClr val="a855f7">
              <a:alpha val="80000"/>
            </a:srgbClr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Text 25"/>
          <p:cNvSpPr/>
          <p:nvPr/>
        </p:nvSpPr>
        <p:spPr>
          <a:xfrm>
            <a:off x="548640" y="685800"/>
            <a:ext cx="1828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DATA MINING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26"/>
          <p:cNvSpPr/>
          <p:nvPr/>
        </p:nvSpPr>
        <p:spPr>
          <a:xfrm>
            <a:off x="502920" y="1188720"/>
            <a:ext cx="64004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800" spc="-1" strike="noStrike">
                <a:solidFill>
                  <a:srgbClr val="ffffff"/>
                </a:solidFill>
                <a:latin typeface="Calibri"/>
                <a:ea typeface="Calibri"/>
              </a:rPr>
              <a:t>Clustering</a:t>
            </a:r>
            <a:endParaRPr b="0" lang="en-US" sz="5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 27"/>
          <p:cNvSpPr/>
          <p:nvPr/>
        </p:nvSpPr>
        <p:spPr>
          <a:xfrm>
            <a:off x="502920" y="2011680"/>
            <a:ext cx="6400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400" spc="-1" strike="noStrike">
                <a:solidFill>
                  <a:srgbClr val="a855f7"/>
                </a:solidFill>
                <a:latin typeface="Calibri Light"/>
                <a:ea typeface="Calibri Light"/>
              </a:rPr>
              <a:t>in Data Mining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28"/>
          <p:cNvSpPr/>
          <p:nvPr/>
        </p:nvSpPr>
        <p:spPr>
          <a:xfrm>
            <a:off x="502920" y="2788920"/>
            <a:ext cx="5668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c4b5fd"/>
                </a:solidFill>
                <a:latin typeface="Calibri Light"/>
                <a:ea typeface="Calibri Light"/>
              </a:rPr>
              <a:t>Discover hidden patterns by grouping similar data points — no labels required.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4709160"/>
            <a:ext cx="9143640" cy="434160"/>
          </a:xfrm>
          <a:prstGeom prst="rect">
            <a:avLst/>
          </a:prstGeom>
          <a:solidFill>
            <a:srgbClr val="271060"/>
          </a:solidFill>
          <a:ln w="12700">
            <a:solidFill>
              <a:srgbClr val="271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709160"/>
            <a:ext cx="54360" cy="43416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 31"/>
          <p:cNvSpPr/>
          <p:nvPr/>
        </p:nvSpPr>
        <p:spPr>
          <a:xfrm>
            <a:off x="274320" y="4709160"/>
            <a:ext cx="8595000" cy="4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4b5fd"/>
                </a:solidFill>
                <a:latin typeface="Calibri"/>
              </a:rPr>
              <a:t>Unsupervised Learning  •  Pattern Recognition  •  Segmentation  •  K-Means  •  DBSCAN  •  Hierarchical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0"/>
          <p:cNvSpPr/>
          <p:nvPr/>
        </p:nvSpPr>
        <p:spPr>
          <a:xfrm>
            <a:off x="0" y="0"/>
            <a:ext cx="3108600" cy="5143320"/>
          </a:xfrm>
          <a:prstGeom prst="rect">
            <a:avLst/>
          </a:prstGeom>
          <a:solidFill>
            <a:srgbClr val="12012c"/>
          </a:solidFill>
          <a:ln w="12700">
            <a:solidFill>
              <a:srgbClr val="12012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1"/>
          <p:cNvSpPr/>
          <p:nvPr/>
        </p:nvSpPr>
        <p:spPr>
          <a:xfrm>
            <a:off x="0" y="0"/>
            <a:ext cx="72720" cy="51433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Text 2"/>
          <p:cNvSpPr/>
          <p:nvPr/>
        </p:nvSpPr>
        <p:spPr>
          <a:xfrm>
            <a:off x="201240" y="914400"/>
            <a:ext cx="27428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  <a:ea typeface="Calibri"/>
              </a:rPr>
              <a:t>What is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  <a:ea typeface="Calibri"/>
              </a:rPr>
              <a:t>Clustering?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3"/>
          <p:cNvSpPr/>
          <p:nvPr/>
        </p:nvSpPr>
        <p:spPr>
          <a:xfrm>
            <a:off x="201240" y="2514600"/>
            <a:ext cx="2651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a855f7"/>
                </a:solidFill>
                <a:latin typeface="Calibri"/>
              </a:rPr>
              <a:t>Unsupervised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a855f7"/>
                </a:solidFill>
                <a:latin typeface="Calibri"/>
              </a:rPr>
              <a:t>Learning Method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4"/>
          <p:cNvSpPr/>
          <p:nvPr/>
        </p:nvSpPr>
        <p:spPr>
          <a:xfrm>
            <a:off x="201240" y="3200400"/>
            <a:ext cx="26514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4b5fd"/>
                </a:solidFill>
                <a:latin typeface="Calibri Light"/>
                <a:ea typeface="Calibri Light"/>
              </a:rPr>
              <a:t>No labels.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4b5fd"/>
                </a:solidFill>
                <a:latin typeface="Calibri Light"/>
                <a:ea typeface="Calibri Light"/>
              </a:rPr>
              <a:t>No prior knowledge.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4b5fd"/>
                </a:solidFill>
                <a:latin typeface="Calibri Light"/>
                <a:ea typeface="Calibri Light"/>
              </a:rPr>
              <a:t>Just patterns.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5"/>
          <p:cNvSpPr/>
          <p:nvPr/>
        </p:nvSpPr>
        <p:spPr>
          <a:xfrm>
            <a:off x="457200" y="4160520"/>
            <a:ext cx="164160" cy="16416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Shape 6"/>
          <p:cNvSpPr/>
          <p:nvPr/>
        </p:nvSpPr>
        <p:spPr>
          <a:xfrm>
            <a:off x="777240" y="4023360"/>
            <a:ext cx="164160" cy="16416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Shape 7"/>
          <p:cNvSpPr/>
          <p:nvPr/>
        </p:nvSpPr>
        <p:spPr>
          <a:xfrm>
            <a:off x="640080" y="4389120"/>
            <a:ext cx="164160" cy="16416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Shape 8"/>
          <p:cNvSpPr/>
          <p:nvPr/>
        </p:nvSpPr>
        <p:spPr>
          <a:xfrm>
            <a:off x="1280160" y="4114800"/>
            <a:ext cx="164160" cy="16416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Shape 9"/>
          <p:cNvSpPr/>
          <p:nvPr/>
        </p:nvSpPr>
        <p:spPr>
          <a:xfrm>
            <a:off x="1554480" y="4297680"/>
            <a:ext cx="164160" cy="16416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10"/>
          <p:cNvSpPr/>
          <p:nvPr/>
        </p:nvSpPr>
        <p:spPr>
          <a:xfrm>
            <a:off x="1417320" y="3977640"/>
            <a:ext cx="164160" cy="16416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Shape 11"/>
          <p:cNvSpPr/>
          <p:nvPr/>
        </p:nvSpPr>
        <p:spPr>
          <a:xfrm>
            <a:off x="2103120" y="4160520"/>
            <a:ext cx="164160" cy="1641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Shape 12"/>
          <p:cNvSpPr/>
          <p:nvPr/>
        </p:nvSpPr>
        <p:spPr>
          <a:xfrm>
            <a:off x="2377440" y="4023360"/>
            <a:ext cx="164160" cy="1641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13"/>
          <p:cNvSpPr/>
          <p:nvPr/>
        </p:nvSpPr>
        <p:spPr>
          <a:xfrm>
            <a:off x="3383280" y="365760"/>
            <a:ext cx="5303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2012c"/>
                </a:solidFill>
                <a:latin typeface="Calibri"/>
                <a:ea typeface="Calibri"/>
              </a:rPr>
              <a:t>Definition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14"/>
          <p:cNvSpPr/>
          <p:nvPr/>
        </p:nvSpPr>
        <p:spPr>
          <a:xfrm>
            <a:off x="3383280" y="914400"/>
            <a:ext cx="5394600" cy="959760"/>
          </a:xfrm>
          <a:prstGeom prst="rect">
            <a:avLst/>
          </a:prstGeom>
          <a:solidFill>
            <a:srgbClr val="12012c"/>
          </a:solidFill>
          <a:ln w="19050">
            <a:solidFill>
              <a:srgbClr val="a855f7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15"/>
          <p:cNvSpPr/>
          <p:nvPr/>
        </p:nvSpPr>
        <p:spPr>
          <a:xfrm>
            <a:off x="3520440" y="987480"/>
            <a:ext cx="51202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4b5fd"/>
                </a:solidFill>
                <a:latin typeface="Calibri Light"/>
                <a:ea typeface="Calibri Light"/>
              </a:rPr>
              <a:t>"Grouping a set of objects so that objects in the same cluster are MORE SIMILAR to each other than to those in other clusters."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16"/>
          <p:cNvSpPr/>
          <p:nvPr/>
        </p:nvSpPr>
        <p:spPr>
          <a:xfrm>
            <a:off x="3383280" y="2057400"/>
            <a:ext cx="5394600" cy="804240"/>
          </a:xfrm>
          <a:prstGeom prst="rect">
            <a:avLst/>
          </a:prstGeom>
          <a:solidFill>
            <a:srgbClr val="ffffff"/>
          </a:solidFill>
          <a:ln w="15240">
            <a:solidFill>
              <a:srgbClr val="a855f7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17"/>
          <p:cNvSpPr/>
          <p:nvPr/>
        </p:nvSpPr>
        <p:spPr>
          <a:xfrm>
            <a:off x="3383280" y="2057400"/>
            <a:ext cx="54360" cy="80424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18"/>
          <p:cNvSpPr/>
          <p:nvPr/>
        </p:nvSpPr>
        <p:spPr>
          <a:xfrm>
            <a:off x="3493080" y="2112120"/>
            <a:ext cx="411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a855f7"/>
                </a:solidFill>
                <a:latin typeface="Calibri"/>
              </a:rPr>
              <a:t>◉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19"/>
          <p:cNvSpPr/>
          <p:nvPr/>
        </p:nvSpPr>
        <p:spPr>
          <a:xfrm>
            <a:off x="3950280" y="2112120"/>
            <a:ext cx="4663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012c"/>
                </a:solidFill>
                <a:latin typeface="Calibri"/>
              </a:rPr>
              <a:t>Intra-cluster similarity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20"/>
          <p:cNvSpPr/>
          <p:nvPr/>
        </p:nvSpPr>
        <p:spPr>
          <a:xfrm>
            <a:off x="3950280" y="2386440"/>
            <a:ext cx="46630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555555"/>
                </a:solidFill>
                <a:latin typeface="Calibri"/>
              </a:rPr>
              <a:t>Points within a cluster are closely packed and similar to each other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21"/>
          <p:cNvSpPr/>
          <p:nvPr/>
        </p:nvSpPr>
        <p:spPr>
          <a:xfrm>
            <a:off x="3383280" y="3017520"/>
            <a:ext cx="5394600" cy="804240"/>
          </a:xfrm>
          <a:prstGeom prst="rect">
            <a:avLst/>
          </a:prstGeom>
          <a:solidFill>
            <a:srgbClr val="ffffff"/>
          </a:solidFill>
          <a:ln w="15240">
            <a:solidFill>
              <a:srgbClr val="ec4899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22"/>
          <p:cNvSpPr/>
          <p:nvPr/>
        </p:nvSpPr>
        <p:spPr>
          <a:xfrm>
            <a:off x="3383280" y="3017520"/>
            <a:ext cx="54360" cy="80424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 23"/>
          <p:cNvSpPr/>
          <p:nvPr/>
        </p:nvSpPr>
        <p:spPr>
          <a:xfrm>
            <a:off x="3493080" y="3072240"/>
            <a:ext cx="411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c4899"/>
                </a:solidFill>
                <a:latin typeface="Calibri"/>
              </a:rPr>
              <a:t>◎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 24"/>
          <p:cNvSpPr/>
          <p:nvPr/>
        </p:nvSpPr>
        <p:spPr>
          <a:xfrm>
            <a:off x="3950280" y="3072240"/>
            <a:ext cx="4663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012c"/>
                </a:solidFill>
                <a:latin typeface="Calibri"/>
              </a:rPr>
              <a:t>Inter-cluster difference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25"/>
          <p:cNvSpPr/>
          <p:nvPr/>
        </p:nvSpPr>
        <p:spPr>
          <a:xfrm>
            <a:off x="3950280" y="3346560"/>
            <a:ext cx="46630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555555"/>
                </a:solidFill>
                <a:latin typeface="Calibri"/>
              </a:rPr>
              <a:t>Points in different clusters are as dissimilar as possible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26"/>
          <p:cNvSpPr/>
          <p:nvPr/>
        </p:nvSpPr>
        <p:spPr>
          <a:xfrm>
            <a:off x="3383280" y="3977640"/>
            <a:ext cx="5394600" cy="804240"/>
          </a:xfrm>
          <a:prstGeom prst="rect">
            <a:avLst/>
          </a:prstGeom>
          <a:solidFill>
            <a:srgbClr val="ffffff"/>
          </a:solidFill>
          <a:ln w="15240">
            <a:solidFill>
              <a:srgbClr val="22d3ee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27"/>
          <p:cNvSpPr/>
          <p:nvPr/>
        </p:nvSpPr>
        <p:spPr>
          <a:xfrm>
            <a:off x="3383280" y="3977640"/>
            <a:ext cx="54360" cy="804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 28"/>
          <p:cNvSpPr/>
          <p:nvPr/>
        </p:nvSpPr>
        <p:spPr>
          <a:xfrm>
            <a:off x="3493080" y="4032360"/>
            <a:ext cx="411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22d3ee"/>
                </a:solidFill>
                <a:latin typeface="Calibri"/>
              </a:rPr>
              <a:t>⊕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29"/>
          <p:cNvSpPr/>
          <p:nvPr/>
        </p:nvSpPr>
        <p:spPr>
          <a:xfrm>
            <a:off x="3950280" y="4032360"/>
            <a:ext cx="4663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012c"/>
                </a:solidFill>
                <a:latin typeface="Calibri"/>
              </a:rPr>
              <a:t>Centroid representation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30"/>
          <p:cNvSpPr/>
          <p:nvPr/>
        </p:nvSpPr>
        <p:spPr>
          <a:xfrm>
            <a:off x="3950280" y="4306680"/>
            <a:ext cx="46630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555555"/>
                </a:solidFill>
                <a:latin typeface="Calibri"/>
              </a:rPr>
              <a:t>Each cluster is summarized by a center point (centroid)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201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 1"/>
          <p:cNvSpPr/>
          <p:nvPr/>
        </p:nvSpPr>
        <p:spPr>
          <a:xfrm>
            <a:off x="457200" y="164520"/>
            <a:ext cx="82292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  <a:ea typeface="Calibri"/>
              </a:rPr>
              <a:t>Anatomy of a Cluster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 2"/>
          <p:cNvSpPr/>
          <p:nvPr/>
        </p:nvSpPr>
        <p:spPr>
          <a:xfrm>
            <a:off x="457200" y="685800"/>
            <a:ext cx="8229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4b5fd"/>
                </a:solidFill>
                <a:latin typeface="Calibri"/>
              </a:rPr>
              <a:t>Understanding what makes a good cluster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Shape 3"/>
          <p:cNvSpPr/>
          <p:nvPr/>
        </p:nvSpPr>
        <p:spPr>
          <a:xfrm>
            <a:off x="1645920" y="2194560"/>
            <a:ext cx="200880" cy="20088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Shape 4"/>
          <p:cNvSpPr/>
          <p:nvPr/>
        </p:nvSpPr>
        <p:spPr>
          <a:xfrm>
            <a:off x="2148840" y="2057400"/>
            <a:ext cx="200880" cy="20088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Shape 5"/>
          <p:cNvSpPr/>
          <p:nvPr/>
        </p:nvSpPr>
        <p:spPr>
          <a:xfrm>
            <a:off x="1874520" y="2651760"/>
            <a:ext cx="200880" cy="20088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Shape 6"/>
          <p:cNvSpPr/>
          <p:nvPr/>
        </p:nvSpPr>
        <p:spPr>
          <a:xfrm>
            <a:off x="1188720" y="2377440"/>
            <a:ext cx="200880" cy="20088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Shape 7"/>
          <p:cNvSpPr/>
          <p:nvPr/>
        </p:nvSpPr>
        <p:spPr>
          <a:xfrm>
            <a:off x="1371600" y="1783080"/>
            <a:ext cx="200880" cy="20088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Shape 8"/>
          <p:cNvSpPr/>
          <p:nvPr/>
        </p:nvSpPr>
        <p:spPr>
          <a:xfrm>
            <a:off x="2103120" y="2606040"/>
            <a:ext cx="200880" cy="20088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Shape 9"/>
          <p:cNvSpPr/>
          <p:nvPr/>
        </p:nvSpPr>
        <p:spPr>
          <a:xfrm>
            <a:off x="1005840" y="1554480"/>
            <a:ext cx="1645560" cy="1645560"/>
          </a:xfrm>
          <a:prstGeom prst="ellipse">
            <a:avLst/>
          </a:prstGeom>
          <a:solidFill>
            <a:srgbClr val="a855f7">
              <a:alpha val="15000"/>
            </a:srgbClr>
          </a:solidFill>
          <a:ln w="19050">
            <a:solidFill>
              <a:srgbClr val="a855f7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 10"/>
          <p:cNvSpPr/>
          <p:nvPr/>
        </p:nvSpPr>
        <p:spPr>
          <a:xfrm>
            <a:off x="960120" y="1371600"/>
            <a:ext cx="1645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a855f7"/>
                </a:solidFill>
                <a:latin typeface="Calibri"/>
              </a:rPr>
              <a:t>Cluster A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Shape 11"/>
          <p:cNvSpPr/>
          <p:nvPr/>
        </p:nvSpPr>
        <p:spPr>
          <a:xfrm>
            <a:off x="3108960" y="3108960"/>
            <a:ext cx="200880" cy="20088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Shape 12"/>
          <p:cNvSpPr/>
          <p:nvPr/>
        </p:nvSpPr>
        <p:spPr>
          <a:xfrm>
            <a:off x="3547800" y="3291840"/>
            <a:ext cx="200880" cy="20088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Shape 13"/>
          <p:cNvSpPr/>
          <p:nvPr/>
        </p:nvSpPr>
        <p:spPr>
          <a:xfrm>
            <a:off x="2743200" y="3383280"/>
            <a:ext cx="200880" cy="20088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Shape 14"/>
          <p:cNvSpPr/>
          <p:nvPr/>
        </p:nvSpPr>
        <p:spPr>
          <a:xfrm>
            <a:off x="3200400" y="2651760"/>
            <a:ext cx="200880" cy="20088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Shape 15"/>
          <p:cNvSpPr/>
          <p:nvPr/>
        </p:nvSpPr>
        <p:spPr>
          <a:xfrm>
            <a:off x="2788920" y="2880360"/>
            <a:ext cx="200880" cy="20088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Shape 16"/>
          <p:cNvSpPr/>
          <p:nvPr/>
        </p:nvSpPr>
        <p:spPr>
          <a:xfrm>
            <a:off x="2697480" y="2743200"/>
            <a:ext cx="1371240" cy="1371240"/>
          </a:xfrm>
          <a:prstGeom prst="ellipse">
            <a:avLst/>
          </a:prstGeom>
          <a:solidFill>
            <a:srgbClr val="ec4899">
              <a:alpha val="15000"/>
            </a:srgbClr>
          </a:solidFill>
          <a:ln w="19050">
            <a:solidFill>
              <a:srgbClr val="ec489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17"/>
          <p:cNvSpPr/>
          <p:nvPr/>
        </p:nvSpPr>
        <p:spPr>
          <a:xfrm>
            <a:off x="2697480" y="2560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c4899"/>
                </a:solidFill>
                <a:latin typeface="Calibri"/>
              </a:rPr>
              <a:t>Cluster B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Shape 18"/>
          <p:cNvSpPr/>
          <p:nvPr/>
        </p:nvSpPr>
        <p:spPr>
          <a:xfrm>
            <a:off x="1280160" y="3566160"/>
            <a:ext cx="200880" cy="20088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19"/>
          <p:cNvSpPr/>
          <p:nvPr/>
        </p:nvSpPr>
        <p:spPr>
          <a:xfrm>
            <a:off x="1645920" y="3291840"/>
            <a:ext cx="200880" cy="20088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20"/>
          <p:cNvSpPr/>
          <p:nvPr/>
        </p:nvSpPr>
        <p:spPr>
          <a:xfrm>
            <a:off x="1554480" y="3931920"/>
            <a:ext cx="200880" cy="20088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Shape 21"/>
          <p:cNvSpPr/>
          <p:nvPr/>
        </p:nvSpPr>
        <p:spPr>
          <a:xfrm>
            <a:off x="896040" y="3657600"/>
            <a:ext cx="200880" cy="20088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22"/>
          <p:cNvSpPr/>
          <p:nvPr/>
        </p:nvSpPr>
        <p:spPr>
          <a:xfrm>
            <a:off x="1097280" y="3182040"/>
            <a:ext cx="200880" cy="20088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23"/>
          <p:cNvSpPr/>
          <p:nvPr/>
        </p:nvSpPr>
        <p:spPr>
          <a:xfrm>
            <a:off x="868680" y="3246120"/>
            <a:ext cx="1279800" cy="1279800"/>
          </a:xfrm>
          <a:prstGeom prst="ellipse">
            <a:avLst/>
          </a:prstGeom>
          <a:solidFill>
            <a:srgbClr val="22d3ee">
              <a:alpha val="15000"/>
            </a:srgbClr>
          </a:solidFill>
          <a:ln w="19050">
            <a:solidFill>
              <a:srgbClr val="22d3ee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24"/>
          <p:cNvSpPr/>
          <p:nvPr/>
        </p:nvSpPr>
        <p:spPr>
          <a:xfrm>
            <a:off x="868680" y="306324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2d3ee"/>
                </a:solidFill>
                <a:latin typeface="Calibri"/>
              </a:rPr>
              <a:t>Cluster C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Shape 25"/>
          <p:cNvSpPr/>
          <p:nvPr/>
        </p:nvSpPr>
        <p:spPr>
          <a:xfrm>
            <a:off x="4389120" y="1005840"/>
            <a:ext cx="4388760" cy="658080"/>
          </a:xfrm>
          <a:prstGeom prst="rect">
            <a:avLst/>
          </a:prstGeom>
          <a:solidFill>
            <a:srgbClr val="271060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Shape 26"/>
          <p:cNvSpPr/>
          <p:nvPr/>
        </p:nvSpPr>
        <p:spPr>
          <a:xfrm>
            <a:off x="4462200" y="1152000"/>
            <a:ext cx="365400" cy="36540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27"/>
          <p:cNvSpPr/>
          <p:nvPr/>
        </p:nvSpPr>
        <p:spPr>
          <a:xfrm>
            <a:off x="4462200" y="11520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2012c"/>
                </a:solidFill>
                <a:latin typeface="Calibri"/>
              </a:rPr>
              <a:t>●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28"/>
          <p:cNvSpPr/>
          <p:nvPr/>
        </p:nvSpPr>
        <p:spPr>
          <a:xfrm>
            <a:off x="4919400" y="1060560"/>
            <a:ext cx="3748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Similarity within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29"/>
          <p:cNvSpPr/>
          <p:nvPr/>
        </p:nvSpPr>
        <p:spPr>
          <a:xfrm>
            <a:off x="4919400" y="1316880"/>
            <a:ext cx="3748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4b5fd"/>
                </a:solidFill>
                <a:latin typeface="Calibri"/>
              </a:rPr>
              <a:t>Data points share pre-defined features or criteria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Shape 30"/>
          <p:cNvSpPr/>
          <p:nvPr/>
        </p:nvSpPr>
        <p:spPr>
          <a:xfrm>
            <a:off x="4389120" y="1810440"/>
            <a:ext cx="4388760" cy="658080"/>
          </a:xfrm>
          <a:prstGeom prst="rect">
            <a:avLst/>
          </a:prstGeom>
          <a:solidFill>
            <a:srgbClr val="271060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Shape 31"/>
          <p:cNvSpPr/>
          <p:nvPr/>
        </p:nvSpPr>
        <p:spPr>
          <a:xfrm>
            <a:off x="4462200" y="1956960"/>
            <a:ext cx="365400" cy="36540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32"/>
          <p:cNvSpPr/>
          <p:nvPr/>
        </p:nvSpPr>
        <p:spPr>
          <a:xfrm>
            <a:off x="4462200" y="19569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2012c"/>
                </a:solidFill>
                <a:latin typeface="Calibri"/>
              </a:rPr>
              <a:t>●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 33"/>
          <p:cNvSpPr/>
          <p:nvPr/>
        </p:nvSpPr>
        <p:spPr>
          <a:xfrm>
            <a:off x="4919400" y="1865520"/>
            <a:ext cx="3748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Distinct boundaries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34"/>
          <p:cNvSpPr/>
          <p:nvPr/>
        </p:nvSpPr>
        <p:spPr>
          <a:xfrm>
            <a:off x="4919400" y="2121480"/>
            <a:ext cx="3748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4b5fd"/>
                </a:solidFill>
                <a:latin typeface="Calibri"/>
              </a:rPr>
              <a:t>Points in one cluster are different from other clusters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Shape 35"/>
          <p:cNvSpPr/>
          <p:nvPr/>
        </p:nvSpPr>
        <p:spPr>
          <a:xfrm>
            <a:off x="4389120" y="2615040"/>
            <a:ext cx="4388760" cy="658080"/>
          </a:xfrm>
          <a:prstGeom prst="rect">
            <a:avLst/>
          </a:prstGeom>
          <a:solidFill>
            <a:srgbClr val="271060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Shape 36"/>
          <p:cNvSpPr/>
          <p:nvPr/>
        </p:nvSpPr>
        <p:spPr>
          <a:xfrm>
            <a:off x="4462200" y="2761560"/>
            <a:ext cx="365400" cy="36540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37"/>
          <p:cNvSpPr/>
          <p:nvPr/>
        </p:nvSpPr>
        <p:spPr>
          <a:xfrm>
            <a:off x="4462200" y="27615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2012c"/>
                </a:solidFill>
                <a:latin typeface="Calibri"/>
              </a:rPr>
              <a:t>●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38"/>
          <p:cNvSpPr/>
          <p:nvPr/>
        </p:nvSpPr>
        <p:spPr>
          <a:xfrm>
            <a:off x="4919400" y="2670120"/>
            <a:ext cx="3748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Compact packing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39"/>
          <p:cNvSpPr/>
          <p:nvPr/>
        </p:nvSpPr>
        <p:spPr>
          <a:xfrm>
            <a:off x="4919400" y="2926080"/>
            <a:ext cx="3748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4b5fd"/>
                </a:solidFill>
                <a:latin typeface="Calibri"/>
              </a:rPr>
              <a:t>Data points within a cluster are closely packed together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Shape 40"/>
          <p:cNvSpPr/>
          <p:nvPr/>
        </p:nvSpPr>
        <p:spPr>
          <a:xfrm>
            <a:off x="4389120" y="3420000"/>
            <a:ext cx="4388760" cy="658080"/>
          </a:xfrm>
          <a:prstGeom prst="rect">
            <a:avLst/>
          </a:prstGeom>
          <a:solidFill>
            <a:srgbClr val="271060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Shape 41"/>
          <p:cNvSpPr/>
          <p:nvPr/>
        </p:nvSpPr>
        <p:spPr>
          <a:xfrm>
            <a:off x="4462200" y="3566160"/>
            <a:ext cx="365400" cy="36540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42"/>
          <p:cNvSpPr/>
          <p:nvPr/>
        </p:nvSpPr>
        <p:spPr>
          <a:xfrm>
            <a:off x="4462200" y="35661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2012c"/>
                </a:solidFill>
                <a:latin typeface="Calibri"/>
              </a:rPr>
              <a:t>●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43"/>
          <p:cNvSpPr/>
          <p:nvPr/>
        </p:nvSpPr>
        <p:spPr>
          <a:xfrm>
            <a:off x="4919400" y="3474720"/>
            <a:ext cx="3748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Centroid summary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Text 44"/>
          <p:cNvSpPr/>
          <p:nvPr/>
        </p:nvSpPr>
        <p:spPr>
          <a:xfrm>
            <a:off x="4919400" y="3730680"/>
            <a:ext cx="3748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4b5fd"/>
                </a:solidFill>
                <a:latin typeface="Calibri"/>
              </a:rPr>
              <a:t>A center point summarizes all cluster properties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Shape 45"/>
          <p:cNvSpPr/>
          <p:nvPr/>
        </p:nvSpPr>
        <p:spPr>
          <a:xfrm>
            <a:off x="4389120" y="4224600"/>
            <a:ext cx="4388760" cy="658080"/>
          </a:xfrm>
          <a:prstGeom prst="rect">
            <a:avLst/>
          </a:prstGeom>
          <a:solidFill>
            <a:srgbClr val="271060"/>
          </a:solidFill>
          <a:ln w="1270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Shape 46"/>
          <p:cNvSpPr/>
          <p:nvPr/>
        </p:nvSpPr>
        <p:spPr>
          <a:xfrm>
            <a:off x="4462200" y="4370760"/>
            <a:ext cx="365400" cy="365400"/>
          </a:xfrm>
          <a:prstGeom prst="ellipse">
            <a:avLst/>
          </a:prstGeom>
          <a:solidFill>
            <a:srgbClr val="fb923c"/>
          </a:solidFill>
          <a:ln w="1270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47"/>
          <p:cNvSpPr/>
          <p:nvPr/>
        </p:nvSpPr>
        <p:spPr>
          <a:xfrm>
            <a:off x="4462200" y="43707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2012c"/>
                </a:solidFill>
                <a:latin typeface="Calibri"/>
              </a:rPr>
              <a:t>●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Text 48"/>
          <p:cNvSpPr/>
          <p:nvPr/>
        </p:nvSpPr>
        <p:spPr>
          <a:xfrm>
            <a:off x="4919400" y="4279320"/>
            <a:ext cx="3748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Flexible size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 49"/>
          <p:cNvSpPr/>
          <p:nvPr/>
        </p:nvSpPr>
        <p:spPr>
          <a:xfrm>
            <a:off x="4919400" y="4535280"/>
            <a:ext cx="3748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4b5fd"/>
                </a:solidFill>
                <a:latin typeface="Calibri"/>
              </a:rPr>
              <a:t>Clusters can vary in size — neither too small nor too large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0"/>
          <p:cNvSpPr/>
          <p:nvPr/>
        </p:nvSpPr>
        <p:spPr>
          <a:xfrm>
            <a:off x="0" y="0"/>
            <a:ext cx="9143640" cy="566640"/>
          </a:xfrm>
          <a:prstGeom prst="rect">
            <a:avLst/>
          </a:prstGeom>
          <a:solidFill>
            <a:srgbClr val="12012c"/>
          </a:solidFill>
          <a:ln w="12700">
            <a:solidFill>
              <a:srgbClr val="12012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Shape 1"/>
          <p:cNvSpPr/>
          <p:nvPr/>
        </p:nvSpPr>
        <p:spPr>
          <a:xfrm>
            <a:off x="0" y="567000"/>
            <a:ext cx="9143640" cy="5004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Text 2"/>
          <p:cNvSpPr/>
          <p:nvPr/>
        </p:nvSpPr>
        <p:spPr>
          <a:xfrm>
            <a:off x="457200" y="730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Clustering Methods in Data Mining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3"/>
          <p:cNvSpPr/>
          <p:nvPr/>
        </p:nvSpPr>
        <p:spPr>
          <a:xfrm>
            <a:off x="255960" y="822960"/>
            <a:ext cx="1590840" cy="406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a855f7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255960" y="822960"/>
            <a:ext cx="1590840" cy="50256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Shape 5"/>
          <p:cNvSpPr/>
          <p:nvPr/>
        </p:nvSpPr>
        <p:spPr>
          <a:xfrm>
            <a:off x="457200" y="1389960"/>
            <a:ext cx="1188360" cy="273960"/>
          </a:xfrm>
          <a:prstGeom prst="roundRect">
            <a:avLst>
              <a:gd name="adj" fmla="val 26667"/>
            </a:avLst>
          </a:prstGeom>
          <a:solidFill>
            <a:srgbClr val="a855f7">
              <a:alpha val="20000"/>
            </a:srgbClr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6"/>
          <p:cNvSpPr/>
          <p:nvPr/>
        </p:nvSpPr>
        <p:spPr>
          <a:xfrm>
            <a:off x="457200" y="1389960"/>
            <a:ext cx="118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a855f7"/>
                </a:solidFill>
                <a:latin typeface="Calibri"/>
              </a:rPr>
              <a:t>Partitioning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 7"/>
          <p:cNvSpPr/>
          <p:nvPr/>
        </p:nvSpPr>
        <p:spPr>
          <a:xfrm>
            <a:off x="255960" y="877680"/>
            <a:ext cx="1590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12012c"/>
                </a:solidFill>
                <a:latin typeface="Calibri"/>
              </a:rPr>
              <a:t>⊛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 8"/>
          <p:cNvSpPr/>
          <p:nvPr/>
        </p:nvSpPr>
        <p:spPr>
          <a:xfrm>
            <a:off x="329040" y="1783080"/>
            <a:ext cx="1462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2012c"/>
                </a:solidFill>
                <a:latin typeface="Calibri"/>
              </a:rPr>
              <a:t>K-Means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9"/>
          <p:cNvSpPr/>
          <p:nvPr/>
        </p:nvSpPr>
        <p:spPr>
          <a:xfrm>
            <a:off x="347400" y="2267640"/>
            <a:ext cx="140796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44444"/>
                </a:solidFill>
                <a:latin typeface="Calibri"/>
              </a:rPr>
              <a:t>Partitions data into K clusters by iteratively moving each cluster's centroid to the mean of its assigned points.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10"/>
          <p:cNvSpPr/>
          <p:nvPr/>
        </p:nvSpPr>
        <p:spPr>
          <a:xfrm>
            <a:off x="329040" y="4224600"/>
            <a:ext cx="1444320" cy="511560"/>
          </a:xfrm>
          <a:prstGeom prst="rect">
            <a:avLst/>
          </a:prstGeom>
          <a:solidFill>
            <a:srgbClr val="a855f7">
              <a:alpha val="12000"/>
            </a:srgbClr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 11"/>
          <p:cNvSpPr/>
          <p:nvPr/>
        </p:nvSpPr>
        <p:spPr>
          <a:xfrm>
            <a:off x="329040" y="4224600"/>
            <a:ext cx="14443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a855f7"/>
                </a:solidFill>
                <a:latin typeface="Calibri"/>
              </a:rPr>
              <a:t>Requires: Pre-defined K value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2"/>
          <p:cNvSpPr/>
          <p:nvPr/>
        </p:nvSpPr>
        <p:spPr>
          <a:xfrm>
            <a:off x="1993320" y="822960"/>
            <a:ext cx="1590840" cy="406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ec4899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3"/>
          <p:cNvSpPr/>
          <p:nvPr/>
        </p:nvSpPr>
        <p:spPr>
          <a:xfrm>
            <a:off x="1993320" y="822960"/>
            <a:ext cx="1590840" cy="5025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Shape 14"/>
          <p:cNvSpPr/>
          <p:nvPr/>
        </p:nvSpPr>
        <p:spPr>
          <a:xfrm>
            <a:off x="2194560" y="1389960"/>
            <a:ext cx="1188360" cy="273960"/>
          </a:xfrm>
          <a:prstGeom prst="roundRect">
            <a:avLst>
              <a:gd name="adj" fmla="val 26667"/>
            </a:avLst>
          </a:prstGeom>
          <a:solidFill>
            <a:srgbClr val="ec4899">
              <a:alpha val="2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15"/>
          <p:cNvSpPr/>
          <p:nvPr/>
        </p:nvSpPr>
        <p:spPr>
          <a:xfrm>
            <a:off x="2194560" y="1389960"/>
            <a:ext cx="118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ec4899"/>
                </a:solidFill>
                <a:latin typeface="Calibri"/>
              </a:rPr>
              <a:t>Tree-based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16"/>
          <p:cNvSpPr/>
          <p:nvPr/>
        </p:nvSpPr>
        <p:spPr>
          <a:xfrm>
            <a:off x="1993320" y="877680"/>
            <a:ext cx="1590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12012c"/>
                </a:solidFill>
                <a:latin typeface="Calibri"/>
              </a:rPr>
              <a:t>⊞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17"/>
          <p:cNvSpPr/>
          <p:nvPr/>
        </p:nvSpPr>
        <p:spPr>
          <a:xfrm>
            <a:off x="2066400" y="1783080"/>
            <a:ext cx="1462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2012c"/>
                </a:solidFill>
                <a:latin typeface="Calibri"/>
              </a:rPr>
              <a:t>Hierarchical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 18"/>
          <p:cNvSpPr/>
          <p:nvPr/>
        </p:nvSpPr>
        <p:spPr>
          <a:xfrm>
            <a:off x="2084760" y="2267640"/>
            <a:ext cx="140796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44444"/>
                </a:solidFill>
                <a:latin typeface="Calibri"/>
              </a:rPr>
              <a:t>Builds a tree-like hierarchy — merging smaller clusters upward (agglomerative) or splitting large clusters downward (divisive).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19"/>
          <p:cNvSpPr/>
          <p:nvPr/>
        </p:nvSpPr>
        <p:spPr>
          <a:xfrm>
            <a:off x="2066400" y="4224600"/>
            <a:ext cx="1444320" cy="511560"/>
          </a:xfrm>
          <a:prstGeom prst="rect">
            <a:avLst/>
          </a:prstGeom>
          <a:solidFill>
            <a:srgbClr val="ec4899">
              <a:alpha val="12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 20"/>
          <p:cNvSpPr/>
          <p:nvPr/>
        </p:nvSpPr>
        <p:spPr>
          <a:xfrm>
            <a:off x="2066400" y="4224600"/>
            <a:ext cx="14443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c4899"/>
                </a:solidFill>
                <a:latin typeface="Calibri"/>
              </a:rPr>
              <a:t>No pre-defined K needed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21"/>
          <p:cNvSpPr/>
          <p:nvPr/>
        </p:nvSpPr>
        <p:spPr>
          <a:xfrm>
            <a:off x="3730680" y="822960"/>
            <a:ext cx="1590840" cy="406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22d3ee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2"/>
          <p:cNvSpPr/>
          <p:nvPr/>
        </p:nvSpPr>
        <p:spPr>
          <a:xfrm>
            <a:off x="3730680" y="822960"/>
            <a:ext cx="1590840" cy="50256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3"/>
          <p:cNvSpPr/>
          <p:nvPr/>
        </p:nvSpPr>
        <p:spPr>
          <a:xfrm>
            <a:off x="3931920" y="1389960"/>
            <a:ext cx="1188360" cy="273960"/>
          </a:xfrm>
          <a:prstGeom prst="roundRect">
            <a:avLst>
              <a:gd name="adj" fmla="val 26667"/>
            </a:avLst>
          </a:prstGeom>
          <a:solidFill>
            <a:srgbClr val="22d3ee">
              <a:alpha val="20000"/>
            </a:srgbClr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24"/>
          <p:cNvSpPr/>
          <p:nvPr/>
        </p:nvSpPr>
        <p:spPr>
          <a:xfrm>
            <a:off x="3931920" y="1389960"/>
            <a:ext cx="118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2d3ee"/>
                </a:solidFill>
                <a:latin typeface="Calibri"/>
              </a:rPr>
              <a:t>Density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25"/>
          <p:cNvSpPr/>
          <p:nvPr/>
        </p:nvSpPr>
        <p:spPr>
          <a:xfrm>
            <a:off x="3730680" y="877680"/>
            <a:ext cx="1590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12012c"/>
                </a:solidFill>
                <a:latin typeface="Calibri"/>
              </a:rPr>
              <a:t>⊡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26"/>
          <p:cNvSpPr/>
          <p:nvPr/>
        </p:nvSpPr>
        <p:spPr>
          <a:xfrm>
            <a:off x="3803760" y="1783080"/>
            <a:ext cx="1462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2012c"/>
                </a:solidFill>
                <a:latin typeface="Calibri"/>
              </a:rPr>
              <a:t>Density-Based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2012c"/>
                </a:solidFill>
                <a:latin typeface="Calibri"/>
              </a:rPr>
              <a:t>(DBSCAN)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27"/>
          <p:cNvSpPr/>
          <p:nvPr/>
        </p:nvSpPr>
        <p:spPr>
          <a:xfrm>
            <a:off x="3822120" y="2267640"/>
            <a:ext cx="140796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44444"/>
                </a:solidFill>
                <a:latin typeface="Calibri"/>
              </a:rPr>
              <a:t>Identifies clusters as dense regions separated by low-density areas. Treats points in sparse regions as noise/outliers.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8"/>
          <p:cNvSpPr/>
          <p:nvPr/>
        </p:nvSpPr>
        <p:spPr>
          <a:xfrm>
            <a:off x="3803760" y="4224600"/>
            <a:ext cx="1444320" cy="511560"/>
          </a:xfrm>
          <a:prstGeom prst="rect">
            <a:avLst/>
          </a:prstGeom>
          <a:solidFill>
            <a:srgbClr val="22d3ee">
              <a:alpha val="12000"/>
            </a:srgbClr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29"/>
          <p:cNvSpPr/>
          <p:nvPr/>
        </p:nvSpPr>
        <p:spPr>
          <a:xfrm>
            <a:off x="3803760" y="4224600"/>
            <a:ext cx="14443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22d3ee"/>
                </a:solidFill>
                <a:latin typeface="Calibri"/>
              </a:rPr>
              <a:t>Handles outliers naturally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30"/>
          <p:cNvSpPr/>
          <p:nvPr/>
        </p:nvSpPr>
        <p:spPr>
          <a:xfrm>
            <a:off x="5468040" y="822960"/>
            <a:ext cx="1590840" cy="406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4d399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31"/>
          <p:cNvSpPr/>
          <p:nvPr/>
        </p:nvSpPr>
        <p:spPr>
          <a:xfrm>
            <a:off x="5468040" y="822960"/>
            <a:ext cx="1590840" cy="5025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32"/>
          <p:cNvSpPr/>
          <p:nvPr/>
        </p:nvSpPr>
        <p:spPr>
          <a:xfrm>
            <a:off x="5669280" y="1389960"/>
            <a:ext cx="1188360" cy="273960"/>
          </a:xfrm>
          <a:prstGeom prst="roundRect">
            <a:avLst>
              <a:gd name="adj" fmla="val 26667"/>
            </a:avLst>
          </a:prstGeom>
          <a:solidFill>
            <a:srgbClr val="34d399">
              <a:alpha val="20000"/>
            </a:srgbClr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 33"/>
          <p:cNvSpPr/>
          <p:nvPr/>
        </p:nvSpPr>
        <p:spPr>
          <a:xfrm>
            <a:off x="5669280" y="1389960"/>
            <a:ext cx="118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34d399"/>
                </a:solidFill>
                <a:latin typeface="Calibri"/>
              </a:rPr>
              <a:t>Statistical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34"/>
          <p:cNvSpPr/>
          <p:nvPr/>
        </p:nvSpPr>
        <p:spPr>
          <a:xfrm>
            <a:off x="5468040" y="877680"/>
            <a:ext cx="1590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12012c"/>
                </a:solidFill>
                <a:latin typeface="Calibri"/>
              </a:rPr>
              <a:t>⊗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 35"/>
          <p:cNvSpPr/>
          <p:nvPr/>
        </p:nvSpPr>
        <p:spPr>
          <a:xfrm>
            <a:off x="5541120" y="1783080"/>
            <a:ext cx="1462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2012c"/>
                </a:solidFill>
                <a:latin typeface="Calibri"/>
              </a:rPr>
              <a:t>Model-Based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36"/>
          <p:cNvSpPr/>
          <p:nvPr/>
        </p:nvSpPr>
        <p:spPr>
          <a:xfrm>
            <a:off x="5559480" y="2267640"/>
            <a:ext cx="140796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44444"/>
                </a:solidFill>
                <a:latin typeface="Calibri"/>
              </a:rPr>
              <a:t>Assumes data follows a probabilistic model (e.g. Gaussian mixture). Assigns points to clusters by likelihood under the model.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37"/>
          <p:cNvSpPr/>
          <p:nvPr/>
        </p:nvSpPr>
        <p:spPr>
          <a:xfrm>
            <a:off x="5541120" y="4224600"/>
            <a:ext cx="1444320" cy="511560"/>
          </a:xfrm>
          <a:prstGeom prst="rect">
            <a:avLst/>
          </a:prstGeom>
          <a:solidFill>
            <a:srgbClr val="34d399">
              <a:alpha val="12000"/>
            </a:srgbClr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38"/>
          <p:cNvSpPr/>
          <p:nvPr/>
        </p:nvSpPr>
        <p:spPr>
          <a:xfrm>
            <a:off x="5541120" y="4224600"/>
            <a:ext cx="14443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34d399"/>
                </a:solidFill>
                <a:latin typeface="Calibri"/>
              </a:rPr>
              <a:t>Probabilistic membership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39"/>
          <p:cNvSpPr/>
          <p:nvPr/>
        </p:nvSpPr>
        <p:spPr>
          <a:xfrm>
            <a:off x="7205400" y="822960"/>
            <a:ext cx="1590840" cy="406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fb923c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40"/>
          <p:cNvSpPr/>
          <p:nvPr/>
        </p:nvSpPr>
        <p:spPr>
          <a:xfrm>
            <a:off x="7205400" y="822960"/>
            <a:ext cx="1590840" cy="50256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hape 41"/>
          <p:cNvSpPr/>
          <p:nvPr/>
        </p:nvSpPr>
        <p:spPr>
          <a:xfrm>
            <a:off x="7406640" y="1389960"/>
            <a:ext cx="1188360" cy="273960"/>
          </a:xfrm>
          <a:prstGeom prst="roundRect">
            <a:avLst>
              <a:gd name="adj" fmla="val 26667"/>
            </a:avLst>
          </a:prstGeom>
          <a:solidFill>
            <a:srgbClr val="fb923c">
              <a:alpha val="20000"/>
            </a:srgbClr>
          </a:solidFill>
          <a:ln w="1270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42"/>
          <p:cNvSpPr/>
          <p:nvPr/>
        </p:nvSpPr>
        <p:spPr>
          <a:xfrm>
            <a:off x="7406640" y="1389960"/>
            <a:ext cx="118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b923c"/>
                </a:solidFill>
                <a:latin typeface="Calibri"/>
              </a:rPr>
              <a:t>Soft-assign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43"/>
          <p:cNvSpPr/>
          <p:nvPr/>
        </p:nvSpPr>
        <p:spPr>
          <a:xfrm>
            <a:off x="7205400" y="877680"/>
            <a:ext cx="1590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12012c"/>
                </a:solidFill>
                <a:latin typeface="Calibri"/>
              </a:rPr>
              <a:t>⊘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44"/>
          <p:cNvSpPr/>
          <p:nvPr/>
        </p:nvSpPr>
        <p:spPr>
          <a:xfrm>
            <a:off x="7278480" y="1783080"/>
            <a:ext cx="1462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2012c"/>
                </a:solidFill>
                <a:latin typeface="Calibri"/>
              </a:rPr>
              <a:t>Fuzzy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2012c"/>
                </a:solidFill>
                <a:latin typeface="Calibri"/>
              </a:rPr>
              <a:t>Clustering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45"/>
          <p:cNvSpPr/>
          <p:nvPr/>
        </p:nvSpPr>
        <p:spPr>
          <a:xfrm>
            <a:off x="7296840" y="2267640"/>
            <a:ext cx="140796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44444"/>
                </a:solidFill>
                <a:latin typeface="Calibri"/>
              </a:rPr>
              <a:t>Allows each data point to belong to multiple clusters with different degrees of membership, unlike hard assignments.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46"/>
          <p:cNvSpPr/>
          <p:nvPr/>
        </p:nvSpPr>
        <p:spPr>
          <a:xfrm>
            <a:off x="7278480" y="4224600"/>
            <a:ext cx="1444320" cy="511560"/>
          </a:xfrm>
          <a:prstGeom prst="rect">
            <a:avLst/>
          </a:prstGeom>
          <a:solidFill>
            <a:srgbClr val="fb923c">
              <a:alpha val="12000"/>
            </a:srgbClr>
          </a:solidFill>
          <a:ln w="1270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47"/>
          <p:cNvSpPr/>
          <p:nvPr/>
        </p:nvSpPr>
        <p:spPr>
          <a:xfrm>
            <a:off x="7278480" y="4224600"/>
            <a:ext cx="14443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b923c"/>
                </a:solidFill>
                <a:latin typeface="Calibri"/>
              </a:rPr>
              <a:t>Soft membership scores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201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1"/>
          <p:cNvSpPr/>
          <p:nvPr/>
        </p:nvSpPr>
        <p:spPr>
          <a:xfrm>
            <a:off x="457200" y="137160"/>
            <a:ext cx="82292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  <a:ea typeface="Calibri"/>
              </a:rPr>
              <a:t>Real-World Applications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2"/>
          <p:cNvSpPr/>
          <p:nvPr/>
        </p:nvSpPr>
        <p:spPr>
          <a:xfrm>
            <a:off x="457200" y="65844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4b5fd"/>
                </a:solidFill>
                <a:latin typeface="Calibri"/>
              </a:rPr>
              <a:t>Where clustering creates value across industries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Shape 3"/>
          <p:cNvSpPr/>
          <p:nvPr/>
        </p:nvSpPr>
        <p:spPr>
          <a:xfrm>
            <a:off x="320040" y="1078920"/>
            <a:ext cx="2633040" cy="1691280"/>
          </a:xfrm>
          <a:prstGeom prst="rect">
            <a:avLst/>
          </a:prstGeom>
          <a:solidFill>
            <a:srgbClr val="271060"/>
          </a:solidFill>
          <a:ln w="15240">
            <a:solidFill>
              <a:srgbClr val="a855f7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Shape 4"/>
          <p:cNvSpPr/>
          <p:nvPr/>
        </p:nvSpPr>
        <p:spPr>
          <a:xfrm>
            <a:off x="320040" y="1078920"/>
            <a:ext cx="2633040" cy="5436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Shape 5"/>
          <p:cNvSpPr/>
          <p:nvPr/>
        </p:nvSpPr>
        <p:spPr>
          <a:xfrm>
            <a:off x="429840" y="1280160"/>
            <a:ext cx="456840" cy="456840"/>
          </a:xfrm>
          <a:prstGeom prst="ellipse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6"/>
          <p:cNvSpPr/>
          <p:nvPr/>
        </p:nvSpPr>
        <p:spPr>
          <a:xfrm>
            <a:off x="429840" y="12801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👥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 7"/>
          <p:cNvSpPr/>
          <p:nvPr/>
        </p:nvSpPr>
        <p:spPr>
          <a:xfrm>
            <a:off x="978480" y="1280160"/>
            <a:ext cx="1874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Customer Segmentation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8"/>
          <p:cNvSpPr/>
          <p:nvPr/>
        </p:nvSpPr>
        <p:spPr>
          <a:xfrm>
            <a:off x="429840" y="1828800"/>
            <a:ext cx="2422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4b5fd"/>
                </a:solidFill>
                <a:latin typeface="Calibri"/>
              </a:rPr>
              <a:t>Group customers by behavior, preferences &amp; purchase patterns for targeted marketing campaigns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Shape 9"/>
          <p:cNvSpPr/>
          <p:nvPr/>
        </p:nvSpPr>
        <p:spPr>
          <a:xfrm>
            <a:off x="3200400" y="1078920"/>
            <a:ext cx="2633040" cy="1691280"/>
          </a:xfrm>
          <a:prstGeom prst="rect">
            <a:avLst/>
          </a:prstGeom>
          <a:solidFill>
            <a:srgbClr val="271060"/>
          </a:solidFill>
          <a:ln w="15240">
            <a:solidFill>
              <a:srgbClr val="ec4899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Shape 10"/>
          <p:cNvSpPr/>
          <p:nvPr/>
        </p:nvSpPr>
        <p:spPr>
          <a:xfrm>
            <a:off x="3200400" y="1078920"/>
            <a:ext cx="2633040" cy="54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Shape 11"/>
          <p:cNvSpPr/>
          <p:nvPr/>
        </p:nvSpPr>
        <p:spPr>
          <a:xfrm>
            <a:off x="3310200" y="1280160"/>
            <a:ext cx="456840" cy="456840"/>
          </a:xfrm>
          <a:prstGeom prst="ellipse">
            <a:avLst/>
          </a:prstGeom>
          <a:solidFill>
            <a:srgbClr val="ec4899">
              <a:alpha val="7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 12"/>
          <p:cNvSpPr/>
          <p:nvPr/>
        </p:nvSpPr>
        <p:spPr>
          <a:xfrm>
            <a:off x="3310200" y="12801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🖼️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 13"/>
          <p:cNvSpPr/>
          <p:nvPr/>
        </p:nvSpPr>
        <p:spPr>
          <a:xfrm>
            <a:off x="3858840" y="1280160"/>
            <a:ext cx="1874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Image Segmentation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Text 14"/>
          <p:cNvSpPr/>
          <p:nvPr/>
        </p:nvSpPr>
        <p:spPr>
          <a:xfrm>
            <a:off x="3310200" y="1828800"/>
            <a:ext cx="2422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4b5fd"/>
                </a:solidFill>
                <a:latin typeface="Calibri"/>
              </a:rPr>
              <a:t>Segment images into distinct regions by pixel values — used in object recognition &amp; image compression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Shape 15"/>
          <p:cNvSpPr/>
          <p:nvPr/>
        </p:nvSpPr>
        <p:spPr>
          <a:xfrm>
            <a:off x="6080760" y="1078920"/>
            <a:ext cx="2633040" cy="1691280"/>
          </a:xfrm>
          <a:prstGeom prst="rect">
            <a:avLst/>
          </a:prstGeom>
          <a:solidFill>
            <a:srgbClr val="271060"/>
          </a:solidFill>
          <a:ln w="15240">
            <a:solidFill>
              <a:srgbClr val="22d3ee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Shape 16"/>
          <p:cNvSpPr/>
          <p:nvPr/>
        </p:nvSpPr>
        <p:spPr>
          <a:xfrm>
            <a:off x="6080760" y="1078920"/>
            <a:ext cx="2633040" cy="5436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17"/>
          <p:cNvSpPr/>
          <p:nvPr/>
        </p:nvSpPr>
        <p:spPr>
          <a:xfrm>
            <a:off x="6190560" y="1280160"/>
            <a:ext cx="456840" cy="456840"/>
          </a:xfrm>
          <a:prstGeom prst="ellipse">
            <a:avLst/>
          </a:prstGeom>
          <a:solidFill>
            <a:srgbClr val="22d3ee">
              <a:alpha val="70000"/>
            </a:srgbClr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18"/>
          <p:cNvSpPr/>
          <p:nvPr/>
        </p:nvSpPr>
        <p:spPr>
          <a:xfrm>
            <a:off x="6190560" y="12801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🚨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 19"/>
          <p:cNvSpPr/>
          <p:nvPr/>
        </p:nvSpPr>
        <p:spPr>
          <a:xfrm>
            <a:off x="6739200" y="1280160"/>
            <a:ext cx="1874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Anomaly Detection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 20"/>
          <p:cNvSpPr/>
          <p:nvPr/>
        </p:nvSpPr>
        <p:spPr>
          <a:xfrm>
            <a:off x="6190560" y="1828800"/>
            <a:ext cx="2422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4b5fd"/>
                </a:solidFill>
                <a:latin typeface="Calibri"/>
              </a:rPr>
              <a:t>Identify outliers that deviate significantly from normal behavior in cybersecurity &amp; fraud detection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Shape 21"/>
          <p:cNvSpPr/>
          <p:nvPr/>
        </p:nvSpPr>
        <p:spPr>
          <a:xfrm>
            <a:off x="320040" y="2999160"/>
            <a:ext cx="2633040" cy="1691280"/>
          </a:xfrm>
          <a:prstGeom prst="rect">
            <a:avLst/>
          </a:prstGeom>
          <a:solidFill>
            <a:srgbClr val="271060"/>
          </a:solidFill>
          <a:ln w="15240">
            <a:solidFill>
              <a:srgbClr val="34d399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Shape 22"/>
          <p:cNvSpPr/>
          <p:nvPr/>
        </p:nvSpPr>
        <p:spPr>
          <a:xfrm>
            <a:off x="320040" y="2999160"/>
            <a:ext cx="2633040" cy="5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23"/>
          <p:cNvSpPr/>
          <p:nvPr/>
        </p:nvSpPr>
        <p:spPr>
          <a:xfrm>
            <a:off x="429840" y="3200400"/>
            <a:ext cx="456840" cy="456840"/>
          </a:xfrm>
          <a:prstGeom prst="ellipse">
            <a:avLst/>
          </a:prstGeom>
          <a:solidFill>
            <a:srgbClr val="34d399">
              <a:alpha val="70000"/>
            </a:srgbClr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24"/>
          <p:cNvSpPr/>
          <p:nvPr/>
        </p:nvSpPr>
        <p:spPr>
          <a:xfrm>
            <a:off x="429840" y="3200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📄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 25"/>
          <p:cNvSpPr/>
          <p:nvPr/>
        </p:nvSpPr>
        <p:spPr>
          <a:xfrm>
            <a:off x="978480" y="3200400"/>
            <a:ext cx="1874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Text &amp; Document Mining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26"/>
          <p:cNvSpPr/>
          <p:nvPr/>
        </p:nvSpPr>
        <p:spPr>
          <a:xfrm>
            <a:off x="429840" y="3749040"/>
            <a:ext cx="2422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4b5fd"/>
                </a:solidFill>
                <a:latin typeface="Calibri"/>
              </a:rPr>
              <a:t>Group documents with similar content for summarization, topic modeling &amp; information retrieval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Shape 27"/>
          <p:cNvSpPr/>
          <p:nvPr/>
        </p:nvSpPr>
        <p:spPr>
          <a:xfrm>
            <a:off x="3200400" y="2999160"/>
            <a:ext cx="2633040" cy="1691280"/>
          </a:xfrm>
          <a:prstGeom prst="rect">
            <a:avLst/>
          </a:prstGeom>
          <a:solidFill>
            <a:srgbClr val="271060"/>
          </a:solidFill>
          <a:ln w="15240">
            <a:solidFill>
              <a:srgbClr val="fb923c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Shape 28"/>
          <p:cNvSpPr/>
          <p:nvPr/>
        </p:nvSpPr>
        <p:spPr>
          <a:xfrm>
            <a:off x="3200400" y="2999160"/>
            <a:ext cx="2633040" cy="5436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29"/>
          <p:cNvSpPr/>
          <p:nvPr/>
        </p:nvSpPr>
        <p:spPr>
          <a:xfrm>
            <a:off x="3310200" y="3200400"/>
            <a:ext cx="456840" cy="456840"/>
          </a:xfrm>
          <a:prstGeom prst="ellipse">
            <a:avLst/>
          </a:prstGeom>
          <a:solidFill>
            <a:srgbClr val="fb923c">
              <a:alpha val="70000"/>
            </a:srgbClr>
          </a:solidFill>
          <a:ln w="1270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30"/>
          <p:cNvSpPr/>
          <p:nvPr/>
        </p:nvSpPr>
        <p:spPr>
          <a:xfrm>
            <a:off x="3310200" y="3200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🧬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 31"/>
          <p:cNvSpPr/>
          <p:nvPr/>
        </p:nvSpPr>
        <p:spPr>
          <a:xfrm>
            <a:off x="3858840" y="3200400"/>
            <a:ext cx="1874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Bioinformatics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Text 32"/>
          <p:cNvSpPr/>
          <p:nvPr/>
        </p:nvSpPr>
        <p:spPr>
          <a:xfrm>
            <a:off x="3310200" y="3749040"/>
            <a:ext cx="2422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4b5fd"/>
                </a:solidFill>
                <a:latin typeface="Calibri"/>
              </a:rPr>
              <a:t>Cluster genes or proteins by expression patterns to aid drug discovery &amp; disease diagnosis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Shape 33"/>
          <p:cNvSpPr/>
          <p:nvPr/>
        </p:nvSpPr>
        <p:spPr>
          <a:xfrm>
            <a:off x="6080760" y="2999160"/>
            <a:ext cx="2633040" cy="1691280"/>
          </a:xfrm>
          <a:prstGeom prst="rect">
            <a:avLst/>
          </a:prstGeom>
          <a:solidFill>
            <a:srgbClr val="271060"/>
          </a:solidFill>
          <a:ln w="15240">
            <a:solidFill>
              <a:srgbClr val="a855f7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Shape 34"/>
          <p:cNvSpPr/>
          <p:nvPr/>
        </p:nvSpPr>
        <p:spPr>
          <a:xfrm>
            <a:off x="6080760" y="2999160"/>
            <a:ext cx="2633040" cy="5436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Shape 35"/>
          <p:cNvSpPr/>
          <p:nvPr/>
        </p:nvSpPr>
        <p:spPr>
          <a:xfrm>
            <a:off x="6190560" y="3200400"/>
            <a:ext cx="456840" cy="456840"/>
          </a:xfrm>
          <a:prstGeom prst="ellipse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 36"/>
          <p:cNvSpPr/>
          <p:nvPr/>
        </p:nvSpPr>
        <p:spPr>
          <a:xfrm>
            <a:off x="6190560" y="3200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🎯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Text 37"/>
          <p:cNvSpPr/>
          <p:nvPr/>
        </p:nvSpPr>
        <p:spPr>
          <a:xfrm>
            <a:off x="6739200" y="3200400"/>
            <a:ext cx="1874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Recommender 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 38"/>
          <p:cNvSpPr/>
          <p:nvPr/>
        </p:nvSpPr>
        <p:spPr>
          <a:xfrm>
            <a:off x="6190560" y="3749040"/>
            <a:ext cx="2422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4b5fd"/>
                </a:solidFill>
                <a:latin typeface="Calibri"/>
              </a:rPr>
              <a:t>Group users with similar interests to create personalized product &amp; content recommendations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Shape 0"/>
          <p:cNvSpPr/>
          <p:nvPr/>
        </p:nvSpPr>
        <p:spPr>
          <a:xfrm>
            <a:off x="0" y="0"/>
            <a:ext cx="9143640" cy="566640"/>
          </a:xfrm>
          <a:prstGeom prst="rect">
            <a:avLst/>
          </a:prstGeom>
          <a:solidFill>
            <a:srgbClr val="1e0a4a"/>
          </a:solidFill>
          <a:ln w="12700">
            <a:solidFill>
              <a:srgbClr val="1e0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Shape 1"/>
          <p:cNvSpPr/>
          <p:nvPr/>
        </p:nvSpPr>
        <p:spPr>
          <a:xfrm>
            <a:off x="0" y="567000"/>
            <a:ext cx="9143640" cy="5004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2"/>
          <p:cNvSpPr/>
          <p:nvPr/>
        </p:nvSpPr>
        <p:spPr>
          <a:xfrm>
            <a:off x="457200" y="730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Why is Clustering Required?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3"/>
          <p:cNvSpPr/>
          <p:nvPr/>
        </p:nvSpPr>
        <p:spPr>
          <a:xfrm>
            <a:off x="365760" y="822960"/>
            <a:ext cx="4114440" cy="1599840"/>
          </a:xfrm>
          <a:prstGeom prst="rect">
            <a:avLst/>
          </a:prstGeom>
          <a:solidFill>
            <a:srgbClr val="ffffff"/>
          </a:solidFill>
          <a:ln w="19050">
            <a:solidFill>
              <a:srgbClr val="a855f7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4"/>
          <p:cNvSpPr/>
          <p:nvPr/>
        </p:nvSpPr>
        <p:spPr>
          <a:xfrm>
            <a:off x="365760" y="822960"/>
            <a:ext cx="4114440" cy="5004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Shape 5"/>
          <p:cNvSpPr/>
          <p:nvPr/>
        </p:nvSpPr>
        <p:spPr>
          <a:xfrm>
            <a:off x="530280" y="987480"/>
            <a:ext cx="456840" cy="456840"/>
          </a:xfrm>
          <a:prstGeom prst="ellipse">
            <a:avLst/>
          </a:prstGeom>
          <a:solidFill>
            <a:srgbClr val="a855f7">
              <a:alpha val="75000"/>
            </a:srgbClr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 6"/>
          <p:cNvSpPr/>
          <p:nvPr/>
        </p:nvSpPr>
        <p:spPr>
          <a:xfrm>
            <a:off x="530280" y="9874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📈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7"/>
          <p:cNvSpPr/>
          <p:nvPr/>
        </p:nvSpPr>
        <p:spPr>
          <a:xfrm>
            <a:off x="1078920" y="1024200"/>
            <a:ext cx="3291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2012c"/>
                </a:solidFill>
                <a:latin typeface="Calibri"/>
              </a:rPr>
              <a:t>Scalability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 8"/>
          <p:cNvSpPr/>
          <p:nvPr/>
        </p:nvSpPr>
        <p:spPr>
          <a:xfrm>
            <a:off x="530280" y="1536120"/>
            <a:ext cx="3858480" cy="79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444444"/>
                </a:solidFill>
                <a:latin typeface="Calibri"/>
              </a:rPr>
              <a:t>Clustering algorithms efficiently handle massive datasets, extracting insights from large volumes of data without performance degradation.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9"/>
          <p:cNvSpPr/>
          <p:nvPr/>
        </p:nvSpPr>
        <p:spPr>
          <a:xfrm>
            <a:off x="4663440" y="822960"/>
            <a:ext cx="4114440" cy="1599840"/>
          </a:xfrm>
          <a:prstGeom prst="rect">
            <a:avLst/>
          </a:prstGeom>
          <a:solidFill>
            <a:srgbClr val="ffffff"/>
          </a:solidFill>
          <a:ln w="19050">
            <a:solidFill>
              <a:srgbClr val="ec4899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10"/>
          <p:cNvSpPr/>
          <p:nvPr/>
        </p:nvSpPr>
        <p:spPr>
          <a:xfrm>
            <a:off x="4663440" y="822960"/>
            <a:ext cx="4114440" cy="5004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Shape 11"/>
          <p:cNvSpPr/>
          <p:nvPr/>
        </p:nvSpPr>
        <p:spPr>
          <a:xfrm>
            <a:off x="4827960" y="987480"/>
            <a:ext cx="456840" cy="456840"/>
          </a:xfrm>
          <a:prstGeom prst="ellipse">
            <a:avLst/>
          </a:prstGeom>
          <a:solidFill>
            <a:srgbClr val="ec4899">
              <a:alpha val="7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 12"/>
          <p:cNvSpPr/>
          <p:nvPr/>
        </p:nvSpPr>
        <p:spPr>
          <a:xfrm>
            <a:off x="4827960" y="9874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🔢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13"/>
          <p:cNvSpPr/>
          <p:nvPr/>
        </p:nvSpPr>
        <p:spPr>
          <a:xfrm>
            <a:off x="5376600" y="1024200"/>
            <a:ext cx="3291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2012c"/>
                </a:solidFill>
                <a:latin typeface="Calibri"/>
              </a:rPr>
              <a:t>High Dimensionality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14"/>
          <p:cNvSpPr/>
          <p:nvPr/>
        </p:nvSpPr>
        <p:spPr>
          <a:xfrm>
            <a:off x="4827960" y="1536120"/>
            <a:ext cx="3858480" cy="79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444444"/>
                </a:solidFill>
                <a:latin typeface="Calibri"/>
              </a:rPr>
              <a:t>Can operate on high-dimensional datasets and uncover patterns and relationships not visible in lower-dimensional representations.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15"/>
          <p:cNvSpPr/>
          <p:nvPr/>
        </p:nvSpPr>
        <p:spPr>
          <a:xfrm>
            <a:off x="365760" y="2606040"/>
            <a:ext cx="2651400" cy="2331360"/>
          </a:xfrm>
          <a:prstGeom prst="rect">
            <a:avLst/>
          </a:prstGeom>
          <a:solidFill>
            <a:srgbClr val="ffffff"/>
          </a:solidFill>
          <a:ln w="19050">
            <a:solidFill>
              <a:srgbClr val="22d3ee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16"/>
          <p:cNvSpPr/>
          <p:nvPr/>
        </p:nvSpPr>
        <p:spPr>
          <a:xfrm>
            <a:off x="365760" y="2606040"/>
            <a:ext cx="2651400" cy="500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17"/>
          <p:cNvSpPr/>
          <p:nvPr/>
        </p:nvSpPr>
        <p:spPr>
          <a:xfrm>
            <a:off x="530280" y="2770560"/>
            <a:ext cx="456840" cy="456840"/>
          </a:xfrm>
          <a:prstGeom prst="ellipse">
            <a:avLst/>
          </a:prstGeom>
          <a:solidFill>
            <a:srgbClr val="22d3ee">
              <a:alpha val="75000"/>
            </a:srgbClr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18"/>
          <p:cNvSpPr/>
          <p:nvPr/>
        </p:nvSpPr>
        <p:spPr>
          <a:xfrm>
            <a:off x="530280" y="27705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🔷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19"/>
          <p:cNvSpPr/>
          <p:nvPr/>
        </p:nvSpPr>
        <p:spPr>
          <a:xfrm>
            <a:off x="1078920" y="280728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2012c"/>
                </a:solidFill>
                <a:latin typeface="Calibri"/>
              </a:rPr>
              <a:t>Arbitrary Shapes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20"/>
          <p:cNvSpPr/>
          <p:nvPr/>
        </p:nvSpPr>
        <p:spPr>
          <a:xfrm>
            <a:off x="530280" y="3319200"/>
            <a:ext cx="2395440" cy="152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444444"/>
                </a:solidFill>
                <a:latin typeface="Calibri"/>
              </a:rPr>
              <a:t>Capable of discovering clusters with irregular, non-spherical shapes and varying sizes — not limited to round or uniform groups.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21"/>
          <p:cNvSpPr/>
          <p:nvPr/>
        </p:nvSpPr>
        <p:spPr>
          <a:xfrm>
            <a:off x="3200400" y="2606040"/>
            <a:ext cx="2651400" cy="2331360"/>
          </a:xfrm>
          <a:prstGeom prst="rect">
            <a:avLst/>
          </a:prstGeom>
          <a:solidFill>
            <a:srgbClr val="ffffff"/>
          </a:solidFill>
          <a:ln w="19050">
            <a:solidFill>
              <a:srgbClr val="34d399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Shape 22"/>
          <p:cNvSpPr/>
          <p:nvPr/>
        </p:nvSpPr>
        <p:spPr>
          <a:xfrm>
            <a:off x="3200400" y="2606040"/>
            <a:ext cx="2651400" cy="500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23"/>
          <p:cNvSpPr/>
          <p:nvPr/>
        </p:nvSpPr>
        <p:spPr>
          <a:xfrm>
            <a:off x="3364920" y="2770560"/>
            <a:ext cx="456840" cy="456840"/>
          </a:xfrm>
          <a:prstGeom prst="ellipse">
            <a:avLst/>
          </a:prstGeom>
          <a:solidFill>
            <a:srgbClr val="34d399">
              <a:alpha val="75000"/>
            </a:srgbClr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 24"/>
          <p:cNvSpPr/>
          <p:nvPr/>
        </p:nvSpPr>
        <p:spPr>
          <a:xfrm>
            <a:off x="3364920" y="27705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🔍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 25"/>
          <p:cNvSpPr/>
          <p:nvPr/>
        </p:nvSpPr>
        <p:spPr>
          <a:xfrm>
            <a:off x="3913560" y="280728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2012c"/>
                </a:solidFill>
                <a:latin typeface="Calibri"/>
              </a:rPr>
              <a:t>Interpretability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 26"/>
          <p:cNvSpPr/>
          <p:nvPr/>
        </p:nvSpPr>
        <p:spPr>
          <a:xfrm>
            <a:off x="3364920" y="3319200"/>
            <a:ext cx="2395440" cy="152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444444"/>
                </a:solidFill>
                <a:latin typeface="Calibri"/>
              </a:rPr>
              <a:t>Clustering results are intuitive and human-readable, enabling analysts to extract actionable insights without complex modeling.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hape 27"/>
          <p:cNvSpPr/>
          <p:nvPr/>
        </p:nvSpPr>
        <p:spPr>
          <a:xfrm>
            <a:off x="6035040" y="2606040"/>
            <a:ext cx="2651400" cy="2331360"/>
          </a:xfrm>
          <a:prstGeom prst="rect">
            <a:avLst/>
          </a:prstGeom>
          <a:solidFill>
            <a:srgbClr val="ffffff"/>
          </a:solidFill>
          <a:ln w="19050">
            <a:solidFill>
              <a:srgbClr val="fb923c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28"/>
          <p:cNvSpPr/>
          <p:nvPr/>
        </p:nvSpPr>
        <p:spPr>
          <a:xfrm>
            <a:off x="6035040" y="2606040"/>
            <a:ext cx="2651400" cy="500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29"/>
          <p:cNvSpPr/>
          <p:nvPr/>
        </p:nvSpPr>
        <p:spPr>
          <a:xfrm>
            <a:off x="6199560" y="2770560"/>
            <a:ext cx="456840" cy="456840"/>
          </a:xfrm>
          <a:prstGeom prst="ellipse">
            <a:avLst/>
          </a:prstGeom>
          <a:solidFill>
            <a:srgbClr val="fb923c">
              <a:alpha val="75000"/>
            </a:srgbClr>
          </a:solidFill>
          <a:ln w="1270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 30"/>
          <p:cNvSpPr/>
          <p:nvPr/>
        </p:nvSpPr>
        <p:spPr>
          <a:xfrm>
            <a:off x="6199560" y="27705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🗂️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 31"/>
          <p:cNvSpPr/>
          <p:nvPr/>
        </p:nvSpPr>
        <p:spPr>
          <a:xfrm>
            <a:off x="6748200" y="280728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2012c"/>
                </a:solidFill>
                <a:latin typeface="Calibri"/>
              </a:rPr>
              <a:t>Diverse Data Types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 32"/>
          <p:cNvSpPr/>
          <p:nvPr/>
        </p:nvSpPr>
        <p:spPr>
          <a:xfrm>
            <a:off x="6199560" y="3319200"/>
            <a:ext cx="2395440" cy="152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444444"/>
                </a:solidFill>
                <a:latin typeface="Calibri"/>
              </a:rPr>
              <a:t>Works across categorical, numerical, binary, and mixed data types — making it applicable to nearly any domain or dataset.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201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 1"/>
          <p:cNvSpPr/>
          <p:nvPr/>
        </p:nvSpPr>
        <p:spPr>
          <a:xfrm>
            <a:off x="457200" y="137160"/>
            <a:ext cx="82292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  <a:ea typeface="Calibri"/>
              </a:rPr>
              <a:t>Clustering vs Classification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Shape 2"/>
          <p:cNvSpPr/>
          <p:nvPr/>
        </p:nvSpPr>
        <p:spPr>
          <a:xfrm>
            <a:off x="4251960" y="2103120"/>
            <a:ext cx="639720" cy="639720"/>
          </a:xfrm>
          <a:prstGeom prst="ellipse">
            <a:avLst/>
          </a:prstGeom>
          <a:solidFill>
            <a:srgbClr val="a855f7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Text 3"/>
          <p:cNvSpPr/>
          <p:nvPr/>
        </p:nvSpPr>
        <p:spPr>
          <a:xfrm>
            <a:off x="4251960" y="210312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VS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4572000" y="868680"/>
            <a:ext cx="360" cy="4069080"/>
          </a:xfrm>
          <a:prstGeom prst="line">
            <a:avLst/>
          </a:prstGeom>
          <a:ln w="19050">
            <a:solidFill>
              <a:srgbClr val="271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Shape 5"/>
          <p:cNvSpPr/>
          <p:nvPr/>
        </p:nvSpPr>
        <p:spPr>
          <a:xfrm>
            <a:off x="274320" y="841320"/>
            <a:ext cx="4023000" cy="529920"/>
          </a:xfrm>
          <a:prstGeom prst="rect">
            <a:avLst/>
          </a:prstGeom>
          <a:solidFill>
            <a:srgbClr val="a855f7">
              <a:alpha val="80000"/>
            </a:srgbClr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 6"/>
          <p:cNvSpPr/>
          <p:nvPr/>
        </p:nvSpPr>
        <p:spPr>
          <a:xfrm>
            <a:off x="274320" y="841320"/>
            <a:ext cx="4023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CLUSTERING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Shape 7"/>
          <p:cNvSpPr/>
          <p:nvPr/>
        </p:nvSpPr>
        <p:spPr>
          <a:xfrm>
            <a:off x="274320" y="1508760"/>
            <a:ext cx="4023000" cy="529920"/>
          </a:xfrm>
          <a:prstGeom prst="rect">
            <a:avLst/>
          </a:prstGeom>
          <a:solidFill>
            <a:srgbClr val="271060"/>
          </a:solidFill>
          <a:ln w="12700">
            <a:solidFill>
              <a:srgbClr val="1e0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Text 8"/>
          <p:cNvSpPr/>
          <p:nvPr/>
        </p:nvSpPr>
        <p:spPr>
          <a:xfrm>
            <a:off x="384120" y="1563480"/>
            <a:ext cx="13712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a855f7"/>
                </a:solidFill>
                <a:latin typeface="Calibri"/>
              </a:rPr>
              <a:t>Learning Type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 9"/>
          <p:cNvSpPr/>
          <p:nvPr/>
        </p:nvSpPr>
        <p:spPr>
          <a:xfrm>
            <a:off x="1783080" y="1563480"/>
            <a:ext cx="24228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4b5fd"/>
                </a:solidFill>
                <a:latin typeface="Calibri"/>
              </a:rPr>
              <a:t>Unsupervised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Shape 10"/>
          <p:cNvSpPr/>
          <p:nvPr/>
        </p:nvSpPr>
        <p:spPr>
          <a:xfrm>
            <a:off x="274320" y="2130480"/>
            <a:ext cx="4023000" cy="529920"/>
          </a:xfrm>
          <a:prstGeom prst="rect">
            <a:avLst/>
          </a:prstGeom>
          <a:solidFill>
            <a:srgbClr val="1e0a4a"/>
          </a:solidFill>
          <a:ln w="12700">
            <a:solidFill>
              <a:srgbClr val="1e0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 11"/>
          <p:cNvSpPr/>
          <p:nvPr/>
        </p:nvSpPr>
        <p:spPr>
          <a:xfrm>
            <a:off x="384120" y="2185560"/>
            <a:ext cx="13712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a855f7"/>
                </a:solidFill>
                <a:latin typeface="Calibri"/>
              </a:rPr>
              <a:t>Labels Required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Text 12"/>
          <p:cNvSpPr/>
          <p:nvPr/>
        </p:nvSpPr>
        <p:spPr>
          <a:xfrm>
            <a:off x="1783080" y="2185560"/>
            <a:ext cx="24228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4b5fd"/>
                </a:solidFill>
                <a:latin typeface="Calibri"/>
              </a:rPr>
              <a:t>No — discovers groups automatically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Shape 13"/>
          <p:cNvSpPr/>
          <p:nvPr/>
        </p:nvSpPr>
        <p:spPr>
          <a:xfrm>
            <a:off x="274320" y="2752200"/>
            <a:ext cx="4023000" cy="529920"/>
          </a:xfrm>
          <a:prstGeom prst="rect">
            <a:avLst/>
          </a:prstGeom>
          <a:solidFill>
            <a:srgbClr val="271060"/>
          </a:solidFill>
          <a:ln w="12700">
            <a:solidFill>
              <a:srgbClr val="1e0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 14"/>
          <p:cNvSpPr/>
          <p:nvPr/>
        </p:nvSpPr>
        <p:spPr>
          <a:xfrm>
            <a:off x="384120" y="2807280"/>
            <a:ext cx="13712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a855f7"/>
                </a:solidFill>
                <a:latin typeface="Calibri"/>
              </a:rPr>
              <a:t>Goal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 15"/>
          <p:cNvSpPr/>
          <p:nvPr/>
        </p:nvSpPr>
        <p:spPr>
          <a:xfrm>
            <a:off x="1783080" y="2807280"/>
            <a:ext cx="24228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4b5fd"/>
                </a:solidFill>
                <a:latin typeface="Calibri"/>
              </a:rPr>
              <a:t>Find natural groupings in data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Shape 16"/>
          <p:cNvSpPr/>
          <p:nvPr/>
        </p:nvSpPr>
        <p:spPr>
          <a:xfrm>
            <a:off x="274320" y="3374280"/>
            <a:ext cx="4023000" cy="529920"/>
          </a:xfrm>
          <a:prstGeom prst="rect">
            <a:avLst/>
          </a:prstGeom>
          <a:solidFill>
            <a:srgbClr val="1e0a4a"/>
          </a:solidFill>
          <a:ln w="12700">
            <a:solidFill>
              <a:srgbClr val="1e0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Text 17"/>
          <p:cNvSpPr/>
          <p:nvPr/>
        </p:nvSpPr>
        <p:spPr>
          <a:xfrm>
            <a:off x="384120" y="3429000"/>
            <a:ext cx="13712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a855f7"/>
                </a:solidFill>
                <a:latin typeface="Calibri"/>
              </a:rPr>
              <a:t>Output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 18"/>
          <p:cNvSpPr/>
          <p:nvPr/>
        </p:nvSpPr>
        <p:spPr>
          <a:xfrm>
            <a:off x="1783080" y="3429000"/>
            <a:ext cx="24228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4b5fd"/>
                </a:solidFill>
                <a:latin typeface="Calibri"/>
              </a:rPr>
              <a:t>Cluster assignments (group IDs)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Shape 19"/>
          <p:cNvSpPr/>
          <p:nvPr/>
        </p:nvSpPr>
        <p:spPr>
          <a:xfrm>
            <a:off x="274320" y="3996000"/>
            <a:ext cx="4023000" cy="529920"/>
          </a:xfrm>
          <a:prstGeom prst="rect">
            <a:avLst/>
          </a:prstGeom>
          <a:solidFill>
            <a:srgbClr val="271060"/>
          </a:solidFill>
          <a:ln w="12700">
            <a:solidFill>
              <a:srgbClr val="1e0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Text 20"/>
          <p:cNvSpPr/>
          <p:nvPr/>
        </p:nvSpPr>
        <p:spPr>
          <a:xfrm>
            <a:off x="384120" y="4050720"/>
            <a:ext cx="13712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a855f7"/>
                </a:solidFill>
                <a:latin typeface="Calibri"/>
              </a:rPr>
              <a:t>Use Case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Text 21"/>
          <p:cNvSpPr/>
          <p:nvPr/>
        </p:nvSpPr>
        <p:spPr>
          <a:xfrm>
            <a:off x="1783080" y="4050720"/>
            <a:ext cx="24228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4b5fd"/>
                </a:solidFill>
                <a:latin typeface="Calibri"/>
              </a:rPr>
              <a:t>Exploration &amp; pattern discovery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Shape 22"/>
          <p:cNvSpPr/>
          <p:nvPr/>
        </p:nvSpPr>
        <p:spPr>
          <a:xfrm>
            <a:off x="4827960" y="841320"/>
            <a:ext cx="4023000" cy="529920"/>
          </a:xfrm>
          <a:prstGeom prst="rect">
            <a:avLst/>
          </a:prstGeom>
          <a:solidFill>
            <a:srgbClr val="ec4899">
              <a:alpha val="8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Text 23"/>
          <p:cNvSpPr/>
          <p:nvPr/>
        </p:nvSpPr>
        <p:spPr>
          <a:xfrm>
            <a:off x="4827960" y="841320"/>
            <a:ext cx="4023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CLASSIFICATION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Shape 24"/>
          <p:cNvSpPr/>
          <p:nvPr/>
        </p:nvSpPr>
        <p:spPr>
          <a:xfrm>
            <a:off x="4827960" y="1508760"/>
            <a:ext cx="4023000" cy="529920"/>
          </a:xfrm>
          <a:prstGeom prst="rect">
            <a:avLst/>
          </a:prstGeom>
          <a:solidFill>
            <a:srgbClr val="271060"/>
          </a:solidFill>
          <a:ln w="12700">
            <a:solidFill>
              <a:srgbClr val="1e0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 25"/>
          <p:cNvSpPr/>
          <p:nvPr/>
        </p:nvSpPr>
        <p:spPr>
          <a:xfrm>
            <a:off x="4937760" y="1563480"/>
            <a:ext cx="13712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c4899"/>
                </a:solidFill>
                <a:latin typeface="Calibri"/>
              </a:rPr>
              <a:t>Learning Type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Text 26"/>
          <p:cNvSpPr/>
          <p:nvPr/>
        </p:nvSpPr>
        <p:spPr>
          <a:xfrm>
            <a:off x="6336720" y="1563480"/>
            <a:ext cx="24228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4b5fd"/>
                </a:solidFill>
                <a:latin typeface="Calibri"/>
              </a:rPr>
              <a:t>Supervised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Shape 27"/>
          <p:cNvSpPr/>
          <p:nvPr/>
        </p:nvSpPr>
        <p:spPr>
          <a:xfrm>
            <a:off x="4827960" y="2130480"/>
            <a:ext cx="4023000" cy="529920"/>
          </a:xfrm>
          <a:prstGeom prst="rect">
            <a:avLst/>
          </a:prstGeom>
          <a:solidFill>
            <a:srgbClr val="1e0a4a"/>
          </a:solidFill>
          <a:ln w="12700">
            <a:solidFill>
              <a:srgbClr val="1e0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Text 28"/>
          <p:cNvSpPr/>
          <p:nvPr/>
        </p:nvSpPr>
        <p:spPr>
          <a:xfrm>
            <a:off x="4937760" y="2185560"/>
            <a:ext cx="13712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c4899"/>
                </a:solidFill>
                <a:latin typeface="Calibri"/>
              </a:rPr>
              <a:t>Labels Required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Text 29"/>
          <p:cNvSpPr/>
          <p:nvPr/>
        </p:nvSpPr>
        <p:spPr>
          <a:xfrm>
            <a:off x="6336720" y="2185560"/>
            <a:ext cx="24228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4b5fd"/>
                </a:solidFill>
                <a:latin typeface="Calibri"/>
              </a:rPr>
              <a:t>Yes — pre-labeled training data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Shape 30"/>
          <p:cNvSpPr/>
          <p:nvPr/>
        </p:nvSpPr>
        <p:spPr>
          <a:xfrm>
            <a:off x="4827960" y="2752200"/>
            <a:ext cx="4023000" cy="529920"/>
          </a:xfrm>
          <a:prstGeom prst="rect">
            <a:avLst/>
          </a:prstGeom>
          <a:solidFill>
            <a:srgbClr val="271060"/>
          </a:solidFill>
          <a:ln w="12700">
            <a:solidFill>
              <a:srgbClr val="1e0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Text 31"/>
          <p:cNvSpPr/>
          <p:nvPr/>
        </p:nvSpPr>
        <p:spPr>
          <a:xfrm>
            <a:off x="4937760" y="2807280"/>
            <a:ext cx="13712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c4899"/>
                </a:solidFill>
                <a:latin typeface="Calibri"/>
              </a:rPr>
              <a:t>Goal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32"/>
          <p:cNvSpPr/>
          <p:nvPr/>
        </p:nvSpPr>
        <p:spPr>
          <a:xfrm>
            <a:off x="6336720" y="2807280"/>
            <a:ext cx="24228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4b5fd"/>
                </a:solidFill>
                <a:latin typeface="Calibri"/>
              </a:rPr>
              <a:t>Predict the class of new data points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Shape 33"/>
          <p:cNvSpPr/>
          <p:nvPr/>
        </p:nvSpPr>
        <p:spPr>
          <a:xfrm>
            <a:off x="4827960" y="3374280"/>
            <a:ext cx="4023000" cy="529920"/>
          </a:xfrm>
          <a:prstGeom prst="rect">
            <a:avLst/>
          </a:prstGeom>
          <a:solidFill>
            <a:srgbClr val="1e0a4a"/>
          </a:solidFill>
          <a:ln w="12700">
            <a:solidFill>
              <a:srgbClr val="1e0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Text 34"/>
          <p:cNvSpPr/>
          <p:nvPr/>
        </p:nvSpPr>
        <p:spPr>
          <a:xfrm>
            <a:off x="4937760" y="3429000"/>
            <a:ext cx="13712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c4899"/>
                </a:solidFill>
                <a:latin typeface="Calibri"/>
              </a:rPr>
              <a:t>Output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Text 35"/>
          <p:cNvSpPr/>
          <p:nvPr/>
        </p:nvSpPr>
        <p:spPr>
          <a:xfrm>
            <a:off x="6336720" y="3429000"/>
            <a:ext cx="24228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4b5fd"/>
                </a:solidFill>
                <a:latin typeface="Calibri"/>
              </a:rPr>
              <a:t>Class labels (category predictions)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Shape 36"/>
          <p:cNvSpPr/>
          <p:nvPr/>
        </p:nvSpPr>
        <p:spPr>
          <a:xfrm>
            <a:off x="4827960" y="3996000"/>
            <a:ext cx="4023000" cy="529920"/>
          </a:xfrm>
          <a:prstGeom prst="rect">
            <a:avLst/>
          </a:prstGeom>
          <a:solidFill>
            <a:srgbClr val="271060"/>
          </a:solidFill>
          <a:ln w="12700">
            <a:solidFill>
              <a:srgbClr val="1e0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 37"/>
          <p:cNvSpPr/>
          <p:nvPr/>
        </p:nvSpPr>
        <p:spPr>
          <a:xfrm>
            <a:off x="4937760" y="4050720"/>
            <a:ext cx="13712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c4899"/>
                </a:solidFill>
                <a:latin typeface="Calibri"/>
              </a:rPr>
              <a:t>Use Case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 38"/>
          <p:cNvSpPr/>
          <p:nvPr/>
        </p:nvSpPr>
        <p:spPr>
          <a:xfrm>
            <a:off x="6336720" y="4050720"/>
            <a:ext cx="24228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4b5fd"/>
                </a:solidFill>
                <a:latin typeface="Calibri"/>
              </a:rPr>
              <a:t>Prediction &amp; decision-making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0"/>
          <p:cNvSpPr/>
          <p:nvPr/>
        </p:nvSpPr>
        <p:spPr>
          <a:xfrm>
            <a:off x="0" y="0"/>
            <a:ext cx="9143640" cy="566640"/>
          </a:xfrm>
          <a:prstGeom prst="rect">
            <a:avLst/>
          </a:prstGeom>
          <a:solidFill>
            <a:srgbClr val="12012c"/>
          </a:solidFill>
          <a:ln w="12700">
            <a:solidFill>
              <a:srgbClr val="12012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Shape 1"/>
          <p:cNvSpPr/>
          <p:nvPr/>
        </p:nvSpPr>
        <p:spPr>
          <a:xfrm>
            <a:off x="0" y="567000"/>
            <a:ext cx="9143640" cy="500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 2"/>
          <p:cNvSpPr/>
          <p:nvPr/>
        </p:nvSpPr>
        <p:spPr>
          <a:xfrm>
            <a:off x="457200" y="730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K-Means Clustering — Step by Step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3"/>
          <p:cNvSpPr/>
          <p:nvPr/>
        </p:nvSpPr>
        <p:spPr>
          <a:xfrm>
            <a:off x="320040" y="804600"/>
            <a:ext cx="1572480" cy="370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a855f7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4"/>
          <p:cNvSpPr/>
          <p:nvPr/>
        </p:nvSpPr>
        <p:spPr>
          <a:xfrm>
            <a:off x="320040" y="804600"/>
            <a:ext cx="1572480" cy="50256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 5"/>
          <p:cNvSpPr/>
          <p:nvPr/>
        </p:nvSpPr>
        <p:spPr>
          <a:xfrm>
            <a:off x="320040" y="804600"/>
            <a:ext cx="1572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2012c"/>
                </a:solidFill>
                <a:latin typeface="Calibri"/>
              </a:rPr>
              <a:t>1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6"/>
          <p:cNvSpPr/>
          <p:nvPr/>
        </p:nvSpPr>
        <p:spPr>
          <a:xfrm>
            <a:off x="1910880" y="1023840"/>
            <a:ext cx="128160" cy="360"/>
          </a:xfrm>
          <a:prstGeom prst="line">
            <a:avLst/>
          </a:prstGeom>
          <a:ln w="254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 7"/>
          <p:cNvSpPr/>
          <p:nvPr/>
        </p:nvSpPr>
        <p:spPr>
          <a:xfrm>
            <a:off x="393120" y="1389960"/>
            <a:ext cx="1444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2012c"/>
                </a:solidFill>
                <a:latin typeface="Calibri"/>
              </a:rPr>
              <a:t>Choose K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 8"/>
          <p:cNvSpPr/>
          <p:nvPr/>
        </p:nvSpPr>
        <p:spPr>
          <a:xfrm>
            <a:off x="411480" y="1847160"/>
            <a:ext cx="140796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Select the number of clusters K. This is the only parameter K-Means requires upfront.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 9"/>
          <p:cNvSpPr/>
          <p:nvPr/>
        </p:nvSpPr>
        <p:spPr>
          <a:xfrm>
            <a:off x="704160" y="3566160"/>
            <a:ext cx="804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a855f7"/>
                </a:solidFill>
                <a:latin typeface="Calibri"/>
              </a:rPr>
              <a:t>K=3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10"/>
          <p:cNvSpPr/>
          <p:nvPr/>
        </p:nvSpPr>
        <p:spPr>
          <a:xfrm>
            <a:off x="2039040" y="804600"/>
            <a:ext cx="1572480" cy="370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ec4899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11"/>
          <p:cNvSpPr/>
          <p:nvPr/>
        </p:nvSpPr>
        <p:spPr>
          <a:xfrm>
            <a:off x="2039040" y="804600"/>
            <a:ext cx="1572480" cy="5025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 12"/>
          <p:cNvSpPr/>
          <p:nvPr/>
        </p:nvSpPr>
        <p:spPr>
          <a:xfrm>
            <a:off x="2039040" y="804600"/>
            <a:ext cx="1572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2012c"/>
                </a:solidFill>
                <a:latin typeface="Calibri"/>
              </a:rPr>
              <a:t>2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13"/>
          <p:cNvSpPr/>
          <p:nvPr/>
        </p:nvSpPr>
        <p:spPr>
          <a:xfrm>
            <a:off x="3629880" y="1023840"/>
            <a:ext cx="128160" cy="360"/>
          </a:xfrm>
          <a:prstGeom prst="line">
            <a:avLst/>
          </a:prstGeom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 14"/>
          <p:cNvSpPr/>
          <p:nvPr/>
        </p:nvSpPr>
        <p:spPr>
          <a:xfrm>
            <a:off x="2112120" y="1389960"/>
            <a:ext cx="1444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2012c"/>
                </a:solidFill>
                <a:latin typeface="Calibri"/>
              </a:rPr>
              <a:t>Init Centroids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 15"/>
          <p:cNvSpPr/>
          <p:nvPr/>
        </p:nvSpPr>
        <p:spPr>
          <a:xfrm>
            <a:off x="2130480" y="1847160"/>
            <a:ext cx="140796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Randomly initialize K centroids — one for each cluster — anywhere in the data space.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16"/>
          <p:cNvSpPr/>
          <p:nvPr/>
        </p:nvSpPr>
        <p:spPr>
          <a:xfrm>
            <a:off x="2331720" y="3730680"/>
            <a:ext cx="255600" cy="25560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Shape 17"/>
          <p:cNvSpPr/>
          <p:nvPr/>
        </p:nvSpPr>
        <p:spPr>
          <a:xfrm>
            <a:off x="2651760" y="3730680"/>
            <a:ext cx="255600" cy="25560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Shape 18"/>
          <p:cNvSpPr/>
          <p:nvPr/>
        </p:nvSpPr>
        <p:spPr>
          <a:xfrm>
            <a:off x="2971800" y="3730680"/>
            <a:ext cx="255600" cy="25560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19"/>
          <p:cNvSpPr/>
          <p:nvPr/>
        </p:nvSpPr>
        <p:spPr>
          <a:xfrm>
            <a:off x="3758040" y="804600"/>
            <a:ext cx="1572480" cy="370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22d3ee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20"/>
          <p:cNvSpPr/>
          <p:nvPr/>
        </p:nvSpPr>
        <p:spPr>
          <a:xfrm>
            <a:off x="3758040" y="804600"/>
            <a:ext cx="1572480" cy="50256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 21"/>
          <p:cNvSpPr/>
          <p:nvPr/>
        </p:nvSpPr>
        <p:spPr>
          <a:xfrm>
            <a:off x="3758040" y="804600"/>
            <a:ext cx="1572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2012c"/>
                </a:solidFill>
                <a:latin typeface="Calibri"/>
              </a:rPr>
              <a:t>3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22"/>
          <p:cNvSpPr/>
          <p:nvPr/>
        </p:nvSpPr>
        <p:spPr>
          <a:xfrm>
            <a:off x="5349240" y="1023840"/>
            <a:ext cx="127800" cy="360"/>
          </a:xfrm>
          <a:prstGeom prst="line">
            <a:avLst/>
          </a:prstGeom>
          <a:ln w="254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Text 23"/>
          <p:cNvSpPr/>
          <p:nvPr/>
        </p:nvSpPr>
        <p:spPr>
          <a:xfrm>
            <a:off x="3831480" y="1389960"/>
            <a:ext cx="1444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2012c"/>
                </a:solidFill>
                <a:latin typeface="Calibri"/>
              </a:rPr>
              <a:t>Assign Points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Text 24"/>
          <p:cNvSpPr/>
          <p:nvPr/>
        </p:nvSpPr>
        <p:spPr>
          <a:xfrm>
            <a:off x="3849480" y="1847160"/>
            <a:ext cx="140796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Assign each data point to its nearest centroid based on Euclidean distance.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25"/>
          <p:cNvSpPr/>
          <p:nvPr/>
        </p:nvSpPr>
        <p:spPr>
          <a:xfrm>
            <a:off x="4169520" y="3620880"/>
            <a:ext cx="749880" cy="320040"/>
          </a:xfrm>
          <a:prstGeom prst="line">
            <a:avLst/>
          </a:prstGeom>
          <a:ln w="1905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26"/>
          <p:cNvSpPr/>
          <p:nvPr/>
        </p:nvSpPr>
        <p:spPr>
          <a:xfrm>
            <a:off x="5477400" y="804600"/>
            <a:ext cx="1572480" cy="370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34d399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27"/>
          <p:cNvSpPr/>
          <p:nvPr/>
        </p:nvSpPr>
        <p:spPr>
          <a:xfrm>
            <a:off x="5477400" y="804600"/>
            <a:ext cx="1572480" cy="5025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 28"/>
          <p:cNvSpPr/>
          <p:nvPr/>
        </p:nvSpPr>
        <p:spPr>
          <a:xfrm>
            <a:off x="5477400" y="804600"/>
            <a:ext cx="1572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2012c"/>
                </a:solidFill>
                <a:latin typeface="Calibri"/>
              </a:rPr>
              <a:t>4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29"/>
          <p:cNvSpPr/>
          <p:nvPr/>
        </p:nvSpPr>
        <p:spPr>
          <a:xfrm>
            <a:off x="7068240" y="1023840"/>
            <a:ext cx="127800" cy="360"/>
          </a:xfrm>
          <a:prstGeom prst="line">
            <a:avLst/>
          </a:prstGeom>
          <a:ln w="254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 30"/>
          <p:cNvSpPr/>
          <p:nvPr/>
        </p:nvSpPr>
        <p:spPr>
          <a:xfrm>
            <a:off x="5550480" y="1389960"/>
            <a:ext cx="1444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2012c"/>
                </a:solidFill>
                <a:latin typeface="Calibri"/>
              </a:rPr>
              <a:t>Update Centroids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 31"/>
          <p:cNvSpPr/>
          <p:nvPr/>
        </p:nvSpPr>
        <p:spPr>
          <a:xfrm>
            <a:off x="5568840" y="1847160"/>
            <a:ext cx="140796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Recalculate each centroid as the mean position of all points assigned to it.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 32"/>
          <p:cNvSpPr/>
          <p:nvPr/>
        </p:nvSpPr>
        <p:spPr>
          <a:xfrm>
            <a:off x="5934600" y="3547800"/>
            <a:ext cx="658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34d399"/>
                </a:solidFill>
                <a:latin typeface="Calibri"/>
              </a:rPr>
              <a:t>x̄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33"/>
          <p:cNvSpPr/>
          <p:nvPr/>
        </p:nvSpPr>
        <p:spPr>
          <a:xfrm>
            <a:off x="7196400" y="804600"/>
            <a:ext cx="1572480" cy="370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b923c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34"/>
          <p:cNvSpPr/>
          <p:nvPr/>
        </p:nvSpPr>
        <p:spPr>
          <a:xfrm>
            <a:off x="7196400" y="804600"/>
            <a:ext cx="1572480" cy="50256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 35"/>
          <p:cNvSpPr/>
          <p:nvPr/>
        </p:nvSpPr>
        <p:spPr>
          <a:xfrm>
            <a:off x="7196400" y="804600"/>
            <a:ext cx="1572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2012c"/>
                </a:solidFill>
                <a:latin typeface="Calibri"/>
              </a:rPr>
              <a:t>5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 36"/>
          <p:cNvSpPr/>
          <p:nvPr/>
        </p:nvSpPr>
        <p:spPr>
          <a:xfrm>
            <a:off x="7269480" y="1389960"/>
            <a:ext cx="1444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2012c"/>
                </a:solidFill>
                <a:latin typeface="Calibri"/>
              </a:rPr>
              <a:t>Repeat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 37"/>
          <p:cNvSpPr/>
          <p:nvPr/>
        </p:nvSpPr>
        <p:spPr>
          <a:xfrm>
            <a:off x="7287840" y="1847160"/>
            <a:ext cx="140796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Repeat steps 3–4 until centroids no longer move (convergence is reached).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 38"/>
          <p:cNvSpPr/>
          <p:nvPr/>
        </p:nvSpPr>
        <p:spPr>
          <a:xfrm>
            <a:off x="7562160" y="3547800"/>
            <a:ext cx="8409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b923c"/>
                </a:solidFill>
                <a:latin typeface="Calibri"/>
              </a:rPr>
              <a:t>↺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39"/>
          <p:cNvSpPr/>
          <p:nvPr/>
        </p:nvSpPr>
        <p:spPr>
          <a:xfrm>
            <a:off x="320040" y="4663440"/>
            <a:ext cx="8503560" cy="383760"/>
          </a:xfrm>
          <a:prstGeom prst="rect">
            <a:avLst/>
          </a:prstGeom>
          <a:solidFill>
            <a:srgbClr val="12012c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Text 40"/>
          <p:cNvSpPr/>
          <p:nvPr/>
        </p:nvSpPr>
        <p:spPr>
          <a:xfrm>
            <a:off x="457200" y="4663440"/>
            <a:ext cx="83206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5f0ff"/>
                </a:solidFill>
                <a:latin typeface="Calibri"/>
              </a:rPr>
              <a:t>Objective: Minimize Σ ||xᵢ − μₖ||²  (sum of squared distances between each point and its cluster centroid)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201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Text 1"/>
          <p:cNvSpPr/>
          <p:nvPr/>
        </p:nvSpPr>
        <p:spPr>
          <a:xfrm>
            <a:off x="457200" y="13716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Calibri"/>
              </a:rPr>
              <a:t>Advanced Clustering Methods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Shape 2"/>
          <p:cNvSpPr/>
          <p:nvPr/>
        </p:nvSpPr>
        <p:spPr>
          <a:xfrm>
            <a:off x="274320" y="804600"/>
            <a:ext cx="4023000" cy="4114440"/>
          </a:xfrm>
          <a:prstGeom prst="rect">
            <a:avLst/>
          </a:prstGeom>
          <a:solidFill>
            <a:srgbClr val="271060"/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Shape 3"/>
          <p:cNvSpPr/>
          <p:nvPr/>
        </p:nvSpPr>
        <p:spPr>
          <a:xfrm>
            <a:off x="274320" y="804600"/>
            <a:ext cx="4023000" cy="47520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 4"/>
          <p:cNvSpPr/>
          <p:nvPr/>
        </p:nvSpPr>
        <p:spPr>
          <a:xfrm>
            <a:off x="365760" y="804600"/>
            <a:ext cx="38401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Hierarchical Clustering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Shape 5"/>
          <p:cNvSpPr/>
          <p:nvPr/>
        </p:nvSpPr>
        <p:spPr>
          <a:xfrm>
            <a:off x="502920" y="4251960"/>
            <a:ext cx="182520" cy="18252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Shape 6"/>
          <p:cNvSpPr/>
          <p:nvPr/>
        </p:nvSpPr>
        <p:spPr>
          <a:xfrm>
            <a:off x="822960" y="4251960"/>
            <a:ext cx="182520" cy="18252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Shape 7"/>
          <p:cNvSpPr/>
          <p:nvPr/>
        </p:nvSpPr>
        <p:spPr>
          <a:xfrm>
            <a:off x="1325880" y="4251960"/>
            <a:ext cx="182520" cy="18252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Shape 8"/>
          <p:cNvSpPr/>
          <p:nvPr/>
        </p:nvSpPr>
        <p:spPr>
          <a:xfrm>
            <a:off x="1783080" y="4251960"/>
            <a:ext cx="182520" cy="18252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Shape 9"/>
          <p:cNvSpPr/>
          <p:nvPr/>
        </p:nvSpPr>
        <p:spPr>
          <a:xfrm>
            <a:off x="2286000" y="4251960"/>
            <a:ext cx="182520" cy="18252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Shape 10"/>
          <p:cNvSpPr/>
          <p:nvPr/>
        </p:nvSpPr>
        <p:spPr>
          <a:xfrm>
            <a:off x="2743200" y="4251960"/>
            <a:ext cx="182520" cy="18252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Shape 11"/>
          <p:cNvSpPr/>
          <p:nvPr/>
        </p:nvSpPr>
        <p:spPr>
          <a:xfrm>
            <a:off x="3200400" y="4251960"/>
            <a:ext cx="182520" cy="18252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Shape 12"/>
          <p:cNvSpPr/>
          <p:nvPr/>
        </p:nvSpPr>
        <p:spPr>
          <a:xfrm>
            <a:off x="3657600" y="4251960"/>
            <a:ext cx="182520" cy="18252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Shape 13"/>
          <p:cNvSpPr/>
          <p:nvPr/>
        </p:nvSpPr>
        <p:spPr>
          <a:xfrm flipV="1">
            <a:off x="502920" y="3812760"/>
            <a:ext cx="360" cy="347760"/>
          </a:xfrm>
          <a:prstGeom prst="line">
            <a:avLst/>
          </a:prstGeom>
          <a:ln w="12700">
            <a:solidFill>
              <a:srgbClr val="c4b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Shape 14"/>
          <p:cNvSpPr/>
          <p:nvPr/>
        </p:nvSpPr>
        <p:spPr>
          <a:xfrm flipV="1">
            <a:off x="822960" y="3812760"/>
            <a:ext cx="360" cy="347760"/>
          </a:xfrm>
          <a:prstGeom prst="line">
            <a:avLst/>
          </a:prstGeom>
          <a:ln w="12700">
            <a:solidFill>
              <a:srgbClr val="c4b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Shape 15"/>
          <p:cNvSpPr/>
          <p:nvPr/>
        </p:nvSpPr>
        <p:spPr>
          <a:xfrm>
            <a:off x="502920" y="3812760"/>
            <a:ext cx="320040" cy="360"/>
          </a:xfrm>
          <a:prstGeom prst="line">
            <a:avLst/>
          </a:prstGeom>
          <a:ln w="12700">
            <a:solidFill>
              <a:srgbClr val="c4b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Shape 16"/>
          <p:cNvSpPr/>
          <p:nvPr/>
        </p:nvSpPr>
        <p:spPr>
          <a:xfrm flipV="1">
            <a:off x="1371600" y="3812760"/>
            <a:ext cx="360" cy="347760"/>
          </a:xfrm>
          <a:prstGeom prst="line">
            <a:avLst/>
          </a:prstGeom>
          <a:ln w="12700">
            <a:solidFill>
              <a:srgbClr val="c4b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Shape 17"/>
          <p:cNvSpPr/>
          <p:nvPr/>
        </p:nvSpPr>
        <p:spPr>
          <a:xfrm flipV="1">
            <a:off x="1783080" y="3812760"/>
            <a:ext cx="360" cy="347760"/>
          </a:xfrm>
          <a:prstGeom prst="line">
            <a:avLst/>
          </a:prstGeom>
          <a:ln w="12700">
            <a:solidFill>
              <a:srgbClr val="c4b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Shape 18"/>
          <p:cNvSpPr/>
          <p:nvPr/>
        </p:nvSpPr>
        <p:spPr>
          <a:xfrm>
            <a:off x="1371600" y="3812760"/>
            <a:ext cx="411480" cy="360"/>
          </a:xfrm>
          <a:prstGeom prst="line">
            <a:avLst/>
          </a:prstGeom>
          <a:ln w="12700">
            <a:solidFill>
              <a:srgbClr val="c4b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Shape 19"/>
          <p:cNvSpPr/>
          <p:nvPr/>
        </p:nvSpPr>
        <p:spPr>
          <a:xfrm flipV="1">
            <a:off x="2331720" y="3812760"/>
            <a:ext cx="360" cy="347760"/>
          </a:xfrm>
          <a:prstGeom prst="line">
            <a:avLst/>
          </a:prstGeom>
          <a:ln w="12700">
            <a:solidFill>
              <a:srgbClr val="c4b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Shape 20"/>
          <p:cNvSpPr/>
          <p:nvPr/>
        </p:nvSpPr>
        <p:spPr>
          <a:xfrm flipV="1">
            <a:off x="2743200" y="3812760"/>
            <a:ext cx="360" cy="347760"/>
          </a:xfrm>
          <a:prstGeom prst="line">
            <a:avLst/>
          </a:prstGeom>
          <a:ln w="12700">
            <a:solidFill>
              <a:srgbClr val="c4b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Shape 21"/>
          <p:cNvSpPr/>
          <p:nvPr/>
        </p:nvSpPr>
        <p:spPr>
          <a:xfrm>
            <a:off x="2331720" y="3812760"/>
            <a:ext cx="411480" cy="360"/>
          </a:xfrm>
          <a:prstGeom prst="line">
            <a:avLst/>
          </a:prstGeom>
          <a:ln w="12700">
            <a:solidFill>
              <a:srgbClr val="c4b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Shape 22"/>
          <p:cNvSpPr/>
          <p:nvPr/>
        </p:nvSpPr>
        <p:spPr>
          <a:xfrm flipV="1">
            <a:off x="3246120" y="3812760"/>
            <a:ext cx="360" cy="347760"/>
          </a:xfrm>
          <a:prstGeom prst="line">
            <a:avLst/>
          </a:prstGeom>
          <a:ln w="12700">
            <a:solidFill>
              <a:srgbClr val="c4b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Shape 23"/>
          <p:cNvSpPr/>
          <p:nvPr/>
        </p:nvSpPr>
        <p:spPr>
          <a:xfrm flipV="1">
            <a:off x="3657600" y="3812760"/>
            <a:ext cx="360" cy="347760"/>
          </a:xfrm>
          <a:prstGeom prst="line">
            <a:avLst/>
          </a:prstGeom>
          <a:ln w="12700">
            <a:solidFill>
              <a:srgbClr val="c4b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Shape 24"/>
          <p:cNvSpPr/>
          <p:nvPr/>
        </p:nvSpPr>
        <p:spPr>
          <a:xfrm>
            <a:off x="3246120" y="3812760"/>
            <a:ext cx="411480" cy="360"/>
          </a:xfrm>
          <a:prstGeom prst="line">
            <a:avLst/>
          </a:prstGeom>
          <a:ln w="12700">
            <a:solidFill>
              <a:srgbClr val="c4b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" name="Shape 25"/>
          <p:cNvSpPr/>
          <p:nvPr/>
        </p:nvSpPr>
        <p:spPr>
          <a:xfrm flipV="1">
            <a:off x="662760" y="3401280"/>
            <a:ext cx="360" cy="411480"/>
          </a:xfrm>
          <a:prstGeom prst="line">
            <a:avLst/>
          </a:prstGeom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Shape 26"/>
          <p:cNvSpPr/>
          <p:nvPr/>
        </p:nvSpPr>
        <p:spPr>
          <a:xfrm flipV="1">
            <a:off x="1577160" y="3401280"/>
            <a:ext cx="360" cy="411480"/>
          </a:xfrm>
          <a:prstGeom prst="line">
            <a:avLst/>
          </a:prstGeom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Shape 27"/>
          <p:cNvSpPr/>
          <p:nvPr/>
        </p:nvSpPr>
        <p:spPr>
          <a:xfrm>
            <a:off x="662760" y="3401280"/>
            <a:ext cx="914400" cy="360"/>
          </a:xfrm>
          <a:prstGeom prst="line">
            <a:avLst/>
          </a:prstGeom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Shape 28"/>
          <p:cNvSpPr/>
          <p:nvPr/>
        </p:nvSpPr>
        <p:spPr>
          <a:xfrm flipV="1">
            <a:off x="2537280" y="3401280"/>
            <a:ext cx="360" cy="411480"/>
          </a:xfrm>
          <a:prstGeom prst="line">
            <a:avLst/>
          </a:prstGeom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Shape 29"/>
          <p:cNvSpPr/>
          <p:nvPr/>
        </p:nvSpPr>
        <p:spPr>
          <a:xfrm flipV="1">
            <a:off x="3451680" y="3401280"/>
            <a:ext cx="360" cy="411480"/>
          </a:xfrm>
          <a:prstGeom prst="line">
            <a:avLst/>
          </a:prstGeom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Shape 30"/>
          <p:cNvSpPr/>
          <p:nvPr/>
        </p:nvSpPr>
        <p:spPr>
          <a:xfrm>
            <a:off x="2537280" y="3401280"/>
            <a:ext cx="914400" cy="360"/>
          </a:xfrm>
          <a:prstGeom prst="line">
            <a:avLst/>
          </a:prstGeom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Shape 31"/>
          <p:cNvSpPr/>
          <p:nvPr/>
        </p:nvSpPr>
        <p:spPr>
          <a:xfrm flipV="1">
            <a:off x="1119960" y="2944080"/>
            <a:ext cx="360" cy="457200"/>
          </a:xfrm>
          <a:prstGeom prst="line">
            <a:avLst/>
          </a:prstGeom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Shape 32"/>
          <p:cNvSpPr/>
          <p:nvPr/>
        </p:nvSpPr>
        <p:spPr>
          <a:xfrm flipV="1">
            <a:off x="2994480" y="2944080"/>
            <a:ext cx="360" cy="457200"/>
          </a:xfrm>
          <a:prstGeom prst="line">
            <a:avLst/>
          </a:prstGeom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Shape 33"/>
          <p:cNvSpPr/>
          <p:nvPr/>
        </p:nvSpPr>
        <p:spPr>
          <a:xfrm>
            <a:off x="1119960" y="2944080"/>
            <a:ext cx="1874520" cy="360"/>
          </a:xfrm>
          <a:prstGeom prst="line">
            <a:avLst/>
          </a:prstGeom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Shape 34"/>
          <p:cNvSpPr/>
          <p:nvPr/>
        </p:nvSpPr>
        <p:spPr>
          <a:xfrm>
            <a:off x="1920240" y="2816280"/>
            <a:ext cx="228240" cy="228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 35"/>
          <p:cNvSpPr/>
          <p:nvPr/>
        </p:nvSpPr>
        <p:spPr>
          <a:xfrm>
            <a:off x="365760" y="4480560"/>
            <a:ext cx="3748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4b5fd"/>
                </a:solidFill>
                <a:latin typeface="Calibri"/>
              </a:rPr>
              <a:t>Dendrogram (bottom-up merge)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384120" y="1371600"/>
            <a:ext cx="37670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b="1" lang="en-US" sz="1100" spc="-1" strike="noStrike">
                <a:solidFill>
                  <a:srgbClr val="ec4899"/>
                </a:solidFill>
                <a:latin typeface="Calibri"/>
                <a:ea typeface="Calibri"/>
              </a:rPr>
              <a:t>Agglomerative</a:t>
            </a:r>
            <a:r>
              <a:rPr b="0" lang="en-US" sz="1100" spc="-1" strike="noStrike">
                <a:solidFill>
                  <a:srgbClr val="c4b5fd"/>
                </a:solidFill>
                <a:latin typeface="Calibri"/>
                <a:ea typeface="Calibri"/>
              </a:rPr>
              <a:t>  — Start with each point as its own cluster, then merge the two closest clusters at each step.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r>
              <a:rPr b="1" lang="en-US" sz="1100" spc="-1" strike="noStrike">
                <a:solidFill>
                  <a:srgbClr val="ec4899"/>
                </a:solidFill>
                <a:latin typeface="Calibri"/>
                <a:ea typeface="Calibri"/>
              </a:rPr>
              <a:t>Divisive</a:t>
            </a:r>
            <a:r>
              <a:rPr b="0" lang="en-US" sz="1100" spc="-1" strike="noStrike">
                <a:solidFill>
                  <a:srgbClr val="c4b5fd"/>
                </a:solidFill>
                <a:latin typeface="Calibri"/>
                <a:ea typeface="Calibri"/>
              </a:rPr>
              <a:t>  — Start with one large cluster, split into smaller ones recursively.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✦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No need to pre-specify K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Shape 37"/>
          <p:cNvSpPr/>
          <p:nvPr/>
        </p:nvSpPr>
        <p:spPr>
          <a:xfrm>
            <a:off x="4827960" y="804600"/>
            <a:ext cx="4023000" cy="4114440"/>
          </a:xfrm>
          <a:prstGeom prst="rect">
            <a:avLst/>
          </a:prstGeom>
          <a:solidFill>
            <a:srgbClr val="271060"/>
          </a:solidFill>
          <a:ln w="1905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Shape 38"/>
          <p:cNvSpPr/>
          <p:nvPr/>
        </p:nvSpPr>
        <p:spPr>
          <a:xfrm>
            <a:off x="4827960" y="804600"/>
            <a:ext cx="4023000" cy="4752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 39"/>
          <p:cNvSpPr/>
          <p:nvPr/>
        </p:nvSpPr>
        <p:spPr>
          <a:xfrm>
            <a:off x="4919400" y="804600"/>
            <a:ext cx="38401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2012c"/>
                </a:solidFill>
                <a:latin typeface="Calibri"/>
              </a:rPr>
              <a:t>DBSCAN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" name="Shape 40"/>
          <p:cNvSpPr/>
          <p:nvPr/>
        </p:nvSpPr>
        <p:spPr>
          <a:xfrm>
            <a:off x="5120640" y="1600200"/>
            <a:ext cx="1371240" cy="1371240"/>
          </a:xfrm>
          <a:prstGeom prst="ellipse">
            <a:avLst/>
          </a:prstGeom>
          <a:solidFill>
            <a:srgbClr val="22d3ee">
              <a:alpha val="12000"/>
            </a:srgbClr>
          </a:solidFill>
          <a:ln w="19050">
            <a:solidFill>
              <a:srgbClr val="22d3ee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41"/>
          <p:cNvSpPr/>
          <p:nvPr/>
        </p:nvSpPr>
        <p:spPr>
          <a:xfrm>
            <a:off x="5715000" y="2194560"/>
            <a:ext cx="182520" cy="1825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Shape 42"/>
          <p:cNvSpPr/>
          <p:nvPr/>
        </p:nvSpPr>
        <p:spPr>
          <a:xfrm>
            <a:off x="6080760" y="2377440"/>
            <a:ext cx="182520" cy="1825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43"/>
          <p:cNvSpPr/>
          <p:nvPr/>
        </p:nvSpPr>
        <p:spPr>
          <a:xfrm>
            <a:off x="5367600" y="2331720"/>
            <a:ext cx="182520" cy="1825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44"/>
          <p:cNvSpPr/>
          <p:nvPr/>
        </p:nvSpPr>
        <p:spPr>
          <a:xfrm>
            <a:off x="5806440" y="1810440"/>
            <a:ext cx="182520" cy="1825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45"/>
          <p:cNvSpPr/>
          <p:nvPr/>
        </p:nvSpPr>
        <p:spPr>
          <a:xfrm>
            <a:off x="5486400" y="1920240"/>
            <a:ext cx="182520" cy="1825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46"/>
          <p:cNvSpPr/>
          <p:nvPr/>
        </p:nvSpPr>
        <p:spPr>
          <a:xfrm>
            <a:off x="6035040" y="1938600"/>
            <a:ext cx="182520" cy="1825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 47"/>
          <p:cNvSpPr/>
          <p:nvPr/>
        </p:nvSpPr>
        <p:spPr>
          <a:xfrm>
            <a:off x="6355080" y="2057400"/>
            <a:ext cx="9140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2d3ee"/>
                </a:solidFill>
                <a:latin typeface="Calibri"/>
              </a:rPr>
              <a:t>Core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2d3ee"/>
                </a:solidFill>
                <a:latin typeface="Calibri"/>
              </a:rPr>
              <a:t>Cluster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Shape 48"/>
          <p:cNvSpPr/>
          <p:nvPr/>
        </p:nvSpPr>
        <p:spPr>
          <a:xfrm>
            <a:off x="7772400" y="2194560"/>
            <a:ext cx="200880" cy="200880"/>
          </a:xfrm>
          <a:prstGeom prst="ellipse">
            <a:avLst/>
          </a:prstGeom>
          <a:solidFill>
            <a:srgbClr val="fb923c"/>
          </a:solidFill>
          <a:ln w="1270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 49"/>
          <p:cNvSpPr/>
          <p:nvPr/>
        </p:nvSpPr>
        <p:spPr>
          <a:xfrm>
            <a:off x="7607880" y="2423160"/>
            <a:ext cx="548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b923c"/>
                </a:solidFill>
                <a:latin typeface="Calibri"/>
              </a:rPr>
              <a:t>Noise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Text 50"/>
          <p:cNvSpPr/>
          <p:nvPr/>
        </p:nvSpPr>
        <p:spPr>
          <a:xfrm>
            <a:off x="4937760" y="2907720"/>
            <a:ext cx="3748680" cy="187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b="1" lang="en-US" sz="1100" spc="-1" strike="noStrike">
                <a:solidFill>
                  <a:srgbClr val="22d3ee"/>
                </a:solidFill>
                <a:latin typeface="Calibri"/>
                <a:ea typeface="Calibri"/>
              </a:rPr>
              <a:t>Density-Based</a:t>
            </a:r>
            <a:r>
              <a:rPr b="0" lang="en-US" sz="1100" spc="-1" strike="noStrike">
                <a:solidFill>
                  <a:srgbClr val="c4b5fd"/>
                </a:solidFill>
                <a:latin typeface="Calibri"/>
                <a:ea typeface="Calibri"/>
              </a:rPr>
              <a:t>  — Finds clusters as regions of high point density.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r>
              <a:rPr b="1" lang="en-US" sz="1100" spc="-1" strike="noStrike">
                <a:solidFill>
                  <a:srgbClr val="22d3ee"/>
                </a:solidFill>
                <a:latin typeface="Calibri"/>
                <a:ea typeface="Calibri"/>
              </a:rPr>
              <a:t>Core Points</a:t>
            </a:r>
            <a:r>
              <a:rPr b="0" lang="en-US" sz="1100" spc="-1" strike="noStrike">
                <a:solidFill>
                  <a:srgbClr val="c4b5fd"/>
                </a:solidFill>
                <a:latin typeface="Calibri"/>
                <a:ea typeface="Calibri"/>
              </a:rPr>
              <a:t>  — Points with at least MinPts neighbors within radius ε.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r>
              <a:rPr b="1" lang="en-US" sz="1100" spc="-1" strike="noStrike">
                <a:solidFill>
                  <a:srgbClr val="fb923c"/>
                </a:solidFill>
                <a:latin typeface="Calibri"/>
                <a:ea typeface="Calibri"/>
              </a:rPr>
              <a:t>Noise Points</a:t>
            </a:r>
            <a:r>
              <a:rPr b="0" lang="en-US" sz="1100" spc="-1" strike="noStrike">
                <a:solidFill>
                  <a:srgbClr val="c4b5fd"/>
                </a:solidFill>
                <a:latin typeface="Calibri"/>
                <a:ea typeface="Calibri"/>
              </a:rPr>
              <a:t>  — Low-density outliers not in any cluster.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✦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Handles arbitrary shapes &amp; outliers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Shape 0"/>
          <p:cNvSpPr/>
          <p:nvPr/>
        </p:nvSpPr>
        <p:spPr>
          <a:xfrm>
            <a:off x="0" y="0"/>
            <a:ext cx="9143640" cy="566640"/>
          </a:xfrm>
          <a:prstGeom prst="rect">
            <a:avLst/>
          </a:prstGeom>
          <a:solidFill>
            <a:srgbClr val="12012c"/>
          </a:solidFill>
          <a:ln w="12700">
            <a:solidFill>
              <a:srgbClr val="12012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Shape 1"/>
          <p:cNvSpPr/>
          <p:nvPr/>
        </p:nvSpPr>
        <p:spPr>
          <a:xfrm>
            <a:off x="0" y="567000"/>
            <a:ext cx="9143640" cy="500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 2"/>
          <p:cNvSpPr/>
          <p:nvPr/>
        </p:nvSpPr>
        <p:spPr>
          <a:xfrm>
            <a:off x="457200" y="730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Fuzzy &amp; Model-Based Clustering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3"/>
          <p:cNvSpPr/>
          <p:nvPr/>
        </p:nvSpPr>
        <p:spPr>
          <a:xfrm>
            <a:off x="274320" y="804600"/>
            <a:ext cx="4023000" cy="411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fb923c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4"/>
          <p:cNvSpPr/>
          <p:nvPr/>
        </p:nvSpPr>
        <p:spPr>
          <a:xfrm>
            <a:off x="274320" y="804600"/>
            <a:ext cx="4023000" cy="47520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Text 5"/>
          <p:cNvSpPr/>
          <p:nvPr/>
        </p:nvSpPr>
        <p:spPr>
          <a:xfrm>
            <a:off x="365760" y="804600"/>
            <a:ext cx="38401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Fuzzy Clustering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6"/>
          <p:cNvSpPr/>
          <p:nvPr/>
        </p:nvSpPr>
        <p:spPr>
          <a:xfrm>
            <a:off x="548640" y="1417320"/>
            <a:ext cx="1462680" cy="1462680"/>
          </a:xfrm>
          <a:prstGeom prst="ellipse">
            <a:avLst/>
          </a:prstGeom>
          <a:solidFill>
            <a:srgbClr val="a855f7">
              <a:alpha val="40000"/>
            </a:srgbClr>
          </a:solidFill>
          <a:ln w="1905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Shape 7"/>
          <p:cNvSpPr/>
          <p:nvPr/>
        </p:nvSpPr>
        <p:spPr>
          <a:xfrm>
            <a:off x="1371600" y="1417320"/>
            <a:ext cx="1462680" cy="1462680"/>
          </a:xfrm>
          <a:prstGeom prst="ellipse">
            <a:avLst/>
          </a:prstGeom>
          <a:solidFill>
            <a:srgbClr val="fb923c">
              <a:alpha val="40000"/>
            </a:srgbClr>
          </a:solidFill>
          <a:ln w="1905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 8"/>
          <p:cNvSpPr/>
          <p:nvPr/>
        </p:nvSpPr>
        <p:spPr>
          <a:xfrm>
            <a:off x="640080" y="182880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a855f7"/>
                </a:solidFill>
                <a:latin typeface="Calibri"/>
              </a:rPr>
              <a:t>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Text 9"/>
          <p:cNvSpPr/>
          <p:nvPr/>
        </p:nvSpPr>
        <p:spPr>
          <a:xfrm>
            <a:off x="2194560" y="182880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b923c"/>
                </a:solidFill>
                <a:latin typeface="Calibri"/>
              </a:rPr>
              <a:t>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 10"/>
          <p:cNvSpPr/>
          <p:nvPr/>
        </p:nvSpPr>
        <p:spPr>
          <a:xfrm>
            <a:off x="1234440" y="1810440"/>
            <a:ext cx="639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2012c"/>
                </a:solidFill>
                <a:latin typeface="Calibri"/>
              </a:rPr>
              <a:t>0.6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2012c"/>
                </a:solidFill>
                <a:latin typeface="Calibri"/>
              </a:rPr>
              <a:t>0.4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 11"/>
          <p:cNvSpPr/>
          <p:nvPr/>
        </p:nvSpPr>
        <p:spPr>
          <a:xfrm>
            <a:off x="384120" y="3017520"/>
            <a:ext cx="37486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A data point in the overlap zone belongs to BOTH clusters with fractional membership scores (e.g. 60% to A, 40% to B).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Unlike hard clustering where each point belongs to exactly one cluster, fuzzy clustering allows partial membership.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12"/>
          <p:cNvSpPr/>
          <p:nvPr/>
        </p:nvSpPr>
        <p:spPr>
          <a:xfrm>
            <a:off x="4827960" y="804600"/>
            <a:ext cx="4023000" cy="411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a855f7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Shape 13"/>
          <p:cNvSpPr/>
          <p:nvPr/>
        </p:nvSpPr>
        <p:spPr>
          <a:xfrm>
            <a:off x="4827960" y="804600"/>
            <a:ext cx="4023000" cy="47520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Text 14"/>
          <p:cNvSpPr/>
          <p:nvPr/>
        </p:nvSpPr>
        <p:spPr>
          <a:xfrm>
            <a:off x="4919400" y="804600"/>
            <a:ext cx="38401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Model-Based Clustering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Shape 15"/>
          <p:cNvSpPr/>
          <p:nvPr/>
        </p:nvSpPr>
        <p:spPr>
          <a:xfrm flipV="1">
            <a:off x="5248440" y="2579760"/>
            <a:ext cx="128160" cy="95040"/>
          </a:xfrm>
          <a:prstGeom prst="line">
            <a:avLst/>
          </a:prstGeom>
          <a:ln w="254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Shape 16"/>
          <p:cNvSpPr/>
          <p:nvPr/>
        </p:nvSpPr>
        <p:spPr>
          <a:xfrm flipV="1">
            <a:off x="5376600" y="2437920"/>
            <a:ext cx="127800" cy="141840"/>
          </a:xfrm>
          <a:prstGeom prst="line">
            <a:avLst/>
          </a:prstGeom>
          <a:ln w="254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Shape 17"/>
          <p:cNvSpPr/>
          <p:nvPr/>
        </p:nvSpPr>
        <p:spPr>
          <a:xfrm flipV="1">
            <a:off x="5504400" y="2299320"/>
            <a:ext cx="128160" cy="138600"/>
          </a:xfrm>
          <a:prstGeom prst="line">
            <a:avLst/>
          </a:prstGeom>
          <a:ln w="254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18"/>
          <p:cNvSpPr/>
          <p:nvPr/>
        </p:nvSpPr>
        <p:spPr>
          <a:xfrm flipV="1">
            <a:off x="5632560" y="2240280"/>
            <a:ext cx="128160" cy="59040"/>
          </a:xfrm>
          <a:prstGeom prst="line">
            <a:avLst/>
          </a:prstGeom>
          <a:ln w="254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4040" bIns="140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Shape 19"/>
          <p:cNvSpPr/>
          <p:nvPr/>
        </p:nvSpPr>
        <p:spPr>
          <a:xfrm>
            <a:off x="5760720" y="2240280"/>
            <a:ext cx="127800" cy="59040"/>
          </a:xfrm>
          <a:prstGeom prst="line">
            <a:avLst/>
          </a:prstGeom>
          <a:ln w="254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4040" bIns="140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20"/>
          <p:cNvSpPr/>
          <p:nvPr/>
        </p:nvSpPr>
        <p:spPr>
          <a:xfrm>
            <a:off x="5888520" y="2299320"/>
            <a:ext cx="128160" cy="138600"/>
          </a:xfrm>
          <a:prstGeom prst="line">
            <a:avLst/>
          </a:prstGeom>
          <a:ln w="254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21"/>
          <p:cNvSpPr/>
          <p:nvPr/>
        </p:nvSpPr>
        <p:spPr>
          <a:xfrm>
            <a:off x="6016680" y="2437920"/>
            <a:ext cx="127800" cy="141840"/>
          </a:xfrm>
          <a:prstGeom prst="line">
            <a:avLst/>
          </a:prstGeom>
          <a:ln w="254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Shape 22"/>
          <p:cNvSpPr/>
          <p:nvPr/>
        </p:nvSpPr>
        <p:spPr>
          <a:xfrm>
            <a:off x="6144480" y="2579760"/>
            <a:ext cx="128160" cy="95040"/>
          </a:xfrm>
          <a:prstGeom prst="line">
            <a:avLst/>
          </a:prstGeom>
          <a:ln w="254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Shape 23"/>
          <p:cNvSpPr/>
          <p:nvPr/>
        </p:nvSpPr>
        <p:spPr>
          <a:xfrm>
            <a:off x="5687640" y="2167200"/>
            <a:ext cx="145800" cy="14580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Shape 24"/>
          <p:cNvSpPr/>
          <p:nvPr/>
        </p:nvSpPr>
        <p:spPr>
          <a:xfrm flipV="1">
            <a:off x="6071400" y="2548800"/>
            <a:ext cx="128160" cy="86760"/>
          </a:xfrm>
          <a:prstGeom prst="line">
            <a:avLst/>
          </a:prstGeom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1760" bIns="4176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Shape 25"/>
          <p:cNvSpPr/>
          <p:nvPr/>
        </p:nvSpPr>
        <p:spPr>
          <a:xfrm flipV="1">
            <a:off x="6199560" y="2419920"/>
            <a:ext cx="127800" cy="128880"/>
          </a:xfrm>
          <a:prstGeom prst="line">
            <a:avLst/>
          </a:prstGeom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26"/>
          <p:cNvSpPr/>
          <p:nvPr/>
        </p:nvSpPr>
        <p:spPr>
          <a:xfrm flipV="1">
            <a:off x="6327360" y="2293920"/>
            <a:ext cx="128160" cy="126000"/>
          </a:xfrm>
          <a:prstGeom prst="line">
            <a:avLst/>
          </a:prstGeom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27"/>
          <p:cNvSpPr/>
          <p:nvPr/>
        </p:nvSpPr>
        <p:spPr>
          <a:xfrm flipV="1">
            <a:off x="6455520" y="2240280"/>
            <a:ext cx="128160" cy="53640"/>
          </a:xfrm>
          <a:prstGeom prst="line">
            <a:avLst/>
          </a:prstGeom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8640" bIns="8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28"/>
          <p:cNvSpPr/>
          <p:nvPr/>
        </p:nvSpPr>
        <p:spPr>
          <a:xfrm>
            <a:off x="6583680" y="2240280"/>
            <a:ext cx="127800" cy="53640"/>
          </a:xfrm>
          <a:prstGeom prst="line">
            <a:avLst/>
          </a:prstGeom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8640" bIns="8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Shape 29"/>
          <p:cNvSpPr/>
          <p:nvPr/>
        </p:nvSpPr>
        <p:spPr>
          <a:xfrm>
            <a:off x="6711480" y="2293920"/>
            <a:ext cx="128160" cy="126000"/>
          </a:xfrm>
          <a:prstGeom prst="line">
            <a:avLst/>
          </a:prstGeom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Shape 30"/>
          <p:cNvSpPr/>
          <p:nvPr/>
        </p:nvSpPr>
        <p:spPr>
          <a:xfrm>
            <a:off x="6839640" y="2419920"/>
            <a:ext cx="127800" cy="128880"/>
          </a:xfrm>
          <a:prstGeom prst="line">
            <a:avLst/>
          </a:prstGeom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31"/>
          <p:cNvSpPr/>
          <p:nvPr/>
        </p:nvSpPr>
        <p:spPr>
          <a:xfrm>
            <a:off x="6967440" y="2548800"/>
            <a:ext cx="128160" cy="86760"/>
          </a:xfrm>
          <a:prstGeom prst="line">
            <a:avLst/>
          </a:prstGeom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1760" bIns="4176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Shape 32"/>
          <p:cNvSpPr/>
          <p:nvPr/>
        </p:nvSpPr>
        <p:spPr>
          <a:xfrm>
            <a:off x="6510600" y="2167200"/>
            <a:ext cx="145800" cy="14580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Shape 33"/>
          <p:cNvSpPr/>
          <p:nvPr/>
        </p:nvSpPr>
        <p:spPr>
          <a:xfrm flipV="1">
            <a:off x="6985800" y="2634480"/>
            <a:ext cx="128160" cy="90000"/>
          </a:xfrm>
          <a:prstGeom prst="line">
            <a:avLst/>
          </a:prstGeom>
          <a:ln w="254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Shape 34"/>
          <p:cNvSpPr/>
          <p:nvPr/>
        </p:nvSpPr>
        <p:spPr>
          <a:xfrm flipV="1">
            <a:off x="7113960" y="2500200"/>
            <a:ext cx="127800" cy="134280"/>
          </a:xfrm>
          <a:prstGeom prst="line">
            <a:avLst/>
          </a:prstGeom>
          <a:ln w="254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35"/>
          <p:cNvSpPr/>
          <p:nvPr/>
        </p:nvSpPr>
        <p:spPr>
          <a:xfrm flipV="1">
            <a:off x="7241760" y="2369160"/>
            <a:ext cx="128160" cy="131040"/>
          </a:xfrm>
          <a:prstGeom prst="line">
            <a:avLst/>
          </a:prstGeom>
          <a:ln w="254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Shape 36"/>
          <p:cNvSpPr/>
          <p:nvPr/>
        </p:nvSpPr>
        <p:spPr>
          <a:xfrm flipV="1">
            <a:off x="7369920" y="2313360"/>
            <a:ext cx="128160" cy="55800"/>
          </a:xfrm>
          <a:prstGeom prst="line">
            <a:avLst/>
          </a:prstGeom>
          <a:ln w="254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0800" bIns="108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Shape 37"/>
          <p:cNvSpPr/>
          <p:nvPr/>
        </p:nvSpPr>
        <p:spPr>
          <a:xfrm>
            <a:off x="7498080" y="2313360"/>
            <a:ext cx="127800" cy="55800"/>
          </a:xfrm>
          <a:prstGeom prst="line">
            <a:avLst/>
          </a:prstGeom>
          <a:ln w="254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0800" bIns="108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38"/>
          <p:cNvSpPr/>
          <p:nvPr/>
        </p:nvSpPr>
        <p:spPr>
          <a:xfrm>
            <a:off x="7625880" y="2369160"/>
            <a:ext cx="128160" cy="131040"/>
          </a:xfrm>
          <a:prstGeom prst="line">
            <a:avLst/>
          </a:prstGeom>
          <a:ln w="254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39"/>
          <p:cNvSpPr/>
          <p:nvPr/>
        </p:nvSpPr>
        <p:spPr>
          <a:xfrm>
            <a:off x="7754040" y="2500200"/>
            <a:ext cx="127800" cy="134280"/>
          </a:xfrm>
          <a:prstGeom prst="line">
            <a:avLst/>
          </a:prstGeom>
          <a:ln w="254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40"/>
          <p:cNvSpPr/>
          <p:nvPr/>
        </p:nvSpPr>
        <p:spPr>
          <a:xfrm>
            <a:off x="7881840" y="2634480"/>
            <a:ext cx="128160" cy="90000"/>
          </a:xfrm>
          <a:prstGeom prst="line">
            <a:avLst/>
          </a:prstGeom>
          <a:ln w="254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41"/>
          <p:cNvSpPr/>
          <p:nvPr/>
        </p:nvSpPr>
        <p:spPr>
          <a:xfrm>
            <a:off x="7425000" y="2240280"/>
            <a:ext cx="145800" cy="14580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Text 42"/>
          <p:cNvSpPr/>
          <p:nvPr/>
        </p:nvSpPr>
        <p:spPr>
          <a:xfrm>
            <a:off x="5074920" y="2834640"/>
            <a:ext cx="3565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4b5fd"/>
                </a:solidFill>
                <a:latin typeface="Calibri"/>
              </a:rPr>
              <a:t>Gaussian distributions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 43"/>
          <p:cNvSpPr/>
          <p:nvPr/>
        </p:nvSpPr>
        <p:spPr>
          <a:xfrm>
            <a:off x="4937760" y="3154680"/>
            <a:ext cx="3748680" cy="16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Assumes data is generated by a mixture of probabilistic distributions (usually Gaussian).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Estimates the model parameters that best fit the data, then assigns each point to a cluster based on its probability (likelihood) under that model.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EM (Expectation-Maximization) algorithm is used for optimization.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201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Shape 0"/>
          <p:cNvSpPr/>
          <p:nvPr/>
        </p:nvSpPr>
        <p:spPr>
          <a:xfrm>
            <a:off x="6400800" y="-914400"/>
            <a:ext cx="5028840" cy="5028840"/>
          </a:xfrm>
          <a:prstGeom prst="ellipse">
            <a:avLst/>
          </a:prstGeom>
          <a:solidFill>
            <a:srgbClr val="1e0a4a">
              <a:alpha val="40000"/>
            </a:srgbClr>
          </a:solidFill>
          <a:ln w="12700">
            <a:solidFill>
              <a:srgbClr val="1e0a4a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Shape 1"/>
          <p:cNvSpPr/>
          <p:nvPr/>
        </p:nvSpPr>
        <p:spPr>
          <a:xfrm>
            <a:off x="7315200" y="2286000"/>
            <a:ext cx="3200040" cy="3200040"/>
          </a:xfrm>
          <a:prstGeom prst="ellipse">
            <a:avLst/>
          </a:prstGeom>
          <a:solidFill>
            <a:srgbClr val="271060">
              <a:alpha val="45000"/>
            </a:srgbClr>
          </a:solidFill>
          <a:ln w="12700">
            <a:solidFill>
              <a:srgbClr val="271060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Shape 2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Shape 3"/>
          <p:cNvSpPr/>
          <p:nvPr/>
        </p:nvSpPr>
        <p:spPr>
          <a:xfrm>
            <a:off x="0" y="5070240"/>
            <a:ext cx="9143640" cy="72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Text 4"/>
          <p:cNvSpPr/>
          <p:nvPr/>
        </p:nvSpPr>
        <p:spPr>
          <a:xfrm>
            <a:off x="502920" y="164520"/>
            <a:ext cx="7314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alibri"/>
                <a:ea typeface="Calibri"/>
              </a:rPr>
              <a:t>Key Takeaways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" name="Shape 5"/>
          <p:cNvSpPr/>
          <p:nvPr/>
        </p:nvSpPr>
        <p:spPr>
          <a:xfrm>
            <a:off x="411480" y="914400"/>
            <a:ext cx="7954920" cy="658080"/>
          </a:xfrm>
          <a:prstGeom prst="rect">
            <a:avLst/>
          </a:prstGeom>
          <a:solidFill>
            <a:srgbClr val="271060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Shape 6"/>
          <p:cNvSpPr/>
          <p:nvPr/>
        </p:nvSpPr>
        <p:spPr>
          <a:xfrm>
            <a:off x="411480" y="914400"/>
            <a:ext cx="658080" cy="65808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Text 7"/>
          <p:cNvSpPr/>
          <p:nvPr/>
        </p:nvSpPr>
        <p:spPr>
          <a:xfrm>
            <a:off x="411480" y="91440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2012c"/>
                </a:solidFill>
                <a:latin typeface="Calibri"/>
              </a:rPr>
              <a:t>01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Text 8"/>
          <p:cNvSpPr/>
          <p:nvPr/>
        </p:nvSpPr>
        <p:spPr>
          <a:xfrm>
            <a:off x="1170360" y="1024200"/>
            <a:ext cx="70405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4b5fd"/>
                </a:solidFill>
                <a:latin typeface="Calibri"/>
              </a:rPr>
              <a:t>Clustering groups similar data points without labels — a core unsupervised learning technique.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Shape 9"/>
          <p:cNvSpPr/>
          <p:nvPr/>
        </p:nvSpPr>
        <p:spPr>
          <a:xfrm>
            <a:off x="411480" y="1710000"/>
            <a:ext cx="7954920" cy="658080"/>
          </a:xfrm>
          <a:prstGeom prst="rect">
            <a:avLst/>
          </a:prstGeom>
          <a:solidFill>
            <a:srgbClr val="271060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Shape 10"/>
          <p:cNvSpPr/>
          <p:nvPr/>
        </p:nvSpPr>
        <p:spPr>
          <a:xfrm>
            <a:off x="411480" y="1710000"/>
            <a:ext cx="658080" cy="65808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Text 11"/>
          <p:cNvSpPr/>
          <p:nvPr/>
        </p:nvSpPr>
        <p:spPr>
          <a:xfrm>
            <a:off x="411480" y="171000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2012c"/>
                </a:solidFill>
                <a:latin typeface="Calibri"/>
              </a:rPr>
              <a:t>02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Text 12"/>
          <p:cNvSpPr/>
          <p:nvPr/>
        </p:nvSpPr>
        <p:spPr>
          <a:xfrm>
            <a:off x="1170360" y="1819800"/>
            <a:ext cx="70405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4b5fd"/>
                </a:solidFill>
                <a:latin typeface="Calibri"/>
              </a:rPr>
              <a:t>A good cluster maximizes intra-cluster similarity and minimizes inter-cluster similarity.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Shape 13"/>
          <p:cNvSpPr/>
          <p:nvPr/>
        </p:nvSpPr>
        <p:spPr>
          <a:xfrm>
            <a:off x="411480" y="2505600"/>
            <a:ext cx="7954920" cy="658080"/>
          </a:xfrm>
          <a:prstGeom prst="rect">
            <a:avLst/>
          </a:prstGeom>
          <a:solidFill>
            <a:srgbClr val="271060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Shape 14"/>
          <p:cNvSpPr/>
          <p:nvPr/>
        </p:nvSpPr>
        <p:spPr>
          <a:xfrm>
            <a:off x="411480" y="2505600"/>
            <a:ext cx="658080" cy="65808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 15"/>
          <p:cNvSpPr/>
          <p:nvPr/>
        </p:nvSpPr>
        <p:spPr>
          <a:xfrm>
            <a:off x="411480" y="250560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2012c"/>
                </a:solidFill>
                <a:latin typeface="Calibri"/>
              </a:rPr>
              <a:t>03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" name="Text 16"/>
          <p:cNvSpPr/>
          <p:nvPr/>
        </p:nvSpPr>
        <p:spPr>
          <a:xfrm>
            <a:off x="1170360" y="2615040"/>
            <a:ext cx="70405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4b5fd"/>
                </a:solidFill>
                <a:latin typeface="Calibri"/>
              </a:rPr>
              <a:t>Five main methods: K-Means, Hierarchical, DBSCAN, Model-Based, and Fuzzy Clustering.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" name="Shape 17"/>
          <p:cNvSpPr/>
          <p:nvPr/>
        </p:nvSpPr>
        <p:spPr>
          <a:xfrm>
            <a:off x="411480" y="3300840"/>
            <a:ext cx="7954920" cy="658080"/>
          </a:xfrm>
          <a:prstGeom prst="rect">
            <a:avLst/>
          </a:prstGeom>
          <a:solidFill>
            <a:srgbClr val="271060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Shape 18"/>
          <p:cNvSpPr/>
          <p:nvPr/>
        </p:nvSpPr>
        <p:spPr>
          <a:xfrm>
            <a:off x="411480" y="3300840"/>
            <a:ext cx="658080" cy="65808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 19"/>
          <p:cNvSpPr/>
          <p:nvPr/>
        </p:nvSpPr>
        <p:spPr>
          <a:xfrm>
            <a:off x="411480" y="330084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2012c"/>
                </a:solidFill>
                <a:latin typeface="Calibri"/>
              </a:rPr>
              <a:t>04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Text 20"/>
          <p:cNvSpPr/>
          <p:nvPr/>
        </p:nvSpPr>
        <p:spPr>
          <a:xfrm>
            <a:off x="1170360" y="3410640"/>
            <a:ext cx="70405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4b5fd"/>
                </a:solidFill>
                <a:latin typeface="Calibri"/>
              </a:rPr>
              <a:t>Applications span marketing, healthcare, bioinformatics, cybersecurity, and NLP.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Shape 21"/>
          <p:cNvSpPr/>
          <p:nvPr/>
        </p:nvSpPr>
        <p:spPr>
          <a:xfrm>
            <a:off x="411480" y="4096440"/>
            <a:ext cx="7954920" cy="658080"/>
          </a:xfrm>
          <a:prstGeom prst="rect">
            <a:avLst/>
          </a:prstGeom>
          <a:solidFill>
            <a:srgbClr val="271060"/>
          </a:solidFill>
          <a:ln w="1270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Shape 22"/>
          <p:cNvSpPr/>
          <p:nvPr/>
        </p:nvSpPr>
        <p:spPr>
          <a:xfrm>
            <a:off x="411480" y="4096440"/>
            <a:ext cx="658080" cy="65808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 23"/>
          <p:cNvSpPr/>
          <p:nvPr/>
        </p:nvSpPr>
        <p:spPr>
          <a:xfrm>
            <a:off x="411480" y="409644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2012c"/>
                </a:solidFill>
                <a:latin typeface="Calibri"/>
              </a:rPr>
              <a:t>05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Text 24"/>
          <p:cNvSpPr/>
          <p:nvPr/>
        </p:nvSpPr>
        <p:spPr>
          <a:xfrm>
            <a:off x="1170360" y="4206240"/>
            <a:ext cx="70405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4b5fd"/>
                </a:solidFill>
                <a:latin typeface="Calibri"/>
              </a:rPr>
              <a:t>Clustering is scalable, handles high dimensions, arbitrary shapes, and diverse data types.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2026-03-16T03:12:07Z</dcterms:created>
  <dc:creator>PptxGenJS</dc:creator>
  <dc:description/>
  <dc:language>en-US</dc:language>
  <cp:lastModifiedBy>PptxGenJS</cp:lastModifiedBy>
  <dcterms:modified xsi:type="dcterms:W3CDTF">2026-03-16T03:12:07Z</dcterms:modified>
  <cp:revision>1</cp:revision>
  <dc:subject>PptxGenJS Presentation</dc:subject>
  <dc:title>Clustering in Data Mining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