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943600" cy="5943600"/>
          </a:xfrm>
          <a:prstGeom prst="ellipse">
            <a:avLst/>
          </a:prstGeom>
          <a:solidFill>
            <a:srgbClr val="1E0A4A">
              <a:alpha val="60000"/>
            </a:srgbClr>
          </a:solidFill>
          <a:ln w="12700">
            <a:solidFill>
              <a:srgbClr val="1E0A4A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548640"/>
            <a:ext cx="3840480" cy="3840480"/>
          </a:xfrm>
          <a:prstGeom prst="ellipse">
            <a:avLst/>
          </a:prstGeom>
          <a:solidFill>
            <a:srgbClr val="271060">
              <a:alpha val="50000"/>
            </a:srgbClr>
          </a:solidFill>
          <a:ln w="12700">
            <a:solidFill>
              <a:srgbClr val="27106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30568" y="1188720"/>
            <a:ext cx="182880" cy="1828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34072" y="1188720"/>
            <a:ext cx="182880" cy="1828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914400"/>
            <a:ext cx="182880" cy="1828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1490472"/>
            <a:ext cx="182880" cy="1828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12864" y="1408176"/>
            <a:ext cx="182880" cy="1828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1776" y="941832"/>
            <a:ext cx="182880" cy="1828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9168" y="1115568"/>
            <a:ext cx="329184" cy="329184"/>
          </a:xfrm>
          <a:prstGeom prst="ellipse">
            <a:avLst/>
          </a:prstGeom>
          <a:solidFill>
            <a:srgbClr val="A855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9984" y="786384"/>
            <a:ext cx="987552" cy="987552"/>
          </a:xfrm>
          <a:prstGeom prst="ellipse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023860" y="214884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35340" y="205740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883664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322576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94310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6448" y="2029968"/>
            <a:ext cx="329184" cy="329184"/>
          </a:xfrm>
          <a:prstGeom prst="ellipse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1783080"/>
            <a:ext cx="822960" cy="82296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601968" y="2489454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31152" y="2448306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7708" y="2296058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5412" y="2641702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10578" y="2592324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3408" y="2395728"/>
            <a:ext cx="329184" cy="329184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87668" y="2189988"/>
            <a:ext cx="740664" cy="740664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48640" y="685800"/>
            <a:ext cx="1828800" cy="347472"/>
          </a:xfrm>
          <a:prstGeom prst="roundRect">
            <a:avLst>
              <a:gd name="adj" fmla="val 31579"/>
            </a:avLst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85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MINING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1188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5800" dirty="0"/>
          </a:p>
        </p:txBody>
      </p:sp>
      <p:sp>
        <p:nvSpPr>
          <p:cNvPr id="29" name="Text 27"/>
          <p:cNvSpPr/>
          <p:nvPr/>
        </p:nvSpPr>
        <p:spPr>
          <a:xfrm>
            <a:off x="50292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Data Mining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502920" y="27889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 hidden patterns by grouping similar data points — no labels required.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1060"/>
          </a:solidFill>
          <a:ln w="12700">
            <a:solidFill>
              <a:srgbClr val="2710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709160"/>
            <a:ext cx="54864" cy="4343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B5FD"/>
                </a:solidFill>
              </a:rPr>
              <a:t>Unsupervised Learning  •  Pattern Recognition  •  Segmentation  •  K-Means  •  DBSCAN  •  Hierarchical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2012C"/>
          </a:solidFill>
          <a:ln w="12700">
            <a:solidFill>
              <a:srgbClr val="1201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9144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1168" y="2514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Unsupervised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Learning Method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" y="32004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labels.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prior knowledge.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Just patterns.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40233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438912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4114800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4297680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3977640"/>
            <a:ext cx="164592" cy="16459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4160520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4023360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65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0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383280" y="914400"/>
            <a:ext cx="5394960" cy="960120"/>
          </a:xfrm>
          <a:prstGeom prst="rect">
            <a:avLst/>
          </a:prstGeom>
          <a:solidFill>
            <a:srgbClr val="12012C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20440" y="98755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B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"Grouping a set of objects so that objects in the same cluster are MORE SIMILAR to each other than to those in other clusters."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2057400"/>
            <a:ext cx="539496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83280" y="2057400"/>
            <a:ext cx="54864" cy="8046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211226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55F7"/>
                </a:solidFill>
              </a:rPr>
              <a:t>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50208" y="21122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012C"/>
                </a:solidFill>
              </a:rPr>
              <a:t>Intra-cluster similarity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50208" y="238658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Points within a cluster are closely packed and similar to each other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3017520"/>
            <a:ext cx="539496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3017520"/>
            <a:ext cx="54864" cy="8046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07238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C4899"/>
                </a:solidFill>
              </a:rPr>
              <a:t>◎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50208" y="307238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012C"/>
                </a:solidFill>
              </a:rPr>
              <a:t>Inter-cluster difference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50208" y="334670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Points in different clusters are as dissimilar as possible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3977640"/>
            <a:ext cx="539496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3977640"/>
            <a:ext cx="54864" cy="80467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403250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⊕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950208" y="403250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012C"/>
                </a:solidFill>
              </a:rPr>
              <a:t>Centroid representation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50208" y="430682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Each cluster is summarized by a center point (centroid)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Cluster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</a:rPr>
              <a:t>Understanding what makes a good cluster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2194560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2057400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2651760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377440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783080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2606040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554480"/>
            <a:ext cx="1645920" cy="1645920"/>
          </a:xfrm>
          <a:prstGeom prst="ellipse">
            <a:avLst/>
          </a:prstGeom>
          <a:solidFill>
            <a:srgbClr val="A855F7">
              <a:alpha val="15000"/>
            </a:srgbClr>
          </a:solidFill>
          <a:ln w="19050">
            <a:solidFill>
              <a:srgbClr val="A855F7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60120" y="13716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Cluster 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3108960"/>
            <a:ext cx="201168" cy="20116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7872" y="3291840"/>
            <a:ext cx="201168" cy="20116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3383280"/>
            <a:ext cx="201168" cy="20116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2651760"/>
            <a:ext cx="201168" cy="20116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88920" y="2880360"/>
            <a:ext cx="201168" cy="20116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7480" y="2743200"/>
            <a:ext cx="1371600" cy="1371600"/>
          </a:xfrm>
          <a:prstGeom prst="ellipse">
            <a:avLst/>
          </a:prstGeom>
          <a:solidFill>
            <a:srgbClr val="EC4899">
              <a:alpha val="15000"/>
            </a:srgbClr>
          </a:solidFill>
          <a:ln w="19050">
            <a:solidFill>
              <a:srgbClr val="EC4899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697480" y="2560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Cluster 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80160" y="3566160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0" y="3291840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54480" y="3931920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" y="3657600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3182112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246120"/>
            <a:ext cx="1280160" cy="1280160"/>
          </a:xfrm>
          <a:prstGeom prst="ellipse">
            <a:avLst/>
          </a:prstGeom>
          <a:solidFill>
            <a:srgbClr val="22D3EE">
              <a:alpha val="15000"/>
            </a:srgbClr>
          </a:solidFill>
          <a:ln w="19050">
            <a:solidFill>
              <a:srgbClr val="22D3E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68680" y="30632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Cluster 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1005840"/>
            <a:ext cx="4389120" cy="658368"/>
          </a:xfrm>
          <a:prstGeom prst="rect">
            <a:avLst/>
          </a:prstGeom>
          <a:solidFill>
            <a:srgbClr val="27106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272" y="1152144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2272" y="1152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012C"/>
                </a:solidFill>
              </a:rPr>
              <a:t>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9472" y="10607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Similarity within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19472" y="13167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Data points share pre-defined features or criteria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1810512"/>
            <a:ext cx="4389120" cy="658368"/>
          </a:xfrm>
          <a:prstGeom prst="rect">
            <a:avLst/>
          </a:prstGeom>
          <a:solidFill>
            <a:srgbClr val="27106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2272" y="1956816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62272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012C"/>
                </a:solidFill>
              </a:rPr>
              <a:t>●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9472" y="18653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Distinct boundaries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9472" y="21214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Points in one cluster are different from other clusters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89120" y="2615184"/>
            <a:ext cx="4389120" cy="658368"/>
          </a:xfrm>
          <a:prstGeom prst="rect">
            <a:avLst/>
          </a:prstGeom>
          <a:solidFill>
            <a:srgbClr val="27106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62272" y="2761488"/>
            <a:ext cx="365760" cy="36576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62272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012C"/>
                </a:solidFill>
              </a:rPr>
              <a:t>●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26700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Compact packing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19472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Data points within a cluster are closely packed together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89120" y="3419856"/>
            <a:ext cx="4389120" cy="658368"/>
          </a:xfrm>
          <a:prstGeom prst="rect">
            <a:avLst/>
          </a:prstGeom>
          <a:solidFill>
            <a:srgbClr val="27106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62272" y="3566160"/>
            <a:ext cx="365760" cy="365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62272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012C"/>
                </a:solidFill>
              </a:rPr>
              <a:t>●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19472" y="3474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Centroid summary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19472" y="3730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A center point summarizes all cluster properties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389120" y="4224528"/>
            <a:ext cx="4389120" cy="658368"/>
          </a:xfrm>
          <a:prstGeom prst="rect">
            <a:avLst/>
          </a:prstGeom>
          <a:solidFill>
            <a:srgbClr val="27106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62272" y="4370832"/>
            <a:ext cx="365760" cy="36576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62272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012C"/>
                </a:solidFill>
              </a:rPr>
              <a:t>●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19472" y="4279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Flexible size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919472" y="45354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Clusters can vary in size — neither too small nor too large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012C"/>
          </a:solidFill>
          <a:ln w="12700">
            <a:solidFill>
              <a:srgbClr val="1201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Methods in Data Mining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1591056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22960"/>
            <a:ext cx="1591056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89888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Partitioning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56032" y="87782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012C"/>
                </a:solidFill>
              </a:rPr>
              <a:t>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9184" y="1783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012C"/>
                </a:solidFill>
              </a:rPr>
              <a:t>K-Means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" y="2267712"/>
            <a:ext cx="14081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Partitions data into K clusters by iteratively moving each cluster's centroid to the mean of its assigned points.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" y="4224528"/>
            <a:ext cx="1444752" cy="512064"/>
          </a:xfrm>
          <a:prstGeom prst="rect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4224528"/>
            <a:ext cx="1444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5F7"/>
                </a:solidFill>
              </a:rPr>
              <a:t>Requires: Pre-defined K value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93392" y="822960"/>
            <a:ext cx="1591056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93392" y="822960"/>
            <a:ext cx="1591056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1389888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4899"/>
                </a:solidFill>
              </a:rPr>
              <a:t>Tree-based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93392" y="87782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012C"/>
                </a:solidFill>
              </a:rPr>
              <a:t>⊞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066544" y="1783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012C"/>
                </a:solidFill>
              </a:rPr>
              <a:t>Hierarchical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084832" y="2267712"/>
            <a:ext cx="14081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Builds a tree-like hierarchy — merging smaller clusters upward (agglomerative) or splitting large clusters downward (divisive).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66544" y="4224528"/>
            <a:ext cx="1444752" cy="512064"/>
          </a:xfrm>
          <a:prstGeom prst="rect">
            <a:avLst/>
          </a:prstGeom>
          <a:solidFill>
            <a:srgbClr val="EC4899">
              <a:alpha val="12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66544" y="4224528"/>
            <a:ext cx="1444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4899"/>
                </a:solidFill>
              </a:rPr>
              <a:t>No pre-defined K needed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30752" y="822960"/>
            <a:ext cx="1591056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30752" y="822960"/>
            <a:ext cx="1591056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0" y="1389888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0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Density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30752" y="87782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012C"/>
                </a:solidFill>
              </a:rPr>
              <a:t>⊡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03904" y="1783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012C"/>
                </a:solidFill>
              </a:rPr>
              <a:t>Density-Based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012C"/>
                </a:solidFill>
              </a:rPr>
              <a:t>(DBSCAN)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822192" y="2267712"/>
            <a:ext cx="14081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Identifies clusters as dense regions separated by low-density areas. Treats points in sparse regions as noise/outliers.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803904" y="4224528"/>
            <a:ext cx="1444752" cy="512064"/>
          </a:xfrm>
          <a:prstGeom prst="rect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03904" y="4224528"/>
            <a:ext cx="1444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Handles outliers naturally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68112" y="822960"/>
            <a:ext cx="1591056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68112" y="822960"/>
            <a:ext cx="1591056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1389888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Statistical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68112" y="87782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012C"/>
                </a:solidFill>
              </a:rPr>
              <a:t>⊗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541264" y="1783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012C"/>
                </a:solidFill>
              </a:rPr>
              <a:t>Model-Based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559552" y="2267712"/>
            <a:ext cx="14081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Assumes data follows a probabilistic model (e.g. Gaussian mixture). Assigns points to clusters by likelihood under the model.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541264" y="4224528"/>
            <a:ext cx="1444752" cy="512064"/>
          </a:xfrm>
          <a:prstGeom prst="rect">
            <a:avLst/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41264" y="4224528"/>
            <a:ext cx="1444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Probabilistic membership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05472" y="822960"/>
            <a:ext cx="1591056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05472" y="822960"/>
            <a:ext cx="1591056" cy="502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06640" y="1389888"/>
            <a:ext cx="1188720" cy="274320"/>
          </a:xfrm>
          <a:prstGeom prst="roundRect">
            <a:avLst>
              <a:gd name="adj" fmla="val 26667"/>
            </a:avLst>
          </a:prstGeom>
          <a:solidFill>
            <a:srgbClr val="FB923C">
              <a:alpha val="2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</a:rPr>
              <a:t>Soft-assign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205472" y="87782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012C"/>
                </a:solidFill>
              </a:rPr>
              <a:t>⊘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278624" y="1783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012C"/>
                </a:solidFill>
              </a:rPr>
              <a:t>Fuzzy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2012C"/>
                </a:solidFill>
              </a:rPr>
              <a:t>Clustering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296912" y="2267712"/>
            <a:ext cx="14081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Allows each data point to belong to multiple clusters with different degrees of membership, unlike hard assignments.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278624" y="4224528"/>
            <a:ext cx="1444752" cy="512064"/>
          </a:xfrm>
          <a:prstGeom prst="rect">
            <a:avLst/>
          </a:prstGeom>
          <a:solidFill>
            <a:srgbClr val="FB923C">
              <a:alpha val="12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78624" y="4224528"/>
            <a:ext cx="1444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923C"/>
                </a:solidFill>
              </a:rPr>
              <a:t>Soft membership scores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0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</a:rPr>
              <a:t>Where clustering creates value across industries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633472" cy="1691640"/>
          </a:xfrm>
          <a:prstGeom prst="rect">
            <a:avLst/>
          </a:prstGeom>
          <a:solidFill>
            <a:srgbClr val="271060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633472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280160"/>
            <a:ext cx="457200" cy="457200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8408" y="12801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Segmentation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828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</a:rPr>
              <a:t>Group customers by behavior, preferences &amp; purchase patterns for targeted marketing campaigns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78992"/>
            <a:ext cx="2633472" cy="1691640"/>
          </a:xfrm>
          <a:prstGeom prst="rect">
            <a:avLst/>
          </a:prstGeom>
          <a:solidFill>
            <a:srgbClr val="271060"/>
          </a:solidFill>
          <a:ln w="1524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78992"/>
            <a:ext cx="2633472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280160"/>
            <a:ext cx="457200" cy="457200"/>
          </a:xfrm>
          <a:prstGeom prst="ellipse">
            <a:avLst/>
          </a:prstGeom>
          <a:solidFill>
            <a:srgbClr val="EC4899">
              <a:alpha val="7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58768" y="12801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Image Segmentation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828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</a:rPr>
              <a:t>Segment images into distinct regions by pixel values — used in object recognition &amp; image compression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078992"/>
            <a:ext cx="2633472" cy="1691640"/>
          </a:xfrm>
          <a:prstGeom prst="rect">
            <a:avLst/>
          </a:prstGeom>
          <a:solidFill>
            <a:srgbClr val="271060"/>
          </a:solidFill>
          <a:ln w="1524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78992"/>
            <a:ext cx="2633472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488" y="1280160"/>
            <a:ext cx="457200" cy="457200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39128" y="12801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Anomaly Detection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0488" y="1828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</a:rPr>
              <a:t>Identify outliers that deviate significantly from normal behavior in cybersecurity &amp; fraud detection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999232"/>
            <a:ext cx="2633472" cy="1691640"/>
          </a:xfrm>
          <a:prstGeom prst="rect">
            <a:avLst/>
          </a:prstGeom>
          <a:solidFill>
            <a:srgbClr val="271060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99232"/>
            <a:ext cx="2633472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" y="3200400"/>
            <a:ext cx="457200" cy="457200"/>
          </a:xfrm>
          <a:prstGeom prst="ellipse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8408" y="32004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Text &amp; Document Mining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9768" y="37490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</a:rPr>
              <a:t>Group documents with similar content for summarization, topic modeling &amp; information retrieval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0" y="2999232"/>
            <a:ext cx="2633472" cy="1691640"/>
          </a:xfrm>
          <a:prstGeom prst="rect">
            <a:avLst/>
          </a:prstGeom>
          <a:solidFill>
            <a:srgbClr val="271060"/>
          </a:solidFill>
          <a:ln w="15240">
            <a:solidFill>
              <a:srgbClr val="FB92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99232"/>
            <a:ext cx="2633472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0128" y="3200400"/>
            <a:ext cx="457200" cy="457200"/>
          </a:xfrm>
          <a:prstGeom prst="ellipse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858768" y="32004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Bioinformatics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10128" y="37490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</a:rPr>
              <a:t>Cluster genes or proteins by expression patterns to aid drug discovery &amp; disease diagnosis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80760" y="2999232"/>
            <a:ext cx="2633472" cy="1691640"/>
          </a:xfrm>
          <a:prstGeom prst="rect">
            <a:avLst/>
          </a:prstGeom>
          <a:solidFill>
            <a:srgbClr val="271060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999232"/>
            <a:ext cx="2633472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90488" y="3200400"/>
            <a:ext cx="457200" cy="457200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0488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739128" y="32004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Recommender Systems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90488" y="37490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</a:rPr>
              <a:t>Group users with similar interests to create personalized product &amp; content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0A4A"/>
          </a:solidFill>
          <a:ln w="12700">
            <a:solidFill>
              <a:srgbClr val="1E0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Clustering Required?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11480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87552"/>
            <a:ext cx="457200" cy="457200"/>
          </a:xfrm>
          <a:prstGeom prst="ellipse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8992" y="10241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012C"/>
                </a:solidFill>
              </a:rPr>
              <a:t>Scalability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1536192"/>
            <a:ext cx="385876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Clustering algorithms efficiently handle massive datasets, extracting insights from large volumes of data without performance degradation.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148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22960"/>
            <a:ext cx="4114800" cy="502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987552"/>
            <a:ext cx="457200" cy="457200"/>
          </a:xfrm>
          <a:prstGeom prst="ellipse">
            <a:avLst/>
          </a:prstGeom>
          <a:solidFill>
            <a:srgbClr val="EC4899">
              <a:alpha val="7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76672" y="10241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012C"/>
                </a:solidFill>
              </a:rPr>
              <a:t>High Dimensionality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1536192"/>
            <a:ext cx="385876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Can operate on high-dimensional datasets and uncover patterns and relationships not visible in lower-dimensional representations.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265176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06040"/>
            <a:ext cx="2651760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770632"/>
            <a:ext cx="457200" cy="457200"/>
          </a:xfrm>
          <a:prstGeom prst="ellipse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🔷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78992" y="2807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012C"/>
                </a:solidFill>
              </a:rPr>
              <a:t>Arbitrary Shapes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" y="3319272"/>
            <a:ext cx="2395728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Capable of discovering clusters with irregular, non-spherical shapes and varying sizes — not limited to round or uniform groups.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0" y="2606040"/>
            <a:ext cx="265176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606040"/>
            <a:ext cx="2651760" cy="502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2770632"/>
            <a:ext cx="457200" cy="457200"/>
          </a:xfrm>
          <a:prstGeom prst="ellipse">
            <a:avLst/>
          </a:prstGeom>
          <a:solidFill>
            <a:srgbClr val="34D399">
              <a:alpha val="7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13632" y="2807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012C"/>
                </a:solidFill>
              </a:rPr>
              <a:t>Interpretability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64992" y="3319272"/>
            <a:ext cx="2395728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Clustering results are intuitive and human-readable, enabling analysts to extract actionable insights without complex modeling.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2606040"/>
            <a:ext cx="265176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606040"/>
            <a:ext cx="2651760" cy="5029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2770632"/>
            <a:ext cx="457200" cy="457200"/>
          </a:xfrm>
          <a:prstGeom prst="ellipse">
            <a:avLst/>
          </a:prstGeom>
          <a:solidFill>
            <a:srgbClr val="FB923C">
              <a:alpha val="7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48272" y="2807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012C"/>
                </a:solidFill>
              </a:rPr>
              <a:t>Diverse Data Types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99632" y="3319272"/>
            <a:ext cx="2395728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Works across categorical, numerical, binary, and mixed data types — making it applicable to nearly any domain or dataset.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0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vs Classification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51960" y="2103120"/>
            <a:ext cx="640080" cy="640080"/>
          </a:xfrm>
          <a:prstGeom prst="ellipse">
            <a:avLst/>
          </a:prstGeom>
          <a:solidFill>
            <a:srgbClr val="A855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51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868680"/>
            <a:ext cx="0" cy="4069080"/>
          </a:xfrm>
          <a:prstGeom prst="line">
            <a:avLst/>
          </a:prstGeom>
          <a:noFill/>
          <a:ln w="19050">
            <a:solidFill>
              <a:srgbClr val="271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41248"/>
            <a:ext cx="4023360" cy="530352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CLUSTERING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4023360" cy="530352"/>
          </a:xfrm>
          <a:prstGeom prst="rect">
            <a:avLst/>
          </a:prstGeom>
          <a:solidFill>
            <a:srgbClr val="271060"/>
          </a:solidFill>
          <a:ln w="12700">
            <a:solidFill>
              <a:srgbClr val="1E0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6362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</a:rPr>
              <a:t>Learning Type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1563624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Unsupervised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30552"/>
            <a:ext cx="4023360" cy="530352"/>
          </a:xfrm>
          <a:prstGeom prst="rect">
            <a:avLst/>
          </a:prstGeom>
          <a:solidFill>
            <a:srgbClr val="1E0A4A"/>
          </a:solidFill>
          <a:ln w="12700">
            <a:solidFill>
              <a:srgbClr val="1E0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18541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</a:rPr>
              <a:t>Labels Required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83080" y="2185416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No — discovers groups automatically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52344"/>
            <a:ext cx="4023360" cy="530352"/>
          </a:xfrm>
          <a:prstGeom prst="rect">
            <a:avLst/>
          </a:prstGeom>
          <a:solidFill>
            <a:srgbClr val="271060"/>
          </a:solidFill>
          <a:ln w="12700">
            <a:solidFill>
              <a:srgbClr val="1E0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80720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</a:rPr>
              <a:t>Goal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83080" y="280720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Find natural groupings in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74136"/>
            <a:ext cx="4023360" cy="530352"/>
          </a:xfrm>
          <a:prstGeom prst="rect">
            <a:avLst/>
          </a:prstGeom>
          <a:solidFill>
            <a:srgbClr val="1E0A4A"/>
          </a:solidFill>
          <a:ln w="12700">
            <a:solidFill>
              <a:srgbClr val="1E0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42900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</a:rPr>
              <a:t>Output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83080" y="3429000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Cluster assignments (group IDs)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995928"/>
            <a:ext cx="4023360" cy="530352"/>
          </a:xfrm>
          <a:prstGeom prst="rect">
            <a:avLst/>
          </a:prstGeom>
          <a:solidFill>
            <a:srgbClr val="271060"/>
          </a:solidFill>
          <a:ln w="12700">
            <a:solidFill>
              <a:srgbClr val="1E0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0507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</a:rPr>
              <a:t>Use Case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83080" y="4050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Exploration &amp; pattern discovery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28032" y="841248"/>
            <a:ext cx="4023360" cy="530352"/>
          </a:xfrm>
          <a:prstGeom prst="rect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84124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CLASSIFICATION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28032" y="1508760"/>
            <a:ext cx="4023360" cy="530352"/>
          </a:xfrm>
          <a:prstGeom prst="rect">
            <a:avLst/>
          </a:prstGeom>
          <a:solidFill>
            <a:srgbClr val="271060"/>
          </a:solidFill>
          <a:ln w="12700">
            <a:solidFill>
              <a:srgbClr val="1E0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56362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</a:rPr>
              <a:t>Learning Type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36792" y="1563624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Supervised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28032" y="2130552"/>
            <a:ext cx="4023360" cy="530352"/>
          </a:xfrm>
          <a:prstGeom prst="rect">
            <a:avLst/>
          </a:prstGeom>
          <a:solidFill>
            <a:srgbClr val="1E0A4A"/>
          </a:solidFill>
          <a:ln w="12700">
            <a:solidFill>
              <a:srgbClr val="1E0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18541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</a:rPr>
              <a:t>Labels Required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36792" y="2185416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Yes — pre-labeled training data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28032" y="2752344"/>
            <a:ext cx="4023360" cy="530352"/>
          </a:xfrm>
          <a:prstGeom prst="rect">
            <a:avLst/>
          </a:prstGeom>
          <a:solidFill>
            <a:srgbClr val="271060"/>
          </a:solidFill>
          <a:ln w="12700">
            <a:solidFill>
              <a:srgbClr val="1E0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80720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</a:rPr>
              <a:t>Goal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36792" y="280720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Predict the class of new data points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28032" y="3374136"/>
            <a:ext cx="4023360" cy="530352"/>
          </a:xfrm>
          <a:prstGeom prst="rect">
            <a:avLst/>
          </a:prstGeom>
          <a:solidFill>
            <a:srgbClr val="1E0A4A"/>
          </a:solidFill>
          <a:ln w="12700">
            <a:solidFill>
              <a:srgbClr val="1E0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42900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</a:rPr>
              <a:t>Output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36792" y="3429000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Class labels (category predictions)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28032" y="3995928"/>
            <a:ext cx="4023360" cy="530352"/>
          </a:xfrm>
          <a:prstGeom prst="rect">
            <a:avLst/>
          </a:prstGeom>
          <a:solidFill>
            <a:srgbClr val="271060"/>
          </a:solidFill>
          <a:ln w="12700">
            <a:solidFill>
              <a:srgbClr val="1E0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0507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</a:rPr>
              <a:t>Use Case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36792" y="4050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Prediction &amp; decision-making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012C"/>
          </a:solidFill>
          <a:ln w="12700">
            <a:solidFill>
              <a:srgbClr val="1201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K-Means Clustering — Step by Step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572768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1572768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012C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911096" y="1024128"/>
            <a:ext cx="128016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389888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012C"/>
                </a:solidFill>
              </a:rPr>
              <a:t>Choose 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847088"/>
            <a:ext cx="140817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Select the number of clusters K. This is the only parameter K-Means requires upfront.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3566160"/>
            <a:ext cx="804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</a:rPr>
              <a:t>K=3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039112" y="804672"/>
            <a:ext cx="1572768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39112" y="804672"/>
            <a:ext cx="1572768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8046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012C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630168" y="1024128"/>
            <a:ext cx="128016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1389888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012C"/>
                </a:solidFill>
              </a:rPr>
              <a:t>Init Centroids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30552" y="1847088"/>
            <a:ext cx="140817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Randomly initialize K centroids — one for each cluster — anywhere in the data space.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3730752"/>
            <a:ext cx="256032" cy="25603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3730752"/>
            <a:ext cx="256032" cy="25603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3730752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58184" y="804672"/>
            <a:ext cx="1572768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58184" y="804672"/>
            <a:ext cx="1572768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58184" y="8046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012C"/>
                </a:solidFill>
              </a:rPr>
              <a:t>3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349240" y="1024128"/>
            <a:ext cx="128016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31336" y="1389888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012C"/>
                </a:solidFill>
              </a:rPr>
              <a:t>Assign Points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9624" y="1847088"/>
            <a:ext cx="140817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Assign each data point to its nearest centroid based on Euclidean distance.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69664" y="3621024"/>
            <a:ext cx="749808" cy="32004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77256" y="804672"/>
            <a:ext cx="1572768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77256" y="804672"/>
            <a:ext cx="1572768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8046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012C"/>
                </a:solidFill>
              </a:rPr>
              <a:t>4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068312" y="1024128"/>
            <a:ext cx="128016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0408" y="1389888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012C"/>
                </a:solidFill>
              </a:rPr>
              <a:t>Update Centroids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68696" y="1847088"/>
            <a:ext cx="140817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Recalculate each centroid as the mean position of all points assigned to it.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34456" y="3547872"/>
            <a:ext cx="658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</a:rPr>
              <a:t>x̄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7196328" y="804672"/>
            <a:ext cx="1572768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96328" y="804672"/>
            <a:ext cx="1572768" cy="502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96328" y="8046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012C"/>
                </a:solidFill>
              </a:rPr>
              <a:t>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269480" y="1389888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012C"/>
                </a:solidFill>
              </a:rPr>
              <a:t>Repeat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87768" y="1847088"/>
            <a:ext cx="140817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Repeat steps 3–4 until centroids no longer move (convergence is reached).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562088" y="3547872"/>
            <a:ext cx="841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923C"/>
                </a:solidFill>
              </a:rPr>
              <a:t>↺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12012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663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FF"/>
                </a:solidFill>
              </a:rPr>
              <a:t>Objective: Minimize Σ ||xᵢ − μₖ||²  (sum of squared distances between each point and its cluster centroid)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0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Clustering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271060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Hierarchical Clustering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425196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25196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425196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080" y="425196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425196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425196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425196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4251960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160520"/>
            <a:ext cx="0" cy="-347472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60520"/>
            <a:ext cx="0" cy="-347472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813048"/>
            <a:ext cx="32004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4160520"/>
            <a:ext cx="0" cy="-347472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3080" y="4160520"/>
            <a:ext cx="0" cy="-347472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3813048"/>
            <a:ext cx="411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1720" y="4160520"/>
            <a:ext cx="0" cy="-347472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4160520"/>
            <a:ext cx="0" cy="-347472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3813048"/>
            <a:ext cx="411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4160520"/>
            <a:ext cx="0" cy="-347472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4160520"/>
            <a:ext cx="0" cy="-347472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813048"/>
            <a:ext cx="4114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" y="3813048"/>
            <a:ext cx="0" cy="-41148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77340" y="3813048"/>
            <a:ext cx="0" cy="-41148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" y="3401568"/>
            <a:ext cx="91440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37460" y="3813048"/>
            <a:ext cx="0" cy="-41148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51860" y="3813048"/>
            <a:ext cx="0" cy="-41148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37460" y="3401568"/>
            <a:ext cx="914400" cy="0"/>
          </a:xfrm>
          <a:prstGeom prst="line">
            <a:avLst/>
          </a:prstGeom>
          <a:noFill/>
          <a:ln w="19050">
            <a:solidFill>
              <a:srgbClr val="EC48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20140" y="3401568"/>
            <a:ext cx="0" cy="-4572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94660" y="3401568"/>
            <a:ext cx="0" cy="-4572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20140" y="2944368"/>
            <a:ext cx="1874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20240" y="2816352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480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B5FD"/>
                </a:solidFill>
              </a:rPr>
              <a:t>Dendrogram (bottom-up merge)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4048" y="1371600"/>
            <a:ext cx="37673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</a:t>
            </a:r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Start with each point as its own cluster, then merge the two closest clusters at each step.
</a:t>
            </a:r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Divisive</a:t>
            </a:r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Start with one large cluster, split into smaller ones recursively.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No need to pre-specify 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28032" y="804672"/>
            <a:ext cx="4023360" cy="4114800"/>
          </a:xfrm>
          <a:prstGeom prst="rect">
            <a:avLst/>
          </a:prstGeom>
          <a:solidFill>
            <a:srgbClr val="27106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28032" y="804672"/>
            <a:ext cx="4023360" cy="47548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8046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012C"/>
                </a:solidFill>
              </a:rPr>
              <a:t>DBSCAN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120640" y="1600200"/>
            <a:ext cx="1371600" cy="1371600"/>
          </a:xfrm>
          <a:prstGeom prst="ellipse">
            <a:avLst/>
          </a:prstGeom>
          <a:solidFill>
            <a:srgbClr val="22D3EE">
              <a:alpha val="12000"/>
            </a:srgbClr>
          </a:solidFill>
          <a:ln w="19050">
            <a:solidFill>
              <a:srgbClr val="22D3EE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5715000" y="2194560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2377440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67528" y="2331720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06440" y="1810512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0" y="1920240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0" y="1938528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20574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</a:rPr>
              <a:t>Cluster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772400" y="2194560"/>
            <a:ext cx="201168" cy="201168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07808" y="24231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</a:rPr>
              <a:t>Noise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37760" y="2907792"/>
            <a:ext cx="37490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</a:t>
            </a:r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Finds clusters as regions of high point density.
</a:t>
            </a:r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Points</a:t>
            </a:r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Points with at least MinPts neighbors within radius ε.
</a:t>
            </a:r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Points</a:t>
            </a:r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Low-density outliers not in any cluster.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Handles arbitrary shapes &amp; outliers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012C"/>
          </a:solidFill>
          <a:ln w="12700">
            <a:solidFill>
              <a:srgbClr val="1201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5029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Fuzzy &amp; Model-Based Clustering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023360" cy="4754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Fuzzy Clustering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463040" cy="1463040"/>
          </a:xfrm>
          <a:prstGeom prst="ellipse">
            <a:avLst/>
          </a:prstGeom>
          <a:solidFill>
            <a:srgbClr val="A855F7">
              <a:alpha val="40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417320"/>
            <a:ext cx="1463040" cy="1463040"/>
          </a:xfrm>
          <a:prstGeom prst="ellipse">
            <a:avLst/>
          </a:prstGeom>
          <a:solidFill>
            <a:srgbClr val="FB923C">
              <a:alpha val="4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8105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012C"/>
                </a:solidFill>
              </a:rPr>
              <a:t>0.6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2012C"/>
                </a:solidFill>
              </a:rPr>
              <a:t>0.4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01752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 data point in the overlap zone belongs to BOTH clusters with fractional membership scores (e.g. 60% to A, 40% to B).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Unlike hard clustering where each point belongs to exactly one cluster, fuzzy clustering allows partial membership.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28032" y="804672"/>
            <a:ext cx="40233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28032" y="804672"/>
            <a:ext cx="4023360" cy="4754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8046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Model-Based Clustering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48656" y="2675137"/>
            <a:ext cx="128016" cy="-95211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76672" y="2579926"/>
            <a:ext cx="128016" cy="-141762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688" y="2438164"/>
            <a:ext cx="128016" cy="-138789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32704" y="2299375"/>
            <a:ext cx="128016" cy="-59095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2240280"/>
            <a:ext cx="128016" cy="59095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88736" y="2299375"/>
            <a:ext cx="128016" cy="138789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16752" y="2438164"/>
            <a:ext cx="128016" cy="141762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4768" y="2579926"/>
            <a:ext cx="128016" cy="95211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87568" y="2167128"/>
            <a:ext cx="146304" cy="14630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71616" y="2635605"/>
            <a:ext cx="128016" cy="-86556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9632" y="2549049"/>
            <a:ext cx="128016" cy="-128875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2420174"/>
            <a:ext cx="128016" cy="-126172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55664" y="2294002"/>
            <a:ext cx="128016" cy="-53722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2240280"/>
            <a:ext cx="128016" cy="53722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11696" y="2294002"/>
            <a:ext cx="128016" cy="126172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39712" y="2420174"/>
            <a:ext cx="128016" cy="128875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67728" y="2549049"/>
            <a:ext cx="128016" cy="86556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10528" y="2167128"/>
            <a:ext cx="146304" cy="14630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86016" y="2724570"/>
            <a:ext cx="128016" cy="-90018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14032" y="2634552"/>
            <a:ext cx="128016" cy="-13403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42048" y="2500522"/>
            <a:ext cx="128016" cy="-131219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70064" y="2369303"/>
            <a:ext cx="128016" cy="-55871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2313432"/>
            <a:ext cx="128016" cy="55871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26096" y="2369303"/>
            <a:ext cx="128016" cy="131219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54112" y="2500522"/>
            <a:ext cx="128016" cy="13403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82128" y="2634552"/>
            <a:ext cx="128016" cy="90018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24928" y="2240280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2834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B5FD"/>
                </a:solidFill>
              </a:rPr>
              <a:t>Gaussian distributions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37760" y="3154680"/>
            <a:ext cx="374904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Assumes data is generated by a mixture of probabilistic distributions (usually Gaussian).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Estimates the model parameters that best fit the data, then assigns each point to a cluster based on its probability (likelihood) under that model.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EM (Expectation-Maximization) algorithm is used for optimization.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0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5029200" cy="5029200"/>
          </a:xfrm>
          <a:prstGeom prst="ellipse">
            <a:avLst/>
          </a:prstGeom>
          <a:solidFill>
            <a:srgbClr val="1E0A4A">
              <a:alpha val="40000"/>
            </a:srgbClr>
          </a:solidFill>
          <a:ln w="12700">
            <a:solidFill>
              <a:srgbClr val="1E0A4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286000"/>
            <a:ext cx="3200400" cy="3200400"/>
          </a:xfrm>
          <a:prstGeom prst="ellipse">
            <a:avLst/>
          </a:prstGeom>
          <a:solidFill>
            <a:srgbClr val="271060">
              <a:alpha val="45000"/>
            </a:srgbClr>
          </a:solidFill>
          <a:ln w="12700">
            <a:solidFill>
              <a:srgbClr val="271060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7955280" cy="658368"/>
          </a:xfrm>
          <a:prstGeom prst="rect">
            <a:avLst/>
          </a:prstGeom>
          <a:solidFill>
            <a:srgbClr val="27106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914400"/>
            <a:ext cx="658368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012C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024128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</a:rPr>
              <a:t>Clustering groups similar data points without labels — a core unsupervised learning technique.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709928"/>
            <a:ext cx="7955280" cy="658368"/>
          </a:xfrm>
          <a:prstGeom prst="rect">
            <a:avLst/>
          </a:prstGeom>
          <a:solidFill>
            <a:srgbClr val="27106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709928"/>
            <a:ext cx="658368" cy="6583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09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012C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1819656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</a:rPr>
              <a:t>A good cluster maximizes intra-cluster similarity and minimizes inter-cluster similarity.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505456"/>
            <a:ext cx="7955280" cy="658368"/>
          </a:xfrm>
          <a:prstGeom prst="rect">
            <a:avLst/>
          </a:prstGeom>
          <a:solidFill>
            <a:srgbClr val="27106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505456"/>
            <a:ext cx="658368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05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012C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2615184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</a:rPr>
              <a:t>Five main methods: K-Means, Hierarchical, DBSCAN, Model-Based, and Fuzzy Clustering.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300984"/>
            <a:ext cx="7955280" cy="658368"/>
          </a:xfrm>
          <a:prstGeom prst="rect">
            <a:avLst/>
          </a:prstGeom>
          <a:solidFill>
            <a:srgbClr val="27106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300984"/>
            <a:ext cx="658368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3009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012C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3410712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</a:rPr>
              <a:t>Applications span marketing, healthcare, bioinformatics, cybersecurity, and NLP.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4096512"/>
            <a:ext cx="7955280" cy="658368"/>
          </a:xfrm>
          <a:prstGeom prst="rect">
            <a:avLst/>
          </a:prstGeom>
          <a:solidFill>
            <a:srgbClr val="27106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096512"/>
            <a:ext cx="658368" cy="65836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0965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012C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70432" y="4206240"/>
            <a:ext cx="704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</a:rPr>
              <a:t>Clustering is scalable, handles high dimensions, arbitrary shapes, and diverse data types.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in Data Mining</dc:title>
  <dc:subject>PptxGenJS Presentation</dc:subject>
  <dc:creator>PptxGenJS</dc:creator>
  <cp:lastModifiedBy>PptxGenJS</cp:lastModifiedBy>
  <cp:revision>1</cp:revision>
  <dcterms:created xsi:type="dcterms:W3CDTF">2026-03-16T03:12:07Z</dcterms:created>
  <dcterms:modified xsi:type="dcterms:W3CDTF">2026-03-16T03:12:07Z</dcterms:modified>
</cp:coreProperties>
</file>