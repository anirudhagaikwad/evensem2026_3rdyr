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3434544"/>
            <a:ext cx="97971" cy="-51876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44491" y="3382668"/>
            <a:ext cx="97971" cy="-93602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42463" y="3289067"/>
            <a:ext cx="97971" cy="-143940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40434" y="3145127"/>
            <a:ext cx="97971" cy="-185469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38406" y="2959657"/>
            <a:ext cx="97971" cy="-193449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36377" y="2766209"/>
            <a:ext cx="97971" cy="-149393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4349" y="2616816"/>
            <a:ext cx="97971" cy="-56496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2560320"/>
            <a:ext cx="97971" cy="56496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0291" y="2616816"/>
            <a:ext cx="97971" cy="149393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28263" y="2766209"/>
            <a:ext cx="97971" cy="193449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6234" y="2959657"/>
            <a:ext cx="97971" cy="185469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24206" y="3145127"/>
            <a:ext cx="97971" cy="143940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2177" y="3289067"/>
            <a:ext cx="97971" cy="93602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3440570"/>
            <a:ext cx="84909" cy="-44094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45829" y="3396476"/>
            <a:ext cx="84909" cy="-79561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30737" y="3316915"/>
            <a:ext cx="84909" cy="-12234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15646" y="3194566"/>
            <a:ext cx="84909" cy="-15764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0554" y="3036917"/>
            <a:ext cx="84909" cy="-164431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5463" y="2872485"/>
            <a:ext cx="84909" cy="-126984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70371" y="2745501"/>
            <a:ext cx="84909" cy="-48021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2697480"/>
            <a:ext cx="84909" cy="48021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0189" y="2745501"/>
            <a:ext cx="84909" cy="126984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5097" y="2872485"/>
            <a:ext cx="84909" cy="164431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10006" y="3036917"/>
            <a:ext cx="84909" cy="15764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4914" y="3194566"/>
            <a:ext cx="84909" cy="12234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79823" y="3316915"/>
            <a:ext cx="84909" cy="79561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444588"/>
            <a:ext cx="78377" cy="-38907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21977" y="3405681"/>
            <a:ext cx="78377" cy="-70201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00354" y="3335480"/>
            <a:ext cx="78377" cy="-107955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8731" y="3227525"/>
            <a:ext cx="78377" cy="-139102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57109" y="3088423"/>
            <a:ext cx="78377" cy="-145087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5486" y="2943336"/>
            <a:ext cx="78377" cy="-112045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3863" y="2831292"/>
            <a:ext cx="78377" cy="-42372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2788920"/>
            <a:ext cx="78377" cy="42372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0617" y="2831292"/>
            <a:ext cx="78377" cy="112045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48994" y="2943336"/>
            <a:ext cx="78377" cy="145087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27371" y="3088423"/>
            <a:ext cx="78377" cy="139102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05749" y="3227525"/>
            <a:ext cx="78377" cy="107955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84126" y="3335480"/>
            <a:ext cx="78377" cy="70201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18504" y="3575304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1384" y="3712464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35624" y="3758184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9944" y="3529584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27064" y="3849624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21424" y="3483864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50024" y="3575304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78624" y="3438144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58584" y="3666744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32904" y="3621024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90104" y="357530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18704" y="348386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81544" y="366674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55864" y="352958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44384" y="371246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89320" y="233172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A825"/>
                </a:solidFill>
              </a:rPr>
              <a:t>π₁=0.40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48272" y="21762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185B"/>
                </a:solidFill>
              </a:rPr>
              <a:t>π₂=0.35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543800" y="230428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CC1"/>
                </a:solidFill>
              </a:rPr>
              <a:t>π₃=0.25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89320" y="4206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Σ πₖ · N(x|μₖ, Σₖ)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989320" y="44988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Mixture of Gaussians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2920" y="548640"/>
            <a:ext cx="2651760" cy="329184"/>
          </a:xfrm>
          <a:prstGeom prst="roundRect">
            <a:avLst>
              <a:gd name="adj" fmla="val 27778"/>
            </a:avLst>
          </a:prstGeom>
          <a:solidFill>
            <a:srgbClr val="7B1D4A">
              <a:alpha val="75000"/>
            </a:srgbClr>
          </a:solidFill>
          <a:ln w="12700">
            <a:solidFill>
              <a:srgbClr val="7B1D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5486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MINING  •  CLUSTERING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57200" y="102412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4800" dirty="0"/>
          </a:p>
        </p:txBody>
      </p:sp>
      <p:sp>
        <p:nvSpPr>
          <p:cNvPr id="66" name="Text 64"/>
          <p:cNvSpPr/>
          <p:nvPr/>
        </p:nvSpPr>
        <p:spPr>
          <a:xfrm>
            <a:off x="457200" y="17373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4800" dirty="0"/>
          </a:p>
        </p:txBody>
      </p:sp>
      <p:sp>
        <p:nvSpPr>
          <p:cNvPr id="67" name="Text 65"/>
          <p:cNvSpPr/>
          <p:nvPr/>
        </p:nvSpPr>
        <p:spPr>
          <a:xfrm>
            <a:off x="457200" y="248716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218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Data Mining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457200" y="3054096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probabilistic approach — each cluster is modeled as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statistical distribution, enabling soft, uncertainty-aware assignments.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57200" y="3858768"/>
            <a:ext cx="1536192" cy="320040"/>
          </a:xfrm>
          <a:prstGeom prst="roundRect">
            <a:avLst>
              <a:gd name="adj" fmla="val 28571"/>
            </a:avLst>
          </a:prstGeom>
          <a:solidFill>
            <a:srgbClr val="C2185B">
              <a:alpha val="7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38587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GMM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2148840" y="3858768"/>
            <a:ext cx="1536192" cy="320040"/>
          </a:xfrm>
          <a:prstGeom prst="roundRect">
            <a:avLst>
              <a:gd name="adj" fmla="val 28571"/>
            </a:avLst>
          </a:prstGeom>
          <a:solidFill>
            <a:srgbClr val="00ACC1">
              <a:alpha val="7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48840" y="38587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 Algorithm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840480" y="3858768"/>
            <a:ext cx="1536192" cy="320040"/>
          </a:xfrm>
          <a:prstGeom prst="roundRect">
            <a:avLst>
              <a:gd name="adj" fmla="val 28571"/>
            </a:avLst>
          </a:prstGeom>
          <a:solidFill>
            <a:srgbClr val="F9A825">
              <a:alpha val="7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0" y="38587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COBWEB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3A1530"/>
          </a:solidFill>
          <a:ln w="12700">
            <a:solidFill>
              <a:srgbClr val="3A153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0" y="4736592"/>
            <a:ext cx="64008" cy="4069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GMM  •  EM Algorithm  •  COBWEB  •  Neural Networks  •  BIRCH  •  Machine Learning  •  Applications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Model-Based Clustering?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987552"/>
          </a:xfrm>
          <a:prstGeom prst="rect">
            <a:avLst/>
          </a:prstGeom>
          <a:solidFill>
            <a:srgbClr val="1A0A14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9875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86968"/>
            <a:ext cx="81838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8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"Model-based clustering is a technique for discovering organizations in unlabeled data. It assumes that data is generated by a mixture of probability distributions — each cluster corresponds to a different distribution — making targets and cluster shapes more explicit than heuristic algorithms."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56816"/>
            <a:ext cx="406908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7B1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56816"/>
            <a:ext cx="64008" cy="1316736"/>
          </a:xfrm>
          <a:prstGeom prst="rect">
            <a:avLst/>
          </a:prstGeom>
          <a:solidFill>
            <a:srgbClr val="7B1D4A"/>
          </a:solidFill>
          <a:ln w="12700">
            <a:solidFill>
              <a:srgbClr val="7B1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2359152"/>
            <a:ext cx="475488" cy="475488"/>
          </a:xfrm>
          <a:prstGeom prst="ellipse">
            <a:avLst/>
          </a:prstGeom>
          <a:solidFill>
            <a:srgbClr val="7B1D4A">
              <a:alpha val="80000"/>
            </a:srgbClr>
          </a:solidFill>
          <a:ln w="12700">
            <a:solidFill>
              <a:srgbClr val="7B1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992" y="2048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4"/>
                </a:solidFill>
              </a:rPr>
              <a:t>Probabilistic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45059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3322"/>
                </a:solidFill>
              </a:rPr>
              <a:t>Each data point receives a probability of belonging to each cluster — not a forced hard assignment.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1956816"/>
            <a:ext cx="406908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C2185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956816"/>
            <a:ext cx="64008" cy="131673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2359152"/>
            <a:ext cx="475488" cy="475488"/>
          </a:xfrm>
          <a:prstGeom prst="ellipse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30952" y="2048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4"/>
                </a:solidFill>
              </a:rPr>
              <a:t>Distribution-Based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30952" y="245059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3322"/>
                </a:solidFill>
              </a:rPr>
              <a:t>Each cluster is modeled as a parametric distribution (Gaussian) with mean μ and covariance Σ.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438144"/>
            <a:ext cx="406908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38144"/>
            <a:ext cx="64008" cy="131673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3840480"/>
            <a:ext cx="475488" cy="475488"/>
          </a:xfrm>
          <a:prstGeom prst="ellipse">
            <a:avLst/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78992" y="3529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4"/>
                </a:solidFill>
              </a:rPr>
              <a:t>Mixture 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39319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3322"/>
                </a:solidFill>
              </a:rPr>
              <a:t>Dataset modeled as weighted sum: p(x) = Σ πₖ · N(μₖ, Σₖ). Each component represents one cluster.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3438144"/>
            <a:ext cx="406908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438144"/>
            <a:ext cx="64008" cy="131673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3840480"/>
            <a:ext cx="475488" cy="475488"/>
          </a:xfrm>
          <a:prstGeom prst="ellipse">
            <a:avLst/>
          </a:prstGeom>
          <a:solidFill>
            <a:srgbClr val="F9A825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30952" y="3529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4"/>
                </a:solidFill>
              </a:rPr>
              <a:t>Soft Assignment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30952" y="39319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3322"/>
                </a:solidFill>
              </a:rPr>
              <a:t>Data points can partially belong to multiple clusters — better captures real-world data ambiguity.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Model-Based Clustering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Five major approaches — each suited to different data characteristics and problem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651760" cy="1554480"/>
          </a:xfrm>
          <a:prstGeom prst="rect">
            <a:avLst/>
          </a:prstGeom>
          <a:solidFill>
            <a:srgbClr val="3A1530"/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78992"/>
            <a:ext cx="265176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14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" y="117043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1A0A14">
              <a:alpha val="70000"/>
            </a:srgbClr>
          </a:solidFill>
          <a:ln w="12700">
            <a:solidFill>
              <a:srgbClr val="1A0A14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170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Iterative Refinement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" y="16002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Expectation-Maximization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(EM Algorithm)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An iterative algorithm that alternates between E-step (computing soft cluster membership) and M-step (updating model parameters) until convergence. Extension of K-Means.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27248" y="1078992"/>
            <a:ext cx="2651760" cy="1554480"/>
          </a:xfrm>
          <a:prstGeom prst="rect">
            <a:avLst/>
          </a:prstGeom>
          <a:solidFill>
            <a:srgbClr val="3A1530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1078992"/>
            <a:ext cx="2651760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14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30168" y="117043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1A0A14">
              <a:alpha val="70000"/>
            </a:srgbClr>
          </a:solidFill>
          <a:ln w="12700">
            <a:solidFill>
              <a:srgbClr val="1A0A14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170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Probabilistic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16002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Gaussian Mixture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Models (GMM)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18688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Assumes each cluster follows a Gaussian (normal) distribution. Uses soft assignment — data points can belong to multiple clusters with different probabilities.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98464" y="1078992"/>
            <a:ext cx="2651760" cy="1554480"/>
          </a:xfrm>
          <a:prstGeom prst="rect">
            <a:avLst/>
          </a:prstGeom>
          <a:solidFill>
            <a:srgbClr val="3A1530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078992"/>
            <a:ext cx="265176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14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01384" y="117043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1A0A14">
              <a:alpha val="70000"/>
            </a:srgbClr>
          </a:solidFill>
          <a:ln w="12700">
            <a:solidFill>
              <a:srgbClr val="1A0A14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1170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Conceptual / Tree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71616" y="160020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COBWEB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89904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 well-known conceptual clustering algorithm. Incrementally builds a classification tree where each node describes a concept with probabilistic representation.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91640" y="2788920"/>
            <a:ext cx="2651760" cy="1554480"/>
          </a:xfrm>
          <a:prstGeom prst="rect">
            <a:avLst/>
          </a:prstGeom>
          <a:solidFill>
            <a:srgbClr val="3A1530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2788920"/>
            <a:ext cx="2651760" cy="45720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1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14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194560" y="2880360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1A0A14">
              <a:alpha val="70000"/>
            </a:srgbClr>
          </a:solidFill>
          <a:ln w="12700">
            <a:solidFill>
              <a:srgbClr val="1A0A14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2880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Instance-Based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64792" y="331012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Neural Network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Approach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783080" y="3749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Each cluster is represented as an example/prototype. New items are assigned to the group with the most similar prototype based on a distance measure.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788920"/>
            <a:ext cx="2651760" cy="1554480"/>
          </a:xfrm>
          <a:prstGeom prst="rect">
            <a:avLst/>
          </a:prstGeom>
          <a:solidFill>
            <a:srgbClr val="3A1530"/>
          </a:solidFill>
          <a:ln w="19050">
            <a:solidFill>
              <a:srgbClr val="7CB3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788920"/>
            <a:ext cx="2651760" cy="4572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14"/>
                </a:solidFill>
              </a:rPr>
              <a:t>05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12080" y="2880360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1A0A14">
              <a:alpha val="70000"/>
            </a:srgbClr>
          </a:solidFill>
          <a:ln w="12700">
            <a:solidFill>
              <a:srgbClr val="1A0A14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2880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Scalable / Hierarchical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82312" y="331012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BIRCH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00600" y="3749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Balanced Iterative Reducing and Clustering using Hierarchies. Builds compact summaries of massive datasets before clustering — ideal for very large-scale data.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Expectation-Maximization (EM) Algorithm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694944"/>
          </a:xfrm>
          <a:prstGeom prst="rect">
            <a:avLst/>
          </a:prstGeom>
          <a:solidFill>
            <a:srgbClr val="1A0A14"/>
          </a:solidFill>
          <a:ln w="19050">
            <a:solidFill>
              <a:srgbClr val="C2185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64008" cy="69494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68680"/>
            <a:ext cx="8183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is a typical iterative refining algorithm — an improvement on K-Means where each object is assigned to a cluster based on weighted membership. It begins with a rough parameter estimate and repeatedly rescores patterns against mixture distributions.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64208"/>
            <a:ext cx="1572768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6420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A14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865376" y="1901952"/>
            <a:ext cx="118872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8470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A825"/>
                </a:solidFill>
              </a:rPr>
              <a:t>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2231136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Initialize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14081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Begin with a rough estimate of the parameter vector θ (means μₖ, covariances Σₖ, weights πₖ)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84248" y="1664208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2185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84248" y="1664208"/>
            <a:ext cx="1572768" cy="47548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166420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A14"/>
                </a:solidFill>
              </a:rPr>
              <a:t>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575304" y="1901952"/>
            <a:ext cx="118872" cy="0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18470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185B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57400" y="2231136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E-Step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75688" y="2651760"/>
            <a:ext cx="14081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Repeatedly rescore the designs against the parameter vector's mixture intensity — compute soft memberships rₙₖ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94176" y="1664208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94176" y="1664208"/>
            <a:ext cx="1572768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166420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A14"/>
                </a:solidFill>
              </a:rPr>
              <a:t>M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285232" y="1901952"/>
            <a:ext cx="118872" cy="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2664" y="18470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CC1"/>
                </a:solidFill>
              </a:rPr>
              <a:t>▶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67328" y="2231136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M-Step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85616" y="2651760"/>
            <a:ext cx="14081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Update parameter estimations by rescoring patterns — recalculate μₖ, Σₖ, πₖ using weighted responsibilities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04104" y="1664208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E57C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04104" y="1664208"/>
            <a:ext cx="1572768" cy="47548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04104" y="166420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A14"/>
                </a:solidFill>
              </a:rPr>
              <a:t>C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995160" y="1901952"/>
            <a:ext cx="118872" cy="0"/>
          </a:xfrm>
          <a:prstGeom prst="line">
            <a:avLst/>
          </a:prstGeom>
          <a:noFill/>
          <a:ln w="25400">
            <a:solidFill>
              <a:srgbClr val="7E57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18470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57C2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77256" y="2231136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Classify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95544" y="2651760"/>
            <a:ext cx="14081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Classify members of the same cluster based on their scores in a specific component — highest probability wins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14032" y="1664208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14032" y="1664208"/>
            <a:ext cx="1572768" cy="47548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166420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A14"/>
                </a:solidFill>
              </a:rPr>
              <a:t>✓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87184" y="2231136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Converge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05472" y="2651760"/>
            <a:ext cx="14081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Repeat E → M until log-likelihood change falls below threshold. Return final clusters and learned parameters.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919472"/>
            <a:ext cx="8503920" cy="164592"/>
          </a:xfrm>
          <a:prstGeom prst="rect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1947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2185B"/>
                </a:solidFill>
              </a:rPr>
              <a:t>Repeat E → M until convergence  •  Soft assignments enable more nuanced cluster boundaries than K-Means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Models (GMM)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K-Means extension — assigns each cluster a distinct Gaussian distribution with soft membership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3822192"/>
          </a:xfrm>
          <a:prstGeom prst="rect">
            <a:avLst/>
          </a:prstGeom>
          <a:solidFill>
            <a:srgbClr val="3A153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GMM Visual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3889735"/>
            <a:ext cx="91440" cy="-54469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835266"/>
            <a:ext cx="91440" cy="-98282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736984"/>
            <a:ext cx="91440" cy="-151137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585847"/>
            <a:ext cx="91440" cy="-194743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391104"/>
            <a:ext cx="91440" cy="-203121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3187983"/>
            <a:ext cx="91440" cy="-156863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3031120"/>
            <a:ext cx="91440" cy="-5932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971800"/>
            <a:ext cx="91440" cy="5932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3031120"/>
            <a:ext cx="91440" cy="156863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3187983"/>
            <a:ext cx="91440" cy="203121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1640" y="3391104"/>
            <a:ext cx="91440" cy="194743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3585847"/>
            <a:ext cx="91440" cy="151137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3736984"/>
            <a:ext cx="91440" cy="98282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3895762"/>
            <a:ext cx="84909" cy="-46688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5149" y="3849074"/>
            <a:ext cx="84909" cy="-84241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90057" y="3764832"/>
            <a:ext cx="84909" cy="-129546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74966" y="3635286"/>
            <a:ext cx="84909" cy="-166922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59874" y="3468364"/>
            <a:ext cx="84909" cy="-174104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4783" y="3294260"/>
            <a:ext cx="84909" cy="-134454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9691" y="3159806"/>
            <a:ext cx="84909" cy="-50846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3108960"/>
            <a:ext cx="84909" cy="50846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99509" y="3159806"/>
            <a:ext cx="84909" cy="134454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84417" y="3294260"/>
            <a:ext cx="84909" cy="174104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69326" y="3468364"/>
            <a:ext cx="84909" cy="166922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54234" y="3635286"/>
            <a:ext cx="84909" cy="129546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39143" y="3764832"/>
            <a:ext cx="84909" cy="84241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3900583"/>
            <a:ext cx="71846" cy="-40463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89366" y="3860120"/>
            <a:ext cx="71846" cy="-7300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61211" y="3787111"/>
            <a:ext cx="71846" cy="-112273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3057" y="3674837"/>
            <a:ext cx="71846" cy="-144666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04903" y="3530171"/>
            <a:ext cx="71846" cy="-15089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76749" y="3379281"/>
            <a:ext cx="71846" cy="-116527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48594" y="3262755"/>
            <a:ext cx="71846" cy="-44067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0440" y="3218688"/>
            <a:ext cx="71846" cy="44067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92286" y="3262755"/>
            <a:ext cx="71846" cy="116527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64131" y="3379281"/>
            <a:ext cx="71846" cy="15089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35977" y="3530171"/>
            <a:ext cx="71846" cy="144666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07823" y="3674837"/>
            <a:ext cx="71846" cy="112273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79669" y="3787111"/>
            <a:ext cx="71846" cy="7300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06424" y="3959352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35024" y="3831336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17904" y="3922776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16152" y="4050792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49424" y="3941064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78024" y="3831336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60904" y="3922776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86584" y="4050792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19272" y="403250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2152" y="3922776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48456" y="403250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10712" y="412394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17320" y="2834640"/>
            <a:ext cx="0" cy="1078992"/>
          </a:xfrm>
          <a:prstGeom prst="line">
            <a:avLst/>
          </a:prstGeom>
          <a:noFill/>
          <a:ln w="12700">
            <a:solidFill>
              <a:srgbClr val="F9A825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1234440" y="267004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A825"/>
                </a:solidFill>
              </a:rPr>
              <a:t>μ₁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14600" y="2834640"/>
            <a:ext cx="0" cy="1078992"/>
          </a:xfrm>
          <a:prstGeom prst="line">
            <a:avLst/>
          </a:prstGeom>
          <a:noFill/>
          <a:ln w="12700">
            <a:solidFill>
              <a:srgbClr val="C2185B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2331720" y="267004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185B"/>
                </a:solidFill>
              </a:rPr>
              <a:t>μ₂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520440" y="2834640"/>
            <a:ext cx="0" cy="1078992"/>
          </a:xfrm>
          <a:prstGeom prst="line">
            <a:avLst/>
          </a:prstGeom>
          <a:noFill/>
          <a:ln w="12700">
            <a:solidFill>
              <a:srgbClr val="00ACC1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3337560" y="267004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</a:rPr>
              <a:t>μ₃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77240" y="141732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A825"/>
                </a:solidFill>
              </a:rPr>
              <a:t>N(μ₁,Σ₁)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965960" y="15544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2185B"/>
                </a:solidFill>
              </a:rPr>
              <a:t>N(μ₂,Σ₂)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017520" y="16916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CC1"/>
                </a:solidFill>
              </a:rPr>
              <a:t>N(μ₃,Σ₃)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09160" y="1078992"/>
            <a:ext cx="4114800" cy="804672"/>
          </a:xfrm>
          <a:prstGeom prst="rect">
            <a:avLst/>
          </a:prstGeom>
          <a:solidFill>
            <a:srgbClr val="2A1020"/>
          </a:solidFill>
          <a:ln w="15240">
            <a:solidFill>
              <a:srgbClr val="F9A82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09160" y="1078992"/>
            <a:ext cx="64008" cy="8046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00600" y="1261872"/>
            <a:ext cx="420624" cy="42062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A14"/>
                </a:solidFill>
              </a:rPr>
              <a:t>∑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5321808" y="11338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Mixture Formula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5321808" y="14264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p(x) = Σₖ πₖ · N(x | μₖ, Σₖ) — Weighted sum of K Gaussian components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709160" y="2011680"/>
            <a:ext cx="4114800" cy="804672"/>
          </a:xfrm>
          <a:prstGeom prst="rect">
            <a:avLst/>
          </a:prstGeom>
          <a:solidFill>
            <a:srgbClr val="2A1020"/>
          </a:solidFill>
          <a:ln w="15240">
            <a:solidFill>
              <a:srgbClr val="C2185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9160" y="2011680"/>
            <a:ext cx="64008" cy="8046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00600" y="2194560"/>
            <a:ext cx="420624" cy="42062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006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A14"/>
                </a:solidFill>
              </a:rPr>
              <a:t>μ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5321808" y="20665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Mean (μₖ)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5321808" y="23591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Center of each cluster. Controls where the Gaussian distribution peaks in data space.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709160" y="2944368"/>
            <a:ext cx="4114800" cy="804672"/>
          </a:xfrm>
          <a:prstGeom prst="rect">
            <a:avLst/>
          </a:prstGeom>
          <a:solidFill>
            <a:srgbClr val="2A1020"/>
          </a:solidFill>
          <a:ln w="15240">
            <a:solidFill>
              <a:srgbClr val="00ACC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09160" y="2944368"/>
            <a:ext cx="64008" cy="80467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00600" y="3127248"/>
            <a:ext cx="420624" cy="42062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A14"/>
                </a:solidFill>
              </a:rPr>
              <a:t>Σ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5321808" y="29992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Covariance (Σₖ)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5321808" y="32918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Controls cluster shape — elliptical, rotated. Allows more flexible shapes than K-Means spheres.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4709160" y="3877056"/>
            <a:ext cx="4114800" cy="804672"/>
          </a:xfrm>
          <a:prstGeom prst="rect">
            <a:avLst/>
          </a:prstGeom>
          <a:solidFill>
            <a:srgbClr val="2A1020"/>
          </a:solidFill>
          <a:ln w="15240">
            <a:solidFill>
              <a:srgbClr val="7E57C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09160" y="3877056"/>
            <a:ext cx="64008" cy="804672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00600" y="4059936"/>
            <a:ext cx="420624" cy="42062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0060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A14"/>
                </a:solidFill>
              </a:rPr>
              <a:t>π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5321808" y="39319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Mixing Weight (πₖ)</a:t>
            </a:r>
            <a:endParaRPr lang="en-US" sz="1250" dirty="0"/>
          </a:p>
        </p:txBody>
      </p:sp>
      <p:sp>
        <p:nvSpPr>
          <p:cNvPr id="90" name="Text 88"/>
          <p:cNvSpPr/>
          <p:nvPr/>
        </p:nvSpPr>
        <p:spPr>
          <a:xfrm>
            <a:off x="5321808" y="42245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Prior probability of cluster k. Proportional size. All πₖ sum to 1: small=rare, large=dominant.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COBWEB — Conceptual Clustering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1A0A14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64008" cy="7498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68680"/>
            <a:ext cx="8183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COBWEB is a well-known conceptual clustering algorithm that incrementally organizes data into a classification tree. It is a continuous conceptual learning approach where each tree node represents a concept with a probabilistic representation — forming model-based clusters at each level.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4114800" cy="3127248"/>
          </a:xfrm>
          <a:prstGeom prst="rect">
            <a:avLst/>
          </a:prstGeom>
          <a:solidFill>
            <a:srgbClr val="1A0A14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Classification Tree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2176272"/>
            <a:ext cx="1005840" cy="384048"/>
          </a:xfrm>
          <a:prstGeom prst="rect">
            <a:avLst/>
          </a:prstGeom>
          <a:solidFill>
            <a:srgbClr val="00ACC1">
              <a:alpha val="85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1762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ROOT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All Data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74520" y="2560320"/>
            <a:ext cx="-685800" cy="457200"/>
          </a:xfrm>
          <a:prstGeom prst="line">
            <a:avLst/>
          </a:prstGeom>
          <a:noFill/>
          <a:ln w="15240">
            <a:solidFill>
              <a:srgbClr val="00AC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2560320"/>
            <a:ext cx="685800" cy="457200"/>
          </a:xfrm>
          <a:prstGeom prst="line">
            <a:avLst/>
          </a:prstGeom>
          <a:noFill/>
          <a:ln w="15240">
            <a:solidFill>
              <a:srgbClr val="00AC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017520"/>
            <a:ext cx="914400" cy="384048"/>
          </a:xfrm>
          <a:prstGeom prst="rect">
            <a:avLst/>
          </a:prstGeom>
          <a:solidFill>
            <a:srgbClr val="F9A825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175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Concept 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P(x|A)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06040" y="3017520"/>
            <a:ext cx="914400" cy="384048"/>
          </a:xfrm>
          <a:prstGeom prst="rect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0175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Concept 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P(x|B)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88720" y="3401568"/>
            <a:ext cx="-320040" cy="365760"/>
          </a:xfrm>
          <a:prstGeom prst="line">
            <a:avLst/>
          </a:prstGeom>
          <a:noFill/>
          <a:ln w="12700">
            <a:solidFill>
              <a:srgbClr val="F9A8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5880" y="3401568"/>
            <a:ext cx="320040" cy="365760"/>
          </a:xfrm>
          <a:prstGeom prst="line">
            <a:avLst/>
          </a:prstGeom>
          <a:noFill/>
          <a:ln w="12700">
            <a:solidFill>
              <a:srgbClr val="F9A8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3401568"/>
            <a:ext cx="-320040" cy="365760"/>
          </a:xfrm>
          <a:prstGeom prst="line">
            <a:avLst/>
          </a:prstGeom>
          <a:noFill/>
          <a:ln w="12700">
            <a:solidFill>
              <a:srgbClr val="C218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63240" y="3401568"/>
            <a:ext cx="320040" cy="365760"/>
          </a:xfrm>
          <a:prstGeom prst="line">
            <a:avLst/>
          </a:prstGeom>
          <a:noFill/>
          <a:ln w="12700">
            <a:solidFill>
              <a:srgbClr val="C218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767328"/>
            <a:ext cx="256032" cy="25603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3767328"/>
            <a:ext cx="256032" cy="25603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95728" y="3767328"/>
            <a:ext cx="256032" cy="25603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0" y="3767328"/>
            <a:ext cx="256032" cy="25603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1330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Leaf nodes = individual clusters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44074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CC1"/>
                </a:solidFill>
              </a:rPr>
              <a:t>← Probabilistic node labels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719072"/>
            <a:ext cx="416052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00AC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719072"/>
            <a:ext cx="64008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883664"/>
            <a:ext cx="347472" cy="347472"/>
          </a:xfrm>
          <a:prstGeom prst="ellipse">
            <a:avLst/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CC1"/>
                </a:solidFill>
              </a:rPr>
              <a:t>◎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1773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Conceptual Learning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12080" y="20665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Builds a concept hierarchy — each node holds a probabilistic description of its cluster members.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487168"/>
            <a:ext cx="416052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487168"/>
            <a:ext cx="64008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651760"/>
            <a:ext cx="347472" cy="347472"/>
          </a:xfrm>
          <a:prstGeom prst="ellipse">
            <a:avLst/>
          </a:prstGeom>
          <a:solidFill>
            <a:srgbClr val="F9A825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A825"/>
                </a:solidFill>
              </a:rPr>
              <a:t>◎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254203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Incremental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12080" y="28346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Processes data point by point — no need to store all data simultaneously. Highly memory efficient.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255264"/>
            <a:ext cx="416052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C2185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255264"/>
            <a:ext cx="64008" cy="65836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419856"/>
            <a:ext cx="347472" cy="347472"/>
          </a:xfrm>
          <a:prstGeom prst="ellipse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185B"/>
                </a:solidFill>
              </a:rPr>
              <a:t>◎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33101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No Pre-defined K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212080" y="36027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Unlike K-Means, COBWEB determines the number of clusters automatically from the data structure.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4023360"/>
            <a:ext cx="416052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7E57C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4023360"/>
            <a:ext cx="64008" cy="65836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4187952"/>
            <a:ext cx="347472" cy="347472"/>
          </a:xfrm>
          <a:prstGeom prst="ellipse">
            <a:avLst/>
          </a:prstGeom>
          <a:solidFill>
            <a:srgbClr val="7E57C2">
              <a:alpha val="80000"/>
            </a:srgbClr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57C2"/>
                </a:solidFill>
              </a:rPr>
              <a:t>◎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212080" y="40782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Category Utility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212080" y="437083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Uses Category Utility measure to evaluate whether adding/merging nodes improves cluster quality.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&amp; BIRCH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69080" cy="4096512"/>
          </a:xfrm>
          <a:prstGeom prst="rect">
            <a:avLst/>
          </a:prstGeom>
          <a:solidFill>
            <a:srgbClr val="3A1530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069080" cy="47548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🧠  Neural Network Approach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274320" cy="27432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95728"/>
            <a:ext cx="274320" cy="27432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962656"/>
            <a:ext cx="274320" cy="27432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529584"/>
            <a:ext cx="274320" cy="27432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Input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nodes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91640" y="2103120"/>
            <a:ext cx="347472" cy="347472"/>
          </a:xfrm>
          <a:prstGeom prst="ellipse">
            <a:avLst/>
          </a:prstGeom>
          <a:solidFill>
            <a:srgbClr val="7E57C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91640" y="2743200"/>
            <a:ext cx="347472" cy="347472"/>
          </a:xfrm>
          <a:prstGeom prst="ellipse">
            <a:avLst/>
          </a:prstGeom>
          <a:solidFill>
            <a:srgbClr val="C2185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3383280"/>
            <a:ext cx="347472" cy="347472"/>
          </a:xfrm>
          <a:prstGeom prst="ellipse">
            <a:avLst/>
          </a:prstGeom>
          <a:solidFill>
            <a:srgbClr val="00ACC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8862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Prototypes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95528" y="1965960"/>
            <a:ext cx="1033272" cy="310896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1965960"/>
            <a:ext cx="1033272" cy="950976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1965960"/>
            <a:ext cx="1033272" cy="1591056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2532888"/>
            <a:ext cx="1033272" cy="-256032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2532888"/>
            <a:ext cx="1033272" cy="384048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2532888"/>
            <a:ext cx="1033272" cy="1024128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3099816"/>
            <a:ext cx="1033272" cy="-822960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" y="3099816"/>
            <a:ext cx="1033272" cy="-182880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" y="3099816"/>
            <a:ext cx="1033272" cy="457200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3666744"/>
            <a:ext cx="1033272" cy="-1389888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3666744"/>
            <a:ext cx="1033272" cy="-749808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" y="3666744"/>
            <a:ext cx="1033272" cy="-109728"/>
          </a:xfrm>
          <a:prstGeom prst="line">
            <a:avLst/>
          </a:prstGeom>
          <a:noFill/>
          <a:ln w="7620">
            <a:solidFill>
              <a:srgbClr val="B0B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2606040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300"/>
                </a:solidFill>
              </a:rPr>
              <a:t>New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B300"/>
                </a:solidFill>
              </a:rPr>
              <a:t>Point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66544" y="2916936"/>
            <a:ext cx="877824" cy="-201168"/>
          </a:xfrm>
          <a:prstGeom prst="line">
            <a:avLst/>
          </a:prstGeom>
          <a:noFill/>
          <a:ln w="19050">
            <a:solidFill>
              <a:srgbClr val="7E57C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2633472" y="2212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57C2"/>
                </a:solidFill>
              </a:rPr>
              <a:t>→ Assign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E57C2"/>
                </a:solidFill>
              </a:rPr>
              <a:t>closest C₂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43159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
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is represented by an example (prototype). New data points are assigned to the cluster with the most similar prototype using a distance measure.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No explicit probability model needed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Fast assignment via similarity lookup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822960"/>
            <a:ext cx="4069080" cy="4096512"/>
          </a:xfrm>
          <a:prstGeom prst="rect">
            <a:avLst/>
          </a:prstGeom>
          <a:solidFill>
            <a:srgbClr val="3A1530"/>
          </a:solidFill>
          <a:ln w="19050">
            <a:solidFill>
              <a:srgbClr val="7CB3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822960"/>
            <a:ext cx="4069080" cy="47548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822960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0A14"/>
                </a:solidFill>
              </a:rPr>
              <a:t>🌲  BIRCH Algorithm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937760" y="14447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Full Dataset 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1755648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38928" y="1755648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0096" y="1755648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41264" y="1755648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1956816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38928" y="1956816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40096" y="1956816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41264" y="1956816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2157984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38928" y="2157984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40096" y="2157984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41264" y="2157984"/>
            <a:ext cx="128016" cy="12801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70448" y="2148840"/>
            <a:ext cx="45720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0" y="202996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B342"/>
                </a:solidFill>
              </a:rPr>
              <a:t>→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0" y="14447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B342"/>
                </a:solidFill>
              </a:rPr>
              <a:t>Compact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B342"/>
                </a:solidFill>
              </a:rPr>
              <a:t>Summaries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583680" y="1755648"/>
            <a:ext cx="219456" cy="219456"/>
          </a:xfrm>
          <a:prstGeom prst="ellipse">
            <a:avLst/>
          </a:prstGeom>
          <a:solidFill>
            <a:srgbClr val="7CB3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9440" y="1901952"/>
            <a:ext cx="219456" cy="21945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23760" y="1719072"/>
            <a:ext cx="219456" cy="219456"/>
          </a:xfrm>
          <a:prstGeom prst="ellipse">
            <a:avLst/>
          </a:prstGeom>
          <a:solidFill>
            <a:srgbClr val="C218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93408" y="2322576"/>
            <a:ext cx="256032" cy="274320"/>
          </a:xfrm>
          <a:prstGeom prst="line">
            <a:avLst/>
          </a:prstGeom>
          <a:noFill/>
          <a:ln w="15240">
            <a:solidFill>
              <a:srgbClr val="7CB34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59168" y="2322576"/>
            <a:ext cx="-256032" cy="274320"/>
          </a:xfrm>
          <a:prstGeom prst="line">
            <a:avLst/>
          </a:prstGeom>
          <a:noFill/>
          <a:ln w="15240">
            <a:solidFill>
              <a:srgbClr val="7CB34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12280" y="2578608"/>
            <a:ext cx="256032" cy="256032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0840" y="2926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B342"/>
                </a:solidFill>
              </a:rPr>
              <a:t>→ Cluster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B342"/>
                </a:solidFill>
              </a:rPr>
              <a:t>Summary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937760" y="33375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B342"/>
                </a:solidFill>
              </a:rPr>
              <a:t>Full name: Balanced Iterative Reducing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CB342"/>
                </a:solidFill>
              </a:rPr>
              <a:t>and Clustering Using Hierarchies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937760" y="3858768"/>
            <a:ext cx="164592" cy="164592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93792" y="38404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Builds compact summaries, not full data — far more memory-efficient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937760" y="4133088"/>
            <a:ext cx="164592" cy="164592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3792" y="4114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Ideal for very large-scale datasets where storing all points is infeasible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937760" y="4407408"/>
            <a:ext cx="164592" cy="164592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93792" y="43891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Retains as much distribution information as practicable in summaries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937760" y="4681728"/>
            <a:ext cx="164592" cy="164592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93792" y="46634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Operates in O(n) time — one pass through data is sufficient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6908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069080" cy="47548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04672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✦  Advantages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408176"/>
            <a:ext cx="3904488" cy="585216"/>
          </a:xfrm>
          <a:prstGeom prst="rect">
            <a:avLst/>
          </a:prstGeom>
          <a:solidFill>
            <a:srgbClr val="F1FDF5"/>
          </a:solidFill>
          <a:ln w="12700">
            <a:solidFill>
              <a:srgbClr val="D1E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1463040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Explicit Probabilistic Models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9536" y="1737360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33"/>
                </a:solidFill>
              </a:rPr>
              <a:t>Analyst specifies the probabilistic model — cluster shapes and targets become explicit rather than implicit heuristics.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084832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" y="2139696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Soft Cluster Assignments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2414016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33"/>
                </a:solidFill>
              </a:rPr>
              <a:t>Objects belong to clusters with probability — captures real-world ambiguity far better than hard assignment methods.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761488"/>
            <a:ext cx="3904488" cy="585216"/>
          </a:xfrm>
          <a:prstGeom prst="rect">
            <a:avLst/>
          </a:prstGeom>
          <a:solidFill>
            <a:srgbClr val="F1FDF5"/>
          </a:solidFill>
          <a:ln w="12700">
            <a:solidFill>
              <a:srgbClr val="D1E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2816352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Flexible Cluster Shapes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" y="3090672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33"/>
                </a:solidFill>
              </a:rPr>
              <a:t>Gaussian covariance allows elliptical, rotated clusters — not restricted to spherical shapes like K-Means.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438144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3493008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Sound Statistical Framework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" y="376732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33"/>
                </a:solidFill>
              </a:rPr>
              <a:t>Differences between clusters assessed statistically — identifies variables contributing most to clustering.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4114800"/>
            <a:ext cx="3904488" cy="585216"/>
          </a:xfrm>
          <a:prstGeom prst="rect">
            <a:avLst/>
          </a:prstGeom>
          <a:solidFill>
            <a:srgbClr val="F1FDF5"/>
          </a:solidFill>
          <a:ln w="12700">
            <a:solidFill>
              <a:srgbClr val="D1E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536" y="4169664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Model Selection via BIC/AIC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9536" y="4443984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33"/>
                </a:solidFill>
              </a:rPr>
              <a:t>Principled, data-driven way to choose optimal K — more rigorous than K-Means elbow heuristics.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804672"/>
            <a:ext cx="406908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804672"/>
            <a:ext cx="4069080" cy="47548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804672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Disadvantages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73752" y="1408176"/>
            <a:ext cx="3904488" cy="585216"/>
          </a:xfrm>
          <a:prstGeom prst="rect">
            <a:avLst/>
          </a:prstGeom>
          <a:solidFill>
            <a:srgbClr val="FFF5F0"/>
          </a:solidFill>
          <a:ln w="12700">
            <a:solidFill>
              <a:srgbClr val="F4CF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85816" y="1463040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Independence Assumption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85816" y="1737360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Naive Bayes assumption that traits are independent is often too strong — can be exaggerated.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2084832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4CF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46904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85816" y="2139696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Unsuitable for Large Data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385816" y="2414016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Cannot cluster vast database quantities — skewed trees or costly probability distributions become impractical.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73752" y="2761488"/>
            <a:ext cx="3904488" cy="585216"/>
          </a:xfrm>
          <a:prstGeom prst="rect">
            <a:avLst/>
          </a:prstGeom>
          <a:solidFill>
            <a:srgbClr val="FFF5F0"/>
          </a:solidFill>
          <a:ln w="12700">
            <a:solidFill>
              <a:srgbClr val="F4CF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85816" y="2816352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Sensitive to Initialization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385816" y="3090672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EM can converge to local optima — results vary significantly depending on initial parameter choices.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73752" y="3438144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4CFC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6904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🔷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85816" y="3493008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Assumes Gaussian Shapes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385816" y="376732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Poor performance on non-Gaussian distributions — assumes clusters follow bell-curve shape.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73752" y="4114800"/>
            <a:ext cx="3904488" cy="585216"/>
          </a:xfrm>
          <a:prstGeom prst="rect">
            <a:avLst/>
          </a:prstGeom>
          <a:solidFill>
            <a:srgbClr val="FFF5F0"/>
          </a:solidFill>
          <a:ln w="12700">
            <a:solidFill>
              <a:srgbClr val="F4CF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85816" y="4169664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Computationally Intensive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385816" y="4443984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3322"/>
                </a:solidFill>
              </a:rPr>
              <a:t>Iterative EM steps with full covariance matrices are slower than simpler K-Means algorithm.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vs Other Clustering Approaches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029968" cy="4114800"/>
          </a:xfrm>
          <a:prstGeom prst="rect">
            <a:avLst/>
          </a:prstGeom>
          <a:solidFill>
            <a:srgbClr val="3A1530"/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41248"/>
            <a:ext cx="2029968" cy="50292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8412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0A14"/>
                </a:solidFill>
              </a:rPr>
              <a:t>Model-Based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0A14"/>
                </a:solidFill>
              </a:rPr>
              <a:t>(GMM / EM)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26464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Probabilistic / soft assignments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975104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93852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Gaussian distributions per cluster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45059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Flexible elliptical shapes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999232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96265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BIC/AIC for model selection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511296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47472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Handles overlapping clusters well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4160520"/>
            <a:ext cx="1847088" cy="658368"/>
          </a:xfrm>
          <a:prstGeom prst="rect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8795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85B"/>
                </a:solidFill>
              </a:rPr>
              <a:t>Best For: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40740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Overlapping, complex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32304" y="841248"/>
            <a:ext cx="2029968" cy="4114800"/>
          </a:xfrm>
          <a:prstGeom prst="rect">
            <a:avLst/>
          </a:prstGeom>
          <a:solidFill>
            <a:srgbClr val="3A1530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32304" y="841248"/>
            <a:ext cx="2029968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8412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0A14"/>
                </a:solidFill>
              </a:rPr>
              <a:t>Partitioning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0A14"/>
                </a:solidFill>
              </a:rPr>
              <a:t>(K-Means)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23744" y="1463040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2344" y="1426464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Hard assignment — one cluster 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23744" y="1975104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52344" y="193852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Minimizes Euclidean distance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23744" y="248716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52344" y="245059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Spherical shapes only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23744" y="2999232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52344" y="296265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Elbow method for K selection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23744" y="3511296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52344" y="347472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Very fast and scalable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23744" y="4160520"/>
            <a:ext cx="1847088" cy="658368"/>
          </a:xfrm>
          <a:prstGeom prst="rect">
            <a:avLst/>
          </a:prstGeom>
          <a:solidFill>
            <a:srgbClr val="F9A825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42032" y="418795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A825"/>
                </a:solidFill>
              </a:rPr>
              <a:t>Best For: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42032" y="440740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Compact, well-separated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08576" y="841248"/>
            <a:ext cx="2029968" cy="4114800"/>
          </a:xfrm>
          <a:prstGeom prst="rect">
            <a:avLst/>
          </a:prstGeom>
          <a:solidFill>
            <a:srgbClr val="3A1530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08576" y="841248"/>
            <a:ext cx="2029968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8412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0A14"/>
                </a:solidFill>
              </a:rPr>
              <a:t>Hierarchical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0A14"/>
                </a:solidFill>
              </a:rPr>
              <a:t>(Agglomerative)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00016" y="1463040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1426464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Bottom-up merging approach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0016" y="1975104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193852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Builds dendrogram tree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0016" y="2487168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28616" y="245059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No K needed in advance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0016" y="2999232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296265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Handles arbitrary shapes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0016" y="3511296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347472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O(N³) time complexity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0016" y="4160520"/>
            <a:ext cx="1847088" cy="658368"/>
          </a:xfrm>
          <a:prstGeom prst="rect">
            <a:avLst/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418795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CC1"/>
                </a:solidFill>
              </a:rPr>
              <a:t>Best For: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18304" y="440740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Nested, tree-structured data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84848" y="841248"/>
            <a:ext cx="2029968" cy="4114800"/>
          </a:xfrm>
          <a:prstGeom prst="rect">
            <a:avLst/>
          </a:prstGeom>
          <a:solidFill>
            <a:srgbClr val="3A1530"/>
          </a:solidFill>
          <a:ln w="19050">
            <a:solidFill>
              <a:srgbClr val="7CB34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84848" y="841248"/>
            <a:ext cx="2029968" cy="5029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39712" y="8412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0A14"/>
                </a:solidFill>
              </a:rPr>
              <a:t>Density-Based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0A14"/>
                </a:solidFill>
              </a:rPr>
              <a:t>(DBSCAN)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876288" y="1463040"/>
            <a:ext cx="146304" cy="14630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04888" y="1426464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Density region detection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76288" y="1975104"/>
            <a:ext cx="146304" cy="14630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04888" y="193852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Handles arbitrary shapes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76288" y="2487168"/>
            <a:ext cx="146304" cy="14630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04888" y="245059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Automatically detects outliers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76288" y="2999232"/>
            <a:ext cx="146304" cy="14630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04888" y="296265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No K needed in advance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76288" y="3511296"/>
            <a:ext cx="146304" cy="14630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04888" y="347472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Struggles with varying density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76288" y="4160520"/>
            <a:ext cx="1847088" cy="658368"/>
          </a:xfrm>
          <a:prstGeom prst="rect">
            <a:avLst/>
          </a:prstGeom>
          <a:solidFill>
            <a:srgbClr val="7CB342">
              <a:alpha val="80000"/>
            </a:srgbClr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94576" y="418795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</a:rPr>
              <a:t>Best For: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894576" y="440740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Irregular shapes, noisy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Model-Based Clustering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24912" cy="1847088"/>
          </a:xfrm>
          <a:prstGeom prst="rect">
            <a:avLst/>
          </a:prstGeom>
          <a:solidFill>
            <a:srgbClr val="FFFFFF"/>
          </a:solidFill>
          <a:ln w="19050">
            <a:solidFill>
              <a:srgbClr val="C2185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724912" cy="640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" y="1005840"/>
            <a:ext cx="502920" cy="502920"/>
          </a:xfrm>
          <a:prstGeom prst="ellipse">
            <a:avLst/>
          </a:prstGeom>
          <a:solidFill>
            <a:srgbClr val="C2185B">
              <a:alpha val="8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2416" y="1024128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Customer Segmentation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" y="162763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Segment customers by purchasing behavior, demographics &amp; interests for targeted marketing. Probability scores refine targeting.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24912" cy="18470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724912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8416" y="1005840"/>
            <a:ext cx="502920" cy="502920"/>
          </a:xfrm>
          <a:prstGeom prst="ellipse">
            <a:avLst/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22776" y="1024128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Bioinformatics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28416" y="162763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Cluster genes with similar expression patterns. Identify co-regulated gene groups for drug discovery and disease diagnosis.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822960"/>
            <a:ext cx="2724912" cy="184708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822960"/>
            <a:ext cx="2724912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005840"/>
            <a:ext cx="502920" cy="502920"/>
          </a:xfrm>
          <a:prstGeom prst="ellipse">
            <a:avLst/>
          </a:prstGeom>
          <a:solidFill>
            <a:srgbClr val="F9A825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03136" y="1024128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Image Segmentation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08776" y="162763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Group pixels into regions using GMM — used in medical imaging, object recognition, and image compression.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52928"/>
            <a:ext cx="2724912" cy="1847088"/>
          </a:xfrm>
          <a:prstGeom prst="rect">
            <a:avLst/>
          </a:prstGeom>
          <a:solidFill>
            <a:srgbClr val="FFFFFF"/>
          </a:solidFill>
          <a:ln w="19050">
            <a:solidFill>
              <a:srgbClr val="7E57C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852928"/>
            <a:ext cx="2724912" cy="6400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3035808"/>
            <a:ext cx="502920" cy="502920"/>
          </a:xfrm>
          <a:prstGeom prst="ellipse">
            <a:avLst/>
          </a:prstGeom>
          <a:solidFill>
            <a:srgbClr val="7E57C2">
              <a:alpha val="80000"/>
            </a:srgbClr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42416" y="3054096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Financial Risk Modeling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8056" y="36576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Cluster financial instruments by risk profile. Soft assignments identify assets at boundaries of risk categories.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852928"/>
            <a:ext cx="2724912" cy="1847088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852928"/>
            <a:ext cx="2724912" cy="6400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8416" y="3035808"/>
            <a:ext cx="502920" cy="502920"/>
          </a:xfrm>
          <a:prstGeom prst="ellipse">
            <a:avLst/>
          </a:prstGeom>
          <a:solidFill>
            <a:srgbClr val="F4511E">
              <a:alpha val="80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922776" y="3054096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Anomaly / Fraud Detection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328416" y="36576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Low-probability data points (outliers from all Gaussians) flagged as anomalies — strong signal for fraud.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2852928"/>
            <a:ext cx="2724912" cy="1847088"/>
          </a:xfrm>
          <a:prstGeom prst="rect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852928"/>
            <a:ext cx="2724912" cy="6400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08776" y="3035808"/>
            <a:ext cx="502920" cy="502920"/>
          </a:xfrm>
          <a:prstGeom prst="ellipse">
            <a:avLst/>
          </a:prstGeom>
          <a:solidFill>
            <a:srgbClr val="7CB342">
              <a:alpha val="80000"/>
            </a:srgbClr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03136" y="3054096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A14"/>
                </a:solidFill>
              </a:rPr>
              <a:t>NLP &amp; Document Clustering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08776" y="36576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3322"/>
                </a:solidFill>
              </a:rPr>
              <a:t>Probabilistic topic modeling — each document assigned soft membership across multiple topics.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Clustering &amp; Machine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22960"/>
          </a:xfrm>
          <a:prstGeom prst="rect">
            <a:avLst/>
          </a:prstGeom>
          <a:solidFill>
            <a:srgbClr val="3A1530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8229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77824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8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"Machine learning creates algorithms for massive data processing that learn from experience. Model-based clustering is a continuous conceptual learning approach that results in a clustering algorithm as a classification tree — a well-known, adaptive unsupervised learning technique."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743200" cy="3108960"/>
          </a:xfrm>
          <a:prstGeom prst="rect">
            <a:avLst/>
          </a:prstGeom>
          <a:solidFill>
            <a:srgbClr val="2A1020"/>
          </a:solidFill>
          <a:ln w="15240">
            <a:solidFill>
              <a:srgbClr val="00AC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28800"/>
            <a:ext cx="27432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9888" y="1956816"/>
            <a:ext cx="512064" cy="512064"/>
          </a:xfrm>
          <a:prstGeom prst="ellipse">
            <a:avLst/>
          </a:prstGeom>
          <a:solidFill>
            <a:srgbClr val="00ACC1">
              <a:alpha val="75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Unsupervised Learning Context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054096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358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No labeled training data required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474720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5643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Algorithm discovers patterns autonomously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95344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87705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Goal: find latent structure in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315968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29768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Primary application: cluster discovery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743200" cy="3108960"/>
          </a:xfrm>
          <a:prstGeom prst="rect">
            <a:avLst/>
          </a:prstGeom>
          <a:solidFill>
            <a:srgbClr val="2A1020"/>
          </a:solidFill>
          <a:ln w="15240">
            <a:solidFill>
              <a:srgbClr val="F9A8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828800"/>
            <a:ext cx="27432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1956816"/>
            <a:ext cx="512064" cy="512064"/>
          </a:xfrm>
          <a:prstGeom prst="ellipse">
            <a:avLst/>
          </a:prstGeom>
          <a:solidFill>
            <a:srgbClr val="F9A825">
              <a:alpha val="7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91840" y="254203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Generative Model Benefits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054096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0358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Can synthesize new data samples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474720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345643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Captures full data distribution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3895344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87705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Provides uncertainty estimates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431596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429768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Enables Bayesian extensions (DPMM)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1828800"/>
            <a:ext cx="2743200" cy="3108960"/>
          </a:xfrm>
          <a:prstGeom prst="rect">
            <a:avLst/>
          </a:prstGeom>
          <a:solidFill>
            <a:srgbClr val="2A1020"/>
          </a:solidFill>
          <a:ln w="15240">
            <a:solidFill>
              <a:srgbClr val="C218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828800"/>
            <a:ext cx="2743200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2048" y="1956816"/>
            <a:ext cx="512064" cy="512064"/>
          </a:xfrm>
          <a:prstGeom prst="ellipse">
            <a:avLst/>
          </a:prstGeom>
          <a:solidFill>
            <a:srgbClr val="C2185B">
              <a:alpha val="75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1956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17920" y="254203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 Pipeline Integration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63640" y="3054096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30358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Pre-processing step for supervised ML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474720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45643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Feature engineering via soft labels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3895344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87705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Anomaly scores as input features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4315968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429768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Semi-supervised learning bridge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920" y="2162419"/>
            <a:ext cx="78377" cy="-41501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9297" y="2120919"/>
            <a:ext cx="78377" cy="-74881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17674" y="2046037"/>
            <a:ext cx="78377" cy="-115152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96051" y="1930885"/>
            <a:ext cx="78377" cy="-148375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74429" y="1782510"/>
            <a:ext cx="78377" cy="-154759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2806" y="1627751"/>
            <a:ext cx="78377" cy="-119514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31183" y="1508237"/>
            <a:ext cx="78377" cy="-45197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1463040"/>
            <a:ext cx="78377" cy="45197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87937" y="1508237"/>
            <a:ext cx="78377" cy="119514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6314" y="1627751"/>
            <a:ext cx="78377" cy="154759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4691" y="1782510"/>
            <a:ext cx="78377" cy="148375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3069" y="1930885"/>
            <a:ext cx="78377" cy="115152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1446" y="2046037"/>
            <a:ext cx="78377" cy="74881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3173080"/>
            <a:ext cx="65314" cy="-35275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6194" y="3137805"/>
            <a:ext cx="65314" cy="-6364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1509" y="3074156"/>
            <a:ext cx="65314" cy="-9787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36823" y="2976276"/>
            <a:ext cx="65314" cy="-12611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02137" y="2850157"/>
            <a:ext cx="65314" cy="-131545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7451" y="2718612"/>
            <a:ext cx="65314" cy="-101587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2766" y="2617025"/>
            <a:ext cx="65314" cy="-38417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2578608"/>
            <a:ext cx="65314" cy="38417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3394" y="2617025"/>
            <a:ext cx="65314" cy="101587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8709" y="2718612"/>
            <a:ext cx="65314" cy="131545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94023" y="2850157"/>
            <a:ext cx="65314" cy="12611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59337" y="2976276"/>
            <a:ext cx="65314" cy="9787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24651" y="3074156"/>
            <a:ext cx="65314" cy="63649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90688" y="3358371"/>
            <a:ext cx="62702" cy="-32163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53390" y="3326208"/>
            <a:ext cx="62702" cy="-58033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16091" y="3268175"/>
            <a:ext cx="62702" cy="-89243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8793" y="3178932"/>
            <a:ext cx="62702" cy="-114991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1495" y="3063941"/>
            <a:ext cx="62702" cy="-119938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04197" y="2944003"/>
            <a:ext cx="62702" cy="-92624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66898" y="2851379"/>
            <a:ext cx="62702" cy="-35027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2816352"/>
            <a:ext cx="62702" cy="35027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92302" y="2851379"/>
            <a:ext cx="62702" cy="92624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55003" y="2944003"/>
            <a:ext cx="62702" cy="119938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7705" y="3063941"/>
            <a:ext cx="62702" cy="114991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80407" y="3178932"/>
            <a:ext cx="62702" cy="89243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43109" y="3268175"/>
            <a:ext cx="62702" cy="58033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87184" y="2203704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52944" y="2039112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18704" y="2157984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06056" y="3191256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307238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10144" y="3319272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84464" y="3209544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425196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Σ πₖ · N(x|μₖ,Σₖ)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16459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4" name="Shape 52"/>
          <p:cNvSpPr/>
          <p:nvPr/>
        </p:nvSpPr>
        <p:spPr>
          <a:xfrm>
            <a:off x="411480" y="960120"/>
            <a:ext cx="6217920" cy="676656"/>
          </a:xfrm>
          <a:prstGeom prst="rect">
            <a:avLst/>
          </a:prstGeom>
          <a:solidFill>
            <a:srgbClr val="3A153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14"/>
                </a:solidFill>
              </a:rPr>
              <a:t>01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170432" y="1078992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EC5"/>
                </a:solidFill>
              </a:rPr>
              <a:t>Model-based clustering assumes data is generated by a mixture of probability distributions — each cluster is a Gaussian.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411480" y="1755648"/>
            <a:ext cx="6217920" cy="676656"/>
          </a:xfrm>
          <a:prstGeom prst="rect">
            <a:avLst/>
          </a:prstGeom>
          <a:solidFill>
            <a:srgbClr val="3A1530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14"/>
                </a:solidFill>
              </a:rPr>
              <a:t>02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170432" y="1874520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EC5"/>
                </a:solidFill>
              </a:rPr>
              <a:t>The EM algorithm provides soft assignments: each point receives a probability score per cluster, not a hard label.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411480" y="2551176"/>
            <a:ext cx="6217920" cy="676656"/>
          </a:xfrm>
          <a:prstGeom prst="rect">
            <a:avLst/>
          </a:prstGeom>
          <a:solidFill>
            <a:srgbClr val="3A153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14"/>
                </a:solidFill>
              </a:rPr>
              <a:t>03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170432" y="2670048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EC5"/>
                </a:solidFill>
              </a:rPr>
              <a:t>COBWEB builds an incremental classification tree — nodes hold probabilistic descriptions of cluster concepts.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411480" y="3346704"/>
            <a:ext cx="6217920" cy="676656"/>
          </a:xfrm>
          <a:prstGeom prst="rect">
            <a:avLst/>
          </a:prstGeom>
          <a:solidFill>
            <a:srgbClr val="3A1530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14"/>
                </a:solidFill>
              </a:rPr>
              <a:t>04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170432" y="3465576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EC5"/>
                </a:solidFill>
              </a:rPr>
              <a:t>BIRCH handles massive datasets by building compact summaries before clustering — scalable and efficient.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411480" y="4142232"/>
            <a:ext cx="6217920" cy="676656"/>
          </a:xfrm>
          <a:prstGeom prst="rect">
            <a:avLst/>
          </a:prstGeom>
          <a:solidFill>
            <a:srgbClr val="3A1530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14"/>
                </a:solidFill>
              </a:rPr>
              <a:t>05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170432" y="4261104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EC5"/>
                </a:solidFill>
              </a:rPr>
              <a:t>Applications span bioinformatics, fraud detection, image segmentation, NLP, finance, and customer analytics.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Model-Based Clustering in Data Mining</dc:title>
  <dc:subject>PptxGenJS Presentation</dc:subject>
  <dc:creator>PptxGenJS</dc:creator>
  <cp:lastModifiedBy>PptxGenJS</cp:lastModifiedBy>
  <cp:revision>1</cp:revision>
  <dcterms:created xsi:type="dcterms:W3CDTF">2026-03-23T11:02:52Z</dcterms:created>
  <dcterms:modified xsi:type="dcterms:W3CDTF">2026-03-23T11:02:52Z</dcterms:modified>
</cp:coreProperties>
</file>