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B9106AE-2507-4404-A6E9-FA64957589E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AB3999-4EDD-4491-B708-8C17E290F8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7D2D2F-2257-4C54-9BD6-F610F15EF5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FD53F5-C433-47D7-8B4F-2606FDCBC0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58C227-40D4-411A-8665-97D6A36C4A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C003E5-E7EC-4D4A-9038-F03CA7AF97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3ED030-6ED9-4063-9672-4B5EE342B5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AB6750-BCAB-43C9-BC28-5C8031205F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84ACEC-117B-44C4-B100-D62A23C306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02156F-55B5-4F59-99EA-4AE1020514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bc4c4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217920" y="45720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720840" y="45720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223760" y="45720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726680" y="45720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229600" y="45720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732520" y="45720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217920" y="96012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6720840" y="96012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7223760" y="96012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726680" y="96012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229600" y="96012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732520" y="96012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217920" y="146304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720840" y="146304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7223760" y="146304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726680" y="146304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229600" y="146304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8732520" y="146304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6217920" y="196596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720840" y="196596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7223760" y="196596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7726680" y="196596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8229600" y="196596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8732520" y="1965960"/>
            <a:ext cx="81720" cy="817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65760" y="914400"/>
            <a:ext cx="6400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  <a:ea typeface="Calibri"/>
              </a:rPr>
              <a:t>CLIQUE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65760" y="19202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8fbdd3"/>
                </a:solidFill>
                <a:latin typeface="Calibri"/>
                <a:ea typeface="Calibri"/>
              </a:rPr>
              <a:t>Algorithm in Data Mining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365760" y="2788920"/>
            <a:ext cx="4754160" cy="54000"/>
          </a:xfrm>
          <a:prstGeom prst="rect">
            <a:avLst/>
          </a:prstGeom>
          <a:solidFill>
            <a:srgbClr val="0bc4c4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365760" y="2971800"/>
            <a:ext cx="6400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8f4f8"/>
                </a:solidFill>
                <a:latin typeface="Calibri"/>
                <a:ea typeface="Calibri"/>
              </a:rPr>
              <a:t>Clustering in High-Dimensional Spaces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365760" y="3840480"/>
            <a:ext cx="2102400" cy="31932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365760" y="38404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Grid-Based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2743200" y="3840480"/>
            <a:ext cx="2102400" cy="31932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2743200" y="38404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Density-Based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120640" y="3840480"/>
            <a:ext cx="2102400" cy="31932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5120640" y="38404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Subspace Clustering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365760" y="475488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0bc4c4"/>
                </a:solidFill>
                <a:latin typeface="Calibri"/>
              </a:rPr>
              <a:t>WHAT IS CLIQUE?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274320" y="731520"/>
            <a:ext cx="8594640" cy="127944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02920" y="868680"/>
            <a:ext cx="81374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CLIQUE (CLustering In QUEst) is a density-based and grid-based subspace clustering algorithm, specially designed to handle datasets with a large number of dimensions. It is highly scalable with respect to the number of records and dimensions.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274320" y="2240280"/>
            <a:ext cx="4159800" cy="246816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274320" y="2240280"/>
            <a:ext cx="4159800" cy="401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274320" y="2240280"/>
            <a:ext cx="41598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Grid-Based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2788920"/>
            <a:ext cx="379404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8f4f8"/>
                </a:solidFill>
                <a:latin typeface="Calibri"/>
                <a:ea typeface="Calibri"/>
              </a:rPr>
              <a:t>The data space is divided into a grid structure. Clustering is applied to grid cells (not individual points), dramatically reducing computation.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4663440" y="2240280"/>
            <a:ext cx="4159800" cy="246816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663440" y="2240280"/>
            <a:ext cx="4159800" cy="401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4663440" y="2240280"/>
            <a:ext cx="41598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Density-Based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846320" y="2788920"/>
            <a:ext cx="379404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8f4f8"/>
                </a:solidFill>
                <a:latin typeface="Calibri"/>
                <a:ea typeface="Calibri"/>
              </a:rPr>
              <a:t>A cluster is a maximal set of connected dense units in a subspace. A unit is dense when its data-point count exceeds a threshold τ.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8503920" y="4846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bdd3"/>
                </a:solidFill>
                <a:latin typeface="Calibri"/>
              </a:rPr>
              <a:t>2 / 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0bc4c4"/>
                </a:solidFill>
                <a:latin typeface="Calibri"/>
              </a:rPr>
              <a:t>THE APRIORI PRINCIPLE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274320" y="777240"/>
            <a:ext cx="8594640" cy="1005120"/>
          </a:xfrm>
          <a:prstGeom prst="rect">
            <a:avLst/>
          </a:prstGeom>
          <a:solidFill>
            <a:srgbClr val="065a82"/>
          </a:solidFill>
          <a:ln w="254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274320" y="777240"/>
            <a:ext cx="109080" cy="10051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594360" y="822960"/>
            <a:ext cx="8046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9a825"/>
                </a:solidFill>
                <a:latin typeface="Calibri"/>
                <a:ea typeface="Calibri"/>
              </a:rPr>
              <a:t>Apriori Property: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If an X-dimensional unit is dense, then ALL its projections in (X–1)-dimensional space are also dense.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365760" y="2011680"/>
            <a:ext cx="2605320" cy="228528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1188720" y="2103120"/>
            <a:ext cx="959400" cy="959400"/>
          </a:xfrm>
          <a:prstGeom prst="ellipse">
            <a:avLst/>
          </a:prstGeom>
          <a:solidFill>
            <a:srgbClr val="0bc4c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188720" y="210312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1D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502920" y="324612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8f4f8"/>
                </a:solidFill>
                <a:latin typeface="Calibri"/>
                <a:ea typeface="Calibri"/>
              </a:rPr>
              <a:t>Find dense units in each single dimension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3063240" y="2441520"/>
            <a:ext cx="227880" cy="72360"/>
          </a:xfrm>
          <a:prstGeom prst="rect">
            <a:avLst/>
          </a:prstGeom>
          <a:solidFill>
            <a:srgbClr val="8fbdd3"/>
          </a:solidFill>
          <a:ln w="12700">
            <a:solidFill>
              <a:srgbClr val="8fb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3246120" y="2011680"/>
            <a:ext cx="2605320" cy="228528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4069080" y="2103120"/>
            <a:ext cx="959400" cy="959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069080" y="210312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2D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3383280" y="324612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8f4f8"/>
                </a:solidFill>
                <a:latin typeface="Calibri"/>
                <a:ea typeface="Calibri"/>
              </a:rPr>
              <a:t>Combine to find dense units in 2-dimension subspaces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5943600" y="2441520"/>
            <a:ext cx="227880" cy="72360"/>
          </a:xfrm>
          <a:prstGeom prst="rect">
            <a:avLst/>
          </a:prstGeom>
          <a:solidFill>
            <a:srgbClr val="8fbdd3"/>
          </a:solidFill>
          <a:ln w="12700">
            <a:solidFill>
              <a:srgbClr val="8fb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6126480" y="2011680"/>
            <a:ext cx="2605320" cy="228528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6949440" y="2103120"/>
            <a:ext cx="959400" cy="959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6949440" y="2103120"/>
            <a:ext cx="959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kD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6263640" y="324612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8f4f8"/>
                </a:solidFill>
                <a:latin typeface="Calibri"/>
                <a:ea typeface="Calibri"/>
              </a:rPr>
              <a:t>Continue upward; prune non-dense lower-dim projections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365760" y="4526280"/>
            <a:ext cx="8411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fbdd3"/>
                </a:solidFill>
                <a:latin typeface="Calibri"/>
              </a:rPr>
              <a:t>This allows CLIQUE to restrict its search only to intersections of already-dense lower-dimensional cells.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8503920" y="4846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bdd3"/>
                </a:solidFill>
                <a:latin typeface="Calibri"/>
              </a:rPr>
              <a:t>3 / 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0bc4c4"/>
                </a:solidFill>
                <a:latin typeface="Calibri"/>
              </a:rPr>
              <a:t>HOW CLIQUE WORKS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274320" y="777240"/>
            <a:ext cx="8594640" cy="685080"/>
          </a:xfrm>
          <a:prstGeom prst="rect">
            <a:avLst/>
          </a:prstGeom>
          <a:solidFill>
            <a:srgbClr val="0d2137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274320" y="777240"/>
            <a:ext cx="776520" cy="685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274320" y="777240"/>
            <a:ext cx="776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1188720" y="82296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Partition the Space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1188720" y="109728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fbdd3"/>
                </a:solidFill>
                <a:latin typeface="Calibri"/>
              </a:rPr>
              <a:t>Divide each dimension into equal-width intervals (units). The full data space becomes a grid of rectangular cells.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274320" y="1572840"/>
            <a:ext cx="8594640" cy="685080"/>
          </a:xfrm>
          <a:prstGeom prst="rect">
            <a:avLst/>
          </a:prstGeom>
          <a:solidFill>
            <a:srgbClr val="0e1e30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274320" y="1572840"/>
            <a:ext cx="776520" cy="685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274320" y="1572840"/>
            <a:ext cx="776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1188720" y="161856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Identify Dense Units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1188720" y="189288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fbdd3"/>
                </a:solidFill>
                <a:latin typeface="Calibri"/>
              </a:rPr>
              <a:t>A unit is marked as dense if the number of data points it contains exceeds the user-defined density threshold τ.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2"/>
          <p:cNvSpPr/>
          <p:nvPr/>
        </p:nvSpPr>
        <p:spPr>
          <a:xfrm>
            <a:off x="274320" y="2368440"/>
            <a:ext cx="8594640" cy="685080"/>
          </a:xfrm>
          <a:prstGeom prst="rect">
            <a:avLst/>
          </a:prstGeom>
          <a:solidFill>
            <a:srgbClr val="0d2137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274320" y="2368440"/>
            <a:ext cx="776520" cy="685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274320" y="2368440"/>
            <a:ext cx="776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1188720" y="241416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Iterative Subspace Search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1188720" y="268848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fbdd3"/>
                </a:solidFill>
                <a:latin typeface="Calibri"/>
              </a:rPr>
              <a:t>Starting from 1-D dense units, combine them dimension by dimension using the Apriori property to find k-D dense cells.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7"/>
          <p:cNvSpPr/>
          <p:nvPr/>
        </p:nvSpPr>
        <p:spPr>
          <a:xfrm>
            <a:off x="274320" y="3163680"/>
            <a:ext cx="8594640" cy="685080"/>
          </a:xfrm>
          <a:prstGeom prst="rect">
            <a:avLst/>
          </a:prstGeom>
          <a:solidFill>
            <a:srgbClr val="0e1e30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274320" y="3163680"/>
            <a:ext cx="776520" cy="685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274320" y="3163680"/>
            <a:ext cx="776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1188720" y="32094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Find Connected Components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1188720" y="348372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fbdd3"/>
                </a:solidFill>
                <a:latin typeface="Calibri"/>
              </a:rPr>
              <a:t>Identify the largest groups (clusters) of connected dense cells — cells that share a face in the k-dimensional grid.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22"/>
          <p:cNvSpPr/>
          <p:nvPr/>
        </p:nvSpPr>
        <p:spPr>
          <a:xfrm>
            <a:off x="274320" y="3959280"/>
            <a:ext cx="8594640" cy="685080"/>
          </a:xfrm>
          <a:prstGeom prst="rect">
            <a:avLst/>
          </a:prstGeom>
          <a:solidFill>
            <a:srgbClr val="0d2137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23"/>
          <p:cNvSpPr/>
          <p:nvPr/>
        </p:nvSpPr>
        <p:spPr>
          <a:xfrm>
            <a:off x="274320" y="3959280"/>
            <a:ext cx="776520" cy="685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274320" y="3959280"/>
            <a:ext cx="776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1188720" y="40050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Generate Cluster Descriptions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1188720" y="4279320"/>
            <a:ext cx="7497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fbdd3"/>
                </a:solidFill>
                <a:latin typeface="Calibri"/>
              </a:rPr>
              <a:t>Produce a minimal, human-readable description of each cluster using the subspace dimensions it spans.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8503920" y="4846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bdd3"/>
                </a:solidFill>
                <a:latin typeface="Calibri"/>
              </a:rPr>
              <a:t>4 / 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0bc4c4"/>
                </a:solidFill>
                <a:latin typeface="Calibri"/>
              </a:rPr>
              <a:t>INPUT PARAMETERS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274320" y="868680"/>
            <a:ext cx="8594640" cy="173664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411480" y="1234440"/>
            <a:ext cx="1005120" cy="10051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411480" y="123444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ξ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1600200" y="1051560"/>
            <a:ext cx="7040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8f4f8"/>
                </a:solidFill>
                <a:latin typeface="Calibri"/>
              </a:rPr>
              <a:t>Grid Granularity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1600200" y="1554480"/>
            <a:ext cx="7040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fbdd3"/>
                </a:solidFill>
                <a:latin typeface="Calibri"/>
              </a:rPr>
              <a:t>The number of intervals each dimension is divided into. A fine grid gives more precise clusters but increases computation.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274320" y="2880360"/>
            <a:ext cx="8594640" cy="173664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411480" y="3246120"/>
            <a:ext cx="1005120" cy="10051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411480" y="324612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τ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1600200" y="3063240"/>
            <a:ext cx="7040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8f4f8"/>
                </a:solidFill>
                <a:latin typeface="Calibri"/>
              </a:rPr>
              <a:t>Density Threshold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1600200" y="3566160"/>
            <a:ext cx="7040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fbdd3"/>
                </a:solidFill>
                <a:latin typeface="Calibri"/>
              </a:rPr>
              <a:t>Minimum fraction of total data points that a unit must contain to be considered dense. Directly controls cluster density.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274320" y="4709160"/>
            <a:ext cx="8594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fbdd3"/>
                </a:solidFill>
                <a:latin typeface="Calibri"/>
              </a:rPr>
              <a:t>Choosing the right values for ξ and τ is critical to the quality of the discovered clusters.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8503920" y="4846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bdd3"/>
                </a:solidFill>
                <a:latin typeface="Calibri"/>
              </a:rPr>
              <a:t>5 / 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0bc4c4"/>
                </a:solidFill>
                <a:latin typeface="Calibri"/>
              </a:rPr>
              <a:t>ADVANTAGES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274320" y="777240"/>
            <a:ext cx="4159800" cy="109656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57200" y="868680"/>
            <a:ext cx="639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88720" y="86868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c4c4"/>
                </a:solidFill>
                <a:latin typeface="Calibri"/>
              </a:rPr>
              <a:t>Superior Performance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1188720" y="123444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Outperforms K-Means, DBSCAN, and Farthest First in both execution time and clustering accuracy on high-dimensional data.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4709160" y="777240"/>
            <a:ext cx="4159800" cy="109656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4892040" y="868680"/>
            <a:ext cx="639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🔷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5623560" y="86868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c4c4"/>
                </a:solidFill>
                <a:latin typeface="Calibri"/>
              </a:rPr>
              <a:t>Arbitrary Cluster Shapes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5623560" y="123444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Can find clusters of any shape — not limited to spherical or convex clusters like centroid-based methods.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274320" y="2148840"/>
            <a:ext cx="4159800" cy="109656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457200" y="2240280"/>
            <a:ext cx="639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∞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1188720" y="224028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c4c4"/>
                </a:solidFill>
                <a:latin typeface="Calibri"/>
              </a:rPr>
              <a:t>No Predefined 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1188720" y="260604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Does not require the user to specify the number of clusters in advance; clusters emerge naturally from density patterns.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4709160" y="2148840"/>
            <a:ext cx="4159800" cy="109656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4892040" y="2240280"/>
            <a:ext cx="639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📐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5623560" y="224028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c4c4"/>
                </a:solidFill>
                <a:latin typeface="Calibri"/>
              </a:rPr>
              <a:t>High Scalability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5623560" y="260604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Scales linearly with the number of records and polynomially with the number of dimensions, thanks to the grid-based approach.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274320" y="3520440"/>
            <a:ext cx="8594640" cy="109656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457200" y="3611880"/>
            <a:ext cx="639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1188720" y="3611880"/>
            <a:ext cx="74973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c4c4"/>
                </a:solidFill>
                <a:latin typeface="Calibri"/>
              </a:rPr>
              <a:t>Interpretable Results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1"/>
          <p:cNvSpPr/>
          <p:nvPr/>
        </p:nvSpPr>
        <p:spPr>
          <a:xfrm>
            <a:off x="1188720" y="3977640"/>
            <a:ext cx="7497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Generates concise, human-readable descriptions of clusters in terms of subspace dimensions, making results easy to understand.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8503920" y="4846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bdd3"/>
                </a:solidFill>
                <a:latin typeface="Calibri"/>
              </a:rPr>
              <a:t>6 / 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0bc4c4"/>
                </a:solidFill>
                <a:latin typeface="Calibri"/>
              </a:rPr>
              <a:t>LIMITATIONS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274320" y="777240"/>
            <a:ext cx="8594640" cy="219384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274320" y="777240"/>
            <a:ext cx="8594640" cy="456480"/>
          </a:xfrm>
          <a:prstGeom prst="rect">
            <a:avLst/>
          </a:prstGeom>
          <a:solidFill>
            <a:srgbClr val="7b1e1e"/>
          </a:solidFill>
          <a:ln w="12700">
            <a:solidFill>
              <a:srgbClr val="7b1e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457200" y="7772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3b3"/>
                </a:solidFill>
                <a:latin typeface="Calibri"/>
              </a:rPr>
              <a:t>⚠  </a:t>
            </a:r>
            <a:r>
              <a:rPr b="1" lang="en-US" sz="1500" spc="-1" strike="noStrike">
                <a:solidFill>
                  <a:srgbClr val="ffb3b3"/>
                </a:solidFill>
                <a:latin typeface="Calibri"/>
              </a:rPr>
              <a:t>Grid Cell Size Sensitivity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502920" y="1371600"/>
            <a:ext cx="8228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8f4f8"/>
                </a:solidFill>
                <a:latin typeface="Calibri"/>
                <a:ea typeface="Calibri"/>
              </a:rPr>
              <a:t>If the grid cell size (controlled by ξ) is unsuitable for a dataset with very high values or uneven distributions, the density estimates become inaccurate — and the correct clusters may not be recoverable regardless of the threshold τ.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274320" y="3154680"/>
            <a:ext cx="8594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7" strike="noStrike">
                <a:solidFill>
                  <a:srgbClr val="0bc4c4"/>
                </a:solidFill>
                <a:latin typeface="Calibri"/>
              </a:rPr>
              <a:t>MITIGATION STRATEGIES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274320" y="3566160"/>
            <a:ext cx="200520" cy="2005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94360" y="35294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</a:rPr>
              <a:t>Try multiple values of ξ and compare cluster quality metrics.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274320" y="3931920"/>
            <a:ext cx="200520" cy="2005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594360" y="38952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</a:rPr>
              <a:t>Normalize or scale data dimensions before running CLIQUE.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274320" y="4297680"/>
            <a:ext cx="200520" cy="2005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594360" y="42609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</a:rPr>
              <a:t>Use domain knowledge to estimate a reasonable grid granularity.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8503920" y="4846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bdd3"/>
                </a:solidFill>
                <a:latin typeface="Calibri"/>
              </a:rPr>
              <a:t>7 / 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0bc4c4"/>
                </a:solidFill>
                <a:latin typeface="Calibri"/>
              </a:rPr>
              <a:t>CLIQUE vs. OTHER ALGORITHMS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274320" y="777240"/>
            <a:ext cx="2285280" cy="410760"/>
          </a:xfrm>
          <a:prstGeom prst="rect">
            <a:avLst/>
          </a:prstGeom>
          <a:solidFill>
            <a:srgbClr val="065a82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274320" y="77724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Feature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2560320" y="777240"/>
            <a:ext cx="2285280" cy="410760"/>
          </a:xfrm>
          <a:prstGeom prst="rect">
            <a:avLst/>
          </a:prstGeom>
          <a:solidFill>
            <a:srgbClr val="1c7293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2560320" y="77724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CLIQUE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4846320" y="777240"/>
            <a:ext cx="2010960" cy="410760"/>
          </a:xfrm>
          <a:prstGeom prst="rect">
            <a:avLst/>
          </a:prstGeom>
          <a:solidFill>
            <a:srgbClr val="065a82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4846320" y="7772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K-Means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6858000" y="777240"/>
            <a:ext cx="2010960" cy="410760"/>
          </a:xfrm>
          <a:prstGeom prst="rect">
            <a:avLst/>
          </a:prstGeom>
          <a:solidFill>
            <a:srgbClr val="065a82"/>
          </a:solidFill>
          <a:ln w="1016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6858000" y="77724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c4c4"/>
                </a:solidFill>
                <a:latin typeface="Calibri"/>
              </a:rPr>
              <a:t>DBSCAN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274320" y="1188720"/>
            <a:ext cx="228528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365760" y="118872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Cluster Shape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2560320" y="1188720"/>
            <a:ext cx="2285280" cy="529560"/>
          </a:xfrm>
          <a:prstGeom prst="rect">
            <a:avLst/>
          </a:prstGeom>
          <a:solidFill>
            <a:srgbClr val="0d2b3e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2651760" y="118872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c4c4"/>
                </a:solidFill>
                <a:latin typeface="Calibri"/>
              </a:rPr>
              <a:t>Any shape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4846320" y="1188720"/>
            <a:ext cx="201096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4937760" y="118872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Spherical only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6"/>
          <p:cNvSpPr/>
          <p:nvPr/>
        </p:nvSpPr>
        <p:spPr>
          <a:xfrm>
            <a:off x="6858000" y="1188720"/>
            <a:ext cx="201096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6949440" y="118872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Any shape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274320" y="1755720"/>
            <a:ext cx="228528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365760" y="175572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Predefined 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20"/>
          <p:cNvSpPr/>
          <p:nvPr/>
        </p:nvSpPr>
        <p:spPr>
          <a:xfrm>
            <a:off x="2560320" y="1755720"/>
            <a:ext cx="2285280" cy="529560"/>
          </a:xfrm>
          <a:prstGeom prst="rect">
            <a:avLst/>
          </a:prstGeom>
          <a:solidFill>
            <a:srgbClr val="0d2b3e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2651760" y="175572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c4c4"/>
                </a:solidFill>
                <a:latin typeface="Calibri"/>
              </a:rPr>
              <a:t>Not required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22"/>
          <p:cNvSpPr/>
          <p:nvPr/>
        </p:nvSpPr>
        <p:spPr>
          <a:xfrm>
            <a:off x="4846320" y="1755720"/>
            <a:ext cx="201096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3"/>
          <p:cNvSpPr/>
          <p:nvPr/>
        </p:nvSpPr>
        <p:spPr>
          <a:xfrm>
            <a:off x="4937760" y="175572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Required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4"/>
          <p:cNvSpPr/>
          <p:nvPr/>
        </p:nvSpPr>
        <p:spPr>
          <a:xfrm>
            <a:off x="6858000" y="1755720"/>
            <a:ext cx="201096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5"/>
          <p:cNvSpPr/>
          <p:nvPr/>
        </p:nvSpPr>
        <p:spPr>
          <a:xfrm>
            <a:off x="6949440" y="175572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Not required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26"/>
          <p:cNvSpPr/>
          <p:nvPr/>
        </p:nvSpPr>
        <p:spPr>
          <a:xfrm>
            <a:off x="274320" y="2322720"/>
            <a:ext cx="228528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27"/>
          <p:cNvSpPr/>
          <p:nvPr/>
        </p:nvSpPr>
        <p:spPr>
          <a:xfrm>
            <a:off x="365760" y="232272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High Dimensions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28"/>
          <p:cNvSpPr/>
          <p:nvPr/>
        </p:nvSpPr>
        <p:spPr>
          <a:xfrm>
            <a:off x="2560320" y="2322720"/>
            <a:ext cx="2285280" cy="529560"/>
          </a:xfrm>
          <a:prstGeom prst="rect">
            <a:avLst/>
          </a:prstGeom>
          <a:solidFill>
            <a:srgbClr val="0d2b3e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9"/>
          <p:cNvSpPr/>
          <p:nvPr/>
        </p:nvSpPr>
        <p:spPr>
          <a:xfrm>
            <a:off x="2651760" y="232272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c4c4"/>
                </a:solidFill>
                <a:latin typeface="Calibri"/>
              </a:rPr>
              <a:t>Excellent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30"/>
          <p:cNvSpPr/>
          <p:nvPr/>
        </p:nvSpPr>
        <p:spPr>
          <a:xfrm>
            <a:off x="4846320" y="2322720"/>
            <a:ext cx="201096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1"/>
          <p:cNvSpPr/>
          <p:nvPr/>
        </p:nvSpPr>
        <p:spPr>
          <a:xfrm>
            <a:off x="4937760" y="232272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Struggles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32"/>
          <p:cNvSpPr/>
          <p:nvPr/>
        </p:nvSpPr>
        <p:spPr>
          <a:xfrm>
            <a:off x="6858000" y="2322720"/>
            <a:ext cx="201096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33"/>
          <p:cNvSpPr/>
          <p:nvPr/>
        </p:nvSpPr>
        <p:spPr>
          <a:xfrm>
            <a:off x="6949440" y="232272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Struggles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34"/>
          <p:cNvSpPr/>
          <p:nvPr/>
        </p:nvSpPr>
        <p:spPr>
          <a:xfrm>
            <a:off x="274320" y="2889360"/>
            <a:ext cx="228528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5"/>
          <p:cNvSpPr/>
          <p:nvPr/>
        </p:nvSpPr>
        <p:spPr>
          <a:xfrm>
            <a:off x="365760" y="288936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Scalability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36"/>
          <p:cNvSpPr/>
          <p:nvPr/>
        </p:nvSpPr>
        <p:spPr>
          <a:xfrm>
            <a:off x="2560320" y="2889360"/>
            <a:ext cx="2285280" cy="529560"/>
          </a:xfrm>
          <a:prstGeom prst="rect">
            <a:avLst/>
          </a:prstGeom>
          <a:solidFill>
            <a:srgbClr val="0d2b3e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7"/>
          <p:cNvSpPr/>
          <p:nvPr/>
        </p:nvSpPr>
        <p:spPr>
          <a:xfrm>
            <a:off x="2651760" y="288936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c4c4"/>
                </a:solidFill>
                <a:latin typeface="Calibri"/>
              </a:rPr>
              <a:t>Very High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38"/>
          <p:cNvSpPr/>
          <p:nvPr/>
        </p:nvSpPr>
        <p:spPr>
          <a:xfrm>
            <a:off x="4846320" y="2889360"/>
            <a:ext cx="201096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39"/>
          <p:cNvSpPr/>
          <p:nvPr/>
        </p:nvSpPr>
        <p:spPr>
          <a:xfrm>
            <a:off x="4937760" y="288936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Moderate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40"/>
          <p:cNvSpPr/>
          <p:nvPr/>
        </p:nvSpPr>
        <p:spPr>
          <a:xfrm>
            <a:off x="6858000" y="2889360"/>
            <a:ext cx="201096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41"/>
          <p:cNvSpPr/>
          <p:nvPr/>
        </p:nvSpPr>
        <p:spPr>
          <a:xfrm>
            <a:off x="6949440" y="288936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Moderate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42"/>
          <p:cNvSpPr/>
          <p:nvPr/>
        </p:nvSpPr>
        <p:spPr>
          <a:xfrm>
            <a:off x="274320" y="3456360"/>
            <a:ext cx="228528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43"/>
          <p:cNvSpPr/>
          <p:nvPr/>
        </p:nvSpPr>
        <p:spPr>
          <a:xfrm>
            <a:off x="365760" y="345636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Result Type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44"/>
          <p:cNvSpPr/>
          <p:nvPr/>
        </p:nvSpPr>
        <p:spPr>
          <a:xfrm>
            <a:off x="2560320" y="3456360"/>
            <a:ext cx="2285280" cy="529560"/>
          </a:xfrm>
          <a:prstGeom prst="rect">
            <a:avLst/>
          </a:prstGeom>
          <a:solidFill>
            <a:srgbClr val="0d2b3e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45"/>
          <p:cNvSpPr/>
          <p:nvPr/>
        </p:nvSpPr>
        <p:spPr>
          <a:xfrm>
            <a:off x="2651760" y="345636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c4c4"/>
                </a:solidFill>
                <a:latin typeface="Calibri"/>
              </a:rPr>
              <a:t>Subspace clusters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46"/>
          <p:cNvSpPr/>
          <p:nvPr/>
        </p:nvSpPr>
        <p:spPr>
          <a:xfrm>
            <a:off x="4846320" y="3456360"/>
            <a:ext cx="201096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47"/>
          <p:cNvSpPr/>
          <p:nvPr/>
        </p:nvSpPr>
        <p:spPr>
          <a:xfrm>
            <a:off x="4937760" y="345636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Full-space clusters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48"/>
          <p:cNvSpPr/>
          <p:nvPr/>
        </p:nvSpPr>
        <p:spPr>
          <a:xfrm>
            <a:off x="6858000" y="3456360"/>
            <a:ext cx="2010960" cy="52956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49"/>
          <p:cNvSpPr/>
          <p:nvPr/>
        </p:nvSpPr>
        <p:spPr>
          <a:xfrm>
            <a:off x="6949440" y="345636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Full-space clusters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50"/>
          <p:cNvSpPr/>
          <p:nvPr/>
        </p:nvSpPr>
        <p:spPr>
          <a:xfrm>
            <a:off x="274320" y="4023360"/>
            <a:ext cx="228528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51"/>
          <p:cNvSpPr/>
          <p:nvPr/>
        </p:nvSpPr>
        <p:spPr>
          <a:xfrm>
            <a:off x="365760" y="402336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Interpretability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52"/>
          <p:cNvSpPr/>
          <p:nvPr/>
        </p:nvSpPr>
        <p:spPr>
          <a:xfrm>
            <a:off x="2560320" y="4023360"/>
            <a:ext cx="2285280" cy="529560"/>
          </a:xfrm>
          <a:prstGeom prst="rect">
            <a:avLst/>
          </a:prstGeom>
          <a:solidFill>
            <a:srgbClr val="0d2b3e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53"/>
          <p:cNvSpPr/>
          <p:nvPr/>
        </p:nvSpPr>
        <p:spPr>
          <a:xfrm>
            <a:off x="2651760" y="4023360"/>
            <a:ext cx="2148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c4c4"/>
                </a:solidFill>
                <a:latin typeface="Calibri"/>
              </a:rPr>
              <a:t>High (rules)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54"/>
          <p:cNvSpPr/>
          <p:nvPr/>
        </p:nvSpPr>
        <p:spPr>
          <a:xfrm>
            <a:off x="4846320" y="4023360"/>
            <a:ext cx="201096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55"/>
          <p:cNvSpPr/>
          <p:nvPr/>
        </p:nvSpPr>
        <p:spPr>
          <a:xfrm>
            <a:off x="4937760" y="402336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56"/>
          <p:cNvSpPr/>
          <p:nvPr/>
        </p:nvSpPr>
        <p:spPr>
          <a:xfrm>
            <a:off x="6858000" y="4023360"/>
            <a:ext cx="2010960" cy="529560"/>
          </a:xfrm>
          <a:prstGeom prst="rect">
            <a:avLst/>
          </a:prstGeom>
          <a:solidFill>
            <a:srgbClr val="0e1e30"/>
          </a:solidFill>
          <a:ln w="63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57"/>
          <p:cNvSpPr/>
          <p:nvPr/>
        </p:nvSpPr>
        <p:spPr>
          <a:xfrm>
            <a:off x="6949440" y="4023360"/>
            <a:ext cx="18738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4f8"/>
                </a:solidFill>
                <a:latin typeface="Calibri"/>
              </a:rPr>
              <a:t>Moderate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58"/>
          <p:cNvSpPr/>
          <p:nvPr/>
        </p:nvSpPr>
        <p:spPr>
          <a:xfrm>
            <a:off x="8503920" y="4846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bdd3"/>
                </a:solidFill>
                <a:latin typeface="Calibri"/>
              </a:rPr>
              <a:t>8 / 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27432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137160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246888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356616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466344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576072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685800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7955280" y="1828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9"/>
          <p:cNvSpPr/>
          <p:nvPr/>
        </p:nvSpPr>
        <p:spPr>
          <a:xfrm>
            <a:off x="27432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137160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246888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2"/>
          <p:cNvSpPr/>
          <p:nvPr/>
        </p:nvSpPr>
        <p:spPr>
          <a:xfrm>
            <a:off x="356616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13"/>
          <p:cNvSpPr/>
          <p:nvPr/>
        </p:nvSpPr>
        <p:spPr>
          <a:xfrm>
            <a:off x="466344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>
            <a:off x="576072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685800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6"/>
          <p:cNvSpPr/>
          <p:nvPr/>
        </p:nvSpPr>
        <p:spPr>
          <a:xfrm>
            <a:off x="7955280" y="10972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7"/>
          <p:cNvSpPr/>
          <p:nvPr/>
        </p:nvSpPr>
        <p:spPr>
          <a:xfrm>
            <a:off x="27432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8"/>
          <p:cNvSpPr/>
          <p:nvPr/>
        </p:nvSpPr>
        <p:spPr>
          <a:xfrm>
            <a:off x="137160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246888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20"/>
          <p:cNvSpPr/>
          <p:nvPr/>
        </p:nvSpPr>
        <p:spPr>
          <a:xfrm>
            <a:off x="356616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21"/>
          <p:cNvSpPr/>
          <p:nvPr/>
        </p:nvSpPr>
        <p:spPr>
          <a:xfrm>
            <a:off x="466344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22"/>
          <p:cNvSpPr/>
          <p:nvPr/>
        </p:nvSpPr>
        <p:spPr>
          <a:xfrm>
            <a:off x="576072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23"/>
          <p:cNvSpPr/>
          <p:nvPr/>
        </p:nvSpPr>
        <p:spPr>
          <a:xfrm>
            <a:off x="685800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24"/>
          <p:cNvSpPr/>
          <p:nvPr/>
        </p:nvSpPr>
        <p:spPr>
          <a:xfrm>
            <a:off x="7955280" y="20116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5"/>
          <p:cNvSpPr/>
          <p:nvPr/>
        </p:nvSpPr>
        <p:spPr>
          <a:xfrm>
            <a:off x="27432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26"/>
          <p:cNvSpPr/>
          <p:nvPr/>
        </p:nvSpPr>
        <p:spPr>
          <a:xfrm>
            <a:off x="137160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27"/>
          <p:cNvSpPr/>
          <p:nvPr/>
        </p:nvSpPr>
        <p:spPr>
          <a:xfrm>
            <a:off x="246888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8"/>
          <p:cNvSpPr/>
          <p:nvPr/>
        </p:nvSpPr>
        <p:spPr>
          <a:xfrm>
            <a:off x="356616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29"/>
          <p:cNvSpPr/>
          <p:nvPr/>
        </p:nvSpPr>
        <p:spPr>
          <a:xfrm>
            <a:off x="466344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30"/>
          <p:cNvSpPr/>
          <p:nvPr/>
        </p:nvSpPr>
        <p:spPr>
          <a:xfrm>
            <a:off x="576072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31"/>
          <p:cNvSpPr/>
          <p:nvPr/>
        </p:nvSpPr>
        <p:spPr>
          <a:xfrm>
            <a:off x="685800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32"/>
          <p:cNvSpPr/>
          <p:nvPr/>
        </p:nvSpPr>
        <p:spPr>
          <a:xfrm>
            <a:off x="7955280" y="29260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33"/>
          <p:cNvSpPr/>
          <p:nvPr/>
        </p:nvSpPr>
        <p:spPr>
          <a:xfrm>
            <a:off x="27432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34"/>
          <p:cNvSpPr/>
          <p:nvPr/>
        </p:nvSpPr>
        <p:spPr>
          <a:xfrm>
            <a:off x="137160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35"/>
          <p:cNvSpPr/>
          <p:nvPr/>
        </p:nvSpPr>
        <p:spPr>
          <a:xfrm>
            <a:off x="246888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36"/>
          <p:cNvSpPr/>
          <p:nvPr/>
        </p:nvSpPr>
        <p:spPr>
          <a:xfrm>
            <a:off x="356616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37"/>
          <p:cNvSpPr/>
          <p:nvPr/>
        </p:nvSpPr>
        <p:spPr>
          <a:xfrm>
            <a:off x="466344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38"/>
          <p:cNvSpPr/>
          <p:nvPr/>
        </p:nvSpPr>
        <p:spPr>
          <a:xfrm>
            <a:off x="576072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39"/>
          <p:cNvSpPr/>
          <p:nvPr/>
        </p:nvSpPr>
        <p:spPr>
          <a:xfrm>
            <a:off x="685800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40"/>
          <p:cNvSpPr/>
          <p:nvPr/>
        </p:nvSpPr>
        <p:spPr>
          <a:xfrm>
            <a:off x="7955280" y="3840480"/>
            <a:ext cx="72360" cy="723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41"/>
          <p:cNvSpPr/>
          <p:nvPr/>
        </p:nvSpPr>
        <p:spPr>
          <a:xfrm>
            <a:off x="1371600" y="640080"/>
            <a:ext cx="6400080" cy="3931200"/>
          </a:xfrm>
          <a:prstGeom prst="rect">
            <a:avLst/>
          </a:prstGeom>
          <a:solidFill>
            <a:srgbClr val="0d2137"/>
          </a:solidFill>
          <a:ln w="1524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42"/>
          <p:cNvSpPr/>
          <p:nvPr/>
        </p:nvSpPr>
        <p:spPr>
          <a:xfrm>
            <a:off x="1371600" y="77724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c4c4"/>
                </a:solidFill>
                <a:latin typeface="Calibri"/>
              </a:rPr>
              <a:t>Key Takeaways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43"/>
          <p:cNvSpPr/>
          <p:nvPr/>
        </p:nvSpPr>
        <p:spPr>
          <a:xfrm>
            <a:off x="3200400" y="1280160"/>
            <a:ext cx="2742480" cy="45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44"/>
          <p:cNvSpPr/>
          <p:nvPr/>
        </p:nvSpPr>
        <p:spPr>
          <a:xfrm>
            <a:off x="1645920" y="1508760"/>
            <a:ext cx="255240" cy="255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45"/>
          <p:cNvSpPr/>
          <p:nvPr/>
        </p:nvSpPr>
        <p:spPr>
          <a:xfrm>
            <a:off x="1645920" y="150876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46"/>
          <p:cNvSpPr/>
          <p:nvPr/>
        </p:nvSpPr>
        <p:spPr>
          <a:xfrm>
            <a:off x="2057400" y="1508760"/>
            <a:ext cx="5485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8f4f8"/>
                </a:solidFill>
                <a:latin typeface="Calibri"/>
              </a:rPr>
              <a:t>CLIQUE combines grid + density methods for subspace clustering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47"/>
          <p:cNvSpPr/>
          <p:nvPr/>
        </p:nvSpPr>
        <p:spPr>
          <a:xfrm>
            <a:off x="1645920" y="2020680"/>
            <a:ext cx="255240" cy="255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48"/>
          <p:cNvSpPr/>
          <p:nvPr/>
        </p:nvSpPr>
        <p:spPr>
          <a:xfrm>
            <a:off x="1645920" y="20206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49"/>
          <p:cNvSpPr/>
          <p:nvPr/>
        </p:nvSpPr>
        <p:spPr>
          <a:xfrm>
            <a:off x="2057400" y="2020680"/>
            <a:ext cx="5485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8f4f8"/>
                </a:solidFill>
                <a:latin typeface="Calibri"/>
              </a:rPr>
              <a:t>Uses Apriori to efficiently search high-dimensional spaces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50"/>
          <p:cNvSpPr/>
          <p:nvPr/>
        </p:nvSpPr>
        <p:spPr>
          <a:xfrm>
            <a:off x="1645920" y="2532960"/>
            <a:ext cx="255240" cy="255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51"/>
          <p:cNvSpPr/>
          <p:nvPr/>
        </p:nvSpPr>
        <p:spPr>
          <a:xfrm>
            <a:off x="1645920" y="253296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52"/>
          <p:cNvSpPr/>
          <p:nvPr/>
        </p:nvSpPr>
        <p:spPr>
          <a:xfrm>
            <a:off x="2057400" y="2532960"/>
            <a:ext cx="5485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8f4f8"/>
                </a:solidFill>
                <a:latin typeface="Calibri"/>
              </a:rPr>
              <a:t>Finds clusters of any shape without knowing k in advance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53"/>
          <p:cNvSpPr/>
          <p:nvPr/>
        </p:nvSpPr>
        <p:spPr>
          <a:xfrm>
            <a:off x="1645920" y="3044880"/>
            <a:ext cx="255240" cy="255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54"/>
          <p:cNvSpPr/>
          <p:nvPr/>
        </p:nvSpPr>
        <p:spPr>
          <a:xfrm>
            <a:off x="1645920" y="30448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55"/>
          <p:cNvSpPr/>
          <p:nvPr/>
        </p:nvSpPr>
        <p:spPr>
          <a:xfrm>
            <a:off x="2057400" y="3044880"/>
            <a:ext cx="5485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8f4f8"/>
                </a:solidFill>
                <a:latin typeface="Calibri"/>
              </a:rPr>
              <a:t>Sensitive to grid cell size — choose ξ carefully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56"/>
          <p:cNvSpPr/>
          <p:nvPr/>
        </p:nvSpPr>
        <p:spPr>
          <a:xfrm>
            <a:off x="1645920" y="3557160"/>
            <a:ext cx="255240" cy="255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b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57"/>
          <p:cNvSpPr/>
          <p:nvPr/>
        </p:nvSpPr>
        <p:spPr>
          <a:xfrm>
            <a:off x="1645920" y="355716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58"/>
          <p:cNvSpPr/>
          <p:nvPr/>
        </p:nvSpPr>
        <p:spPr>
          <a:xfrm>
            <a:off x="2057400" y="3557160"/>
            <a:ext cx="5485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8f4f8"/>
                </a:solidFill>
                <a:latin typeface="Calibri"/>
              </a:rPr>
              <a:t>Produces interpretable, minimal cluster descriptions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59"/>
          <p:cNvSpPr/>
          <p:nvPr/>
        </p:nvSpPr>
        <p:spPr>
          <a:xfrm>
            <a:off x="1371600" y="4343400"/>
            <a:ext cx="6400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2026-04-07T04:27:15Z</dcterms:created>
  <dc:creator>PptxGenJS</dc:creator>
  <dc:description/>
  <dc:language>en-US</dc:language>
  <cp:lastModifiedBy/>
  <dcterms:modified xsi:type="dcterms:W3CDTF">2026-04-10T10:37:52Z</dcterms:modified>
  <cp:revision>3</cp:revision>
  <dc:subject>PptxGenJS Presentation</dc:subject>
  <dc:title>CLIQUE Algorithm in Data Mining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