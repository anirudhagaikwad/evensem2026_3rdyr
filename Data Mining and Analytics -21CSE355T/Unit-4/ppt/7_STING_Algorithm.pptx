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53328" y="41148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CC"/>
                </a:solidFill>
              </a:rPr>
              <a:t>Level 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053328" y="658368"/>
            <a:ext cx="2468880" cy="1115568"/>
          </a:xfrm>
          <a:prstGeom prst="rect">
            <a:avLst/>
          </a:prstGeom>
          <a:solidFill>
            <a:srgbClr val="0097A7">
              <a:alpha val="15000"/>
            </a:srgbClr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53328" y="9875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CC"/>
                </a:solidFill>
              </a:rPr>
              <a:t>Entire Space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053328" y="193852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D00"/>
                </a:solidFill>
              </a:rPr>
              <a:t>Level 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053328" y="2194560"/>
            <a:ext cx="1234440" cy="475488"/>
          </a:xfrm>
          <a:prstGeom prst="rect">
            <a:avLst/>
          </a:prstGeom>
          <a:solidFill>
            <a:srgbClr val="0097A7">
              <a:alpha val="25000"/>
            </a:srgbClr>
          </a:solidFill>
          <a:ln w="9525">
            <a:solidFill>
              <a:srgbClr val="FF6D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87768" y="2194560"/>
            <a:ext cx="1234440" cy="475488"/>
          </a:xfrm>
          <a:prstGeom prst="rect">
            <a:avLst/>
          </a:prstGeom>
          <a:solidFill>
            <a:srgbClr val="FF6D00">
              <a:alpha val="25000"/>
            </a:srgbClr>
          </a:solidFill>
          <a:ln w="9525">
            <a:solidFill>
              <a:srgbClr val="FF6D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53328" y="2670048"/>
            <a:ext cx="1234440" cy="475488"/>
          </a:xfrm>
          <a:prstGeom prst="rect">
            <a:avLst/>
          </a:prstGeom>
          <a:solidFill>
            <a:srgbClr val="FF6D00">
              <a:alpha val="25000"/>
            </a:srgbClr>
          </a:solidFill>
          <a:ln w="9525">
            <a:solidFill>
              <a:srgbClr val="FF6D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87768" y="2670048"/>
            <a:ext cx="1234440" cy="475488"/>
          </a:xfrm>
          <a:prstGeom prst="rect">
            <a:avLst/>
          </a:prstGeom>
          <a:solidFill>
            <a:srgbClr val="0097A7">
              <a:alpha val="25000"/>
            </a:srgbClr>
          </a:solidFill>
          <a:ln w="9525">
            <a:solidFill>
              <a:srgbClr val="FF6D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53328" y="329184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00"/>
                </a:solidFill>
              </a:rPr>
              <a:t>Level 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53328" y="3547872"/>
            <a:ext cx="617220" cy="329184"/>
          </a:xfrm>
          <a:prstGeom prst="rect">
            <a:avLst/>
          </a:prstGeom>
          <a:solidFill>
            <a:srgbClr val="061A2A">
              <a:alpha val="8000"/>
            </a:srgbClr>
          </a:solidFill>
          <a:ln w="6350">
            <a:solidFill>
              <a:srgbClr val="FFB3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0548" y="3547872"/>
            <a:ext cx="617220" cy="329184"/>
          </a:xfrm>
          <a:prstGeom prst="rect">
            <a:avLst/>
          </a:prstGeom>
          <a:solidFill>
            <a:srgbClr val="061A2A">
              <a:alpha val="8000"/>
            </a:srgbClr>
          </a:solidFill>
          <a:ln w="6350">
            <a:solidFill>
              <a:srgbClr val="FFB3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87768" y="3547872"/>
            <a:ext cx="617220" cy="329184"/>
          </a:xfrm>
          <a:prstGeom prst="rect">
            <a:avLst/>
          </a:prstGeom>
          <a:solidFill>
            <a:srgbClr val="0097A7">
              <a:alpha val="35000"/>
            </a:srgbClr>
          </a:solidFill>
          <a:ln w="6350">
            <a:solidFill>
              <a:srgbClr val="FFB3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4988" y="3547872"/>
            <a:ext cx="617220" cy="329184"/>
          </a:xfrm>
          <a:prstGeom prst="rect">
            <a:avLst/>
          </a:prstGeom>
          <a:solidFill>
            <a:srgbClr val="FFB300">
              <a:alpha val="35000"/>
            </a:srgbClr>
          </a:solidFill>
          <a:ln w="6350">
            <a:solidFill>
              <a:srgbClr val="FFB3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53328" y="3877056"/>
            <a:ext cx="617220" cy="329184"/>
          </a:xfrm>
          <a:prstGeom prst="rect">
            <a:avLst/>
          </a:prstGeom>
          <a:solidFill>
            <a:srgbClr val="061A2A">
              <a:alpha val="8000"/>
            </a:srgbClr>
          </a:solidFill>
          <a:ln w="6350">
            <a:solidFill>
              <a:srgbClr val="FFB3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0548" y="3877056"/>
            <a:ext cx="617220" cy="329184"/>
          </a:xfrm>
          <a:prstGeom prst="rect">
            <a:avLst/>
          </a:prstGeom>
          <a:solidFill>
            <a:srgbClr val="0097A7">
              <a:alpha val="35000"/>
            </a:srgbClr>
          </a:solidFill>
          <a:ln w="6350">
            <a:solidFill>
              <a:srgbClr val="FFB3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87768" y="3877056"/>
            <a:ext cx="617220" cy="329184"/>
          </a:xfrm>
          <a:prstGeom prst="rect">
            <a:avLst/>
          </a:prstGeom>
          <a:solidFill>
            <a:srgbClr val="FFB300">
              <a:alpha val="35000"/>
            </a:srgbClr>
          </a:solidFill>
          <a:ln w="6350">
            <a:solidFill>
              <a:srgbClr val="FFB3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04988" y="3877056"/>
            <a:ext cx="617220" cy="329184"/>
          </a:xfrm>
          <a:prstGeom prst="rect">
            <a:avLst/>
          </a:prstGeom>
          <a:solidFill>
            <a:srgbClr val="FFB300">
              <a:alpha val="35000"/>
            </a:srgbClr>
          </a:solidFill>
          <a:ln w="6350">
            <a:solidFill>
              <a:srgbClr val="FFB3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53328" y="4206240"/>
            <a:ext cx="617220" cy="329184"/>
          </a:xfrm>
          <a:prstGeom prst="rect">
            <a:avLst/>
          </a:prstGeom>
          <a:solidFill>
            <a:srgbClr val="061A2A">
              <a:alpha val="8000"/>
            </a:srgbClr>
          </a:solidFill>
          <a:ln w="6350">
            <a:solidFill>
              <a:srgbClr val="FFB3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0548" y="4206240"/>
            <a:ext cx="617220" cy="329184"/>
          </a:xfrm>
          <a:prstGeom prst="rect">
            <a:avLst/>
          </a:prstGeom>
          <a:solidFill>
            <a:srgbClr val="061A2A">
              <a:alpha val="8000"/>
            </a:srgbClr>
          </a:solidFill>
          <a:ln w="6350">
            <a:solidFill>
              <a:srgbClr val="FFB3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87768" y="4206240"/>
            <a:ext cx="617220" cy="329184"/>
          </a:xfrm>
          <a:prstGeom prst="rect">
            <a:avLst/>
          </a:prstGeom>
          <a:solidFill>
            <a:srgbClr val="FFB300">
              <a:alpha val="35000"/>
            </a:srgbClr>
          </a:solidFill>
          <a:ln w="6350">
            <a:solidFill>
              <a:srgbClr val="FFB3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04988" y="4206240"/>
            <a:ext cx="617220" cy="329184"/>
          </a:xfrm>
          <a:prstGeom prst="rect">
            <a:avLst/>
          </a:prstGeom>
          <a:solidFill>
            <a:srgbClr val="061A2A">
              <a:alpha val="8000"/>
            </a:srgbClr>
          </a:solidFill>
          <a:ln w="6350">
            <a:solidFill>
              <a:srgbClr val="FFB3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53328" y="4535424"/>
            <a:ext cx="617220" cy="329184"/>
          </a:xfrm>
          <a:prstGeom prst="rect">
            <a:avLst/>
          </a:prstGeom>
          <a:solidFill>
            <a:srgbClr val="061A2A">
              <a:alpha val="8000"/>
            </a:srgbClr>
          </a:solidFill>
          <a:ln w="6350">
            <a:solidFill>
              <a:srgbClr val="FFB3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0548" y="4535424"/>
            <a:ext cx="617220" cy="329184"/>
          </a:xfrm>
          <a:prstGeom prst="rect">
            <a:avLst/>
          </a:prstGeom>
          <a:solidFill>
            <a:srgbClr val="FFB300">
              <a:alpha val="35000"/>
            </a:srgbClr>
          </a:solidFill>
          <a:ln w="6350">
            <a:solidFill>
              <a:srgbClr val="FFB3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87768" y="4535424"/>
            <a:ext cx="617220" cy="329184"/>
          </a:xfrm>
          <a:prstGeom prst="rect">
            <a:avLst/>
          </a:prstGeom>
          <a:solidFill>
            <a:srgbClr val="061A2A">
              <a:alpha val="8000"/>
            </a:srgbClr>
          </a:solidFill>
          <a:ln w="6350">
            <a:solidFill>
              <a:srgbClr val="FFB3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04988" y="4535424"/>
            <a:ext cx="617220" cy="329184"/>
          </a:xfrm>
          <a:prstGeom prst="rect">
            <a:avLst/>
          </a:prstGeom>
          <a:solidFill>
            <a:srgbClr val="061A2A">
              <a:alpha val="8000"/>
            </a:srgbClr>
          </a:solidFill>
          <a:ln w="6350">
            <a:solidFill>
              <a:srgbClr val="FFB3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53328" y="4892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300"/>
                </a:solidFill>
              </a:rPr>
              <a:t>Cells with Stats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" y="566928"/>
            <a:ext cx="1645920" cy="320040"/>
          </a:xfrm>
          <a:prstGeom prst="roundRect">
            <a:avLst>
              <a:gd name="adj" fmla="val 28571"/>
            </a:avLst>
          </a:prstGeom>
          <a:solidFill>
            <a:srgbClr val="00B4CC">
              <a:alpha val="75000"/>
            </a:srgbClr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5669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DATA MINING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" y="1005840"/>
            <a:ext cx="5212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STING</a:t>
            </a:r>
            <a:endParaRPr lang="en-US" sz="8000" dirty="0"/>
          </a:p>
        </p:txBody>
      </p:sp>
      <p:sp>
        <p:nvSpPr>
          <p:cNvPr id="33" name="Text 31"/>
          <p:cNvSpPr/>
          <p:nvPr/>
        </p:nvSpPr>
        <p:spPr>
          <a:xfrm>
            <a:off x="457200" y="1920240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Information Grid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57200" y="2340864"/>
            <a:ext cx="5212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6D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 Data Mining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457200" y="2907792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grid-based clustering technique that uses a multidimensional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grid data structure to quantify space into finite cells.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3749040"/>
            <a:ext cx="1508760" cy="320040"/>
          </a:xfrm>
          <a:prstGeom prst="roundRect">
            <a:avLst>
              <a:gd name="adj" fmla="val 28571"/>
            </a:avLst>
          </a:prstGeom>
          <a:solidFill>
            <a:srgbClr val="00B4CC">
              <a:alpha val="70000"/>
            </a:srgbClr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7490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Grid-Based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121408" y="3749040"/>
            <a:ext cx="1508760" cy="320040"/>
          </a:xfrm>
          <a:prstGeom prst="roundRect">
            <a:avLst>
              <a:gd name="adj" fmla="val 28571"/>
            </a:avLst>
          </a:prstGeom>
          <a:solidFill>
            <a:srgbClr val="FF6D00">
              <a:alpha val="70000"/>
            </a:srgbClr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21408" y="37490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Hierarchical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785616" y="3749040"/>
            <a:ext cx="1508760" cy="320040"/>
          </a:xfrm>
          <a:prstGeom prst="roundRect">
            <a:avLst>
              <a:gd name="adj" fmla="val 28571"/>
            </a:avLst>
          </a:prstGeom>
          <a:solidFill>
            <a:srgbClr val="FFB300">
              <a:alpha val="7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85616" y="37490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Query-Indep.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D3055"/>
          </a:solidFill>
          <a:ln w="12700">
            <a:solidFill>
              <a:srgbClr val="0D30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4736592"/>
            <a:ext cx="64008" cy="406908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736592"/>
            <a:ext cx="859536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A4AE"/>
                </a:solidFill>
              </a:rPr>
              <a:t>Multi-Level Grid  •  Statistical Parameters  •  Hierarchical Structure  •  Query Processing  •  Spatial Clustering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61A2A"/>
          </a:solidFill>
          <a:ln w="12700">
            <a:solidFill>
              <a:srgbClr val="061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64008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STING?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457200"/>
          </a:xfrm>
          <a:prstGeom prst="rect">
            <a:avLst/>
          </a:prstGeom>
          <a:solidFill>
            <a:srgbClr val="0D3055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228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3232" y="82296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tatistical 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01952" y="822960"/>
            <a:ext cx="228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103120" y="82296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nformation 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0" y="822960"/>
            <a:ext cx="228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93008" y="822960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rid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60520" y="822960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A4AE"/>
                </a:solidFill>
              </a:rPr>
              <a:t>— Grid-Based Clustering in Data Mining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1408176"/>
            <a:ext cx="8503920" cy="1005840"/>
          </a:xfrm>
          <a:prstGeom prst="rect">
            <a:avLst/>
          </a:prstGeom>
          <a:solidFill>
            <a:srgbClr val="061A2A"/>
          </a:solidFill>
          <a:ln w="19050">
            <a:solidFill>
              <a:srgbClr val="00B4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408176"/>
            <a:ext cx="64008" cy="1005840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1481328"/>
            <a:ext cx="8183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F7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"STING is a grid-based clustering technique that uses a multidimensional grid data structure to quantify space into a finite number of cells. Instead of focusing on individual data points, it focuses on the value space surrounding the data points — dividing spatial area into rectangular cells at different resolution levels."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2578608"/>
            <a:ext cx="406908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578608"/>
            <a:ext cx="64008" cy="1115568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" y="2889504"/>
            <a:ext cx="457200" cy="457200"/>
          </a:xfrm>
          <a:prstGeom prst="ellipse">
            <a:avLst/>
          </a:prstGeom>
          <a:solidFill>
            <a:srgbClr val="00B4CC">
              <a:alpha val="80000"/>
            </a:srgbClr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889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69848" y="267004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1A2A"/>
                </a:solidFill>
              </a:rPr>
              <a:t>Multidimensional Grid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69848" y="3008376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344"/>
                </a:solidFill>
              </a:rPr>
              <a:t>Organizes the entire data space into a hierarchical, multidimensional rectangular grid structure.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0" y="2578608"/>
            <a:ext cx="406908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FF6D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2578608"/>
            <a:ext cx="64008" cy="111556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36592" y="2889504"/>
            <a:ext cx="457200" cy="457200"/>
          </a:xfrm>
          <a:prstGeom prst="ellipse">
            <a:avLst/>
          </a:prstGeom>
          <a:solidFill>
            <a:srgbClr val="FF6D00">
              <a:alpha val="80000"/>
            </a:srgbClr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2889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21808" y="267004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1A2A"/>
                </a:solidFill>
              </a:rPr>
              <a:t>Precomputed Statistics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321808" y="3008376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344"/>
                </a:solidFill>
              </a:rPr>
              <a:t>Statistical parameters (mean, max, min) precomputed and stored in each cell — ready for instant queries.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0040" y="3840480"/>
            <a:ext cx="406908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FFB3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840480"/>
            <a:ext cx="64008" cy="111556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" y="4151376"/>
            <a:ext cx="457200" cy="457200"/>
          </a:xfrm>
          <a:prstGeom prst="ellipse">
            <a:avLst/>
          </a:prstGeom>
          <a:solidFill>
            <a:srgbClr val="FFB300">
              <a:alpha val="8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🔢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069848" y="39319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1A2A"/>
                </a:solidFill>
              </a:rPr>
              <a:t>Finite Cell Count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069848" y="4270248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344"/>
                </a:solidFill>
              </a:rPr>
              <a:t>Quantifies continuous space into a finite number of discrete cells at multiple resolution levels.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72000" y="3840480"/>
            <a:ext cx="406908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C85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0" y="3840480"/>
            <a:ext cx="64008" cy="111556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36592" y="4151376"/>
            <a:ext cx="457200" cy="457200"/>
          </a:xfrm>
          <a:prstGeom prst="ellipse">
            <a:avLst/>
          </a:prstGeom>
          <a:solidFill>
            <a:srgbClr val="00C853">
              <a:alpha val="80000"/>
            </a:srgbClr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36592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321808" y="39319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1A2A"/>
                </a:solidFill>
              </a:rPr>
              <a:t>Value Space Focus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5321808" y="4270248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344"/>
                </a:solidFill>
              </a:rPr>
              <a:t>Focuses on the value space surrounding data points rather than on individual data points themselves.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Grid-Based Method in Data Mining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</a:rPr>
              <a:t>The foundation underlying STING — partitioning space into a structured grid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822192"/>
          </a:xfrm>
          <a:prstGeom prst="rect">
            <a:avLst/>
          </a:prstGeom>
          <a:solidFill>
            <a:srgbClr val="0D3055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69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00"/>
                </a:solidFill>
              </a:rPr>
              <a:t>Grid Structure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530352" cy="438912"/>
          </a:xfrm>
          <a:prstGeom prst="rect">
            <a:avLst/>
          </a:prstGeom>
          <a:solidFill>
            <a:srgbClr val="0A2540">
              <a:alpha val="50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272" y="1481328"/>
            <a:ext cx="530352" cy="438912"/>
          </a:xfrm>
          <a:prstGeom prst="rect">
            <a:avLst/>
          </a:prstGeom>
          <a:solidFill>
            <a:srgbClr val="0A2540">
              <a:alpha val="50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63624" y="1481328"/>
            <a:ext cx="530352" cy="438912"/>
          </a:xfrm>
          <a:prstGeom prst="rect">
            <a:avLst/>
          </a:prstGeom>
          <a:solidFill>
            <a:srgbClr val="0A2540">
              <a:alpha val="50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93976" y="1481328"/>
            <a:ext cx="530352" cy="438912"/>
          </a:xfrm>
          <a:prstGeom prst="rect">
            <a:avLst/>
          </a:prstGeom>
          <a:solidFill>
            <a:srgbClr val="0A2540">
              <a:alpha val="50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4328" y="1481328"/>
            <a:ext cx="530352" cy="438912"/>
          </a:xfrm>
          <a:prstGeom prst="rect">
            <a:avLst/>
          </a:prstGeom>
          <a:solidFill>
            <a:srgbClr val="0A2540">
              <a:alpha val="50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1481328"/>
            <a:ext cx="530352" cy="438912"/>
          </a:xfrm>
          <a:prstGeom prst="rect">
            <a:avLst/>
          </a:prstGeom>
          <a:solidFill>
            <a:srgbClr val="0A2540">
              <a:alpha val="50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1920240"/>
            <a:ext cx="530352" cy="438912"/>
          </a:xfrm>
          <a:prstGeom prst="rect">
            <a:avLst/>
          </a:prstGeom>
          <a:solidFill>
            <a:srgbClr val="0A2540">
              <a:alpha val="50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3272" y="1920240"/>
            <a:ext cx="530352" cy="438912"/>
          </a:xfrm>
          <a:prstGeom prst="rect">
            <a:avLst/>
          </a:prstGeom>
          <a:solidFill>
            <a:srgbClr val="0A2540">
              <a:alpha val="50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63624" y="1920240"/>
            <a:ext cx="530352" cy="438912"/>
          </a:xfrm>
          <a:prstGeom prst="rect">
            <a:avLst/>
          </a:prstGeom>
          <a:solidFill>
            <a:srgbClr val="0A2540">
              <a:alpha val="50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93976" y="1920240"/>
            <a:ext cx="530352" cy="438912"/>
          </a:xfrm>
          <a:prstGeom prst="rect">
            <a:avLst/>
          </a:prstGeom>
          <a:solidFill>
            <a:srgbClr val="0A2540">
              <a:alpha val="50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24328" y="1920240"/>
            <a:ext cx="530352" cy="438912"/>
          </a:xfrm>
          <a:prstGeom prst="rect">
            <a:avLst/>
          </a:prstGeom>
          <a:solidFill>
            <a:srgbClr val="0A2540">
              <a:alpha val="50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54680" y="1920240"/>
            <a:ext cx="530352" cy="438912"/>
          </a:xfrm>
          <a:prstGeom prst="rect">
            <a:avLst/>
          </a:prstGeom>
          <a:solidFill>
            <a:srgbClr val="0A2540">
              <a:alpha val="50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359152"/>
            <a:ext cx="530352" cy="438912"/>
          </a:xfrm>
          <a:prstGeom prst="rect">
            <a:avLst/>
          </a:prstGeom>
          <a:solidFill>
            <a:srgbClr val="0A2540">
              <a:alpha val="50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" y="2359152"/>
            <a:ext cx="530352" cy="438912"/>
          </a:xfrm>
          <a:prstGeom prst="rect">
            <a:avLst/>
          </a:prstGeom>
          <a:solidFill>
            <a:srgbClr val="0A2540">
              <a:alpha val="50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63624" y="2359152"/>
            <a:ext cx="530352" cy="438912"/>
          </a:xfrm>
          <a:prstGeom prst="rect">
            <a:avLst/>
          </a:prstGeom>
          <a:solidFill>
            <a:srgbClr val="0A2540">
              <a:alpha val="50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93976" y="2359152"/>
            <a:ext cx="530352" cy="438912"/>
          </a:xfrm>
          <a:prstGeom prst="rect">
            <a:avLst/>
          </a:prstGeom>
          <a:solidFill>
            <a:srgbClr val="0A2540">
              <a:alpha val="50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24328" y="2359152"/>
            <a:ext cx="530352" cy="438912"/>
          </a:xfrm>
          <a:prstGeom prst="rect">
            <a:avLst/>
          </a:prstGeom>
          <a:solidFill>
            <a:srgbClr val="0A2540">
              <a:alpha val="50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54680" y="2359152"/>
            <a:ext cx="530352" cy="438912"/>
          </a:xfrm>
          <a:prstGeom prst="rect">
            <a:avLst/>
          </a:prstGeom>
          <a:solidFill>
            <a:srgbClr val="0A2540">
              <a:alpha val="50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2798064"/>
            <a:ext cx="530352" cy="438912"/>
          </a:xfrm>
          <a:prstGeom prst="rect">
            <a:avLst/>
          </a:prstGeom>
          <a:solidFill>
            <a:srgbClr val="0A2540">
              <a:alpha val="50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33272" y="2798064"/>
            <a:ext cx="530352" cy="438912"/>
          </a:xfrm>
          <a:prstGeom prst="rect">
            <a:avLst/>
          </a:prstGeom>
          <a:solidFill>
            <a:srgbClr val="0A2540">
              <a:alpha val="50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63624" y="2798064"/>
            <a:ext cx="530352" cy="438912"/>
          </a:xfrm>
          <a:prstGeom prst="rect">
            <a:avLst/>
          </a:prstGeom>
          <a:solidFill>
            <a:srgbClr val="0A2540">
              <a:alpha val="50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93976" y="2798064"/>
            <a:ext cx="530352" cy="438912"/>
          </a:xfrm>
          <a:prstGeom prst="rect">
            <a:avLst/>
          </a:prstGeom>
          <a:solidFill>
            <a:srgbClr val="0A2540">
              <a:alpha val="50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24328" y="2798064"/>
            <a:ext cx="530352" cy="438912"/>
          </a:xfrm>
          <a:prstGeom prst="rect">
            <a:avLst/>
          </a:prstGeom>
          <a:solidFill>
            <a:srgbClr val="0A2540">
              <a:alpha val="50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54680" y="2798064"/>
            <a:ext cx="530352" cy="438912"/>
          </a:xfrm>
          <a:prstGeom prst="rect">
            <a:avLst/>
          </a:prstGeom>
          <a:solidFill>
            <a:srgbClr val="0A2540">
              <a:alpha val="50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236976"/>
            <a:ext cx="530352" cy="438912"/>
          </a:xfrm>
          <a:prstGeom prst="rect">
            <a:avLst/>
          </a:prstGeom>
          <a:solidFill>
            <a:srgbClr val="0A2540">
              <a:alpha val="50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33272" y="3236976"/>
            <a:ext cx="530352" cy="438912"/>
          </a:xfrm>
          <a:prstGeom prst="rect">
            <a:avLst/>
          </a:prstGeom>
          <a:solidFill>
            <a:srgbClr val="0A2540">
              <a:alpha val="50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63624" y="3236976"/>
            <a:ext cx="530352" cy="438912"/>
          </a:xfrm>
          <a:prstGeom prst="rect">
            <a:avLst/>
          </a:prstGeom>
          <a:solidFill>
            <a:srgbClr val="0A2540">
              <a:alpha val="50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93976" y="3236976"/>
            <a:ext cx="530352" cy="438912"/>
          </a:xfrm>
          <a:prstGeom prst="rect">
            <a:avLst/>
          </a:prstGeom>
          <a:solidFill>
            <a:srgbClr val="0A2540">
              <a:alpha val="50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24328" y="3236976"/>
            <a:ext cx="530352" cy="438912"/>
          </a:xfrm>
          <a:prstGeom prst="rect">
            <a:avLst/>
          </a:prstGeom>
          <a:solidFill>
            <a:srgbClr val="0A2540">
              <a:alpha val="50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54680" y="3236976"/>
            <a:ext cx="530352" cy="438912"/>
          </a:xfrm>
          <a:prstGeom prst="rect">
            <a:avLst/>
          </a:prstGeom>
          <a:solidFill>
            <a:srgbClr val="0A2540">
              <a:alpha val="50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" y="3675888"/>
            <a:ext cx="530352" cy="438912"/>
          </a:xfrm>
          <a:prstGeom prst="rect">
            <a:avLst/>
          </a:prstGeom>
          <a:solidFill>
            <a:srgbClr val="0A2540">
              <a:alpha val="50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33272" y="3675888"/>
            <a:ext cx="530352" cy="438912"/>
          </a:xfrm>
          <a:prstGeom prst="rect">
            <a:avLst/>
          </a:prstGeom>
          <a:solidFill>
            <a:srgbClr val="0A2540">
              <a:alpha val="50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63624" y="3675888"/>
            <a:ext cx="530352" cy="438912"/>
          </a:xfrm>
          <a:prstGeom prst="rect">
            <a:avLst/>
          </a:prstGeom>
          <a:solidFill>
            <a:srgbClr val="0A2540">
              <a:alpha val="50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93976" y="3675888"/>
            <a:ext cx="530352" cy="438912"/>
          </a:xfrm>
          <a:prstGeom prst="rect">
            <a:avLst/>
          </a:prstGeom>
          <a:solidFill>
            <a:srgbClr val="0A2540">
              <a:alpha val="50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624328" y="3675888"/>
            <a:ext cx="530352" cy="438912"/>
          </a:xfrm>
          <a:prstGeom prst="rect">
            <a:avLst/>
          </a:prstGeom>
          <a:solidFill>
            <a:srgbClr val="0A2540">
              <a:alpha val="50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154680" y="3675888"/>
            <a:ext cx="530352" cy="438912"/>
          </a:xfrm>
          <a:prstGeom prst="rect">
            <a:avLst/>
          </a:prstGeom>
          <a:solidFill>
            <a:srgbClr val="0A2540">
              <a:alpha val="50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8543" y="1613002"/>
            <a:ext cx="164592" cy="16459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8543" y="2051914"/>
            <a:ext cx="164592" cy="16459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218895" y="1613002"/>
            <a:ext cx="164592" cy="16459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218895" y="2051914"/>
            <a:ext cx="164592" cy="16459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218895" y="2490826"/>
            <a:ext cx="164592" cy="16459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279599" y="2929738"/>
            <a:ext cx="164592" cy="164592"/>
          </a:xfrm>
          <a:prstGeom prst="ellipse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279599" y="3368650"/>
            <a:ext cx="164592" cy="164592"/>
          </a:xfrm>
          <a:prstGeom prst="ellipse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809951" y="2929738"/>
            <a:ext cx="164592" cy="164592"/>
          </a:xfrm>
          <a:prstGeom prst="ellipse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809951" y="3368650"/>
            <a:ext cx="164592" cy="164592"/>
          </a:xfrm>
          <a:prstGeom prst="ellipse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809951" y="3807562"/>
            <a:ext cx="164592" cy="164592"/>
          </a:xfrm>
          <a:prstGeom prst="ellipse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340303" y="3368650"/>
            <a:ext cx="164592" cy="164592"/>
          </a:xfrm>
          <a:prstGeom prst="ellipse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749247" y="2051914"/>
            <a:ext cx="164592" cy="164592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749247" y="2490826"/>
            <a:ext cx="164592" cy="164592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279599" y="2051914"/>
            <a:ext cx="164592" cy="164592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" y="413308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D00"/>
                </a:solidFill>
              </a:rPr>
              <a:t>Cluster A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514600" y="413308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CC"/>
                </a:solidFill>
              </a:rPr>
              <a:t>Cluster B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572768" y="413308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4DFF"/>
                </a:solidFill>
              </a:rPr>
              <a:t>Cluster C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84048" y="4434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← Cells as base units, not individual points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663440" y="1005840"/>
            <a:ext cx="4160520" cy="804672"/>
          </a:xfrm>
          <a:prstGeom prst="rect">
            <a:avLst/>
          </a:prstGeom>
          <a:solidFill>
            <a:srgbClr val="0A2540"/>
          </a:solidFill>
          <a:ln w="15240">
            <a:solidFill>
              <a:srgbClr val="00B4C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663440" y="1005840"/>
            <a:ext cx="64008" cy="804672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754880" y="1188720"/>
            <a:ext cx="420624" cy="420624"/>
          </a:xfrm>
          <a:prstGeom prst="ellipse">
            <a:avLst/>
          </a:prstGeom>
          <a:solidFill>
            <a:srgbClr val="00B4CC">
              <a:alpha val="80000"/>
            </a:srgbClr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54880" y="1188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▦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5285232" y="106070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Space Partitioning</a:t>
            </a:r>
            <a:endParaRPr lang="en-US" sz="1250" dirty="0"/>
          </a:p>
        </p:txBody>
      </p:sp>
      <p:sp>
        <p:nvSpPr>
          <p:cNvPr id="66" name="Text 64"/>
          <p:cNvSpPr/>
          <p:nvPr/>
        </p:nvSpPr>
        <p:spPr>
          <a:xfrm>
            <a:off x="5285232" y="135331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</a:rPr>
              <a:t>The instance space is divided into a structured grid of cells — each cell summarizes data within its bounds.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663440" y="1938528"/>
            <a:ext cx="4160520" cy="804672"/>
          </a:xfrm>
          <a:prstGeom prst="rect">
            <a:avLst/>
          </a:prstGeom>
          <a:solidFill>
            <a:srgbClr val="0A2540"/>
          </a:solidFill>
          <a:ln w="15240">
            <a:solidFill>
              <a:srgbClr val="FF6D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663440" y="1938528"/>
            <a:ext cx="64008" cy="804672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0" y="2121408"/>
            <a:ext cx="420624" cy="420624"/>
          </a:xfrm>
          <a:prstGeom prst="ellipse">
            <a:avLst/>
          </a:prstGeom>
          <a:solidFill>
            <a:srgbClr val="FF6D00">
              <a:alpha val="80000"/>
            </a:srgbClr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54880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▦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5285232" y="199339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Cell-Level Clustering</a:t>
            </a:r>
            <a:endParaRPr lang="en-US" sz="1250" dirty="0"/>
          </a:p>
        </p:txBody>
      </p:sp>
      <p:sp>
        <p:nvSpPr>
          <p:cNvPr id="72" name="Text 70"/>
          <p:cNvSpPr/>
          <p:nvPr/>
        </p:nvSpPr>
        <p:spPr>
          <a:xfrm>
            <a:off x="5285232" y="228600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</a:rPr>
              <a:t>Clustering is applied using CELLS as base units rather than individual data points — dramatically faster.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4663440" y="2871216"/>
            <a:ext cx="4160520" cy="804672"/>
          </a:xfrm>
          <a:prstGeom prst="rect">
            <a:avLst/>
          </a:prstGeom>
          <a:solidFill>
            <a:srgbClr val="0A2540"/>
          </a:solidFill>
          <a:ln w="15240">
            <a:solidFill>
              <a:srgbClr val="FFB3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663440" y="2871216"/>
            <a:ext cx="64008" cy="80467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754880" y="3054096"/>
            <a:ext cx="420624" cy="420624"/>
          </a:xfrm>
          <a:prstGeom prst="ellipse">
            <a:avLst/>
          </a:prstGeom>
          <a:solidFill>
            <a:srgbClr val="FFB300">
              <a:alpha val="8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754880" y="3054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▦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5285232" y="292608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Speed Advantage</a:t>
            </a:r>
            <a:endParaRPr lang="en-US" sz="1250" dirty="0"/>
          </a:p>
        </p:txBody>
      </p:sp>
      <p:sp>
        <p:nvSpPr>
          <p:cNvPr id="78" name="Text 76"/>
          <p:cNvSpPr/>
          <p:nvPr/>
        </p:nvSpPr>
        <p:spPr>
          <a:xfrm>
            <a:off x="5285232" y="321868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</a:rPr>
              <a:t>The biggest advantage: improved processing time because computations work on cell summaries, not raw data.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4663440" y="3803904"/>
            <a:ext cx="4160520" cy="804672"/>
          </a:xfrm>
          <a:prstGeom prst="rect">
            <a:avLst/>
          </a:prstGeom>
          <a:solidFill>
            <a:srgbClr val="0A2540"/>
          </a:solidFill>
          <a:ln w="15240">
            <a:solidFill>
              <a:srgbClr val="7C4D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663440" y="3803904"/>
            <a:ext cx="64008" cy="80467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754880" y="3986784"/>
            <a:ext cx="420624" cy="420624"/>
          </a:xfrm>
          <a:prstGeom prst="ellipse">
            <a:avLst/>
          </a:prstGeom>
          <a:solidFill>
            <a:srgbClr val="7C4DFF">
              <a:alpha val="80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754880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▦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5285232" y="385876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Resolution Control</a:t>
            </a:r>
            <a:endParaRPr lang="en-US" sz="1250" dirty="0"/>
          </a:p>
        </p:txBody>
      </p:sp>
      <p:sp>
        <p:nvSpPr>
          <p:cNvPr id="84" name="Text 82"/>
          <p:cNvSpPr/>
          <p:nvPr/>
        </p:nvSpPr>
        <p:spPr>
          <a:xfrm>
            <a:off x="5285232" y="4151376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</a:rPr>
              <a:t>Multiple resolution levels (high and low) give users control over granularity and computational cost.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61A2A"/>
          </a:solidFill>
          <a:ln w="12700">
            <a:solidFill>
              <a:srgbClr val="061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64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Grid Structure of STING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658368"/>
          </a:xfrm>
          <a:prstGeom prst="rect">
            <a:avLst/>
          </a:prstGeom>
          <a:solidFill>
            <a:srgbClr val="061A2A"/>
          </a:solidFill>
          <a:ln w="19050">
            <a:solidFill>
              <a:srgbClr val="FFB3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64008" cy="65836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868680"/>
            <a:ext cx="8183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spatial area is divided into rectangular cells at SEVERAL levels of resolution. High-level cells are divided into several low-level cells. Statistical parameters of higher-level cells are easily computed from the parameters of lower-level cells.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1627632"/>
            <a:ext cx="1188720" cy="713232"/>
          </a:xfrm>
          <a:prstGeom prst="rect">
            <a:avLst/>
          </a:prstGeom>
          <a:solidFill>
            <a:srgbClr val="0097A7">
              <a:alpha val="85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8249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Level 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95681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Entire Dataset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64208" y="1655064"/>
            <a:ext cx="3474720" cy="658368"/>
          </a:xfrm>
          <a:prstGeom prst="rect">
            <a:avLst/>
          </a:prstGeom>
          <a:solidFill>
            <a:srgbClr val="0097A7">
              <a:alpha val="30000"/>
            </a:srgbClr>
          </a:solidFill>
          <a:ln w="9525">
            <a:solidFill>
              <a:srgbClr val="0097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64208" y="1655064"/>
            <a:ext cx="3474720" cy="329184"/>
          </a:xfrm>
          <a:prstGeom prst="rect">
            <a:avLst/>
          </a:prstGeom>
          <a:solidFill>
            <a:srgbClr val="0097A7">
              <a:alpha val="28000"/>
            </a:srgbClr>
          </a:solidFill>
          <a:ln w="9525">
            <a:solidFill>
              <a:srgbClr val="0097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85232" y="1627632"/>
            <a:ext cx="3538728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0097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285232" y="1627632"/>
            <a:ext cx="54864" cy="71323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31536" y="1719072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344"/>
                </a:solidFill>
              </a:rPr>
              <a:t>Top level — one cell covering the entire spatial area. Coarsest granularity.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6112" y="2340864"/>
            <a:ext cx="0" cy="128016"/>
          </a:xfrm>
          <a:prstGeom prst="line">
            <a:avLst/>
          </a:prstGeom>
          <a:noFill/>
          <a:ln w="19050">
            <a:solidFill>
              <a:srgbClr val="0097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450592"/>
            <a:ext cx="146304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97A7"/>
                </a:solidFill>
              </a:rPr>
              <a:t>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468880"/>
            <a:ext cx="1188720" cy="713232"/>
          </a:xfrm>
          <a:prstGeom prst="rect">
            <a:avLst/>
          </a:prstGeom>
          <a:solidFill>
            <a:srgbClr val="FF6D00">
              <a:alpha val="85000"/>
            </a:srgbClr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52374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Level 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279806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 cells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64208" y="2496312"/>
            <a:ext cx="1737360" cy="329184"/>
          </a:xfrm>
          <a:prstGeom prst="rect">
            <a:avLst/>
          </a:prstGeom>
          <a:solidFill>
            <a:srgbClr val="FF6D00">
              <a:alpha val="30000"/>
            </a:srgbClr>
          </a:solidFill>
          <a:ln w="9525">
            <a:solidFill>
              <a:srgbClr val="FF6D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52928" y="2496312"/>
            <a:ext cx="1737360" cy="329184"/>
          </a:xfrm>
          <a:prstGeom prst="rect">
            <a:avLst/>
          </a:prstGeom>
          <a:solidFill>
            <a:srgbClr val="FF6D00">
              <a:alpha val="30000"/>
            </a:srgbClr>
          </a:solidFill>
          <a:ln w="9525">
            <a:solidFill>
              <a:srgbClr val="FF6D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64208" y="2825496"/>
            <a:ext cx="1737360" cy="329184"/>
          </a:xfrm>
          <a:prstGeom prst="rect">
            <a:avLst/>
          </a:prstGeom>
          <a:solidFill>
            <a:srgbClr val="FF6D00">
              <a:alpha val="30000"/>
            </a:srgbClr>
          </a:solidFill>
          <a:ln w="9525">
            <a:solidFill>
              <a:srgbClr val="FF6D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52928" y="2825496"/>
            <a:ext cx="1737360" cy="329184"/>
          </a:xfrm>
          <a:prstGeom prst="rect">
            <a:avLst/>
          </a:prstGeom>
          <a:solidFill>
            <a:srgbClr val="FF6D00">
              <a:alpha val="30000"/>
            </a:srgbClr>
          </a:solidFill>
          <a:ln w="9525">
            <a:solidFill>
              <a:srgbClr val="FF6D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4208" y="2496312"/>
            <a:ext cx="1737360" cy="329184"/>
          </a:xfrm>
          <a:prstGeom prst="rect">
            <a:avLst/>
          </a:prstGeom>
          <a:solidFill>
            <a:srgbClr val="FF6D00">
              <a:alpha val="28000"/>
            </a:srgbClr>
          </a:solidFill>
          <a:ln w="9525">
            <a:solidFill>
              <a:srgbClr val="FF6D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64208" y="2825496"/>
            <a:ext cx="1737360" cy="329184"/>
          </a:xfrm>
          <a:prstGeom prst="rect">
            <a:avLst/>
          </a:prstGeom>
          <a:solidFill>
            <a:srgbClr val="FF6D00">
              <a:alpha val="28000"/>
            </a:srgbClr>
          </a:solidFill>
          <a:ln w="9525">
            <a:solidFill>
              <a:srgbClr val="FF6D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01568" y="2496312"/>
            <a:ext cx="1737360" cy="329184"/>
          </a:xfrm>
          <a:prstGeom prst="rect">
            <a:avLst/>
          </a:prstGeom>
          <a:solidFill>
            <a:srgbClr val="FF6D00">
              <a:alpha val="28000"/>
            </a:srgbClr>
          </a:solidFill>
          <a:ln w="9525">
            <a:solidFill>
              <a:srgbClr val="FF6D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01568" y="2825496"/>
            <a:ext cx="1737360" cy="329184"/>
          </a:xfrm>
          <a:prstGeom prst="rect">
            <a:avLst/>
          </a:prstGeom>
          <a:solidFill>
            <a:srgbClr val="FF6D00">
              <a:alpha val="28000"/>
            </a:srgbClr>
          </a:solidFill>
          <a:ln w="9525">
            <a:solidFill>
              <a:srgbClr val="FF6D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85232" y="2468880"/>
            <a:ext cx="3538728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FF6D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285232" y="2468880"/>
            <a:ext cx="54864" cy="713232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31536" y="256032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344"/>
                </a:solidFill>
              </a:rPr>
              <a:t>Split into 2×2 = 4 cells. Higher-level statistics computed from Level 2 below.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96112" y="3182112"/>
            <a:ext cx="0" cy="128016"/>
          </a:xfrm>
          <a:prstGeom prst="line">
            <a:avLst/>
          </a:prstGeom>
          <a:noFill/>
          <a:ln w="19050">
            <a:solidFill>
              <a:srgbClr val="FF6D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3291840"/>
            <a:ext cx="146304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D00"/>
                </a:solidFill>
              </a:rPr>
              <a:t>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3310128"/>
            <a:ext cx="1188720" cy="713232"/>
          </a:xfrm>
          <a:prstGeom prst="rect">
            <a:avLst/>
          </a:prstGeom>
          <a:solidFill>
            <a:srgbClr val="FFB300">
              <a:alpha val="85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3649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Level 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0040" y="363931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16 cells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664208" y="3337560"/>
            <a:ext cx="868680" cy="329184"/>
          </a:xfrm>
          <a:prstGeom prst="rect">
            <a:avLst/>
          </a:prstGeom>
          <a:solidFill>
            <a:srgbClr val="FFB300">
              <a:alpha val="30000"/>
            </a:srgbClr>
          </a:solidFill>
          <a:ln w="9525">
            <a:solidFill>
              <a:srgbClr val="FFB3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61388" y="3337560"/>
            <a:ext cx="868680" cy="329184"/>
          </a:xfrm>
          <a:prstGeom prst="rect">
            <a:avLst/>
          </a:prstGeom>
          <a:solidFill>
            <a:srgbClr val="FFB300">
              <a:alpha val="30000"/>
            </a:srgbClr>
          </a:solidFill>
          <a:ln w="9525">
            <a:solidFill>
              <a:srgbClr val="FFB3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58568" y="3337560"/>
            <a:ext cx="868680" cy="329184"/>
          </a:xfrm>
          <a:prstGeom prst="rect">
            <a:avLst/>
          </a:prstGeom>
          <a:solidFill>
            <a:srgbClr val="FFB300">
              <a:alpha val="30000"/>
            </a:srgbClr>
          </a:solidFill>
          <a:ln w="9525">
            <a:solidFill>
              <a:srgbClr val="FFB3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55748" y="3337560"/>
            <a:ext cx="868680" cy="329184"/>
          </a:xfrm>
          <a:prstGeom prst="rect">
            <a:avLst/>
          </a:prstGeom>
          <a:solidFill>
            <a:srgbClr val="FFB300">
              <a:alpha val="30000"/>
            </a:srgbClr>
          </a:solidFill>
          <a:ln w="9525">
            <a:solidFill>
              <a:srgbClr val="FFB3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64208" y="3666744"/>
            <a:ext cx="868680" cy="329184"/>
          </a:xfrm>
          <a:prstGeom prst="rect">
            <a:avLst/>
          </a:prstGeom>
          <a:solidFill>
            <a:srgbClr val="FFB300">
              <a:alpha val="30000"/>
            </a:srgbClr>
          </a:solidFill>
          <a:ln w="9525">
            <a:solidFill>
              <a:srgbClr val="FFB3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61388" y="3666744"/>
            <a:ext cx="868680" cy="329184"/>
          </a:xfrm>
          <a:prstGeom prst="rect">
            <a:avLst/>
          </a:prstGeom>
          <a:solidFill>
            <a:srgbClr val="FFB300">
              <a:alpha val="30000"/>
            </a:srgbClr>
          </a:solidFill>
          <a:ln w="9525">
            <a:solidFill>
              <a:srgbClr val="FFB3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58568" y="3666744"/>
            <a:ext cx="868680" cy="329184"/>
          </a:xfrm>
          <a:prstGeom prst="rect">
            <a:avLst/>
          </a:prstGeom>
          <a:solidFill>
            <a:srgbClr val="FFB300">
              <a:alpha val="30000"/>
            </a:srgbClr>
          </a:solidFill>
          <a:ln w="9525">
            <a:solidFill>
              <a:srgbClr val="FFB3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55748" y="3666744"/>
            <a:ext cx="868680" cy="329184"/>
          </a:xfrm>
          <a:prstGeom prst="rect">
            <a:avLst/>
          </a:prstGeom>
          <a:solidFill>
            <a:srgbClr val="FFB300">
              <a:alpha val="30000"/>
            </a:srgbClr>
          </a:solidFill>
          <a:ln w="9525">
            <a:solidFill>
              <a:srgbClr val="FFB3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664208" y="3337560"/>
            <a:ext cx="868680" cy="329184"/>
          </a:xfrm>
          <a:prstGeom prst="rect">
            <a:avLst/>
          </a:prstGeom>
          <a:solidFill>
            <a:srgbClr val="FFB300">
              <a:alpha val="28000"/>
            </a:srgbClr>
          </a:solidFill>
          <a:ln w="9525">
            <a:solidFill>
              <a:srgbClr val="FFB3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64208" y="3666744"/>
            <a:ext cx="868680" cy="329184"/>
          </a:xfrm>
          <a:prstGeom prst="rect">
            <a:avLst/>
          </a:prstGeom>
          <a:solidFill>
            <a:srgbClr val="FFB300">
              <a:alpha val="28000"/>
            </a:srgbClr>
          </a:solidFill>
          <a:ln w="9525">
            <a:solidFill>
              <a:srgbClr val="FFB3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32888" y="3337560"/>
            <a:ext cx="868680" cy="329184"/>
          </a:xfrm>
          <a:prstGeom prst="rect">
            <a:avLst/>
          </a:prstGeom>
          <a:solidFill>
            <a:srgbClr val="FFB300">
              <a:alpha val="28000"/>
            </a:srgbClr>
          </a:solidFill>
          <a:ln w="9525">
            <a:solidFill>
              <a:srgbClr val="FFB3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32888" y="3666744"/>
            <a:ext cx="868680" cy="329184"/>
          </a:xfrm>
          <a:prstGeom prst="rect">
            <a:avLst/>
          </a:prstGeom>
          <a:solidFill>
            <a:srgbClr val="FFB300">
              <a:alpha val="28000"/>
            </a:srgbClr>
          </a:solidFill>
          <a:ln w="9525">
            <a:solidFill>
              <a:srgbClr val="FFB3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01568" y="3337560"/>
            <a:ext cx="868680" cy="329184"/>
          </a:xfrm>
          <a:prstGeom prst="rect">
            <a:avLst/>
          </a:prstGeom>
          <a:solidFill>
            <a:srgbClr val="FFB300">
              <a:alpha val="28000"/>
            </a:srgbClr>
          </a:solidFill>
          <a:ln w="9525">
            <a:solidFill>
              <a:srgbClr val="FFB3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401568" y="3666744"/>
            <a:ext cx="868680" cy="329184"/>
          </a:xfrm>
          <a:prstGeom prst="rect">
            <a:avLst/>
          </a:prstGeom>
          <a:solidFill>
            <a:srgbClr val="FFB300">
              <a:alpha val="28000"/>
            </a:srgbClr>
          </a:solidFill>
          <a:ln w="9525">
            <a:solidFill>
              <a:srgbClr val="FFB3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270248" y="3337560"/>
            <a:ext cx="868680" cy="329184"/>
          </a:xfrm>
          <a:prstGeom prst="rect">
            <a:avLst/>
          </a:prstGeom>
          <a:solidFill>
            <a:srgbClr val="FFB300">
              <a:alpha val="28000"/>
            </a:srgbClr>
          </a:solidFill>
          <a:ln w="9525">
            <a:solidFill>
              <a:srgbClr val="FFB3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270248" y="3666744"/>
            <a:ext cx="868680" cy="329184"/>
          </a:xfrm>
          <a:prstGeom prst="rect">
            <a:avLst/>
          </a:prstGeom>
          <a:solidFill>
            <a:srgbClr val="FFB300">
              <a:alpha val="28000"/>
            </a:srgbClr>
          </a:solidFill>
          <a:ln w="9525">
            <a:solidFill>
              <a:srgbClr val="FFB3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285232" y="3310128"/>
            <a:ext cx="3538728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FFB3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285232" y="3310128"/>
            <a:ext cx="54864" cy="71323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31536" y="3401568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344"/>
                </a:solidFill>
              </a:rPr>
              <a:t>Further divided into smaller cells. More precise statistical parameters.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96112" y="4023360"/>
            <a:ext cx="0" cy="128016"/>
          </a:xfrm>
          <a:prstGeom prst="line">
            <a:avLst/>
          </a:prstGeom>
          <a:noFill/>
          <a:ln w="19050">
            <a:solidFill>
              <a:srgbClr val="FFB3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2960" y="4133088"/>
            <a:ext cx="146304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300"/>
                </a:solidFill>
              </a:rPr>
              <a:t>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20040" y="4151376"/>
            <a:ext cx="1188720" cy="713232"/>
          </a:xfrm>
          <a:prstGeom prst="rect">
            <a:avLst/>
          </a:prstGeom>
          <a:solidFill>
            <a:srgbClr val="00C853">
              <a:alpha val="85000"/>
            </a:srgbClr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0040" y="42062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Level 3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320040" y="44805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Bottom layer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664208" y="4178808"/>
            <a:ext cx="434340" cy="329184"/>
          </a:xfrm>
          <a:prstGeom prst="rect">
            <a:avLst/>
          </a:prstGeom>
          <a:solidFill>
            <a:srgbClr val="00C853">
              <a:alpha val="30000"/>
            </a:srgbClr>
          </a:solidFill>
          <a:ln w="9525">
            <a:solidFill>
              <a:srgbClr val="00C85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738503" y="4178808"/>
            <a:ext cx="434340" cy="329184"/>
          </a:xfrm>
          <a:prstGeom prst="rect">
            <a:avLst/>
          </a:prstGeom>
          <a:solidFill>
            <a:srgbClr val="00C853">
              <a:alpha val="30000"/>
            </a:srgbClr>
          </a:solidFill>
          <a:ln w="9525">
            <a:solidFill>
              <a:srgbClr val="00C85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812798" y="4178808"/>
            <a:ext cx="434340" cy="329184"/>
          </a:xfrm>
          <a:prstGeom prst="rect">
            <a:avLst/>
          </a:prstGeom>
          <a:solidFill>
            <a:srgbClr val="00C853">
              <a:alpha val="30000"/>
            </a:srgbClr>
          </a:solidFill>
          <a:ln w="9525">
            <a:solidFill>
              <a:srgbClr val="00C85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887093" y="4178808"/>
            <a:ext cx="434340" cy="329184"/>
          </a:xfrm>
          <a:prstGeom prst="rect">
            <a:avLst/>
          </a:prstGeom>
          <a:solidFill>
            <a:srgbClr val="00C853">
              <a:alpha val="30000"/>
            </a:srgbClr>
          </a:solidFill>
          <a:ln w="9525">
            <a:solidFill>
              <a:srgbClr val="00C85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961388" y="4178808"/>
            <a:ext cx="434340" cy="329184"/>
          </a:xfrm>
          <a:prstGeom prst="rect">
            <a:avLst/>
          </a:prstGeom>
          <a:solidFill>
            <a:srgbClr val="00C853">
              <a:alpha val="30000"/>
            </a:srgbClr>
          </a:solidFill>
          <a:ln w="9525">
            <a:solidFill>
              <a:srgbClr val="00C85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035683" y="4178808"/>
            <a:ext cx="434340" cy="329184"/>
          </a:xfrm>
          <a:prstGeom prst="rect">
            <a:avLst/>
          </a:prstGeom>
          <a:solidFill>
            <a:srgbClr val="00C853">
              <a:alpha val="30000"/>
            </a:srgbClr>
          </a:solidFill>
          <a:ln w="9525">
            <a:solidFill>
              <a:srgbClr val="00C85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109978" y="4178808"/>
            <a:ext cx="434340" cy="329184"/>
          </a:xfrm>
          <a:prstGeom prst="rect">
            <a:avLst/>
          </a:prstGeom>
          <a:solidFill>
            <a:srgbClr val="00C853">
              <a:alpha val="30000"/>
            </a:srgbClr>
          </a:solidFill>
          <a:ln w="9525">
            <a:solidFill>
              <a:srgbClr val="00C85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84273" y="4178808"/>
            <a:ext cx="434340" cy="329184"/>
          </a:xfrm>
          <a:prstGeom prst="rect">
            <a:avLst/>
          </a:prstGeom>
          <a:solidFill>
            <a:srgbClr val="00C853">
              <a:alpha val="30000"/>
            </a:srgbClr>
          </a:solidFill>
          <a:ln w="9525">
            <a:solidFill>
              <a:srgbClr val="00C85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664208" y="4507992"/>
            <a:ext cx="434340" cy="329184"/>
          </a:xfrm>
          <a:prstGeom prst="rect">
            <a:avLst/>
          </a:prstGeom>
          <a:solidFill>
            <a:srgbClr val="00C853">
              <a:alpha val="30000"/>
            </a:srgbClr>
          </a:solidFill>
          <a:ln w="9525">
            <a:solidFill>
              <a:srgbClr val="00C85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738503" y="4507992"/>
            <a:ext cx="434340" cy="329184"/>
          </a:xfrm>
          <a:prstGeom prst="rect">
            <a:avLst/>
          </a:prstGeom>
          <a:solidFill>
            <a:srgbClr val="00C853">
              <a:alpha val="30000"/>
            </a:srgbClr>
          </a:solidFill>
          <a:ln w="9525">
            <a:solidFill>
              <a:srgbClr val="00C85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812798" y="4507992"/>
            <a:ext cx="434340" cy="329184"/>
          </a:xfrm>
          <a:prstGeom prst="rect">
            <a:avLst/>
          </a:prstGeom>
          <a:solidFill>
            <a:srgbClr val="00C853">
              <a:alpha val="30000"/>
            </a:srgbClr>
          </a:solidFill>
          <a:ln w="9525">
            <a:solidFill>
              <a:srgbClr val="00C85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887093" y="4507992"/>
            <a:ext cx="434340" cy="329184"/>
          </a:xfrm>
          <a:prstGeom prst="rect">
            <a:avLst/>
          </a:prstGeom>
          <a:solidFill>
            <a:srgbClr val="00C853">
              <a:alpha val="30000"/>
            </a:srgbClr>
          </a:solidFill>
          <a:ln w="9525">
            <a:solidFill>
              <a:srgbClr val="00C85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961388" y="4507992"/>
            <a:ext cx="434340" cy="329184"/>
          </a:xfrm>
          <a:prstGeom prst="rect">
            <a:avLst/>
          </a:prstGeom>
          <a:solidFill>
            <a:srgbClr val="00C853">
              <a:alpha val="30000"/>
            </a:srgbClr>
          </a:solidFill>
          <a:ln w="9525">
            <a:solidFill>
              <a:srgbClr val="00C85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035683" y="4507992"/>
            <a:ext cx="434340" cy="329184"/>
          </a:xfrm>
          <a:prstGeom prst="rect">
            <a:avLst/>
          </a:prstGeom>
          <a:solidFill>
            <a:srgbClr val="00C853">
              <a:alpha val="30000"/>
            </a:srgbClr>
          </a:solidFill>
          <a:ln w="9525">
            <a:solidFill>
              <a:srgbClr val="00C85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109978" y="4507992"/>
            <a:ext cx="434340" cy="329184"/>
          </a:xfrm>
          <a:prstGeom prst="rect">
            <a:avLst/>
          </a:prstGeom>
          <a:solidFill>
            <a:srgbClr val="00C853">
              <a:alpha val="30000"/>
            </a:srgbClr>
          </a:solidFill>
          <a:ln w="9525">
            <a:solidFill>
              <a:srgbClr val="00C85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184273" y="4507992"/>
            <a:ext cx="434340" cy="329184"/>
          </a:xfrm>
          <a:prstGeom prst="rect">
            <a:avLst/>
          </a:prstGeom>
          <a:solidFill>
            <a:srgbClr val="00C853">
              <a:alpha val="30000"/>
            </a:srgbClr>
          </a:solidFill>
          <a:ln w="9525">
            <a:solidFill>
              <a:srgbClr val="00C85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664208" y="4178808"/>
            <a:ext cx="434340" cy="329184"/>
          </a:xfrm>
          <a:prstGeom prst="rect">
            <a:avLst/>
          </a:prstGeom>
          <a:solidFill>
            <a:srgbClr val="00C853">
              <a:alpha val="45000"/>
            </a:srgbClr>
          </a:solidFill>
          <a:ln w="9525">
            <a:solidFill>
              <a:srgbClr val="00C85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664208" y="4507992"/>
            <a:ext cx="434340" cy="329184"/>
          </a:xfrm>
          <a:prstGeom prst="rect">
            <a:avLst/>
          </a:prstGeom>
          <a:solidFill>
            <a:srgbClr val="00C853">
              <a:alpha val="45000"/>
            </a:srgbClr>
          </a:solidFill>
          <a:ln w="9525">
            <a:solidFill>
              <a:srgbClr val="00C85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098548" y="4178808"/>
            <a:ext cx="434340" cy="329184"/>
          </a:xfrm>
          <a:prstGeom prst="rect">
            <a:avLst/>
          </a:prstGeom>
          <a:solidFill>
            <a:srgbClr val="00C853">
              <a:alpha val="45000"/>
            </a:srgbClr>
          </a:solidFill>
          <a:ln w="9525">
            <a:solidFill>
              <a:srgbClr val="00C85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098548" y="4507992"/>
            <a:ext cx="434340" cy="329184"/>
          </a:xfrm>
          <a:prstGeom prst="rect">
            <a:avLst/>
          </a:prstGeom>
          <a:solidFill>
            <a:srgbClr val="00C853">
              <a:alpha val="45000"/>
            </a:srgbClr>
          </a:solidFill>
          <a:ln w="9525">
            <a:solidFill>
              <a:srgbClr val="00C85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532888" y="4178808"/>
            <a:ext cx="434340" cy="329184"/>
          </a:xfrm>
          <a:prstGeom prst="rect">
            <a:avLst/>
          </a:prstGeom>
          <a:solidFill>
            <a:srgbClr val="00C853">
              <a:alpha val="45000"/>
            </a:srgbClr>
          </a:solidFill>
          <a:ln w="9525">
            <a:solidFill>
              <a:srgbClr val="00C85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532888" y="4507992"/>
            <a:ext cx="434340" cy="329184"/>
          </a:xfrm>
          <a:prstGeom prst="rect">
            <a:avLst/>
          </a:prstGeom>
          <a:solidFill>
            <a:srgbClr val="00C853">
              <a:alpha val="45000"/>
            </a:srgbClr>
          </a:solidFill>
          <a:ln w="9525">
            <a:solidFill>
              <a:srgbClr val="00C85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967228" y="4178808"/>
            <a:ext cx="434340" cy="329184"/>
          </a:xfrm>
          <a:prstGeom prst="rect">
            <a:avLst/>
          </a:prstGeom>
          <a:solidFill>
            <a:srgbClr val="00C853">
              <a:alpha val="45000"/>
            </a:srgbClr>
          </a:solidFill>
          <a:ln w="9525">
            <a:solidFill>
              <a:srgbClr val="00C85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967228" y="4507992"/>
            <a:ext cx="434340" cy="329184"/>
          </a:xfrm>
          <a:prstGeom prst="rect">
            <a:avLst/>
          </a:prstGeom>
          <a:solidFill>
            <a:srgbClr val="00C853">
              <a:alpha val="45000"/>
            </a:srgbClr>
          </a:solidFill>
          <a:ln w="9525">
            <a:solidFill>
              <a:srgbClr val="00C85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401568" y="4178808"/>
            <a:ext cx="434340" cy="329184"/>
          </a:xfrm>
          <a:prstGeom prst="rect">
            <a:avLst/>
          </a:prstGeom>
          <a:solidFill>
            <a:srgbClr val="00C853">
              <a:alpha val="45000"/>
            </a:srgbClr>
          </a:solidFill>
          <a:ln w="9525">
            <a:solidFill>
              <a:srgbClr val="00C85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401568" y="4507992"/>
            <a:ext cx="434340" cy="329184"/>
          </a:xfrm>
          <a:prstGeom prst="rect">
            <a:avLst/>
          </a:prstGeom>
          <a:solidFill>
            <a:srgbClr val="00C853">
              <a:alpha val="45000"/>
            </a:srgbClr>
          </a:solidFill>
          <a:ln w="9525">
            <a:solidFill>
              <a:srgbClr val="00C85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835908" y="4178808"/>
            <a:ext cx="434340" cy="329184"/>
          </a:xfrm>
          <a:prstGeom prst="rect">
            <a:avLst/>
          </a:prstGeom>
          <a:solidFill>
            <a:srgbClr val="00C853">
              <a:alpha val="45000"/>
            </a:srgbClr>
          </a:solidFill>
          <a:ln w="9525">
            <a:solidFill>
              <a:srgbClr val="00C85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835908" y="4507992"/>
            <a:ext cx="434340" cy="329184"/>
          </a:xfrm>
          <a:prstGeom prst="rect">
            <a:avLst/>
          </a:prstGeom>
          <a:solidFill>
            <a:srgbClr val="00C853">
              <a:alpha val="45000"/>
            </a:srgbClr>
          </a:solidFill>
          <a:ln w="9525">
            <a:solidFill>
              <a:srgbClr val="00C85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270248" y="4178808"/>
            <a:ext cx="434340" cy="329184"/>
          </a:xfrm>
          <a:prstGeom prst="rect">
            <a:avLst/>
          </a:prstGeom>
          <a:solidFill>
            <a:srgbClr val="00C853">
              <a:alpha val="45000"/>
            </a:srgbClr>
          </a:solidFill>
          <a:ln w="9525">
            <a:solidFill>
              <a:srgbClr val="00C85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270248" y="4507992"/>
            <a:ext cx="434340" cy="329184"/>
          </a:xfrm>
          <a:prstGeom prst="rect">
            <a:avLst/>
          </a:prstGeom>
          <a:solidFill>
            <a:srgbClr val="00C853">
              <a:alpha val="45000"/>
            </a:srgbClr>
          </a:solidFill>
          <a:ln w="9525">
            <a:solidFill>
              <a:srgbClr val="00C85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704588" y="4178808"/>
            <a:ext cx="434340" cy="329184"/>
          </a:xfrm>
          <a:prstGeom prst="rect">
            <a:avLst/>
          </a:prstGeom>
          <a:solidFill>
            <a:srgbClr val="00C853">
              <a:alpha val="45000"/>
            </a:srgbClr>
          </a:solidFill>
          <a:ln w="9525">
            <a:solidFill>
              <a:srgbClr val="00C853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704588" y="4507992"/>
            <a:ext cx="434340" cy="329184"/>
          </a:xfrm>
          <a:prstGeom prst="rect">
            <a:avLst/>
          </a:prstGeom>
          <a:solidFill>
            <a:srgbClr val="00C853">
              <a:alpha val="45000"/>
            </a:srgbClr>
          </a:solidFill>
          <a:ln w="9525">
            <a:solidFill>
              <a:srgbClr val="00C853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285232" y="4151376"/>
            <a:ext cx="3538728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00C85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5285232" y="4151376"/>
            <a:ext cx="54864" cy="71323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431536" y="4242816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344"/>
                </a:solidFill>
              </a:rPr>
              <a:t>Finest granularity. Leaf cells hold actual data point statistics.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Parameters in STING Cells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</a:rPr>
              <a:t>Each cell stores precomputed statistics — ready for query processing without re-scanning raw 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3108960" cy="3822192"/>
          </a:xfrm>
          <a:prstGeom prst="rect">
            <a:avLst/>
          </a:prstGeom>
          <a:solidFill>
            <a:srgbClr val="0D3055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3"/>
                </a:solidFill>
              </a:rPr>
              <a:t>A STING Cell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2651760" cy="2377440"/>
          </a:xfrm>
          <a:prstGeom prst="rect">
            <a:avLst/>
          </a:prstGeom>
          <a:solidFill>
            <a:srgbClr val="0A2540"/>
          </a:solidFill>
          <a:ln w="19050">
            <a:solidFill>
              <a:srgbClr val="00C85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" y="2203704"/>
            <a:ext cx="164592" cy="164592"/>
          </a:xfrm>
          <a:prstGeom prst="ellipse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80744" y="1837944"/>
            <a:ext cx="164592" cy="164592"/>
          </a:xfrm>
          <a:prstGeom prst="ellipse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46504" y="2478024"/>
            <a:ext cx="164592" cy="164592"/>
          </a:xfrm>
          <a:prstGeom prst="ellipse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20824" y="2020824"/>
            <a:ext cx="164592" cy="164592"/>
          </a:xfrm>
          <a:prstGeom prst="ellipse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63624" y="2660904"/>
            <a:ext cx="164592" cy="164592"/>
          </a:xfrm>
          <a:prstGeom prst="ellipse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6424" y="2569464"/>
            <a:ext cx="164592" cy="164592"/>
          </a:xfrm>
          <a:prstGeom prst="ellipse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0" y="1536192"/>
            <a:ext cx="685800" cy="256032"/>
          </a:xfrm>
          <a:prstGeom prst="roundRect">
            <a:avLst>
              <a:gd name="adj" fmla="val 21429"/>
            </a:avLst>
          </a:prstGeom>
          <a:solidFill>
            <a:srgbClr val="00B4CC">
              <a:alpha val="75000"/>
            </a:srgbClr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153619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count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0" y="1865376"/>
            <a:ext cx="685800" cy="256032"/>
          </a:xfrm>
          <a:prstGeom prst="roundRect">
            <a:avLst>
              <a:gd name="adj" fmla="val 21429"/>
            </a:avLst>
          </a:prstGeom>
          <a:solidFill>
            <a:srgbClr val="FF6D00">
              <a:alpha val="75000"/>
            </a:srgbClr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0" y="186537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mean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0" y="2194560"/>
            <a:ext cx="685800" cy="256032"/>
          </a:xfrm>
          <a:prstGeom prst="roundRect">
            <a:avLst>
              <a:gd name="adj" fmla="val 21429"/>
            </a:avLst>
          </a:prstGeom>
          <a:solidFill>
            <a:srgbClr val="FFB300">
              <a:alpha val="75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21945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0" y="2523744"/>
            <a:ext cx="685800" cy="256032"/>
          </a:xfrm>
          <a:prstGeom prst="roundRect">
            <a:avLst>
              <a:gd name="adj" fmla="val 21429"/>
            </a:avLst>
          </a:prstGeom>
          <a:solidFill>
            <a:srgbClr val="00C853">
              <a:alpha val="75000"/>
            </a:srgbClr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0" y="252374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0" y="2852928"/>
            <a:ext cx="685800" cy="256032"/>
          </a:xfrm>
          <a:prstGeom prst="roundRect">
            <a:avLst>
              <a:gd name="adj" fmla="val 21429"/>
            </a:avLst>
          </a:prstGeom>
          <a:solidFill>
            <a:srgbClr val="7C4DFF">
              <a:alpha val="75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0" y="285292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0" y="3182112"/>
            <a:ext cx="685800" cy="256032"/>
          </a:xfrm>
          <a:prstGeom prst="roundRect">
            <a:avLst>
              <a:gd name="adj" fmla="val 21429"/>
            </a:avLst>
          </a:prstGeom>
          <a:solidFill>
            <a:srgbClr val="FF5252">
              <a:alpha val="75000"/>
            </a:srgbClr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31821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type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834640" y="228600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← Precomputed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Statistics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2920" y="395020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C853"/>
                </a:solidFill>
              </a:rPr>
              <a:t>Precomputed &amp; stored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C853"/>
                </a:solidFill>
              </a:rPr>
              <a:t>→ no re-scanning needed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43159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Higher-level = sum/derived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from lower-level cells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11880" y="1024128"/>
            <a:ext cx="5212080" cy="530352"/>
          </a:xfrm>
          <a:prstGeom prst="rect">
            <a:avLst/>
          </a:prstGeom>
          <a:solidFill>
            <a:srgbClr val="0A2540"/>
          </a:solidFill>
          <a:ln w="15240">
            <a:solidFill>
              <a:srgbClr val="00B4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11880" y="1024128"/>
            <a:ext cx="64008" cy="530352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49040" y="1115568"/>
            <a:ext cx="749808" cy="329184"/>
          </a:xfrm>
          <a:prstGeom prst="roundRect">
            <a:avLst>
              <a:gd name="adj" fmla="val 22222"/>
            </a:avLst>
          </a:prstGeom>
          <a:solidFill>
            <a:srgbClr val="00B4CC">
              <a:alpha val="80000"/>
            </a:srgbClr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49040" y="1115568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17720" y="107899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Count (N)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17720" y="1316736"/>
            <a:ext cx="4096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Number of data points falling in this cell. Foundation for all other statistics.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11880" y="1645920"/>
            <a:ext cx="5212080" cy="530352"/>
          </a:xfrm>
          <a:prstGeom prst="rect">
            <a:avLst/>
          </a:prstGeom>
          <a:solidFill>
            <a:srgbClr val="0A2540"/>
          </a:solidFill>
          <a:ln w="15240">
            <a:solidFill>
              <a:srgbClr val="FF6D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11880" y="1645920"/>
            <a:ext cx="64008" cy="530352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49040" y="1737360"/>
            <a:ext cx="749808" cy="329184"/>
          </a:xfrm>
          <a:prstGeom prst="roundRect">
            <a:avLst>
              <a:gd name="adj" fmla="val 22222"/>
            </a:avLst>
          </a:prstGeom>
          <a:solidFill>
            <a:srgbClr val="FF6D00">
              <a:alpha val="80000"/>
            </a:srgbClr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49040" y="1737360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17720" y="170078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Mean (μ)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617720" y="1938528"/>
            <a:ext cx="4096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Average value of data attributes within the cell. Used as cell centroid representative.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611880" y="2267712"/>
            <a:ext cx="5212080" cy="530352"/>
          </a:xfrm>
          <a:prstGeom prst="rect">
            <a:avLst/>
          </a:prstGeom>
          <a:solidFill>
            <a:srgbClr val="0A2540"/>
          </a:solidFill>
          <a:ln w="15240">
            <a:solidFill>
              <a:srgbClr val="FFB3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11880" y="2267712"/>
            <a:ext cx="64008" cy="5303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749040" y="2359152"/>
            <a:ext cx="749808" cy="329184"/>
          </a:xfrm>
          <a:prstGeom prst="roundRect">
            <a:avLst>
              <a:gd name="adj" fmla="val 22222"/>
            </a:avLst>
          </a:prstGeom>
          <a:solidFill>
            <a:srgbClr val="FFB300">
              <a:alpha val="8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49040" y="2359152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617720" y="232257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Maximum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617720" y="2560320"/>
            <a:ext cx="4096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The highest attribute value in the cell. Used for range queries and anomaly detection.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611880" y="2889504"/>
            <a:ext cx="5212080" cy="530352"/>
          </a:xfrm>
          <a:prstGeom prst="rect">
            <a:avLst/>
          </a:prstGeom>
          <a:solidFill>
            <a:srgbClr val="0A2540"/>
          </a:solidFill>
          <a:ln w="15240">
            <a:solidFill>
              <a:srgbClr val="00C85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11880" y="2889504"/>
            <a:ext cx="64008" cy="53035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49040" y="2980944"/>
            <a:ext cx="749808" cy="329184"/>
          </a:xfrm>
          <a:prstGeom prst="roundRect">
            <a:avLst>
              <a:gd name="adj" fmla="val 22222"/>
            </a:avLst>
          </a:prstGeom>
          <a:solidFill>
            <a:srgbClr val="00C853">
              <a:alpha val="80000"/>
            </a:srgbClr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49040" y="2980944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617720" y="294436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Minimum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617720" y="3182112"/>
            <a:ext cx="4096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The lowest attribute value in the cell. Forms the lower bound for interval-based queries.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611880" y="3511296"/>
            <a:ext cx="5212080" cy="530352"/>
          </a:xfrm>
          <a:prstGeom prst="rect">
            <a:avLst/>
          </a:prstGeom>
          <a:solidFill>
            <a:srgbClr val="0A2540"/>
          </a:solidFill>
          <a:ln w="15240">
            <a:solidFill>
              <a:srgbClr val="7C4D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11880" y="3511296"/>
            <a:ext cx="64008" cy="53035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749040" y="3602736"/>
            <a:ext cx="749808" cy="329184"/>
          </a:xfrm>
          <a:prstGeom prst="roundRect">
            <a:avLst>
              <a:gd name="adj" fmla="val 22222"/>
            </a:avLst>
          </a:prstGeom>
          <a:solidFill>
            <a:srgbClr val="7C4DFF">
              <a:alpha val="80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49040" y="360273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617720" y="356616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Standard Deviation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617720" y="3803904"/>
            <a:ext cx="4096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Measure of spread within the cell. Higher σ = more diverse points; lower = tighter cluster.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611880" y="4133088"/>
            <a:ext cx="5212080" cy="530352"/>
          </a:xfrm>
          <a:prstGeom prst="rect">
            <a:avLst/>
          </a:prstGeom>
          <a:solidFill>
            <a:srgbClr val="0A2540"/>
          </a:solidFill>
          <a:ln w="15240">
            <a:solidFill>
              <a:srgbClr val="FF525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11880" y="4133088"/>
            <a:ext cx="64008" cy="530352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749040" y="4224528"/>
            <a:ext cx="749808" cy="329184"/>
          </a:xfrm>
          <a:prstGeom prst="roundRect">
            <a:avLst>
              <a:gd name="adj" fmla="val 22222"/>
            </a:avLst>
          </a:prstGeom>
          <a:solidFill>
            <a:srgbClr val="FF5252">
              <a:alpha val="80000"/>
            </a:srgbClr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749040" y="4224528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617720" y="418795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Distribution Type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4617720" y="4425696"/>
            <a:ext cx="4096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Type of distribution followed (normal, uniform, etc.) — aids in probabilistic query confidence.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61A2A"/>
          </a:solidFill>
          <a:ln w="12700">
            <a:solidFill>
              <a:srgbClr val="061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6400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STING Works — Step-by-Step Algorithm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74320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2743200" cy="64008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1005840"/>
            <a:ext cx="402336" cy="402336"/>
          </a:xfrm>
          <a:prstGeom prst="ellipse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005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23544" y="98755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1A2A"/>
                </a:solidFill>
              </a:rPr>
              <a:t>Choose Starting Layer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29768" y="1481328"/>
            <a:ext cx="25237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55"/>
                </a:solidFill>
              </a:rPr>
              <a:t>Determine a layer in the hierarchy to begin processing — typically starts at a higher resolution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27832" y="822960"/>
            <a:ext cx="274320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6D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822960"/>
            <a:ext cx="2743200" cy="6400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005840"/>
            <a:ext cx="402336" cy="402336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005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31336" y="98755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1A2A"/>
                </a:solidFill>
              </a:rPr>
              <a:t>Confidence Interval Calc.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37560" y="1481328"/>
            <a:ext cx="25237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55"/>
                </a:solidFill>
              </a:rPr>
              <a:t>For each cell in this layer, calculate the confidence interval or estimated probability that this cell is relevant to the query.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35624" y="822960"/>
            <a:ext cx="274320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B3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35624" y="822960"/>
            <a:ext cx="2743200" cy="64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45352" y="1005840"/>
            <a:ext cx="402336" cy="402336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45352" y="1005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39128" y="98755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1A2A"/>
                </a:solidFill>
              </a:rPr>
              <a:t>Label Cells Relevant / Not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45352" y="1481328"/>
            <a:ext cx="25237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55"/>
                </a:solidFill>
              </a:rPr>
              <a:t>Based on the computed interval, label each cell as RELEVANT or NOT RELEVANT to the current query.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231136"/>
            <a:ext cx="274320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00C85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231136"/>
            <a:ext cx="2743200" cy="640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" y="2414016"/>
            <a:ext cx="402336" cy="402336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2414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23544" y="2395728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1A2A"/>
                </a:solidFill>
              </a:rPr>
              <a:t>Bottom Layer Check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29768" y="2889504"/>
            <a:ext cx="25237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55"/>
                </a:solidFill>
              </a:rPr>
              <a:t>If current layer IS the bottom layer → proceed to Step 6. Otherwise → proceed to Step 5.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27832" y="2231136"/>
            <a:ext cx="274320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7C4D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27832" y="2231136"/>
            <a:ext cx="2743200" cy="64008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37560" y="2414016"/>
            <a:ext cx="402336" cy="402336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2414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831336" y="2395728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1A2A"/>
                </a:solidFill>
              </a:rPr>
              <a:t>Descend Hierarchy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337560" y="2889504"/>
            <a:ext cx="25237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55"/>
                </a:solidFill>
              </a:rPr>
              <a:t>Move down one level in the hierarchy. Only examine cells that belong to a relevant cell of the higher layer.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35624" y="2231136"/>
            <a:ext cx="274320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52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35624" y="2231136"/>
            <a:ext cx="2743200" cy="64008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45352" y="2414016"/>
            <a:ext cx="402336" cy="402336"/>
          </a:xfrm>
          <a:prstGeom prst="ellipse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45352" y="2414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39128" y="2395728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1A2A"/>
                </a:solidFill>
              </a:rPr>
              <a:t>Query Spec. Met?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245352" y="2889504"/>
            <a:ext cx="25237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55"/>
                </a:solidFill>
              </a:rPr>
              <a:t>If the query specification is satisfied at this layer → go to Step 8. Otherwise → go to Step 7.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0040" y="3639312"/>
            <a:ext cx="274320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3639312"/>
            <a:ext cx="2743200" cy="64008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9768" y="3822192"/>
            <a:ext cx="402336" cy="402336"/>
          </a:xfrm>
          <a:prstGeom prst="ellipse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9768" y="3822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23544" y="3803904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1A2A"/>
                </a:solidFill>
              </a:rPr>
              <a:t>Retrieve &amp; Process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29768" y="4297680"/>
            <a:ext cx="25237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55"/>
                </a:solidFill>
              </a:rPr>
              <a:t>Retrieve data points falling in relevant cells. Perform further processing. Return results meeting query requirements.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227832" y="3639312"/>
            <a:ext cx="274320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6D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227832" y="3639312"/>
            <a:ext cx="2743200" cy="6400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37560" y="3822192"/>
            <a:ext cx="402336" cy="402336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37560" y="3822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3831336" y="3803904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1A2A"/>
                </a:solidFill>
              </a:rPr>
              <a:t>Find Relevant Regions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3337560" y="4297680"/>
            <a:ext cx="25237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55"/>
                </a:solidFill>
              </a:rPr>
              <a:t>Find the regions of relevant cells. Return those regions that meet the requirements of the query.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135624" y="3639312"/>
            <a:ext cx="274320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B3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135624" y="3639312"/>
            <a:ext cx="2743200" cy="64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45352" y="3822192"/>
            <a:ext cx="402336" cy="402336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45352" y="3822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9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739128" y="3803904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1A2A"/>
                </a:solidFill>
              </a:rPr>
              <a:t>Stop / Terminate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6245352" y="4297680"/>
            <a:ext cx="25237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55"/>
                </a:solidFill>
              </a:rPr>
              <a:t>Algorithm terminates. Final results have been returned to the user.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 in STING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</a:rPr>
              <a:t>Hierarchical top-down query propagation — from coarse to fine resolution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96112"/>
            <a:ext cx="8595360" cy="749808"/>
          </a:xfrm>
          <a:prstGeom prst="rect">
            <a:avLst/>
          </a:prstGeom>
          <a:solidFill>
            <a:srgbClr val="0D3055"/>
          </a:solidFill>
          <a:ln w="19050">
            <a:solidFill>
              <a:srgbClr val="7C4D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96112"/>
            <a:ext cx="64008" cy="749808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960120"/>
            <a:ext cx="8183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0F7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each cell, STING calculates a confidence interval — the probability range that this cell is relevant to the query. This avoids scanning raw data entirely, using precomputed cell statistics to make the judgment instantly.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47472" y="18105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CC"/>
                </a:solidFill>
              </a:rPr>
              <a:t>Coarse Level (L1)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2121408"/>
            <a:ext cx="640080" cy="411480"/>
          </a:xfrm>
          <a:prstGeom prst="rect">
            <a:avLst/>
          </a:prstGeom>
          <a:solidFill>
            <a:srgbClr val="00B4CC">
              <a:alpha val="40000"/>
            </a:srgbClr>
          </a:solidFill>
          <a:ln w="9525">
            <a:solidFill>
              <a:srgbClr val="00B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212140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87552" y="2121408"/>
            <a:ext cx="640080" cy="411480"/>
          </a:xfrm>
          <a:prstGeom prst="rect">
            <a:avLst/>
          </a:prstGeom>
          <a:solidFill>
            <a:srgbClr val="90A4AE">
              <a:alpha val="15000"/>
            </a:srgbClr>
          </a:solidFill>
          <a:ln w="9525">
            <a:solidFill>
              <a:srgbClr val="90A4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27632" y="2121408"/>
            <a:ext cx="640080" cy="411480"/>
          </a:xfrm>
          <a:prstGeom prst="rect">
            <a:avLst/>
          </a:prstGeom>
          <a:solidFill>
            <a:srgbClr val="90A4AE">
              <a:alpha val="15000"/>
            </a:srgbClr>
          </a:solidFill>
          <a:ln w="9525">
            <a:solidFill>
              <a:srgbClr val="90A4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67712" y="2121408"/>
            <a:ext cx="640080" cy="411480"/>
          </a:xfrm>
          <a:prstGeom prst="rect">
            <a:avLst/>
          </a:prstGeom>
          <a:solidFill>
            <a:srgbClr val="90A4AE">
              <a:alpha val="15000"/>
            </a:srgbClr>
          </a:solidFill>
          <a:ln w="9525">
            <a:solidFill>
              <a:srgbClr val="90A4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2532888"/>
            <a:ext cx="640080" cy="411480"/>
          </a:xfrm>
          <a:prstGeom prst="rect">
            <a:avLst/>
          </a:prstGeom>
          <a:solidFill>
            <a:srgbClr val="90A4AE">
              <a:alpha val="15000"/>
            </a:srgbClr>
          </a:solidFill>
          <a:ln w="9525">
            <a:solidFill>
              <a:srgbClr val="90A4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" y="2532888"/>
            <a:ext cx="640080" cy="411480"/>
          </a:xfrm>
          <a:prstGeom prst="rect">
            <a:avLst/>
          </a:prstGeom>
          <a:solidFill>
            <a:srgbClr val="90A4AE">
              <a:alpha val="15000"/>
            </a:srgbClr>
          </a:solidFill>
          <a:ln w="9525">
            <a:solidFill>
              <a:srgbClr val="90A4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27632" y="2532888"/>
            <a:ext cx="640080" cy="411480"/>
          </a:xfrm>
          <a:prstGeom prst="rect">
            <a:avLst/>
          </a:prstGeom>
          <a:solidFill>
            <a:srgbClr val="00B4CC">
              <a:alpha val="40000"/>
            </a:srgbClr>
          </a:solidFill>
          <a:ln w="9525">
            <a:solidFill>
              <a:srgbClr val="00B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27632" y="253288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267712" y="2532888"/>
            <a:ext cx="640080" cy="411480"/>
          </a:xfrm>
          <a:prstGeom prst="rect">
            <a:avLst/>
          </a:prstGeom>
          <a:solidFill>
            <a:srgbClr val="90A4AE">
              <a:alpha val="15000"/>
            </a:srgbClr>
          </a:solidFill>
          <a:ln w="9525">
            <a:solidFill>
              <a:srgbClr val="90A4A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2944368"/>
            <a:ext cx="640080" cy="411480"/>
          </a:xfrm>
          <a:prstGeom prst="rect">
            <a:avLst/>
          </a:prstGeom>
          <a:solidFill>
            <a:srgbClr val="90A4AE">
              <a:alpha val="15000"/>
            </a:srgbClr>
          </a:solidFill>
          <a:ln w="9525">
            <a:solidFill>
              <a:srgbClr val="90A4A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2944368"/>
            <a:ext cx="640080" cy="411480"/>
          </a:xfrm>
          <a:prstGeom prst="rect">
            <a:avLst/>
          </a:prstGeom>
          <a:solidFill>
            <a:srgbClr val="90A4AE">
              <a:alpha val="15000"/>
            </a:srgbClr>
          </a:solidFill>
          <a:ln w="9525">
            <a:solidFill>
              <a:srgbClr val="90A4A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27632" y="2944368"/>
            <a:ext cx="640080" cy="411480"/>
          </a:xfrm>
          <a:prstGeom prst="rect">
            <a:avLst/>
          </a:prstGeom>
          <a:solidFill>
            <a:srgbClr val="90A4AE">
              <a:alpha val="15000"/>
            </a:srgbClr>
          </a:solidFill>
          <a:ln w="9525">
            <a:solidFill>
              <a:srgbClr val="90A4A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67712" y="2944368"/>
            <a:ext cx="640080" cy="411480"/>
          </a:xfrm>
          <a:prstGeom prst="rect">
            <a:avLst/>
          </a:prstGeom>
          <a:solidFill>
            <a:srgbClr val="90A4AE">
              <a:alpha val="15000"/>
            </a:srgbClr>
          </a:solidFill>
          <a:ln w="9525">
            <a:solidFill>
              <a:srgbClr val="90A4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38328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CC"/>
                </a:solidFill>
              </a:rPr>
              <a:t>2 cells relevant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82112" y="2423160"/>
            <a:ext cx="457200" cy="347472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82112" y="242316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822192" y="18105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00"/>
                </a:solidFill>
              </a:rPr>
              <a:t>Fine Level (L2)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822192" y="2121408"/>
            <a:ext cx="502920" cy="502920"/>
          </a:xfrm>
          <a:prstGeom prst="rect">
            <a:avLst/>
          </a:prstGeom>
          <a:solidFill>
            <a:srgbClr val="FF6D00">
              <a:alpha val="35000"/>
            </a:srgbClr>
          </a:solidFill>
          <a:ln w="9525">
            <a:solidFill>
              <a:srgbClr val="FF6D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22192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325112" y="2121408"/>
            <a:ext cx="502920" cy="502920"/>
          </a:xfrm>
          <a:prstGeom prst="rect">
            <a:avLst/>
          </a:prstGeom>
          <a:solidFill>
            <a:srgbClr val="90A4AE">
              <a:alpha val="12000"/>
            </a:srgbClr>
          </a:solidFill>
          <a:ln w="9525">
            <a:solidFill>
              <a:srgbClr val="90A4A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28032" y="2121408"/>
            <a:ext cx="502920" cy="502920"/>
          </a:xfrm>
          <a:prstGeom prst="rect">
            <a:avLst/>
          </a:prstGeom>
          <a:solidFill>
            <a:srgbClr val="90A4AE">
              <a:alpha val="12000"/>
            </a:srgbClr>
          </a:solidFill>
          <a:ln w="9525">
            <a:solidFill>
              <a:srgbClr val="90A4A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30952" y="2121408"/>
            <a:ext cx="502920" cy="502920"/>
          </a:xfrm>
          <a:prstGeom prst="rect">
            <a:avLst/>
          </a:prstGeom>
          <a:solidFill>
            <a:srgbClr val="FF6D00">
              <a:alpha val="35000"/>
            </a:srgbClr>
          </a:solidFill>
          <a:ln w="9525">
            <a:solidFill>
              <a:srgbClr val="FF6D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30952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822192" y="2624328"/>
            <a:ext cx="502920" cy="502920"/>
          </a:xfrm>
          <a:prstGeom prst="rect">
            <a:avLst/>
          </a:prstGeom>
          <a:solidFill>
            <a:srgbClr val="FF6D00">
              <a:alpha val="35000"/>
            </a:srgbClr>
          </a:solidFill>
          <a:ln w="9525">
            <a:solidFill>
              <a:srgbClr val="FF6D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22192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325112" y="2624328"/>
            <a:ext cx="502920" cy="502920"/>
          </a:xfrm>
          <a:prstGeom prst="rect">
            <a:avLst/>
          </a:prstGeom>
          <a:solidFill>
            <a:srgbClr val="90A4AE">
              <a:alpha val="12000"/>
            </a:srgbClr>
          </a:solidFill>
          <a:ln w="9525">
            <a:solidFill>
              <a:srgbClr val="90A4A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28032" y="2624328"/>
            <a:ext cx="502920" cy="502920"/>
          </a:xfrm>
          <a:prstGeom prst="rect">
            <a:avLst/>
          </a:prstGeom>
          <a:solidFill>
            <a:srgbClr val="90A4AE">
              <a:alpha val="12000"/>
            </a:srgbClr>
          </a:solidFill>
          <a:ln w="9525">
            <a:solidFill>
              <a:srgbClr val="90A4A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30952" y="2624328"/>
            <a:ext cx="502920" cy="502920"/>
          </a:xfrm>
          <a:prstGeom prst="rect">
            <a:avLst/>
          </a:prstGeom>
          <a:solidFill>
            <a:srgbClr val="FF6D00">
              <a:alpha val="35000"/>
            </a:srgbClr>
          </a:solidFill>
          <a:ln w="9525">
            <a:solidFill>
              <a:srgbClr val="FF6D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30952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822192" y="321868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D00"/>
                </a:solidFill>
              </a:rPr>
              <a:t>4 cells survive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53328" y="2423160"/>
            <a:ext cx="457200" cy="34747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53328" y="242316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675120" y="18105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</a:rPr>
              <a:t>Final Result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75120" y="2121408"/>
            <a:ext cx="2011680" cy="1234440"/>
          </a:xfrm>
          <a:prstGeom prst="rect">
            <a:avLst/>
          </a:prstGeom>
          <a:solidFill>
            <a:srgbClr val="FFB300">
              <a:alpha val="35000"/>
            </a:srgbClr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75120" y="2121408"/>
            <a:ext cx="2011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Cluster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Region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Found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320040" y="3703320"/>
            <a:ext cx="2743200" cy="1207008"/>
          </a:xfrm>
          <a:prstGeom prst="rect">
            <a:avLst/>
          </a:prstGeom>
          <a:solidFill>
            <a:srgbClr val="0D3055"/>
          </a:solidFill>
          <a:ln w="15240">
            <a:solidFill>
              <a:srgbClr val="00B4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" y="3703320"/>
            <a:ext cx="64008" cy="1207008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376732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Query-Independent Stats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02920" y="4133088"/>
            <a:ext cx="2468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</a:rPr>
              <a:t>Statistics in each cell are independent of the query — precomputed once, used for many different queries.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227832" y="3703320"/>
            <a:ext cx="2743200" cy="1207008"/>
          </a:xfrm>
          <a:prstGeom prst="rect">
            <a:avLst/>
          </a:prstGeom>
          <a:solidFill>
            <a:srgbClr val="0D3055"/>
          </a:solidFill>
          <a:ln w="15240">
            <a:solidFill>
              <a:srgbClr val="FF6D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27832" y="3703320"/>
            <a:ext cx="64008" cy="120700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10712" y="376732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Parallel Processing Ready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410712" y="4133088"/>
            <a:ext cx="2468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</a:rPr>
              <a:t>Grid structure facilitates parallel processing — multiple cells can be evaluated simultaneously.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135624" y="3703320"/>
            <a:ext cx="2743200" cy="1207008"/>
          </a:xfrm>
          <a:prstGeom prst="rect">
            <a:avLst/>
          </a:prstGeom>
          <a:solidFill>
            <a:srgbClr val="0D3055"/>
          </a:solidFill>
          <a:ln w="15240">
            <a:solidFill>
              <a:srgbClr val="7C4D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135624" y="3703320"/>
            <a:ext cx="64008" cy="1207008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18504" y="376732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Incremental Updates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318504" y="4133088"/>
            <a:ext cx="2468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</a:rPr>
              <a:t>New data points update only the relevant cell statistics — no full re-computation needed.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61A2A"/>
          </a:solidFill>
          <a:ln w="12700">
            <a:solidFill>
              <a:srgbClr val="061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4572000" cy="640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594360"/>
            <a:ext cx="4572000" cy="64008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Disadvantages of STING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069080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85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4069080" cy="47548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04672"/>
            <a:ext cx="38496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✦  Advantages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408176"/>
            <a:ext cx="3904488" cy="585216"/>
          </a:xfrm>
          <a:prstGeom prst="rect">
            <a:avLst/>
          </a:prstGeom>
          <a:solidFill>
            <a:srgbClr val="F0FDF4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5361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9536" y="1463040"/>
            <a:ext cx="3273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1A2A"/>
                </a:solidFill>
              </a:rPr>
              <a:t>Query Independence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59536" y="1737360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3311"/>
                </a:solidFill>
              </a:rPr>
              <a:t>Statistics stored in each cell are query-independent — computed once, used for any number of different queries.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2084832"/>
            <a:ext cx="390448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22128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🖥️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9536" y="2139696"/>
            <a:ext cx="3273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1A2A"/>
                </a:solidFill>
              </a:rPr>
              <a:t>Parallel Processing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59536" y="2414016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3311"/>
                </a:solidFill>
              </a:rPr>
              <a:t>The grid structure naturally facilitates parallel processing — cells at the same level can be analyzed concurrently.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7472" y="2761488"/>
            <a:ext cx="3904488" cy="585216"/>
          </a:xfrm>
          <a:prstGeom prst="rect">
            <a:avLst/>
          </a:prstGeom>
          <a:solidFill>
            <a:srgbClr val="F0FDF4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28895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9536" y="2816352"/>
            <a:ext cx="3273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1A2A"/>
                </a:solidFill>
              </a:rPr>
              <a:t>Incremental Updates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59536" y="3090672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3311"/>
                </a:solidFill>
              </a:rPr>
              <a:t>The grid supports dynamic updates — new data points are incorporated without rebuilding the entire structure.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" y="3438144"/>
            <a:ext cx="390448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3566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9536" y="3493008"/>
            <a:ext cx="3273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1A2A"/>
                </a:solidFill>
              </a:rPr>
              <a:t>Fast Query Response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59536" y="3767328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3311"/>
                </a:solidFill>
              </a:rPr>
              <a:t>By working on precomputed cell statistics rather than raw data, queries are answered much more rapidly.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7472" y="4114800"/>
            <a:ext cx="3904488" cy="585216"/>
          </a:xfrm>
          <a:prstGeom prst="rect">
            <a:avLst/>
          </a:prstGeom>
          <a:solidFill>
            <a:srgbClr val="F0FDF4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42428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📐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9536" y="4169664"/>
            <a:ext cx="3273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1A2A"/>
                </a:solidFill>
              </a:rPr>
              <a:t>Multi-Level Resolution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59536" y="4443984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3311"/>
                </a:solidFill>
              </a:rPr>
              <a:t>Users can query at different levels of granularity — coarse for speed or fine-grained for precision.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804672"/>
            <a:ext cx="4069080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52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804672"/>
            <a:ext cx="4069080" cy="475488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0328" y="804672"/>
            <a:ext cx="38496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⚠  Disadvantages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873752" y="1408176"/>
            <a:ext cx="3904488" cy="1920240"/>
          </a:xfrm>
          <a:prstGeom prst="rect">
            <a:avLst/>
          </a:prstGeom>
          <a:solidFill>
            <a:srgbClr val="FFF1F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46904" y="15727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5252"/>
                </a:solidFill>
              </a:rPr>
              <a:t>⊘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440680" y="148132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1A2A"/>
                </a:solidFill>
              </a:rPr>
              <a:t>No Diagonal Boundaries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440680" y="1847088"/>
            <a:ext cx="32186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1111"/>
                </a:solidFill>
              </a:rPr>
              <a:t>All cluster boundaries in STING are either HORIZONTAL or VERTICAL — because cells are rectangular. This means NO diagonal boundaries are ever detected.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946904" y="2944368"/>
            <a:ext cx="3712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5252"/>
                </a:solidFill>
              </a:rPr>
              <a:t>This is the primary limitation cited in the original STING paper.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73752" y="3401568"/>
            <a:ext cx="3904488" cy="585216"/>
          </a:xfrm>
          <a:prstGeom prst="rect">
            <a:avLst/>
          </a:prstGeom>
          <a:solidFill>
            <a:srgbClr val="FFF5F5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46904" y="35295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385816" y="3456432"/>
            <a:ext cx="3273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1A2A"/>
                </a:solidFill>
              </a:rPr>
              <a:t>Memory Overhead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385816" y="3730752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1111"/>
                </a:solidFill>
              </a:rPr>
              <a:t>Storing statistical parameters for every cell at every level can require significant memory.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873752" y="4078224"/>
            <a:ext cx="390448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46904" y="4206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📐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385816" y="4133088"/>
            <a:ext cx="3273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1A2A"/>
                </a:solidFill>
              </a:rPr>
              <a:t>Boundary Approximation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385816" y="4407408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1111"/>
                </a:solidFill>
              </a:rPr>
              <a:t>Cluster boundaries are approximations — actual data distribution within cells is not exactly known.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STING vs Other Grid-Based &amp; Clustering Methods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267712" y="804672"/>
            <a:ext cx="1664208" cy="475488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67712" y="804672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A2A"/>
                </a:solidFill>
              </a:rPr>
              <a:t>STING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005072" y="804672"/>
            <a:ext cx="1664208" cy="47548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05072" y="804672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A2A"/>
                </a:solidFill>
              </a:rPr>
              <a:t>CLIQUE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42432" y="804672"/>
            <a:ext cx="1664208" cy="475488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42432" y="804672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A2A"/>
                </a:solidFill>
              </a:rPr>
              <a:t>WaveCluster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79792" y="804672"/>
            <a:ext cx="1664208" cy="4754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79792" y="804672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A2A"/>
                </a:solidFill>
              </a:rPr>
              <a:t>K-Means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1389888"/>
            <a:ext cx="1947672" cy="438912"/>
          </a:xfrm>
          <a:prstGeom prst="rect">
            <a:avLst/>
          </a:prstGeom>
          <a:solidFill>
            <a:srgbClr val="0D3055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426464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CC"/>
                </a:solidFill>
              </a:rPr>
              <a:t>Structure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67712" y="1389888"/>
            <a:ext cx="1664208" cy="438912"/>
          </a:xfrm>
          <a:prstGeom prst="rect">
            <a:avLst/>
          </a:prstGeom>
          <a:solidFill>
            <a:srgbClr val="0D3055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13432" y="1426464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Multi-level rect. grid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05072" y="1389888"/>
            <a:ext cx="1664208" cy="438912"/>
          </a:xfrm>
          <a:prstGeom prst="rect">
            <a:avLst/>
          </a:prstGeom>
          <a:solidFill>
            <a:srgbClr val="0D3055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50792" y="1426464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Grid + subspace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42432" y="1389888"/>
            <a:ext cx="1664208" cy="438912"/>
          </a:xfrm>
          <a:prstGeom prst="rect">
            <a:avLst/>
          </a:prstGeom>
          <a:solidFill>
            <a:srgbClr val="0D3055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88152" y="1426464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Wavelet transform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479792" y="1389888"/>
            <a:ext cx="1664208" cy="438912"/>
          </a:xfrm>
          <a:prstGeom prst="rect">
            <a:avLst/>
          </a:prstGeom>
          <a:solidFill>
            <a:srgbClr val="0D3055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25512" y="1426464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No grid — centroids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1901952"/>
            <a:ext cx="1947672" cy="438912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1938528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CC"/>
                </a:solidFill>
              </a:rPr>
              <a:t>Cluster Shape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67712" y="1901952"/>
            <a:ext cx="1664208" cy="438912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13432" y="193852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Rectangular only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005072" y="1901952"/>
            <a:ext cx="1664208" cy="438912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50792" y="193852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Rectangular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742432" y="1901952"/>
            <a:ext cx="1664208" cy="438912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88152" y="193852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Arbitrary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479792" y="1901952"/>
            <a:ext cx="1664208" cy="438912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25512" y="193852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Spherical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2414016"/>
            <a:ext cx="1947672" cy="438912"/>
          </a:xfrm>
          <a:prstGeom prst="rect">
            <a:avLst/>
          </a:prstGeom>
          <a:solidFill>
            <a:srgbClr val="0D3055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2450592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CC"/>
                </a:solidFill>
              </a:rPr>
              <a:t>Boundaries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267712" y="2414016"/>
            <a:ext cx="1664208" cy="438912"/>
          </a:xfrm>
          <a:prstGeom prst="rect">
            <a:avLst/>
          </a:prstGeom>
          <a:solidFill>
            <a:srgbClr val="0D3055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13432" y="245059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H/V — no diagonals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005072" y="2414016"/>
            <a:ext cx="1664208" cy="438912"/>
          </a:xfrm>
          <a:prstGeom prst="rect">
            <a:avLst/>
          </a:prstGeom>
          <a:solidFill>
            <a:srgbClr val="0D3055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50792" y="245059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H/V — no diagonals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742432" y="2414016"/>
            <a:ext cx="1664208" cy="438912"/>
          </a:xfrm>
          <a:prstGeom prst="rect">
            <a:avLst/>
          </a:prstGeom>
          <a:solidFill>
            <a:srgbClr val="0D3055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88152" y="245059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Arbitrary shapes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479792" y="2414016"/>
            <a:ext cx="1664208" cy="438912"/>
          </a:xfrm>
          <a:prstGeom prst="rect">
            <a:avLst/>
          </a:prstGeom>
          <a:solidFill>
            <a:srgbClr val="0D3055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25512" y="245059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N/A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74320" y="2926080"/>
            <a:ext cx="1947672" cy="438912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" y="2962656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CC"/>
                </a:solidFill>
              </a:rPr>
              <a:t>Query Support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267712" y="2926080"/>
            <a:ext cx="1664208" cy="438912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313432" y="2962656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CC"/>
                </a:solidFill>
              </a:rPr>
              <a:t>Strong — stats precomputed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005072" y="2926080"/>
            <a:ext cx="1664208" cy="438912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50792" y="2962656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Moderate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742432" y="2926080"/>
            <a:ext cx="1664208" cy="438912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88152" y="2962656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Limited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479792" y="2926080"/>
            <a:ext cx="1664208" cy="438912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25512" y="2962656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Limited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4320" y="3438144"/>
            <a:ext cx="1947672" cy="438912"/>
          </a:xfrm>
          <a:prstGeom prst="rect">
            <a:avLst/>
          </a:prstGeom>
          <a:solidFill>
            <a:srgbClr val="0D3055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" y="347472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CC"/>
                </a:solidFill>
              </a:rPr>
              <a:t>Scalability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267712" y="3438144"/>
            <a:ext cx="1664208" cy="438912"/>
          </a:xfrm>
          <a:prstGeom prst="rect">
            <a:avLst/>
          </a:prstGeom>
          <a:solidFill>
            <a:srgbClr val="0D3055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13432" y="347472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CC"/>
                </a:solidFill>
              </a:rPr>
              <a:t>High — single scan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005072" y="3438144"/>
            <a:ext cx="1664208" cy="438912"/>
          </a:xfrm>
          <a:prstGeom prst="rect">
            <a:avLst/>
          </a:prstGeom>
          <a:solidFill>
            <a:srgbClr val="0D3055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050792" y="347472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Moderate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742432" y="3438144"/>
            <a:ext cx="1664208" cy="438912"/>
          </a:xfrm>
          <a:prstGeom prst="rect">
            <a:avLst/>
          </a:prstGeom>
          <a:solidFill>
            <a:srgbClr val="0D3055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88152" y="347472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High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7479792" y="3438144"/>
            <a:ext cx="1664208" cy="438912"/>
          </a:xfrm>
          <a:prstGeom prst="rect">
            <a:avLst/>
          </a:prstGeom>
          <a:solidFill>
            <a:srgbClr val="0D3055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525512" y="347472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High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74320" y="3950208"/>
            <a:ext cx="1947672" cy="438912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7472" y="3986784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CC"/>
                </a:solidFill>
              </a:rPr>
              <a:t>Noise Handling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2267712" y="3950208"/>
            <a:ext cx="1664208" cy="438912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313432" y="3986784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Via cell threshold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4005072" y="3950208"/>
            <a:ext cx="1664208" cy="438912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050792" y="3986784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Yes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5742432" y="3950208"/>
            <a:ext cx="1664208" cy="438912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788152" y="3986784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Excellent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7479792" y="3950208"/>
            <a:ext cx="1664208" cy="438912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525512" y="3986784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Sensitive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274320" y="4462272"/>
            <a:ext cx="1947672" cy="438912"/>
          </a:xfrm>
          <a:prstGeom prst="rect">
            <a:avLst/>
          </a:prstGeom>
          <a:solidFill>
            <a:srgbClr val="0D3055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47472" y="4498848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CC"/>
                </a:solidFill>
              </a:rPr>
              <a:t>Parallel Ready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2267712" y="4462272"/>
            <a:ext cx="1664208" cy="438912"/>
          </a:xfrm>
          <a:prstGeom prst="rect">
            <a:avLst/>
          </a:prstGeom>
          <a:solidFill>
            <a:srgbClr val="0D3055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313432" y="44988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CC"/>
                </a:solidFill>
              </a:rPr>
              <a:t>Yes ★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4005072" y="4462272"/>
            <a:ext cx="1664208" cy="438912"/>
          </a:xfrm>
          <a:prstGeom prst="rect">
            <a:avLst/>
          </a:prstGeom>
          <a:solidFill>
            <a:srgbClr val="0D3055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050792" y="44988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Partial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5742432" y="4462272"/>
            <a:ext cx="1664208" cy="438912"/>
          </a:xfrm>
          <a:prstGeom prst="rect">
            <a:avLst/>
          </a:prstGeom>
          <a:solidFill>
            <a:srgbClr val="0D3055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788152" y="44988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Partial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7479792" y="4462272"/>
            <a:ext cx="1664208" cy="438912"/>
          </a:xfrm>
          <a:prstGeom prst="rect">
            <a:avLst/>
          </a:prstGeom>
          <a:solidFill>
            <a:srgbClr val="0D3055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525512" y="44988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A4AE"/>
                </a:solidFill>
              </a:rPr>
              <a:t>Yes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67728" y="365760"/>
            <a:ext cx="658368" cy="749808"/>
          </a:xfrm>
          <a:prstGeom prst="rect">
            <a:avLst/>
          </a:prstGeom>
          <a:solidFill>
            <a:srgbClr val="0097A7">
              <a:alpha val="35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6096" y="365760"/>
            <a:ext cx="658368" cy="749808"/>
          </a:xfrm>
          <a:prstGeom prst="rect">
            <a:avLst/>
          </a:prstGeom>
          <a:solidFill>
            <a:srgbClr val="FF6D00">
              <a:alpha val="35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84464" y="365760"/>
            <a:ext cx="658368" cy="749808"/>
          </a:xfrm>
          <a:prstGeom prst="rect">
            <a:avLst/>
          </a:prstGeom>
          <a:solidFill>
            <a:srgbClr val="FFB300">
              <a:alpha val="35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67728" y="1115568"/>
            <a:ext cx="658368" cy="749808"/>
          </a:xfrm>
          <a:prstGeom prst="rect">
            <a:avLst/>
          </a:prstGeom>
          <a:solidFill>
            <a:srgbClr val="0D3055">
              <a:alpha val="15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26096" y="1115568"/>
            <a:ext cx="658368" cy="749808"/>
          </a:xfrm>
          <a:prstGeom prst="rect">
            <a:avLst/>
          </a:prstGeom>
          <a:solidFill>
            <a:srgbClr val="0D3055">
              <a:alpha val="15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84464" y="1115568"/>
            <a:ext cx="658368" cy="749808"/>
          </a:xfrm>
          <a:prstGeom prst="rect">
            <a:avLst/>
          </a:prstGeom>
          <a:solidFill>
            <a:srgbClr val="0097A7">
              <a:alpha val="35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67728" y="1865376"/>
            <a:ext cx="658368" cy="749808"/>
          </a:xfrm>
          <a:prstGeom prst="rect">
            <a:avLst/>
          </a:prstGeom>
          <a:solidFill>
            <a:srgbClr val="FF6D00">
              <a:alpha val="35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6096" y="1865376"/>
            <a:ext cx="658368" cy="749808"/>
          </a:xfrm>
          <a:prstGeom prst="rect">
            <a:avLst/>
          </a:prstGeom>
          <a:solidFill>
            <a:srgbClr val="0D3055">
              <a:alpha val="15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84464" y="1865376"/>
            <a:ext cx="658368" cy="749808"/>
          </a:xfrm>
          <a:prstGeom prst="rect">
            <a:avLst/>
          </a:prstGeom>
          <a:solidFill>
            <a:srgbClr val="0D3055">
              <a:alpha val="15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67728" y="2615184"/>
            <a:ext cx="658368" cy="749808"/>
          </a:xfrm>
          <a:prstGeom prst="rect">
            <a:avLst/>
          </a:prstGeom>
          <a:solidFill>
            <a:srgbClr val="0D3055">
              <a:alpha val="15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26096" y="2615184"/>
            <a:ext cx="658368" cy="749808"/>
          </a:xfrm>
          <a:prstGeom prst="rect">
            <a:avLst/>
          </a:prstGeom>
          <a:solidFill>
            <a:srgbClr val="FFB300">
              <a:alpha val="35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84464" y="2615184"/>
            <a:ext cx="658368" cy="749808"/>
          </a:xfrm>
          <a:prstGeom prst="rect">
            <a:avLst/>
          </a:prstGeom>
          <a:solidFill>
            <a:srgbClr val="0D3055">
              <a:alpha val="15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67728" y="3364992"/>
            <a:ext cx="658368" cy="749808"/>
          </a:xfrm>
          <a:prstGeom prst="rect">
            <a:avLst/>
          </a:prstGeom>
          <a:solidFill>
            <a:srgbClr val="0D3055">
              <a:alpha val="15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26096" y="3364992"/>
            <a:ext cx="658368" cy="749808"/>
          </a:xfrm>
          <a:prstGeom prst="rect">
            <a:avLst/>
          </a:prstGeom>
          <a:solidFill>
            <a:srgbClr val="0097A7">
              <a:alpha val="35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84464" y="3364992"/>
            <a:ext cx="658368" cy="749808"/>
          </a:xfrm>
          <a:prstGeom prst="rect">
            <a:avLst/>
          </a:prstGeom>
          <a:solidFill>
            <a:srgbClr val="0D3055">
              <a:alpha val="15000"/>
            </a:srgbClr>
          </a:solidFill>
          <a:ln w="7620">
            <a:solidFill>
              <a:srgbClr val="00B4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67728" y="4206240"/>
            <a:ext cx="19751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5252"/>
                </a:solidFill>
              </a:rPr>
              <a:t>H/V Boundaries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FF5252"/>
                </a:solidFill>
              </a:rPr>
              <a:t>Only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164592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411480" y="960120"/>
            <a:ext cx="6217920" cy="676656"/>
          </a:xfrm>
          <a:prstGeom prst="rect">
            <a:avLst/>
          </a:prstGeom>
          <a:solidFill>
            <a:srgbClr val="0D3055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960120"/>
            <a:ext cx="658368" cy="676656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960120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A2A"/>
                </a:solidFill>
              </a:rPr>
              <a:t>01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70432" y="1078992"/>
            <a:ext cx="53583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A4AE"/>
                </a:solidFill>
              </a:rPr>
              <a:t>STING is a grid-based clustering algorithm that quantifies space into a hierarchical multidimensional grid of rectangular cells.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11480" y="1755648"/>
            <a:ext cx="6217920" cy="676656"/>
          </a:xfrm>
          <a:prstGeom prst="rect">
            <a:avLst/>
          </a:prstGeom>
          <a:solidFill>
            <a:srgbClr val="0D3055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1755648"/>
            <a:ext cx="658368" cy="676656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1755648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A2A"/>
                </a:solidFill>
              </a:rPr>
              <a:t>02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70432" y="1874520"/>
            <a:ext cx="53583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A4AE"/>
                </a:solidFill>
              </a:rPr>
              <a:t>Each cell stores precomputed statistical parameters (count, mean, max, min, std, type) for fast query answering.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11480" y="2551176"/>
            <a:ext cx="6217920" cy="676656"/>
          </a:xfrm>
          <a:prstGeom prst="rect">
            <a:avLst/>
          </a:prstGeom>
          <a:solidFill>
            <a:srgbClr val="0D3055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2551176"/>
            <a:ext cx="658368" cy="676656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551176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A2A"/>
                </a:solidFill>
              </a:rPr>
              <a:t>03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70432" y="2670048"/>
            <a:ext cx="53583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A4AE"/>
                </a:solidFill>
              </a:rPr>
              <a:t>High-level cell statistics are derived from lower-level cells — the hierarchy enables multi-resolution analysis.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11480" y="3346704"/>
            <a:ext cx="6217920" cy="676656"/>
          </a:xfrm>
          <a:prstGeom prst="rect">
            <a:avLst/>
          </a:prstGeom>
          <a:solidFill>
            <a:srgbClr val="0D3055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" y="3346704"/>
            <a:ext cx="658368" cy="676656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346704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A2A"/>
                </a:solidFill>
              </a:rPr>
              <a:t>04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170432" y="3465576"/>
            <a:ext cx="53583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A4AE"/>
                </a:solidFill>
              </a:rPr>
              <a:t>Key advantage: query-independent statistics + parallel processing + incremental updates support rapid analysis.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11480" y="4142232"/>
            <a:ext cx="6217920" cy="676656"/>
          </a:xfrm>
          <a:prstGeom prst="rect">
            <a:avLst/>
          </a:prstGeom>
          <a:solidFill>
            <a:srgbClr val="0D3055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1480" y="4142232"/>
            <a:ext cx="658368" cy="676656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142232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A2A"/>
                </a:solidFill>
              </a:rPr>
              <a:t>05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170432" y="4261104"/>
            <a:ext cx="53583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A4AE"/>
                </a:solidFill>
              </a:rPr>
              <a:t>Key limitation: all cluster boundaries are horizontal or vertical — diagonal boundaries cannot be detected.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STING – Statistical Information Grid in Data Mining</dc:title>
  <dc:subject>PptxGenJS Presentation</dc:subject>
  <dc:creator>PptxGenJS</dc:creator>
  <cp:lastModifiedBy>PptxGenJS</cp:lastModifiedBy>
  <cp:revision>1</cp:revision>
  <dcterms:created xsi:type="dcterms:W3CDTF">2026-03-23T11:15:28Z</dcterms:created>
  <dcterms:modified xsi:type="dcterms:W3CDTF">2026-03-23T11:15:28Z</dcterms:modified>
</cp:coreProperties>
</file>