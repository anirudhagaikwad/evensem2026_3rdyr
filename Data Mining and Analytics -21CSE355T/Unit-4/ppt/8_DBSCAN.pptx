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01830"/>
          </a:solidFill>
          <a:ln w="12700">
            <a:solidFill>
              <a:srgbClr val="101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28016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18872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55448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46304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280" y="178308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9164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82880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097280"/>
            <a:ext cx="1005840" cy="1005840"/>
          </a:xfrm>
          <a:prstGeom prst="ellipse">
            <a:avLst/>
          </a:prstGeom>
          <a:solidFill>
            <a:srgbClr val="00D4FF">
              <a:alpha val="12000"/>
            </a:srgbClr>
          </a:solidFill>
          <a:ln w="19050">
            <a:solidFill>
              <a:srgbClr val="00D4F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406640" y="274320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256032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278892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306324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320040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306324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283464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9752" y="2468880"/>
            <a:ext cx="1005840" cy="1005840"/>
          </a:xfrm>
          <a:prstGeom prst="ellipse">
            <a:avLst/>
          </a:prstGeom>
          <a:solidFill>
            <a:srgbClr val="FF4757">
              <a:alpha val="12000"/>
            </a:srgbClr>
          </a:solidFill>
          <a:ln w="19050">
            <a:solidFill>
              <a:srgbClr val="FF475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995160" y="4114800"/>
            <a:ext cx="201168" cy="201168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434340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502"/>
                </a:solidFill>
              </a:rPr>
              <a:t>Noise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6208" y="208483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Cluster 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0" y="37033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757"/>
                </a:solidFill>
              </a:rPr>
              <a:t>Cluster 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91440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502"/>
                </a:solidFill>
              </a:rPr>
              <a:t>eps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12280" y="1600200"/>
            <a:ext cx="-475488" cy="-438912"/>
          </a:xfrm>
          <a:prstGeom prst="line">
            <a:avLst/>
          </a:prstGeom>
          <a:noFill/>
          <a:ln w="19050">
            <a:solidFill>
              <a:srgbClr val="FFA50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566928"/>
            <a:ext cx="1645920" cy="329184"/>
          </a:xfrm>
          <a:prstGeom prst="roundRect">
            <a:avLst>
              <a:gd name="adj" fmla="val 27778"/>
            </a:avLst>
          </a:prstGeom>
          <a:solidFill>
            <a:srgbClr val="1E90FF">
              <a:alpha val="75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5669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MINING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987552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6800" dirty="0"/>
          </a:p>
        </p:txBody>
      </p:sp>
      <p:sp>
        <p:nvSpPr>
          <p:cNvPr id="29" name="Text 27"/>
          <p:cNvSpPr/>
          <p:nvPr/>
        </p:nvSpPr>
        <p:spPr>
          <a:xfrm>
            <a:off x="457200" y="1965960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Spatial Clustering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235915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47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Applications with Noise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290779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density-based unsupervised clustering algorithm that separates high-density clusters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low-density regions — and identifies noise points automatically.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1508760" cy="320040"/>
          </a:xfrm>
          <a:prstGeom prst="roundRect">
            <a:avLst>
              <a:gd name="adj" fmla="val 28571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Density-Based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21408" y="3749040"/>
            <a:ext cx="1508760" cy="320040"/>
          </a:xfrm>
          <a:prstGeom prst="roundRect">
            <a:avLst>
              <a:gd name="adj" fmla="val 28571"/>
            </a:avLst>
          </a:prstGeom>
          <a:solidFill>
            <a:srgbClr val="FF4757">
              <a:alpha val="7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21408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Noise Robust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785616" y="3749040"/>
            <a:ext cx="1508760" cy="320040"/>
          </a:xfrm>
          <a:prstGeom prst="roundRect">
            <a:avLst>
              <a:gd name="adj" fmla="val 28571"/>
            </a:avLst>
          </a:prstGeom>
          <a:solidFill>
            <a:srgbClr val="FFA502">
              <a:alpha val="70000"/>
            </a:srgbClr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85616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Any Shape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736592"/>
            <a:ext cx="64008" cy="4069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eps  •  minPts  •  Core Point  •  Border Point  •  Outlier  •  Density Reachability  •  Connectivity  •  Silhouette Score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DBSCAN?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1005840"/>
          </a:xfrm>
          <a:prstGeom prst="rect">
            <a:avLst/>
          </a:prstGeom>
          <a:solidFill>
            <a:srgbClr val="0A0F1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886968"/>
            <a:ext cx="821131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"DBSCAN is a popular unsupervised clustering method used in machine learning to separate clusters of high density from clusters of low density. Unlike K-Means, DBSCAN can discover clusters of varying shapes and automatically identifies noise (outlier) points — without requiring the number of clusters in advance."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Core Mechanism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395728"/>
            <a:ext cx="2724912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90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95728"/>
            <a:ext cx="2724912" cy="640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5608" y="2542032"/>
            <a:ext cx="493776" cy="493776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5608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1E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063240" y="2642616"/>
            <a:ext cx="137160" cy="0"/>
          </a:xfrm>
          <a:prstGeom prst="line">
            <a:avLst/>
          </a:prstGeom>
          <a:noFill/>
          <a:ln w="25400">
            <a:solidFill>
              <a:srgbClr val="1E9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2596896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90FF"/>
                </a:solidFill>
              </a:rPr>
              <a:t>▶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Divide into N Dimensions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3602736"/>
            <a:ext cx="250545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455"/>
                </a:solidFill>
              </a:rPr>
              <a:t>The dataset is divided into n dimensions. DBSCAN forms an n-dimensional neighbourhood shape around each data point.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395728"/>
            <a:ext cx="2724912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395728"/>
            <a:ext cx="2724912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2542032"/>
            <a:ext cx="493776" cy="49377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1E"/>
                </a:solidFill>
              </a:rPr>
              <a:t>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943600" y="2642616"/>
            <a:ext cx="137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1032" y="2596896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91840" y="312724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Count Neighbours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602736"/>
            <a:ext cx="250545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455"/>
                </a:solidFill>
              </a:rPr>
              <a:t>For each point, DBSCAN counts how many data points fall within that n-dimensional neighbourhood shape of radius eps.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395728"/>
            <a:ext cx="2724912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D57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395728"/>
            <a:ext cx="2724912" cy="64008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96328" y="2542032"/>
            <a:ext cx="493776" cy="493776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6328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1E"/>
                </a:solidFill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72200" y="312724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Expand Clusters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90488" y="3602736"/>
            <a:ext cx="250545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455"/>
                </a:solidFill>
              </a:rPr>
              <a:t>DBSCAN iteratively expands clusters by examining each point within a cluster and counting nearby points recursively.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Parameters of DBSCAN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Core idea: a point belongs to a cluster if it is close to many points from that cluster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4005072"/>
          </a:xfrm>
          <a:prstGeom prst="rect">
            <a:avLst/>
          </a:prstGeom>
          <a:solidFill>
            <a:srgbClr val="16204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023360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14400"/>
            <a:ext cx="3803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eps  —  Epsilon (Neighbourhood Distance)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18488" y="1892808"/>
            <a:ext cx="1371600" cy="1371600"/>
          </a:xfrm>
          <a:prstGeom prst="ellipse">
            <a:avLst/>
          </a:prstGeom>
          <a:solidFill>
            <a:srgbClr val="00D4FF">
              <a:alpha val="12000"/>
            </a:srgbClr>
          </a:solidFill>
          <a:ln w="19050">
            <a:solidFill>
              <a:srgbClr val="00D4F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85416" y="2459736"/>
            <a:ext cx="237744" cy="237744"/>
          </a:xfrm>
          <a:prstGeom prst="ellipse">
            <a:avLst/>
          </a:prstGeom>
          <a:solidFill>
            <a:srgbClr val="00D4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5416" y="2459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73352" y="1929384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1883664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0632" y="2404872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92224" y="2935224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6624" y="3008376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9424" y="3136392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04288" y="2578608"/>
            <a:ext cx="-457200" cy="-475488"/>
          </a:xfrm>
          <a:prstGeom prst="line">
            <a:avLst/>
          </a:prstGeom>
          <a:noFill/>
          <a:ln w="19050">
            <a:solidFill>
              <a:srgbClr val="FFA50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190195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502"/>
                </a:solidFill>
              </a:rPr>
              <a:t>eps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11880" y="169164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901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4757"/>
                </a:solidFill>
              </a:rPr>
              <a:t>Outside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3401568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
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are </a:t>
            </a:r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 distance between them is </a:t>
            </a:r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eps
</a:t>
            </a:r>
            <a:pPr indent="0" marL="0">
              <a:buNone/>
            </a:pPr>
            <a:r>
              <a:rPr lang="en-US" sz="115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
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the neighbourhood radius — the search space around every point. Points outside eps are 'too far' to be neighbours.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28032" y="914400"/>
            <a:ext cx="4023360" cy="4005072"/>
          </a:xfrm>
          <a:prstGeom prst="rect">
            <a:avLst/>
          </a:prstGeom>
          <a:solidFill>
            <a:srgbClr val="162040"/>
          </a:solidFill>
          <a:ln w="19050">
            <a:solidFill>
              <a:srgbClr val="2ED5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914400"/>
            <a:ext cx="4023360" cy="475488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914400"/>
            <a:ext cx="3803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minPts  —  Minimum Points for a Cluster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1984248"/>
            <a:ext cx="1188720" cy="1188720"/>
          </a:xfrm>
          <a:prstGeom prst="ellipse">
            <a:avLst/>
          </a:prstGeom>
          <a:solidFill>
            <a:srgbClr val="2ED573">
              <a:alpha val="12000"/>
            </a:srgbClr>
          </a:solidFill>
          <a:ln w="19050">
            <a:solidFill>
              <a:srgbClr val="2ED573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73952" y="2212848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83096" y="2221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76288" y="2121408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2130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14032" y="2359152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3176" y="23682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67728" y="2724912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76872" y="27340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29400" y="2788920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38544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82512" y="2542032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78040" y="17556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D573"/>
                </a:solidFill>
              </a:rPr>
              <a:t>minPts=6 met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78040" y="2029968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D573"/>
                </a:solidFill>
              </a:rPr>
              <a:t>= CORE!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229600" y="2359152"/>
            <a:ext cx="658368" cy="658368"/>
          </a:xfrm>
          <a:prstGeom prst="ellipse">
            <a:avLst/>
          </a:prstGeom>
          <a:solidFill>
            <a:srgbClr val="FF4757">
              <a:alpha val="12000"/>
            </a:srgbClr>
          </a:solidFill>
          <a:ln w="12700">
            <a:solidFill>
              <a:srgbClr val="FF4757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8266176" y="2468880"/>
            <a:ext cx="146304" cy="146304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49056" y="2651760"/>
            <a:ext cx="146304" cy="146304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19872" y="3063240"/>
            <a:ext cx="786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4757"/>
                </a:solidFill>
              </a:rPr>
              <a:t>Only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4757"/>
                </a:solidFill>
              </a:rPr>
              <a:t>Not core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37760" y="3401568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
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number of data points needed to </a:t>
            </a:r>
            <a:pPr indent="0" marL="0">
              <a:buNone/>
            </a:pPr>
            <a:r>
              <a:rPr lang="en-US" sz="115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cluster
</a:t>
            </a:r>
            <a:pPr indent="0" marL="0">
              <a:buNone/>
            </a:pPr>
            <a:r>
              <a:rPr lang="en-US" sz="115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
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2D data, minPts=4 is a good starting default. It smooths the density estimate across the dataset.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Points in DBSCAN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41648"/>
          </a:xfrm>
          <a:prstGeom prst="rect">
            <a:avLst/>
          </a:prstGeom>
          <a:solidFill>
            <a:srgbClr val="0A0F1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Point Classification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43000" y="1828800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627632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719072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901952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2212848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2304288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" y="2148840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240280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1399032"/>
            <a:ext cx="1316736" cy="1316736"/>
          </a:xfrm>
          <a:prstGeom prst="ellipse">
            <a:avLst/>
          </a:prstGeom>
          <a:solidFill>
            <a:srgbClr val="2ED573">
              <a:alpha val="12000"/>
            </a:srgbClr>
          </a:solidFill>
          <a:ln w="19050">
            <a:solidFill>
              <a:srgbClr val="2ED573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66928" y="1463040"/>
            <a:ext cx="182880" cy="182880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1920240"/>
            <a:ext cx="182880" cy="182880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33472" y="1691640"/>
            <a:ext cx="182880" cy="182880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7480" y="2121408"/>
            <a:ext cx="182880" cy="182880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123444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92608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96512"/>
            <a:ext cx="164592" cy="16459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07822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573"/>
                </a:solidFill>
              </a:rPr>
              <a:t>Core Points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52544"/>
            <a:ext cx="164592" cy="164592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3342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2"/>
                </a:solidFill>
              </a:rPr>
              <a:t>Border Points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608576"/>
            <a:ext cx="164592" cy="164592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59028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757"/>
                </a:solidFill>
              </a:rPr>
              <a:t>Outliers / Noise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45152" y="822960"/>
            <a:ext cx="4178808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D57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822960"/>
            <a:ext cx="64008" cy="1207008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896112"/>
            <a:ext cx="402336" cy="402336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896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66944" y="877824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E"/>
                </a:solidFill>
              </a:rPr>
              <a:t>Core Point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266944" y="1207008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A point is a core point if there are at least minPts number of points (including itself) in its surrounding area with radius eps.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1709928"/>
            <a:ext cx="3950208" cy="237744"/>
          </a:xfrm>
          <a:prstGeom prst="roundRect">
            <a:avLst>
              <a:gd name="adj" fmla="val 23077"/>
            </a:avLst>
          </a:prstGeom>
          <a:solidFill>
            <a:srgbClr val="2ED573">
              <a:alpha val="15000"/>
            </a:srgbClr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1719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count(eps-neighbours) &gt;= minPts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45152" y="2157984"/>
            <a:ext cx="4178808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FFA50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45152" y="2157984"/>
            <a:ext cx="64008" cy="120700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231136"/>
            <a:ext cx="402336" cy="402336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P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66944" y="2212848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E"/>
                </a:solidFill>
              </a:rPr>
              <a:t>Border Point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266944" y="2542032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A point is a border point if it is reachable from a core point, but has fewer than minPts points within its own eps-neighbourhood.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3044952"/>
            <a:ext cx="3950208" cy="237744"/>
          </a:xfrm>
          <a:prstGeom prst="roundRect">
            <a:avLst>
              <a:gd name="adj" fmla="val 23077"/>
            </a:avLst>
          </a:prstGeom>
          <a:solidFill>
            <a:srgbClr val="FFA502">
              <a:alpha val="15000"/>
            </a:srgbClr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305409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reachable from core  AND  count &lt; minPts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45152" y="3493008"/>
            <a:ext cx="4178808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FF47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45152" y="3493008"/>
            <a:ext cx="64008" cy="1207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3566160"/>
            <a:ext cx="402336" cy="402336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P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66944" y="3547872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E"/>
                </a:solidFill>
              </a:rPr>
              <a:t>Outlier (Noise)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266944" y="3877056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A point is an outlier if it is NOT a core point and is NOT reachable from any core point in the entire dataset.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54880" y="4379976"/>
            <a:ext cx="3950208" cy="237744"/>
          </a:xfrm>
          <a:prstGeom prst="roundRect">
            <a:avLst>
              <a:gd name="adj" fmla="val 23077"/>
            </a:avLst>
          </a:prstGeom>
          <a:solidFill>
            <a:srgbClr val="FF4757">
              <a:alpha val="15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9744" y="43891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core  AND  not reachable from any core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Reachability &amp; Connectivity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Two concepts that enable DBSCAN to find arbitrarily shaped clusters through transitivity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069080" cy="4005072"/>
          </a:xfrm>
          <a:prstGeom prst="rect">
            <a:avLst/>
          </a:prstGeom>
          <a:solidFill>
            <a:srgbClr val="162040"/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86968"/>
            <a:ext cx="4069080" cy="47548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86968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Density Reachability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1764792"/>
            <a:ext cx="1316736" cy="1316736"/>
          </a:xfrm>
          <a:prstGeom prst="ellipse">
            <a:avLst/>
          </a:prstGeom>
          <a:solidFill>
            <a:srgbClr val="7B68EE">
              <a:alpha val="12000"/>
            </a:srgbClr>
          </a:solidFill>
          <a:ln w="19050">
            <a:solidFill>
              <a:srgbClr val="7B68E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85416" y="2304288"/>
            <a:ext cx="237744" cy="237744"/>
          </a:xfrm>
          <a:prstGeom prst="ellipse">
            <a:avLst/>
          </a:prstGeom>
          <a:solidFill>
            <a:srgbClr val="7B68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5416" y="2304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00784" y="1837944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86584" y="1746504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6624" y="2249424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46504" y="2752344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2862072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1992" y="3008376"/>
            <a:ext cx="164592" cy="16459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965960"/>
            <a:ext cx="201168" cy="201168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965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q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2423160"/>
            <a:ext cx="777240" cy="-384048"/>
          </a:xfrm>
          <a:prstGeom prst="line">
            <a:avLst/>
          </a:prstGeom>
          <a:noFill/>
          <a:ln w="19050">
            <a:solidFill>
              <a:srgbClr val="2ED57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788920" y="160020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D573"/>
                </a:solidFill>
              </a:rPr>
              <a:t>q reachable from 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88920" y="190195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(within eps of p,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and p is core)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3310128"/>
            <a:ext cx="374904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
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q is </a:t>
            </a:r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density-reachable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p if:
</a:t>
            </a:r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 is within eps-neighbourhood of p
</a:t>
            </a:r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 is a core point
</a:t>
            </a:r>
            <a:pPr indent="0" marL="0">
              <a:buNone/>
            </a:pPr>
            <a:r>
              <a:rPr lang="en-US" sz="12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— q reachable from p does NOT mean p is reachable from q.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886968"/>
            <a:ext cx="4069080" cy="4005072"/>
          </a:xfrm>
          <a:prstGeom prst="rect">
            <a:avLst/>
          </a:prstGeom>
          <a:solidFill>
            <a:srgbClr val="16204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886968"/>
            <a:ext cx="4069080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886968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Density Connectivity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82896" y="2048256"/>
            <a:ext cx="694944" cy="694944"/>
          </a:xfrm>
          <a:prstGeom prst="ellipse">
            <a:avLst/>
          </a:prstGeom>
          <a:solidFill>
            <a:srgbClr val="7B68EE">
              <a:alpha val="12000"/>
            </a:srgbClr>
          </a:solidFill>
          <a:ln w="19050">
            <a:solidFill>
              <a:srgbClr val="7B68EE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111496" y="2276856"/>
            <a:ext cx="237744" cy="237744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286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49240" y="2395728"/>
            <a:ext cx="484632" cy="-310896"/>
          </a:xfrm>
          <a:prstGeom prst="line">
            <a:avLst/>
          </a:prstGeom>
          <a:noFill/>
          <a:ln w="19050">
            <a:solidFill>
              <a:srgbClr val="FFA50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1737360"/>
            <a:ext cx="694944" cy="694944"/>
          </a:xfrm>
          <a:prstGeom prst="ellipse">
            <a:avLst/>
          </a:prstGeom>
          <a:solidFill>
            <a:srgbClr val="00D4FF">
              <a:alpha val="12000"/>
            </a:srgbClr>
          </a:solidFill>
          <a:ln w="19050">
            <a:solidFill>
              <a:srgbClr val="00D4FF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715000" y="1965960"/>
            <a:ext cx="237744" cy="23774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24144" y="1975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52744" y="2084832"/>
            <a:ext cx="466344" cy="310896"/>
          </a:xfrm>
          <a:prstGeom prst="line">
            <a:avLst/>
          </a:prstGeom>
          <a:noFill/>
          <a:ln w="19050">
            <a:solidFill>
              <a:srgbClr val="FFA50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71616" y="2048256"/>
            <a:ext cx="694944" cy="694944"/>
          </a:xfrm>
          <a:prstGeom prst="ellipse">
            <a:avLst/>
          </a:prstGeom>
          <a:solidFill>
            <a:srgbClr val="00D4FF">
              <a:alpha val="12000"/>
            </a:srgbClr>
          </a:solidFill>
          <a:ln w="19050">
            <a:solidFill>
              <a:srgbClr val="00D4F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300216" y="2276856"/>
            <a:ext cx="237744" cy="23774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286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37960" y="2395728"/>
            <a:ext cx="466344" cy="-310896"/>
          </a:xfrm>
          <a:prstGeom prst="line">
            <a:avLst/>
          </a:prstGeom>
          <a:noFill/>
          <a:ln w="19050">
            <a:solidFill>
              <a:srgbClr val="FFA50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56832" y="1737360"/>
            <a:ext cx="694944" cy="694944"/>
          </a:xfrm>
          <a:prstGeom prst="ellipse">
            <a:avLst/>
          </a:prstGeom>
          <a:solidFill>
            <a:srgbClr val="00D4FF">
              <a:alpha val="12000"/>
            </a:srgbClr>
          </a:solidFill>
          <a:ln w="19050">
            <a:solidFill>
              <a:srgbClr val="00D4FF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885432" y="1965960"/>
            <a:ext cx="237744" cy="23774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4576" y="1975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23176" y="2084832"/>
            <a:ext cx="466344" cy="310896"/>
          </a:xfrm>
          <a:prstGeom prst="line">
            <a:avLst/>
          </a:prstGeom>
          <a:noFill/>
          <a:ln w="19050">
            <a:solidFill>
              <a:srgbClr val="FFA50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42048" y="2048256"/>
            <a:ext cx="694944" cy="694944"/>
          </a:xfrm>
          <a:prstGeom prst="ellipse">
            <a:avLst/>
          </a:prstGeom>
          <a:solidFill>
            <a:srgbClr val="2ED573">
              <a:alpha val="12000"/>
            </a:srgbClr>
          </a:solidFill>
          <a:ln w="19050">
            <a:solidFill>
              <a:srgbClr val="2ED573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7470648" y="2276856"/>
            <a:ext cx="237744" cy="237744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79792" y="2286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q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834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r → s → t → q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83480" y="32004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D573"/>
                </a:solidFill>
              </a:rPr>
              <a:t>p and q are density-connected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10328" y="3529584"/>
            <a:ext cx="3749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
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 and q are </a:t>
            </a:r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density-connected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there exists a point o from which both p and q are density-reachable.
</a:t>
            </a:r>
            <a:pPr indent="0" marL="0">
              <a:buNone/>
            </a:pPr>
            <a:r>
              <a:rPr lang="en-US" sz="115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Transitivity:
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and q can be connected through a chain of core points — even if they are NOT directly in each other's neighbourhood.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Steps of DBSCAN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29768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60704"/>
            <a:ext cx="420624" cy="42062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6696" y="877824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Pick Random Point 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96696" y="120700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Pick a random point x from the dataset. Assign it to Cluster 1. This is the starting seed of the algorithm.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82312" y="822960"/>
            <a:ext cx="429768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1E90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822960"/>
            <a:ext cx="64008" cy="9144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9472" y="1060704"/>
            <a:ext cx="420624" cy="420624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58968" y="877824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Count eps-Neighbours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58968" y="120700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Count how many points lie within eps distance from x. Compare this count against minPoints threshold.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1874520"/>
            <a:ext cx="429768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2ED57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1874520"/>
            <a:ext cx="64008" cy="914400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12264"/>
            <a:ext cx="420624" cy="420624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6696" y="1929384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Classify Point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96696" y="225856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If count &gt;= minPoints: x is a CORE POINT — pull all eps-neighbours into Cluster 1. Otherwise mark as border/noise.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82312" y="1874520"/>
            <a:ext cx="429768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B6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1874520"/>
            <a:ext cx="64008" cy="9144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2112264"/>
            <a:ext cx="420624" cy="420624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58968" y="1929384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Expand Cluster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58968" y="225856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Examine each member of Cluster 1. Any member with n+ eps-neighbours: expand Cluster 1 by adding those neighbours.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926080"/>
            <a:ext cx="429768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FFA50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926080"/>
            <a:ext cx="64008" cy="91440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163824"/>
            <a:ext cx="420624" cy="420624"/>
          </a:xfrm>
          <a:prstGeom prst="ellipse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6696" y="2980944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Continue Expanding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96696" y="331012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Recursively repeat neighbourhood calculation for each neighbouring point until no more points can be added.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82312" y="2926080"/>
            <a:ext cx="429768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1E90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82312" y="2926080"/>
            <a:ext cx="64008" cy="9144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3163824"/>
            <a:ext cx="420624" cy="420624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58968" y="2980944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Start Cluster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58968" y="331012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Pick another unvisited point not in any cluster. Assign to Cluster 2. Repeat steps 2–5 for this new cluster.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977640"/>
            <a:ext cx="429768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FF47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977640"/>
            <a:ext cx="64008" cy="9144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215384"/>
            <a:ext cx="420624" cy="420624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96696" y="4032504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Mark Outliers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96696" y="436168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Any point that cannot be reached from any core point across all clusters is marked as an OUTLIER / NOISE.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82312" y="3977640"/>
            <a:ext cx="429768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2ED57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82312" y="3977640"/>
            <a:ext cx="64008" cy="914400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19472" y="4215384"/>
            <a:ext cx="420624" cy="420624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</a:rPr>
              <a:t>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58968" y="4032504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Terminate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458968" y="436168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Continue until ALL data points either belong to a cluster or are marked as outliers. The algorithm stops.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DBSCAN Used For?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Broadly applied across data mining, machine learning, and real-world analytics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724912" cy="1737360"/>
          </a:xfrm>
          <a:prstGeom prst="rect">
            <a:avLst/>
          </a:prstGeom>
          <a:solidFill>
            <a:srgbClr val="162040"/>
          </a:solidFill>
          <a:ln w="1651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2724912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207008"/>
            <a:ext cx="502920" cy="502920"/>
          </a:xfrm>
          <a:prstGeom prst="ellipse">
            <a:avLst/>
          </a:prstGeom>
          <a:solidFill>
            <a:srgbClr val="00D4FF">
              <a:alpha val="7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225296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Market Research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2336" y="1801368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Discover distinct customer groups and characterize them based on purchasing patterns for targeted marketing.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024128"/>
            <a:ext cx="2724912" cy="1737360"/>
          </a:xfrm>
          <a:prstGeom prst="rect">
            <a:avLst/>
          </a:prstGeom>
          <a:solidFill>
            <a:srgbClr val="162040"/>
          </a:solidFill>
          <a:ln w="16510">
            <a:solidFill>
              <a:srgbClr val="7B6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024128"/>
            <a:ext cx="2724912" cy="6400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82696" y="1207008"/>
            <a:ext cx="502920" cy="502920"/>
          </a:xfrm>
          <a:prstGeom prst="ellipse">
            <a:avLst/>
          </a:prstGeom>
          <a:solidFill>
            <a:srgbClr val="7B68EE">
              <a:alpha val="78000"/>
            </a:srgbClr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86200" y="1225296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Pattern Recognition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82696" y="1801368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Identify spatial and structural patterns in multi-dimensional data — without assuming cluster count or shape.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24128"/>
            <a:ext cx="2724912" cy="1737360"/>
          </a:xfrm>
          <a:prstGeom prst="rect">
            <a:avLst/>
          </a:prstGeom>
          <a:solidFill>
            <a:srgbClr val="162040"/>
          </a:solidFill>
          <a:ln w="16510">
            <a:solidFill>
              <a:srgbClr val="2ED5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24128"/>
            <a:ext cx="2724912" cy="64008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207008"/>
            <a:ext cx="502920" cy="502920"/>
          </a:xfrm>
          <a:prstGeom prst="ellipse">
            <a:avLst/>
          </a:prstGeom>
          <a:solidFill>
            <a:srgbClr val="2ED573">
              <a:alpha val="78000"/>
            </a:srgbClr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1225296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Analysis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63056" y="1801368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Explore and segment large datasets to understand inherent structure without predefined cluster assumptions.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62656"/>
            <a:ext cx="2724912" cy="1737360"/>
          </a:xfrm>
          <a:prstGeom prst="rect">
            <a:avLst/>
          </a:prstGeom>
          <a:solidFill>
            <a:srgbClr val="162040"/>
          </a:solidFill>
          <a:ln w="16510">
            <a:solidFill>
              <a:srgbClr val="FFA50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62656"/>
            <a:ext cx="2724912" cy="6400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3145536"/>
            <a:ext cx="502920" cy="502920"/>
          </a:xfrm>
          <a:prstGeom prst="ellipse">
            <a:avLst/>
          </a:prstGeom>
          <a:solidFill>
            <a:srgbClr val="FFA502">
              <a:alpha val="78000"/>
            </a:srgbClr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" y="316382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Image Processing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02336" y="3739896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Segment images by grouping pixels with similar properties; detect regions and objects by density-based clustering.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54680" y="2962656"/>
            <a:ext cx="2724912" cy="1737360"/>
          </a:xfrm>
          <a:prstGeom prst="rect">
            <a:avLst/>
          </a:prstGeom>
          <a:solidFill>
            <a:srgbClr val="162040"/>
          </a:solidFill>
          <a:ln w="16510">
            <a:solidFill>
              <a:srgbClr val="FF4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2962656"/>
            <a:ext cx="2724912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82696" y="3145536"/>
            <a:ext cx="502920" cy="502920"/>
          </a:xfrm>
          <a:prstGeom prst="ellipse">
            <a:avLst/>
          </a:prstGeom>
          <a:solidFill>
            <a:srgbClr val="FF4757">
              <a:alpha val="78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886200" y="316382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Anomaly Detection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282696" y="3739896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Points marked NOISE by DBSCAN are outliers — powerful for fraud detection and network intrusion detection.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2962656"/>
            <a:ext cx="2724912" cy="1737360"/>
          </a:xfrm>
          <a:prstGeom prst="rect">
            <a:avLst/>
          </a:prstGeom>
          <a:solidFill>
            <a:srgbClr val="162040"/>
          </a:solidFill>
          <a:ln w="16510">
            <a:solidFill>
              <a:srgbClr val="1E90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962656"/>
            <a:ext cx="2724912" cy="640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3145536"/>
            <a:ext cx="502920" cy="502920"/>
          </a:xfrm>
          <a:prstGeom prst="ellipse">
            <a:avLst/>
          </a:prstGeom>
          <a:solidFill>
            <a:srgbClr val="1E90FF">
              <a:alpha val="78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766560" y="3163824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Geospatial Analysis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163056" y="3739896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Cluster GPS/location data to identify hotspots, traffic patterns, and meaningful geographic regions of activity.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4572000" cy="64008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594360"/>
            <a:ext cx="4572000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6908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D57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069080" cy="475488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04672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408176"/>
            <a:ext cx="3904488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572768"/>
            <a:ext cx="256032" cy="25603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46304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High vs Low Density Separation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173736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11"/>
                </a:solidFill>
              </a:rPr>
              <a:t>Great at separating clusters of HIGH density versus clusters of LOW density within the same dataset.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084832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249424"/>
            <a:ext cx="256032" cy="25603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13969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Robust to Outliers / Noise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" y="241401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11"/>
                </a:solidFill>
              </a:rPr>
              <a:t>Great for handling outliers — noise points are automatically identified and excluded from clusters.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761488"/>
            <a:ext cx="3904488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926080"/>
            <a:ext cx="256032" cy="25603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81635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Arbitrary Cluster Shapes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090672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11"/>
                </a:solidFill>
              </a:rPr>
              <a:t>Unlike K-Means, DBSCAN can discover clusters of any shape — curved, ring-like, elongated.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438144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602736"/>
            <a:ext cx="256032" cy="25603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49300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No K Required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" y="376732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11"/>
                </a:solidFill>
              </a:rPr>
              <a:t>Does not require the number of clusters to be specified in advance — it is discovered from the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4114800"/>
            <a:ext cx="3904488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4279392"/>
            <a:ext cx="256032" cy="256032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6966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Varying Cluster Sizes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4672" y="444398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11"/>
                </a:solidFill>
              </a:rPr>
              <a:t>Can discover clusters of very different sizes within the same dataset without any bias toward uniformity.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804672"/>
            <a:ext cx="406908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7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804672"/>
            <a:ext cx="4069080" cy="47548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804672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Disadvantages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73752" y="1408176"/>
            <a:ext cx="3904488" cy="1408176"/>
          </a:xfrm>
          <a:prstGeom prst="rect">
            <a:avLst/>
          </a:prstGeom>
          <a:solidFill>
            <a:srgbClr val="FFF1F2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1545336"/>
            <a:ext cx="347472" cy="347472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31536" y="148132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Struggles with Similar Density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31536" y="1847088"/>
            <a:ext cx="3246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1111"/>
                </a:solidFill>
              </a:rPr>
              <a:t>DBSCAN is great at separating high vs low density clusters, but struggles significantly when clusters have SIMILAR density — it cannot distinguish between them reliably.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73752" y="2907792"/>
            <a:ext cx="3904488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01768" y="3063240"/>
            <a:ext cx="237744" cy="237744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296265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High Dimensionality Issues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349240" y="323697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1111"/>
                </a:solidFill>
              </a:rPr>
              <a:t>With too many dimensions, DBSCAN suffers — distance metrics become unreliable in high-D spaces.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73752" y="3566160"/>
            <a:ext cx="3904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01768" y="3721608"/>
            <a:ext cx="237744" cy="237744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362102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Parameter Sensitivity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349240" y="38953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1111"/>
                </a:solidFill>
              </a:rPr>
              <a:t>Results are highly sensitive to eps and minPts — poor choices lead to very poor clustering output.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73752" y="4224528"/>
            <a:ext cx="3904488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01768" y="4379976"/>
            <a:ext cx="237744" cy="237744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427939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Inertia Not Applicable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349240" y="45537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1111"/>
                </a:solidFill>
              </a:rPr>
              <a:t>Inertia (sum of squares) is NOT a good metric — DBSCAN clusters are not necessarily spherical.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DBSCAN Performance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Two metrics for evaluating clustering quality — and why one is more suitable than the other for DBSCAN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069080" cy="4005072"/>
          </a:xfrm>
          <a:prstGeom prst="rect">
            <a:avLst/>
          </a:prstGeom>
          <a:solidFill>
            <a:srgbClr val="16204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86968"/>
            <a:ext cx="4069080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86968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E"/>
                </a:solidFill>
              </a:rPr>
              <a:t>Silhouette Score  (Recommended)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3794760" cy="402336"/>
          </a:xfrm>
          <a:prstGeom prst="rect">
            <a:avLst/>
          </a:prstGeom>
          <a:solidFill>
            <a:srgbClr val="101830"/>
          </a:solidFill>
          <a:ln w="12700">
            <a:solidFill>
              <a:srgbClr val="1018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508760"/>
            <a:ext cx="1252271" cy="40233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3751" y="1508760"/>
            <a:ext cx="1290218" cy="402336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53969" y="1508760"/>
            <a:ext cx="1252271" cy="40233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4767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757"/>
                </a:solidFill>
              </a:rPr>
              <a:t>-1  Worst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88820" y="194767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A502"/>
                </a:solidFill>
              </a:rPr>
              <a:t>0  Overlap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947672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Best  +1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286000"/>
            <a:ext cx="3749040" cy="253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calculated:
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</a:t>
            </a:r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intra-cluster distance
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Mean </a:t>
            </a:r>
            <a:pPr indent="0" marL="0">
              <a:buNone/>
            </a:pPr>
            <a:r>
              <a:rPr lang="en-US" sz="12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nearest-cluster distance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-1 (worst) to +1 (best)
</a:t>
            </a:r>
            <a:pPr indent="0" marL="0">
              <a:buNone/>
            </a:pPr>
            <a:r>
              <a:rPr lang="en-US" sz="1200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0: 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clusters
</a:t>
            </a:r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0.5: 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cluster separation
</a:t>
            </a:r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metric for DBSCAN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it does not assume spherical clusters.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886968"/>
            <a:ext cx="4069080" cy="4005072"/>
          </a:xfrm>
          <a:prstGeom prst="rect">
            <a:avLst/>
          </a:prstGeom>
          <a:solidFill>
            <a:srgbClr val="162040"/>
          </a:solidFill>
          <a:ln w="19050">
            <a:solidFill>
              <a:srgbClr val="FFA50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886968"/>
            <a:ext cx="4069080" cy="47548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886968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Inertia  (NOT recommended for DBSCAN)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144475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measures:
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cluster </a:t>
            </a:r>
            <a:pPr indent="0" marL="0">
              <a:buNone/>
            </a:pPr>
            <a:r>
              <a:rPr lang="en-US" sz="12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sum of all residuals between points and cluster centres.
Lower inertia = more cohesive clusters.
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10328" y="2432304"/>
            <a:ext cx="3749040" cy="2377440"/>
          </a:xfrm>
          <a:prstGeom prst="rect">
            <a:avLst/>
          </a:prstGeom>
          <a:solidFill>
            <a:srgbClr val="101830"/>
          </a:solidFill>
          <a:ln w="19050">
            <a:solidFill>
              <a:srgbClr val="FF47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0328" y="2432304"/>
            <a:ext cx="64008" cy="23774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2487168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757"/>
                </a:solidFill>
              </a:rPr>
              <a:t>Why Inertia Fails for DBSCAN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84064" y="2871216"/>
            <a:ext cx="34930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assumes clusters are convex (spherical).
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discovers arbitrarily shaped clusters — they are NOT necessarily spherical.
</a:t>
            </a:r>
            <a:pPr indent="0" marL="0">
              <a:buNone/>
            </a:pPr>
            <a:r>
              <a:rPr lang="en-US" sz="115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inertia is NOT appropriate for evaluating DBSCAN models.
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is more often used with K-Means clustering.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01830"/>
          </a:solidFill>
          <a:ln w="12700">
            <a:solidFill>
              <a:srgbClr val="101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82296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713232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90688" y="93268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111556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1261872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4032" y="1170432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68312" y="603504"/>
            <a:ext cx="950976" cy="950976"/>
          </a:xfrm>
          <a:prstGeom prst="ellipse">
            <a:avLst/>
          </a:prstGeom>
          <a:solidFill>
            <a:srgbClr val="00D4FF">
              <a:alpha val="12000"/>
            </a:srgbClr>
          </a:solidFill>
          <a:ln w="19050">
            <a:solidFill>
              <a:srgbClr val="00D4F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269480" y="2651760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07808" y="2487168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45552" y="2724912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79792" y="2907792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3090672"/>
            <a:ext cx="182880" cy="18288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6328" y="2441448"/>
            <a:ext cx="877824" cy="877824"/>
          </a:xfrm>
          <a:prstGeom prst="ellipse">
            <a:avLst/>
          </a:prstGeom>
          <a:solidFill>
            <a:srgbClr val="2ED573">
              <a:alpha val="12000"/>
            </a:srgbClr>
          </a:solidFill>
          <a:ln w="19050">
            <a:solidFill>
              <a:srgbClr val="2ED57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863840" y="4114800"/>
            <a:ext cx="201168" cy="201168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434340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757"/>
                </a:solidFill>
              </a:rPr>
              <a:t>Noise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6459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411480" y="960120"/>
            <a:ext cx="6217920" cy="676656"/>
          </a:xfrm>
          <a:prstGeom prst="rect">
            <a:avLst/>
          </a:prstGeom>
          <a:solidFill>
            <a:srgbClr val="1620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01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70432" y="1078992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DBSCAN separates high-density clusters from low-density regions without requiring the number of clusters K in advance.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" y="1755648"/>
            <a:ext cx="6217920" cy="676656"/>
          </a:xfrm>
          <a:prstGeom prst="rect">
            <a:avLst/>
          </a:prstGeom>
          <a:solidFill>
            <a:srgbClr val="162040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02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70432" y="1874520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Two parameters define DBSCAN: eps (neighbourhood radius) and minPts (minimum neighbours to form a cluster).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11480" y="2551176"/>
            <a:ext cx="6217920" cy="676656"/>
          </a:xfrm>
          <a:prstGeom prst="rect">
            <a:avLst/>
          </a:prstGeom>
          <a:solidFill>
            <a:srgbClr val="162040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03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70432" y="2670048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Points are classified as Core (dense interior), Border (edge of cluster), or Outlier (noise — not reachable from any core).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11480" y="3346704"/>
            <a:ext cx="6217920" cy="676656"/>
          </a:xfrm>
          <a:prstGeom prst="rect">
            <a:avLst/>
          </a:prstGeom>
          <a:solidFill>
            <a:srgbClr val="162040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04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70432" y="3465576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Density Connectivity uses transitivity chaining (p→r→s→q) enabling DBSCAN to discover arbitrarily shaped clusters.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11480" y="4142232"/>
            <a:ext cx="6217920" cy="676656"/>
          </a:xfrm>
          <a:prstGeom prst="rect">
            <a:avLst/>
          </a:prstGeom>
          <a:solidFill>
            <a:srgbClr val="16204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05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70432" y="4261104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Use Silhouette Score to evaluate DBSCAN — not Inertia, which assumes spherical clusters incompatible with DBSCAN.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DBSCAN – Density-Based Spatial Clustering of Applications with Noise</dc:title>
  <dc:subject>PptxGenJS Presentation</dc:subject>
  <dc:creator>PptxGenJS</dc:creator>
  <cp:lastModifiedBy>PptxGenJS</cp:lastModifiedBy>
  <cp:revision>1</cp:revision>
  <dcterms:created xsi:type="dcterms:W3CDTF">2026-04-06T05:53:49Z</dcterms:created>
  <dcterms:modified xsi:type="dcterms:W3CDTF">2026-04-06T05:53:49Z</dcterms:modified>
</cp:coreProperties>
</file>