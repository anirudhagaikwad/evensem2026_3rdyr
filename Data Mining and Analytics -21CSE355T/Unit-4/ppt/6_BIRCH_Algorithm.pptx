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640080"/>
            <a:ext cx="1188720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640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CF Root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205472" y="1051560"/>
            <a:ext cx="-658368" cy="36576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1051560"/>
            <a:ext cx="658368" cy="36576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417320"/>
            <a:ext cx="822960" cy="347472"/>
          </a:xfrm>
          <a:prstGeom prst="rect">
            <a:avLst/>
          </a:prstGeom>
          <a:solidFill>
            <a:srgbClr val="0097A7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417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CF Node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82128" y="1417320"/>
            <a:ext cx="822960" cy="347472"/>
          </a:xfrm>
          <a:prstGeom prst="rect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82128" y="1417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CF Node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28232" y="1764792"/>
            <a:ext cx="0" cy="155448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8192" y="1920240"/>
            <a:ext cx="704088" cy="310896"/>
          </a:xfrm>
          <a:prstGeom prst="rect">
            <a:avLst/>
          </a:prstGeom>
          <a:solidFill>
            <a:srgbClr val="1DE9B6">
              <a:alpha val="65000"/>
            </a:srgbClr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9202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0" y="1764792"/>
            <a:ext cx="0" cy="155448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920240"/>
            <a:ext cx="704088" cy="310896"/>
          </a:xfrm>
          <a:prstGeom prst="rect">
            <a:avLst/>
          </a:prstGeom>
          <a:solidFill>
            <a:srgbClr val="1DE9B6">
              <a:alpha val="65000"/>
            </a:srgbClr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9202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01000" y="1764792"/>
            <a:ext cx="0" cy="155448"/>
          </a:xfrm>
          <a:prstGeom prst="line">
            <a:avLst/>
          </a:prstGeom>
          <a:noFill/>
          <a:ln w="12700">
            <a:solidFill>
              <a:srgbClr val="76FF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1920240"/>
            <a:ext cx="704088" cy="310896"/>
          </a:xfrm>
          <a:prstGeom prst="rect">
            <a:avLst/>
          </a:prstGeom>
          <a:solidFill>
            <a:srgbClr val="76FF03">
              <a:alpha val="65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9202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430768" y="1764792"/>
            <a:ext cx="0" cy="155448"/>
          </a:xfrm>
          <a:prstGeom prst="line">
            <a:avLst/>
          </a:prstGeom>
          <a:noFill/>
          <a:ln w="12700">
            <a:solidFill>
              <a:srgbClr val="76FF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0728" y="1920240"/>
            <a:ext cx="704088" cy="310896"/>
          </a:xfrm>
          <a:prstGeom prst="rect">
            <a:avLst/>
          </a:prstGeom>
          <a:solidFill>
            <a:srgbClr val="76FF03">
              <a:alpha val="65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0728" y="19202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99632" y="2331720"/>
            <a:ext cx="109728" cy="109728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331720"/>
            <a:ext cx="109728" cy="109728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2331720"/>
            <a:ext cx="109728" cy="109728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28816" y="2331720"/>
            <a:ext cx="109728" cy="109728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2331720"/>
            <a:ext cx="109728" cy="109728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39128" y="2331720"/>
            <a:ext cx="109728" cy="109728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48856" y="2331720"/>
            <a:ext cx="109728" cy="109728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2331720"/>
            <a:ext cx="109728" cy="109728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2331720"/>
            <a:ext cx="109728" cy="109728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91856" y="2331720"/>
            <a:ext cx="109728" cy="109728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02168" y="2331720"/>
            <a:ext cx="109728" cy="109728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1896" y="2331720"/>
            <a:ext cx="109728" cy="109728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21624" y="2331720"/>
            <a:ext cx="109728" cy="109728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31352" y="2331720"/>
            <a:ext cx="109728" cy="109728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788920"/>
            <a:ext cx="2468880" cy="566928"/>
          </a:xfrm>
          <a:prstGeom prst="rect">
            <a:avLst/>
          </a:prstGeom>
          <a:solidFill>
            <a:srgbClr val="1C24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2834640"/>
            <a:ext cx="2432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Entry = (N, LS, SS)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3054096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N=count  LS=linear sum  SS=sq sum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26480" y="3493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E9B6"/>
                </a:solidFill>
              </a:rPr>
              <a:t>Single Scan · Incremental · Scalable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38221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00"/>
                </a:solidFill>
              </a:rPr>
              <a:t>SIGMOD 2006 Test of Time Award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566928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00BCD4">
              <a:alpha val="7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566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MINING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10058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7200" dirty="0"/>
          </a:p>
        </p:txBody>
      </p:sp>
      <p:sp>
        <p:nvSpPr>
          <p:cNvPr id="46" name="Text 44"/>
          <p:cNvSpPr/>
          <p:nvPr/>
        </p:nvSpPr>
        <p:spPr>
          <a:xfrm>
            <a:off x="457200" y="192024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Iterative Reducing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57200" y="23042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6FF0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Clustering Using Hierarchies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57200" y="28803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unsupervised data mining algorithm for hierarchical clustering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 particularly large datasets — using compact CF-Tree summaries.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3730752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730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CF-Tree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121408" y="3730752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76FF03">
              <a:alpha val="7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21408" y="3730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One Scan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785616" y="3730752"/>
            <a:ext cx="1508760" cy="320040"/>
          </a:xfrm>
          <a:prstGeom prst="roundRect">
            <a:avLst>
              <a:gd name="adj" fmla="val 28571"/>
            </a:avLst>
          </a:prstGeom>
          <a:solidFill>
            <a:srgbClr val="FFB300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85616" y="3730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Memory Efficient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C2430"/>
          </a:solidFill>
          <a:ln w="12700">
            <a:solidFill>
              <a:srgbClr val="1C24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736592"/>
            <a:ext cx="64008" cy="4069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Hierarchical Clustering  •  CF-Tree  •  Incremental  •  Noise Handling  •  Large Datasets  •  SIGMOD Award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BIRCH?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1024128"/>
          </a:xfrm>
          <a:prstGeom prst="rect">
            <a:avLst/>
          </a:prstGeom>
          <a:solidFill>
            <a:srgbClr val="0D1117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10241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818388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F7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"BIRCH is an unsupervised data mining algorithm used to perform hierarchical clustering over particularly large datasets. With modifications, it can also be used to accelerate k-means clustering and Gaussian mixture modeling. BIRCH received the SIGMOD 10 Year Test of Time Award in 2006."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8503920" cy="457200"/>
          </a:xfrm>
          <a:prstGeom prst="rect">
            <a:avLst/>
          </a:prstGeom>
          <a:solidFill>
            <a:srgbClr val="1C24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CD4"/>
                </a:solidFill>
              </a:rPr>
              <a:t>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Balanced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04288" y="20116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E9B6"/>
                </a:solidFill>
              </a:rPr>
              <a:t>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24328" y="2011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Iterative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68496" y="20116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FF03"/>
                </a:solidFill>
              </a:rPr>
              <a:t>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88536" y="2011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Reducing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32704" y="20116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</a:rPr>
              <a:t>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52744" y="2011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Clustering Using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96912" y="20116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252"/>
                </a:solidFill>
              </a:rPr>
              <a:t>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16952" y="2011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Hierarchies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633472"/>
            <a:ext cx="40690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33472"/>
            <a:ext cx="64008" cy="10972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944368"/>
            <a:ext cx="457200" cy="457200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69848" y="2724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</a:rPr>
              <a:t>Compact Summaries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69848" y="306324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344"/>
                </a:solidFill>
              </a:rPr>
              <a:t>Creates smaller, dense summary representations of large datasets that retain as much information as possible.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633472"/>
            <a:ext cx="40690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E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633472"/>
            <a:ext cx="64008" cy="1097280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2944368"/>
            <a:ext cx="457200" cy="457200"/>
          </a:xfrm>
          <a:prstGeom prst="ellipse">
            <a:avLst/>
          </a:prstGeom>
          <a:solidFill>
            <a:srgbClr val="1DE9B6">
              <a:alpha val="80000"/>
            </a:srgbClr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21808" y="2724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</a:rPr>
              <a:t>Incremental &amp; Dynamic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321808" y="306324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344"/>
                </a:solidFill>
              </a:rPr>
              <a:t>Clusters incoming multi-dimensional data incrementally — no need to re-process entire dataset for new data.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867912"/>
            <a:ext cx="40690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6FF0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867912"/>
            <a:ext cx="64008" cy="1097280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4178808"/>
            <a:ext cx="457200" cy="457200"/>
          </a:xfrm>
          <a:prstGeom prst="ellipse">
            <a:avLst/>
          </a:prstGeom>
          <a:solidFill>
            <a:srgbClr val="76FF03">
              <a:alpha val="8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69848" y="39593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</a:rPr>
              <a:t>Memory Efficient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69848" y="429768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344"/>
                </a:solidFill>
              </a:rPr>
              <a:t>Minimizes memory requirements by summarizing dense regions as CF entries rather than storing all raw data.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3867912"/>
            <a:ext cx="40690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3867912"/>
            <a:ext cx="64008" cy="10972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4178808"/>
            <a:ext cx="457200" cy="457200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321808" y="39593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</a:rPr>
              <a:t>Single Database Scan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321808" y="429768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344"/>
                </a:solidFill>
              </a:rPr>
              <a:t>In most cases BIRCH only requires one scan of the database — dramatically reducing I/O and processing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Clustering Feature (CF) Entry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The fundamental building block of BIRCH — a compact statistical summary of a cluster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04672"/>
          </a:xfrm>
          <a:prstGeom prst="rect">
            <a:avLst/>
          </a:prstGeom>
          <a:solidFill>
            <a:srgbClr val="1C2430"/>
          </a:solidFill>
          <a:ln w="19050">
            <a:solidFill>
              <a:srgbClr val="1DE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Entry  =  (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31720" y="104241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0" y="1042416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1042416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1042416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0" y="1042416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06240" y="1042416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</a:rPr>
              <a:t>ordered triple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1887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E9B6"/>
                </a:solidFill>
              </a:rPr>
              <a:t>★  A CF entry can be composed of other CF entries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2743200" cy="2880360"/>
          </a:xfrm>
          <a:prstGeom prst="rect">
            <a:avLst/>
          </a:prstGeom>
          <a:solidFill>
            <a:srgbClr val="1C2430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9888" y="2084832"/>
            <a:ext cx="512064" cy="51206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26883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Number of Data Points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The count of data points contained within this cluster or sub-cluster.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2560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count of all points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04164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If 45 data points are in this leaf cluster, N = 45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82112" y="1965960"/>
            <a:ext cx="2743200" cy="2880360"/>
          </a:xfrm>
          <a:prstGeom prst="rect">
            <a:avLst/>
          </a:prstGeom>
          <a:solidFill>
            <a:srgbClr val="1C2430"/>
          </a:solidFill>
          <a:ln w="19050">
            <a:solidFill>
              <a:srgbClr val="76FF0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2084832"/>
            <a:ext cx="512064" cy="512064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73552" y="26883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Linear Sum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73552" y="30906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The vector sum of all data points in the cluster — used to compute the centroid.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73552" y="3712464"/>
            <a:ext cx="2560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FF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= Σ xᵢ  (for i = 1 to 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73552" y="404164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Sum of all coordinate values across all N points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9904" y="1965960"/>
            <a:ext cx="2743200" cy="2880360"/>
          </a:xfrm>
          <a:prstGeom prst="rect">
            <a:avLst/>
          </a:prstGeom>
          <a:solidFill>
            <a:srgbClr val="1C2430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2084832"/>
            <a:ext cx="512064" cy="51206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81344" y="26883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Sum of Squares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81344" y="30906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The squared sum of all data points — used to compute variance and radius.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81344" y="3712464"/>
            <a:ext cx="25603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= Σ xᵢ²  (for i = 1 to N)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81344" y="4041648"/>
            <a:ext cx="2560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Sum of squared distances — note: prone to catastrophic cancellation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CF-Tree Structure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713232"/>
          </a:xfrm>
          <a:prstGeom prst="rect">
            <a:avLst/>
          </a:prstGeom>
          <a:solidFill>
            <a:srgbClr val="0D1117"/>
          </a:solidFill>
          <a:ln w="19050">
            <a:solidFill>
              <a:srgbClr val="76FF0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64008" cy="713232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68680"/>
            <a:ext cx="8183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CF-Tree is the compact representation of the entire dataset. Each leaf node contains a sub-cluster. Every entry in a CF-Tree contains a pointer to a child node and a CF entry — the sum of CF entries in its child nodes. A maximum number of entries per leaf is called the Threshold.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114800" cy="3246120"/>
          </a:xfrm>
          <a:prstGeom prst="rect">
            <a:avLst/>
          </a:prstGeom>
          <a:solidFill>
            <a:srgbClr val="0D1117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FF03"/>
                </a:solidFill>
              </a:rPr>
              <a:t>CF-Tree Diagram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2121408"/>
            <a:ext cx="105156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12140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Root  (B entries)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38528" y="2505456"/>
            <a:ext cx="-749808" cy="365760"/>
          </a:xfrm>
          <a:prstGeom prst="line">
            <a:avLst/>
          </a:prstGeom>
          <a:noFill/>
          <a:ln w="15240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2505456"/>
            <a:ext cx="749808" cy="365760"/>
          </a:xfrm>
          <a:prstGeom prst="line">
            <a:avLst/>
          </a:prstGeom>
          <a:noFill/>
          <a:ln w="1524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71216"/>
            <a:ext cx="960120" cy="420624"/>
          </a:xfrm>
          <a:prstGeom prst="rect">
            <a:avLst/>
          </a:prstGeom>
          <a:solidFill>
            <a:srgbClr val="00BCD4">
              <a:alpha val="6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7121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Non-Leaf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(B entries)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2871216"/>
            <a:ext cx="960120" cy="420624"/>
          </a:xfrm>
          <a:prstGeom prst="rect">
            <a:avLst/>
          </a:prstGeom>
          <a:solidFill>
            <a:srgbClr val="00BCD4">
              <a:alpha val="6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287121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Non-Leaf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(B entries)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89888" y="3291840"/>
            <a:ext cx="-530352" cy="164592"/>
          </a:xfrm>
          <a:prstGeom prst="line">
            <a:avLst/>
          </a:prstGeom>
          <a:noFill/>
          <a:ln w="10160">
            <a:solidFill>
              <a:srgbClr val="76FF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456432"/>
            <a:ext cx="640080" cy="320040"/>
          </a:xfrm>
          <a:prstGeom prst="rect">
            <a:avLst/>
          </a:prstGeom>
          <a:solidFill>
            <a:srgbClr val="76FF03">
              <a:alpha val="6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56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89888" y="3291840"/>
            <a:ext cx="-109728" cy="164592"/>
          </a:xfrm>
          <a:prstGeom prst="line">
            <a:avLst/>
          </a:prstGeom>
          <a:noFill/>
          <a:ln w="10160">
            <a:solidFill>
              <a:srgbClr val="76FF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456432"/>
            <a:ext cx="640080" cy="320040"/>
          </a:xfrm>
          <a:prstGeom prst="rect">
            <a:avLst/>
          </a:prstGeom>
          <a:solidFill>
            <a:srgbClr val="76FF03">
              <a:alpha val="6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456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89888" y="3291840"/>
            <a:ext cx="347472" cy="164592"/>
          </a:xfrm>
          <a:prstGeom prst="line">
            <a:avLst/>
          </a:prstGeom>
          <a:noFill/>
          <a:ln w="10160">
            <a:solidFill>
              <a:srgbClr val="1DE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1872" y="3456432"/>
            <a:ext cx="640080" cy="320040"/>
          </a:xfrm>
          <a:prstGeom prst="rect">
            <a:avLst/>
          </a:prstGeom>
          <a:solidFill>
            <a:srgbClr val="1DE9B6">
              <a:alpha val="60000"/>
            </a:srgbClr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3456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054096" y="3291840"/>
            <a:ext cx="-365760" cy="164592"/>
          </a:xfrm>
          <a:prstGeom prst="line">
            <a:avLst/>
          </a:prstGeom>
          <a:noFill/>
          <a:ln w="1016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12848" y="3456432"/>
            <a:ext cx="640080" cy="320040"/>
          </a:xfrm>
          <a:prstGeom prst="rect">
            <a:avLst/>
          </a:prstGeom>
          <a:solidFill>
            <a:srgbClr val="FFB300">
              <a:alpha val="6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3456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54096" y="3291840"/>
            <a:ext cx="91440" cy="164592"/>
          </a:xfrm>
          <a:prstGeom prst="line">
            <a:avLst/>
          </a:prstGeom>
          <a:noFill/>
          <a:ln w="1016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70048" y="3456432"/>
            <a:ext cx="640080" cy="320040"/>
          </a:xfrm>
          <a:prstGeom prst="rect">
            <a:avLst/>
          </a:prstGeom>
          <a:solidFill>
            <a:srgbClr val="FFB300">
              <a:alpha val="6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0048" y="3456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" y="3886200"/>
            <a:ext cx="100584" cy="100584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886200"/>
            <a:ext cx="100584" cy="100584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3886200"/>
            <a:ext cx="100584" cy="100584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968" y="3886200"/>
            <a:ext cx="100584" cy="100584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3886200"/>
            <a:ext cx="100584" cy="100584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4712" y="3886200"/>
            <a:ext cx="100584" cy="100584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3312" y="3886200"/>
            <a:ext cx="100584" cy="100584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72184" y="3886200"/>
            <a:ext cx="100584" cy="100584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91056" y="3886200"/>
            <a:ext cx="100584" cy="100584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0" y="3886200"/>
            <a:ext cx="100584" cy="10058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04872" y="3886200"/>
            <a:ext cx="100584" cy="10058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23744" y="3886200"/>
            <a:ext cx="100584" cy="10058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0" y="3886200"/>
            <a:ext cx="100584" cy="10058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62072" y="3886200"/>
            <a:ext cx="100584" cy="10058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80944" y="3886200"/>
            <a:ext cx="100584" cy="10058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114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← Data points in each leaf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4048" y="3749040"/>
            <a:ext cx="297180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384048" y="43159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E9B6"/>
                </a:solidFill>
              </a:rPr>
              <a:t>prev ← → next  (leaf chain for efficient scan)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45152" y="1664208"/>
            <a:ext cx="4178808" cy="67665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45152" y="1664208"/>
            <a:ext cx="64008" cy="6766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1828800"/>
            <a:ext cx="347472" cy="347472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🌳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212080" y="1737360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Branching Factor B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212080" y="202996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Each non-leaf node contains at most B entries. Controls tree width and depth — higher B = wider, shallower tree.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45152" y="2450592"/>
            <a:ext cx="4178808" cy="676656"/>
          </a:xfrm>
          <a:prstGeom prst="rect">
            <a:avLst/>
          </a:prstGeom>
          <a:solidFill>
            <a:srgbClr val="FFFFFF"/>
          </a:solidFill>
          <a:ln w="17780">
            <a:solidFill>
              <a:srgbClr val="76FF0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45152" y="2450592"/>
            <a:ext cx="64008" cy="676656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2615184"/>
            <a:ext cx="347472" cy="347472"/>
          </a:xfrm>
          <a:prstGeom prst="ellipse">
            <a:avLst/>
          </a:prstGeom>
          <a:solidFill>
            <a:srgbClr val="76FF03">
              <a:alpha val="8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212080" y="252374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Threshold T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5212080" y="2816352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Maximum diameter of sub-clusters in leaf nodes. Each leaf entry must satisfy: diameter &lt; Threshold. Controls leaf node size.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645152" y="3236976"/>
            <a:ext cx="4178808" cy="676656"/>
          </a:xfrm>
          <a:prstGeom prst="rect">
            <a:avLst/>
          </a:prstGeom>
          <a:solidFill>
            <a:srgbClr val="FFFFFF"/>
          </a:solidFill>
          <a:ln w="1778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45152" y="3236976"/>
            <a:ext cx="64008" cy="67665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3401568"/>
            <a:ext cx="347472" cy="347472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212080" y="331012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Leaf Chaining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5212080" y="3602736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Every leaf node has prev and next pointers, chaining all leaf nodes together for efficient linear scans.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645152" y="4023360"/>
            <a:ext cx="4178808" cy="676656"/>
          </a:xfrm>
          <a:prstGeom prst="rect">
            <a:avLst/>
          </a:prstGeom>
          <a:solidFill>
            <a:srgbClr val="FFFFFF"/>
          </a:solidFill>
          <a:ln w="17780">
            <a:solidFill>
              <a:srgbClr val="7C4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45152" y="4023360"/>
            <a:ext cx="64008" cy="676656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4880" y="4187952"/>
            <a:ext cx="347472" cy="347472"/>
          </a:xfrm>
          <a:prstGeom prst="ellipse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♻️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212080" y="4096512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Composable CFs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5212080" y="4389120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A CF entry in a non-leaf node equals the sum of CFs in its children — enabling hierarchical aggregation.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 of the BIRCH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41648"/>
          </a:xfrm>
          <a:prstGeom prst="rect">
            <a:avLst/>
          </a:prstGeom>
          <a:solidFill>
            <a:srgbClr val="1C2430"/>
          </a:solidFill>
          <a:ln w="2286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937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</a:rPr>
              <a:t>Stage 1 — Building the CF-Tree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7472" y="1444752"/>
            <a:ext cx="385876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54480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499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Scan Dataset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Load data points one at a time — BIRCH typically requires only a single pass through the entire database.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212848"/>
            <a:ext cx="3858768" cy="658368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322576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267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Insert into CF-Tree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For each point, find the closest leaf entry. If within Threshold, absorb it into the sub-cluster — update N, LS, 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980944"/>
            <a:ext cx="385876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09067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Threshold Check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328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If adding a point violates the Threshold, create a new leaf entry. If the tree is too large, increase Threshold and rebuild.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3749040"/>
            <a:ext cx="3858768" cy="658368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858768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803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Condense (Optional)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0965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Optionally condense the initial CF-Tree into a smaller, more compact CF-Tree using a higher threshold for efficiency.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07408" y="2542032"/>
            <a:ext cx="329184" cy="32918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28032" y="822960"/>
            <a:ext cx="4023360" cy="4041648"/>
          </a:xfrm>
          <a:prstGeom prst="rect">
            <a:avLst/>
          </a:prstGeom>
          <a:solidFill>
            <a:srgbClr val="1C2430"/>
          </a:solidFill>
          <a:ln w="2286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822960"/>
            <a:ext cx="4023360" cy="49377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822960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</a:rPr>
              <a:t>Stage 2 — Global Clustering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901184" y="1444752"/>
            <a:ext cx="385876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A2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1554480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</a:rPr>
              <a:t>①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76672" y="1499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Extract Leaf Entries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376672" y="1792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Collect all leaf entries (sub-clusters) from the CF-Tree — these are the compact summaries used for final clustering.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01184" y="2212848"/>
            <a:ext cx="3858768" cy="658368"/>
          </a:xfrm>
          <a:prstGeom prst="rect">
            <a:avLst/>
          </a:prstGeom>
          <a:solidFill>
            <a:srgbClr val="1C2430"/>
          </a:solidFill>
          <a:ln w="12700">
            <a:solidFill>
              <a:srgbClr val="3A2A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2322576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</a:rPr>
              <a:t>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76672" y="2267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Apply Clustering Algorithm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76672" y="25603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Run an existing clustering algorithm (K-Means, Agglomerative, etc.) on the leaf sub-clusters — not the raw data.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01184" y="2980944"/>
            <a:ext cx="385876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A2A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309067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</a:rPr>
              <a:t>③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76672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Refine (Optional)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376672" y="3328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Optionally refine the final clusters by redistributing data points to their true nearest cluster centroid.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01184" y="3749040"/>
            <a:ext cx="3858768" cy="658368"/>
          </a:xfrm>
          <a:prstGeom prst="rect">
            <a:avLst/>
          </a:prstGeom>
          <a:solidFill>
            <a:srgbClr val="1C2430"/>
          </a:solidFill>
          <a:ln w="12700">
            <a:solidFill>
              <a:srgbClr val="3A2A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3858768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</a:rPr>
              <a:t>④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76672" y="3803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Output Clusters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376672" y="40965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Return the final cluster assignments. Each original data point is mapped to the cluster of its nearest leaf sub-cluster.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 &amp; Significance of CF in BIRCH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804672"/>
          </a:xfrm>
          <a:prstGeom prst="rect">
            <a:avLst/>
          </a:prstGeom>
          <a:solidFill>
            <a:srgbClr val="0D1117"/>
          </a:solidFill>
          <a:ln w="19050">
            <a:solidFill>
              <a:srgbClr val="7C4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64008" cy="80467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68680"/>
            <a:ext cx="8183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idea: BIRCH minimizes memory requirements by summarizing dense regions as CF entries. The CF-tree is a very compact representation because each leaf entry is not a single data point but a sub-cluster. Only metric attributes can be used (no categorical attributes).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4114800" cy="3310128"/>
          </a:xfrm>
          <a:prstGeom prst="rect">
            <a:avLst/>
          </a:prstGeom>
          <a:solidFill>
            <a:srgbClr val="0D1117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</a:rPr>
              <a:t>From Large Data to Compact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Raw Dataset (large)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2542032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2542032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0744" y="2542032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2542032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2542032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798064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2798064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8136" y="2798064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0744" y="2798064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3352" y="2798064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5960" y="2798064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054096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3054096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8136" y="3054096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0744" y="3054096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73352" y="3054096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65960" y="3054096"/>
            <a:ext cx="128016" cy="12801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12848" y="2999232"/>
            <a:ext cx="329184" cy="32918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1284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697480" y="21945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E9B6"/>
                </a:solidFill>
              </a:rPr>
              <a:t>CF-Tree (compact)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2542032"/>
            <a:ext cx="365760" cy="256032"/>
          </a:xfrm>
          <a:prstGeom prst="rect">
            <a:avLst/>
          </a:prstGeom>
          <a:solidFill>
            <a:srgbClr val="1DE9B6">
              <a:alpha val="70000"/>
            </a:srgbClr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2542032"/>
            <a:ext cx="365760" cy="256032"/>
          </a:xfrm>
          <a:prstGeom prst="rect">
            <a:avLst/>
          </a:prstGeom>
          <a:solidFill>
            <a:srgbClr val="76FF03">
              <a:alpha val="7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2542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34640" y="2852928"/>
            <a:ext cx="365760" cy="256032"/>
          </a:xfrm>
          <a:prstGeom prst="rect">
            <a:avLst/>
          </a:prstGeom>
          <a:solidFill>
            <a:srgbClr val="FFB300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0" y="28529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2852928"/>
            <a:ext cx="365760" cy="256032"/>
          </a:xfrm>
          <a:prstGeom prst="rect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28529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CF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2552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18 raw points → 4 CF summaries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</a:rPr>
              <a:t>Statistics Used by BIRCH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4005072"/>
            <a:ext cx="146304" cy="14630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9776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Number of Points: 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755648" y="3977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Simple count N — trivially updated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4297680"/>
            <a:ext cx="146304" cy="146304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2702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FF03"/>
                </a:solidFill>
              </a:rPr>
              <a:t>Linear Sums: 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755648" y="427024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Sum of coordinates — gives centroid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" y="4590288"/>
            <a:ext cx="146304" cy="14630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5628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</a:rPr>
              <a:t>Sum of Squares: 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755648" y="456285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Squared distances — gives variance (note: prone to catastrophic cancellation)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663440" y="1783080"/>
            <a:ext cx="4160520" cy="566928"/>
          </a:xfrm>
          <a:prstGeom prst="rect">
            <a:avLst/>
          </a:prstGeom>
          <a:solidFill>
            <a:srgbClr val="FFFFFF"/>
          </a:solidFill>
          <a:ln w="17780">
            <a:solidFill>
              <a:srgbClr val="00BC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1783080"/>
            <a:ext cx="64008" cy="5669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1920240"/>
            <a:ext cx="310896" cy="310896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CD4"/>
                </a:solidFill>
              </a:rPr>
              <a:t>◉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66360" y="1837944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Leaf Entries = Sub-Clusters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166360" y="2093976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Not single points — each leaf entry holds a sub-cluster's summary. The entire leaf is more compact.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63440" y="2441448"/>
            <a:ext cx="4160520" cy="566928"/>
          </a:xfrm>
          <a:prstGeom prst="rect">
            <a:avLst/>
          </a:prstGeom>
          <a:solidFill>
            <a:srgbClr val="FFFFFF"/>
          </a:solidFill>
          <a:ln w="17780">
            <a:solidFill>
              <a:srgbClr val="76FF0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63440" y="2441448"/>
            <a:ext cx="64008" cy="566928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2578608"/>
            <a:ext cx="310896" cy="310896"/>
          </a:xfrm>
          <a:prstGeom prst="ellipse">
            <a:avLst/>
          </a:prstGeom>
          <a:solidFill>
            <a:srgbClr val="76FF03">
              <a:alpha val="8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FF03"/>
                </a:solidFill>
              </a:rPr>
              <a:t>◉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166360" y="2496312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Non-Leaf = Aggregated CF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166360" y="2752344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Each non-leaf node entry = sum of CFs in child nodes. Naturally hierarchical aggregation.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663440" y="3099816"/>
            <a:ext cx="4160520" cy="566928"/>
          </a:xfrm>
          <a:prstGeom prst="rect">
            <a:avLst/>
          </a:prstGeom>
          <a:solidFill>
            <a:srgbClr val="FFFFFF"/>
          </a:solidFill>
          <a:ln w="17780">
            <a:solidFill>
              <a:srgbClr val="FFB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63440" y="3099816"/>
            <a:ext cx="64008" cy="5669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3236976"/>
            <a:ext cx="310896" cy="310896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</a:rPr>
              <a:t>◉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166360" y="3154680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Max B Entries per Non-Leaf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166360" y="3410712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Each non-leaf node has at most B entries, controlling branching factor and tree depth.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663440" y="3758184"/>
            <a:ext cx="4160520" cy="566928"/>
          </a:xfrm>
          <a:prstGeom prst="rect">
            <a:avLst/>
          </a:prstGeom>
          <a:solidFill>
            <a:srgbClr val="FFFFFF"/>
          </a:solidFill>
          <a:ln w="17780">
            <a:solidFill>
              <a:srgbClr val="1DE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63440" y="3758184"/>
            <a:ext cx="64008" cy="566928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4880" y="3895344"/>
            <a:ext cx="310896" cy="310896"/>
          </a:xfrm>
          <a:prstGeom prst="ellipse">
            <a:avLst/>
          </a:prstGeom>
          <a:solidFill>
            <a:srgbClr val="1DE9B6">
              <a:alpha val="80000"/>
            </a:srgbClr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E9B6"/>
                </a:solidFill>
              </a:rPr>
              <a:t>◉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166360" y="3813048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Max L Entries per Leaf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166360" y="4069080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Each leaf node has at most L entries, each satisfying: diameter &lt; Threshold.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663440" y="4416552"/>
            <a:ext cx="4160520" cy="566928"/>
          </a:xfrm>
          <a:prstGeom prst="rect">
            <a:avLst/>
          </a:prstGeom>
          <a:solidFill>
            <a:srgbClr val="FFFFFF"/>
          </a:solidFill>
          <a:ln w="17780">
            <a:solidFill>
              <a:srgbClr val="7C4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663440" y="4416552"/>
            <a:ext cx="64008" cy="56692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0" y="4553712"/>
            <a:ext cx="310896" cy="310896"/>
          </a:xfrm>
          <a:prstGeom prst="ellipse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4DFF"/>
                </a:solidFill>
              </a:rPr>
              <a:t>◉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166360" y="4471416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Metric Attributes Only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166360" y="472744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44"/>
                </a:solidFill>
              </a:rPr>
              <a:t>BIRCH can only process metric attributes whose values can be represented in Euclidean space.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BIRCH Used?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Real-world applications and scenarios where BIRCH excels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724912" cy="1737360"/>
          </a:xfrm>
          <a:prstGeom prst="rect">
            <a:avLst/>
          </a:prstGeom>
          <a:solidFill>
            <a:srgbClr val="1C2430"/>
          </a:solidFill>
          <a:ln w="1651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2724912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1207008"/>
            <a:ext cx="502920" cy="502920"/>
          </a:xfrm>
          <a:prstGeom prst="ellipse">
            <a:avLst/>
          </a:prstGeom>
          <a:solidFill>
            <a:srgbClr val="00BCD4">
              <a:alpha val="7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96696" y="1207008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Massive Database Clustering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810512"/>
            <a:ext cx="24871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Primary use case — when dataset is colossal and cannot fit in memory. BIRCH's one-scan approach makes it practical.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24128"/>
            <a:ext cx="2724912" cy="1737360"/>
          </a:xfrm>
          <a:prstGeom prst="rect">
            <a:avLst/>
          </a:prstGeom>
          <a:solidFill>
            <a:srgbClr val="1C2430"/>
          </a:solidFill>
          <a:ln w="16510">
            <a:solidFill>
              <a:srgbClr val="1DE9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024128"/>
            <a:ext cx="2724912" cy="64008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2696" y="1207008"/>
            <a:ext cx="502920" cy="502920"/>
          </a:xfrm>
          <a:prstGeom prst="ellipse">
            <a:avLst/>
          </a:prstGeom>
          <a:solidFill>
            <a:srgbClr val="1DE9B6">
              <a:alpha val="78000"/>
            </a:srgbClr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77056" y="1207008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K-Means Acceleration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82696" y="1810512"/>
            <a:ext cx="24871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BIRCH pre-summarizes data into CF entries, then K-Means runs on those compact summaries rather than raw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24128"/>
            <a:ext cx="2724912" cy="1737360"/>
          </a:xfrm>
          <a:prstGeom prst="rect">
            <a:avLst/>
          </a:prstGeom>
          <a:solidFill>
            <a:srgbClr val="1C2430"/>
          </a:solidFill>
          <a:ln w="16510">
            <a:solidFill>
              <a:srgbClr val="76FF0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24128"/>
            <a:ext cx="2724912" cy="64008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207008"/>
            <a:ext cx="502920" cy="502920"/>
          </a:xfrm>
          <a:prstGeom prst="ellipse">
            <a:avLst/>
          </a:prstGeom>
          <a:solidFill>
            <a:srgbClr val="76FF03">
              <a:alpha val="78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57416" y="1207008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Gaussian Mixture Modeling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63056" y="1810512"/>
            <a:ext cx="24871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Accelerates GMM with EM algorithm — CF summaries reduce computation time for large probabilistic models.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62656"/>
            <a:ext cx="2724912" cy="1737360"/>
          </a:xfrm>
          <a:prstGeom prst="rect">
            <a:avLst/>
          </a:prstGeom>
          <a:solidFill>
            <a:srgbClr val="1C2430"/>
          </a:solidFill>
          <a:ln w="16510">
            <a:solidFill>
              <a:srgbClr val="FFB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62656"/>
            <a:ext cx="2724912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3145536"/>
            <a:ext cx="502920" cy="502920"/>
          </a:xfrm>
          <a:prstGeom prst="ellipse">
            <a:avLst/>
          </a:prstGeom>
          <a:solidFill>
            <a:srgbClr val="FFB300">
              <a:alpha val="78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96696" y="314553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 Compression Codebook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" y="3749040"/>
            <a:ext cx="24871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Generates the initial codebook for image compression — one of two real-life problems BIRCH directly solves.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54680" y="2962656"/>
            <a:ext cx="2724912" cy="1737360"/>
          </a:xfrm>
          <a:prstGeom prst="rect">
            <a:avLst/>
          </a:prstGeom>
          <a:solidFill>
            <a:srgbClr val="1C2430"/>
          </a:solidFill>
          <a:ln w="16510">
            <a:solidFill>
              <a:srgbClr val="7C4D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2962656"/>
            <a:ext cx="2724912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82696" y="3145536"/>
            <a:ext cx="502920" cy="502920"/>
          </a:xfrm>
          <a:prstGeom prst="ellipse">
            <a:avLst/>
          </a:prstGeom>
          <a:solidFill>
            <a:srgbClr val="7C4DFF">
              <a:alpha val="78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877056" y="314553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Pixel Classification Tool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82696" y="3749040"/>
            <a:ext cx="24871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Builds an iterative, interactive pixel classification tool — the second key real-life application from original paper.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2962656"/>
            <a:ext cx="2724912" cy="1737360"/>
          </a:xfrm>
          <a:prstGeom prst="rect">
            <a:avLst/>
          </a:prstGeom>
          <a:solidFill>
            <a:srgbClr val="1C2430"/>
          </a:solidFill>
          <a:ln w="16510">
            <a:solidFill>
              <a:srgbClr val="FF52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962656"/>
            <a:ext cx="2724912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3145536"/>
            <a:ext cx="502920" cy="502920"/>
          </a:xfrm>
          <a:prstGeom prst="ellipse">
            <a:avLst/>
          </a:prstGeom>
          <a:solidFill>
            <a:srgbClr val="FF5252">
              <a:alpha val="78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57416" y="3145536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Pre-Processing for Other Algos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63056" y="3749040"/>
            <a:ext cx="24871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Complements other clustering algorithms by providing a compact summary dataset for them to process instead.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06908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E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069080" cy="475488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04672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✦  Advantages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408176"/>
            <a:ext cx="3904488" cy="585216"/>
          </a:xfrm>
          <a:prstGeom prst="rect">
            <a:avLst/>
          </a:prstGeom>
          <a:solidFill>
            <a:srgbClr val="E0FAF7"/>
          </a:solidFill>
          <a:ln w="12700">
            <a:solidFill>
              <a:srgbClr val="C0E8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1463040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Single Pass Efficiency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9536" y="1737360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33"/>
                </a:solidFill>
              </a:rPr>
              <a:t>Only requires one scan of the database in most cases — drastically reduces I/O.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084832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" y="2139696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Low Memory Usage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9536" y="2414016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33"/>
                </a:solidFill>
              </a:rPr>
              <a:t>CF-Tree summaries use far less memory than storing all raw data points.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761488"/>
            <a:ext cx="3904488" cy="585216"/>
          </a:xfrm>
          <a:prstGeom prst="rect">
            <a:avLst/>
          </a:prstGeom>
          <a:solidFill>
            <a:srgbClr val="E0FAF7"/>
          </a:solidFill>
          <a:ln w="12700">
            <a:solidFill>
              <a:srgbClr val="C0E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2816352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Incremental Updates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" y="3090672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33"/>
                </a:solidFill>
              </a:rPr>
              <a:t>New data points can be dynamically added to existing CF-Tree without full rebuild.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438144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E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3493008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Noise Handling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" y="376732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33"/>
                </a:solidFill>
              </a:rPr>
              <a:t>First clustering algorithm claimed to handle noise effectively — SIGMOD's own declaration.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4114800"/>
            <a:ext cx="3904488" cy="585216"/>
          </a:xfrm>
          <a:prstGeom prst="rect">
            <a:avLst/>
          </a:prstGeom>
          <a:solidFill>
            <a:srgbClr val="E0FAF7"/>
          </a:solidFill>
          <a:ln w="12700">
            <a:solidFill>
              <a:srgbClr val="C0E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536" y="4169664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Algorithm Complement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9536" y="4443984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3333"/>
                </a:solidFill>
              </a:rPr>
              <a:t>Acts as pre-processor for K-Means, GMM-EM and other algorithms — boosting their speed.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804672"/>
            <a:ext cx="406908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804672"/>
            <a:ext cx="4069080" cy="47548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804672"/>
            <a:ext cx="3849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Limitations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73752" y="1408176"/>
            <a:ext cx="3904488" cy="585216"/>
          </a:xfrm>
          <a:prstGeom prst="rect">
            <a:avLst/>
          </a:prstGeom>
          <a:solidFill>
            <a:srgbClr val="FFF0EE"/>
          </a:solidFill>
          <a:ln w="12700">
            <a:solidFill>
              <a:srgbClr val="F4C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85816" y="1463040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Metric Attributes Only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85816" y="1737360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Cannot handle categorical variables — data must be representable in Euclidean space.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2084832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4CC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6904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85816" y="2139696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Catastrophic Cancellation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385816" y="2414016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SS (sum of squares) is prone to catastrophic numerical cancellation in floating-point.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73752" y="2761488"/>
            <a:ext cx="3904488" cy="585216"/>
          </a:xfrm>
          <a:prstGeom prst="rect">
            <a:avLst/>
          </a:prstGeom>
          <a:solidFill>
            <a:srgbClr val="FFF0EE"/>
          </a:solidFill>
          <a:ln w="12700">
            <a:solidFill>
              <a:srgbClr val="F4CC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85816" y="2816352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Fixed Cluster Shapes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385816" y="3090672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Performs best with spherical clusters — elliptical or irregular shapes are problematic.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73752" y="3438144"/>
            <a:ext cx="390448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4CC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904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85816" y="3493008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Parameter Sensitivity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385816" y="376732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Results depend on Threshold T and Branching Factor B — poor choices degrade quality.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73752" y="4114800"/>
            <a:ext cx="3904488" cy="585216"/>
          </a:xfrm>
          <a:prstGeom prst="rect">
            <a:avLst/>
          </a:prstGeom>
          <a:solidFill>
            <a:srgbClr val="FFF0EE"/>
          </a:solidFill>
          <a:ln w="12700">
            <a:solidFill>
              <a:srgbClr val="F4CC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85816" y="4169664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</a:rPr>
              <a:t>Global Cluster Quality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385816" y="4443984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1111"/>
                </a:solidFill>
              </a:rPr>
              <a:t>Final clusters are approximations from sub-clusters — not always globally optimal.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 vs Other Clustering Algorithms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267712" y="804672"/>
            <a:ext cx="1719072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67712" y="804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BIRCH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1648" y="804672"/>
            <a:ext cx="1719072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41648" y="8046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K-Means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15584" y="804672"/>
            <a:ext cx="1536192" cy="4572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5584" y="80467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DBSCAN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804672"/>
            <a:ext cx="1463040" cy="457200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804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Agglom.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" y="1371600"/>
            <a:ext cx="1965960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081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Approach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67712" y="1371600"/>
            <a:ext cx="171907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140817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Summary-based hierarchical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41648" y="1371600"/>
            <a:ext cx="171907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87368" y="140817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Partitioning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15584" y="1371600"/>
            <a:ext cx="153619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1304" y="140817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Density-based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0" y="1371600"/>
            <a:ext cx="1463040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4081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Bottom-up merge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1874520"/>
            <a:ext cx="1965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9110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67712" y="1874520"/>
            <a:ext cx="171907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13432" y="19110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Very high — single scan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41648" y="1874520"/>
            <a:ext cx="171907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87368" y="19110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High — fast iterations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15584" y="1874520"/>
            <a:ext cx="153619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191109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Moderate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06640" y="1874520"/>
            <a:ext cx="146304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9110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Low — O(N³)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2377440"/>
            <a:ext cx="1965960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4140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Memory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67712" y="2377440"/>
            <a:ext cx="171907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13432" y="241401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Low — CF summaries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41648" y="2377440"/>
            <a:ext cx="171907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87368" y="241401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Medium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15584" y="2377440"/>
            <a:ext cx="153619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61304" y="241401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High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406640" y="2377440"/>
            <a:ext cx="1463040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24140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High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" y="2880360"/>
            <a:ext cx="1965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9169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Cluster Shape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67712" y="2880360"/>
            <a:ext cx="171907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13432" y="291693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Spherical (approx.)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041648" y="2880360"/>
            <a:ext cx="171907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87368" y="291693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Spherical only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15584" y="2880360"/>
            <a:ext cx="153619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61304" y="291693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Arbitrary shapes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406640" y="2880360"/>
            <a:ext cx="146304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52360" y="29169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Flexible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56032" y="3383280"/>
            <a:ext cx="1965960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4198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Noise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67712" y="3383280"/>
            <a:ext cx="171907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13432" y="341985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Handles effectively ★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041648" y="3383280"/>
            <a:ext cx="171907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87368" y="341985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Sensitive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815584" y="3383280"/>
            <a:ext cx="153619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61304" y="341985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Detects outliers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406640" y="3383280"/>
            <a:ext cx="1463040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52360" y="34198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Sensitive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56032" y="3886200"/>
            <a:ext cx="196596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922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K needed?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267712" y="3886200"/>
            <a:ext cx="171907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13432" y="392277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Not initially (CF stage)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041648" y="3886200"/>
            <a:ext cx="171907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87368" y="392277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Yes — required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815584" y="3886200"/>
            <a:ext cx="1536192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61304" y="392277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No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406640" y="3886200"/>
            <a:ext cx="146304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52360" y="3922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No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56032" y="4389120"/>
            <a:ext cx="1965960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4256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Large Data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267712" y="4389120"/>
            <a:ext cx="171907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13432" y="44256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Excellent ★★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041648" y="4389120"/>
            <a:ext cx="171907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87368" y="4425696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Good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815584" y="4389120"/>
            <a:ext cx="1536192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61304" y="4425696"/>
            <a:ext cx="1444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Limited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7406640" y="4389120"/>
            <a:ext cx="1463040" cy="438912"/>
          </a:xfrm>
          <a:prstGeom prst="rect">
            <a:avLst/>
          </a:prstGeom>
          <a:solidFill>
            <a:srgbClr val="1C243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52360" y="44256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Poor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502920"/>
            <a:ext cx="640080" cy="320040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502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Root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51192" y="822960"/>
            <a:ext cx="292608" cy="164592"/>
          </a:xfrm>
          <a:prstGeom prst="line">
            <a:avLst/>
          </a:prstGeom>
          <a:noFill/>
          <a:ln w="12700">
            <a:solidFill>
              <a:srgbClr val="1DE9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987552"/>
            <a:ext cx="530352" cy="274320"/>
          </a:xfrm>
          <a:prstGeom prst="rect">
            <a:avLst/>
          </a:prstGeom>
          <a:solidFill>
            <a:srgbClr val="1DE9B6">
              <a:alpha val="65000"/>
            </a:srgbClr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98755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54112" y="822960"/>
            <a:ext cx="-210312" cy="164592"/>
          </a:xfrm>
          <a:prstGeom prst="line">
            <a:avLst/>
          </a:prstGeom>
          <a:noFill/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987552"/>
            <a:ext cx="530352" cy="274320"/>
          </a:xfrm>
          <a:prstGeom prst="rect">
            <a:avLst/>
          </a:prstGeom>
          <a:solidFill>
            <a:srgbClr val="FFB300">
              <a:alpha val="6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98755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949440" y="1417320"/>
            <a:ext cx="411480" cy="237744"/>
          </a:xfrm>
          <a:prstGeom prst="rect">
            <a:avLst/>
          </a:prstGeom>
          <a:solidFill>
            <a:srgbClr val="76FF03">
              <a:alpha val="5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41732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49440" y="1719072"/>
            <a:ext cx="91440" cy="9144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9168" y="1719072"/>
            <a:ext cx="91440" cy="9144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8896" y="1719072"/>
            <a:ext cx="91440" cy="9144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5472" y="1417320"/>
            <a:ext cx="411480" cy="237744"/>
          </a:xfrm>
          <a:prstGeom prst="rect">
            <a:avLst/>
          </a:prstGeom>
          <a:solidFill>
            <a:srgbClr val="76FF03">
              <a:alpha val="50000"/>
            </a:srgbClr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41732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05472" y="1719072"/>
            <a:ext cx="91440" cy="9144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719072"/>
            <a:ext cx="91440" cy="9144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4928" y="1719072"/>
            <a:ext cx="91440" cy="9144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1504" y="1417320"/>
            <a:ext cx="411480" cy="237744"/>
          </a:xfrm>
          <a:prstGeom prst="rect">
            <a:avLst/>
          </a:prstGeom>
          <a:solidFill>
            <a:srgbClr val="00BCD4">
              <a:alpha val="5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141732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61504" y="1719072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71232" y="1719072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719072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17536" y="1417320"/>
            <a:ext cx="411480" cy="237744"/>
          </a:xfrm>
          <a:prstGeom prst="rect">
            <a:avLst/>
          </a:prstGeom>
          <a:solidFill>
            <a:srgbClr val="00BCD4">
              <a:alpha val="5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141732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Leaf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17536" y="1719072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27264" y="1719072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36992" y="1719072"/>
            <a:ext cx="91440" cy="914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67728" y="2029968"/>
            <a:ext cx="1280160" cy="329184"/>
          </a:xfrm>
          <a:prstGeom prst="rect">
            <a:avLst/>
          </a:prstGeom>
          <a:solidFill>
            <a:srgbClr val="1C24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20299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= (N, LS, SS)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16459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411480" y="960120"/>
            <a:ext cx="6217920" cy="676656"/>
          </a:xfrm>
          <a:prstGeom prst="rect">
            <a:avLst/>
          </a:prstGeom>
          <a:solidFill>
            <a:srgbClr val="1C24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70432" y="1078992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BIRCH is an unsupervised algorithm for hierarchical clustering of large datasets using compact CF-Tree summaries.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11480" y="1755648"/>
            <a:ext cx="6217920" cy="676656"/>
          </a:xfrm>
          <a:prstGeom prst="rect">
            <a:avLst/>
          </a:prstGeom>
          <a:solidFill>
            <a:srgbClr val="1C2430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70432" y="1874520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Each CF entry = (N, LS, SS) — a compact triple capturing count, linear sum, and squared sum of a sub-cluster.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11480" y="2551176"/>
            <a:ext cx="6217920" cy="676656"/>
          </a:xfrm>
          <a:prstGeom prst="rect">
            <a:avLst/>
          </a:prstGeom>
          <a:solidFill>
            <a:srgbClr val="1C2430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170432" y="2670048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BIRCH runs in two stages: building the CF-Tree (single scan) then applying global clustering on leaf sub-clusters.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11480" y="3346704"/>
            <a:ext cx="6217920" cy="676656"/>
          </a:xfrm>
          <a:prstGeom prst="rect">
            <a:avLst/>
          </a:prstGeom>
          <a:solidFill>
            <a:srgbClr val="1C243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04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70432" y="3465576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The CF-Tree Threshold and Branching Factor control compactness, tree depth, and final cluster quality.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11480" y="4142232"/>
            <a:ext cx="6217920" cy="676656"/>
          </a:xfrm>
          <a:prstGeom prst="rect">
            <a:avLst/>
          </a:prstGeom>
          <a:solidFill>
            <a:srgbClr val="1C243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05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170432" y="4261104"/>
            <a:ext cx="5358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</a:rPr>
              <a:t>First algorithm to handle noise effectively — won SIGMOD 10 Year Test of Time Award in 2006.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BIRCH – Balanced Iterative Reducing and Clustering Using Hierarchies</dc:title>
  <dc:subject>PptxGenJS Presentation</dc:subject>
  <dc:creator>PptxGenJS</dc:creator>
  <cp:lastModifiedBy>PptxGenJS</cp:lastModifiedBy>
  <cp:revision>1</cp:revision>
  <dcterms:created xsi:type="dcterms:W3CDTF">2026-03-23T11:09:22Z</dcterms:created>
  <dcterms:modified xsi:type="dcterms:W3CDTF">2026-03-23T11:09:22Z</dcterms:modified>
</cp:coreProperties>
</file>