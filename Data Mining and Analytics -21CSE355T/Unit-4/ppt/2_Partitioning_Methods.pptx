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0" y="274320"/>
            <a:ext cx="2468880" cy="1371600"/>
          </a:xfrm>
          <a:prstGeom prst="rect">
            <a:avLst/>
          </a:prstGeom>
          <a:solidFill>
            <a:srgbClr val="0EA5C9">
              <a:alpha val="12000"/>
            </a:srgbClr>
          </a:solidFill>
          <a:ln w="9525">
            <a:solidFill>
              <a:srgbClr val="0EA5C9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309360" y="320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Cluster 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92240" y="45720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64008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36576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0" y="91440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82296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58584" y="594360"/>
            <a:ext cx="274320" cy="274320"/>
          </a:xfrm>
          <a:prstGeom prst="ellipse">
            <a:avLst/>
          </a:prstGeom>
          <a:solidFill>
            <a:srgbClr val="0EA5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67728" y="60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2468880" cy="1371600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309360" y="1874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Cluster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0" y="219456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20116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0" y="246888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25603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2185416"/>
            <a:ext cx="274320" cy="27432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194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63640" y="3383280"/>
            <a:ext cx="2468880" cy="1463040"/>
          </a:xfrm>
          <a:prstGeom prst="rect">
            <a:avLst/>
          </a:prstGeom>
          <a:solidFill>
            <a:srgbClr val="F43F5E">
              <a:alpha val="12000"/>
            </a:srgbClr>
          </a:solidFill>
          <a:ln w="9525">
            <a:solidFill>
              <a:srgbClr val="F43F5E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30936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</a:rPr>
              <a:t>Cluster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92240" y="347472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365760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0" y="338328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0" y="393192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4114800"/>
            <a:ext cx="182880" cy="18288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3666744"/>
            <a:ext cx="274320" cy="274320"/>
          </a:xfrm>
          <a:prstGeom prst="ellipse">
            <a:avLst/>
          </a:prstGeom>
          <a:solidFill>
            <a:srgbClr val="F43F5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 = 3  partitions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548640"/>
            <a:ext cx="2286000" cy="329184"/>
          </a:xfrm>
          <a:prstGeom prst="roundRect">
            <a:avLst>
              <a:gd name="adj" fmla="val 27778"/>
            </a:avLst>
          </a:prstGeom>
          <a:solidFill>
            <a:srgbClr val="0EA5C9">
              <a:alpha val="80000"/>
            </a:srgbClr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486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MINING  •  CLUSTERING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102412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5400" dirty="0"/>
          </a:p>
        </p:txBody>
      </p:sp>
      <p:sp>
        <p:nvSpPr>
          <p:cNvPr id="35" name="Text 33"/>
          <p:cNvSpPr/>
          <p:nvPr/>
        </p:nvSpPr>
        <p:spPr>
          <a:xfrm>
            <a:off x="457200" y="18288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457200" y="24871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Data Mining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457200" y="3090672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Divide data into K distinct, non-overlapping clusters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by iteratively refining centroids until convergence.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12840"/>
          </a:solidFill>
          <a:ln w="12700">
            <a:solidFill>
              <a:srgbClr val="11284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4736592"/>
            <a:ext cx="64008" cy="4069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K-Means  •  K-Medoids  •  Fuzzy C-Means  •  Centroid vs Medoid  •  Applications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Partitioning Methods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1005840"/>
          </a:xfrm>
          <a:prstGeom prst="rect">
            <a:avLst/>
          </a:prstGeom>
          <a:solidFill>
            <a:srgbClr val="0A1628"/>
          </a:solidFill>
          <a:ln w="19050">
            <a:solidFill>
              <a:srgbClr val="0EA5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64008" cy="100584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86968"/>
            <a:ext cx="8138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Partitioning methods divide a dataset into K clusters by grouping similar data points together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while maximizing differences between clusters — iteratively refining until convergence.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993392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93392"/>
            <a:ext cx="2011680" cy="438912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93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User-defined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cluster 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993392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993392"/>
            <a:ext cx="20116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1993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↺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24871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Iterative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refinement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1993392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993392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993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⊕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9160" y="24871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Centroid-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based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993392"/>
            <a:ext cx="20116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993392"/>
            <a:ext cx="2011680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9933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∥∥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2487168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Maximize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separation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4015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Popular Algorithms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3822192"/>
            <a:ext cx="26974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22192"/>
            <a:ext cx="269748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50208"/>
            <a:ext cx="347472" cy="347472"/>
          </a:xfrm>
          <a:prstGeom prst="ellipse">
            <a:avLst/>
          </a:prstGeom>
          <a:solidFill>
            <a:srgbClr val="0EA5C9">
              <a:alpha val="80000"/>
            </a:srgbClr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86968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K-Means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4343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55"/>
                </a:solidFill>
              </a:rPr>
              <a:t>Centroid-based, minimizes squared distances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822192"/>
            <a:ext cx="26974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0" y="3822192"/>
            <a:ext cx="2697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7560" y="3950208"/>
            <a:ext cx="347472" cy="347472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◉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767328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K-Medoids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37560" y="4343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55"/>
                </a:solidFill>
              </a:rPr>
              <a:t>Medoid-based, robust to noise &amp; outliers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3822192"/>
            <a:ext cx="26974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80760" y="3822192"/>
            <a:ext cx="269748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950208"/>
            <a:ext cx="347472" cy="347472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◉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647688" y="39319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Fuzzy C-Means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17920" y="43434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55"/>
                </a:solidFill>
              </a:rPr>
              <a:t>Soft clustering — fractional membership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K-Means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 centroid-based partitioning algorithm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572768" cy="3520440"/>
          </a:xfrm>
          <a:prstGeom prst="rect">
            <a:avLst/>
          </a:prstGeom>
          <a:solidFill>
            <a:srgbClr val="112840"/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234440"/>
            <a:ext cx="512064" cy="512064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65376" y="1490472"/>
            <a:ext cx="128016" cy="0"/>
          </a:xfrm>
          <a:prstGeom prst="line">
            <a:avLst/>
          </a:prstGeom>
          <a:noFill/>
          <a:ln w="25400">
            <a:solidFill>
              <a:srgbClr val="0EA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43560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C9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185623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Initialize Centroids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95728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Randomly assign K cluster centroids anywhere in the data space.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4069080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0690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✕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051560" y="3931920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✕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481328" y="4133088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41330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✕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93392" y="1115568"/>
            <a:ext cx="1572768" cy="3520440"/>
          </a:xfrm>
          <a:prstGeom prst="rect">
            <a:avLst/>
          </a:prstGeom>
          <a:solidFill>
            <a:srgbClr val="1128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23744" y="1234440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374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584448" y="1490472"/>
            <a:ext cx="128016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9312" y="143560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66544" y="185623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Assign Data Points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84832" y="2395728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Each data point is assigned to its nearest centroid using Euclidean distance.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21992" y="404164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105656"/>
            <a:ext cx="265176" cy="13716"/>
          </a:xfrm>
          <a:prstGeom prst="line">
            <a:avLst/>
          </a:prstGeom>
          <a:noFill/>
          <a:ln w="9525">
            <a:solidFill>
              <a:srgbClr val="F59E0B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2542032" y="418795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4251960"/>
            <a:ext cx="105156" cy="-30175"/>
          </a:xfrm>
          <a:prstGeom prst="line">
            <a:avLst/>
          </a:prstGeom>
          <a:noFill/>
          <a:ln w="9525">
            <a:solidFill>
              <a:srgbClr val="F59E0B"/>
            </a:solidFill>
            <a:prstDash val="sysDash"/>
          </a:ln>
        </p:spPr>
      </p:sp>
      <p:sp>
        <p:nvSpPr>
          <p:cNvPr id="29" name="Shape 27"/>
          <p:cNvSpPr/>
          <p:nvPr/>
        </p:nvSpPr>
        <p:spPr>
          <a:xfrm>
            <a:off x="2999232" y="402336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63240" y="4087368"/>
            <a:ext cx="-123444" cy="19202"/>
          </a:xfrm>
          <a:prstGeom prst="line">
            <a:avLst/>
          </a:prstGeom>
          <a:noFill/>
          <a:ln w="9525">
            <a:solidFill>
              <a:srgbClr val="F59E0B"/>
            </a:solidFill>
            <a:prstDash val="sysDash"/>
          </a:ln>
        </p:spPr>
      </p:sp>
      <p:sp>
        <p:nvSpPr>
          <p:cNvPr id="31" name="Shape 29"/>
          <p:cNvSpPr/>
          <p:nvPr/>
        </p:nvSpPr>
        <p:spPr>
          <a:xfrm>
            <a:off x="3273552" y="416052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4224528"/>
            <a:ext cx="-260604" cy="-21946"/>
          </a:xfrm>
          <a:prstGeom prst="line">
            <a:avLst/>
          </a:prstGeom>
          <a:noFill/>
          <a:ln w="9525">
            <a:solidFill>
              <a:srgbClr val="F59E0B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3712464" y="1115568"/>
            <a:ext cx="1572768" cy="3520440"/>
          </a:xfrm>
          <a:prstGeom prst="rect">
            <a:avLst/>
          </a:prstGeom>
          <a:solidFill>
            <a:srgbClr val="1128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42816" y="1234440"/>
            <a:ext cx="512064" cy="51206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4281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3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303520" y="1490472"/>
            <a:ext cx="128016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58384" y="143560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85616" y="185623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Recalculate Centroids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03904" y="2395728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Compute the mean of all points in each cluster — move centroid there.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15384" y="3931920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μ</a:t>
            </a:r>
            <a:endParaRPr lang="en-US" sz="2800" dirty="0"/>
          </a:p>
        </p:txBody>
      </p:sp>
      <p:sp>
        <p:nvSpPr>
          <p:cNvPr id="41" name="Shape 39"/>
          <p:cNvSpPr/>
          <p:nvPr/>
        </p:nvSpPr>
        <p:spPr>
          <a:xfrm>
            <a:off x="5431536" y="1115568"/>
            <a:ext cx="1572768" cy="3520440"/>
          </a:xfrm>
          <a:prstGeom prst="rect">
            <a:avLst/>
          </a:prstGeom>
          <a:solidFill>
            <a:srgbClr val="112840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61888" y="1234440"/>
            <a:ext cx="512064" cy="51206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618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4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7022592" y="1490472"/>
            <a:ext cx="128016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77456" y="143560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</a:rPr>
              <a:t>▶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04688" y="185623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Check Convergence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22976" y="2395728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If cluster assignments changed, repeat steps 2–3. Otherwise, stop.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34456" y="3913632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5CF6"/>
                </a:solidFill>
              </a:rPr>
              <a:t>?</a:t>
            </a:r>
            <a:endParaRPr lang="en-US" sz="3000" dirty="0"/>
          </a:p>
        </p:txBody>
      </p:sp>
      <p:sp>
        <p:nvSpPr>
          <p:cNvPr id="49" name="Shape 47"/>
          <p:cNvSpPr/>
          <p:nvPr/>
        </p:nvSpPr>
        <p:spPr>
          <a:xfrm>
            <a:off x="7150608" y="1115568"/>
            <a:ext cx="1572768" cy="3520440"/>
          </a:xfrm>
          <a:prstGeom prst="rect">
            <a:avLst/>
          </a:prstGeom>
          <a:solidFill>
            <a:srgbClr val="112840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80960" y="1234440"/>
            <a:ext cx="512064" cy="512064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</a:rPr>
              <a:t>5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223760" y="185623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Return Clusters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242048" y="2395728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Output the final K clusters with their centroids as the result.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53528" y="3913632"/>
            <a:ext cx="5669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3F5E"/>
                </a:solidFill>
              </a:rPr>
              <a:t>✓</a:t>
            </a:r>
            <a:endParaRPr lang="en-US" sz="2800" dirty="0"/>
          </a:p>
        </p:txBody>
      </p:sp>
      <p:sp>
        <p:nvSpPr>
          <p:cNvPr id="55" name="Shape 53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36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Objective: Minimize  Σ ||xᵢ − μₖ||²   (sum of squared distances between each point and its assigned centroid)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K-Means: Strengths &amp; Weaknesses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794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✦  Advantages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1435608"/>
            <a:ext cx="3858768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1490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Scalability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77824" y="174650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Handles large, high-dimensional datasets efficiently — only distance to centroids is computed.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240280"/>
            <a:ext cx="38587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" y="2295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Speed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" y="25511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Fast convergence — suitable for real-time or near-real-time applications with millions of points.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044952"/>
            <a:ext cx="3858768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30998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Simplicity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77824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Easy to implement — only specify K and initial centroids; iteratively refine to convergence.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849624"/>
            <a:ext cx="38587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77824" y="3904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Interpretability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77824" y="41605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Cluster centroids represent the center of each group, making results easy to understand.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28032" y="822960"/>
            <a:ext cx="402336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822960"/>
            <a:ext cx="4023360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822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✦  Disadvantages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901184" y="1435608"/>
            <a:ext cx="3858768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4336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31536" y="14904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Curse of Dimensionality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31536" y="17465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In high-dimensional spaces, distances become uniform — clusters lose meaning.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01184" y="2240280"/>
            <a:ext cx="38587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350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31536" y="2295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User-defined 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431536" y="25511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Must specify K beforehand — challenging without prior knowledge of the data.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01184" y="3044952"/>
            <a:ext cx="3858768" cy="694944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🔷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31536" y="309981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Non-Convex Shapes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431536" y="3355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Assumes spherical clusters — fails on elongated, curved or irregular shapes.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01184" y="3849624"/>
            <a:ext cx="38587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3959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431536" y="3904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Noise Sensitivity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31536" y="41605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</a:rPr>
              <a:t>Sensitive to outliers — a single noisy point can significantly shift a centroid.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K-Medoids?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892040" cy="960120"/>
          </a:xfrm>
          <a:prstGeom prst="rect">
            <a:avLst/>
          </a:prstGeom>
          <a:solidFill>
            <a:srgbClr val="1128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32688"/>
            <a:ext cx="45537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K-Medoids uses actual data points (medoids) as cluster representatives — not virtual mean positions (centroids). The medoid is the most centrally located point in the cluster.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993392"/>
            <a:ext cx="489204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08483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Select Medoids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24942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Randomly select K data points as initial medoids from the dataset.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542032"/>
            <a:ext cx="4892040" cy="475488"/>
          </a:xfrm>
          <a:prstGeom prst="rect">
            <a:avLst/>
          </a:prstGeom>
          <a:solidFill>
            <a:srgbClr val="11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6334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257860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Assign Points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279806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Assign each data point to its nearest medoid based on dissimilarity.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489204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" y="31821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312724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Compute Cost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9808" y="334670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Sum the total dissimilarity between each medoid and its assigned points.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639312"/>
            <a:ext cx="4892040" cy="475488"/>
          </a:xfrm>
          <a:prstGeom prst="rect">
            <a:avLst/>
          </a:prstGeom>
          <a:solidFill>
            <a:srgbClr val="11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73075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367588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Swap &amp; Update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9808" y="389534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Try swapping medoids with non-medoid points; keep if total cost decreases.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4187952"/>
            <a:ext cx="4892040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7472" y="427939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224528"/>
            <a:ext cx="1417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Converge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808" y="4443984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Repeat until no further improvement — medoids stabilize.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40680" y="868680"/>
            <a:ext cx="3383280" cy="4023360"/>
          </a:xfrm>
          <a:prstGeom prst="rect">
            <a:avLst/>
          </a:prstGeom>
          <a:solidFill>
            <a:srgbClr val="112840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9601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C9"/>
                </a:solidFill>
              </a:rPr>
              <a:t>Centroid vs Medoid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0" y="1389888"/>
            <a:ext cx="146304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3898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C9"/>
                </a:solidFill>
              </a:rPr>
              <a:t>Centroid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50992" y="181051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171907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18470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33872" y="202996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9632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89320" y="23042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0" y="1938528"/>
            <a:ext cx="256032" cy="256032"/>
          </a:xfrm>
          <a:prstGeom prst="ellipse">
            <a:avLst/>
          </a:prstGeom>
          <a:solidFill>
            <a:srgbClr val="0EA5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1938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0" y="25420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C9"/>
                </a:solidFill>
              </a:rPr>
              <a:t>Virtual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EA5C9"/>
                </a:solidFill>
              </a:rPr>
              <a:t>(no exact point)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40880" y="1389888"/>
            <a:ext cx="146304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138988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Medoid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205472" y="181051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43800" y="1719072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18470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88352" y="202996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54112" y="2148840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43800" y="2304288"/>
            <a:ext cx="128016" cy="12801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06640" y="1984248"/>
            <a:ext cx="256032" cy="25603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06640" y="1984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★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40880" y="25420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Real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</a:rPr>
              <a:t>point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0" y="3127248"/>
            <a:ext cx="3154680" cy="1572768"/>
          </a:xfrm>
          <a:prstGeom prst="rect">
            <a:avLst/>
          </a:prstGeom>
          <a:solidFill>
            <a:srgbClr val="0D21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77840" y="318211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Key Difference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577840" y="3493008"/>
            <a:ext cx="29718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centroid is a virtual mean point — it may not exist in the dataset.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The medoid is always an actual data point — the most centrally located one.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457200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594360"/>
            <a:ext cx="4572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 K-Medoids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777240"/>
            <a:ext cx="3200400" cy="47548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777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K-MEANS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777240"/>
            <a:ext cx="3273552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777240"/>
            <a:ext cx="3273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K-MEDOIDS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1371600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7160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Objective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371600"/>
            <a:ext cx="32004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1408176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Minimize sum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squared distances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371600"/>
            <a:ext cx="327355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40817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Minimize sum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dissimilarities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1975104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75104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Cluster Center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1975104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2011680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Centroid (arithmetic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mean of points)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975104"/>
            <a:ext cx="32735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011680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Medoid (actual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data point)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" y="2578608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786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Robustness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0" y="2578608"/>
            <a:ext cx="32004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2615184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Less robust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affected by outliers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2578608"/>
            <a:ext cx="327355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615184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More robust 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resists noise &amp; outliers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" y="3182112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18211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Speed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0" y="3182112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3218688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Faster — efficient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for large datasets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182112"/>
            <a:ext cx="32735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3218688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Slower — higher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computational cost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" y="3785616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8561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Cluster Shape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0" y="3785616"/>
            <a:ext cx="32004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9152" y="3822192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Spherical clusters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3785616"/>
            <a:ext cx="3273552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3822192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Handles non-convex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cluster shapes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" y="4389120"/>
            <a:ext cx="1993392" cy="5486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38912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C9"/>
                </a:solidFill>
              </a:rPr>
              <a:t>Best For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86000" y="43891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9152" y="4425696"/>
            <a:ext cx="30540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Customer segmentation,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image segmentation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577840" y="4389120"/>
            <a:ext cx="32735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4425696"/>
            <a:ext cx="3127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DNA sequences, gene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expression, noisy data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394960" y="4754880"/>
            <a:ext cx="3456432" cy="274320"/>
          </a:xfrm>
          <a:prstGeom prst="roundRect">
            <a:avLst>
              <a:gd name="adj" fmla="val 26667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4754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★  More robust for noisy / real-world 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K-Means vs K-Medoids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868680"/>
          </a:xfrm>
          <a:prstGeom prst="rect">
            <a:avLst/>
          </a:prstGeom>
          <a:solidFill>
            <a:srgbClr val="11284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64008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05256"/>
            <a:ext cx="82113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F9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Verdict: K-Medoids is more robust than K-Means — especially for noisy and outlier-prone datasets.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023360" cy="2697480"/>
          </a:xfrm>
          <a:prstGeom prst="rect">
            <a:avLst/>
          </a:prstGeom>
          <a:solidFill>
            <a:srgbClr val="112840"/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74520"/>
            <a:ext cx="4023360" cy="420624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87452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K-Means  (Centroid)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260604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0" y="297180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320040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3291840"/>
            <a:ext cx="182880" cy="18288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514600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23317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5E"/>
                </a:solidFill>
              </a:rPr>
              <a:t>outlier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103120" y="2788920"/>
            <a:ext cx="274320" cy="274320"/>
          </a:xfrm>
          <a:prstGeom prst="ellipse">
            <a:avLst/>
          </a:prstGeom>
          <a:solidFill>
            <a:srgbClr val="0EA5C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3017520"/>
            <a:ext cx="685800" cy="-228600"/>
          </a:xfrm>
          <a:prstGeom prst="line">
            <a:avLst/>
          </a:prstGeom>
          <a:noFill/>
          <a:ln w="19050">
            <a:solidFill>
              <a:srgbClr val="F43F5E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84048" y="3547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Centroid pulled toward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3F5E"/>
                </a:solidFill>
              </a:rPr>
              <a:t>the outlier!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 K-Means, the centroid (mean) is pulled toward outliers, degrading the cluster quality.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1874520"/>
            <a:ext cx="4023360" cy="2697480"/>
          </a:xfrm>
          <a:prstGeom prst="rect">
            <a:avLst/>
          </a:prstGeom>
          <a:solidFill>
            <a:srgbClr val="1128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1874520"/>
            <a:ext cx="4023360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87452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K-Medoids  (Medoid)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303520" y="28346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26060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29718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32120" y="320040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06440" y="329184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99248" y="2514600"/>
            <a:ext cx="201168" cy="20116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23317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3F5E"/>
                </a:solidFill>
              </a:rPr>
              <a:t>outlier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50992" y="2880360"/>
            <a:ext cx="256032" cy="25603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50992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★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5478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Medoid stays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</a:rPr>
              <a:t>stable 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37760" y="4069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In K-Medoids, the medoid is an actual data point — outliers cannot pull it away.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Partitioning Clustering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26334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C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2633472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024128"/>
            <a:ext cx="502920" cy="502920"/>
          </a:xfrm>
          <a:prstGeom prst="ellipse">
            <a:avLst/>
          </a:prstGeom>
          <a:solidFill>
            <a:srgbClr val="0EA5C9">
              <a:alpha val="80000"/>
            </a:srgbClr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33272" y="102412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Customer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Segmentation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48056" y="162763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Group customers by purchase history, demographics &amp; behavior for targeted marketing campaigns.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841248"/>
            <a:ext cx="26334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841248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024128"/>
            <a:ext cx="502920" cy="50292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🖼️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67912" y="102412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Image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Segmentation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82696" y="162763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Divide images into regions by visual features — used in object recognition &amp; medical imaging.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841248"/>
            <a:ext cx="26334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841248"/>
            <a:ext cx="2633472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17336" y="1024128"/>
            <a:ext cx="502920" cy="502920"/>
          </a:xfrm>
          <a:prstGeom prst="ellipse">
            <a:avLst/>
          </a:prstGeom>
          <a:solidFill>
            <a:srgbClr val="F43F5E">
              <a:alpha val="8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17336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02552" y="1024128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Anomaly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Detection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117336" y="1627632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Identify unusual patterns and outliers for fraud detection, network intrusion &amp; failure prediction.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737360" y="2926080"/>
            <a:ext cx="26334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737360" y="2926080"/>
            <a:ext cx="263347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65376" y="3108960"/>
            <a:ext cx="502920" cy="50292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6537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450592" y="31089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Document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Clustering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865376" y="3712464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Group similar documents by content for topic modeling, sentiment analysis &amp; text classification.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2926080"/>
            <a:ext cx="2633472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926080"/>
            <a:ext cx="26334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310896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001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285232" y="31089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Gene Expression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A1628"/>
                </a:solidFill>
              </a:rPr>
              <a:t>Analysis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00016" y="3712464"/>
            <a:ext cx="23774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Cluster genes with similar expression patterns to discover co-regulated groups in bioinformatics.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Algorithm Flowchart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108960" y="841248"/>
            <a:ext cx="2926080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87782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1243584"/>
            <a:ext cx="0" cy="14630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389888"/>
            <a:ext cx="2926080" cy="475488"/>
          </a:xfrm>
          <a:prstGeom prst="rect">
            <a:avLst/>
          </a:prstGeom>
          <a:solidFill>
            <a:srgbClr val="112840"/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2646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Initialize K Centroids Randomly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865376"/>
            <a:ext cx="0" cy="146304"/>
          </a:xfrm>
          <a:prstGeom prst="line">
            <a:avLst/>
          </a:prstGeom>
          <a:noFill/>
          <a:ln w="19050">
            <a:solidFill>
              <a:srgbClr val="0EA5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2011680"/>
            <a:ext cx="2926080" cy="475488"/>
          </a:xfrm>
          <a:prstGeom prst="rect">
            <a:avLst/>
          </a:prstGeom>
          <a:solidFill>
            <a:srgbClr val="112840"/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Assign Each Point to Nearest Centroid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487168"/>
            <a:ext cx="0" cy="146304"/>
          </a:xfrm>
          <a:prstGeom prst="line">
            <a:avLst/>
          </a:prstGeom>
          <a:noFill/>
          <a:ln w="19050">
            <a:solidFill>
              <a:srgbClr val="0EA5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633472"/>
            <a:ext cx="2926080" cy="475488"/>
          </a:xfrm>
          <a:prstGeom prst="rect">
            <a:avLst/>
          </a:prstGeom>
          <a:solidFill>
            <a:srgbClr val="112840"/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7004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Recalculate Centroid = Mean of Cluster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3108960"/>
            <a:ext cx="0" cy="146304"/>
          </a:xfrm>
          <a:prstGeom prst="line">
            <a:avLst/>
          </a:prstGeom>
          <a:noFill/>
          <a:ln w="19050">
            <a:solidFill>
              <a:srgbClr val="0EA5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255264"/>
            <a:ext cx="2377440" cy="530352"/>
          </a:xfrm>
          <a:prstGeom prst="rect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Assignments Changed?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08960" y="4005072"/>
            <a:ext cx="2926080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40416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DONE — Return K Clusters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3785616"/>
            <a:ext cx="0" cy="21945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37490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352044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2011680"/>
            <a:ext cx="0" cy="150876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011680"/>
            <a:ext cx="10972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1722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Yes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Repeat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389888"/>
            <a:ext cx="2606040" cy="1737360"/>
          </a:xfrm>
          <a:prstGeom prst="rect">
            <a:avLst/>
          </a:prstGeom>
          <a:solidFill>
            <a:srgbClr val="11284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4356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C9"/>
                </a:solidFill>
              </a:rPr>
              <a:t>Iterative Phase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175564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Steps 2 &amp; 3 repeat until no data point changes its cluster — this is convergence.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3255264"/>
            <a:ext cx="2606040" cy="1152144"/>
          </a:xfrm>
          <a:prstGeom prst="rect">
            <a:avLst/>
          </a:prstGeom>
          <a:solidFill>
            <a:srgbClr val="1128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3101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Decision 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6301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If assignments changed → loop back.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If stable → output clusters.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Partitioning Variants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023360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Fuzzy C-Means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1554480" cy="1371600"/>
          </a:xfrm>
          <a:prstGeom prst="ellipse">
            <a:avLst/>
          </a:prstGeom>
          <a:solidFill>
            <a:srgbClr val="8B5CF6">
              <a:alpha val="3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1417320"/>
            <a:ext cx="1554480" cy="1371600"/>
          </a:xfrm>
          <a:prstGeom prst="ellipse">
            <a:avLst/>
          </a:prstGeom>
          <a:solidFill>
            <a:srgbClr val="0EA5C9">
              <a:alpha val="35000"/>
            </a:srgbClr>
          </a:solidFill>
          <a:ln w="19050">
            <a:solidFill>
              <a:srgbClr val="0EA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20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50592" y="1920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C9"/>
                </a:solidFill>
              </a:rPr>
              <a:t>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44752" y="18470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0.7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0.3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61872" y="245059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membership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scores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92608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Clustering
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K-Means (hard assignment), Fuzzy C-Means allows each data point to belong to </a:t>
            </a:r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clusters simultaneously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fractional degrees of membership.
</a:t>
            </a:r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at the cluster boundary (e.g. 70% in A, 30% in B) captures overlap naturally — useful for ambiguous real-world data.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28032" y="822960"/>
            <a:ext cx="4023360" cy="4041648"/>
          </a:xfrm>
          <a:prstGeom prst="rect">
            <a:avLst/>
          </a:prstGeom>
          <a:solidFill>
            <a:srgbClr val="FFFFFF"/>
          </a:solidFill>
          <a:ln w="19050">
            <a:solidFill>
              <a:srgbClr val="F43F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28032" y="822960"/>
            <a:ext cx="4023360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82296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Hierarchical K-Means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92240" y="1417320"/>
            <a:ext cx="53035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4173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All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764792"/>
            <a:ext cx="-640080" cy="3200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57416" y="1764792"/>
            <a:ext cx="640080" cy="320040"/>
          </a:xfrm>
          <a:prstGeom prst="line">
            <a:avLst/>
          </a:prstGeom>
          <a:noFill/>
          <a:ln w="1905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2084832"/>
            <a:ext cx="457200" cy="320040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86600" y="2084832"/>
            <a:ext cx="45720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2404872"/>
            <a:ext cx="-365760" cy="320040"/>
          </a:xfrm>
          <a:prstGeom prst="line">
            <a:avLst/>
          </a:prstGeom>
          <a:noFill/>
          <a:ln w="15240">
            <a:solidFill>
              <a:srgbClr val="0EA5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2404872"/>
            <a:ext cx="365760" cy="320040"/>
          </a:xfrm>
          <a:prstGeom prst="line">
            <a:avLst/>
          </a:prstGeom>
          <a:noFill/>
          <a:ln w="15240">
            <a:solidFill>
              <a:srgbClr val="0EA5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2404872"/>
            <a:ext cx="-365760" cy="320040"/>
          </a:xfrm>
          <a:prstGeom prst="line">
            <a:avLst/>
          </a:prstGeom>
          <a:noFill/>
          <a:ln w="15240">
            <a:solidFill>
              <a:srgbClr val="0EA5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2404872"/>
            <a:ext cx="365760" cy="320040"/>
          </a:xfrm>
          <a:prstGeom prst="line">
            <a:avLst/>
          </a:prstGeom>
          <a:noFill/>
          <a:ln w="15240">
            <a:solidFill>
              <a:srgbClr val="0EA5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30368" y="2724912"/>
            <a:ext cx="384048" cy="274320"/>
          </a:xfrm>
          <a:prstGeom prst="ellipse">
            <a:avLst/>
          </a:prstGeom>
          <a:solidFill>
            <a:srgbClr val="0EA5C9">
              <a:alpha val="60000"/>
            </a:srgbClr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53328" y="2724912"/>
            <a:ext cx="384048" cy="274320"/>
          </a:xfrm>
          <a:prstGeom prst="ellipse">
            <a:avLst/>
          </a:prstGeom>
          <a:solidFill>
            <a:srgbClr val="0EA5C9">
              <a:alpha val="60000"/>
            </a:srgbClr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2404872"/>
            <a:ext cx="-365760" cy="32004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2404872"/>
            <a:ext cx="365760" cy="32004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29400" y="2724912"/>
            <a:ext cx="384048" cy="274320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2724912"/>
            <a:ext cx="384048" cy="274320"/>
          </a:xfrm>
          <a:prstGeom prst="ellipse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4920" y="31272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K-Means at each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hierarchical level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35661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approaches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K-Means at multiple levels of a hierarchy — first splitting data broadly, then refining each sub-group further.
</a:t>
            </a:r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initialization; avoids local optima; suitable for large, structured datasets with natural hierarchy.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31152" y="274320"/>
            <a:ext cx="1783080" cy="1536192"/>
          </a:xfrm>
          <a:prstGeom prst="rect">
            <a:avLst/>
          </a:prstGeom>
          <a:solidFill>
            <a:srgbClr val="0EA5C9">
              <a:alpha val="12000"/>
            </a:srgbClr>
          </a:solidFill>
          <a:ln w="9525">
            <a:solidFill>
              <a:srgbClr val="0EA5C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004304" y="557784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24344" y="466344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98664" y="694944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41464" y="969264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61504" y="1152144"/>
            <a:ext cx="164592" cy="164592"/>
          </a:xfrm>
          <a:prstGeom prst="ellipse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31152" y="1901952"/>
            <a:ext cx="1783080" cy="1536192"/>
          </a:xfrm>
          <a:prstGeom prst="rect">
            <a:avLst/>
          </a:prstGeom>
          <a:solidFill>
            <a:srgbClr val="F59E0B">
              <a:alpha val="12000"/>
            </a:srgbClr>
          </a:solidFill>
          <a:ln w="9525">
            <a:solidFill>
              <a:srgbClr val="F59E0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7004304" y="218541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24344" y="20939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98664" y="23225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41464" y="25968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61504" y="27797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31152" y="3529584"/>
            <a:ext cx="1783080" cy="1536192"/>
          </a:xfrm>
          <a:prstGeom prst="rect">
            <a:avLst/>
          </a:prstGeom>
          <a:solidFill>
            <a:srgbClr val="10B981">
              <a:alpha val="12000"/>
            </a:srgbClr>
          </a:solidFill>
          <a:ln w="9525">
            <a:solidFill>
              <a:srgbClr val="10B981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04304" y="38130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24344" y="37216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98664" y="39502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41464" y="42245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61504" y="44074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82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411480" y="914400"/>
            <a:ext cx="6172200" cy="676656"/>
          </a:xfrm>
          <a:prstGeom prst="rect">
            <a:avLst/>
          </a:prstGeom>
          <a:solidFill>
            <a:srgbClr val="112840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914400"/>
            <a:ext cx="658368" cy="67665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" y="1024128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Partitioning methods divide data into K clusters by iteratively refining centroids until convergence.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1480" y="1719072"/>
            <a:ext cx="6172200" cy="676656"/>
          </a:xfrm>
          <a:prstGeom prst="rect">
            <a:avLst/>
          </a:prstGeom>
          <a:solidFill>
            <a:srgbClr val="1128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1719072"/>
            <a:ext cx="65836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1719072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61288" y="1828800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K-Means is the most popular: fast, scalable, simple — but sensitive to noise and requires pre-defined K.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11480" y="2523744"/>
            <a:ext cx="6172200" cy="676656"/>
          </a:xfrm>
          <a:prstGeom prst="rect">
            <a:avLst/>
          </a:prstGeom>
          <a:solidFill>
            <a:srgbClr val="1128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2523744"/>
            <a:ext cx="658368" cy="6766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523744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61288" y="2633472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K-Medoids uses actual data points as representatives — more robust to outliers than K-Means.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11480" y="3328416"/>
            <a:ext cx="6172200" cy="676656"/>
          </a:xfrm>
          <a:prstGeom prst="rect">
            <a:avLst/>
          </a:prstGeom>
          <a:solidFill>
            <a:srgbClr val="1128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328416"/>
            <a:ext cx="658368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32841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161288" y="3438144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Fuzzy C-Means enables soft assignment — each point can belong to multiple clusters with varying membership.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11480" y="4133088"/>
            <a:ext cx="6172200" cy="676656"/>
          </a:xfrm>
          <a:prstGeom prst="rect">
            <a:avLst/>
          </a:prstGeom>
          <a:solidFill>
            <a:srgbClr val="112840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" y="4133088"/>
            <a:ext cx="658368" cy="6766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133088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05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61288" y="4242816"/>
            <a:ext cx="53218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Applications span customer segmentation, image processing, anomaly detection, and bioinformatics.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Clustering Methods – Partitioning in Data Mining</dc:title>
  <dc:subject>PptxGenJS Presentation</dc:subject>
  <dc:creator>PptxGenJS</dc:creator>
  <cp:lastModifiedBy>PptxGenJS</cp:lastModifiedBy>
  <cp:revision>1</cp:revision>
  <dcterms:created xsi:type="dcterms:W3CDTF">2026-03-16T03:19:16Z</dcterms:created>
  <dcterms:modified xsi:type="dcterms:W3CDTF">2026-03-16T03:19:16Z</dcterms:modified>
</cp:coreProperties>
</file>