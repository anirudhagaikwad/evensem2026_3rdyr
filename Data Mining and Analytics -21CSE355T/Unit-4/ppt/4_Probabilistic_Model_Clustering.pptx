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71442"/>
          </a:solidFill>
          <a:ln w="12700">
            <a:solidFill>
              <a:srgbClr val="1714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3141965"/>
            <a:ext cx="121920" cy="-7268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1280" y="3069281"/>
            <a:ext cx="121920" cy="-122886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53200" y="2946395"/>
            <a:ext cx="121920" cy="-17081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2775583"/>
            <a:ext cx="121920" cy="-18858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7040" y="2586999"/>
            <a:ext cx="121920" cy="-15126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18960" y="2435737"/>
            <a:ext cx="121920" cy="-58297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377440"/>
            <a:ext cx="121920" cy="58297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62800" y="2435737"/>
            <a:ext cx="121920" cy="15126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84720" y="2586999"/>
            <a:ext cx="121920" cy="18858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775583"/>
            <a:ext cx="121920" cy="17081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8560" y="2946395"/>
            <a:ext cx="121920" cy="122886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3151705"/>
            <a:ext cx="106680" cy="-6057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39000" y="3091135"/>
            <a:ext cx="106680" cy="-102405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45680" y="2988730"/>
            <a:ext cx="106680" cy="-142343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846386"/>
            <a:ext cx="106680" cy="-157154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9040" y="2689233"/>
            <a:ext cx="106680" cy="-126052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65720" y="2563181"/>
            <a:ext cx="106680" cy="-4858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2514600"/>
            <a:ext cx="106680" cy="4858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79080" y="2563181"/>
            <a:ext cx="106680" cy="126052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85760" y="2689233"/>
            <a:ext cx="106680" cy="157154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2846386"/>
            <a:ext cx="106680" cy="142343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9120" y="2988730"/>
            <a:ext cx="106680" cy="102405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3154951"/>
            <a:ext cx="99060" cy="-5653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8380" y="3098419"/>
            <a:ext cx="99060" cy="-95578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7440" y="3002841"/>
            <a:ext cx="99060" cy="-13285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86500" y="2869987"/>
            <a:ext cx="99060" cy="-146677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5560" y="2723310"/>
            <a:ext cx="99060" cy="-117648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4620" y="2605662"/>
            <a:ext cx="99060" cy="-4534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2560320"/>
            <a:ext cx="99060" cy="4534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82740" y="2605662"/>
            <a:ext cx="99060" cy="117648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81800" y="2723310"/>
            <a:ext cx="99060" cy="146677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80860" y="2869987"/>
            <a:ext cx="99060" cy="13285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79920" y="3002841"/>
            <a:ext cx="99060" cy="95578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1945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π₁=0.45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23317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</a:rPr>
              <a:t>π₂=0.30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18120" y="24231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π₃=0.25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18504" y="357530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371246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35624" y="375818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9944" y="352958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27064" y="384962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92824" y="36667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24344" y="3621024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98664" y="3483864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15784" y="3776472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90104" y="3666744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07224" y="3438144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67144" y="389534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50024" y="375818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2864" y="398678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41464" y="384962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0" y="425196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Mixture of Gaussians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2920" y="548640"/>
            <a:ext cx="2834640" cy="329184"/>
          </a:xfrm>
          <a:prstGeom prst="roundRect">
            <a:avLst>
              <a:gd name="adj" fmla="val 27778"/>
            </a:avLst>
          </a:prstGeom>
          <a:solidFill>
            <a:srgbClr val="4F46E5">
              <a:alpha val="7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486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MINING  •  CLUSTERING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7200" y="102412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5000" dirty="0"/>
          </a:p>
        </p:txBody>
      </p:sp>
      <p:sp>
        <p:nvSpPr>
          <p:cNvPr id="59" name="Text 57"/>
          <p:cNvSpPr/>
          <p:nvPr/>
        </p:nvSpPr>
        <p:spPr>
          <a:xfrm>
            <a:off x="457200" y="175564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5000" dirty="0"/>
          </a:p>
        </p:txBody>
      </p:sp>
      <p:sp>
        <p:nvSpPr>
          <p:cNvPr id="60" name="Text 58"/>
          <p:cNvSpPr/>
          <p:nvPr/>
        </p:nvSpPr>
        <p:spPr>
          <a:xfrm>
            <a:off x="457200" y="24871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Clustering</a:t>
            </a:r>
            <a:endParaRPr lang="en-US" sz="3600" dirty="0"/>
          </a:p>
        </p:txBody>
      </p:sp>
      <p:sp>
        <p:nvSpPr>
          <p:cNvPr id="61" name="Text 59"/>
          <p:cNvSpPr/>
          <p:nvPr/>
        </p:nvSpPr>
        <p:spPr>
          <a:xfrm>
            <a:off x="457200" y="321868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Modeling data as a mixture of probability distributions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each cluster is represented by a statistical model.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457200" y="4041648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041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GMM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194560" y="4041648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94560" y="4041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 Algorithm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931920" y="4041648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31920" y="4041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 Clustering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E1B52"/>
          </a:solidFill>
          <a:ln w="12700">
            <a:solidFill>
              <a:srgbClr val="1E1B5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0" y="4736592"/>
            <a:ext cx="64008" cy="4069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GMM  •  EM Algorithm  •  Gaussian Distributions  •  BIC/AIC  •  Soft Assignments  •  Applications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0C2B"/>
          </a:solidFill>
          <a:ln w="12700">
            <a:solidFill>
              <a:srgbClr val="0E0C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Model-Based Clustering?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1005840"/>
          </a:xfrm>
          <a:prstGeom prst="rect">
            <a:avLst/>
          </a:prstGeom>
          <a:solidFill>
            <a:srgbClr val="0E0C2B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8183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E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"Model-based clustering assumes the data is generated by a mixture of probability distributions — typically Gaussian. Each cluster corresponds to one component distribution, and data points are assigned based on probabilistic membership rather than hard boundaries."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40690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93392"/>
            <a:ext cx="64008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2395728"/>
            <a:ext cx="457200" cy="457200"/>
          </a:xfrm>
          <a:prstGeom prst="ellipse">
            <a:avLst/>
          </a:prstGeom>
          <a:solidFill>
            <a:srgbClr val="4F46E5">
              <a:alpha val="8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9848" y="2103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C2B"/>
                </a:solidFill>
              </a:rPr>
              <a:t>Probabilistic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69848" y="249631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Each data point is assigned a probability of belonging to each cluster — not a hard label.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1993392"/>
            <a:ext cx="40690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993392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2395728"/>
            <a:ext cx="457200" cy="45720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21808" y="2103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C2B"/>
                </a:solidFill>
              </a:rPr>
              <a:t>Distribution-Based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21808" y="249631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Each cluster is modeled as a parametric distribution (e.g., Gaussian) with mean μ and covariance Σ.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40690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74720"/>
            <a:ext cx="64008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3877056"/>
            <a:ext cx="457200" cy="457200"/>
          </a:xfrm>
          <a:prstGeom prst="ellipse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9848" y="3584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C2B"/>
                </a:solidFill>
              </a:rPr>
              <a:t>Mixture Model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69848" y="39776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The entire dataset is modeled as a weighted sum of K component distributions: Σ πₖ · N(μₖ, Σₖ).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3474720"/>
            <a:ext cx="40690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47472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3877056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21808" y="3584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C2B"/>
                </a:solidFill>
              </a:rPr>
              <a:t>Mixing Weights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321808" y="39776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Each cluster has a mixing weight πₖ representing the proportion of data it accounts for (Σπₖ = 1).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 (GMM)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The most widely-used probabilistic clustering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3749040"/>
          </a:xfrm>
          <a:prstGeom prst="rect">
            <a:avLst/>
          </a:prstGeom>
          <a:solidFill>
            <a:srgbClr val="1E1B5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</a:rPr>
              <a:t>GMM Visualization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3860500"/>
            <a:ext cx="106680" cy="-88836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9640" y="3771664"/>
            <a:ext cx="106680" cy="-15019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6320" y="3621470"/>
            <a:ext cx="106680" cy="-20877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412700"/>
            <a:ext cx="106680" cy="-23049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9680" y="3182208"/>
            <a:ext cx="106680" cy="-184876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6360" y="2997332"/>
            <a:ext cx="106680" cy="-7125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2926080"/>
            <a:ext cx="106680" cy="7125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69720" y="2997332"/>
            <a:ext cx="106680" cy="184876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6400" y="3182208"/>
            <a:ext cx="106680" cy="23049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3412700"/>
            <a:ext cx="106680" cy="20877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89760" y="3621470"/>
            <a:ext cx="106680" cy="15019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3870239"/>
            <a:ext cx="99060" cy="-76722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5020" y="3793517"/>
            <a:ext cx="99060" cy="-129713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64080" y="3663804"/>
            <a:ext cx="99060" cy="-180302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63140" y="3483502"/>
            <a:ext cx="99060" cy="-19906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62200" y="3284441"/>
            <a:ext cx="99060" cy="-159666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1260" y="3124776"/>
            <a:ext cx="99060" cy="-61536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3063240"/>
            <a:ext cx="99060" cy="61536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9380" y="3124776"/>
            <a:ext cx="99060" cy="159666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58440" y="3284441"/>
            <a:ext cx="99060" cy="19906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57500" y="3483502"/>
            <a:ext cx="99060" cy="180302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56560" y="3663804"/>
            <a:ext cx="99060" cy="129713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3879978"/>
            <a:ext cx="83820" cy="-64608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47060" y="3815370"/>
            <a:ext cx="83820" cy="-10923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0880" y="3706138"/>
            <a:ext cx="83820" cy="-151833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4700" y="3554305"/>
            <a:ext cx="83820" cy="-16763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98520" y="3386675"/>
            <a:ext cx="83820" cy="-134455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2340" y="3252219"/>
            <a:ext cx="83820" cy="-51819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3200400"/>
            <a:ext cx="83820" cy="51819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49980" y="3252219"/>
            <a:ext cx="83820" cy="134455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33800" y="3386675"/>
            <a:ext cx="83820" cy="16763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17620" y="3554305"/>
            <a:ext cx="83820" cy="151833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01440" y="3706138"/>
            <a:ext cx="83820" cy="10923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52144" y="3922776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80744" y="380390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63624" y="38953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43584" y="403250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72184" y="4014216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95144" y="3959352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23744" y="3831336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60904" y="3922776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86584" y="4050792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46704" y="4050792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9584" y="394106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66744" y="4050792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38144" y="412394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63040" y="2816352"/>
            <a:ext cx="0" cy="1097280"/>
          </a:xfrm>
          <a:prstGeom prst="line">
            <a:avLst/>
          </a:prstGeom>
          <a:noFill/>
          <a:ln w="12700">
            <a:solidFill>
              <a:srgbClr val="4F46E5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1280160" y="267004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μ₁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60320" y="2816352"/>
            <a:ext cx="0" cy="1097280"/>
          </a:xfrm>
          <a:prstGeom prst="line">
            <a:avLst/>
          </a:prstGeom>
          <a:noFill/>
          <a:ln w="12700">
            <a:solidFill>
              <a:srgbClr val="F43F5E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2377440" y="267004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μ₂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566160" y="2816352"/>
            <a:ext cx="0" cy="109728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3383280" y="267004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μ₃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14400" y="1463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46E5"/>
                </a:solidFill>
              </a:rPr>
              <a:t>N(μ₁,Σ₁)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011680" y="1600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3F5E"/>
                </a:solidFill>
              </a:rPr>
              <a:t>N(μ₂,Σ₂)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01752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N(μ₃,Σ₃)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81728" y="1078992"/>
            <a:ext cx="4160520" cy="804672"/>
          </a:xfrm>
          <a:prstGeom prst="rect">
            <a:avLst/>
          </a:prstGeom>
          <a:solidFill>
            <a:srgbClr val="171442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81728" y="1078992"/>
            <a:ext cx="64008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73168" y="1261872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B"/>
                </a:solidFill>
              </a:rPr>
              <a:t>∑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285232" y="11338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Mixture Formula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285232" y="142646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p(x) = Σₖ πₖ · N(x | μₖ, Σₖ) — Weighted sum of K Gaussian components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681728" y="2011680"/>
            <a:ext cx="4160520" cy="804672"/>
          </a:xfrm>
          <a:prstGeom prst="rect">
            <a:avLst/>
          </a:prstGeom>
          <a:solidFill>
            <a:srgbClr val="171442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81728" y="2011680"/>
            <a:ext cx="64008" cy="8046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73168" y="2194560"/>
            <a:ext cx="411480" cy="411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73168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B"/>
                </a:solidFill>
              </a:rPr>
              <a:t>μ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5285232" y="206654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Mean (μₖ)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285232" y="23591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Center of each Gaussian cluster. Controls where the distribution is located in data space.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681728" y="2944368"/>
            <a:ext cx="4160520" cy="804672"/>
          </a:xfrm>
          <a:prstGeom prst="rect">
            <a:avLst/>
          </a:prstGeom>
          <a:solidFill>
            <a:srgbClr val="171442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81728" y="2944368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73168" y="3127248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73168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B"/>
                </a:solidFill>
              </a:rPr>
              <a:t>Σ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5285232" y="29992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Covariance (Σₖ)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285232" y="32918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Controls the shape, orientation &amp; spread. Allows elliptical clusters — not just spherical.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681728" y="3877056"/>
            <a:ext cx="4160520" cy="804672"/>
          </a:xfrm>
          <a:prstGeom prst="rect">
            <a:avLst/>
          </a:prstGeom>
          <a:solidFill>
            <a:srgbClr val="171442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681728" y="3877056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73168" y="405993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73168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B"/>
                </a:solidFill>
              </a:rPr>
              <a:t>π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5285232" y="39319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Mixing Weight (πₖ)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5285232" y="422452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Prior probability of cluster k. Represents its relative size: 0 &lt; πₖ &lt; 1, Σπₖ = 1.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0C2B"/>
          </a:solidFill>
          <a:ln w="12700">
            <a:solidFill>
              <a:srgbClr val="0E0C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Expectation-Maximization (EM) Algorithm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685800"/>
          </a:xfrm>
          <a:prstGeom prst="rect">
            <a:avLst/>
          </a:prstGeom>
          <a:solidFill>
            <a:srgbClr val="0E0C2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8183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is an iterative optimization algorithm that finds maximum-likelihood estimates for GMM parameters. It alternates between computing probabilistic responsibilities (E-step) and updating model parameters (M-step) until convergence.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1572768" cy="3127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157276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C2B"/>
                </a:solidFill>
              </a:rPr>
              <a:t>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865376" y="1929384"/>
            <a:ext cx="11887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874520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0C2B"/>
                </a:solidFill>
              </a:rPr>
              <a:t>Initialize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14081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66"/>
                </a:solidFill>
              </a:rPr>
              <a:t>Randomly set K clusters with initial means μₖ, covariances Σₖ, and mixing weights πₖ (e.g., using K-Means++)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84248" y="1691640"/>
            <a:ext cx="1572768" cy="3127248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84248" y="1691640"/>
            <a:ext cx="1572768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16916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C2B"/>
                </a:solidFill>
              </a:rPr>
              <a:t>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575304" y="1929384"/>
            <a:ext cx="11887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1874520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46E5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57400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0C2B"/>
                </a:solidFill>
              </a:rPr>
              <a:t>E-Step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075688" y="2697480"/>
            <a:ext cx="14081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66"/>
                </a:solidFill>
              </a:rPr>
              <a:t>Compute responsibility rₙₖ: probability that point xₙ belongs to cluster k using current parameters via Bayes' theorem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94176" y="1691640"/>
            <a:ext cx="1572768" cy="312724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94176" y="1691640"/>
            <a:ext cx="157276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16916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C2B"/>
                </a:solidFill>
              </a:rPr>
              <a:t>M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285232" y="1929384"/>
            <a:ext cx="11887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2664" y="1874520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▶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67328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0C2B"/>
                </a:solidFill>
              </a:rPr>
              <a:t>M-Step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85616" y="2697480"/>
            <a:ext cx="14081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66"/>
                </a:solidFill>
              </a:rPr>
              <a:t>Update parameters: recalculate μₖ, Σₖ, πₖ using the responsibilities as soft weights to maximize log-likelihood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04104" y="1691640"/>
            <a:ext cx="1572768" cy="3127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04104" y="1691640"/>
            <a:ext cx="1572768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04104" y="16916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C2B"/>
                </a:solidFill>
              </a:rPr>
              <a:t>✓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995160" y="1929384"/>
            <a:ext cx="11887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1874520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77256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0C2B"/>
                </a:solidFill>
              </a:rPr>
              <a:t>Check Conv.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95544" y="2697480"/>
            <a:ext cx="14081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66"/>
                </a:solidFill>
              </a:rPr>
              <a:t>If log-likelihood change &lt; threshold (or max iterations reached), stop. Otherwise, go back to E-Step.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14032" y="1691640"/>
            <a:ext cx="1572768" cy="3127248"/>
          </a:xfrm>
          <a:prstGeom prst="rect">
            <a:avLst/>
          </a:prstGeom>
          <a:solidFill>
            <a:srgbClr val="FFFFFF"/>
          </a:solidFill>
          <a:ln w="19050">
            <a:solidFill>
              <a:srgbClr val="84CC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14032" y="1691640"/>
            <a:ext cx="1572768" cy="47548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16916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C2B"/>
                </a:solidFill>
              </a:rPr>
              <a:t>★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87184" y="225856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0C2B"/>
                </a:solidFill>
              </a:rPr>
              <a:t>Output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205472" y="2697480"/>
            <a:ext cx="14081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66"/>
                </a:solidFill>
              </a:rPr>
              <a:t>Return final clusters: each point's soft membership probabilities + learned Gaussian parameters per cluster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892040"/>
            <a:ext cx="8503920" cy="16459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9204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Repeat E → M until convergence  (log-likelihood stabilizes)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vs Soft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0" y="2286000"/>
            <a:ext cx="640080" cy="640080"/>
          </a:xfrm>
          <a:prstGeom prst="ellipse">
            <a:avLst/>
          </a:prstGeom>
          <a:solidFill>
            <a:srgbClr val="1E1B5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51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3840480" cy="4041648"/>
          </a:xfrm>
          <a:prstGeom prst="rect">
            <a:avLst/>
          </a:prstGeom>
          <a:solidFill>
            <a:srgbClr val="1E1B5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38404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22960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2B"/>
                </a:solidFill>
              </a:rPr>
              <a:t>K-Means  (Hard Assignment)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12848" y="1417320"/>
            <a:ext cx="0" cy="192024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2960" y="19202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1945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7373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774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5603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182880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10312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173736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37744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256032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529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Cluster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(100%)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28529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Cluster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(100%)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429000"/>
            <a:ext cx="3621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Hard boundary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→ Border point forced to one cluster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40050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Assignment: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4005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Hard — one cluster only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42793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Boundary: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4279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Sharp — crisp decision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45537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Border points: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45537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Forced — no ambiguity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482803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00200" y="48280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K-Means, K-Medoids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822960"/>
            <a:ext cx="3840480" cy="4041648"/>
          </a:xfrm>
          <a:prstGeom prst="rect">
            <a:avLst/>
          </a:prstGeom>
          <a:solidFill>
            <a:srgbClr val="1E1B52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822960"/>
            <a:ext cx="384048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822960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GMM  (Soft Assignment)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03520" y="1426464"/>
            <a:ext cx="1554480" cy="1280160"/>
          </a:xfrm>
          <a:prstGeom prst="ellipse">
            <a:avLst/>
          </a:prstGeom>
          <a:solidFill>
            <a:srgbClr val="4F46E5">
              <a:alpha val="25000"/>
            </a:srgbClr>
          </a:solidFill>
          <a:ln w="19050">
            <a:solidFill>
              <a:srgbClr val="4F46E5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492240" y="1426464"/>
            <a:ext cx="1645920" cy="1280160"/>
          </a:xfrm>
          <a:prstGeom prst="ellipse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486400" y="1783080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15000" y="1965960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2148840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178308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6680" y="196596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214884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18745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29400" y="17373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788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0.65 | 0.35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Border point: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65% in A, 35% in 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38928" y="40050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Assignment: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4005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Soft — probability per cluster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38928" y="42793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Boundary: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4279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Fuzzy — gradual transition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38928" y="45537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Border points: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55080" y="45537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Shared — fractional membership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38928" y="482803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48280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GMM, Fuzzy C-Means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0C2B"/>
          </a:solidFill>
          <a:ln w="12700">
            <a:solidFill>
              <a:srgbClr val="0E0C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Parameters &amp; Covariance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solidFill>
            <a:srgbClr val="0E0C2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0FF"/>
                </a:solidFill>
              </a:rPr>
              <a:t>The EM algorithm estimates three parameters for each cluster k: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24912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21792" cy="6217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μₖ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389888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2B"/>
                </a:solidFill>
              </a:rPr>
              <a:t>Mean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2048256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Center position of the Gaussian cluster in data space. Analogous to the centroid in K-Means.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2724912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371600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Σₖ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0" y="1389888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2B"/>
                </a:solidFill>
              </a:rPr>
              <a:t>Covariance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2048256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Controls the shape, orientation, and spread of the cluster. Enables elliptical and rotated clusters.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261872"/>
            <a:ext cx="2724912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71600"/>
            <a:ext cx="621792" cy="6217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πₖ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1389888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2B"/>
                </a:solidFill>
              </a:rPr>
              <a:t>Mixing Weight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45352" y="2048256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Prior probability of cluster k. Reflects the relative size of the cluster. All πₖ sum to 1.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2633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2B"/>
                </a:solidFill>
              </a:rPr>
              <a:t>Covariance Matrix Types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2999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covariance_type parameter controls what cluster shapes GMM can model: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364992"/>
            <a:ext cx="2029968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64992"/>
            <a:ext cx="202996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984" y="3547872"/>
            <a:ext cx="640080" cy="640080"/>
          </a:xfrm>
          <a:prstGeom prst="ellipse">
            <a:avLst/>
          </a:prstGeom>
          <a:solidFill>
            <a:srgbClr val="4F46E5">
              <a:alpha val="35000"/>
            </a:srgbClr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41648"/>
            <a:ext cx="1755648" cy="237744"/>
          </a:xfrm>
          <a:prstGeom prst="roundRect">
            <a:avLst>
              <a:gd name="adj" fmla="val 30769"/>
            </a:avLst>
          </a:prstGeom>
          <a:solidFill>
            <a:srgbClr val="4F46E5">
              <a:alpha val="7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416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spherical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334256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Single variance per cluster. Spherical clusters only. Fastest &amp; simplest.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96312" y="3364992"/>
            <a:ext cx="2029968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96312" y="3364992"/>
            <a:ext cx="20299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54096" y="3547872"/>
            <a:ext cx="914400" cy="457200"/>
          </a:xfrm>
          <a:prstGeom prst="ellipse">
            <a:avLst/>
          </a:prstGeom>
          <a:solidFill>
            <a:srgbClr val="7C3AED">
              <a:alpha val="3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33472" y="4041648"/>
            <a:ext cx="1755648" cy="237744"/>
          </a:xfrm>
          <a:prstGeom prst="roundRect">
            <a:avLst>
              <a:gd name="adj" fmla="val 30769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40416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diagonal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87752" y="4334256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Axis-aligned ellipses. Different variance per dimension. No rotation.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72584" y="3364992"/>
            <a:ext cx="2029968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72584" y="3364992"/>
            <a:ext cx="2029968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76088" y="3547872"/>
            <a:ext cx="822960" cy="502920"/>
          </a:xfrm>
          <a:prstGeom prst="ellipse">
            <a:avLst/>
          </a:prstGeom>
          <a:solidFill>
            <a:srgbClr val="F43F5E">
              <a:alpha val="35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9744" y="4041648"/>
            <a:ext cx="1755648" cy="237744"/>
          </a:xfrm>
          <a:prstGeom prst="roundRect">
            <a:avLst>
              <a:gd name="adj" fmla="val 30769"/>
            </a:avLst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40416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tied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64024" y="4334256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Same full covariance shared across all clusters. Allows rotation.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48856" y="3364992"/>
            <a:ext cx="2029968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48856" y="3364992"/>
            <a:ext cx="20299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60920" y="3547872"/>
            <a:ext cx="1005840" cy="411480"/>
          </a:xfrm>
          <a:prstGeom prst="ellipse">
            <a:avLst/>
          </a:prstGeom>
          <a:solidFill>
            <a:srgbClr val="F59E0B">
              <a:alpha val="3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86016" y="4041648"/>
            <a:ext cx="1755648" cy="237744"/>
          </a:xfrm>
          <a:prstGeom prst="roundRect">
            <a:avLst>
              <a:gd name="adj" fmla="val 30769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86016" y="40416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full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0296" y="4334256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55"/>
                </a:solidFill>
              </a:rPr>
              <a:t>Each cluster has its own full covariance. Most flexible — any shape.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Number of Clusters: BIC &amp; AIC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1E1B5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Unlike K-Means, GMM provides a principled, data-driven way to find the optimal K using statistical model selection criteria. Both BIC and AIC balance model fit vs. complexity — lower is better.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4023360" cy="3127248"/>
          </a:xfrm>
          <a:prstGeom prst="rect">
            <a:avLst/>
          </a:prstGeom>
          <a:solidFill>
            <a:srgbClr val="171442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719072"/>
            <a:ext cx="402336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19072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BIC — Bayesian Information Criterion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3749040" cy="475488"/>
          </a:xfrm>
          <a:prstGeom prst="rect">
            <a:avLst/>
          </a:prstGeom>
          <a:solidFill>
            <a:srgbClr val="1E1B52"/>
          </a:solidFill>
          <a:ln w="12700">
            <a:solidFill>
              <a:srgbClr val="1E1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042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 = -2·ln(L̂) + k·ln(n)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L̂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maximum likelihood of model
</a:t>
            </a:r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number of free parameters
</a:t>
            </a:r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number of data points
</a:t>
            </a:r>
            <a:pPr indent="0" marL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complexity more strongly than AIC. Tends to favor simpler models. Preferred for large datasets.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719072"/>
            <a:ext cx="4023360" cy="3127248"/>
          </a:xfrm>
          <a:prstGeom prst="rect">
            <a:avLst/>
          </a:prstGeom>
          <a:solidFill>
            <a:srgbClr val="17144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719072"/>
            <a:ext cx="40233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719072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AIC — Akaike Information Criterion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83480" y="2304288"/>
            <a:ext cx="3749040" cy="475488"/>
          </a:xfrm>
          <a:prstGeom prst="rect">
            <a:avLst/>
          </a:prstGeom>
          <a:solidFill>
            <a:srgbClr val="1E1B52"/>
          </a:solidFill>
          <a:ln w="12700">
            <a:solidFill>
              <a:srgbClr val="1E1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3042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 = -2·ln(L̂) + 2k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285292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L̂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maximum likelihood of model
</a:t>
            </a:r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number of free parameters
</a:t>
            </a:r>
            <a:pPr indent="0" marL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penalty on complexity. Tends to favor models with more clusters. Better for predictive accuracy on small samples.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Rule: Try K = 1 to N, compute BIC &amp; AIC, plot them — choose K at the minimum (the 'elbow')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0C2B"/>
          </a:solidFill>
          <a:ln w="12700">
            <a:solidFill>
              <a:srgbClr val="0E0C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Gaussian Mixture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40280" y="804672"/>
            <a:ext cx="32004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804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2B"/>
                </a:solidFill>
              </a:rPr>
              <a:t>K-MEANS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32120" y="804672"/>
            <a:ext cx="329184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046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GMM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1371600"/>
            <a:ext cx="1938528" cy="402336"/>
          </a:xfrm>
          <a:prstGeom prst="rect">
            <a:avLst/>
          </a:prstGeom>
          <a:solidFill>
            <a:srgbClr val="0E0C2B"/>
          </a:solidFill>
          <a:ln w="12700">
            <a:solidFill>
              <a:srgbClr val="2A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1371600"/>
            <a:ext cx="3200400" cy="402336"/>
          </a:xfrm>
          <a:prstGeom prst="rect">
            <a:avLst/>
          </a:prstGeom>
          <a:solidFill>
            <a:srgbClr val="F3F0FF"/>
          </a:solidFill>
          <a:ln w="12700">
            <a:solidFill>
              <a:srgbClr val="E2D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140817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11"/>
                </a:solidFill>
              </a:rPr>
              <a:t>Hard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1371600"/>
            <a:ext cx="3291840" cy="402336"/>
          </a:xfrm>
          <a:prstGeom prst="rect">
            <a:avLst/>
          </a:prstGeom>
          <a:solidFill>
            <a:srgbClr val="F3F0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4081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155"/>
                </a:solidFill>
              </a:rPr>
              <a:t>Soft / probabilistic assignment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828800"/>
            <a:ext cx="1938528" cy="402336"/>
          </a:xfrm>
          <a:prstGeom prst="rect">
            <a:avLst/>
          </a:prstGeom>
          <a:solidFill>
            <a:srgbClr val="0E0C2B"/>
          </a:solidFill>
          <a:ln w="12700">
            <a:solidFill>
              <a:srgbClr val="2A2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8653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Cluster Shape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0280" y="1828800"/>
            <a:ext cx="3200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186537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11"/>
                </a:solidFill>
              </a:rPr>
              <a:t>Spherical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182880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18653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155"/>
                </a:solidFill>
              </a:rPr>
              <a:t>Elliptical, any orientation (full Σ)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286000"/>
            <a:ext cx="1938528" cy="402336"/>
          </a:xfrm>
          <a:prstGeom prst="rect">
            <a:avLst/>
          </a:prstGeom>
          <a:solidFill>
            <a:srgbClr val="0E0C2B"/>
          </a:solidFill>
          <a:ln w="12700">
            <a:solidFill>
              <a:srgbClr val="2A2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225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2286000"/>
            <a:ext cx="3200400" cy="402336"/>
          </a:xfrm>
          <a:prstGeom prst="rect">
            <a:avLst/>
          </a:prstGeom>
          <a:solidFill>
            <a:srgbClr val="F3F0FF"/>
          </a:solidFill>
          <a:ln w="12700">
            <a:solidFill>
              <a:srgbClr val="E2D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4288" y="232257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11"/>
                </a:solidFill>
              </a:rPr>
              <a:t>Single cluster label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32120" y="2286000"/>
            <a:ext cx="3291840" cy="402336"/>
          </a:xfrm>
          <a:prstGeom prst="rect">
            <a:avLst/>
          </a:prstGeom>
          <a:solidFill>
            <a:srgbClr val="F3F0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23225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155"/>
                </a:solidFill>
              </a:rPr>
              <a:t>Probability per cluster (vector)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2743200"/>
            <a:ext cx="1938528" cy="402336"/>
          </a:xfrm>
          <a:prstGeom prst="rect">
            <a:avLst/>
          </a:prstGeom>
          <a:solidFill>
            <a:srgbClr val="0E0C2B"/>
          </a:solidFill>
          <a:ln w="12700">
            <a:solidFill>
              <a:srgbClr val="2A2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7797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2743200"/>
            <a:ext cx="3200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04288" y="277977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11"/>
                </a:solidFill>
              </a:rPr>
              <a:t>Geometric (distance-based)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32120" y="274320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27797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155"/>
                </a:solidFill>
              </a:rPr>
              <a:t>Statistical (likelihood-based)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3200400"/>
            <a:ext cx="1938528" cy="402336"/>
          </a:xfrm>
          <a:prstGeom prst="rect">
            <a:avLst/>
          </a:prstGeom>
          <a:solidFill>
            <a:srgbClr val="0E0C2B"/>
          </a:solidFill>
          <a:ln w="12700">
            <a:solidFill>
              <a:srgbClr val="2A2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2369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Optimal 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40280" y="3200400"/>
            <a:ext cx="3200400" cy="402336"/>
          </a:xfrm>
          <a:prstGeom prst="rect">
            <a:avLst/>
          </a:prstGeom>
          <a:solidFill>
            <a:srgbClr val="F3F0FF"/>
          </a:solidFill>
          <a:ln w="12700">
            <a:solidFill>
              <a:srgbClr val="E2D8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04288" y="323697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11"/>
                </a:solidFill>
              </a:rPr>
              <a:t>Elbow method (heuristic)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32120" y="3200400"/>
            <a:ext cx="3291840" cy="402336"/>
          </a:xfrm>
          <a:prstGeom prst="rect">
            <a:avLst/>
          </a:prstGeom>
          <a:solidFill>
            <a:srgbClr val="F3F0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96128" y="32369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155"/>
                </a:solidFill>
              </a:rPr>
              <a:t>BIC / AIC (principled criterion)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3657600"/>
            <a:ext cx="1938528" cy="402336"/>
          </a:xfrm>
          <a:prstGeom prst="rect">
            <a:avLst/>
          </a:prstGeom>
          <a:solidFill>
            <a:srgbClr val="0E0C2B"/>
          </a:solidFill>
          <a:ln w="12700">
            <a:solidFill>
              <a:srgbClr val="2A2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6941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Robustness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40280" y="3657600"/>
            <a:ext cx="3200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04288" y="369417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11"/>
                </a:solidFill>
              </a:rPr>
              <a:t>Sensitive to outliers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32120" y="365760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36941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155"/>
                </a:solidFill>
              </a:rPr>
              <a:t>More robust (soft boundaries)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" y="4114800"/>
            <a:ext cx="1938528" cy="402336"/>
          </a:xfrm>
          <a:prstGeom prst="rect">
            <a:avLst/>
          </a:prstGeom>
          <a:solidFill>
            <a:srgbClr val="0E0C2B"/>
          </a:solidFill>
          <a:ln w="12700">
            <a:solidFill>
              <a:srgbClr val="2A20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1513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Speed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40280" y="4114800"/>
            <a:ext cx="3200400" cy="402336"/>
          </a:xfrm>
          <a:prstGeom prst="rect">
            <a:avLst/>
          </a:prstGeom>
          <a:solidFill>
            <a:srgbClr val="F3F0FF"/>
          </a:solidFill>
          <a:ln w="12700">
            <a:solidFill>
              <a:srgbClr val="E2D8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04288" y="415137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11"/>
                </a:solidFill>
              </a:rPr>
              <a:t>Very fast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32120" y="4114800"/>
            <a:ext cx="3291840" cy="402336"/>
          </a:xfrm>
          <a:prstGeom prst="rect">
            <a:avLst/>
          </a:prstGeom>
          <a:solidFill>
            <a:srgbClr val="F3F0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96128" y="41513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155"/>
                </a:solidFill>
              </a:rPr>
              <a:t>Slower (iterative EM)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56032" y="4572000"/>
            <a:ext cx="1938528" cy="402336"/>
          </a:xfrm>
          <a:prstGeom prst="rect">
            <a:avLst/>
          </a:prstGeom>
          <a:solidFill>
            <a:srgbClr val="0E0C2B"/>
          </a:solidFill>
          <a:ln w="12700">
            <a:solidFill>
              <a:srgbClr val="2A2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6085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Best For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40280" y="4572000"/>
            <a:ext cx="3200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04288" y="460857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11"/>
                </a:solidFill>
              </a:rPr>
              <a:t>Compact, well-separated clusters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532120" y="457200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B8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96128" y="46085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155"/>
                </a:solidFill>
              </a:rPr>
              <a:t>Overlapping, complex cluster shapes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— GMM with sklearn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257800" cy="4114800"/>
          </a:xfrm>
          <a:prstGeom prst="rect">
            <a:avLst/>
          </a:prstGeom>
          <a:solidFill>
            <a:srgbClr val="12122A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5257800" cy="310896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●●●  gmm_clustering.py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02336" y="1161288"/>
            <a:ext cx="5047488" cy="363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sklearn.mixture </a:t>
            </a:r>
            <a:pPr indent="0" marL="0">
              <a:buNone/>
            </a:pPr>
            <a:r>
              <a:rPr lang="en-US" sz="98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GaussianMixture
</a:t>
            </a:r>
            <a:pPr indent="0" marL="0">
              <a:buNone/>
            </a:pPr>
            <a:r>
              <a:rPr lang="en-US" sz="98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sklearn.datasets </a:t>
            </a:r>
            <a:pPr indent="0" marL="0">
              <a:buNone/>
            </a:pPr>
            <a:r>
              <a:rPr lang="en-US" sz="98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load_iris
</a:t>
            </a:r>
            <a:pPr indent="0" marL="0">
              <a:buNone/>
            </a:pPr>
            <a:r>
              <a:rPr lang="en-US" sz="98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pPr indent="0" marL="0">
              <a:buNone/>
            </a:pPr>
            <a:r>
              <a:rPr lang="en-US" sz="98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pPr indent="0" marL="0">
              <a:buNone/>
            </a:pPr>
            <a:r>
              <a:rPr lang="en-US" sz="980" dirty="0">
                <a:solidFill>
                  <a:srgbClr val="5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data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load_iris().data
</a:t>
            </a:r>
            <a:pPr indent="0" marL="0">
              <a:buNone/>
            </a:pPr>
            <a:r>
              <a:rPr lang="en-US" sz="980" dirty="0">
                <a:solidFill>
                  <a:srgbClr val="5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GMM with 3 components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gmm = GaussianMixture(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n_components=</a:t>
            </a:r>
            <a:pPr indent="0" marL="0">
              <a:buNone/>
            </a:pPr>
            <a:r>
              <a:rPr lang="en-US" sz="98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covariance_type=</a:t>
            </a:r>
            <a:pPr indent="0" marL="0">
              <a:buNone/>
            </a:pP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'full'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n_init=</a:t>
            </a:r>
            <a:pPr indent="0" marL="0">
              <a:buNone/>
            </a:pPr>
            <a:r>
              <a:rPr lang="en-US" sz="98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random_state=</a:t>
            </a:r>
            <a:pPr indent="0" marL="0">
              <a:buNone/>
            </a:pPr>
            <a:r>
              <a:rPr lang="en-US" sz="98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80" dirty="0">
                <a:solidFill>
                  <a:srgbClr val="5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Hard labels + soft probabilities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gmm.fit_predict(X)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  = gmm.predict_proba(X)
</a:t>
            </a:r>
            <a:pPr indent="0" marL="0">
              <a:buNone/>
            </a:pPr>
            <a:r>
              <a:rPr lang="en-US" sz="980" dirty="0">
                <a:solidFill>
                  <a:srgbClr val="5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selection
</a:t>
            </a:r>
            <a:pPr indent="0" marL="0">
              <a:buNone/>
            </a:pPr>
            <a:r>
              <a:rPr lang="en-US" sz="9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f'BIC: {gmm.bic(X):.1f} | AIC: {gmm.aic(X):.1f}'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742432" y="804672"/>
            <a:ext cx="3108960" cy="566928"/>
          </a:xfrm>
          <a:prstGeom prst="rect">
            <a:avLst/>
          </a:prstGeom>
          <a:solidFill>
            <a:srgbClr val="1E1B52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804672"/>
            <a:ext cx="64008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0448" y="84124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n_components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70448" y="10972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03720" y="87782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Number of Gaussian components (clusters)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42432" y="1463040"/>
            <a:ext cx="3108960" cy="566928"/>
          </a:xfrm>
          <a:prstGeom prst="rect">
            <a:avLst/>
          </a:prstGeom>
          <a:solidFill>
            <a:srgbClr val="1E1B52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2432" y="1463040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49961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covariance_type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70448" y="17556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'full'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03720" y="15361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Allows any elliptical cluster shape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42432" y="2121408"/>
            <a:ext cx="3108960" cy="566928"/>
          </a:xfrm>
          <a:prstGeom prst="rect">
            <a:avLst/>
          </a:prstGeom>
          <a:solidFill>
            <a:srgbClr val="1E1B52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42432" y="2121408"/>
            <a:ext cx="64008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2157984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70448" y="24140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03720" y="21945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Re-runs to avoid local optima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42432" y="2779776"/>
            <a:ext cx="3108960" cy="566928"/>
          </a:xfrm>
          <a:prstGeom prst="rect">
            <a:avLst/>
          </a:prstGeom>
          <a:solidFill>
            <a:srgbClr val="1E1B52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42432" y="2779776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2816352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fit_predict()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70448" y="30723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labels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28529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Hard cluster label per data point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42432" y="3438144"/>
            <a:ext cx="3108960" cy="566928"/>
          </a:xfrm>
          <a:prstGeom prst="rect">
            <a:avLst/>
          </a:prstGeom>
          <a:solidFill>
            <a:srgbClr val="1E1B52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42432" y="3438144"/>
            <a:ext cx="64008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347472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predict_proba()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70448" y="37307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matrix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03720" y="35112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Soft probabilities [n_samples × K]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42432" y="4096512"/>
            <a:ext cx="3108960" cy="566928"/>
          </a:xfrm>
          <a:prstGeom prst="rect">
            <a:avLst/>
          </a:prstGeom>
          <a:solidFill>
            <a:srgbClr val="1E1B52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42432" y="4096512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0448" y="413308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bic() / aic()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70448" y="43891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scores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416966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Model selection criteria for optimal 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42432" y="4736592"/>
            <a:ext cx="3108960" cy="274320"/>
          </a:xfrm>
          <a:prstGeom prst="rect">
            <a:avLst/>
          </a:prstGeom>
          <a:solidFill>
            <a:srgbClr val="84CC16">
              <a:alpha val="8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4736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[0,2,1,2,0,...] | probs = [[0.9,0.1,0.0],...]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0C2B"/>
          </a:solidFill>
          <a:ln w="12700">
            <a:solidFill>
              <a:srgbClr val="0E0C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Strengths &amp; Limitations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6908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C2B"/>
                </a:solidFill>
              </a:rPr>
              <a:t>Applications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196596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64008" cy="6217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26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135331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0C2B"/>
                </a:solidFill>
              </a:rPr>
              <a:t>Market Segmentation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62763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Probabilistic customer clustering for personalized targeting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04288" y="1298448"/>
            <a:ext cx="196596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04288" y="1298448"/>
            <a:ext cx="64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426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135331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0C2B"/>
                </a:solidFill>
              </a:rPr>
              <a:t>Image 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162763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Density estimation &amp; pixel clustering for computer vision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196596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011680"/>
            <a:ext cx="6400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39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" y="206654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0C2B"/>
                </a:solidFill>
              </a:rPr>
              <a:t>Bioinformatics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234086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Gene expression analysis and biological subgroup discovery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04288" y="2011680"/>
            <a:ext cx="196596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304288" y="2011680"/>
            <a:ext cx="64008" cy="6217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14016" y="2139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34640" y="206654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0C2B"/>
                </a:solidFill>
              </a:rPr>
              <a:t>Anomaly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234086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Low-probability data points flagged as outliers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724912"/>
            <a:ext cx="196596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84CC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724912"/>
            <a:ext cx="64008" cy="62179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" y="277977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0C2B"/>
                </a:solidFill>
              </a:rPr>
              <a:t>NLP / Topic Modeling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305409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Latent class analysis for text clustering and topic extraction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04288" y="2724912"/>
            <a:ext cx="196596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304288" y="2724912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14016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834640" y="277977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0C2B"/>
                </a:solidFill>
              </a:rPr>
              <a:t>Finance &amp; Risk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34640" y="305409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Portfolio segmentation and fraud pattern detection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804672"/>
            <a:ext cx="4251960" cy="384048"/>
          </a:xfrm>
          <a:prstGeom prst="rect">
            <a:avLst/>
          </a:prstGeom>
          <a:solidFill>
            <a:srgbClr val="84CC16">
              <a:alpha val="8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804672"/>
            <a:ext cx="4032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C2B"/>
                </a:solidFill>
              </a:rPr>
              <a:t>✦  Strengths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681728" y="1335024"/>
            <a:ext cx="201168" cy="20116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131673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322"/>
                </a:solidFill>
              </a:rPr>
              <a:t>Flexible cluster shapes (spherical to elliptical, rotated)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81728" y="1865376"/>
            <a:ext cx="201168" cy="20116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18470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322"/>
                </a:solidFill>
              </a:rPr>
              <a:t>Soft assignments — captures uncertainty and overlap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681728" y="2395728"/>
            <a:ext cx="201168" cy="20116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74336" y="2377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322"/>
                </a:solidFill>
              </a:rPr>
              <a:t>Principled model selection with BIC and AIC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681728" y="2926080"/>
            <a:ext cx="201168" cy="20116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74336" y="29077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322"/>
                </a:solidFill>
              </a:rPr>
              <a:t>Generative model — can synthesize new data samples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0" y="3456432"/>
            <a:ext cx="4251960" cy="384048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3456432"/>
            <a:ext cx="4032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C2B"/>
                </a:solidFill>
              </a:rPr>
              <a:t>⚠  Limitations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4681728" y="3950208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3931920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33"/>
                </a:solidFill>
              </a:rPr>
              <a:t>Sensitive to initialization — may converge to local optima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81728" y="4224528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4206240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33"/>
                </a:solidFill>
              </a:rPr>
              <a:t>Assumes Gaussian distributions — poor for non-Gaussian data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81728" y="4498848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56048" y="4480560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33"/>
                </a:solidFill>
              </a:rPr>
              <a:t>Computationally slow on high-dimensional / large datasets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81728" y="4773168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4754880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33"/>
                </a:solidFill>
              </a:rPr>
              <a:t>Requires specifying K (or using BIC/AIC to infer it)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71442"/>
          </a:solidFill>
          <a:ln w="12700">
            <a:solidFill>
              <a:srgbClr val="1714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956492"/>
            <a:ext cx="99060" cy="-68646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14260" y="1887846"/>
            <a:ext cx="99060" cy="-116059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13320" y="1771787"/>
            <a:ext cx="99060" cy="-161323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2380" y="1610464"/>
            <a:ext cx="99060" cy="-178107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11440" y="1432357"/>
            <a:ext cx="99060" cy="-142859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0500" y="1289498"/>
            <a:ext cx="99060" cy="-55058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234440"/>
            <a:ext cx="99060" cy="55058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8620" y="1289498"/>
            <a:ext cx="99060" cy="142859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07680" y="1432357"/>
            <a:ext cx="99060" cy="178107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06740" y="1610464"/>
            <a:ext cx="99060" cy="161323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5800" y="1771787"/>
            <a:ext cx="99060" cy="116059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2968825"/>
            <a:ext cx="83820" cy="-6057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78980" y="2908255"/>
            <a:ext cx="83820" cy="-102405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62800" y="2805850"/>
            <a:ext cx="83820" cy="-142343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6620" y="2663506"/>
            <a:ext cx="83820" cy="-157154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0440" y="2506353"/>
            <a:ext cx="83820" cy="-126052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14260" y="2380301"/>
            <a:ext cx="83820" cy="-4858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331720"/>
            <a:ext cx="83820" cy="48581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1900" y="2380301"/>
            <a:ext cx="83820" cy="126052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5720" y="2506353"/>
            <a:ext cx="83820" cy="157154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49540" y="2663506"/>
            <a:ext cx="83820" cy="142343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33360" y="2805850"/>
            <a:ext cx="83820" cy="102405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3249637"/>
            <a:ext cx="76200" cy="-5249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48600" y="3197143"/>
            <a:ext cx="76200" cy="-88751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24800" y="3108392"/>
            <a:ext cx="76200" cy="-12336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2985028"/>
            <a:ext cx="76200" cy="-13620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7200" y="2848828"/>
            <a:ext cx="76200" cy="-109245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3400" y="2739583"/>
            <a:ext cx="76200" cy="-42103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2697480"/>
            <a:ext cx="76200" cy="42103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05800" y="2739583"/>
            <a:ext cx="76200" cy="109245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82000" y="2848828"/>
            <a:ext cx="76200" cy="13620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58200" y="2985028"/>
            <a:ext cx="76200" cy="12336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34400" y="3108392"/>
            <a:ext cx="76200" cy="88751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78040" y="2029968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1938528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2057400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306324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2944368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329184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315468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Σ πₖ·N(x|μₖ,Σₖ)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16459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8" name="Shape 46"/>
          <p:cNvSpPr/>
          <p:nvPr/>
        </p:nvSpPr>
        <p:spPr>
          <a:xfrm>
            <a:off x="411480" y="960120"/>
            <a:ext cx="6217920" cy="676656"/>
          </a:xfrm>
          <a:prstGeom prst="rect">
            <a:avLst/>
          </a:prstGeom>
          <a:solidFill>
            <a:srgbClr val="1E1B5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2B"/>
                </a:solidFill>
              </a:rPr>
              <a:t>01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170432" y="1078992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Model-based clustering assumes data is generated by a mixture of probability distributions (Gaussians).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411480" y="1755648"/>
            <a:ext cx="6217920" cy="676656"/>
          </a:xfrm>
          <a:prstGeom prst="rect">
            <a:avLst/>
          </a:prstGeom>
          <a:solidFill>
            <a:srgbClr val="1E1B5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2B"/>
                </a:solidFill>
              </a:rPr>
              <a:t>02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170432" y="1874520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GMM assigns each point a probability of belonging to each cluster — enabling soft, fuzzy assignments.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11480" y="2551176"/>
            <a:ext cx="6217920" cy="676656"/>
          </a:xfrm>
          <a:prstGeom prst="rect">
            <a:avLst/>
          </a:prstGeom>
          <a:solidFill>
            <a:srgbClr val="1E1B5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2B"/>
                </a:solidFill>
              </a:rPr>
              <a:t>03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170432" y="2670048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EM algorithm iterates E-step (responsibilities) and M-step (parameter update) until convergence.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11480" y="3346704"/>
            <a:ext cx="6217920" cy="676656"/>
          </a:xfrm>
          <a:prstGeom prst="rect">
            <a:avLst/>
          </a:prstGeom>
          <a:solidFill>
            <a:srgbClr val="1E1B5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2B"/>
                </a:solidFill>
              </a:rPr>
              <a:t>04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170432" y="3465576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BIC and AIC provide a principled, data-driven method to select the optimal number of clusters K.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411480" y="4142232"/>
            <a:ext cx="6217920" cy="676656"/>
          </a:xfrm>
          <a:prstGeom prst="rect">
            <a:avLst/>
          </a:prstGeom>
          <a:solidFill>
            <a:srgbClr val="1E1B5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2B"/>
                </a:solidFill>
              </a:rPr>
              <a:t>05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170432" y="4261104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GMM supports flexible cluster shapes via covariance types: spherical, diagonal, tied, and full.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Probabilistic Model-Based Clustering in Data Mining</dc:title>
  <dc:subject>PptxGenJS Presentation</dc:subject>
  <dc:creator>PptxGenJS</dc:creator>
  <cp:lastModifiedBy>PptxGenJS</cp:lastModifiedBy>
  <cp:revision>1</cp:revision>
  <dcterms:created xsi:type="dcterms:W3CDTF">2026-03-16T03:37:50Z</dcterms:created>
  <dcterms:modified xsi:type="dcterms:W3CDTF">2026-03-16T03:37:50Z</dcterms:modified>
</cp:coreProperties>
</file>