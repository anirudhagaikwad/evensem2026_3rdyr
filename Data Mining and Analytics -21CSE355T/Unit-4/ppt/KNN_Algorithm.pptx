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1A3A5C">
              <a:alpha val="30000"/>
            </a:srgbClr>
          </a:solidFill>
          <a:ln w="1270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ALGORITHM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guide to KNN in Machine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</a:rPr>
              <a:t>Classification  •  Distance Metrics  •  K Selection  •  Python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46304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0972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01168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4688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01168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74320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2004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83464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1014984"/>
            <a:ext cx="640080" cy="5486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904" y="1563624"/>
            <a:ext cx="640080" cy="64008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K-Nearest Neighbors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Supervised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Classification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5486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is a simple yet powerful supervised classification technique that identifies the class of a sample by measuring its similarity with nearby points.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178308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20116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Supervised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9718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Uses labeled training data with known input-output pairs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178308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0116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∞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Non-Parametric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9718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Makes no assumptions about the data's underlying distribution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874520"/>
            <a:ext cx="178308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20116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Lazy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9718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Stores all training data; no explicit model training phase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572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Part of Supervised Learning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Step-by-step algorithm walkthrough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41732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38528" y="1673352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Choose 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46888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Select the number of nearest neighbors to consider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84832" y="1280160"/>
            <a:ext cx="1554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41732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1673352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Calc Distance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57984" y="246888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Compute Euclidean (or other) distance from the target point to all training points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03904" y="1280160"/>
            <a:ext cx="1554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41732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76672" y="1673352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Find Neighbors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77056" y="246888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Select the K closest training samples based on calculated distance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22976" y="1280160"/>
            <a:ext cx="1554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4184" y="141732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95744" y="1673352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Count Votes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96128" y="246888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Count how many neighbors belong to each class/category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2048" y="1280160"/>
            <a:ext cx="1554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3256" y="141732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32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87768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Assign Class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46888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Assign the new data point to the class with the most neighbors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Distance: d = √[(x₁-x₂)² + (y₁-y₂)²]    |    Manhattan: d = |x₁-x₂| + |y₁-y₂|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384048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04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Small K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too sensitive to noise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predictions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jagged decision boundaries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generalization to new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68580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685800"/>
            <a:ext cx="384048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704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Large K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— too smooth a boundary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in predictions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decision boundaries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misclassifications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8366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✦  Best Practices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</a:rPr>
              <a:t>Use odd K to avoid ties  •  Try K = √(n) as a starting point  •  Plot error rate vs K and select minimum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Choosing how to measure 'closeness' determines KNN's behaviour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5661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612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Euclidean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618488"/>
            <a:ext cx="17922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184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√[(x₁−x₂)² + (y₁−y₂)²]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Straight-line distance. Most common. Best when data moves freely in space.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USE: General purpose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1143000"/>
            <a:ext cx="2011680" cy="3566160"/>
          </a:xfrm>
          <a:prstGeom prst="rect">
            <a:avLst/>
          </a:prstGeom>
          <a:solidFill>
            <a:srgbClr val="1A3A5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143000"/>
            <a:ext cx="20116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1612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Manhattan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0" y="1618488"/>
            <a:ext cx="17922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6184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|x₁−x₂| + |y₁−y₂|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42032" y="23774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Sum of absolute differences. Used when movement is grid-constrained (like city blocks).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2032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USE: Grid/city navigation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143000"/>
            <a:ext cx="2011680" cy="3566160"/>
          </a:xfrm>
          <a:prstGeom prst="rect">
            <a:avLst/>
          </a:prstGeom>
          <a:solidFill>
            <a:srgbClr val="1A3A5C"/>
          </a:solidFill>
          <a:ln w="19050">
            <a:solidFill>
              <a:srgbClr val="8ECA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143000"/>
            <a:ext cx="2011680" cy="347472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1612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Minkowski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36592" y="1618488"/>
            <a:ext cx="17922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6184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(Σ|xᵢ−yᵢ|ᵖ)^(1/p)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18304" y="23774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Generalization of Euclidean (p=2) and Manhattan (p=1). Flexible for different problems.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18304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CAE6"/>
                </a:solidFill>
              </a:rPr>
              <a:t>USE: Generalized metric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03136" y="1143000"/>
            <a:ext cx="2011680" cy="35661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143000"/>
            <a:ext cx="20116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1612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Hamming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12864" y="1618488"/>
            <a:ext cx="17922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16184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XOR-based bit count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94576" y="23774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Counts differing positions between two strings or binary vectors.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94576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B6"/>
                </a:solidFill>
              </a:rPr>
              <a:t>USE: Text / binary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KNN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1645920" cy="1261872"/>
          </a:xfrm>
          <a:prstGeom prst="rect">
            <a:avLst/>
          </a:prstGeom>
          <a:solidFill>
            <a:srgbClr val="0077B6">
              <a:alpha val="8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KD-Tree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868680"/>
            <a:ext cx="5212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training data into blocks based on random dimensions. Uses median values to partition space recursively. At inference, only samples in the same block are compared.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841248"/>
            <a:ext cx="1280160" cy="11155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841248"/>
            <a:ext cx="1280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BENEFIT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Avoids comparing with all training 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8412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67128"/>
            <a:ext cx="1645920" cy="1261872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Ball 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2258568"/>
            <a:ext cx="5212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nested circular (ball-shaped) clusters. Each cluster has a centroid. During inference, only the relevant cluster's points are searched.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231136"/>
            <a:ext cx="1280160" cy="11155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231136"/>
            <a:ext cx="1280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BENEFIT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Efficient for high-dimensional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8412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57016"/>
            <a:ext cx="1645920" cy="12618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30168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Approx. Nearest Neighbor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48840" y="3648456"/>
            <a:ext cx="5212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 hyperplanes to divide space into sub-regions. Maps each point to a sub-region. Finds approximate (not exact) nearest neighbors quickly.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621024"/>
            <a:ext cx="1280160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621024"/>
            <a:ext cx="1280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BENEFIT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Trades accuracy for speed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Curse of Dimensionality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19202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low-dimensional data, some points are close and some are far.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dimensions (e.g. d=100), all points become nearly equidistant — making 'nearest neighbor' meaningless.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requires points to be close along EVERY axis, which becomes exponentially harder to satisfy.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3108960" cy="19202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960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Dimensions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426464"/>
            <a:ext cx="1645920" cy="201168"/>
          </a:xfrm>
          <a:prstGeom prst="rect">
            <a:avLst/>
          </a:prstGeom>
          <a:solidFill>
            <a:srgbClr val="0077B6">
              <a:alpha val="4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426464"/>
            <a:ext cx="1399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14081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85% density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828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= 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83664"/>
            <a:ext cx="1645920" cy="201168"/>
          </a:xfrm>
          <a:prstGeom prst="rect">
            <a:avLst/>
          </a:prstGeom>
          <a:solidFill>
            <a:srgbClr val="0077B6">
              <a:alpha val="4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883664"/>
            <a:ext cx="74066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8653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45% density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2286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= 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340864"/>
            <a:ext cx="1645920" cy="201168"/>
          </a:xfrm>
          <a:prstGeom prst="rect">
            <a:avLst/>
          </a:prstGeom>
          <a:solidFill>
            <a:srgbClr val="0077B6">
              <a:alpha val="4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340864"/>
            <a:ext cx="19751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23225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12% density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Solutions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Data  </a:t>
            </a:r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points maintain density as dimensions grow
</a:t>
            </a:r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 </a:t>
            </a:r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PCA or feature selection to reduce d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Keep only meaningful, relevant features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402336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04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✦  Advantages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31673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984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for classification tasks with dense, labeled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975104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easy to understand and implement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633472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151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training required — immediate predictions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291840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735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hyperparameter tuning (just 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950208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319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multi-class classification naturally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685800"/>
            <a:ext cx="40233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685800"/>
            <a:ext cx="4023360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704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✦  Disadvantages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10912" y="1316736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2984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— recalculates all distances at inference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10912" y="1975104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noise and irrelevant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10912" y="2633472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6151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 on high-dimensional data (Curse of Dimensionality)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3291840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2735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significant memory for large datasets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10912" y="3950208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9319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or misclassify with poor K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Where KNN shines in industry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Plagiarism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Checks semantic similarity between documents to detect copied content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Healthcare Diagnostics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Diagnoses diseases based on subtle symptom patterns and patient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Recommendation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Netflix uses KNN to suggest content based on viewing similarity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Face Recognition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Identifies faces by finding closest match in feature space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Behavioral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Psychologists classify people based on responses and behavior patterns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56032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E-Commerce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Product recommendations based on purchase history similarities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5303520" cy="42976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5303520" cy="3200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751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● ● ●  knn_iris.py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sklearn.datasets 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load_iris
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sklearn.model_selection 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train_test_split
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sklearn.neighbors 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KNeighborsClassifier
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pPr indent="0" marL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accuracy_score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Iris dataset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= load_iris()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iris.data, iris.target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train_test_split(X, y, test_size=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KNN (K=5)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 = KNeighborsClassifier(n_neighbors=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knn.fit(X_train, y_train)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&amp; Evaluate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accuracy_score(y_test, knn.predict(X_test))
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f'Accuracy: {acc:.2%}'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658368"/>
            <a:ext cx="29718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713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0241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Accuracy: 98.33%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2160" y="2011680"/>
            <a:ext cx="2971800" cy="2944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011680"/>
            <a:ext cx="2971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0299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Iris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4871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Samples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4871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150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834640"/>
            <a:ext cx="2697480" cy="0"/>
          </a:xfrm>
          <a:prstGeom prst="line">
            <a:avLst/>
          </a:prstGeom>
          <a:noFill/>
          <a:ln w="6350">
            <a:solidFill>
              <a:srgbClr val="8EC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273552"/>
            <a:ext cx="2697480" cy="0"/>
          </a:xfrm>
          <a:prstGeom prst="line">
            <a:avLst/>
          </a:prstGeom>
          <a:noFill/>
          <a:ln w="6350">
            <a:solidFill>
              <a:srgbClr val="8EC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Classes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3364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3 species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712464"/>
            <a:ext cx="2697480" cy="0"/>
          </a:xfrm>
          <a:prstGeom prst="line">
            <a:avLst/>
          </a:prstGeom>
          <a:noFill/>
          <a:ln w="6350">
            <a:solidFill>
              <a:srgbClr val="8EC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803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Best 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38039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4151376"/>
            <a:ext cx="2697480" cy="0"/>
          </a:xfrm>
          <a:prstGeom prst="line">
            <a:avLst/>
          </a:prstGeom>
          <a:noFill/>
          <a:ln w="635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42428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Accuracy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424281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~98%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1A3A5C">
              <a:alpha val="30000"/>
            </a:srgbClr>
          </a:solidFill>
          <a:ln w="1270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A3A5C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058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a simple, powerful supervised classification algorithm based on similarity.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658368"/>
          </a:xfrm>
          <a:prstGeom prst="rect">
            <a:avLst/>
          </a:prstGeom>
          <a:solidFill>
            <a:srgbClr val="1A3A5C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373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7830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calculates distance (Euclidean, Manhattan, etc.) to find the K closest neighbors.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658368"/>
          </a:xfrm>
          <a:prstGeom prst="rect">
            <a:avLst/>
          </a:prstGeom>
          <a:solidFill>
            <a:srgbClr val="1A3A5C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1460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selection is critical — too small causes overfitting, too large causes underfitting.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658368"/>
          </a:xfrm>
          <a:prstGeom prst="rect">
            <a:avLst/>
          </a:prstGeom>
          <a:solidFill>
            <a:srgbClr val="1A3A5C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91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33756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lazy — no training phase, but expensive at inference time for large datasets.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1A3A5C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69080"/>
            <a:ext cx="64008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69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1148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Speed-ups like KD-Tree and Ball Tree make KNN scalable for real-world use.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Algorithm in Machine Learning</dc:title>
  <dc:subject>PptxGenJS Presentation</dc:subject>
  <dc:creator>PptxGenJS</dc:creator>
  <cp:lastModifiedBy>PptxGenJS</cp:lastModifiedBy>
  <cp:revision>1</cp:revision>
  <dcterms:created xsi:type="dcterms:W3CDTF">2026-03-12T04:23:54Z</dcterms:created>
  <dcterms:modified xsi:type="dcterms:W3CDTF">2026-03-12T04:23:54Z</dcterms:modified>
</cp:coreProperties>
</file>