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62B1C"/>
          </a:solidFill>
          <a:ln w="12700">
            <a:solidFill>
              <a:srgbClr val="162B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4023360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12280" y="4023360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402336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35240" y="402336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0" y="4023360"/>
            <a:ext cx="182880" cy="18288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1040" y="4023360"/>
            <a:ext cx="182880" cy="18288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4023360"/>
            <a:ext cx="0" cy="-45720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03720" y="4023360"/>
            <a:ext cx="0" cy="-45720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3566160"/>
            <a:ext cx="41148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06540" y="3474720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0" y="4023360"/>
            <a:ext cx="0" cy="-45720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4023360"/>
            <a:ext cx="0" cy="-45720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0" y="3566160"/>
            <a:ext cx="4114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29500" y="347472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2440" y="4023360"/>
            <a:ext cx="0" cy="-457200"/>
          </a:xfrm>
          <a:prstGeom prst="line">
            <a:avLst/>
          </a:prstGeom>
          <a:noFill/>
          <a:ln w="19050">
            <a:solidFill>
              <a:srgbClr val="FB92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0" y="4023360"/>
            <a:ext cx="0" cy="-457200"/>
          </a:xfrm>
          <a:prstGeom prst="line">
            <a:avLst/>
          </a:prstGeom>
          <a:noFill/>
          <a:ln w="19050">
            <a:solidFill>
              <a:srgbClr val="FB92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92440" y="3566160"/>
            <a:ext cx="320040" cy="0"/>
          </a:xfrm>
          <a:prstGeom prst="line">
            <a:avLst/>
          </a:prstGeom>
          <a:noFill/>
          <a:ln w="19050">
            <a:solidFill>
              <a:srgbClr val="FB92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61020" y="3474720"/>
            <a:ext cx="182880" cy="18288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97980" y="3566160"/>
            <a:ext cx="0" cy="-64008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20940" y="3566160"/>
            <a:ext cx="0" cy="-64008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97980" y="2926080"/>
            <a:ext cx="82296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14032" y="2834640"/>
            <a:ext cx="182880" cy="1828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05472" y="2834640"/>
            <a:ext cx="0" cy="-64008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52460" y="3566160"/>
            <a:ext cx="0" cy="-1371600"/>
          </a:xfrm>
          <a:prstGeom prst="line">
            <a:avLst/>
          </a:prstGeom>
          <a:noFill/>
          <a:ln w="19050">
            <a:solidFill>
              <a:srgbClr val="FB92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05472" y="2194560"/>
            <a:ext cx="1046988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08392" y="2103120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18120" y="2103120"/>
            <a:ext cx="0" cy="-100584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26680" y="1005840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18120" y="84124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ROOT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0" y="46634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Dendrogram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" y="548640"/>
            <a:ext cx="2560320" cy="329184"/>
          </a:xfrm>
          <a:prstGeom prst="roundRect">
            <a:avLst>
              <a:gd name="adj" fmla="val 27778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54864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HIERARCHICAL CLUSTERING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57200" y="1024128"/>
            <a:ext cx="5212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endParaRPr lang="en-US" sz="5200" dirty="0"/>
          </a:p>
        </p:txBody>
      </p:sp>
      <p:sp>
        <p:nvSpPr>
          <p:cNvPr id="37" name="Text 35"/>
          <p:cNvSpPr/>
          <p:nvPr/>
        </p:nvSpPr>
        <p:spPr>
          <a:xfrm>
            <a:off x="457200" y="178308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5200" dirty="0"/>
          </a:p>
        </p:txBody>
      </p:sp>
      <p:sp>
        <p:nvSpPr>
          <p:cNvPr id="38" name="Shape 36"/>
          <p:cNvSpPr/>
          <p:nvPr/>
        </p:nvSpPr>
        <p:spPr>
          <a:xfrm>
            <a:off x="457200" y="2743200"/>
            <a:ext cx="2103120" cy="411480"/>
          </a:xfrm>
          <a:prstGeom prst="rect">
            <a:avLst/>
          </a:prstGeom>
          <a:solidFill>
            <a:srgbClr val="1A6B3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27432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⬆  Agglomerative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697480" y="2743200"/>
            <a:ext cx="2103120" cy="411480"/>
          </a:xfrm>
          <a:prstGeom prst="rect">
            <a:avLst/>
          </a:prstGeom>
          <a:solidFill>
            <a:srgbClr val="2D181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97480" y="27432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⬇  Divisive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3310128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Bottom-up merging vs Top-down splitting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 data into hierarchical groups using distance metrics.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C3524"/>
          </a:solidFill>
          <a:ln w="12700">
            <a:solidFill>
              <a:srgbClr val="1C352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4736592"/>
            <a:ext cx="64008" cy="4069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736592"/>
            <a:ext cx="859536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Bottom-Up  •  Top-Down  •  Dendrogram  •  Linkage Methods  •  Python sklearn  •  Applications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E14"/>
          </a:solidFill>
          <a:ln w="12700">
            <a:solidFill>
              <a:srgbClr val="0F1E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Hierarchical Clustering?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8503920" cy="960120"/>
          </a:xfrm>
          <a:prstGeom prst="rect">
            <a:avLst/>
          </a:prstGeom>
          <a:solidFill>
            <a:srgbClr val="0F1E14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64008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886968"/>
            <a:ext cx="8156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EF9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"A cluster analysis technique that creates a hierarchy of clusters from data points, placing them into a nested tree-like structure based on similarities — the closer clusters are in the hierarchy, the more similar they are."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938528"/>
            <a:ext cx="2697480" cy="2880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938528"/>
            <a:ext cx="26974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17320" y="2084832"/>
            <a:ext cx="502920" cy="502920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🌳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29768" y="2688336"/>
            <a:ext cx="2478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E14"/>
                </a:solidFill>
              </a:rPr>
              <a:t>Tree Structure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8056" y="3127248"/>
            <a:ext cx="24414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Data points are organized into a nested hierarchy — like a tree — where each branch represents a level of similarity.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0" y="1938528"/>
            <a:ext cx="2697480" cy="28803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938528"/>
            <a:ext cx="2697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2084832"/>
            <a:ext cx="502920" cy="502920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310128" y="2688336"/>
            <a:ext cx="2478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E14"/>
                </a:solidFill>
              </a:rPr>
              <a:t>Distance-Based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328416" y="3127248"/>
            <a:ext cx="24414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Uses distance functions (e.g., Euclidean) to find nearby points. Similar objects lie close; dissimilar ones lie far away.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80760" y="1938528"/>
            <a:ext cx="2697480" cy="2880360"/>
          </a:xfrm>
          <a:prstGeom prst="rect">
            <a:avLst/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1938528"/>
            <a:ext cx="269748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78040" y="2084832"/>
            <a:ext cx="502920" cy="502920"/>
          </a:xfrm>
          <a:prstGeom prst="ellipse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7804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190488" y="2688336"/>
            <a:ext cx="2478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E14"/>
                </a:solidFill>
              </a:rPr>
              <a:t>Two Approaches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208776" y="3127248"/>
            <a:ext cx="24414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Agglomerative (bottom-up merge) and Divisive (top-down split) are the two main strategies for building the hierarchy.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solidFill>
            <a:srgbClr val="1C352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7731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</a:rPr>
              <a:t>Unlike K-Means (distinct linear groups), hierarchical clustering visualizes data in relation to one another across multiple levels of similarity.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Types of Hierarchical Clustering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4096512"/>
          </a:xfrm>
          <a:prstGeom prst="rect">
            <a:avLst/>
          </a:prstGeom>
          <a:solidFill>
            <a:srgbClr val="1C352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4023360" cy="5120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22960"/>
            <a:ext cx="38039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⬆  AGGLOMERATIVE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76072" y="4279392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4279392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99032" y="4279392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64792" y="4279392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21992" y="4279392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87752" y="4279392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13308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↑ merge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4279392"/>
            <a:ext cx="365760" cy="-32004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4279392"/>
            <a:ext cx="-365760" cy="-32004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8952" y="3858768"/>
            <a:ext cx="201168" cy="201168"/>
          </a:xfrm>
          <a:prstGeom prst="ellipse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08760" y="4279392"/>
            <a:ext cx="365760" cy="-32004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74520" y="4279392"/>
            <a:ext cx="-365760" cy="-32004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91056" y="3858768"/>
            <a:ext cx="201168" cy="201168"/>
          </a:xfrm>
          <a:prstGeom prst="ellipse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31720" y="4279392"/>
            <a:ext cx="365760" cy="-32004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97480" y="4279392"/>
            <a:ext cx="-365760" cy="-32004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14016" y="3858768"/>
            <a:ext cx="201168" cy="201168"/>
          </a:xfrm>
          <a:prstGeom prst="ellipse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9536" y="3858768"/>
            <a:ext cx="822960" cy="-384048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91640" y="3858768"/>
            <a:ext cx="-822960" cy="-384048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34440" y="3401568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44168" y="3401568"/>
            <a:ext cx="1143000" cy="-45720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14600" y="3858768"/>
            <a:ext cx="0" cy="-91440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04872" y="2852928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1417320"/>
            <a:ext cx="37490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Approach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with each data point as its own cluster.
Merges the two most similar clusters at each step until all belong to one big cluster.
</a:t>
            </a:r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Good at identifying small clusters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28032" y="822960"/>
            <a:ext cx="4023360" cy="4096512"/>
          </a:xfrm>
          <a:prstGeom prst="rect">
            <a:avLst/>
          </a:prstGeom>
          <a:solidFill>
            <a:srgbClr val="2D181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28032" y="822960"/>
            <a:ext cx="4023360" cy="5120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822960"/>
            <a:ext cx="38039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14"/>
                </a:solidFill>
              </a:rPr>
              <a:t>⬇  DIVISIVE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37960" y="1444752"/>
            <a:ext cx="411480" cy="41148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1444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E14"/>
                </a:solidFill>
              </a:rPr>
              <a:t>ALL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675120" y="1856232"/>
            <a:ext cx="-640080" cy="45720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66560" y="1856232"/>
            <a:ext cx="640080" cy="45720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33872" y="2267712"/>
            <a:ext cx="329184" cy="329184"/>
          </a:xfrm>
          <a:prstGeom prst="ellipse">
            <a:avLst/>
          </a:prstGeom>
          <a:solidFill>
            <a:srgbClr val="FB923C">
              <a:alpha val="8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23760" y="2267712"/>
            <a:ext cx="329184" cy="329184"/>
          </a:xfrm>
          <a:prstGeom prst="ellipse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89320" y="2596896"/>
            <a:ext cx="-411480" cy="411480"/>
          </a:xfrm>
          <a:prstGeom prst="line">
            <a:avLst/>
          </a:prstGeom>
          <a:noFill/>
          <a:ln w="15240">
            <a:solidFill>
              <a:srgbClr val="FB923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35040" y="2596896"/>
            <a:ext cx="411480" cy="411480"/>
          </a:xfrm>
          <a:prstGeom prst="line">
            <a:avLst/>
          </a:prstGeom>
          <a:noFill/>
          <a:ln w="15240">
            <a:solidFill>
              <a:srgbClr val="FB923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79208" y="2596896"/>
            <a:ext cx="-411480" cy="411480"/>
          </a:xfrm>
          <a:prstGeom prst="line">
            <a:avLst/>
          </a:prstGeom>
          <a:noFill/>
          <a:ln w="15240">
            <a:solidFill>
              <a:srgbClr val="A78BF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24928" y="2596896"/>
            <a:ext cx="411480" cy="411480"/>
          </a:xfrm>
          <a:prstGeom prst="line">
            <a:avLst/>
          </a:prstGeom>
          <a:noFill/>
          <a:ln w="15240">
            <a:solidFill>
              <a:srgbClr val="A78BF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94960" y="2980944"/>
            <a:ext cx="182880" cy="18288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08192" y="2980944"/>
            <a:ext cx="182880" cy="18288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84848" y="2980944"/>
            <a:ext cx="182880" cy="1828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98080" y="2980944"/>
            <a:ext cx="182880" cy="1828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38344" y="3346704"/>
            <a:ext cx="164592" cy="164592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94376" y="3346704"/>
            <a:ext cx="164592" cy="164592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16168" y="3346704"/>
            <a:ext cx="164592" cy="164592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72200" y="3346704"/>
            <a:ext cx="164592" cy="164592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92824" y="3346704"/>
            <a:ext cx="164592" cy="1645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48856" y="3346704"/>
            <a:ext cx="164592" cy="1645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342632" y="3346704"/>
            <a:ext cx="164592" cy="1645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598664" y="3346704"/>
            <a:ext cx="164592" cy="1645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37760" y="36576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↓ split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937760" y="395020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Approach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with all points in one big cluster.
Splits into smaller heterogeneous clusters until each point is its own cluster.
</a:t>
            </a:r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Good at identifying large clusters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E14"/>
          </a:solidFill>
          <a:ln w="12700">
            <a:solidFill>
              <a:srgbClr val="0F1E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Agglomerative Clustering — Step by Step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8503920" cy="896112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64008" cy="8961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60704"/>
            <a:ext cx="420624" cy="4206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60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E14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4128" y="8961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14"/>
                </a:solidFill>
              </a:rPr>
              <a:t>Compute Proximity Matrix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1234440"/>
            <a:ext cx="7662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Calculate pairwise distances between all data points using a distance metric (e.g., Euclidean). This N×N matrix stores d(xᵢ,xⱼ) for every pair.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847088"/>
            <a:ext cx="8503920" cy="896112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847088"/>
            <a:ext cx="64008" cy="8961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84832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84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E14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24128" y="1920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14"/>
                </a:solidFill>
              </a:rPr>
              <a:t>Link &amp; Form Clusters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2258568"/>
            <a:ext cx="7662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Use a linkage function to group objects based on the computed distance matrix. Data points with closest proximity are merged into a cluster.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871216"/>
            <a:ext cx="8503920" cy="896112"/>
          </a:xfrm>
          <a:prstGeom prst="rect">
            <a:avLst/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871216"/>
            <a:ext cx="64008" cy="89611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108960"/>
            <a:ext cx="420624" cy="42062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E14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24128" y="29443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14"/>
                </a:solidFill>
              </a:rPr>
              <a:t>Merge Similar Clusters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4128" y="3282696"/>
            <a:ext cx="7662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Recompute the proximity matrix for the new set of clusters. Merge the two most similar clusters together. Each merge reduces cluster count by 1.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895344"/>
            <a:ext cx="8503920" cy="896112"/>
          </a:xfrm>
          <a:prstGeom prst="rect">
            <a:avLst/>
          </a:prstGeom>
          <a:solidFill>
            <a:srgbClr val="FFFFFF"/>
          </a:solidFill>
          <a:ln w="19050">
            <a:solidFill>
              <a:srgbClr val="FB923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895344"/>
            <a:ext cx="64008" cy="89611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133088"/>
            <a:ext cx="420624" cy="420624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133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E14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24128" y="39684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14"/>
                </a:solidFill>
              </a:rPr>
              <a:t>Repeat Until One Cluster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4128" y="4306824"/>
            <a:ext cx="7662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Repeat steps 2–3 iteratively until all data points belong to a single root cluster. The result is a full hierarchical tree (dendrogram).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937760"/>
            <a:ext cx="850392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Matrix &amp; Linkage Methods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291840" cy="4023360"/>
          </a:xfrm>
          <a:prstGeom prst="rect">
            <a:avLst/>
          </a:prstGeom>
          <a:solidFill>
            <a:srgbClr val="1C352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9611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Proximity Matrix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32588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x₁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10896" y="1572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x₁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78992" y="132588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x₂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0896" y="2029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x₂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91056" y="132588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x₃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0896" y="2487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x₃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132588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x₄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0896" y="2944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x₄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15184" y="132588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x₅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0896" y="3401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x₅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1572768"/>
            <a:ext cx="457200" cy="402336"/>
          </a:xfrm>
          <a:prstGeom prst="rect">
            <a:avLst/>
          </a:prstGeom>
          <a:solidFill>
            <a:srgbClr val="1A6B3A"/>
          </a:solidFill>
          <a:ln w="12700">
            <a:solidFill>
              <a:srgbClr val="1E3A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157276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78992" y="1572768"/>
            <a:ext cx="457200" cy="402336"/>
          </a:xfrm>
          <a:prstGeom prst="rect">
            <a:avLst/>
          </a:prstGeom>
          <a:solidFill>
            <a:srgbClr val="162B1C"/>
          </a:solidFill>
          <a:ln w="12700">
            <a:solidFill>
              <a:srgbClr val="1E3A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157276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2.1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591056" y="1572768"/>
            <a:ext cx="457200" cy="402336"/>
          </a:xfrm>
          <a:prstGeom prst="rect">
            <a:avLst/>
          </a:prstGeom>
          <a:solidFill>
            <a:srgbClr val="1C3524"/>
          </a:solidFill>
          <a:ln w="12700">
            <a:solidFill>
              <a:srgbClr val="1E3A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91056" y="157276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4.8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103120" y="1572768"/>
            <a:ext cx="457200" cy="402336"/>
          </a:xfrm>
          <a:prstGeom prst="rect">
            <a:avLst/>
          </a:prstGeom>
          <a:solidFill>
            <a:srgbClr val="1C3524"/>
          </a:solidFill>
          <a:ln w="12700">
            <a:solidFill>
              <a:srgbClr val="1E3A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157276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5.2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615184" y="1572768"/>
            <a:ext cx="457200" cy="402336"/>
          </a:xfrm>
          <a:prstGeom prst="rect">
            <a:avLst/>
          </a:prstGeom>
          <a:solidFill>
            <a:srgbClr val="1C3524"/>
          </a:solidFill>
          <a:ln w="12700">
            <a:solidFill>
              <a:srgbClr val="1E3A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15184" y="157276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6.1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6928" y="2029968"/>
            <a:ext cx="457200" cy="402336"/>
          </a:xfrm>
          <a:prstGeom prst="rect">
            <a:avLst/>
          </a:prstGeom>
          <a:solidFill>
            <a:srgbClr val="162B1C"/>
          </a:solidFill>
          <a:ln w="12700">
            <a:solidFill>
              <a:srgbClr val="1E3A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202996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2.1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78992" y="2029968"/>
            <a:ext cx="457200" cy="402336"/>
          </a:xfrm>
          <a:prstGeom prst="rect">
            <a:avLst/>
          </a:prstGeom>
          <a:solidFill>
            <a:srgbClr val="1A6B3A"/>
          </a:solidFill>
          <a:ln w="12700">
            <a:solidFill>
              <a:srgbClr val="1E3A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" y="202996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591056" y="2029968"/>
            <a:ext cx="457200" cy="402336"/>
          </a:xfrm>
          <a:prstGeom prst="rect">
            <a:avLst/>
          </a:prstGeom>
          <a:solidFill>
            <a:srgbClr val="162B1C"/>
          </a:solidFill>
          <a:ln w="12700">
            <a:solidFill>
              <a:srgbClr val="1E3A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91056" y="202996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2.3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103120" y="2029968"/>
            <a:ext cx="457200" cy="402336"/>
          </a:xfrm>
          <a:prstGeom prst="rect">
            <a:avLst/>
          </a:prstGeom>
          <a:solidFill>
            <a:srgbClr val="1C3524"/>
          </a:solidFill>
          <a:ln w="12700">
            <a:solidFill>
              <a:srgbClr val="1E3A2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03120" y="202996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3.7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615184" y="2029968"/>
            <a:ext cx="457200" cy="402336"/>
          </a:xfrm>
          <a:prstGeom prst="rect">
            <a:avLst/>
          </a:prstGeom>
          <a:solidFill>
            <a:srgbClr val="1C3524"/>
          </a:solidFill>
          <a:ln w="12700">
            <a:solidFill>
              <a:srgbClr val="1E3A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15184" y="202996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5.5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66928" y="2487168"/>
            <a:ext cx="457200" cy="402336"/>
          </a:xfrm>
          <a:prstGeom prst="rect">
            <a:avLst/>
          </a:prstGeom>
          <a:solidFill>
            <a:srgbClr val="1C3524"/>
          </a:solidFill>
          <a:ln w="12700">
            <a:solidFill>
              <a:srgbClr val="1E3A2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248716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4.8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078992" y="2487168"/>
            <a:ext cx="457200" cy="402336"/>
          </a:xfrm>
          <a:prstGeom prst="rect">
            <a:avLst/>
          </a:prstGeom>
          <a:solidFill>
            <a:srgbClr val="162B1C"/>
          </a:solidFill>
          <a:ln w="12700">
            <a:solidFill>
              <a:srgbClr val="1E3A2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8992" y="248716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2.3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591056" y="2487168"/>
            <a:ext cx="457200" cy="402336"/>
          </a:xfrm>
          <a:prstGeom prst="rect">
            <a:avLst/>
          </a:prstGeom>
          <a:solidFill>
            <a:srgbClr val="1A6B3A"/>
          </a:solidFill>
          <a:ln w="12700">
            <a:solidFill>
              <a:srgbClr val="1E3A2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591056" y="248716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0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103120" y="2487168"/>
            <a:ext cx="457200" cy="402336"/>
          </a:xfrm>
          <a:prstGeom prst="rect">
            <a:avLst/>
          </a:prstGeom>
          <a:solidFill>
            <a:srgbClr val="162B1C"/>
          </a:solidFill>
          <a:ln w="12700">
            <a:solidFill>
              <a:srgbClr val="1E3A2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03120" y="248716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1.4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615184" y="2487168"/>
            <a:ext cx="457200" cy="402336"/>
          </a:xfrm>
          <a:prstGeom prst="rect">
            <a:avLst/>
          </a:prstGeom>
          <a:solidFill>
            <a:srgbClr val="1C3524"/>
          </a:solidFill>
          <a:ln w="12700">
            <a:solidFill>
              <a:srgbClr val="1E3A2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15184" y="248716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4.2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66928" y="2944368"/>
            <a:ext cx="457200" cy="402336"/>
          </a:xfrm>
          <a:prstGeom prst="rect">
            <a:avLst/>
          </a:prstGeom>
          <a:solidFill>
            <a:srgbClr val="1C3524"/>
          </a:solidFill>
          <a:ln w="12700">
            <a:solidFill>
              <a:srgbClr val="1E3A2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6928" y="294436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5.2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078992" y="2944368"/>
            <a:ext cx="457200" cy="402336"/>
          </a:xfrm>
          <a:prstGeom prst="rect">
            <a:avLst/>
          </a:prstGeom>
          <a:solidFill>
            <a:srgbClr val="1C3524"/>
          </a:solidFill>
          <a:ln w="12700">
            <a:solidFill>
              <a:srgbClr val="1E3A2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78992" y="294436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3.7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591056" y="2944368"/>
            <a:ext cx="457200" cy="402336"/>
          </a:xfrm>
          <a:prstGeom prst="rect">
            <a:avLst/>
          </a:prstGeom>
          <a:solidFill>
            <a:srgbClr val="162B1C"/>
          </a:solidFill>
          <a:ln w="12700">
            <a:solidFill>
              <a:srgbClr val="1E3A2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591056" y="294436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1.4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103120" y="2944368"/>
            <a:ext cx="457200" cy="402336"/>
          </a:xfrm>
          <a:prstGeom prst="rect">
            <a:avLst/>
          </a:prstGeom>
          <a:solidFill>
            <a:srgbClr val="1A6B3A"/>
          </a:solidFill>
          <a:ln w="12700">
            <a:solidFill>
              <a:srgbClr val="1E3A2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103120" y="294436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0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615184" y="2944368"/>
            <a:ext cx="457200" cy="402336"/>
          </a:xfrm>
          <a:prstGeom prst="rect">
            <a:avLst/>
          </a:prstGeom>
          <a:solidFill>
            <a:srgbClr val="1C3524"/>
          </a:solidFill>
          <a:ln w="12700">
            <a:solidFill>
              <a:srgbClr val="1E3A2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15184" y="294436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2.8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66928" y="3401568"/>
            <a:ext cx="457200" cy="402336"/>
          </a:xfrm>
          <a:prstGeom prst="rect">
            <a:avLst/>
          </a:prstGeom>
          <a:solidFill>
            <a:srgbClr val="1C3524"/>
          </a:solidFill>
          <a:ln w="12700">
            <a:solidFill>
              <a:srgbClr val="1E3A2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6928" y="340156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6.1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1078992" y="3401568"/>
            <a:ext cx="457200" cy="402336"/>
          </a:xfrm>
          <a:prstGeom prst="rect">
            <a:avLst/>
          </a:prstGeom>
          <a:solidFill>
            <a:srgbClr val="1C3524"/>
          </a:solidFill>
          <a:ln w="12700">
            <a:solidFill>
              <a:srgbClr val="1E3A2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78992" y="340156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5.5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1591056" y="3401568"/>
            <a:ext cx="457200" cy="402336"/>
          </a:xfrm>
          <a:prstGeom prst="rect">
            <a:avLst/>
          </a:prstGeom>
          <a:solidFill>
            <a:srgbClr val="1C3524"/>
          </a:solidFill>
          <a:ln w="12700">
            <a:solidFill>
              <a:srgbClr val="1E3A2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591056" y="340156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4.2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2103120" y="3401568"/>
            <a:ext cx="457200" cy="402336"/>
          </a:xfrm>
          <a:prstGeom prst="rect">
            <a:avLst/>
          </a:prstGeom>
          <a:solidFill>
            <a:srgbClr val="1C3524"/>
          </a:solidFill>
          <a:ln w="12700">
            <a:solidFill>
              <a:srgbClr val="1E3A2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103120" y="340156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2.8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615184" y="3401568"/>
            <a:ext cx="457200" cy="402336"/>
          </a:xfrm>
          <a:prstGeom prst="rect">
            <a:avLst/>
          </a:prstGeom>
          <a:solidFill>
            <a:srgbClr val="1A6B3A"/>
          </a:solidFill>
          <a:ln w="12700">
            <a:solidFill>
              <a:srgbClr val="1E3A2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615184" y="3401568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0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347472" y="3858768"/>
            <a:ext cx="2999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d(xᵢ, xⱼ) = Euclidean distance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347472" y="4133088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Low values (highlighted) → similar pairs → candidates to merge first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794760" y="822960"/>
            <a:ext cx="5074920" cy="694944"/>
          </a:xfrm>
          <a:prstGeom prst="rect">
            <a:avLst/>
          </a:prstGeom>
          <a:solidFill>
            <a:srgbClr val="162B1C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794760" y="822960"/>
            <a:ext cx="64008" cy="6949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904488" y="987552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10B981">
              <a:alpha val="7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904488" y="9875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Complete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919472" y="950976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Maximum pairwise distance between cluster members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3794760" y="1645920"/>
            <a:ext cx="5074920" cy="694944"/>
          </a:xfrm>
          <a:prstGeom prst="rect">
            <a:avLst/>
          </a:prstGeom>
          <a:solidFill>
            <a:srgbClr val="162B1C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794760" y="1645920"/>
            <a:ext cx="64008" cy="6949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904488" y="1810512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904488" y="18105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Single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4919472" y="1773936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Minimum pairwise distance between cluster members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3794760" y="2468880"/>
            <a:ext cx="5074920" cy="694944"/>
          </a:xfrm>
          <a:prstGeom prst="rect">
            <a:avLst/>
          </a:prstGeom>
          <a:solidFill>
            <a:srgbClr val="162B1C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794760" y="2468880"/>
            <a:ext cx="64008" cy="69494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904488" y="2633472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A78BFA">
              <a:alpha val="7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904488" y="26334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Average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4919472" y="2596896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Average of all pairwise distances between clusters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3794760" y="3291840"/>
            <a:ext cx="5074920" cy="694944"/>
          </a:xfrm>
          <a:prstGeom prst="rect">
            <a:avLst/>
          </a:prstGeom>
          <a:solidFill>
            <a:srgbClr val="162B1C"/>
          </a:solidFill>
          <a:ln w="15240">
            <a:solidFill>
              <a:srgbClr val="FB923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794760" y="3291840"/>
            <a:ext cx="64008" cy="69494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904488" y="3456432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FB923C">
              <a:alpha val="75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904488" y="34564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Centroid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4919472" y="3419856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Distance between the centroids of two clusters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3794760" y="4114800"/>
            <a:ext cx="5074920" cy="694944"/>
          </a:xfrm>
          <a:prstGeom prst="rect">
            <a:avLst/>
          </a:prstGeom>
          <a:solidFill>
            <a:srgbClr val="162B1C"/>
          </a:solidFill>
          <a:ln w="15240">
            <a:solidFill>
              <a:srgbClr val="F43F5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794760" y="4114800"/>
            <a:ext cx="64008" cy="69494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904488" y="4279392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F43F5E">
              <a:alpha val="75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904488" y="427939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Ward's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4919472" y="4242816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Minimizes total within-cluster variance (squared error)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E14"/>
          </a:solidFill>
          <a:ln w="12700">
            <a:solidFill>
              <a:srgbClr val="0F1E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Dendrogram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937760" cy="4041648"/>
          </a:xfrm>
          <a:prstGeom prst="rect">
            <a:avLst/>
          </a:prstGeom>
          <a:solidFill>
            <a:srgbClr val="0F1E14"/>
          </a:solidFill>
          <a:ln w="1524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961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Dendrogram Chart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457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Distance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234440"/>
            <a:ext cx="0" cy="329184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234440"/>
            <a:ext cx="9144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18872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3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49808" y="2057400"/>
            <a:ext cx="9144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01168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2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49808" y="2880360"/>
            <a:ext cx="9144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83464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1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49808" y="3703320"/>
            <a:ext cx="9144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657600"/>
            <a:ext cx="228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0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87552" y="4233672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64515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P1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399032" y="4233672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5880" y="464515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P2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901952" y="4233672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" y="464515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P3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359152" y="4233672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464515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P4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907792" y="4233672"/>
            <a:ext cx="219456" cy="21945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0" y="464515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P5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410712" y="4233672"/>
            <a:ext cx="219456" cy="21945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464515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P6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913632" y="4233672"/>
            <a:ext cx="219456" cy="219456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0" y="464515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B923C"/>
                </a:solidFill>
              </a:rPr>
              <a:t>P7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325112" y="4233672"/>
            <a:ext cx="219456" cy="219456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464515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B923C"/>
                </a:solidFill>
              </a:rPr>
              <a:t>P8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097280" y="4233672"/>
            <a:ext cx="0" cy="-466344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508760" y="4233672"/>
            <a:ext cx="0" cy="-466344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97280" y="3767328"/>
            <a:ext cx="41148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11680" y="4233672"/>
            <a:ext cx="0" cy="-466344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68880" y="4233672"/>
            <a:ext cx="0" cy="-466344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11680" y="3767328"/>
            <a:ext cx="4572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17520" y="4233672"/>
            <a:ext cx="0" cy="-466344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20440" y="4233672"/>
            <a:ext cx="0" cy="-466344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17520" y="3767328"/>
            <a:ext cx="50292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023360" y="4233672"/>
            <a:ext cx="0" cy="-466344"/>
          </a:xfrm>
          <a:prstGeom prst="line">
            <a:avLst/>
          </a:prstGeom>
          <a:noFill/>
          <a:ln w="19050">
            <a:solidFill>
              <a:srgbClr val="FB923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34840" y="4233672"/>
            <a:ext cx="0" cy="-466344"/>
          </a:xfrm>
          <a:prstGeom prst="line">
            <a:avLst/>
          </a:prstGeom>
          <a:noFill/>
          <a:ln w="19050">
            <a:solidFill>
              <a:srgbClr val="FB923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023360" y="3767328"/>
            <a:ext cx="411480" cy="0"/>
          </a:xfrm>
          <a:prstGeom prst="line">
            <a:avLst/>
          </a:prstGeom>
          <a:noFill/>
          <a:ln w="19050">
            <a:solidFill>
              <a:srgbClr val="FB923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03020" y="3767328"/>
            <a:ext cx="0" cy="-713232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240280" y="3767328"/>
            <a:ext cx="0" cy="-713232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03020" y="3054096"/>
            <a:ext cx="9372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673352" y="2980944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68980" y="3767328"/>
            <a:ext cx="0" cy="-713232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29100" y="3767328"/>
            <a:ext cx="0" cy="-713232"/>
          </a:xfrm>
          <a:prstGeom prst="line">
            <a:avLst/>
          </a:prstGeom>
          <a:noFill/>
          <a:ln w="19050">
            <a:solidFill>
              <a:srgbClr val="FB923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68980" y="3054096"/>
            <a:ext cx="96012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57600" y="2980944"/>
            <a:ext cx="182880" cy="1828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764792" y="2980944"/>
            <a:ext cx="0" cy="-749808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749040" y="2980944"/>
            <a:ext cx="0" cy="-749808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764792" y="2231136"/>
            <a:ext cx="1984248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660904" y="2157984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79776" y="2157984"/>
            <a:ext cx="0" cy="-804672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688336" y="1298448"/>
            <a:ext cx="256032" cy="256032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04672" y="2743200"/>
            <a:ext cx="4572000" cy="0"/>
          </a:xfrm>
          <a:prstGeom prst="line">
            <a:avLst/>
          </a:prstGeom>
          <a:noFill/>
          <a:ln w="19050">
            <a:solidFill>
              <a:srgbClr val="F43F5E"/>
            </a:solidFill>
            <a:prstDash val="dash"/>
          </a:ln>
        </p:spPr>
      </p:sp>
      <p:sp>
        <p:nvSpPr>
          <p:cNvPr id="60" name="Text 58"/>
          <p:cNvSpPr/>
          <p:nvPr/>
        </p:nvSpPr>
        <p:spPr>
          <a:xfrm>
            <a:off x="5349240" y="26700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3F5E"/>
                </a:solidFill>
              </a:rPr>
              <a:t>← Cut here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230368" y="290779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3F5E"/>
                </a:solidFill>
              </a:rPr>
              <a:t>3 clusters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43F5E"/>
                </a:solidFill>
              </a:rPr>
              <a:t>below line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394960" y="822960"/>
            <a:ext cx="34290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5394960" y="822960"/>
            <a:ext cx="64008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559552" y="914400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14"/>
                </a:solidFill>
              </a:rPr>
              <a:t>Reading a Dendrogram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559552" y="1234440"/>
            <a:ext cx="31821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Each leaf = one data point. Height of merger = distance between clusters. Cut horizontally to get optimal cluster count.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394960" y="2194560"/>
            <a:ext cx="34290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5394960" y="2194560"/>
            <a:ext cx="64008" cy="1234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559552" y="2286000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14"/>
                </a:solidFill>
              </a:rPr>
              <a:t>Finding Optimal K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5559552" y="2606040"/>
            <a:ext cx="31821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Draw a horizontal line where vertical bars are longest (no overlap). Count bars below the line — that's your K.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5394960" y="3566160"/>
            <a:ext cx="342900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5394960" y="3566160"/>
            <a:ext cx="64008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559552" y="3657600"/>
            <a:ext cx="3182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E14"/>
                </a:solidFill>
              </a:rPr>
              <a:t>Iris Dataset Result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559552" y="3977640"/>
            <a:ext cx="31821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Dendrogram of the Iris dataset with Ward linkage shows 3 natural clusters matching the 3 species classes.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Divisive Clustering — Deep Dive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822960"/>
          </a:xfrm>
          <a:prstGeom prst="rect">
            <a:avLst/>
          </a:prstGeom>
          <a:solidFill>
            <a:srgbClr val="1C3524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64008" cy="82296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886968"/>
            <a:ext cx="8229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EF9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Divisive clustering is the opposite of agglomerative — all points start in ONE cluster and are recursively split into smaller heterogeneous groups. It follows a top-down approach and is more efficient but harder to implement.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847088"/>
            <a:ext cx="2697480" cy="2121408"/>
          </a:xfrm>
          <a:prstGeom prst="rect">
            <a:avLst/>
          </a:prstGeom>
          <a:solidFill>
            <a:srgbClr val="162B1C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847088"/>
            <a:ext cx="26974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4708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E14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980944" y="2075688"/>
            <a:ext cx="173736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9232" y="2029968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▶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39572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Single Cluster Start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84048" y="2834640"/>
            <a:ext cx="247802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Place ALL data points into one large cluster. This is the root of the top-down hierarchy.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54680" y="1847088"/>
            <a:ext cx="2697480" cy="2121408"/>
          </a:xfrm>
          <a:prstGeom prst="rect">
            <a:avLst/>
          </a:prstGeom>
          <a:solidFill>
            <a:srgbClr val="162B1C"/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54680" y="1847088"/>
            <a:ext cx="2697480" cy="4572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184708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E14"/>
                </a:solidFill>
              </a:rPr>
              <a:t>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861304" y="2075688"/>
            <a:ext cx="173736" cy="0"/>
          </a:xfrm>
          <a:prstGeom prst="line">
            <a:avLst/>
          </a:prstGeom>
          <a:noFill/>
          <a:ln w="25400">
            <a:solidFill>
              <a:srgbClr val="FB92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9592" y="2029968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</a:rPr>
              <a:t>▶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46120" y="239572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Split Using Flat Clustering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264408" y="2834640"/>
            <a:ext cx="247802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Choose a flat-clustering method (e.g., K-Means) to split the cluster. Select the cluster with the largest Sum of Squared Errors (SSE) to split next.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1847088"/>
            <a:ext cx="2697480" cy="2121408"/>
          </a:xfrm>
          <a:prstGeom prst="rect">
            <a:avLst/>
          </a:prstGeom>
          <a:solidFill>
            <a:srgbClr val="162B1C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1847088"/>
            <a:ext cx="2697480" cy="457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184708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E14"/>
                </a:solidFill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126480" y="239572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Repeat Until Convergence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144768" y="2834640"/>
            <a:ext cx="2478024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Repeat step 2 — splitting the worst cluster — until each data point is in its own individual cluster. Build the complete divisive tree.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114800"/>
            <a:ext cx="8595360" cy="777240"/>
          </a:xfrm>
          <a:prstGeom prst="rect">
            <a:avLst/>
          </a:prstGeom>
          <a:solidFill>
            <a:srgbClr val="1C352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16966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Key Difference vs Agglomerative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18795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Direction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40740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Bottom-Up (merge)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6177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923C"/>
                </a:solidFill>
              </a:rPr>
              <a:t>Top-Down (split)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560320" y="418795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Cluster size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60320" y="440740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Finds small clusters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560320" y="46177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923C"/>
                </a:solidFill>
              </a:rPr>
              <a:t>Finds large clusters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63440" y="418795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Efficiency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63440" y="440740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Standard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63440" y="46177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923C"/>
                </a:solidFill>
              </a:rPr>
              <a:t>More efficient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766560" y="418795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Impl.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766560" y="440740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sklearn / scipy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766560" y="46177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923C"/>
                </a:solidFill>
              </a:rPr>
              <a:t>No standard library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E14"/>
          </a:solidFill>
          <a:ln w="12700">
            <a:solidFill>
              <a:srgbClr val="0F1E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Implementation — Iris Dataset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5212080" cy="2487168"/>
          </a:xfrm>
          <a:prstGeom prst="rect">
            <a:avLst/>
          </a:prstGeom>
          <a:solidFill>
            <a:srgbClr val="1A263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04672"/>
            <a:ext cx="5212080" cy="310896"/>
          </a:xfrm>
          <a:prstGeom prst="rect">
            <a:avLst/>
          </a:prstGeom>
          <a:solidFill>
            <a:srgbClr val="222E3A"/>
          </a:solidFill>
          <a:ln w="12700">
            <a:solidFill>
              <a:srgbClr val="222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04672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●●●  agglomerative_iris.py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152144"/>
            <a:ext cx="5029200" cy="2029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9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sklearn.cluster </a:t>
            </a:r>
            <a:pPr indent="0" marL="0">
              <a:buNone/>
            </a:pPr>
            <a:r>
              <a:rPr lang="en-US" sz="1000" dirty="0">
                <a:solidFill>
                  <a:srgbClr val="CC9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AgglomerativeClustering
</a:t>
            </a:r>
            <a:pPr indent="0" marL="0">
              <a:buNone/>
            </a:pPr>
            <a:r>
              <a:rPr lang="en-US" sz="1000" dirty="0">
                <a:solidFill>
                  <a:srgbClr val="CC9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sklearn.datasets </a:t>
            </a:r>
            <a:pPr indent="0" marL="0">
              <a:buNone/>
            </a:pPr>
            <a:r>
              <a:rPr lang="en-US" sz="1000" dirty="0">
                <a:solidFill>
                  <a:srgbClr val="CC9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load_iris
</a:t>
            </a:r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dataset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iris = load_iris()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iris.data
</a:t>
            </a:r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Fit agglomerative model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AgglomerativeClustering(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n_clusters=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affinity=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'euclidean'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linkage=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'ward'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 = model.fit_predict(X)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3401568"/>
            <a:ext cx="5212080" cy="1719072"/>
          </a:xfrm>
          <a:prstGeom prst="rect">
            <a:avLst/>
          </a:prstGeom>
          <a:solidFill>
            <a:srgbClr val="1A263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3401568"/>
            <a:ext cx="5212080" cy="310896"/>
          </a:xfrm>
          <a:prstGeom prst="rect">
            <a:avLst/>
          </a:prstGeom>
          <a:solidFill>
            <a:srgbClr val="222E3A"/>
          </a:solidFill>
          <a:ln w="12700">
            <a:solidFill>
              <a:srgbClr val="222E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401568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●●●  dendrogram_plot.py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3749040"/>
            <a:ext cx="50292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9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scipy.cluster.hierarchy </a:t>
            </a:r>
            <a:pPr indent="0" marL="0">
              <a:buNone/>
            </a:pPr>
            <a:r>
              <a:rPr lang="en-US" sz="1000" dirty="0">
                <a:solidFill>
                  <a:srgbClr val="CC9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dendrogram, linkage
</a:t>
            </a:r>
            <a:pPr indent="0" marL="0">
              <a:buNone/>
            </a:pPr>
            <a:r>
              <a:rPr lang="en-US" sz="1000" dirty="0">
                <a:solidFill>
                  <a:srgbClr val="CC9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matplotlib.pyplot </a:t>
            </a:r>
            <a:pPr indent="0" marL="0">
              <a:buNone/>
            </a:pPr>
            <a:r>
              <a:rPr lang="en-US" sz="1000" dirty="0">
                <a:solidFill>
                  <a:srgbClr val="CC99C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plt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link_matrix = linkage(X, method=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'ward'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dendrogram(link_matrix)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</a:t>
            </a:r>
            <a:pPr indent="0" marL="0"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'Dendrogram'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15000" y="804672"/>
            <a:ext cx="31089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15000" y="804672"/>
            <a:ext cx="31089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33872" y="89611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14"/>
                </a:solidFill>
              </a:rPr>
              <a:t>Iris Dataset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33872" y="12344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 Samples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60920" y="1234440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0B981"/>
                </a:solidFill>
              </a:rPr>
              <a:t>150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833872" y="15270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 Features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360920" y="1527048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0B981"/>
                </a:solidFill>
              </a:rPr>
              <a:t>4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833872" y="181965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 Classes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360920" y="1819656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0B981"/>
                </a:solidFill>
              </a:rPr>
              <a:t>3 species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715000" y="2176272"/>
            <a:ext cx="3108960" cy="2029968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715000" y="2176272"/>
            <a:ext cx="31089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33872" y="226771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14"/>
                </a:solidFill>
              </a:rPr>
              <a:t>Key Parameters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833872" y="26060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n_clusters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949440" y="260604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726680" y="2606040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Number of final clusters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33872" y="299008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affinity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49440" y="299008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=euclidean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726680" y="2990088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Distance metric used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833872" y="337413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linkage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949440" y="337413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=ward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726680" y="3374136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Minimizes within-cluster variance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833872" y="375818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949440" y="3758184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=ward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726680" y="3758184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scipy linkage method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715000" y="4315968"/>
            <a:ext cx="3108960" cy="804672"/>
          </a:xfrm>
          <a:prstGeom prst="rect">
            <a:avLst/>
          </a:prstGeom>
          <a:solidFill>
            <a:srgbClr val="1C352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33872" y="437083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Result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833872" y="464515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Correctly identifies 3 Iris species clusters matching the dataset's ground truth labels.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4572000" cy="54864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64008"/>
            <a:ext cx="4572000" cy="54864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Agglomerative vs Divisive Clustering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251960" y="2240280"/>
            <a:ext cx="640080" cy="640080"/>
          </a:xfrm>
          <a:prstGeom prst="ellipse">
            <a:avLst/>
          </a:prstGeom>
          <a:solidFill>
            <a:srgbClr val="1A6B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5196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822960"/>
            <a:ext cx="0" cy="4114800"/>
          </a:xfrm>
          <a:prstGeom prst="line">
            <a:avLst/>
          </a:prstGeom>
          <a:noFill/>
          <a:ln w="19050">
            <a:solidFill>
              <a:srgbClr val="1C35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822960"/>
            <a:ext cx="411480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82296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⬆  AGGLOMERATIVE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822960"/>
            <a:ext cx="411480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82296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14"/>
                </a:solidFill>
              </a:rPr>
              <a:t>⬇  DIVISIVE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1417320"/>
            <a:ext cx="4114800" cy="438912"/>
          </a:xfrm>
          <a:prstGeom prst="rect">
            <a:avLst/>
          </a:prstGeom>
          <a:solidFill>
            <a:srgbClr val="1C3524"/>
          </a:solidFill>
          <a:ln w="12700">
            <a:solidFill>
              <a:srgbClr val="1E3A2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417320"/>
            <a:ext cx="4114800" cy="438912"/>
          </a:xfrm>
          <a:prstGeom prst="rect">
            <a:avLst/>
          </a:prstGeom>
          <a:solidFill>
            <a:srgbClr val="1C3524"/>
          </a:solidFill>
          <a:ln w="12700">
            <a:solidFill>
              <a:srgbClr val="1E3A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453896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Direction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508760" y="1453896"/>
            <a:ext cx="2798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Bottom-Up: merge individuals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28032" y="1453896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Top-Down: split whole dataset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1920240"/>
            <a:ext cx="4114800" cy="438912"/>
          </a:xfrm>
          <a:prstGeom prst="rect">
            <a:avLst/>
          </a:prstGeom>
          <a:solidFill>
            <a:srgbClr val="162B1C"/>
          </a:solidFill>
          <a:ln w="12700">
            <a:solidFill>
              <a:srgbClr val="1E3A2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1920240"/>
            <a:ext cx="4114800" cy="438912"/>
          </a:xfrm>
          <a:prstGeom prst="rect">
            <a:avLst/>
          </a:prstGeom>
          <a:solidFill>
            <a:srgbClr val="162B1C"/>
          </a:solidFill>
          <a:ln w="12700">
            <a:solidFill>
              <a:srgbClr val="1E3A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1956816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Start State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508760" y="1956816"/>
            <a:ext cx="2798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N clusters (each point alone)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28032" y="1956816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 cluster (all points together)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423160"/>
            <a:ext cx="4114800" cy="438912"/>
          </a:xfrm>
          <a:prstGeom prst="rect">
            <a:avLst/>
          </a:prstGeom>
          <a:solidFill>
            <a:srgbClr val="1C3524"/>
          </a:solidFill>
          <a:ln w="12700">
            <a:solidFill>
              <a:srgbClr val="1E3A2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2423160"/>
            <a:ext cx="4114800" cy="438912"/>
          </a:xfrm>
          <a:prstGeom prst="rect">
            <a:avLst/>
          </a:prstGeom>
          <a:solidFill>
            <a:srgbClr val="1C3524"/>
          </a:solidFill>
          <a:ln w="12700">
            <a:solidFill>
              <a:srgbClr val="1E3A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2459736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End State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508760" y="2459736"/>
            <a:ext cx="2798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 root cluster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28032" y="2459736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N individual clusters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2926080"/>
            <a:ext cx="4114800" cy="438912"/>
          </a:xfrm>
          <a:prstGeom prst="rect">
            <a:avLst/>
          </a:prstGeom>
          <a:solidFill>
            <a:srgbClr val="162B1C"/>
          </a:solidFill>
          <a:ln w="12700">
            <a:solidFill>
              <a:srgbClr val="1E3A2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2926080"/>
            <a:ext cx="4114800" cy="438912"/>
          </a:xfrm>
          <a:prstGeom prst="rect">
            <a:avLst/>
          </a:prstGeom>
          <a:solidFill>
            <a:srgbClr val="162B1C"/>
          </a:solidFill>
          <a:ln w="12700">
            <a:solidFill>
              <a:srgbClr val="1E3A2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2962656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Cluster Size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508760" y="2962656"/>
            <a:ext cx="2798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Good for small clusters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28032" y="2962656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Good for large clusters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3429000"/>
            <a:ext cx="4114800" cy="438912"/>
          </a:xfrm>
          <a:prstGeom prst="rect">
            <a:avLst/>
          </a:prstGeom>
          <a:solidFill>
            <a:srgbClr val="1C3524"/>
          </a:solidFill>
          <a:ln w="12700">
            <a:solidFill>
              <a:srgbClr val="1E3A2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3429000"/>
            <a:ext cx="4114800" cy="438912"/>
          </a:xfrm>
          <a:prstGeom prst="rect">
            <a:avLst/>
          </a:prstGeom>
          <a:solidFill>
            <a:srgbClr val="1C3524"/>
          </a:solidFill>
          <a:ln w="12700">
            <a:solidFill>
              <a:srgbClr val="1E3A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3465576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Efficiency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508760" y="3465576"/>
            <a:ext cx="2798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Standard O(N³) time complexity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28032" y="3465576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More efficient in practice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3931920"/>
            <a:ext cx="4114800" cy="438912"/>
          </a:xfrm>
          <a:prstGeom prst="rect">
            <a:avLst/>
          </a:prstGeom>
          <a:solidFill>
            <a:srgbClr val="162B1C"/>
          </a:solidFill>
          <a:ln w="12700">
            <a:solidFill>
              <a:srgbClr val="1E3A2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3931920"/>
            <a:ext cx="4114800" cy="438912"/>
          </a:xfrm>
          <a:prstGeom prst="rect">
            <a:avLst/>
          </a:prstGeom>
          <a:solidFill>
            <a:srgbClr val="162B1C"/>
          </a:solidFill>
          <a:ln w="12700">
            <a:solidFill>
              <a:srgbClr val="1E3A2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3968496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Python Support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508760" y="3968496"/>
            <a:ext cx="2798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sklearn + scipy available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28032" y="3968496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No standard library impl.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4320" y="4434840"/>
            <a:ext cx="4114800" cy="438912"/>
          </a:xfrm>
          <a:prstGeom prst="rect">
            <a:avLst/>
          </a:prstGeom>
          <a:solidFill>
            <a:srgbClr val="1C3524"/>
          </a:solidFill>
          <a:ln w="12700">
            <a:solidFill>
              <a:srgbClr val="1E3A2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4880" y="4434840"/>
            <a:ext cx="4114800" cy="438912"/>
          </a:xfrm>
          <a:prstGeom prst="rect">
            <a:avLst/>
          </a:prstGeom>
          <a:solidFill>
            <a:srgbClr val="1C3524"/>
          </a:solidFill>
          <a:ln w="12700">
            <a:solidFill>
              <a:srgbClr val="1E3A2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" y="4471416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Best For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508760" y="4471416"/>
            <a:ext cx="2798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Detailed sub-group analysis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28032" y="4471416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High-level group discovery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E14"/>
          </a:solidFill>
          <a:ln w="12700">
            <a:solidFill>
              <a:srgbClr val="0F1E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4572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594360"/>
            <a:ext cx="4572000" cy="640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Limitations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60520" cy="4041648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6052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229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✦  Applications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" y="1389888"/>
            <a:ext cx="3995928" cy="694944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517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77824" y="144475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14"/>
                </a:solidFill>
              </a:rPr>
              <a:t>Market Segmentation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77824" y="171907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Group customers by demographics, interests &amp; behavior to tailor products and marketing.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" y="2212848"/>
            <a:ext cx="399592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408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7824" y="226771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14"/>
                </a:solidFill>
              </a:rPr>
              <a:t>Geo-Spatial Analysis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77824" y="254203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Cluster individuals by geographic location to predict product demand and adjust strategies.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7472" y="3035808"/>
            <a:ext cx="3995928" cy="694944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1638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🖼️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77824" y="309067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14"/>
                </a:solidFill>
              </a:rPr>
              <a:t>Image Segmentation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77824" y="336499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Distinguish visual elements in images — powers facial recognition &amp; object detection.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472" y="3858768"/>
            <a:ext cx="399592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9867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🚨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77824" y="391363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14"/>
                </a:solidFill>
              </a:rPr>
              <a:t>Anomaly Detection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77824" y="418795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Isolate data points that don't belong to any cluster — detects errors &amp; outliers early.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90872" y="822960"/>
            <a:ext cx="4160520" cy="4041648"/>
          </a:xfrm>
          <a:prstGeom prst="rect">
            <a:avLst/>
          </a:prstGeom>
          <a:solidFill>
            <a:srgbClr val="FFFFFF"/>
          </a:solidFill>
          <a:ln w="19050">
            <a:solidFill>
              <a:srgbClr val="F43F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90872" y="822960"/>
            <a:ext cx="4160520" cy="4572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8229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⚠  Limitations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64024" y="1389888"/>
            <a:ext cx="3995928" cy="694944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1517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⏱️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294376" y="144475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14"/>
                </a:solidFill>
              </a:rPr>
              <a:t>High Computational Cost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294376" y="171907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O(N³) time complexity for proximity matrix — impractical for very large datasets.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64024" y="2212848"/>
            <a:ext cx="399592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23408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294376" y="226771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14"/>
                </a:solidFill>
              </a:rPr>
              <a:t>No Objective Function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294376" y="254203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No single optimization target — different linkage methods can yield very different results.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64024" y="3035808"/>
            <a:ext cx="3995928" cy="694944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31638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🔊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294376" y="309067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14"/>
                </a:solidFill>
              </a:rPr>
              <a:t>Noise Sensitivity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294376" y="336499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Distance metrics make it sensitive to outliers and noisy data points.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64024" y="3858768"/>
            <a:ext cx="399592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39867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294376" y="391363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E14"/>
                </a:solidFill>
              </a:rPr>
              <a:t>Large Cluster Difficulty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294376" y="418795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Struggles to handle clusters of significantly different sizes effectively.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0"/>
            <a:ext cx="2377440" cy="5143500"/>
          </a:xfrm>
          <a:prstGeom prst="rect">
            <a:avLst/>
          </a:prstGeom>
          <a:solidFill>
            <a:srgbClr val="162B1C"/>
          </a:solidFill>
          <a:ln w="12700">
            <a:solidFill>
              <a:srgbClr val="162B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09560" y="457200"/>
            <a:ext cx="0" cy="137160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1828800"/>
            <a:ext cx="-731520" cy="64008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9560" y="1828800"/>
            <a:ext cx="731520" cy="64008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78040" y="2468880"/>
            <a:ext cx="-274320" cy="50292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78040" y="2468880"/>
            <a:ext cx="274320" cy="50292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41080" y="2468880"/>
            <a:ext cx="-274320" cy="50292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41080" y="2468880"/>
            <a:ext cx="274320" cy="50292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20840" y="2907792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69480" y="2907792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76288" y="2907792"/>
            <a:ext cx="182880" cy="1828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2907792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0" y="2907792"/>
            <a:ext cx="182880" cy="18288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18120" y="365760"/>
            <a:ext cx="219456" cy="219456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82880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411480" y="960120"/>
            <a:ext cx="6126480" cy="676656"/>
          </a:xfrm>
          <a:prstGeom prst="rect">
            <a:avLst/>
          </a:prstGeom>
          <a:solidFill>
            <a:srgbClr val="1C352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960120"/>
            <a:ext cx="658368" cy="6766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960120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14"/>
                </a:solidFill>
              </a:rPr>
              <a:t>01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70432" y="1078992"/>
            <a:ext cx="52669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Hierarchical clustering groups data into a nested tree (dendrogram) based on distance similarity.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11480" y="1755648"/>
            <a:ext cx="6126480" cy="676656"/>
          </a:xfrm>
          <a:prstGeom prst="rect">
            <a:avLst/>
          </a:prstGeom>
          <a:solidFill>
            <a:srgbClr val="1C352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1755648"/>
            <a:ext cx="658368" cy="6766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1755648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14"/>
                </a:solidFill>
              </a:rPr>
              <a:t>02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70432" y="1874520"/>
            <a:ext cx="52669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Agglomerative (bottom-up) merges individual points; Divisive (top-down) splits the whole dataset.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11480" y="2551176"/>
            <a:ext cx="6126480" cy="676656"/>
          </a:xfrm>
          <a:prstGeom prst="rect">
            <a:avLst/>
          </a:prstGeom>
          <a:solidFill>
            <a:srgbClr val="1C352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2551176"/>
            <a:ext cx="658368" cy="67665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551176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14"/>
                </a:solidFill>
              </a:rPr>
              <a:t>03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70432" y="2670048"/>
            <a:ext cx="52669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Linkage methods (Complete, Single, Average, Ward) determine how cluster distance is calculated.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11480" y="3346704"/>
            <a:ext cx="6126480" cy="676656"/>
          </a:xfrm>
          <a:prstGeom prst="rect">
            <a:avLst/>
          </a:prstGeom>
          <a:solidFill>
            <a:srgbClr val="1C3524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3346704"/>
            <a:ext cx="658368" cy="676656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346704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14"/>
                </a:solidFill>
              </a:rPr>
              <a:t>04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70432" y="3465576"/>
            <a:ext cx="52669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The dendrogram reveals the optimal number of clusters — cut where vertical bars are longest.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11480" y="4142232"/>
            <a:ext cx="6126480" cy="676656"/>
          </a:xfrm>
          <a:prstGeom prst="rect">
            <a:avLst/>
          </a:prstGeom>
          <a:solidFill>
            <a:srgbClr val="1C3524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" y="4142232"/>
            <a:ext cx="658368" cy="67665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142232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E14"/>
                </a:solidFill>
              </a:rPr>
              <a:t>05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170432" y="4261104"/>
            <a:ext cx="52669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Applications include market segmentation, image recognition, anomaly detection &amp; geo-analysis.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Hierarchical Clustering: Agglomerative &amp; Divisive</dc:title>
  <dc:subject>PptxGenJS Presentation</dc:subject>
  <dc:creator>PptxGenJS</dc:creator>
  <cp:lastModifiedBy>PptxGenJS</cp:lastModifiedBy>
  <cp:revision>1</cp:revision>
  <dcterms:created xsi:type="dcterms:W3CDTF">2026-03-16T03:29:55Z</dcterms:created>
  <dcterms:modified xsi:type="dcterms:W3CDTF">2026-03-16T03:29:55Z</dcterms:modified>
</cp:coreProperties>
</file>