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5BF847C-E30C-42AF-956F-EC6BEAF9585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EC58DE-E727-4DCE-9CC1-D15201BCE4C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BB1809-DE1D-4D3A-8809-BAF93BDAE96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B35D83-B73E-4E24-A123-228FEFE21C2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853DDC-D9C4-48FC-ACDC-46FE5142F8E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8D6E8C-CF49-48C6-A97F-3A3AFCBAD7F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045244-4A47-44AF-994C-9161E52F71E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F5A647-1DBE-47BE-8C0A-EB9334B3F6C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C07DDB-994C-4936-8649-8D381AC1E10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82520" cy="5143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6858000" y="-457200"/>
            <a:ext cx="3200040" cy="320004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7772400" y="2560320"/>
            <a:ext cx="2011320" cy="201132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457200" y="914400"/>
            <a:ext cx="2194200" cy="347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457200" y="914400"/>
            <a:ext cx="2194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8fafc"/>
                </a:solidFill>
                <a:latin typeface="Calibri"/>
              </a:rPr>
              <a:t>DATA ANALYSIS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457200" y="14630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8fafc"/>
                </a:solidFill>
                <a:latin typeface="Calibri"/>
                <a:ea typeface="Calibri"/>
              </a:rPr>
              <a:t>Challenges of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457200" y="214884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14b8a6"/>
                </a:solidFill>
                <a:latin typeface="Calibri"/>
                <a:ea typeface="Calibri"/>
              </a:rPr>
              <a:t>Outlier Detection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457200" y="288036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e2e8f0"/>
                </a:solidFill>
                <a:latin typeface="Calibri"/>
                <a:ea typeface="Calibri"/>
              </a:rPr>
              <a:t>in Data Analysis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457200" y="374904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4748b"/>
                </a:solidFill>
                <a:latin typeface="Calibri"/>
                <a:ea typeface="Calibri"/>
              </a:rPr>
              <a:t>Understanding why identifying anomalies is harder than it looks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457200" y="46634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"/>
          <p:cNvSpPr/>
          <p:nvPr/>
        </p:nvSpPr>
        <p:spPr>
          <a:xfrm>
            <a:off x="0" y="960120"/>
            <a:ext cx="9143640" cy="63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365760" y="0"/>
            <a:ext cx="82292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8fafc"/>
                </a:solidFill>
                <a:latin typeface="Calibri"/>
                <a:ea typeface="Calibri"/>
              </a:rPr>
              <a:t>What Are Outliers?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3"/>
          <p:cNvSpPr/>
          <p:nvPr/>
        </p:nvSpPr>
        <p:spPr>
          <a:xfrm>
            <a:off x="365760" y="1234440"/>
            <a:ext cx="8412120" cy="1051200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4"/>
          <p:cNvSpPr/>
          <p:nvPr/>
        </p:nvSpPr>
        <p:spPr>
          <a:xfrm>
            <a:off x="502920" y="1298520"/>
            <a:ext cx="8137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0f172a"/>
                </a:solidFill>
                <a:latin typeface="Calibri"/>
                <a:ea typeface="Calibri"/>
              </a:rPr>
              <a:t>An outlier is a data point that lies far outside the range of values typically observed in a dataset — caused by measurement errors, data entry mistakes, or genuine but rare events.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5"/>
          <p:cNvSpPr/>
          <p:nvPr/>
        </p:nvSpPr>
        <p:spPr>
          <a:xfrm>
            <a:off x="365760" y="2514600"/>
            <a:ext cx="2651400" cy="2011320"/>
          </a:xfrm>
          <a:prstGeom prst="rect">
            <a:avLst/>
          </a:prstGeom>
          <a:solidFill>
            <a:srgbClr val="1b2e45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6"/>
          <p:cNvSpPr/>
          <p:nvPr/>
        </p:nvSpPr>
        <p:spPr>
          <a:xfrm>
            <a:off x="365760" y="2560320"/>
            <a:ext cx="2651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f8fafc"/>
                </a:solidFill>
                <a:latin typeface="Calibri"/>
              </a:rPr>
              <a:t>⚠️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7"/>
          <p:cNvSpPr/>
          <p:nvPr/>
        </p:nvSpPr>
        <p:spPr>
          <a:xfrm>
            <a:off x="365760" y="3017520"/>
            <a:ext cx="2651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b8a6"/>
                </a:solidFill>
                <a:latin typeface="Calibri"/>
                <a:ea typeface="Calibri"/>
              </a:rPr>
              <a:t>Measurement Errors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8"/>
          <p:cNvSpPr/>
          <p:nvPr/>
        </p:nvSpPr>
        <p:spPr>
          <a:xfrm>
            <a:off x="457200" y="3429000"/>
            <a:ext cx="24685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alibri"/>
                <a:ea typeface="Calibri"/>
              </a:rPr>
              <a:t>Faulty sensors or recording tools can produce wildly inaccurate values.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9"/>
          <p:cNvSpPr/>
          <p:nvPr/>
        </p:nvSpPr>
        <p:spPr>
          <a:xfrm>
            <a:off x="3200400" y="2514600"/>
            <a:ext cx="2651400" cy="2011320"/>
          </a:xfrm>
          <a:prstGeom prst="rect">
            <a:avLst/>
          </a:prstGeom>
          <a:solidFill>
            <a:srgbClr val="1b2e45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10"/>
          <p:cNvSpPr/>
          <p:nvPr/>
        </p:nvSpPr>
        <p:spPr>
          <a:xfrm>
            <a:off x="3200400" y="2560320"/>
            <a:ext cx="2651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f8fafc"/>
                </a:solidFill>
                <a:latin typeface="Calibri"/>
              </a:rPr>
              <a:t>⌨️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1"/>
          <p:cNvSpPr/>
          <p:nvPr/>
        </p:nvSpPr>
        <p:spPr>
          <a:xfrm>
            <a:off x="3200400" y="3017520"/>
            <a:ext cx="2651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b8a6"/>
                </a:solidFill>
                <a:latin typeface="Calibri"/>
                <a:ea typeface="Calibri"/>
              </a:rPr>
              <a:t>Data Entry Mistakes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12"/>
          <p:cNvSpPr/>
          <p:nvPr/>
        </p:nvSpPr>
        <p:spPr>
          <a:xfrm>
            <a:off x="3291840" y="3429000"/>
            <a:ext cx="24685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alibri"/>
                <a:ea typeface="Calibri"/>
              </a:rPr>
              <a:t>Human errors during manual input can introduce incorrect data points.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3"/>
          <p:cNvSpPr/>
          <p:nvPr/>
        </p:nvSpPr>
        <p:spPr>
          <a:xfrm>
            <a:off x="6035040" y="2514600"/>
            <a:ext cx="2651400" cy="2011320"/>
          </a:xfrm>
          <a:prstGeom prst="rect">
            <a:avLst/>
          </a:prstGeom>
          <a:solidFill>
            <a:srgbClr val="1b2e45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14"/>
          <p:cNvSpPr/>
          <p:nvPr/>
        </p:nvSpPr>
        <p:spPr>
          <a:xfrm>
            <a:off x="6035040" y="2560320"/>
            <a:ext cx="2651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f8fafc"/>
                </a:solidFill>
                <a:latin typeface="Calibri"/>
              </a:rPr>
              <a:t>🔬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15"/>
          <p:cNvSpPr/>
          <p:nvPr/>
        </p:nvSpPr>
        <p:spPr>
          <a:xfrm>
            <a:off x="6035040" y="3017520"/>
            <a:ext cx="2651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b8a6"/>
                </a:solidFill>
                <a:latin typeface="Calibri"/>
                <a:ea typeface="Calibri"/>
              </a:rPr>
              <a:t>Rare Genuine Events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6"/>
          <p:cNvSpPr/>
          <p:nvPr/>
        </p:nvSpPr>
        <p:spPr>
          <a:xfrm>
            <a:off x="6126480" y="3429000"/>
            <a:ext cx="24685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alibri"/>
                <a:ea typeface="Calibri"/>
              </a:rPr>
              <a:t>Legitimate but extremely uncommon occurrences appear as outliers.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17"/>
          <p:cNvSpPr/>
          <p:nvPr/>
        </p:nvSpPr>
        <p:spPr>
          <a:xfrm>
            <a:off x="365760" y="47091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Outliers affect: finance · healthcare · social sciences · ML models · decision-making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365760" y="0"/>
            <a:ext cx="8412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8fafc"/>
                </a:solidFill>
                <a:latin typeface="Calibri"/>
                <a:ea typeface="Calibri"/>
              </a:rPr>
              <a:t>7 Key Challenges at a Glance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2"/>
          <p:cNvSpPr/>
          <p:nvPr/>
        </p:nvSpPr>
        <p:spPr>
          <a:xfrm>
            <a:off x="274320" y="1005840"/>
            <a:ext cx="2011320" cy="1691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3"/>
          <p:cNvSpPr/>
          <p:nvPr/>
        </p:nvSpPr>
        <p:spPr>
          <a:xfrm>
            <a:off x="274320" y="111564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>
                    <a:alpha val="70000"/>
                  </a:srgbClr>
                </a:solidFill>
                <a:latin typeface="Calibri"/>
                <a:ea typeface="Calibri"/>
              </a:rPr>
              <a:t>01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4"/>
          <p:cNvSpPr/>
          <p:nvPr/>
        </p:nvSpPr>
        <p:spPr>
          <a:xfrm>
            <a:off x="365760" y="1600200"/>
            <a:ext cx="1828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8fafc"/>
                </a:solidFill>
                <a:latin typeface="Calibri"/>
                <a:ea typeface="Calibri"/>
              </a:rPr>
              <a:t>Defining What Constitutes an Outlier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5"/>
          <p:cNvSpPr/>
          <p:nvPr/>
        </p:nvSpPr>
        <p:spPr>
          <a:xfrm>
            <a:off x="2441520" y="1005840"/>
            <a:ext cx="2011320" cy="1691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6"/>
          <p:cNvSpPr/>
          <p:nvPr/>
        </p:nvSpPr>
        <p:spPr>
          <a:xfrm>
            <a:off x="2441520" y="111564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>
                    <a:alpha val="70000"/>
                  </a:srgbClr>
                </a:solidFill>
                <a:latin typeface="Calibri"/>
                <a:ea typeface="Calibri"/>
              </a:rPr>
              <a:t>02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7"/>
          <p:cNvSpPr/>
          <p:nvPr/>
        </p:nvSpPr>
        <p:spPr>
          <a:xfrm>
            <a:off x="2532960" y="1600200"/>
            <a:ext cx="1828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8fafc"/>
                </a:solidFill>
                <a:latin typeface="Calibri"/>
                <a:ea typeface="Calibri"/>
              </a:rPr>
              <a:t>High Dimensionality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8"/>
          <p:cNvSpPr/>
          <p:nvPr/>
        </p:nvSpPr>
        <p:spPr>
          <a:xfrm>
            <a:off x="4608720" y="1005840"/>
            <a:ext cx="2011320" cy="1691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9"/>
          <p:cNvSpPr/>
          <p:nvPr/>
        </p:nvSpPr>
        <p:spPr>
          <a:xfrm>
            <a:off x="4608720" y="111564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>
                    <a:alpha val="70000"/>
                  </a:srgbClr>
                </a:solidFill>
                <a:latin typeface="Calibri"/>
                <a:ea typeface="Calibri"/>
              </a:rPr>
              <a:t>03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10"/>
          <p:cNvSpPr/>
          <p:nvPr/>
        </p:nvSpPr>
        <p:spPr>
          <a:xfrm>
            <a:off x="4700160" y="1600200"/>
            <a:ext cx="1828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8fafc"/>
                </a:solidFill>
                <a:latin typeface="Calibri"/>
                <a:ea typeface="Calibri"/>
              </a:rPr>
              <a:t>Presence of Noise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11"/>
          <p:cNvSpPr/>
          <p:nvPr/>
        </p:nvSpPr>
        <p:spPr>
          <a:xfrm>
            <a:off x="6775560" y="1005840"/>
            <a:ext cx="2011320" cy="16912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6775560" y="111564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>
                    <a:alpha val="70000"/>
                  </a:srgbClr>
                </a:solidFill>
                <a:latin typeface="Calibri"/>
                <a:ea typeface="Calibri"/>
              </a:rPr>
              <a:t>04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13"/>
          <p:cNvSpPr/>
          <p:nvPr/>
        </p:nvSpPr>
        <p:spPr>
          <a:xfrm>
            <a:off x="6867000" y="1600200"/>
            <a:ext cx="1828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8fafc"/>
                </a:solidFill>
                <a:latin typeface="Calibri"/>
                <a:ea typeface="Calibri"/>
              </a:rPr>
              <a:t>Context Dependency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14"/>
          <p:cNvSpPr/>
          <p:nvPr/>
        </p:nvSpPr>
        <p:spPr>
          <a:xfrm>
            <a:off x="274320" y="2926080"/>
            <a:ext cx="2011320" cy="1691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5"/>
          <p:cNvSpPr/>
          <p:nvPr/>
        </p:nvSpPr>
        <p:spPr>
          <a:xfrm>
            <a:off x="274320" y="303588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>
                    <a:alpha val="70000"/>
                  </a:srgbClr>
                </a:solidFill>
                <a:latin typeface="Calibri"/>
                <a:ea typeface="Calibri"/>
              </a:rPr>
              <a:t>05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16"/>
          <p:cNvSpPr/>
          <p:nvPr/>
        </p:nvSpPr>
        <p:spPr>
          <a:xfrm>
            <a:off x="365760" y="3520440"/>
            <a:ext cx="1828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8fafc"/>
                </a:solidFill>
                <a:latin typeface="Calibri"/>
                <a:ea typeface="Calibri"/>
              </a:rPr>
              <a:t>Scalability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17"/>
          <p:cNvSpPr/>
          <p:nvPr/>
        </p:nvSpPr>
        <p:spPr>
          <a:xfrm>
            <a:off x="2441520" y="2926080"/>
            <a:ext cx="2011320" cy="1691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18"/>
          <p:cNvSpPr/>
          <p:nvPr/>
        </p:nvSpPr>
        <p:spPr>
          <a:xfrm>
            <a:off x="2441520" y="303588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>
                    <a:alpha val="70000"/>
                  </a:srgbClr>
                </a:solidFill>
                <a:latin typeface="Calibri"/>
                <a:ea typeface="Calibri"/>
              </a:rPr>
              <a:t>06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19"/>
          <p:cNvSpPr/>
          <p:nvPr/>
        </p:nvSpPr>
        <p:spPr>
          <a:xfrm>
            <a:off x="2532960" y="3520440"/>
            <a:ext cx="1828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8fafc"/>
                </a:solidFill>
                <a:latin typeface="Calibri"/>
                <a:ea typeface="Calibri"/>
              </a:rPr>
              <a:t>Subjectivity in Outlier Treatment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20"/>
          <p:cNvSpPr/>
          <p:nvPr/>
        </p:nvSpPr>
        <p:spPr>
          <a:xfrm>
            <a:off x="4608720" y="2926080"/>
            <a:ext cx="2011320" cy="16912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21"/>
          <p:cNvSpPr/>
          <p:nvPr/>
        </p:nvSpPr>
        <p:spPr>
          <a:xfrm>
            <a:off x="4608720" y="303588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>
                    <a:alpha val="70000"/>
                  </a:srgbClr>
                </a:solidFill>
                <a:latin typeface="Calibri"/>
                <a:ea typeface="Calibri"/>
              </a:rPr>
              <a:t>07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22"/>
          <p:cNvSpPr/>
          <p:nvPr/>
        </p:nvSpPr>
        <p:spPr>
          <a:xfrm>
            <a:off x="4700160" y="3520440"/>
            <a:ext cx="1828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8fafc"/>
                </a:solidFill>
                <a:latin typeface="Calibri"/>
                <a:ea typeface="Calibri"/>
              </a:rPr>
              <a:t>Multivariate &amp; Collective Outliers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1"/>
          <p:cNvSpPr/>
          <p:nvPr/>
        </p:nvSpPr>
        <p:spPr>
          <a:xfrm>
            <a:off x="365760" y="0"/>
            <a:ext cx="8412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4b8a6"/>
                </a:solidFill>
                <a:latin typeface="Calibri"/>
                <a:ea typeface="Calibri"/>
              </a:rPr>
              <a:t>Challenge 01 &amp; 02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2"/>
          <p:cNvSpPr/>
          <p:nvPr/>
        </p:nvSpPr>
        <p:spPr>
          <a:xfrm>
            <a:off x="274320" y="1005840"/>
            <a:ext cx="3931560" cy="3657240"/>
          </a:xfrm>
          <a:prstGeom prst="rect">
            <a:avLst/>
          </a:prstGeom>
          <a:solidFill>
            <a:srgbClr val="1b2e45"/>
          </a:solidFill>
          <a:ln w="1905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3"/>
          <p:cNvSpPr/>
          <p:nvPr/>
        </p:nvSpPr>
        <p:spPr>
          <a:xfrm>
            <a:off x="274320" y="1005840"/>
            <a:ext cx="3931560" cy="502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4"/>
          <p:cNvSpPr/>
          <p:nvPr/>
        </p:nvSpPr>
        <p:spPr>
          <a:xfrm>
            <a:off x="365760" y="100584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Calibri"/>
                <a:ea typeface="Calibri"/>
              </a:rPr>
              <a:t>01  Defining an Outlier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5"/>
          <p:cNvSpPr/>
          <p:nvPr/>
        </p:nvSpPr>
        <p:spPr>
          <a:xfrm>
            <a:off x="411480" y="1600200"/>
            <a:ext cx="365724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200" spc="-1" strike="noStrike">
                <a:solidFill>
                  <a:srgbClr val="f59e0b"/>
                </a:solidFill>
                <a:latin typeface="Calibri"/>
                <a:ea typeface="Calibri"/>
              </a:rPr>
              <a:t>Challenge: </a:t>
            </a:r>
            <a:r>
              <a:rPr b="0" lang="en-US" sz="1200" spc="-1" strike="noStrike">
                <a:solidFill>
                  <a:srgbClr val="e2e8f0"/>
                </a:solidFill>
                <a:latin typeface="Calibri"/>
                <a:ea typeface="Calibri"/>
              </a:rPr>
              <a:t>No universal definition. Criteria differ across datasets and domains.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59e0b"/>
                </a:solidFill>
                <a:latin typeface="Calibri"/>
                <a:ea typeface="Calibri"/>
              </a:rPr>
              <a:t>Impact: </a:t>
            </a:r>
            <a:r>
              <a:rPr b="0" lang="en-US" sz="1200" spc="-1" strike="noStrike">
                <a:solidFill>
                  <a:srgbClr val="e2e8f0"/>
                </a:solidFill>
                <a:latin typeface="Calibri"/>
                <a:ea typeface="Calibri"/>
              </a:rPr>
              <a:t>Domain-specific knowledge is required. A value that's an outlier in one dataset may be perfectly normal in another.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6"/>
          <p:cNvSpPr/>
          <p:nvPr/>
        </p:nvSpPr>
        <p:spPr>
          <a:xfrm>
            <a:off x="4937760" y="1005840"/>
            <a:ext cx="3931560" cy="3657240"/>
          </a:xfrm>
          <a:prstGeom prst="rect">
            <a:avLst/>
          </a:prstGeom>
          <a:solidFill>
            <a:srgbClr val="1b2e45"/>
          </a:solidFill>
          <a:ln w="1905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7"/>
          <p:cNvSpPr/>
          <p:nvPr/>
        </p:nvSpPr>
        <p:spPr>
          <a:xfrm>
            <a:off x="4937760" y="1005840"/>
            <a:ext cx="3931560" cy="502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8"/>
          <p:cNvSpPr/>
          <p:nvPr/>
        </p:nvSpPr>
        <p:spPr>
          <a:xfrm>
            <a:off x="5029200" y="100584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  <a:ea typeface="Calibri"/>
              </a:rPr>
              <a:t>02  High Dimensionality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9"/>
          <p:cNvSpPr/>
          <p:nvPr/>
        </p:nvSpPr>
        <p:spPr>
          <a:xfrm>
            <a:off x="5074920" y="1600200"/>
            <a:ext cx="365724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200" spc="-1" strike="noStrike">
                <a:solidFill>
                  <a:srgbClr val="f59e0b"/>
                </a:solidFill>
                <a:latin typeface="Calibri"/>
                <a:ea typeface="Calibri"/>
              </a:rPr>
              <a:t>Challenge: </a:t>
            </a:r>
            <a:r>
              <a:rPr b="0" lang="en-US" sz="1200" spc="-1" strike="noStrike">
                <a:solidFill>
                  <a:srgbClr val="e2e8f0"/>
                </a:solidFill>
                <a:latin typeface="Calibri"/>
                <a:ea typeface="Calibri"/>
              </a:rPr>
              <a:t>In datasets with many variables, outliers may not be visible when examining each variable individually.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59e0b"/>
                </a:solidFill>
                <a:latin typeface="Calibri"/>
                <a:ea typeface="Calibri"/>
              </a:rPr>
              <a:t>Impact: </a:t>
            </a:r>
            <a:r>
              <a:rPr b="0" lang="en-US" sz="1200" spc="-1" strike="noStrike">
                <a:solidFill>
                  <a:srgbClr val="e2e8f0"/>
                </a:solidFill>
                <a:latin typeface="Calibri"/>
                <a:ea typeface="Calibri"/>
              </a:rPr>
              <a:t>The "curse of dimensionality" makes traditional methods less effective. Outliers hide in complex variable interactions.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365760" y="0"/>
            <a:ext cx="8412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4b8a6"/>
                </a:solidFill>
                <a:latin typeface="Calibri"/>
                <a:ea typeface="Calibri"/>
              </a:rPr>
              <a:t>Challenge 03 &amp; 04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2"/>
          <p:cNvSpPr/>
          <p:nvPr/>
        </p:nvSpPr>
        <p:spPr>
          <a:xfrm>
            <a:off x="274320" y="1005840"/>
            <a:ext cx="3931560" cy="3657240"/>
          </a:xfrm>
          <a:prstGeom prst="rect">
            <a:avLst/>
          </a:prstGeom>
          <a:solidFill>
            <a:srgbClr val="1b2e45"/>
          </a:solidFill>
          <a:ln w="1905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3"/>
          <p:cNvSpPr/>
          <p:nvPr/>
        </p:nvSpPr>
        <p:spPr>
          <a:xfrm>
            <a:off x="274320" y="1005840"/>
            <a:ext cx="3931560" cy="502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4"/>
          <p:cNvSpPr/>
          <p:nvPr/>
        </p:nvSpPr>
        <p:spPr>
          <a:xfrm>
            <a:off x="365760" y="100584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Calibri"/>
                <a:ea typeface="Calibri"/>
              </a:rPr>
              <a:t>03  Presence of Noise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5"/>
          <p:cNvSpPr/>
          <p:nvPr/>
        </p:nvSpPr>
        <p:spPr>
          <a:xfrm>
            <a:off x="411480" y="1600200"/>
            <a:ext cx="365724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200" spc="-1" strike="noStrike">
                <a:solidFill>
                  <a:srgbClr val="f59e0b"/>
                </a:solidFill>
                <a:latin typeface="Calibri"/>
                <a:ea typeface="Calibri"/>
              </a:rPr>
              <a:t>Challenge: </a:t>
            </a:r>
            <a:r>
              <a:rPr b="0" lang="en-US" sz="1200" spc="-1" strike="noStrike">
                <a:solidFill>
                  <a:srgbClr val="e2e8f0"/>
                </a:solidFill>
                <a:latin typeface="Calibri"/>
                <a:ea typeface="Calibri"/>
              </a:rPr>
              <a:t>Real-world data contains noise — random variability unrelated to the phenomenon being studied.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59e0b"/>
                </a:solidFill>
                <a:latin typeface="Calibri"/>
                <a:ea typeface="Calibri"/>
              </a:rPr>
              <a:t>Impact: </a:t>
            </a:r>
            <a:r>
              <a:rPr b="0" lang="en-US" sz="1200" spc="-1" strike="noStrike">
                <a:solidFill>
                  <a:srgbClr val="e2e8f0"/>
                </a:solidFill>
                <a:latin typeface="Calibri"/>
                <a:ea typeface="Calibri"/>
              </a:rPr>
              <a:t>Noise can create false (spurious) outliers or mask real ones, leading to incorrect analysis conclusions.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6"/>
          <p:cNvSpPr/>
          <p:nvPr/>
        </p:nvSpPr>
        <p:spPr>
          <a:xfrm>
            <a:off x="4937760" y="1005840"/>
            <a:ext cx="3931560" cy="3657240"/>
          </a:xfrm>
          <a:prstGeom prst="rect">
            <a:avLst/>
          </a:prstGeom>
          <a:solidFill>
            <a:srgbClr val="1b2e45"/>
          </a:solidFill>
          <a:ln w="190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7"/>
          <p:cNvSpPr/>
          <p:nvPr/>
        </p:nvSpPr>
        <p:spPr>
          <a:xfrm>
            <a:off x="4937760" y="1005840"/>
            <a:ext cx="3931560" cy="502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8"/>
          <p:cNvSpPr/>
          <p:nvPr/>
        </p:nvSpPr>
        <p:spPr>
          <a:xfrm>
            <a:off x="5029200" y="100584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  <a:ea typeface="Calibri"/>
              </a:rPr>
              <a:t>04  Context Dependency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9"/>
          <p:cNvSpPr/>
          <p:nvPr/>
        </p:nvSpPr>
        <p:spPr>
          <a:xfrm>
            <a:off x="5074920" y="1600200"/>
            <a:ext cx="365724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200" spc="-1" strike="noStrike">
                <a:solidFill>
                  <a:srgbClr val="14b8a6"/>
                </a:solidFill>
                <a:latin typeface="Calibri"/>
                <a:ea typeface="Calibri"/>
              </a:rPr>
              <a:t>Challenge: </a:t>
            </a:r>
            <a:r>
              <a:rPr b="0" lang="en-US" sz="1200" spc="-1" strike="noStrike">
                <a:solidFill>
                  <a:srgbClr val="e2e8f0"/>
                </a:solidFill>
                <a:latin typeface="Calibri"/>
                <a:ea typeface="Calibri"/>
              </a:rPr>
              <a:t>Whether a point is an outlier depends on specific conditions. A temperature reading may be an outlier in one season but normal in another.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b8a6"/>
                </a:solidFill>
                <a:latin typeface="Calibri"/>
                <a:ea typeface="Calibri"/>
              </a:rPr>
              <a:t>Impact: </a:t>
            </a:r>
            <a:r>
              <a:rPr b="0" lang="en-US" sz="1200" spc="-1" strike="noStrike">
                <a:solidFill>
                  <a:srgbClr val="e2e8f0"/>
                </a:solidFill>
                <a:latin typeface="Calibri"/>
                <a:ea typeface="Calibri"/>
              </a:rPr>
              <a:t>Contextual outliers require understanding relevant conditions and more sophisticated detection algorithms.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365760" y="0"/>
            <a:ext cx="8412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4b8a6"/>
                </a:solidFill>
                <a:latin typeface="Calibri"/>
                <a:ea typeface="Calibri"/>
              </a:rPr>
              <a:t>Challenge 05, 06 &amp; 07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"/>
          <p:cNvSpPr/>
          <p:nvPr/>
        </p:nvSpPr>
        <p:spPr>
          <a:xfrm>
            <a:off x="201240" y="1005840"/>
            <a:ext cx="2788560" cy="3840120"/>
          </a:xfrm>
          <a:prstGeom prst="rect">
            <a:avLst/>
          </a:prstGeom>
          <a:solidFill>
            <a:srgbClr val="1b2e45"/>
          </a:solidFill>
          <a:ln w="1905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3"/>
          <p:cNvSpPr/>
          <p:nvPr/>
        </p:nvSpPr>
        <p:spPr>
          <a:xfrm>
            <a:off x="201240" y="1005840"/>
            <a:ext cx="2788560" cy="456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292680" y="100584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  <a:ea typeface="Calibri"/>
              </a:rPr>
              <a:t>05  Scalability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292680" y="160020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59e0b"/>
                </a:solidFill>
                <a:latin typeface="Calibri"/>
                <a:ea typeface="Calibri"/>
              </a:rPr>
              <a:t>Challenge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292680" y="1847160"/>
            <a:ext cx="2559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alibri"/>
                <a:ea typeface="Calibri"/>
              </a:rPr>
              <a:t>As datasets grow larger, the computational cost of outlier detection increases sharply.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292680" y="306324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4b8a6"/>
                </a:solidFill>
                <a:latin typeface="Calibri"/>
                <a:ea typeface="Calibri"/>
              </a:rPr>
              <a:t>Impact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8"/>
          <p:cNvSpPr/>
          <p:nvPr/>
        </p:nvSpPr>
        <p:spPr>
          <a:xfrm>
            <a:off x="292680" y="3310200"/>
            <a:ext cx="25599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alibri"/>
                <a:ea typeface="Calibri"/>
              </a:rPr>
              <a:t>Large-scale data requires optimized algorithms and significant computational resources — challenging in big data environments.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9"/>
          <p:cNvSpPr/>
          <p:nvPr/>
        </p:nvSpPr>
        <p:spPr>
          <a:xfrm>
            <a:off x="3173040" y="1005840"/>
            <a:ext cx="2788560" cy="3840120"/>
          </a:xfrm>
          <a:prstGeom prst="rect">
            <a:avLst/>
          </a:prstGeom>
          <a:solidFill>
            <a:srgbClr val="1b2e45"/>
          </a:solidFill>
          <a:ln w="190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Shape 10"/>
          <p:cNvSpPr/>
          <p:nvPr/>
        </p:nvSpPr>
        <p:spPr>
          <a:xfrm>
            <a:off x="3173040" y="1005840"/>
            <a:ext cx="2788560" cy="456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11"/>
          <p:cNvSpPr/>
          <p:nvPr/>
        </p:nvSpPr>
        <p:spPr>
          <a:xfrm>
            <a:off x="3264480" y="100584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  <a:ea typeface="Calibri"/>
              </a:rPr>
              <a:t>06  Subjectivity in Treatment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2"/>
          <p:cNvSpPr/>
          <p:nvPr/>
        </p:nvSpPr>
        <p:spPr>
          <a:xfrm>
            <a:off x="3264480" y="160020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59e0b"/>
                </a:solidFill>
                <a:latin typeface="Calibri"/>
                <a:ea typeface="Calibri"/>
              </a:rPr>
              <a:t>Challenge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13"/>
          <p:cNvSpPr/>
          <p:nvPr/>
        </p:nvSpPr>
        <p:spPr>
          <a:xfrm>
            <a:off x="3264480" y="1847160"/>
            <a:ext cx="2559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alibri"/>
                <a:ea typeface="Calibri"/>
              </a:rPr>
              <a:t>Deciding how to treat detected outliers — remove, transform, or retain — is often subjective.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14"/>
          <p:cNvSpPr/>
          <p:nvPr/>
        </p:nvSpPr>
        <p:spPr>
          <a:xfrm>
            <a:off x="3264480" y="306324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4b8a6"/>
                </a:solidFill>
                <a:latin typeface="Calibri"/>
                <a:ea typeface="Calibri"/>
              </a:rPr>
              <a:t>Impact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15"/>
          <p:cNvSpPr/>
          <p:nvPr/>
        </p:nvSpPr>
        <p:spPr>
          <a:xfrm>
            <a:off x="3264480" y="3310200"/>
            <a:ext cx="25599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alibri"/>
                <a:ea typeface="Calibri"/>
              </a:rPr>
              <a:t>Subjective handling can introduce bias and lead to inconsistent or misleading analysis results.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16"/>
          <p:cNvSpPr/>
          <p:nvPr/>
        </p:nvSpPr>
        <p:spPr>
          <a:xfrm>
            <a:off x="6144840" y="1005840"/>
            <a:ext cx="2788560" cy="3840120"/>
          </a:xfrm>
          <a:prstGeom prst="rect">
            <a:avLst/>
          </a:prstGeom>
          <a:solidFill>
            <a:srgbClr val="1b2e45"/>
          </a:solidFill>
          <a:ln w="1905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17"/>
          <p:cNvSpPr/>
          <p:nvPr/>
        </p:nvSpPr>
        <p:spPr>
          <a:xfrm>
            <a:off x="6144840" y="1005840"/>
            <a:ext cx="2788560" cy="456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18"/>
          <p:cNvSpPr/>
          <p:nvPr/>
        </p:nvSpPr>
        <p:spPr>
          <a:xfrm>
            <a:off x="6236280" y="100584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  <a:ea typeface="Calibri"/>
              </a:rPr>
              <a:t>07  Multivariate &amp; Collective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9"/>
          <p:cNvSpPr/>
          <p:nvPr/>
        </p:nvSpPr>
        <p:spPr>
          <a:xfrm>
            <a:off x="6236280" y="160020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59e0b"/>
                </a:solidFill>
                <a:latin typeface="Calibri"/>
                <a:ea typeface="Calibri"/>
              </a:rPr>
              <a:t>Challenge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20"/>
          <p:cNvSpPr/>
          <p:nvPr/>
        </p:nvSpPr>
        <p:spPr>
          <a:xfrm>
            <a:off x="6236280" y="1847160"/>
            <a:ext cx="2559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alibri"/>
                <a:ea typeface="Calibri"/>
              </a:rPr>
              <a:t>Detecting outliers across multiple variables simultaneously, or collective groups behaving anomalously, is highly complex.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21"/>
          <p:cNvSpPr/>
          <p:nvPr/>
        </p:nvSpPr>
        <p:spPr>
          <a:xfrm>
            <a:off x="6236280" y="306324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4b8a6"/>
                </a:solidFill>
                <a:latin typeface="Calibri"/>
                <a:ea typeface="Calibri"/>
              </a:rPr>
              <a:t>Impact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22"/>
          <p:cNvSpPr/>
          <p:nvPr/>
        </p:nvSpPr>
        <p:spPr>
          <a:xfrm>
            <a:off x="6236280" y="3310200"/>
            <a:ext cx="25599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alibri"/>
                <a:ea typeface="Calibri"/>
              </a:rPr>
              <a:t>Traditional univariate methods are inadequate; sophisticated multivariate techniques are required, which are more computationally intensive.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8fafc"/>
                </a:solidFill>
                <a:latin typeface="Calibri"/>
                <a:ea typeface="Calibri"/>
              </a:rPr>
              <a:t>Challenges Summary Table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04" name="Table 0"/>
          <p:cNvGraphicFramePr/>
          <p:nvPr/>
        </p:nvGraphicFramePr>
        <p:xfrm>
          <a:off x="274320" y="960120"/>
          <a:ext cx="8503560" cy="3977280"/>
        </p:xfrm>
        <a:graphic>
          <a:graphicData uri="http://schemas.openxmlformats.org/drawingml/2006/table">
            <a:tbl>
              <a:tblPr/>
              <a:tblGrid>
                <a:gridCol w="2286000"/>
                <a:gridCol w="3017520"/>
                <a:gridCol w="3200400"/>
              </a:tblGrid>
              <a:tr h="4971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8fafc"/>
                          </a:solidFill>
                          <a:latin typeface="Calibri"/>
                        </a:rPr>
                        <a:t>Challenge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8fafc"/>
                          </a:solidFill>
                          <a:latin typeface="Calibri"/>
                        </a:rPr>
                        <a:t>Core Problem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8fafc"/>
                          </a:solidFill>
                          <a:latin typeface="Calibri"/>
                        </a:rPr>
                        <a:t>Key Impact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b2e45"/>
                    </a:solidFill>
                  </a:tcPr>
                </a:tc>
              </a:tr>
              <a:tr h="4971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14b8a6"/>
                          </a:solidFill>
                          <a:latin typeface="Calibri"/>
                          <a:ea typeface="Calibri"/>
                        </a:rPr>
                        <a:t>Defining Outliers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</a:rPr>
                        <a:t>No universal criteria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</a:rPr>
                        <a:t>Domain expertise required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971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14b8a6"/>
                          </a:solidFill>
                          <a:latin typeface="Calibri"/>
                          <a:ea typeface="Calibri"/>
                        </a:rPr>
                        <a:t>High Dimensionality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</a:rPr>
                        <a:t>Curse of dimensionality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</a:rPr>
                        <a:t>Traditional methods fail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4971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14b8a6"/>
                          </a:solidFill>
                          <a:latin typeface="Calibri"/>
                          <a:ea typeface="Calibri"/>
                        </a:rPr>
                        <a:t>Noise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</a:rPr>
                        <a:t>Spurious vs true outliers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</a:rPr>
                        <a:t>Inaccurate analysis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971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14b8a6"/>
                          </a:solidFill>
                          <a:latin typeface="Calibri"/>
                          <a:ea typeface="Calibri"/>
                        </a:rPr>
                        <a:t>Context Dependency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</a:rPr>
                        <a:t>Condition-sensitive values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</a:rPr>
                        <a:t>Complex algorithms needed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4971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14b8a6"/>
                          </a:solidFill>
                          <a:latin typeface="Calibri"/>
                          <a:ea typeface="Calibri"/>
                        </a:rPr>
                        <a:t>Scalability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</a:rPr>
                        <a:t>Growing computational cost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</a:rPr>
                        <a:t>Big data bottlenecks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971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14b8a6"/>
                          </a:solidFill>
                          <a:latin typeface="Calibri"/>
                          <a:ea typeface="Calibri"/>
                        </a:rPr>
                        <a:t>Subjectivity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</a:rPr>
                        <a:t>Remove / transform / keep?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</a:rPr>
                        <a:t>Bias in results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4971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14b8a6"/>
                          </a:solidFill>
                          <a:latin typeface="Calibri"/>
                          <a:ea typeface="Calibri"/>
                        </a:rPr>
                        <a:t>Multivariate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</a:rPr>
                        <a:t>Group anomaly detection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</a:rPr>
                        <a:t>Intensive computation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0"/>
          <p:cNvSpPr/>
          <p:nvPr/>
        </p:nvSpPr>
        <p:spPr>
          <a:xfrm>
            <a:off x="-914400" y="-914400"/>
            <a:ext cx="4571640" cy="457164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Shape 1"/>
          <p:cNvSpPr/>
          <p:nvPr/>
        </p:nvSpPr>
        <p:spPr>
          <a:xfrm>
            <a:off x="6400800" y="2743200"/>
            <a:ext cx="3657240" cy="365724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2"/>
          <p:cNvSpPr/>
          <p:nvPr/>
        </p:nvSpPr>
        <p:spPr>
          <a:xfrm>
            <a:off x="0" y="0"/>
            <a:ext cx="136800" cy="5143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457200" y="4572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4b8a6"/>
                </a:solidFill>
                <a:latin typeface="Calibri"/>
                <a:ea typeface="Calibri"/>
              </a:rPr>
              <a:t>Conclusion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4"/>
          <p:cNvSpPr/>
          <p:nvPr/>
        </p:nvSpPr>
        <p:spPr>
          <a:xfrm>
            <a:off x="457200" y="11887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f8fafc"/>
                </a:solidFill>
                <a:latin typeface="Calibri"/>
                <a:ea typeface="Calibri"/>
              </a:rPr>
              <a:t>Outlier detection is a vital yet genuinely difficult task in data analysis.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5"/>
          <p:cNvSpPr/>
          <p:nvPr/>
        </p:nvSpPr>
        <p:spPr>
          <a:xfrm>
            <a:off x="457200" y="1828800"/>
            <a:ext cx="82292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300" spc="-1" strike="noStrike">
                <a:solidFill>
                  <a:srgbClr val="0d9488"/>
                </a:solidFill>
                <a:latin typeface="Calibri"/>
                <a:ea typeface="Calibri"/>
              </a:rPr>
              <a:t>  ●  </a:t>
            </a: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Complexity of defining what an outlier is across diverse domains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1300" spc="-1" strike="noStrike">
                <a:solidFill>
                  <a:srgbClr val="0d9488"/>
                </a:solidFill>
                <a:latin typeface="Calibri"/>
                <a:ea typeface="Calibri"/>
              </a:rPr>
              <a:t>  ●  </a:t>
            </a: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High-dimensional data hides relationships and anomalies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1300" spc="-1" strike="noStrike">
                <a:solidFill>
                  <a:srgbClr val="0d9488"/>
                </a:solidFill>
                <a:latin typeface="Calibri"/>
                <a:ea typeface="Calibri"/>
              </a:rPr>
              <a:t>  ●  </a:t>
            </a: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Distinguishing true outliers from background noise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1300" spc="-1" strike="noStrike">
                <a:solidFill>
                  <a:srgbClr val="0d9488"/>
                </a:solidFill>
                <a:latin typeface="Calibri"/>
                <a:ea typeface="Calibri"/>
              </a:rPr>
              <a:t>  ●  </a:t>
            </a: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Handling context-dependent and collective outliers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9488"/>
                </a:solidFill>
                <a:latin typeface="Calibri"/>
                <a:ea typeface="Calibri"/>
              </a:rPr>
              <a:t>  ●  </a:t>
            </a: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Addressing computational scalability and analyst subjectivity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Shape 6"/>
          <p:cNvSpPr/>
          <p:nvPr/>
        </p:nvSpPr>
        <p:spPr>
          <a:xfrm>
            <a:off x="457200" y="4297680"/>
            <a:ext cx="8229240" cy="594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7"/>
          <p:cNvSpPr/>
          <p:nvPr/>
        </p:nvSpPr>
        <p:spPr>
          <a:xfrm>
            <a:off x="457200" y="42976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8fafc"/>
                </a:solidFill>
                <a:latin typeface="Calibri"/>
                <a:ea typeface="Calibri"/>
              </a:rPr>
              <a:t>Effective outlier detection → valid &amp; reliable data insights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2026-04-08T03:49:20Z</dcterms:created>
  <dc:creator>PptxGenJS</dc:creator>
  <dc:description/>
  <dc:language>en-US</dc:language>
  <cp:lastModifiedBy/>
  <dcterms:modified xsi:type="dcterms:W3CDTF">2026-04-08T09:35:46Z</dcterms:modified>
  <cp:revision>2</cp:revision>
  <dc:subject>PptxGenJS Presentation</dc:subject>
  <dc:title>Challenges of Outlier Detection in Data Analysis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