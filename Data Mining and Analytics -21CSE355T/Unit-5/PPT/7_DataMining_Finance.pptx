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6217920" y="-1645920"/>
            <a:ext cx="5486400" cy="5486400"/>
          </a:xfrm>
          <a:prstGeom prst="ellipse">
            <a:avLst/>
          </a:prstGeom>
          <a:solidFill>
            <a:srgbClr val="0F2044"/>
          </a:solidFill>
          <a:ln w="12700">
            <a:solidFill>
              <a:srgbClr val="0F2044"/>
            </a:solidFill>
            <a:prstDash val="solid"/>
          </a:ln>
        </p:spPr>
      </p:sp>
      <p:sp>
        <p:nvSpPr>
          <p:cNvPr id="3" name="Shape 1"/>
          <p:cNvSpPr/>
          <p:nvPr/>
        </p:nvSpPr>
        <p:spPr>
          <a:xfrm>
            <a:off x="7498080" y="548640"/>
            <a:ext cx="2377440" cy="2377440"/>
          </a:xfrm>
          <a:prstGeom prst="ellipse">
            <a:avLst/>
          </a:prstGeom>
          <a:solidFill>
            <a:srgbClr val="B8860B">
              <a:alpha val="28000"/>
            </a:srgbClr>
          </a:solidFill>
          <a:ln w="12700">
            <a:solidFill>
              <a:srgbClr val="B8860B">
                <a:alpha val="30000"/>
              </a:srgbClr>
            </a:solidFill>
            <a:prstDash val="solid"/>
          </a:ln>
        </p:spPr>
      </p:sp>
      <p:sp>
        <p:nvSpPr>
          <p:cNvPr id="4" name="Shape 2"/>
          <p:cNvSpPr/>
          <p:nvPr/>
        </p:nvSpPr>
        <p:spPr>
          <a:xfrm>
            <a:off x="-1371600" y="3474720"/>
            <a:ext cx="3840480" cy="3840480"/>
          </a:xfrm>
          <a:prstGeom prst="ellipse">
            <a:avLst/>
          </a:prstGeom>
          <a:solidFill>
            <a:srgbClr val="1D4ED8">
              <a:alpha val="15000"/>
            </a:srgbClr>
          </a:solidFill>
          <a:ln w="12700">
            <a:solidFill>
              <a:srgbClr val="1D4ED8">
                <a:alpha val="17000"/>
              </a:srgbClr>
            </a:solidFill>
            <a:prstDash val="solid"/>
          </a:ln>
        </p:spPr>
      </p:sp>
      <p:sp>
        <p:nvSpPr>
          <p:cNvPr id="5" name="Shape 3"/>
          <p:cNvSpPr/>
          <p:nvPr/>
        </p:nvSpPr>
        <p:spPr>
          <a:xfrm>
            <a:off x="4663440" y="411480"/>
            <a:ext cx="256032" cy="256032"/>
          </a:xfrm>
          <a:prstGeom prst="ellipse">
            <a:avLst/>
          </a:prstGeom>
          <a:solidFill>
            <a:srgbClr val="F5C842"/>
          </a:solidFill>
          <a:ln w="12700">
            <a:solidFill>
              <a:srgbClr val="F5C842"/>
            </a:solidFill>
            <a:prstDash val="solid"/>
          </a:ln>
        </p:spPr>
      </p:sp>
      <p:sp>
        <p:nvSpPr>
          <p:cNvPr id="6" name="Shape 4"/>
          <p:cNvSpPr/>
          <p:nvPr/>
        </p:nvSpPr>
        <p:spPr>
          <a:xfrm>
            <a:off x="5212080" y="804672"/>
            <a:ext cx="164592" cy="164592"/>
          </a:xfrm>
          <a:prstGeom prst="ellipse">
            <a:avLst/>
          </a:prstGeom>
          <a:solidFill>
            <a:srgbClr val="5EEAD4"/>
          </a:solidFill>
          <a:ln w="12700">
            <a:solidFill>
              <a:srgbClr val="5EEAD4"/>
            </a:solidFill>
            <a:prstDash val="solid"/>
          </a:ln>
        </p:spPr>
      </p:sp>
      <p:sp>
        <p:nvSpPr>
          <p:cNvPr id="7" name="Shape 5"/>
          <p:cNvSpPr/>
          <p:nvPr/>
        </p:nvSpPr>
        <p:spPr>
          <a:xfrm>
            <a:off x="4206240" y="841248"/>
            <a:ext cx="137160" cy="137160"/>
          </a:xfrm>
          <a:prstGeom prst="ellipse">
            <a:avLst/>
          </a:prstGeom>
          <a:solidFill>
            <a:srgbClr val="F8FAFF"/>
          </a:solidFill>
          <a:ln w="12700">
            <a:solidFill>
              <a:srgbClr val="F8FAFF"/>
            </a:solidFill>
            <a:prstDash val="solid"/>
          </a:ln>
        </p:spPr>
      </p:sp>
      <p:sp>
        <p:nvSpPr>
          <p:cNvPr id="8" name="Shape 6"/>
          <p:cNvSpPr/>
          <p:nvPr/>
        </p:nvSpPr>
        <p:spPr>
          <a:xfrm>
            <a:off x="0" y="0"/>
            <a:ext cx="201168" cy="5143500"/>
          </a:xfrm>
          <a:prstGeom prst="rect">
            <a:avLst/>
          </a:prstGeom>
          <a:solidFill>
            <a:srgbClr val="F5C842"/>
          </a:solidFill>
          <a:ln w="12700">
            <a:solidFill>
              <a:srgbClr val="F5C842"/>
            </a:solidFill>
            <a:prstDash val="solid"/>
          </a:ln>
        </p:spPr>
      </p:sp>
      <p:sp>
        <p:nvSpPr>
          <p:cNvPr id="9" name="Shape 7"/>
          <p:cNvSpPr/>
          <p:nvPr/>
        </p:nvSpPr>
        <p:spPr>
          <a:xfrm>
            <a:off x="457200" y="658368"/>
            <a:ext cx="2560320" cy="365760"/>
          </a:xfrm>
          <a:prstGeom prst="rect">
            <a:avLst/>
          </a:prstGeom>
          <a:solidFill>
            <a:srgbClr val="D4A017"/>
          </a:solidFill>
          <a:ln w="12700">
            <a:solidFill>
              <a:srgbClr val="D4A017"/>
            </a:solidFill>
            <a:prstDash val="solid"/>
          </a:ln>
        </p:spPr>
      </p:sp>
      <p:sp>
        <p:nvSpPr>
          <p:cNvPr id="10" name="Text 8"/>
          <p:cNvSpPr/>
          <p:nvPr/>
        </p:nvSpPr>
        <p:spPr>
          <a:xfrm>
            <a:off x="457200" y="658368"/>
            <a:ext cx="2560320" cy="365760"/>
          </a:xfrm>
          <a:prstGeom prst="rect">
            <a:avLst/>
          </a:prstGeom>
          <a:noFill/>
          <a:ln/>
        </p:spPr>
        <p:txBody>
          <a:bodyPr wrap="square" lIns="0" tIns="0" rIns="0" bIns="0" rtlCol="0" anchor="ctr"/>
          <a:lstStyle/>
          <a:p>
            <a:pPr algn="ctr" indent="0" marL="0">
              <a:buNone/>
            </a:pPr>
            <a:r>
              <a:rPr lang="en-US" sz="950" b="1" spc="180" kern="0" dirty="0">
                <a:solidFill>
                  <a:srgbClr val="0A1628"/>
                </a:solidFill>
              </a:rPr>
              <a:t>FINANCE  ·  DATA MINING</a:t>
            </a:r>
            <a:endParaRPr lang="en-US" sz="950" dirty="0"/>
          </a:p>
        </p:txBody>
      </p:sp>
      <p:sp>
        <p:nvSpPr>
          <p:cNvPr id="11" name="Text 9"/>
          <p:cNvSpPr/>
          <p:nvPr/>
        </p:nvSpPr>
        <p:spPr>
          <a:xfrm>
            <a:off x="457200" y="1170432"/>
            <a:ext cx="8229600" cy="822960"/>
          </a:xfrm>
          <a:prstGeom prst="rect">
            <a:avLst/>
          </a:prstGeom>
          <a:noFill/>
          <a:ln/>
        </p:spPr>
        <p:txBody>
          <a:bodyPr wrap="square" rtlCol="0" anchor="ctr"/>
          <a:lstStyle/>
          <a:p>
            <a:pPr indent="0" marL="0">
              <a:buNone/>
            </a:pPr>
            <a:r>
              <a:rPr lang="en-US" sz="5400" b="1" dirty="0">
                <a:solidFill>
                  <a:srgbClr val="F8FAFF"/>
                </a:solidFill>
                <a:latin typeface="Calibri" pitchFamily="34" charset="0"/>
                <a:ea typeface="Calibri" pitchFamily="34" charset="-122"/>
                <a:cs typeface="Calibri" pitchFamily="34" charset="-120"/>
              </a:rPr>
              <a:t>Data Mining</a:t>
            </a:r>
            <a:endParaRPr lang="en-US" sz="5400" dirty="0"/>
          </a:p>
        </p:txBody>
      </p:sp>
      <p:sp>
        <p:nvSpPr>
          <p:cNvPr id="12" name="Text 10"/>
          <p:cNvSpPr/>
          <p:nvPr/>
        </p:nvSpPr>
        <p:spPr>
          <a:xfrm>
            <a:off x="457200" y="1956816"/>
            <a:ext cx="8229600" cy="822960"/>
          </a:xfrm>
          <a:prstGeom prst="rect">
            <a:avLst/>
          </a:prstGeom>
          <a:noFill/>
          <a:ln/>
        </p:spPr>
        <p:txBody>
          <a:bodyPr wrap="square" rtlCol="0" anchor="ctr"/>
          <a:lstStyle/>
          <a:p>
            <a:pPr indent="0" marL="0">
              <a:buNone/>
            </a:pPr>
            <a:r>
              <a:rPr lang="en-US" sz="5400" b="1" dirty="0">
                <a:solidFill>
                  <a:srgbClr val="F5C842"/>
                </a:solidFill>
                <a:latin typeface="Calibri" pitchFamily="34" charset="0"/>
                <a:ea typeface="Calibri" pitchFamily="34" charset="-122"/>
                <a:cs typeface="Calibri" pitchFamily="34" charset="-120"/>
              </a:rPr>
              <a:t>in Finance</a:t>
            </a:r>
            <a:endParaRPr lang="en-US" sz="5400" dirty="0"/>
          </a:p>
        </p:txBody>
      </p:sp>
      <p:sp>
        <p:nvSpPr>
          <p:cNvPr id="13" name="Text 11"/>
          <p:cNvSpPr/>
          <p:nvPr/>
        </p:nvSpPr>
        <p:spPr>
          <a:xfrm>
            <a:off x="457200" y="2871216"/>
            <a:ext cx="7772400" cy="384048"/>
          </a:xfrm>
          <a:prstGeom prst="rect">
            <a:avLst/>
          </a:prstGeom>
          <a:noFill/>
          <a:ln/>
        </p:spPr>
        <p:txBody>
          <a:bodyPr wrap="square" rtlCol="0" anchor="ctr"/>
          <a:lstStyle/>
          <a:p>
            <a:pPr indent="0" marL="0">
              <a:buNone/>
            </a:pPr>
            <a:r>
              <a:rPr lang="en-US" sz="1350" i="1" dirty="0">
                <a:solidFill>
                  <a:srgbClr val="CBD5E1"/>
                </a:solidFill>
                <a:latin typeface="Calibri" pitchFamily="34" charset="0"/>
                <a:ea typeface="Calibri" pitchFamily="34" charset="-122"/>
                <a:cs typeface="Calibri" pitchFamily="34" charset="-120"/>
              </a:rPr>
              <a:t>Techniques · Use Cases · Tools · Challenges · Future Trends</a:t>
            </a:r>
            <a:endParaRPr lang="en-US" sz="1350" dirty="0"/>
          </a:p>
        </p:txBody>
      </p:sp>
      <p:sp>
        <p:nvSpPr>
          <p:cNvPr id="14" name="Shape 12"/>
          <p:cNvSpPr/>
          <p:nvPr/>
        </p:nvSpPr>
        <p:spPr>
          <a:xfrm>
            <a:off x="457200" y="3419856"/>
            <a:ext cx="1993392" cy="914400"/>
          </a:xfrm>
          <a:prstGeom prst="rect">
            <a:avLst/>
          </a:prstGeom>
          <a:solidFill>
            <a:srgbClr val="0F2044"/>
          </a:solidFill>
          <a:ln w="15240">
            <a:solidFill>
              <a:srgbClr val="D4A017"/>
            </a:solidFill>
            <a:prstDash val="solid"/>
          </a:ln>
        </p:spPr>
      </p:sp>
      <p:sp>
        <p:nvSpPr>
          <p:cNvPr id="15" name="Text 13"/>
          <p:cNvSpPr/>
          <p:nvPr/>
        </p:nvSpPr>
        <p:spPr>
          <a:xfrm>
            <a:off x="457200" y="3438144"/>
            <a:ext cx="1993392" cy="475488"/>
          </a:xfrm>
          <a:prstGeom prst="rect">
            <a:avLst/>
          </a:prstGeom>
          <a:noFill/>
          <a:ln/>
        </p:spPr>
        <p:txBody>
          <a:bodyPr wrap="square" rtlCol="0" anchor="ctr"/>
          <a:lstStyle/>
          <a:p>
            <a:pPr algn="ctr" indent="0" marL="0">
              <a:buNone/>
            </a:pPr>
            <a:r>
              <a:rPr lang="en-US" sz="2800" b="1" dirty="0">
                <a:solidFill>
                  <a:srgbClr val="F5C842"/>
                </a:solidFill>
                <a:latin typeface="Calibri" pitchFamily="34" charset="0"/>
                <a:ea typeface="Calibri" pitchFamily="34" charset="-122"/>
                <a:cs typeface="Calibri" pitchFamily="34" charset="-120"/>
              </a:rPr>
              <a:t>5</a:t>
            </a:r>
            <a:endParaRPr lang="en-US" sz="2800" dirty="0"/>
          </a:p>
        </p:txBody>
      </p:sp>
      <p:sp>
        <p:nvSpPr>
          <p:cNvPr id="16" name="Text 14"/>
          <p:cNvSpPr/>
          <p:nvPr/>
        </p:nvSpPr>
        <p:spPr>
          <a:xfrm>
            <a:off x="457200" y="3913632"/>
            <a:ext cx="1993392" cy="384048"/>
          </a:xfrm>
          <a:prstGeom prst="rect">
            <a:avLst/>
          </a:prstGeom>
          <a:noFill/>
          <a:ln/>
        </p:spPr>
        <p:txBody>
          <a:bodyPr wrap="square" rtlCol="0" anchor="ctr"/>
          <a:lstStyle/>
          <a:p>
            <a:pPr algn="ctr" indent="0" marL="0">
              <a:buNone/>
            </a:pPr>
            <a:r>
              <a:rPr lang="en-US" sz="950" dirty="0">
                <a:solidFill>
                  <a:srgbClr val="CBD5E1"/>
                </a:solidFill>
                <a:latin typeface="Calibri" pitchFamily="34" charset="0"/>
                <a:ea typeface="Calibri" pitchFamily="34" charset="-122"/>
                <a:cs typeface="Calibri" pitchFamily="34" charset="-120"/>
              </a:rPr>
              <a:t>Key</a:t>
            </a:r>
            <a:endParaRPr lang="en-US" sz="950" dirty="0"/>
          </a:p>
          <a:p>
            <a:pPr algn="ctr" indent="0" marL="0">
              <a:buNone/>
            </a:pPr>
            <a:r>
              <a:rPr lang="en-US" sz="950" dirty="0">
                <a:solidFill>
                  <a:srgbClr val="CBD5E1"/>
                </a:solidFill>
                <a:latin typeface="Calibri" pitchFamily="34" charset="0"/>
                <a:ea typeface="Calibri" pitchFamily="34" charset="-122"/>
                <a:cs typeface="Calibri" pitchFamily="34" charset="-120"/>
              </a:rPr>
              <a:t>Concepts</a:t>
            </a:r>
            <a:endParaRPr lang="en-US" sz="950" dirty="0"/>
          </a:p>
        </p:txBody>
      </p:sp>
      <p:sp>
        <p:nvSpPr>
          <p:cNvPr id="17" name="Shape 15"/>
          <p:cNvSpPr/>
          <p:nvPr/>
        </p:nvSpPr>
        <p:spPr>
          <a:xfrm>
            <a:off x="2624328" y="3419856"/>
            <a:ext cx="1993392" cy="914400"/>
          </a:xfrm>
          <a:prstGeom prst="rect">
            <a:avLst/>
          </a:prstGeom>
          <a:solidFill>
            <a:srgbClr val="0F2044"/>
          </a:solidFill>
          <a:ln w="15240">
            <a:solidFill>
              <a:srgbClr val="D4A017"/>
            </a:solidFill>
            <a:prstDash val="solid"/>
          </a:ln>
        </p:spPr>
      </p:sp>
      <p:sp>
        <p:nvSpPr>
          <p:cNvPr id="18" name="Text 16"/>
          <p:cNvSpPr/>
          <p:nvPr/>
        </p:nvSpPr>
        <p:spPr>
          <a:xfrm>
            <a:off x="2624328" y="3438144"/>
            <a:ext cx="1993392" cy="475488"/>
          </a:xfrm>
          <a:prstGeom prst="rect">
            <a:avLst/>
          </a:prstGeom>
          <a:noFill/>
          <a:ln/>
        </p:spPr>
        <p:txBody>
          <a:bodyPr wrap="square" rtlCol="0" anchor="ctr"/>
          <a:lstStyle/>
          <a:p>
            <a:pPr algn="ctr" indent="0" marL="0">
              <a:buNone/>
            </a:pPr>
            <a:r>
              <a:rPr lang="en-US" sz="2800" b="1" dirty="0">
                <a:solidFill>
                  <a:srgbClr val="F5C842"/>
                </a:solidFill>
                <a:latin typeface="Calibri" pitchFamily="34" charset="0"/>
                <a:ea typeface="Calibri" pitchFamily="34" charset="-122"/>
                <a:cs typeface="Calibri" pitchFamily="34" charset="-120"/>
              </a:rPr>
              <a:t>12</a:t>
            </a:r>
            <a:endParaRPr lang="en-US" sz="2800" dirty="0"/>
          </a:p>
        </p:txBody>
      </p:sp>
      <p:sp>
        <p:nvSpPr>
          <p:cNvPr id="19" name="Text 17"/>
          <p:cNvSpPr/>
          <p:nvPr/>
        </p:nvSpPr>
        <p:spPr>
          <a:xfrm>
            <a:off x="2624328" y="3913632"/>
            <a:ext cx="1993392" cy="384048"/>
          </a:xfrm>
          <a:prstGeom prst="rect">
            <a:avLst/>
          </a:prstGeom>
          <a:noFill/>
          <a:ln/>
        </p:spPr>
        <p:txBody>
          <a:bodyPr wrap="square" rtlCol="0" anchor="ctr"/>
          <a:lstStyle/>
          <a:p>
            <a:pPr algn="ctr" indent="0" marL="0">
              <a:buNone/>
            </a:pPr>
            <a:r>
              <a:rPr lang="en-US" sz="950" dirty="0">
                <a:solidFill>
                  <a:srgbClr val="CBD5E1"/>
                </a:solidFill>
                <a:latin typeface="Calibri" pitchFamily="34" charset="0"/>
                <a:ea typeface="Calibri" pitchFamily="34" charset="-122"/>
                <a:cs typeface="Calibri" pitchFamily="34" charset="-120"/>
              </a:rPr>
              <a:t>Finance</a:t>
            </a:r>
            <a:endParaRPr lang="en-US" sz="950" dirty="0"/>
          </a:p>
          <a:p>
            <a:pPr algn="ctr" indent="0" marL="0">
              <a:buNone/>
            </a:pPr>
            <a:r>
              <a:rPr lang="en-US" sz="950" dirty="0">
                <a:solidFill>
                  <a:srgbClr val="CBD5E1"/>
                </a:solidFill>
                <a:latin typeface="Calibri" pitchFamily="34" charset="0"/>
                <a:ea typeface="Calibri" pitchFamily="34" charset="-122"/>
                <a:cs typeface="Calibri" pitchFamily="34" charset="-120"/>
              </a:rPr>
              <a:t>Use Cases</a:t>
            </a:r>
            <a:endParaRPr lang="en-US" sz="950" dirty="0"/>
          </a:p>
        </p:txBody>
      </p:sp>
      <p:sp>
        <p:nvSpPr>
          <p:cNvPr id="20" name="Shape 18"/>
          <p:cNvSpPr/>
          <p:nvPr/>
        </p:nvSpPr>
        <p:spPr>
          <a:xfrm>
            <a:off x="4791456" y="3419856"/>
            <a:ext cx="1993392" cy="914400"/>
          </a:xfrm>
          <a:prstGeom prst="rect">
            <a:avLst/>
          </a:prstGeom>
          <a:solidFill>
            <a:srgbClr val="0F2044"/>
          </a:solidFill>
          <a:ln w="15240">
            <a:solidFill>
              <a:srgbClr val="D4A017"/>
            </a:solidFill>
            <a:prstDash val="solid"/>
          </a:ln>
        </p:spPr>
      </p:sp>
      <p:sp>
        <p:nvSpPr>
          <p:cNvPr id="21" name="Text 19"/>
          <p:cNvSpPr/>
          <p:nvPr/>
        </p:nvSpPr>
        <p:spPr>
          <a:xfrm>
            <a:off x="4791456" y="3438144"/>
            <a:ext cx="1993392" cy="475488"/>
          </a:xfrm>
          <a:prstGeom prst="rect">
            <a:avLst/>
          </a:prstGeom>
          <a:noFill/>
          <a:ln/>
        </p:spPr>
        <p:txBody>
          <a:bodyPr wrap="square" rtlCol="0" anchor="ctr"/>
          <a:lstStyle/>
          <a:p>
            <a:pPr algn="ctr" indent="0" marL="0">
              <a:buNone/>
            </a:pPr>
            <a:r>
              <a:rPr lang="en-US" sz="2800" b="1" dirty="0">
                <a:solidFill>
                  <a:srgbClr val="F5C842"/>
                </a:solidFill>
                <a:latin typeface="Calibri" pitchFamily="34" charset="0"/>
                <a:ea typeface="Calibri" pitchFamily="34" charset="-122"/>
                <a:cs typeface="Calibri" pitchFamily="34" charset="-120"/>
              </a:rPr>
              <a:t>5</a:t>
            </a:r>
            <a:endParaRPr lang="en-US" sz="2800" dirty="0"/>
          </a:p>
        </p:txBody>
      </p:sp>
      <p:sp>
        <p:nvSpPr>
          <p:cNvPr id="22" name="Text 20"/>
          <p:cNvSpPr/>
          <p:nvPr/>
        </p:nvSpPr>
        <p:spPr>
          <a:xfrm>
            <a:off x="4791456" y="3913632"/>
            <a:ext cx="1993392" cy="384048"/>
          </a:xfrm>
          <a:prstGeom prst="rect">
            <a:avLst/>
          </a:prstGeom>
          <a:noFill/>
          <a:ln/>
        </p:spPr>
        <p:txBody>
          <a:bodyPr wrap="square" rtlCol="0" anchor="ctr"/>
          <a:lstStyle/>
          <a:p>
            <a:pPr algn="ctr" indent="0" marL="0">
              <a:buNone/>
            </a:pPr>
            <a:r>
              <a:rPr lang="en-US" sz="950" dirty="0">
                <a:solidFill>
                  <a:srgbClr val="CBD5E1"/>
                </a:solidFill>
                <a:latin typeface="Calibri" pitchFamily="34" charset="0"/>
                <a:ea typeface="Calibri" pitchFamily="34" charset="-122"/>
                <a:cs typeface="Calibri" pitchFamily="34" charset="-120"/>
              </a:rPr>
              <a:t>Top</a:t>
            </a:r>
            <a:endParaRPr lang="en-US" sz="950" dirty="0"/>
          </a:p>
          <a:p>
            <a:pPr algn="ctr" indent="0" marL="0">
              <a:buNone/>
            </a:pPr>
            <a:r>
              <a:rPr lang="en-US" sz="950" dirty="0">
                <a:solidFill>
                  <a:srgbClr val="CBD5E1"/>
                </a:solidFill>
                <a:latin typeface="Calibri" pitchFamily="34" charset="0"/>
                <a:ea typeface="Calibri" pitchFamily="34" charset="-122"/>
                <a:cs typeface="Calibri" pitchFamily="34" charset="-120"/>
              </a:rPr>
              <a:t>Tools</a:t>
            </a:r>
            <a:endParaRPr lang="en-US" sz="950" dirty="0"/>
          </a:p>
        </p:txBody>
      </p:sp>
      <p:sp>
        <p:nvSpPr>
          <p:cNvPr id="23" name="Shape 21"/>
          <p:cNvSpPr/>
          <p:nvPr/>
        </p:nvSpPr>
        <p:spPr>
          <a:xfrm>
            <a:off x="6958584" y="3419856"/>
            <a:ext cx="1993392" cy="914400"/>
          </a:xfrm>
          <a:prstGeom prst="rect">
            <a:avLst/>
          </a:prstGeom>
          <a:solidFill>
            <a:srgbClr val="0F2044"/>
          </a:solidFill>
          <a:ln w="15240">
            <a:solidFill>
              <a:srgbClr val="D4A017"/>
            </a:solidFill>
            <a:prstDash val="solid"/>
          </a:ln>
        </p:spPr>
      </p:sp>
      <p:sp>
        <p:nvSpPr>
          <p:cNvPr id="24" name="Text 22"/>
          <p:cNvSpPr/>
          <p:nvPr/>
        </p:nvSpPr>
        <p:spPr>
          <a:xfrm>
            <a:off x="6958584" y="3438144"/>
            <a:ext cx="1993392" cy="475488"/>
          </a:xfrm>
          <a:prstGeom prst="rect">
            <a:avLst/>
          </a:prstGeom>
          <a:noFill/>
          <a:ln/>
        </p:spPr>
        <p:txBody>
          <a:bodyPr wrap="square" rtlCol="0" anchor="ctr"/>
          <a:lstStyle/>
          <a:p>
            <a:pPr algn="ctr" indent="0" marL="0">
              <a:buNone/>
            </a:pPr>
            <a:r>
              <a:rPr lang="en-US" sz="2800" b="1" dirty="0">
                <a:solidFill>
                  <a:srgbClr val="F5C842"/>
                </a:solidFill>
                <a:latin typeface="Calibri" pitchFamily="34" charset="0"/>
                <a:ea typeface="Calibri" pitchFamily="34" charset="-122"/>
                <a:cs typeface="Calibri" pitchFamily="34" charset="-120"/>
              </a:rPr>
              <a:t>4</a:t>
            </a:r>
            <a:endParaRPr lang="en-US" sz="2800" dirty="0"/>
          </a:p>
        </p:txBody>
      </p:sp>
      <p:sp>
        <p:nvSpPr>
          <p:cNvPr id="25" name="Text 23"/>
          <p:cNvSpPr/>
          <p:nvPr/>
        </p:nvSpPr>
        <p:spPr>
          <a:xfrm>
            <a:off x="6958584" y="3913632"/>
            <a:ext cx="1993392" cy="384048"/>
          </a:xfrm>
          <a:prstGeom prst="rect">
            <a:avLst/>
          </a:prstGeom>
          <a:noFill/>
          <a:ln/>
        </p:spPr>
        <p:txBody>
          <a:bodyPr wrap="square" rtlCol="0" anchor="ctr"/>
          <a:lstStyle/>
          <a:p>
            <a:pPr algn="ctr" indent="0" marL="0">
              <a:buNone/>
            </a:pPr>
            <a:r>
              <a:rPr lang="en-US" sz="950" dirty="0">
                <a:solidFill>
                  <a:srgbClr val="CBD5E1"/>
                </a:solidFill>
                <a:latin typeface="Calibri" pitchFamily="34" charset="0"/>
                <a:ea typeface="Calibri" pitchFamily="34" charset="-122"/>
                <a:cs typeface="Calibri" pitchFamily="34" charset="-120"/>
              </a:rPr>
              <a:t>Future</a:t>
            </a:r>
            <a:endParaRPr lang="en-US" sz="950" dirty="0"/>
          </a:p>
          <a:p>
            <a:pPr algn="ctr" indent="0" marL="0">
              <a:buNone/>
            </a:pPr>
            <a:r>
              <a:rPr lang="en-US" sz="950" dirty="0">
                <a:solidFill>
                  <a:srgbClr val="CBD5E1"/>
                </a:solidFill>
                <a:latin typeface="Calibri" pitchFamily="34" charset="0"/>
                <a:ea typeface="Calibri" pitchFamily="34" charset="-122"/>
                <a:cs typeface="Calibri" pitchFamily="34" charset="-120"/>
              </a:rPr>
              <a:t>Trends</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C"/>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A1628"/>
          </a:solidFill>
          <a:ln w="12700">
            <a:solidFill>
              <a:srgbClr val="0A1628"/>
            </a:solidFill>
            <a:prstDash val="solid"/>
          </a:ln>
        </p:spPr>
      </p:sp>
      <p:sp>
        <p:nvSpPr>
          <p:cNvPr id="3" name="Shape 1"/>
          <p:cNvSpPr/>
          <p:nvPr/>
        </p:nvSpPr>
        <p:spPr>
          <a:xfrm>
            <a:off x="0" y="960120"/>
            <a:ext cx="9144000" cy="64008"/>
          </a:xfrm>
          <a:prstGeom prst="rect">
            <a:avLst/>
          </a:prstGeom>
          <a:solidFill>
            <a:srgbClr val="F5C842"/>
          </a:solidFill>
          <a:ln w="12700">
            <a:solidFill>
              <a:srgbClr val="F5C842"/>
            </a:solidFill>
            <a:prstDash val="solid"/>
          </a:ln>
        </p:spPr>
      </p:sp>
      <p:sp>
        <p:nvSpPr>
          <p:cNvPr id="4" name="Text 2"/>
          <p:cNvSpPr/>
          <p:nvPr/>
        </p:nvSpPr>
        <p:spPr>
          <a:xfrm>
            <a:off x="411480" y="0"/>
            <a:ext cx="8321040" cy="960120"/>
          </a:xfrm>
          <a:prstGeom prst="rect">
            <a:avLst/>
          </a:prstGeom>
          <a:noFill/>
          <a:ln/>
        </p:spPr>
        <p:txBody>
          <a:bodyPr wrap="square" rtlCol="0" anchor="ctr"/>
          <a:lstStyle/>
          <a:p>
            <a:pPr indent="0" marL="0">
              <a:buNone/>
            </a:pPr>
            <a:r>
              <a:rPr lang="en-US" sz="3000" b="1" dirty="0">
                <a:solidFill>
                  <a:srgbClr val="F5C842"/>
                </a:solidFill>
                <a:latin typeface="Calibri" pitchFamily="34" charset="0"/>
                <a:ea typeface="Calibri" pitchFamily="34" charset="-122"/>
                <a:cs typeface="Calibri" pitchFamily="34" charset="-120"/>
              </a:rPr>
              <a:t>What Is Data Mining in Finance?</a:t>
            </a:r>
            <a:endParaRPr lang="en-US" sz="3000" dirty="0"/>
          </a:p>
        </p:txBody>
      </p:sp>
      <p:sp>
        <p:nvSpPr>
          <p:cNvPr id="5" name="Shape 3"/>
          <p:cNvSpPr/>
          <p:nvPr/>
        </p:nvSpPr>
        <p:spPr>
          <a:xfrm>
            <a:off x="365760" y="1170432"/>
            <a:ext cx="8412480" cy="914400"/>
          </a:xfrm>
          <a:prstGeom prst="rect">
            <a:avLst/>
          </a:prstGeom>
          <a:solidFill>
            <a:srgbClr val="0F2044"/>
          </a:solidFill>
          <a:ln w="19050">
            <a:solidFill>
              <a:srgbClr val="D4A017"/>
            </a:solidFill>
            <a:prstDash val="solid"/>
          </a:ln>
          <a:effectLst>
            <a:outerShdw sx="100000" sy="100000" kx="0" ky="0" algn="bl" rotWithShape="0" blurRad="101600" dist="38100" dir="8100000">
              <a:srgbClr val="000000">
                <a:alpha val="20000"/>
              </a:srgbClr>
            </a:outerShdw>
          </a:effectLst>
        </p:spPr>
      </p:sp>
      <p:sp>
        <p:nvSpPr>
          <p:cNvPr id="6" name="Text 4"/>
          <p:cNvSpPr/>
          <p:nvPr/>
        </p:nvSpPr>
        <p:spPr>
          <a:xfrm>
            <a:off x="530352" y="1188720"/>
            <a:ext cx="8092440" cy="859536"/>
          </a:xfrm>
          <a:prstGeom prst="rect">
            <a:avLst/>
          </a:prstGeom>
          <a:noFill/>
          <a:ln/>
        </p:spPr>
        <p:txBody>
          <a:bodyPr wrap="square" rtlCol="0" anchor="ctr"/>
          <a:lstStyle/>
          <a:p>
            <a:pPr indent="0" marL="0">
              <a:buNone/>
            </a:pPr>
            <a:r>
              <a:rPr lang="en-US" sz="1250" b="1" dirty="0">
                <a:solidFill>
                  <a:srgbClr val="F5C842"/>
                </a:solidFill>
                <a:latin typeface="Calibri" pitchFamily="34" charset="0"/>
                <a:ea typeface="Calibri" pitchFamily="34" charset="-122"/>
                <a:cs typeface="Calibri" pitchFamily="34" charset="-120"/>
              </a:rPr>
              <a:t>Data mining in finance </a:t>
            </a:r>
            <a:pPr indent="0" marL="0">
              <a:buNone/>
            </a:pPr>
            <a:r>
              <a:rPr lang="en-US" sz="1250" dirty="0">
                <a:solidFill>
                  <a:srgbClr val="F8FAFF"/>
                </a:solidFill>
                <a:latin typeface="Calibri" pitchFamily="34" charset="0"/>
                <a:ea typeface="Calibri" pitchFamily="34" charset="-122"/>
                <a:cs typeface="Calibri" pitchFamily="34" charset="-120"/>
              </a:rPr>
              <a:t>is the process of analyzing large financial datasets to identify patterns, correlations, and trends that inform decision-making — leveraging </a:t>
            </a:r>
            <a:pPr indent="0" marL="0">
              <a:buNone/>
            </a:pPr>
            <a:r>
              <a:rPr lang="en-US" sz="1250" b="1" dirty="0">
                <a:solidFill>
                  <a:srgbClr val="5EEAD4"/>
                </a:solidFill>
                <a:latin typeface="Calibri" pitchFamily="34" charset="0"/>
                <a:ea typeface="Calibri" pitchFamily="34" charset="-122"/>
                <a:cs typeface="Calibri" pitchFamily="34" charset="-120"/>
              </a:rPr>
              <a:t>statistical techniques, machine learning algorithms, and computational tools</a:t>
            </a:r>
            <a:pPr indent="0" marL="0">
              <a:buNone/>
            </a:pPr>
            <a:r>
              <a:rPr lang="en-US" sz="1250" dirty="0">
                <a:solidFill>
                  <a:srgbClr val="F8FAFF"/>
                </a:solidFill>
                <a:latin typeface="Calibri" pitchFamily="34" charset="0"/>
                <a:ea typeface="Calibri" pitchFamily="34" charset="-122"/>
                <a:cs typeface="Calibri" pitchFamily="34" charset="-120"/>
              </a:rPr>
              <a:t> to extract actionable insights from structured and unstructured data.</a:t>
            </a:r>
            <a:endParaRPr lang="en-US" sz="1250" dirty="0"/>
          </a:p>
        </p:txBody>
      </p:sp>
      <p:sp>
        <p:nvSpPr>
          <p:cNvPr id="7" name="Shape 5"/>
          <p:cNvSpPr/>
          <p:nvPr/>
        </p:nvSpPr>
        <p:spPr>
          <a:xfrm>
            <a:off x="347472" y="2249424"/>
            <a:ext cx="2724912" cy="2651760"/>
          </a:xfrm>
          <a:prstGeom prst="rect">
            <a:avLst/>
          </a:prstGeom>
          <a:solidFill>
            <a:srgbClr val="0A1628"/>
          </a:solidFill>
          <a:ln w="22860">
            <a:solidFill>
              <a:srgbClr val="1D4ED8"/>
            </a:solidFill>
            <a:prstDash val="solid"/>
          </a:ln>
          <a:effectLst>
            <a:outerShdw sx="100000" sy="100000" kx="0" ky="0" algn="bl" rotWithShape="0" blurRad="101600" dist="38100" dir="8100000">
              <a:srgbClr val="000000">
                <a:alpha val="20000"/>
              </a:srgbClr>
            </a:outerShdw>
          </a:effectLst>
        </p:spPr>
      </p:sp>
      <p:sp>
        <p:nvSpPr>
          <p:cNvPr id="8" name="Shape 6"/>
          <p:cNvSpPr/>
          <p:nvPr/>
        </p:nvSpPr>
        <p:spPr>
          <a:xfrm>
            <a:off x="347472" y="2249424"/>
            <a:ext cx="2724912" cy="475488"/>
          </a:xfrm>
          <a:prstGeom prst="rect">
            <a:avLst/>
          </a:prstGeom>
          <a:solidFill>
            <a:srgbClr val="1D4ED8"/>
          </a:solidFill>
          <a:ln w="12700">
            <a:solidFill>
              <a:srgbClr val="1D4ED8"/>
            </a:solidFill>
            <a:prstDash val="solid"/>
          </a:ln>
        </p:spPr>
      </p:sp>
      <p:sp>
        <p:nvSpPr>
          <p:cNvPr id="9" name="Text 7"/>
          <p:cNvSpPr/>
          <p:nvPr/>
        </p:nvSpPr>
        <p:spPr>
          <a:xfrm>
            <a:off x="347472" y="2249424"/>
            <a:ext cx="2724912" cy="475488"/>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10" name="Text 8"/>
          <p:cNvSpPr/>
          <p:nvPr/>
        </p:nvSpPr>
        <p:spPr>
          <a:xfrm>
            <a:off x="2651760" y="2267712"/>
            <a:ext cx="365760" cy="256032"/>
          </a:xfrm>
          <a:prstGeom prst="rect">
            <a:avLst/>
          </a:prstGeom>
          <a:noFill/>
          <a:ln/>
        </p:spPr>
        <p:txBody>
          <a:bodyPr wrap="square" rtlCol="0" anchor="ctr"/>
          <a:lstStyle/>
          <a:p>
            <a:pPr algn="r" indent="0" marL="0">
              <a:buNone/>
            </a:pPr>
            <a:r>
              <a:rPr lang="en-US" sz="900" b="1" dirty="0">
                <a:solidFill>
                  <a:srgbClr val="F8FAFF"/>
                </a:solidFill>
                <a:latin typeface="Calibri" pitchFamily="34" charset="0"/>
                <a:ea typeface="Calibri" pitchFamily="34" charset="-122"/>
                <a:cs typeface="Calibri" pitchFamily="34" charset="-120"/>
              </a:rPr>
              <a:t>01</a:t>
            </a:r>
            <a:endParaRPr lang="en-US" sz="900" dirty="0"/>
          </a:p>
        </p:txBody>
      </p:sp>
      <p:sp>
        <p:nvSpPr>
          <p:cNvPr id="11" name="Text 9"/>
          <p:cNvSpPr/>
          <p:nvPr/>
        </p:nvSpPr>
        <p:spPr>
          <a:xfrm>
            <a:off x="438912" y="2779776"/>
            <a:ext cx="2542032" cy="384048"/>
          </a:xfrm>
          <a:prstGeom prst="rect">
            <a:avLst/>
          </a:prstGeom>
          <a:noFill/>
          <a:ln/>
        </p:spPr>
        <p:txBody>
          <a:bodyPr wrap="square" rtlCol="0" anchor="ctr"/>
          <a:lstStyle/>
          <a:p>
            <a:pPr algn="ctr" indent="0" marL="0">
              <a:buNone/>
            </a:pPr>
            <a:r>
              <a:rPr lang="en-US" sz="1250" b="1" dirty="0">
                <a:solidFill>
                  <a:srgbClr val="BAE6FD"/>
                </a:solidFill>
                <a:latin typeface="Calibri" pitchFamily="34" charset="0"/>
                <a:ea typeface="Calibri" pitchFamily="34" charset="-122"/>
                <a:cs typeface="Calibri" pitchFamily="34" charset="-120"/>
              </a:rPr>
              <a:t>Data Preprocessing</a:t>
            </a:r>
            <a:endParaRPr lang="en-US" sz="1250" dirty="0"/>
          </a:p>
        </p:txBody>
      </p:sp>
      <p:sp>
        <p:nvSpPr>
          <p:cNvPr id="12" name="Text 10"/>
          <p:cNvSpPr/>
          <p:nvPr/>
        </p:nvSpPr>
        <p:spPr>
          <a:xfrm>
            <a:off x="457200" y="3200400"/>
            <a:ext cx="2505456" cy="1572768"/>
          </a:xfrm>
          <a:prstGeom prst="rect">
            <a:avLst/>
          </a:prstGeom>
          <a:noFill/>
          <a:ln/>
        </p:spPr>
        <p:txBody>
          <a:bodyPr wrap="square" rtlCol="0" anchor="ctr"/>
          <a:lstStyle/>
          <a:p>
            <a:pPr indent="0" marL="0">
              <a:buNone/>
            </a:pPr>
            <a:r>
              <a:rPr lang="en-US" sz="1050" dirty="0">
                <a:solidFill>
                  <a:srgbClr val="CBD5E1"/>
                </a:solidFill>
                <a:latin typeface="Calibri" pitchFamily="34" charset="0"/>
                <a:ea typeface="Calibri" pitchFamily="34" charset="-122"/>
                <a:cs typeface="Calibri" pitchFamily="34" charset="-120"/>
              </a:rPr>
              <a:t>Clean and organize raw financial data — removing inconsistencies, handling missing values, and ensuring quality and relevance for analysis.</a:t>
            </a:r>
            <a:endParaRPr lang="en-US" sz="1050" dirty="0"/>
          </a:p>
        </p:txBody>
      </p:sp>
      <p:sp>
        <p:nvSpPr>
          <p:cNvPr id="13" name="Shape 11"/>
          <p:cNvSpPr/>
          <p:nvPr/>
        </p:nvSpPr>
        <p:spPr>
          <a:xfrm>
            <a:off x="3200400" y="2249424"/>
            <a:ext cx="2724912" cy="2651760"/>
          </a:xfrm>
          <a:prstGeom prst="rect">
            <a:avLst/>
          </a:prstGeom>
          <a:solidFill>
            <a:srgbClr val="0A1628"/>
          </a:solidFill>
          <a:ln w="22860">
            <a:solidFill>
              <a:srgbClr val="0D9488"/>
            </a:solidFill>
            <a:prstDash val="solid"/>
          </a:ln>
          <a:effectLst>
            <a:outerShdw sx="100000" sy="100000" kx="0" ky="0" algn="bl" rotWithShape="0" blurRad="101600" dist="38100" dir="8100000">
              <a:srgbClr val="000000">
                <a:alpha val="20000"/>
              </a:srgbClr>
            </a:outerShdw>
          </a:effectLst>
        </p:spPr>
      </p:sp>
      <p:sp>
        <p:nvSpPr>
          <p:cNvPr id="14" name="Shape 12"/>
          <p:cNvSpPr/>
          <p:nvPr/>
        </p:nvSpPr>
        <p:spPr>
          <a:xfrm>
            <a:off x="3200400" y="2249424"/>
            <a:ext cx="2724912" cy="475488"/>
          </a:xfrm>
          <a:prstGeom prst="rect">
            <a:avLst/>
          </a:prstGeom>
          <a:solidFill>
            <a:srgbClr val="0D9488"/>
          </a:solidFill>
          <a:ln w="12700">
            <a:solidFill>
              <a:srgbClr val="0D9488"/>
            </a:solidFill>
            <a:prstDash val="solid"/>
          </a:ln>
        </p:spPr>
      </p:sp>
      <p:sp>
        <p:nvSpPr>
          <p:cNvPr id="15" name="Text 13"/>
          <p:cNvSpPr/>
          <p:nvPr/>
        </p:nvSpPr>
        <p:spPr>
          <a:xfrm>
            <a:off x="3200400" y="2249424"/>
            <a:ext cx="2724912" cy="475488"/>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16" name="Text 14"/>
          <p:cNvSpPr/>
          <p:nvPr/>
        </p:nvSpPr>
        <p:spPr>
          <a:xfrm>
            <a:off x="5504688" y="2267712"/>
            <a:ext cx="365760" cy="256032"/>
          </a:xfrm>
          <a:prstGeom prst="rect">
            <a:avLst/>
          </a:prstGeom>
          <a:noFill/>
          <a:ln/>
        </p:spPr>
        <p:txBody>
          <a:bodyPr wrap="square" rtlCol="0" anchor="ctr"/>
          <a:lstStyle/>
          <a:p>
            <a:pPr algn="r" indent="0" marL="0">
              <a:buNone/>
            </a:pPr>
            <a:r>
              <a:rPr lang="en-US" sz="900" b="1" dirty="0">
                <a:solidFill>
                  <a:srgbClr val="F8FAFF"/>
                </a:solidFill>
                <a:latin typeface="Calibri" pitchFamily="34" charset="0"/>
                <a:ea typeface="Calibri" pitchFamily="34" charset="-122"/>
                <a:cs typeface="Calibri" pitchFamily="34" charset="-120"/>
              </a:rPr>
              <a:t>02</a:t>
            </a:r>
            <a:endParaRPr lang="en-US" sz="900" dirty="0"/>
          </a:p>
        </p:txBody>
      </p:sp>
      <p:sp>
        <p:nvSpPr>
          <p:cNvPr id="17" name="Text 15"/>
          <p:cNvSpPr/>
          <p:nvPr/>
        </p:nvSpPr>
        <p:spPr>
          <a:xfrm>
            <a:off x="3291840" y="2779776"/>
            <a:ext cx="2542032" cy="384048"/>
          </a:xfrm>
          <a:prstGeom prst="rect">
            <a:avLst/>
          </a:prstGeom>
          <a:noFill/>
          <a:ln/>
        </p:spPr>
        <p:txBody>
          <a:bodyPr wrap="square" rtlCol="0" anchor="ctr"/>
          <a:lstStyle/>
          <a:p>
            <a:pPr algn="ctr" indent="0" marL="0">
              <a:buNone/>
            </a:pPr>
            <a:r>
              <a:rPr lang="en-US" sz="1250" b="1" dirty="0">
                <a:solidFill>
                  <a:srgbClr val="5EEAD4"/>
                </a:solidFill>
                <a:latin typeface="Calibri" pitchFamily="34" charset="0"/>
                <a:ea typeface="Calibri" pitchFamily="34" charset="-122"/>
                <a:cs typeface="Calibri" pitchFamily="34" charset="-120"/>
              </a:rPr>
              <a:t>Model Building</a:t>
            </a:r>
            <a:endParaRPr lang="en-US" sz="1250" dirty="0"/>
          </a:p>
        </p:txBody>
      </p:sp>
      <p:sp>
        <p:nvSpPr>
          <p:cNvPr id="18" name="Text 16"/>
          <p:cNvSpPr/>
          <p:nvPr/>
        </p:nvSpPr>
        <p:spPr>
          <a:xfrm>
            <a:off x="3310128" y="3200400"/>
            <a:ext cx="2505456" cy="1572768"/>
          </a:xfrm>
          <a:prstGeom prst="rect">
            <a:avLst/>
          </a:prstGeom>
          <a:noFill/>
          <a:ln/>
        </p:spPr>
        <p:txBody>
          <a:bodyPr wrap="square" rtlCol="0" anchor="ctr"/>
          <a:lstStyle/>
          <a:p>
            <a:pPr indent="0" marL="0">
              <a:buNone/>
            </a:pPr>
            <a:r>
              <a:rPr lang="en-US" sz="1050" dirty="0">
                <a:solidFill>
                  <a:srgbClr val="CBD5E1"/>
                </a:solidFill>
                <a:latin typeface="Calibri" pitchFamily="34" charset="0"/>
                <a:ea typeface="Calibri" pitchFamily="34" charset="-122"/>
                <a:cs typeface="Calibri" pitchFamily="34" charset="-120"/>
              </a:rPr>
              <a:t>Apply algorithms to identify patterns in preprocessed data — using classification, clustering, regression, and anomaly detection techniques.</a:t>
            </a:r>
            <a:endParaRPr lang="en-US" sz="1050" dirty="0"/>
          </a:p>
        </p:txBody>
      </p:sp>
      <p:sp>
        <p:nvSpPr>
          <p:cNvPr id="19" name="Shape 17"/>
          <p:cNvSpPr/>
          <p:nvPr/>
        </p:nvSpPr>
        <p:spPr>
          <a:xfrm>
            <a:off x="6053328" y="2249424"/>
            <a:ext cx="2724912" cy="2651760"/>
          </a:xfrm>
          <a:prstGeom prst="rect">
            <a:avLst/>
          </a:prstGeom>
          <a:solidFill>
            <a:srgbClr val="0A1628"/>
          </a:solidFill>
          <a:ln w="22860">
            <a:solidFill>
              <a:srgbClr val="D4A017"/>
            </a:solidFill>
            <a:prstDash val="solid"/>
          </a:ln>
          <a:effectLst>
            <a:outerShdw sx="100000" sy="100000" kx="0" ky="0" algn="bl" rotWithShape="0" blurRad="101600" dist="38100" dir="8100000">
              <a:srgbClr val="000000">
                <a:alpha val="20000"/>
              </a:srgbClr>
            </a:outerShdw>
          </a:effectLst>
        </p:spPr>
      </p:sp>
      <p:sp>
        <p:nvSpPr>
          <p:cNvPr id="20" name="Shape 18"/>
          <p:cNvSpPr/>
          <p:nvPr/>
        </p:nvSpPr>
        <p:spPr>
          <a:xfrm>
            <a:off x="6053328" y="2249424"/>
            <a:ext cx="2724912" cy="475488"/>
          </a:xfrm>
          <a:prstGeom prst="rect">
            <a:avLst/>
          </a:prstGeom>
          <a:solidFill>
            <a:srgbClr val="D4A017"/>
          </a:solidFill>
          <a:ln w="12700">
            <a:solidFill>
              <a:srgbClr val="D4A017"/>
            </a:solidFill>
            <a:prstDash val="solid"/>
          </a:ln>
        </p:spPr>
      </p:sp>
      <p:sp>
        <p:nvSpPr>
          <p:cNvPr id="21" name="Text 19"/>
          <p:cNvSpPr/>
          <p:nvPr/>
        </p:nvSpPr>
        <p:spPr>
          <a:xfrm>
            <a:off x="6053328" y="2249424"/>
            <a:ext cx="2724912" cy="475488"/>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22" name="Text 20"/>
          <p:cNvSpPr/>
          <p:nvPr/>
        </p:nvSpPr>
        <p:spPr>
          <a:xfrm>
            <a:off x="8357616" y="2267712"/>
            <a:ext cx="365760" cy="256032"/>
          </a:xfrm>
          <a:prstGeom prst="rect">
            <a:avLst/>
          </a:prstGeom>
          <a:noFill/>
          <a:ln/>
        </p:spPr>
        <p:txBody>
          <a:bodyPr wrap="square" rtlCol="0" anchor="ctr"/>
          <a:lstStyle/>
          <a:p>
            <a:pPr algn="r" indent="0" marL="0">
              <a:buNone/>
            </a:pPr>
            <a:r>
              <a:rPr lang="en-US" sz="900" b="1" dirty="0">
                <a:solidFill>
                  <a:srgbClr val="F8FAFF"/>
                </a:solidFill>
                <a:latin typeface="Calibri" pitchFamily="34" charset="0"/>
                <a:ea typeface="Calibri" pitchFamily="34" charset="-122"/>
                <a:cs typeface="Calibri" pitchFamily="34" charset="-120"/>
              </a:rPr>
              <a:t>03</a:t>
            </a:r>
            <a:endParaRPr lang="en-US" sz="900" dirty="0"/>
          </a:p>
        </p:txBody>
      </p:sp>
      <p:sp>
        <p:nvSpPr>
          <p:cNvPr id="23" name="Text 21"/>
          <p:cNvSpPr/>
          <p:nvPr/>
        </p:nvSpPr>
        <p:spPr>
          <a:xfrm>
            <a:off x="6144768" y="2779776"/>
            <a:ext cx="2542032" cy="384048"/>
          </a:xfrm>
          <a:prstGeom prst="rect">
            <a:avLst/>
          </a:prstGeom>
          <a:noFill/>
          <a:ln/>
        </p:spPr>
        <p:txBody>
          <a:bodyPr wrap="square" rtlCol="0" anchor="ctr"/>
          <a:lstStyle/>
          <a:p>
            <a:pPr algn="ctr" indent="0" marL="0">
              <a:buNone/>
            </a:pPr>
            <a:r>
              <a:rPr lang="en-US" sz="1250" b="1" dirty="0">
                <a:solidFill>
                  <a:srgbClr val="F5C842"/>
                </a:solidFill>
                <a:latin typeface="Calibri" pitchFamily="34" charset="0"/>
                <a:ea typeface="Calibri" pitchFamily="34" charset="-122"/>
                <a:cs typeface="Calibri" pitchFamily="34" charset="-120"/>
              </a:rPr>
              <a:t>Evaluation</a:t>
            </a:r>
            <a:endParaRPr lang="en-US" sz="1250" dirty="0"/>
          </a:p>
        </p:txBody>
      </p:sp>
      <p:sp>
        <p:nvSpPr>
          <p:cNvPr id="24" name="Text 22"/>
          <p:cNvSpPr/>
          <p:nvPr/>
        </p:nvSpPr>
        <p:spPr>
          <a:xfrm>
            <a:off x="6163056" y="3200400"/>
            <a:ext cx="2505456" cy="1572768"/>
          </a:xfrm>
          <a:prstGeom prst="rect">
            <a:avLst/>
          </a:prstGeom>
          <a:noFill/>
          <a:ln/>
        </p:spPr>
        <p:txBody>
          <a:bodyPr wrap="square" rtlCol="0" anchor="ctr"/>
          <a:lstStyle/>
          <a:p>
            <a:pPr indent="0" marL="0">
              <a:buNone/>
            </a:pPr>
            <a:r>
              <a:rPr lang="en-US" sz="1050" dirty="0">
                <a:solidFill>
                  <a:srgbClr val="CBD5E1"/>
                </a:solidFill>
                <a:latin typeface="Calibri" pitchFamily="34" charset="0"/>
                <a:ea typeface="Calibri" pitchFamily="34" charset="-122"/>
                <a:cs typeface="Calibri" pitchFamily="34" charset="-120"/>
              </a:rPr>
              <a:t>Assess accuracy and reliability of models using metrics like precision, recall, and F1 score — validating outputs before deployment.</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F2044"/>
          </a:solidFill>
          <a:ln w="12700">
            <a:solidFill>
              <a:srgbClr val="0F2044"/>
            </a:solidFill>
            <a:prstDash val="solid"/>
          </a:ln>
        </p:spPr>
      </p:sp>
      <p:sp>
        <p:nvSpPr>
          <p:cNvPr id="3" name="Shape 1"/>
          <p:cNvSpPr/>
          <p:nvPr/>
        </p:nvSpPr>
        <p:spPr>
          <a:xfrm>
            <a:off x="0" y="914400"/>
            <a:ext cx="9144000" cy="54864"/>
          </a:xfrm>
          <a:prstGeom prst="rect">
            <a:avLst/>
          </a:prstGeom>
          <a:solidFill>
            <a:srgbClr val="F5C842"/>
          </a:solidFill>
          <a:ln w="12700">
            <a:solidFill>
              <a:srgbClr val="F5C842"/>
            </a:solidFill>
            <a:prstDash val="solid"/>
          </a:ln>
        </p:spPr>
      </p:sp>
      <p:sp>
        <p:nvSpPr>
          <p:cNvPr id="4" name="Text 2"/>
          <p:cNvSpPr/>
          <p:nvPr/>
        </p:nvSpPr>
        <p:spPr>
          <a:xfrm>
            <a:off x="411480" y="0"/>
            <a:ext cx="8321040" cy="914400"/>
          </a:xfrm>
          <a:prstGeom prst="rect">
            <a:avLst/>
          </a:prstGeom>
          <a:noFill/>
          <a:ln/>
        </p:spPr>
        <p:txBody>
          <a:bodyPr wrap="square" rtlCol="0" anchor="ctr"/>
          <a:lstStyle/>
          <a:p>
            <a:pPr indent="0" marL="0">
              <a:buNone/>
            </a:pPr>
            <a:r>
              <a:rPr lang="en-US" sz="2800" b="1" dirty="0">
                <a:solidFill>
                  <a:srgbClr val="F8FAFF"/>
                </a:solidFill>
                <a:latin typeface="Calibri" pitchFamily="34" charset="0"/>
                <a:ea typeface="Calibri" pitchFamily="34" charset="-122"/>
                <a:cs typeface="Calibri" pitchFamily="34" charset="-120"/>
              </a:rPr>
              <a:t>5 Key Data Mining Concepts in Finance</a:t>
            </a:r>
            <a:endParaRPr lang="en-US" sz="2800" dirty="0"/>
          </a:p>
        </p:txBody>
      </p:sp>
      <p:sp>
        <p:nvSpPr>
          <p:cNvPr id="5" name="Shape 3"/>
          <p:cNvSpPr/>
          <p:nvPr/>
        </p:nvSpPr>
        <p:spPr>
          <a:xfrm>
            <a:off x="274320" y="1060704"/>
            <a:ext cx="2816352" cy="1828800"/>
          </a:xfrm>
          <a:prstGeom prst="rect">
            <a:avLst/>
          </a:prstGeom>
          <a:solidFill>
            <a:srgbClr val="1A3460"/>
          </a:solidFill>
          <a:ln w="22860">
            <a:solidFill>
              <a:srgbClr val="1D4ED8"/>
            </a:solidFill>
            <a:prstDash val="solid"/>
          </a:ln>
          <a:effectLst>
            <a:outerShdw sx="100000" sy="100000" kx="0" ky="0" algn="bl" rotWithShape="0" blurRad="101600" dist="38100" dir="8100000">
              <a:srgbClr val="000000">
                <a:alpha val="20000"/>
              </a:srgbClr>
            </a:outerShdw>
          </a:effectLst>
        </p:spPr>
      </p:sp>
      <p:sp>
        <p:nvSpPr>
          <p:cNvPr id="6" name="Shape 4"/>
          <p:cNvSpPr/>
          <p:nvPr/>
        </p:nvSpPr>
        <p:spPr>
          <a:xfrm>
            <a:off x="274320" y="1060704"/>
            <a:ext cx="2816352" cy="457200"/>
          </a:xfrm>
          <a:prstGeom prst="rect">
            <a:avLst/>
          </a:prstGeom>
          <a:solidFill>
            <a:srgbClr val="1D4ED8"/>
          </a:solidFill>
          <a:ln w="12700">
            <a:solidFill>
              <a:srgbClr val="1D4ED8"/>
            </a:solidFill>
            <a:prstDash val="solid"/>
          </a:ln>
        </p:spPr>
      </p:sp>
      <p:sp>
        <p:nvSpPr>
          <p:cNvPr id="7" name="Shape 5"/>
          <p:cNvSpPr/>
          <p:nvPr/>
        </p:nvSpPr>
        <p:spPr>
          <a:xfrm>
            <a:off x="384048" y="1152144"/>
            <a:ext cx="320040" cy="320040"/>
          </a:xfrm>
          <a:prstGeom prst="ellipse">
            <a:avLst/>
          </a:prstGeom>
          <a:solidFill>
            <a:srgbClr val="0A1628"/>
          </a:solidFill>
          <a:ln w="12700">
            <a:solidFill>
              <a:srgbClr val="0A1628"/>
            </a:solidFill>
            <a:prstDash val="solid"/>
          </a:ln>
        </p:spPr>
      </p:sp>
      <p:sp>
        <p:nvSpPr>
          <p:cNvPr id="8" name="Text 6"/>
          <p:cNvSpPr/>
          <p:nvPr/>
        </p:nvSpPr>
        <p:spPr>
          <a:xfrm>
            <a:off x="384048" y="1152144"/>
            <a:ext cx="320040" cy="320040"/>
          </a:xfrm>
          <a:prstGeom prst="rect">
            <a:avLst/>
          </a:prstGeom>
          <a:noFill/>
          <a:ln/>
        </p:spPr>
        <p:txBody>
          <a:bodyPr wrap="square" rtlCol="0" anchor="ctr"/>
          <a:lstStyle/>
          <a:p>
            <a:pPr algn="ctr" indent="0" marL="0">
              <a:buNone/>
            </a:pPr>
            <a:r>
              <a:rPr lang="en-US" sz="950" b="1" dirty="0">
                <a:solidFill>
                  <a:srgbClr val="F8FAFF"/>
                </a:solidFill>
              </a:rPr>
              <a:t>01</a:t>
            </a:r>
            <a:endParaRPr lang="en-US" sz="950" dirty="0"/>
          </a:p>
        </p:txBody>
      </p:sp>
      <p:sp>
        <p:nvSpPr>
          <p:cNvPr id="9" name="Text 7"/>
          <p:cNvSpPr/>
          <p:nvPr/>
        </p:nvSpPr>
        <p:spPr>
          <a:xfrm>
            <a:off x="777240" y="1060704"/>
            <a:ext cx="2221992" cy="457200"/>
          </a:xfrm>
          <a:prstGeom prst="rect">
            <a:avLst/>
          </a:prstGeom>
          <a:noFill/>
          <a:ln/>
        </p:spPr>
        <p:txBody>
          <a:bodyPr wrap="square" rtlCol="0" anchor="ctr"/>
          <a:lstStyle/>
          <a:p>
            <a:pPr indent="0" marL="0">
              <a:buNone/>
            </a:pPr>
            <a:r>
              <a:rPr lang="en-US" sz="1300" b="1" dirty="0">
                <a:solidFill>
                  <a:srgbClr val="0A1628"/>
                </a:solidFill>
                <a:latin typeface="Calibri" pitchFamily="34" charset="0"/>
                <a:ea typeface="Calibri" pitchFamily="34" charset="-122"/>
                <a:cs typeface="Calibri" pitchFamily="34" charset="-120"/>
              </a:rPr>
              <a:t>🏷️  Classification &amp; Clustering</a:t>
            </a:r>
            <a:endParaRPr lang="en-US" sz="1300" dirty="0"/>
          </a:p>
        </p:txBody>
      </p:sp>
      <p:sp>
        <p:nvSpPr>
          <p:cNvPr id="10" name="Text 8"/>
          <p:cNvSpPr/>
          <p:nvPr/>
        </p:nvSpPr>
        <p:spPr>
          <a:xfrm>
            <a:off x="384048" y="1572768"/>
            <a:ext cx="2596896" cy="1243584"/>
          </a:xfrm>
          <a:prstGeom prst="rect">
            <a:avLst/>
          </a:prstGeom>
          <a:noFill/>
          <a:ln/>
        </p:spPr>
        <p:txBody>
          <a:bodyPr wrap="square" rtlCol="0" anchor="ctr"/>
          <a:lstStyle/>
          <a:p>
            <a:pPr indent="0" marL="0">
              <a:buNone/>
            </a:pPr>
            <a:r>
              <a:rPr lang="en-US" sz="1050" dirty="0">
                <a:solidFill>
                  <a:srgbClr val="CBD5E1"/>
                </a:solidFill>
                <a:latin typeface="Calibri" pitchFamily="34" charset="0"/>
                <a:ea typeface="Calibri" pitchFamily="34" charset="-122"/>
                <a:cs typeface="Calibri" pitchFamily="34" charset="-120"/>
              </a:rPr>
              <a:t>Classification categorises data into groups (creditworthy vs. non-creditworthy). Clustering groups data by similarity — identifying customer segments for targeted marketing.</a:t>
            </a:r>
            <a:endParaRPr lang="en-US" sz="1050" dirty="0"/>
          </a:p>
        </p:txBody>
      </p:sp>
      <p:sp>
        <p:nvSpPr>
          <p:cNvPr id="11" name="Shape 9"/>
          <p:cNvSpPr/>
          <p:nvPr/>
        </p:nvSpPr>
        <p:spPr>
          <a:xfrm>
            <a:off x="3319272" y="1060704"/>
            <a:ext cx="2816352" cy="1828800"/>
          </a:xfrm>
          <a:prstGeom prst="rect">
            <a:avLst/>
          </a:prstGeom>
          <a:solidFill>
            <a:srgbClr val="1A3460"/>
          </a:solidFill>
          <a:ln w="22860">
            <a:solidFill>
              <a:srgbClr val="0D9488"/>
            </a:solidFill>
            <a:prstDash val="solid"/>
          </a:ln>
          <a:effectLst>
            <a:outerShdw sx="100000" sy="100000" kx="0" ky="0" algn="bl" rotWithShape="0" blurRad="101600" dist="38100" dir="8100000">
              <a:srgbClr val="000000">
                <a:alpha val="20000"/>
              </a:srgbClr>
            </a:outerShdw>
          </a:effectLst>
        </p:spPr>
      </p:sp>
      <p:sp>
        <p:nvSpPr>
          <p:cNvPr id="12" name="Shape 10"/>
          <p:cNvSpPr/>
          <p:nvPr/>
        </p:nvSpPr>
        <p:spPr>
          <a:xfrm>
            <a:off x="3319272" y="1060704"/>
            <a:ext cx="2816352" cy="457200"/>
          </a:xfrm>
          <a:prstGeom prst="rect">
            <a:avLst/>
          </a:prstGeom>
          <a:solidFill>
            <a:srgbClr val="0D9488"/>
          </a:solidFill>
          <a:ln w="12700">
            <a:solidFill>
              <a:srgbClr val="0D9488"/>
            </a:solidFill>
            <a:prstDash val="solid"/>
          </a:ln>
        </p:spPr>
      </p:sp>
      <p:sp>
        <p:nvSpPr>
          <p:cNvPr id="13" name="Shape 11"/>
          <p:cNvSpPr/>
          <p:nvPr/>
        </p:nvSpPr>
        <p:spPr>
          <a:xfrm>
            <a:off x="3429000" y="1152144"/>
            <a:ext cx="320040" cy="320040"/>
          </a:xfrm>
          <a:prstGeom prst="ellipse">
            <a:avLst/>
          </a:prstGeom>
          <a:solidFill>
            <a:srgbClr val="0A1628"/>
          </a:solidFill>
          <a:ln w="12700">
            <a:solidFill>
              <a:srgbClr val="0A1628"/>
            </a:solidFill>
            <a:prstDash val="solid"/>
          </a:ln>
        </p:spPr>
      </p:sp>
      <p:sp>
        <p:nvSpPr>
          <p:cNvPr id="14" name="Text 12"/>
          <p:cNvSpPr/>
          <p:nvPr/>
        </p:nvSpPr>
        <p:spPr>
          <a:xfrm>
            <a:off x="3429000" y="1152144"/>
            <a:ext cx="320040" cy="320040"/>
          </a:xfrm>
          <a:prstGeom prst="rect">
            <a:avLst/>
          </a:prstGeom>
          <a:noFill/>
          <a:ln/>
        </p:spPr>
        <p:txBody>
          <a:bodyPr wrap="square" rtlCol="0" anchor="ctr"/>
          <a:lstStyle/>
          <a:p>
            <a:pPr algn="ctr" indent="0" marL="0">
              <a:buNone/>
            </a:pPr>
            <a:r>
              <a:rPr lang="en-US" sz="950" b="1" dirty="0">
                <a:solidFill>
                  <a:srgbClr val="F8FAFF"/>
                </a:solidFill>
              </a:rPr>
              <a:t>02</a:t>
            </a:r>
            <a:endParaRPr lang="en-US" sz="950" dirty="0"/>
          </a:p>
        </p:txBody>
      </p:sp>
      <p:sp>
        <p:nvSpPr>
          <p:cNvPr id="15" name="Text 13"/>
          <p:cNvSpPr/>
          <p:nvPr/>
        </p:nvSpPr>
        <p:spPr>
          <a:xfrm>
            <a:off x="3822192" y="1060704"/>
            <a:ext cx="2221992" cy="457200"/>
          </a:xfrm>
          <a:prstGeom prst="rect">
            <a:avLst/>
          </a:prstGeom>
          <a:noFill/>
          <a:ln/>
        </p:spPr>
        <p:txBody>
          <a:bodyPr wrap="square" rtlCol="0" anchor="ctr"/>
          <a:lstStyle/>
          <a:p>
            <a:pPr indent="0" marL="0">
              <a:buNone/>
            </a:pPr>
            <a:r>
              <a:rPr lang="en-US" sz="1300" b="1" dirty="0">
                <a:solidFill>
                  <a:srgbClr val="0A1628"/>
                </a:solidFill>
                <a:latin typeface="Calibri" pitchFamily="34" charset="0"/>
                <a:ea typeface="Calibri" pitchFamily="34" charset="-122"/>
                <a:cs typeface="Calibri" pitchFamily="34" charset="-120"/>
              </a:rPr>
              <a:t>📈  Regression Analysis</a:t>
            </a:r>
            <a:endParaRPr lang="en-US" sz="1300" dirty="0"/>
          </a:p>
        </p:txBody>
      </p:sp>
      <p:sp>
        <p:nvSpPr>
          <p:cNvPr id="16" name="Text 14"/>
          <p:cNvSpPr/>
          <p:nvPr/>
        </p:nvSpPr>
        <p:spPr>
          <a:xfrm>
            <a:off x="3429000" y="1572768"/>
            <a:ext cx="2596896" cy="1243584"/>
          </a:xfrm>
          <a:prstGeom prst="rect">
            <a:avLst/>
          </a:prstGeom>
          <a:noFill/>
          <a:ln/>
        </p:spPr>
        <p:txBody>
          <a:bodyPr wrap="square" rtlCol="0" anchor="ctr"/>
          <a:lstStyle/>
          <a:p>
            <a:pPr indent="0" marL="0">
              <a:buNone/>
            </a:pPr>
            <a:r>
              <a:rPr lang="en-US" sz="1050" dirty="0">
                <a:solidFill>
                  <a:srgbClr val="CBD5E1"/>
                </a:solidFill>
                <a:latin typeface="Calibri" pitchFamily="34" charset="0"/>
                <a:ea typeface="Calibri" pitchFamily="34" charset="-122"/>
                <a:cs typeface="Calibri" pitchFamily="34" charset="-120"/>
              </a:rPr>
              <a:t>Predicts numerical outcomes such as stock prices, exchange rates, and revenue growth based on historical patterns and independent variables.</a:t>
            </a:r>
            <a:endParaRPr lang="en-US" sz="1050" dirty="0"/>
          </a:p>
        </p:txBody>
      </p:sp>
      <p:sp>
        <p:nvSpPr>
          <p:cNvPr id="17" name="Shape 15"/>
          <p:cNvSpPr/>
          <p:nvPr/>
        </p:nvSpPr>
        <p:spPr>
          <a:xfrm>
            <a:off x="6364224" y="1060704"/>
            <a:ext cx="2816352" cy="1828800"/>
          </a:xfrm>
          <a:prstGeom prst="rect">
            <a:avLst/>
          </a:prstGeom>
          <a:solidFill>
            <a:srgbClr val="1A3460"/>
          </a:solidFill>
          <a:ln w="22860">
            <a:solidFill>
              <a:srgbClr val="D4A017"/>
            </a:solidFill>
            <a:prstDash val="solid"/>
          </a:ln>
          <a:effectLst>
            <a:outerShdw sx="100000" sy="100000" kx="0" ky="0" algn="bl" rotWithShape="0" blurRad="101600" dist="38100" dir="8100000">
              <a:srgbClr val="000000">
                <a:alpha val="20000"/>
              </a:srgbClr>
            </a:outerShdw>
          </a:effectLst>
        </p:spPr>
      </p:sp>
      <p:sp>
        <p:nvSpPr>
          <p:cNvPr id="18" name="Shape 16"/>
          <p:cNvSpPr/>
          <p:nvPr/>
        </p:nvSpPr>
        <p:spPr>
          <a:xfrm>
            <a:off x="6364224" y="1060704"/>
            <a:ext cx="2816352" cy="457200"/>
          </a:xfrm>
          <a:prstGeom prst="rect">
            <a:avLst/>
          </a:prstGeom>
          <a:solidFill>
            <a:srgbClr val="D4A017"/>
          </a:solidFill>
          <a:ln w="12700">
            <a:solidFill>
              <a:srgbClr val="D4A017"/>
            </a:solidFill>
            <a:prstDash val="solid"/>
          </a:ln>
        </p:spPr>
      </p:sp>
      <p:sp>
        <p:nvSpPr>
          <p:cNvPr id="19" name="Shape 17"/>
          <p:cNvSpPr/>
          <p:nvPr/>
        </p:nvSpPr>
        <p:spPr>
          <a:xfrm>
            <a:off x="6473952" y="1152144"/>
            <a:ext cx="320040" cy="320040"/>
          </a:xfrm>
          <a:prstGeom prst="ellipse">
            <a:avLst/>
          </a:prstGeom>
          <a:solidFill>
            <a:srgbClr val="0A1628"/>
          </a:solidFill>
          <a:ln w="12700">
            <a:solidFill>
              <a:srgbClr val="0A1628"/>
            </a:solidFill>
            <a:prstDash val="solid"/>
          </a:ln>
        </p:spPr>
      </p:sp>
      <p:sp>
        <p:nvSpPr>
          <p:cNvPr id="20" name="Text 18"/>
          <p:cNvSpPr/>
          <p:nvPr/>
        </p:nvSpPr>
        <p:spPr>
          <a:xfrm>
            <a:off x="6473952" y="1152144"/>
            <a:ext cx="320040" cy="320040"/>
          </a:xfrm>
          <a:prstGeom prst="rect">
            <a:avLst/>
          </a:prstGeom>
          <a:noFill/>
          <a:ln/>
        </p:spPr>
        <p:txBody>
          <a:bodyPr wrap="square" rtlCol="0" anchor="ctr"/>
          <a:lstStyle/>
          <a:p>
            <a:pPr algn="ctr" indent="0" marL="0">
              <a:buNone/>
            </a:pPr>
            <a:r>
              <a:rPr lang="en-US" sz="950" b="1" dirty="0">
                <a:solidFill>
                  <a:srgbClr val="F5C842"/>
                </a:solidFill>
              </a:rPr>
              <a:t>03</a:t>
            </a:r>
            <a:endParaRPr lang="en-US" sz="950" dirty="0"/>
          </a:p>
        </p:txBody>
      </p:sp>
      <p:sp>
        <p:nvSpPr>
          <p:cNvPr id="21" name="Text 19"/>
          <p:cNvSpPr/>
          <p:nvPr/>
        </p:nvSpPr>
        <p:spPr>
          <a:xfrm>
            <a:off x="6867144" y="1060704"/>
            <a:ext cx="2221992" cy="457200"/>
          </a:xfrm>
          <a:prstGeom prst="rect">
            <a:avLst/>
          </a:prstGeom>
          <a:noFill/>
          <a:ln/>
        </p:spPr>
        <p:txBody>
          <a:bodyPr wrap="square" rtlCol="0" anchor="ctr"/>
          <a:lstStyle/>
          <a:p>
            <a:pPr indent="0" marL="0">
              <a:buNone/>
            </a:pPr>
            <a:r>
              <a:rPr lang="en-US" sz="1300" b="1" dirty="0">
                <a:solidFill>
                  <a:srgbClr val="0A1628"/>
                </a:solidFill>
                <a:latin typeface="Calibri" pitchFamily="34" charset="0"/>
                <a:ea typeface="Calibri" pitchFamily="34" charset="-122"/>
                <a:cs typeface="Calibri" pitchFamily="34" charset="-120"/>
              </a:rPr>
              <a:t>🔗  Association Rule Mining</a:t>
            </a:r>
            <a:endParaRPr lang="en-US" sz="1300" dirty="0"/>
          </a:p>
        </p:txBody>
      </p:sp>
      <p:sp>
        <p:nvSpPr>
          <p:cNvPr id="22" name="Text 20"/>
          <p:cNvSpPr/>
          <p:nvPr/>
        </p:nvSpPr>
        <p:spPr>
          <a:xfrm>
            <a:off x="6473952" y="1572768"/>
            <a:ext cx="2596896" cy="1243584"/>
          </a:xfrm>
          <a:prstGeom prst="rect">
            <a:avLst/>
          </a:prstGeom>
          <a:noFill/>
          <a:ln/>
        </p:spPr>
        <p:txBody>
          <a:bodyPr wrap="square" rtlCol="0" anchor="ctr"/>
          <a:lstStyle/>
          <a:p>
            <a:pPr indent="0" marL="0">
              <a:buNone/>
            </a:pPr>
            <a:r>
              <a:rPr lang="en-US" sz="1050" dirty="0">
                <a:solidFill>
                  <a:srgbClr val="CBD5E1"/>
                </a:solidFill>
                <a:latin typeface="Calibri" pitchFamily="34" charset="0"/>
                <a:ea typeface="Calibri" pitchFamily="34" charset="-122"/>
                <a:cs typeface="Calibri" pitchFamily="34" charset="-120"/>
              </a:rPr>
              <a:t>Identifies relationships between variables — e.g., the correlation between interest rate changes and loan default rates or co-purchasing patterns.</a:t>
            </a:r>
            <a:endParaRPr lang="en-US" sz="1050" dirty="0"/>
          </a:p>
        </p:txBody>
      </p:sp>
      <p:sp>
        <p:nvSpPr>
          <p:cNvPr id="23" name="Shape 21"/>
          <p:cNvSpPr/>
          <p:nvPr/>
        </p:nvSpPr>
        <p:spPr>
          <a:xfrm>
            <a:off x="210312" y="3072384"/>
            <a:ext cx="4224528" cy="1828800"/>
          </a:xfrm>
          <a:prstGeom prst="rect">
            <a:avLst/>
          </a:prstGeom>
          <a:solidFill>
            <a:srgbClr val="1A3460"/>
          </a:solidFill>
          <a:ln w="22860">
            <a:solidFill>
              <a:srgbClr val="DC2626"/>
            </a:solidFill>
            <a:prstDash val="solid"/>
          </a:ln>
          <a:effectLst>
            <a:outerShdw sx="100000" sy="100000" kx="0" ky="0" algn="bl" rotWithShape="0" blurRad="101600" dist="38100" dir="8100000">
              <a:srgbClr val="000000">
                <a:alpha val="20000"/>
              </a:srgbClr>
            </a:outerShdw>
          </a:effectLst>
        </p:spPr>
      </p:sp>
      <p:sp>
        <p:nvSpPr>
          <p:cNvPr id="24" name="Shape 22"/>
          <p:cNvSpPr/>
          <p:nvPr/>
        </p:nvSpPr>
        <p:spPr>
          <a:xfrm>
            <a:off x="210312" y="3072384"/>
            <a:ext cx="4224528" cy="457200"/>
          </a:xfrm>
          <a:prstGeom prst="rect">
            <a:avLst/>
          </a:prstGeom>
          <a:solidFill>
            <a:srgbClr val="DC2626"/>
          </a:solidFill>
          <a:ln w="12700">
            <a:solidFill>
              <a:srgbClr val="DC2626"/>
            </a:solidFill>
            <a:prstDash val="solid"/>
          </a:ln>
        </p:spPr>
      </p:sp>
      <p:sp>
        <p:nvSpPr>
          <p:cNvPr id="25" name="Shape 23"/>
          <p:cNvSpPr/>
          <p:nvPr/>
        </p:nvSpPr>
        <p:spPr>
          <a:xfrm>
            <a:off x="320040" y="3163824"/>
            <a:ext cx="320040" cy="320040"/>
          </a:xfrm>
          <a:prstGeom prst="ellipse">
            <a:avLst/>
          </a:prstGeom>
          <a:solidFill>
            <a:srgbClr val="0A1628"/>
          </a:solidFill>
          <a:ln w="12700">
            <a:solidFill>
              <a:srgbClr val="0A1628"/>
            </a:solidFill>
            <a:prstDash val="solid"/>
          </a:ln>
        </p:spPr>
      </p:sp>
      <p:sp>
        <p:nvSpPr>
          <p:cNvPr id="26" name="Text 24"/>
          <p:cNvSpPr/>
          <p:nvPr/>
        </p:nvSpPr>
        <p:spPr>
          <a:xfrm>
            <a:off x="320040" y="3163824"/>
            <a:ext cx="320040" cy="320040"/>
          </a:xfrm>
          <a:prstGeom prst="rect">
            <a:avLst/>
          </a:prstGeom>
          <a:noFill/>
          <a:ln/>
        </p:spPr>
        <p:txBody>
          <a:bodyPr wrap="square" rtlCol="0" anchor="ctr"/>
          <a:lstStyle/>
          <a:p>
            <a:pPr algn="ctr" indent="0" marL="0">
              <a:buNone/>
            </a:pPr>
            <a:r>
              <a:rPr lang="en-US" sz="950" b="1" dirty="0">
                <a:solidFill>
                  <a:srgbClr val="F8FAFF"/>
                </a:solidFill>
              </a:rPr>
              <a:t>04</a:t>
            </a:r>
            <a:endParaRPr lang="en-US" sz="950" dirty="0"/>
          </a:p>
        </p:txBody>
      </p:sp>
      <p:sp>
        <p:nvSpPr>
          <p:cNvPr id="27" name="Text 25"/>
          <p:cNvSpPr/>
          <p:nvPr/>
        </p:nvSpPr>
        <p:spPr>
          <a:xfrm>
            <a:off x="713232" y="3072384"/>
            <a:ext cx="3630168" cy="457200"/>
          </a:xfrm>
          <a:prstGeom prst="rect">
            <a:avLst/>
          </a:prstGeom>
          <a:noFill/>
          <a:ln/>
        </p:spPr>
        <p:txBody>
          <a:bodyPr wrap="square" rtlCol="0" anchor="ctr"/>
          <a:lstStyle/>
          <a:p>
            <a:pPr indent="0" marL="0">
              <a:buNone/>
            </a:pPr>
            <a:r>
              <a:rPr lang="en-US" sz="1300" b="1" dirty="0">
                <a:solidFill>
                  <a:srgbClr val="0A1628"/>
                </a:solidFill>
                <a:latin typeface="Calibri" pitchFamily="34" charset="0"/>
                <a:ea typeface="Calibri" pitchFamily="34" charset="-122"/>
                <a:cs typeface="Calibri" pitchFamily="34" charset="-120"/>
              </a:rPr>
              <a:t>⚠️  Anomaly Detection</a:t>
            </a:r>
            <a:endParaRPr lang="en-US" sz="1300" dirty="0"/>
          </a:p>
        </p:txBody>
      </p:sp>
      <p:sp>
        <p:nvSpPr>
          <p:cNvPr id="28" name="Text 26"/>
          <p:cNvSpPr/>
          <p:nvPr/>
        </p:nvSpPr>
        <p:spPr>
          <a:xfrm>
            <a:off x="320040" y="3584448"/>
            <a:ext cx="4005072" cy="1243584"/>
          </a:xfrm>
          <a:prstGeom prst="rect">
            <a:avLst/>
          </a:prstGeom>
          <a:noFill/>
          <a:ln/>
        </p:spPr>
        <p:txBody>
          <a:bodyPr wrap="square" rtlCol="0" anchor="ctr"/>
          <a:lstStyle/>
          <a:p>
            <a:pPr indent="0" marL="0">
              <a:buNone/>
            </a:pPr>
            <a:r>
              <a:rPr lang="en-US" sz="1050" dirty="0">
                <a:solidFill>
                  <a:srgbClr val="CBD5E1"/>
                </a:solidFill>
                <a:latin typeface="Calibri" pitchFamily="34" charset="0"/>
                <a:ea typeface="Calibri" pitchFamily="34" charset="-122"/>
                <a:cs typeface="Calibri" pitchFamily="34" charset="-120"/>
              </a:rPr>
              <a:t>Identifies outliers in financial data — flagging fraudulent transactions, unusual trading activity, or deviations from established behaviour baselines.</a:t>
            </a:r>
            <a:endParaRPr lang="en-US" sz="1050" dirty="0"/>
          </a:p>
        </p:txBody>
      </p:sp>
      <p:sp>
        <p:nvSpPr>
          <p:cNvPr id="29" name="Shape 27"/>
          <p:cNvSpPr/>
          <p:nvPr/>
        </p:nvSpPr>
        <p:spPr>
          <a:xfrm>
            <a:off x="4663440" y="3072384"/>
            <a:ext cx="4224528" cy="1828800"/>
          </a:xfrm>
          <a:prstGeom prst="rect">
            <a:avLst/>
          </a:prstGeom>
          <a:solidFill>
            <a:srgbClr val="1A3460"/>
          </a:solidFill>
          <a:ln w="22860">
            <a:solidFill>
              <a:srgbClr val="0D9488"/>
            </a:solidFill>
            <a:prstDash val="solid"/>
          </a:ln>
          <a:effectLst>
            <a:outerShdw sx="100000" sy="100000" kx="0" ky="0" algn="bl" rotWithShape="0" blurRad="101600" dist="38100" dir="8100000">
              <a:srgbClr val="000000">
                <a:alpha val="20000"/>
              </a:srgbClr>
            </a:outerShdw>
          </a:effectLst>
        </p:spPr>
      </p:sp>
      <p:sp>
        <p:nvSpPr>
          <p:cNvPr id="30" name="Shape 28"/>
          <p:cNvSpPr/>
          <p:nvPr/>
        </p:nvSpPr>
        <p:spPr>
          <a:xfrm>
            <a:off x="4663440" y="3072384"/>
            <a:ext cx="4224528" cy="457200"/>
          </a:xfrm>
          <a:prstGeom prst="rect">
            <a:avLst/>
          </a:prstGeom>
          <a:solidFill>
            <a:srgbClr val="0D9488"/>
          </a:solidFill>
          <a:ln w="12700">
            <a:solidFill>
              <a:srgbClr val="0D9488"/>
            </a:solidFill>
            <a:prstDash val="solid"/>
          </a:ln>
        </p:spPr>
      </p:sp>
      <p:sp>
        <p:nvSpPr>
          <p:cNvPr id="31" name="Shape 29"/>
          <p:cNvSpPr/>
          <p:nvPr/>
        </p:nvSpPr>
        <p:spPr>
          <a:xfrm>
            <a:off x="4773168" y="3163824"/>
            <a:ext cx="320040" cy="320040"/>
          </a:xfrm>
          <a:prstGeom prst="ellipse">
            <a:avLst/>
          </a:prstGeom>
          <a:solidFill>
            <a:srgbClr val="0A1628"/>
          </a:solidFill>
          <a:ln w="12700">
            <a:solidFill>
              <a:srgbClr val="0A1628"/>
            </a:solidFill>
            <a:prstDash val="solid"/>
          </a:ln>
        </p:spPr>
      </p:sp>
      <p:sp>
        <p:nvSpPr>
          <p:cNvPr id="32" name="Text 30"/>
          <p:cNvSpPr/>
          <p:nvPr/>
        </p:nvSpPr>
        <p:spPr>
          <a:xfrm>
            <a:off x="4773168" y="3163824"/>
            <a:ext cx="320040" cy="320040"/>
          </a:xfrm>
          <a:prstGeom prst="rect">
            <a:avLst/>
          </a:prstGeom>
          <a:noFill/>
          <a:ln/>
        </p:spPr>
        <p:txBody>
          <a:bodyPr wrap="square" rtlCol="0" anchor="ctr"/>
          <a:lstStyle/>
          <a:p>
            <a:pPr algn="ctr" indent="0" marL="0">
              <a:buNone/>
            </a:pPr>
            <a:r>
              <a:rPr lang="en-US" sz="950" b="1" dirty="0">
                <a:solidFill>
                  <a:srgbClr val="F8FAFF"/>
                </a:solidFill>
              </a:rPr>
              <a:t>05</a:t>
            </a:r>
            <a:endParaRPr lang="en-US" sz="950" dirty="0"/>
          </a:p>
        </p:txBody>
      </p:sp>
      <p:sp>
        <p:nvSpPr>
          <p:cNvPr id="33" name="Text 31"/>
          <p:cNvSpPr/>
          <p:nvPr/>
        </p:nvSpPr>
        <p:spPr>
          <a:xfrm>
            <a:off x="5166360" y="3072384"/>
            <a:ext cx="3630168" cy="457200"/>
          </a:xfrm>
          <a:prstGeom prst="rect">
            <a:avLst/>
          </a:prstGeom>
          <a:noFill/>
          <a:ln/>
        </p:spPr>
        <p:txBody>
          <a:bodyPr wrap="square" rtlCol="0" anchor="ctr"/>
          <a:lstStyle/>
          <a:p>
            <a:pPr indent="0" marL="0">
              <a:buNone/>
            </a:pPr>
            <a:r>
              <a:rPr lang="en-US" sz="1300" b="1" dirty="0">
                <a:solidFill>
                  <a:srgbClr val="0A1628"/>
                </a:solidFill>
                <a:latin typeface="Calibri" pitchFamily="34" charset="0"/>
                <a:ea typeface="Calibri" pitchFamily="34" charset="-122"/>
                <a:cs typeface="Calibri" pitchFamily="34" charset="-120"/>
              </a:rPr>
              <a:t>📅  Time Series Analysis</a:t>
            </a:r>
            <a:endParaRPr lang="en-US" sz="1300" dirty="0"/>
          </a:p>
        </p:txBody>
      </p:sp>
      <p:sp>
        <p:nvSpPr>
          <p:cNvPr id="34" name="Text 32"/>
          <p:cNvSpPr/>
          <p:nvPr/>
        </p:nvSpPr>
        <p:spPr>
          <a:xfrm>
            <a:off x="4773168" y="3584448"/>
            <a:ext cx="4005072" cy="1243584"/>
          </a:xfrm>
          <a:prstGeom prst="rect">
            <a:avLst/>
          </a:prstGeom>
          <a:noFill/>
          <a:ln/>
        </p:spPr>
        <p:txBody>
          <a:bodyPr wrap="square" rtlCol="0" anchor="ctr"/>
          <a:lstStyle/>
          <a:p>
            <a:pPr indent="0" marL="0">
              <a:buNone/>
            </a:pPr>
            <a:r>
              <a:rPr lang="en-US" sz="1050" dirty="0">
                <a:solidFill>
                  <a:srgbClr val="CBD5E1"/>
                </a:solidFill>
                <a:latin typeface="Calibri" pitchFamily="34" charset="0"/>
                <a:ea typeface="Calibri" pitchFamily="34" charset="-122"/>
                <a:cs typeface="Calibri" pitchFamily="34" charset="-120"/>
              </a:rPr>
              <a:t>Analyses trends and patterns over time — invaluable for forecasting stock prices, exchange rates, interest rates, and macroeconomic indicators.</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C"/>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A1628"/>
          </a:solidFill>
          <a:ln w="12700">
            <a:solidFill>
              <a:srgbClr val="0A1628"/>
            </a:solidFill>
            <a:prstDash val="solid"/>
          </a:ln>
        </p:spPr>
      </p:sp>
      <p:sp>
        <p:nvSpPr>
          <p:cNvPr id="3" name="Shape 1"/>
          <p:cNvSpPr/>
          <p:nvPr/>
        </p:nvSpPr>
        <p:spPr>
          <a:xfrm>
            <a:off x="0" y="960120"/>
            <a:ext cx="9144000" cy="64008"/>
          </a:xfrm>
          <a:prstGeom prst="rect">
            <a:avLst/>
          </a:prstGeom>
          <a:solidFill>
            <a:srgbClr val="F5C842"/>
          </a:solidFill>
          <a:ln w="12700">
            <a:solidFill>
              <a:srgbClr val="F5C842"/>
            </a:solidFill>
            <a:prstDash val="solid"/>
          </a:ln>
        </p:spPr>
      </p:sp>
      <p:sp>
        <p:nvSpPr>
          <p:cNvPr id="4" name="Text 2"/>
          <p:cNvSpPr/>
          <p:nvPr/>
        </p:nvSpPr>
        <p:spPr>
          <a:xfrm>
            <a:off x="411480" y="0"/>
            <a:ext cx="8321040" cy="960120"/>
          </a:xfrm>
          <a:prstGeom prst="rect">
            <a:avLst/>
          </a:prstGeom>
          <a:noFill/>
          <a:ln/>
        </p:spPr>
        <p:txBody>
          <a:bodyPr wrap="square" rtlCol="0" anchor="ctr"/>
          <a:lstStyle/>
          <a:p>
            <a:pPr indent="0" marL="0">
              <a:buNone/>
            </a:pPr>
            <a:r>
              <a:rPr lang="en-US" sz="2700" b="1" dirty="0">
                <a:solidFill>
                  <a:srgbClr val="F5C842"/>
                </a:solidFill>
                <a:latin typeface="Calibri" pitchFamily="34" charset="0"/>
                <a:ea typeface="Calibri" pitchFamily="34" charset="-122"/>
                <a:cs typeface="Calibri" pitchFamily="34" charset="-120"/>
              </a:rPr>
              <a:t>Use Cases 01–04: Core Financial Applications</a:t>
            </a:r>
            <a:endParaRPr lang="en-US" sz="2700" dirty="0"/>
          </a:p>
        </p:txBody>
      </p:sp>
      <p:sp>
        <p:nvSpPr>
          <p:cNvPr id="5" name="Shape 3"/>
          <p:cNvSpPr/>
          <p:nvPr/>
        </p:nvSpPr>
        <p:spPr>
          <a:xfrm>
            <a:off x="347472" y="1170432"/>
            <a:ext cx="4251960" cy="1783080"/>
          </a:xfrm>
          <a:prstGeom prst="rect">
            <a:avLst/>
          </a:prstGeom>
          <a:solidFill>
            <a:srgbClr val="0A1628"/>
          </a:solidFill>
          <a:ln w="22860">
            <a:solidFill>
              <a:srgbClr val="1D4ED8"/>
            </a:solidFill>
            <a:prstDash val="solid"/>
          </a:ln>
          <a:effectLst>
            <a:outerShdw sx="100000" sy="100000" kx="0" ky="0" algn="bl" rotWithShape="0" blurRad="101600" dist="38100" dir="8100000">
              <a:srgbClr val="000000">
                <a:alpha val="20000"/>
              </a:srgbClr>
            </a:outerShdw>
          </a:effectLst>
        </p:spPr>
      </p:sp>
      <p:sp>
        <p:nvSpPr>
          <p:cNvPr id="6" name="Shape 4"/>
          <p:cNvSpPr/>
          <p:nvPr/>
        </p:nvSpPr>
        <p:spPr>
          <a:xfrm>
            <a:off x="347472" y="1170432"/>
            <a:ext cx="4251960" cy="457200"/>
          </a:xfrm>
          <a:prstGeom prst="rect">
            <a:avLst/>
          </a:prstGeom>
          <a:solidFill>
            <a:srgbClr val="1D4ED8"/>
          </a:solidFill>
          <a:ln w="12700">
            <a:solidFill>
              <a:srgbClr val="1D4ED8"/>
            </a:solidFill>
            <a:prstDash val="solid"/>
          </a:ln>
        </p:spPr>
      </p:sp>
      <p:sp>
        <p:nvSpPr>
          <p:cNvPr id="7" name="Shape 5"/>
          <p:cNvSpPr/>
          <p:nvPr/>
        </p:nvSpPr>
        <p:spPr>
          <a:xfrm>
            <a:off x="457200" y="1261872"/>
            <a:ext cx="329184" cy="329184"/>
          </a:xfrm>
          <a:prstGeom prst="ellipse">
            <a:avLst/>
          </a:prstGeom>
          <a:solidFill>
            <a:srgbClr val="0A1628"/>
          </a:solidFill>
          <a:ln w="12700">
            <a:solidFill>
              <a:srgbClr val="0A1628"/>
            </a:solidFill>
            <a:prstDash val="solid"/>
          </a:ln>
        </p:spPr>
      </p:sp>
      <p:sp>
        <p:nvSpPr>
          <p:cNvPr id="8" name="Text 6"/>
          <p:cNvSpPr/>
          <p:nvPr/>
        </p:nvSpPr>
        <p:spPr>
          <a:xfrm>
            <a:off x="457200" y="1261872"/>
            <a:ext cx="329184" cy="329184"/>
          </a:xfrm>
          <a:prstGeom prst="rect">
            <a:avLst/>
          </a:prstGeom>
          <a:noFill/>
          <a:ln/>
        </p:spPr>
        <p:txBody>
          <a:bodyPr wrap="square" rtlCol="0" anchor="ctr"/>
          <a:lstStyle/>
          <a:p>
            <a:pPr algn="ctr" indent="0" marL="0">
              <a:buNone/>
            </a:pPr>
            <a:r>
              <a:rPr lang="en-US" sz="1000" b="1" dirty="0">
                <a:solidFill>
                  <a:srgbClr val="1D4ED8"/>
                </a:solidFill>
              </a:rPr>
              <a:t>01</a:t>
            </a:r>
            <a:endParaRPr lang="en-US" sz="1000" dirty="0"/>
          </a:p>
        </p:txBody>
      </p:sp>
      <p:sp>
        <p:nvSpPr>
          <p:cNvPr id="9" name="Text 7"/>
          <p:cNvSpPr/>
          <p:nvPr/>
        </p:nvSpPr>
        <p:spPr>
          <a:xfrm>
            <a:off x="859536" y="1170432"/>
            <a:ext cx="3657600" cy="457200"/>
          </a:xfrm>
          <a:prstGeom prst="rect">
            <a:avLst/>
          </a:prstGeom>
          <a:noFill/>
          <a:ln/>
        </p:spPr>
        <p:txBody>
          <a:bodyPr wrap="square" rtlCol="0" anchor="ctr"/>
          <a:lstStyle/>
          <a:p>
            <a:pPr indent="0" marL="0">
              <a:buNone/>
            </a:pPr>
            <a:r>
              <a:rPr lang="en-US" sz="1250" b="1" dirty="0">
                <a:solidFill>
                  <a:srgbClr val="0A1628"/>
                </a:solidFill>
                <a:latin typeface="Calibri" pitchFamily="34" charset="0"/>
                <a:ea typeface="Calibri" pitchFamily="34" charset="-122"/>
                <a:cs typeface="Calibri" pitchFamily="34" charset="-120"/>
              </a:rPr>
              <a:t>💳  Credit Scoring &amp; Risk Assessment</a:t>
            </a:r>
            <a:endParaRPr lang="en-US" sz="1250" dirty="0"/>
          </a:p>
        </p:txBody>
      </p:sp>
      <p:sp>
        <p:nvSpPr>
          <p:cNvPr id="10" name="Text 8"/>
          <p:cNvSpPr/>
          <p:nvPr/>
        </p:nvSpPr>
        <p:spPr>
          <a:xfrm>
            <a:off x="457200" y="1682496"/>
            <a:ext cx="4041648" cy="1188720"/>
          </a:xfrm>
          <a:prstGeom prst="rect">
            <a:avLst/>
          </a:prstGeom>
          <a:noFill/>
          <a:ln/>
        </p:spPr>
        <p:txBody>
          <a:bodyPr wrap="square" rtlCol="0" anchor="ctr"/>
          <a:lstStyle/>
          <a:p>
            <a:pPr indent="0" marL="0">
              <a:buNone/>
            </a:pPr>
            <a:r>
              <a:rPr lang="en-US" sz="1000" dirty="0">
                <a:solidFill>
                  <a:srgbClr val="CBD5E1"/>
                </a:solidFill>
                <a:latin typeface="Calibri" pitchFamily="34" charset="0"/>
                <a:ea typeface="Calibri" pitchFamily="34" charset="-122"/>
                <a:cs typeface="Calibri" pitchFamily="34" charset="-120"/>
              </a:rPr>
              <a:t>Traditional credit scores no longer suffice. Data mining evaluates diverse data — alternative credit sources, social media behaviour, unconventional income, and community engagement — to paint an accurate risk profile. This helps minimize bad debts, reduce defaults, and improve portfolio health.</a:t>
            </a:r>
            <a:endParaRPr lang="en-US" sz="1000" dirty="0"/>
          </a:p>
        </p:txBody>
      </p:sp>
      <p:sp>
        <p:nvSpPr>
          <p:cNvPr id="11" name="Shape 9"/>
          <p:cNvSpPr/>
          <p:nvPr/>
        </p:nvSpPr>
        <p:spPr>
          <a:xfrm>
            <a:off x="4782312" y="1170432"/>
            <a:ext cx="4251960" cy="1783080"/>
          </a:xfrm>
          <a:prstGeom prst="rect">
            <a:avLst/>
          </a:prstGeom>
          <a:solidFill>
            <a:srgbClr val="0A1628"/>
          </a:solidFill>
          <a:ln w="22860">
            <a:solidFill>
              <a:srgbClr val="DC2626"/>
            </a:solidFill>
            <a:prstDash val="solid"/>
          </a:ln>
          <a:effectLst>
            <a:outerShdw sx="100000" sy="100000" kx="0" ky="0" algn="bl" rotWithShape="0" blurRad="101600" dist="38100" dir="8100000">
              <a:srgbClr val="000000">
                <a:alpha val="20000"/>
              </a:srgbClr>
            </a:outerShdw>
          </a:effectLst>
        </p:spPr>
      </p:sp>
      <p:sp>
        <p:nvSpPr>
          <p:cNvPr id="12" name="Shape 10"/>
          <p:cNvSpPr/>
          <p:nvPr/>
        </p:nvSpPr>
        <p:spPr>
          <a:xfrm>
            <a:off x="4782312" y="1170432"/>
            <a:ext cx="4251960" cy="457200"/>
          </a:xfrm>
          <a:prstGeom prst="rect">
            <a:avLst/>
          </a:prstGeom>
          <a:solidFill>
            <a:srgbClr val="DC2626"/>
          </a:solidFill>
          <a:ln w="12700">
            <a:solidFill>
              <a:srgbClr val="DC2626"/>
            </a:solidFill>
            <a:prstDash val="solid"/>
          </a:ln>
        </p:spPr>
      </p:sp>
      <p:sp>
        <p:nvSpPr>
          <p:cNvPr id="13" name="Shape 11"/>
          <p:cNvSpPr/>
          <p:nvPr/>
        </p:nvSpPr>
        <p:spPr>
          <a:xfrm>
            <a:off x="4892040" y="1261872"/>
            <a:ext cx="329184" cy="329184"/>
          </a:xfrm>
          <a:prstGeom prst="ellipse">
            <a:avLst/>
          </a:prstGeom>
          <a:solidFill>
            <a:srgbClr val="0A1628"/>
          </a:solidFill>
          <a:ln w="12700">
            <a:solidFill>
              <a:srgbClr val="0A1628"/>
            </a:solidFill>
            <a:prstDash val="solid"/>
          </a:ln>
        </p:spPr>
      </p:sp>
      <p:sp>
        <p:nvSpPr>
          <p:cNvPr id="14" name="Text 12"/>
          <p:cNvSpPr/>
          <p:nvPr/>
        </p:nvSpPr>
        <p:spPr>
          <a:xfrm>
            <a:off x="4892040" y="1261872"/>
            <a:ext cx="329184" cy="329184"/>
          </a:xfrm>
          <a:prstGeom prst="rect">
            <a:avLst/>
          </a:prstGeom>
          <a:noFill/>
          <a:ln/>
        </p:spPr>
        <p:txBody>
          <a:bodyPr wrap="square" rtlCol="0" anchor="ctr"/>
          <a:lstStyle/>
          <a:p>
            <a:pPr algn="ctr" indent="0" marL="0">
              <a:buNone/>
            </a:pPr>
            <a:r>
              <a:rPr lang="en-US" sz="1000" b="1" dirty="0">
                <a:solidFill>
                  <a:srgbClr val="DC2626"/>
                </a:solidFill>
              </a:rPr>
              <a:t>02</a:t>
            </a:r>
            <a:endParaRPr lang="en-US" sz="1000" dirty="0"/>
          </a:p>
        </p:txBody>
      </p:sp>
      <p:sp>
        <p:nvSpPr>
          <p:cNvPr id="15" name="Text 13"/>
          <p:cNvSpPr/>
          <p:nvPr/>
        </p:nvSpPr>
        <p:spPr>
          <a:xfrm>
            <a:off x="5294376" y="1170432"/>
            <a:ext cx="3657600" cy="457200"/>
          </a:xfrm>
          <a:prstGeom prst="rect">
            <a:avLst/>
          </a:prstGeom>
          <a:noFill/>
          <a:ln/>
        </p:spPr>
        <p:txBody>
          <a:bodyPr wrap="square" rtlCol="0" anchor="ctr"/>
          <a:lstStyle/>
          <a:p>
            <a:pPr indent="0" marL="0">
              <a:buNone/>
            </a:pPr>
            <a:r>
              <a:rPr lang="en-US" sz="1250" b="1" dirty="0">
                <a:solidFill>
                  <a:srgbClr val="0A1628"/>
                </a:solidFill>
                <a:latin typeface="Calibri" pitchFamily="34" charset="0"/>
                <a:ea typeface="Calibri" pitchFamily="34" charset="-122"/>
                <a:cs typeface="Calibri" pitchFamily="34" charset="-120"/>
              </a:rPr>
              <a:t>🔍  Fraud Detection &amp; Prevention</a:t>
            </a:r>
            <a:endParaRPr lang="en-US" sz="1250" dirty="0"/>
          </a:p>
        </p:txBody>
      </p:sp>
      <p:sp>
        <p:nvSpPr>
          <p:cNvPr id="16" name="Text 14"/>
          <p:cNvSpPr/>
          <p:nvPr/>
        </p:nvSpPr>
        <p:spPr>
          <a:xfrm>
            <a:off x="4892040" y="1682496"/>
            <a:ext cx="4041648" cy="1188720"/>
          </a:xfrm>
          <a:prstGeom prst="rect">
            <a:avLst/>
          </a:prstGeom>
          <a:noFill/>
          <a:ln/>
        </p:spPr>
        <p:txBody>
          <a:bodyPr wrap="square" rtlCol="0" anchor="ctr"/>
          <a:lstStyle/>
          <a:p>
            <a:pPr indent="0" marL="0">
              <a:buNone/>
            </a:pPr>
            <a:r>
              <a:rPr lang="en-US" sz="1000" dirty="0">
                <a:solidFill>
                  <a:srgbClr val="CBD5E1"/>
                </a:solidFill>
                <a:latin typeface="Calibri" pitchFamily="34" charset="0"/>
                <a:ea typeface="Calibri" pitchFamily="34" charset="-122"/>
                <a:cs typeface="Calibri" pitchFamily="34" charset="-120"/>
              </a:rPr>
              <a:t>ML algorithms analyse transaction patterns in real time to identify anomalies before they cause damage. These advanced algorithms flag deviations from normal behaviour, protecting customer trust and ensuring financial stability across volatile markets.</a:t>
            </a:r>
            <a:endParaRPr lang="en-US" sz="1000" dirty="0"/>
          </a:p>
        </p:txBody>
      </p:sp>
      <p:sp>
        <p:nvSpPr>
          <p:cNvPr id="17" name="Shape 15"/>
          <p:cNvSpPr/>
          <p:nvPr/>
        </p:nvSpPr>
        <p:spPr>
          <a:xfrm>
            <a:off x="347472" y="3090672"/>
            <a:ext cx="4251960" cy="1783080"/>
          </a:xfrm>
          <a:prstGeom prst="rect">
            <a:avLst/>
          </a:prstGeom>
          <a:solidFill>
            <a:srgbClr val="0A1628"/>
          </a:solidFill>
          <a:ln w="22860">
            <a:solidFill>
              <a:srgbClr val="0D9488"/>
            </a:solidFill>
            <a:prstDash val="solid"/>
          </a:ln>
          <a:effectLst>
            <a:outerShdw sx="100000" sy="100000" kx="0" ky="0" algn="bl" rotWithShape="0" blurRad="101600" dist="38100" dir="8100000">
              <a:srgbClr val="000000">
                <a:alpha val="20000"/>
              </a:srgbClr>
            </a:outerShdw>
          </a:effectLst>
        </p:spPr>
      </p:sp>
      <p:sp>
        <p:nvSpPr>
          <p:cNvPr id="18" name="Shape 16"/>
          <p:cNvSpPr/>
          <p:nvPr/>
        </p:nvSpPr>
        <p:spPr>
          <a:xfrm>
            <a:off x="347472" y="3090672"/>
            <a:ext cx="4251960" cy="457200"/>
          </a:xfrm>
          <a:prstGeom prst="rect">
            <a:avLst/>
          </a:prstGeom>
          <a:solidFill>
            <a:srgbClr val="0D9488"/>
          </a:solidFill>
          <a:ln w="12700">
            <a:solidFill>
              <a:srgbClr val="0D9488"/>
            </a:solidFill>
            <a:prstDash val="solid"/>
          </a:ln>
        </p:spPr>
      </p:sp>
      <p:sp>
        <p:nvSpPr>
          <p:cNvPr id="19" name="Shape 17"/>
          <p:cNvSpPr/>
          <p:nvPr/>
        </p:nvSpPr>
        <p:spPr>
          <a:xfrm>
            <a:off x="457200" y="3182112"/>
            <a:ext cx="329184" cy="329184"/>
          </a:xfrm>
          <a:prstGeom prst="ellipse">
            <a:avLst/>
          </a:prstGeom>
          <a:solidFill>
            <a:srgbClr val="0A1628"/>
          </a:solidFill>
          <a:ln w="12700">
            <a:solidFill>
              <a:srgbClr val="0A1628"/>
            </a:solidFill>
            <a:prstDash val="solid"/>
          </a:ln>
        </p:spPr>
      </p:sp>
      <p:sp>
        <p:nvSpPr>
          <p:cNvPr id="20" name="Text 18"/>
          <p:cNvSpPr/>
          <p:nvPr/>
        </p:nvSpPr>
        <p:spPr>
          <a:xfrm>
            <a:off x="457200" y="3182112"/>
            <a:ext cx="329184" cy="329184"/>
          </a:xfrm>
          <a:prstGeom prst="rect">
            <a:avLst/>
          </a:prstGeom>
          <a:noFill/>
          <a:ln/>
        </p:spPr>
        <p:txBody>
          <a:bodyPr wrap="square" rtlCol="0" anchor="ctr"/>
          <a:lstStyle/>
          <a:p>
            <a:pPr algn="ctr" indent="0" marL="0">
              <a:buNone/>
            </a:pPr>
            <a:r>
              <a:rPr lang="en-US" sz="1000" b="1" dirty="0">
                <a:solidFill>
                  <a:srgbClr val="0D9488"/>
                </a:solidFill>
              </a:rPr>
              <a:t>03</a:t>
            </a:r>
            <a:endParaRPr lang="en-US" sz="1000" dirty="0"/>
          </a:p>
        </p:txBody>
      </p:sp>
      <p:sp>
        <p:nvSpPr>
          <p:cNvPr id="21" name="Text 19"/>
          <p:cNvSpPr/>
          <p:nvPr/>
        </p:nvSpPr>
        <p:spPr>
          <a:xfrm>
            <a:off x="859536" y="3090672"/>
            <a:ext cx="3657600" cy="457200"/>
          </a:xfrm>
          <a:prstGeom prst="rect">
            <a:avLst/>
          </a:prstGeom>
          <a:noFill/>
          <a:ln/>
        </p:spPr>
        <p:txBody>
          <a:bodyPr wrap="square" rtlCol="0" anchor="ctr"/>
          <a:lstStyle/>
          <a:p>
            <a:pPr indent="0" marL="0">
              <a:buNone/>
            </a:pPr>
            <a:r>
              <a:rPr lang="en-US" sz="1250" b="1" dirty="0">
                <a:solidFill>
                  <a:srgbClr val="0A1628"/>
                </a:solidFill>
                <a:latin typeface="Calibri" pitchFamily="34" charset="0"/>
                <a:ea typeface="Calibri" pitchFamily="34" charset="-122"/>
                <a:cs typeface="Calibri" pitchFamily="34" charset="-120"/>
              </a:rPr>
              <a:t>📋  Insurance Underwriting &amp; Claims Analysis</a:t>
            </a:r>
            <a:endParaRPr lang="en-US" sz="1250" dirty="0"/>
          </a:p>
        </p:txBody>
      </p:sp>
      <p:sp>
        <p:nvSpPr>
          <p:cNvPr id="22" name="Text 20"/>
          <p:cNvSpPr/>
          <p:nvPr/>
        </p:nvSpPr>
        <p:spPr>
          <a:xfrm>
            <a:off x="457200" y="3602736"/>
            <a:ext cx="4041648" cy="1188720"/>
          </a:xfrm>
          <a:prstGeom prst="rect">
            <a:avLst/>
          </a:prstGeom>
          <a:noFill/>
          <a:ln/>
        </p:spPr>
        <p:txBody>
          <a:bodyPr wrap="square" rtlCol="0" anchor="ctr"/>
          <a:lstStyle/>
          <a:p>
            <a:pPr indent="0" marL="0">
              <a:buNone/>
            </a:pPr>
            <a:r>
              <a:rPr lang="en-US" sz="1000" dirty="0">
                <a:solidFill>
                  <a:srgbClr val="CBD5E1"/>
                </a:solidFill>
                <a:latin typeface="Calibri" pitchFamily="34" charset="0"/>
                <a:ea typeface="Calibri" pitchFamily="34" charset="-122"/>
                <a:cs typeface="Calibri" pitchFamily="34" charset="-120"/>
              </a:rPr>
              <a:t>Insurers analyse diverse data — credit histories to social media activity — for accurate risk assessment and fair premiums. Claims data mining identifies anomalies indicating potential fraud, ensuring only genuine claims are processed and building policyholder trust.</a:t>
            </a:r>
            <a:endParaRPr lang="en-US" sz="1000" dirty="0"/>
          </a:p>
        </p:txBody>
      </p:sp>
      <p:sp>
        <p:nvSpPr>
          <p:cNvPr id="23" name="Shape 21"/>
          <p:cNvSpPr/>
          <p:nvPr/>
        </p:nvSpPr>
        <p:spPr>
          <a:xfrm>
            <a:off x="4782312" y="3090672"/>
            <a:ext cx="4251960" cy="1783080"/>
          </a:xfrm>
          <a:prstGeom prst="rect">
            <a:avLst/>
          </a:prstGeom>
          <a:solidFill>
            <a:srgbClr val="0A1628"/>
          </a:solidFill>
          <a:ln w="22860">
            <a:solidFill>
              <a:srgbClr val="D4A017"/>
            </a:solidFill>
            <a:prstDash val="solid"/>
          </a:ln>
          <a:effectLst>
            <a:outerShdw sx="100000" sy="100000" kx="0" ky="0" algn="bl" rotWithShape="0" blurRad="101600" dist="38100" dir="8100000">
              <a:srgbClr val="000000">
                <a:alpha val="20000"/>
              </a:srgbClr>
            </a:outerShdw>
          </a:effectLst>
        </p:spPr>
      </p:sp>
      <p:sp>
        <p:nvSpPr>
          <p:cNvPr id="24" name="Shape 22"/>
          <p:cNvSpPr/>
          <p:nvPr/>
        </p:nvSpPr>
        <p:spPr>
          <a:xfrm>
            <a:off x="4782312" y="3090672"/>
            <a:ext cx="4251960" cy="457200"/>
          </a:xfrm>
          <a:prstGeom prst="rect">
            <a:avLst/>
          </a:prstGeom>
          <a:solidFill>
            <a:srgbClr val="D4A017"/>
          </a:solidFill>
          <a:ln w="12700">
            <a:solidFill>
              <a:srgbClr val="D4A017"/>
            </a:solidFill>
            <a:prstDash val="solid"/>
          </a:ln>
        </p:spPr>
      </p:sp>
      <p:sp>
        <p:nvSpPr>
          <p:cNvPr id="25" name="Shape 23"/>
          <p:cNvSpPr/>
          <p:nvPr/>
        </p:nvSpPr>
        <p:spPr>
          <a:xfrm>
            <a:off x="4892040" y="3182112"/>
            <a:ext cx="329184" cy="329184"/>
          </a:xfrm>
          <a:prstGeom prst="ellipse">
            <a:avLst/>
          </a:prstGeom>
          <a:solidFill>
            <a:srgbClr val="0A1628"/>
          </a:solidFill>
          <a:ln w="12700">
            <a:solidFill>
              <a:srgbClr val="0A1628"/>
            </a:solidFill>
            <a:prstDash val="solid"/>
          </a:ln>
        </p:spPr>
      </p:sp>
      <p:sp>
        <p:nvSpPr>
          <p:cNvPr id="26" name="Text 24"/>
          <p:cNvSpPr/>
          <p:nvPr/>
        </p:nvSpPr>
        <p:spPr>
          <a:xfrm>
            <a:off x="4892040" y="3182112"/>
            <a:ext cx="329184" cy="329184"/>
          </a:xfrm>
          <a:prstGeom prst="rect">
            <a:avLst/>
          </a:prstGeom>
          <a:noFill/>
          <a:ln/>
        </p:spPr>
        <p:txBody>
          <a:bodyPr wrap="square" rtlCol="0" anchor="ctr"/>
          <a:lstStyle/>
          <a:p>
            <a:pPr algn="ctr" indent="0" marL="0">
              <a:buNone/>
            </a:pPr>
            <a:r>
              <a:rPr lang="en-US" sz="1000" b="1" dirty="0">
                <a:solidFill>
                  <a:srgbClr val="D4A017"/>
                </a:solidFill>
              </a:rPr>
              <a:t>04</a:t>
            </a:r>
            <a:endParaRPr lang="en-US" sz="1000" dirty="0"/>
          </a:p>
        </p:txBody>
      </p:sp>
      <p:sp>
        <p:nvSpPr>
          <p:cNvPr id="27" name="Text 25"/>
          <p:cNvSpPr/>
          <p:nvPr/>
        </p:nvSpPr>
        <p:spPr>
          <a:xfrm>
            <a:off x="5294376" y="3090672"/>
            <a:ext cx="3657600" cy="457200"/>
          </a:xfrm>
          <a:prstGeom prst="rect">
            <a:avLst/>
          </a:prstGeom>
          <a:noFill/>
          <a:ln/>
        </p:spPr>
        <p:txBody>
          <a:bodyPr wrap="square" rtlCol="0" anchor="ctr"/>
          <a:lstStyle/>
          <a:p>
            <a:pPr indent="0" marL="0">
              <a:buNone/>
            </a:pPr>
            <a:r>
              <a:rPr lang="en-US" sz="1250" b="1" dirty="0">
                <a:solidFill>
                  <a:srgbClr val="0A1628"/>
                </a:solidFill>
                <a:latin typeface="Calibri" pitchFamily="34" charset="0"/>
                <a:ea typeface="Calibri" pitchFamily="34" charset="-122"/>
                <a:cs typeface="Calibri" pitchFamily="34" charset="-120"/>
              </a:rPr>
              <a:t>📉  Churn Prediction &amp; Customer Retention</a:t>
            </a:r>
            <a:endParaRPr lang="en-US" sz="1250" dirty="0"/>
          </a:p>
        </p:txBody>
      </p:sp>
      <p:sp>
        <p:nvSpPr>
          <p:cNvPr id="28" name="Text 26"/>
          <p:cNvSpPr/>
          <p:nvPr/>
        </p:nvSpPr>
        <p:spPr>
          <a:xfrm>
            <a:off x="4892040" y="3602736"/>
            <a:ext cx="4041648" cy="1188720"/>
          </a:xfrm>
          <a:prstGeom prst="rect">
            <a:avLst/>
          </a:prstGeom>
          <a:noFill/>
          <a:ln/>
        </p:spPr>
        <p:txBody>
          <a:bodyPr wrap="square" rtlCol="0" anchor="ctr"/>
          <a:lstStyle/>
          <a:p>
            <a:pPr indent="0" marL="0">
              <a:buNone/>
            </a:pPr>
            <a:r>
              <a:rPr lang="en-US" sz="1000" dirty="0">
                <a:solidFill>
                  <a:srgbClr val="CBD5E1"/>
                </a:solidFill>
                <a:latin typeface="Calibri" pitchFamily="34" charset="0"/>
                <a:ea typeface="Calibri" pitchFamily="34" charset="-122"/>
                <a:cs typeface="Calibri" pitchFamily="34" charset="-120"/>
              </a:rPr>
              <a:t>Analysing engagement patterns identifies at-risk customers before they leave. Institutions can proactively intervene with personalized retention programs and tailored offers, maximizing customer lifetime value and demonstrating genuine commitment to customer needs.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3460"/>
          </a:solidFill>
          <a:ln w="12700">
            <a:solidFill>
              <a:srgbClr val="1A3460"/>
            </a:solidFill>
            <a:prstDash val="solid"/>
          </a:ln>
        </p:spPr>
      </p:sp>
      <p:sp>
        <p:nvSpPr>
          <p:cNvPr id="3" name="Shape 1"/>
          <p:cNvSpPr/>
          <p:nvPr/>
        </p:nvSpPr>
        <p:spPr>
          <a:xfrm>
            <a:off x="0" y="914400"/>
            <a:ext cx="9144000" cy="54864"/>
          </a:xfrm>
          <a:prstGeom prst="rect">
            <a:avLst/>
          </a:prstGeom>
          <a:solidFill>
            <a:srgbClr val="5EEAD4"/>
          </a:solidFill>
          <a:ln w="12700">
            <a:solidFill>
              <a:srgbClr val="5EEAD4"/>
            </a:solidFill>
            <a:prstDash val="solid"/>
          </a:ln>
        </p:spPr>
      </p:sp>
      <p:sp>
        <p:nvSpPr>
          <p:cNvPr id="4" name="Text 2"/>
          <p:cNvSpPr/>
          <p:nvPr/>
        </p:nvSpPr>
        <p:spPr>
          <a:xfrm>
            <a:off x="411480" y="0"/>
            <a:ext cx="8321040" cy="914400"/>
          </a:xfrm>
          <a:prstGeom prst="rect">
            <a:avLst/>
          </a:prstGeom>
          <a:noFill/>
          <a:ln/>
        </p:spPr>
        <p:txBody>
          <a:bodyPr wrap="square" rtlCol="0" anchor="ctr"/>
          <a:lstStyle/>
          <a:p>
            <a:pPr indent="0" marL="0">
              <a:buNone/>
            </a:pPr>
            <a:r>
              <a:rPr lang="en-US" sz="2700" b="1" dirty="0">
                <a:solidFill>
                  <a:srgbClr val="5EEAD4"/>
                </a:solidFill>
                <a:latin typeface="Calibri" pitchFamily="34" charset="0"/>
                <a:ea typeface="Calibri" pitchFamily="34" charset="-122"/>
                <a:cs typeface="Calibri" pitchFamily="34" charset="-120"/>
              </a:rPr>
              <a:t>Use Cases 05–08: Strategy, Compliance &amp; Growth</a:t>
            </a:r>
            <a:endParaRPr lang="en-US" sz="2700" dirty="0"/>
          </a:p>
        </p:txBody>
      </p:sp>
      <p:sp>
        <p:nvSpPr>
          <p:cNvPr id="5" name="Shape 3"/>
          <p:cNvSpPr/>
          <p:nvPr/>
        </p:nvSpPr>
        <p:spPr>
          <a:xfrm>
            <a:off x="274320" y="1060704"/>
            <a:ext cx="4261104" cy="1792224"/>
          </a:xfrm>
          <a:prstGeom prst="rect">
            <a:avLst/>
          </a:prstGeom>
          <a:solidFill>
            <a:srgbClr val="0F2044"/>
          </a:solidFill>
          <a:ln w="22860">
            <a:solidFill>
              <a:srgbClr val="0D9488"/>
            </a:solidFill>
            <a:prstDash val="solid"/>
          </a:ln>
          <a:effectLst>
            <a:outerShdw sx="100000" sy="100000" kx="0" ky="0" algn="bl" rotWithShape="0" blurRad="101600" dist="38100" dir="8100000">
              <a:srgbClr val="000000">
                <a:alpha val="20000"/>
              </a:srgbClr>
            </a:outerShdw>
          </a:effectLst>
        </p:spPr>
      </p:sp>
      <p:sp>
        <p:nvSpPr>
          <p:cNvPr id="6" name="Shape 4"/>
          <p:cNvSpPr/>
          <p:nvPr/>
        </p:nvSpPr>
        <p:spPr>
          <a:xfrm>
            <a:off x="274320" y="1060704"/>
            <a:ext cx="4261104" cy="457200"/>
          </a:xfrm>
          <a:prstGeom prst="rect">
            <a:avLst/>
          </a:prstGeom>
          <a:solidFill>
            <a:srgbClr val="0D9488"/>
          </a:solidFill>
          <a:ln w="12700">
            <a:solidFill>
              <a:srgbClr val="0D9488"/>
            </a:solidFill>
            <a:prstDash val="solid"/>
          </a:ln>
        </p:spPr>
      </p:sp>
      <p:sp>
        <p:nvSpPr>
          <p:cNvPr id="7" name="Shape 5"/>
          <p:cNvSpPr/>
          <p:nvPr/>
        </p:nvSpPr>
        <p:spPr>
          <a:xfrm>
            <a:off x="384048" y="1152144"/>
            <a:ext cx="329184" cy="329184"/>
          </a:xfrm>
          <a:prstGeom prst="ellipse">
            <a:avLst/>
          </a:prstGeom>
          <a:solidFill>
            <a:srgbClr val="0A1628"/>
          </a:solidFill>
          <a:ln w="12700">
            <a:solidFill>
              <a:srgbClr val="0A1628"/>
            </a:solidFill>
            <a:prstDash val="solid"/>
          </a:ln>
        </p:spPr>
      </p:sp>
      <p:sp>
        <p:nvSpPr>
          <p:cNvPr id="8" name="Text 6"/>
          <p:cNvSpPr/>
          <p:nvPr/>
        </p:nvSpPr>
        <p:spPr>
          <a:xfrm>
            <a:off x="384048" y="1152144"/>
            <a:ext cx="329184" cy="329184"/>
          </a:xfrm>
          <a:prstGeom prst="rect">
            <a:avLst/>
          </a:prstGeom>
          <a:noFill/>
          <a:ln/>
        </p:spPr>
        <p:txBody>
          <a:bodyPr wrap="square" rtlCol="0" anchor="ctr"/>
          <a:lstStyle/>
          <a:p>
            <a:pPr algn="ctr" indent="0" marL="0">
              <a:buNone/>
            </a:pPr>
            <a:r>
              <a:rPr lang="en-US" sz="1000" b="1" dirty="0">
                <a:solidFill>
                  <a:srgbClr val="0D9488"/>
                </a:solidFill>
              </a:rPr>
              <a:t>05</a:t>
            </a:r>
            <a:endParaRPr lang="en-US" sz="1000" dirty="0"/>
          </a:p>
        </p:txBody>
      </p:sp>
      <p:sp>
        <p:nvSpPr>
          <p:cNvPr id="9" name="Text 7"/>
          <p:cNvSpPr/>
          <p:nvPr/>
        </p:nvSpPr>
        <p:spPr>
          <a:xfrm>
            <a:off x="786384" y="1060704"/>
            <a:ext cx="3657600" cy="457200"/>
          </a:xfrm>
          <a:prstGeom prst="rect">
            <a:avLst/>
          </a:prstGeom>
          <a:noFill/>
          <a:ln/>
        </p:spPr>
        <p:txBody>
          <a:bodyPr wrap="square" rtlCol="0" anchor="ctr"/>
          <a:lstStyle/>
          <a:p>
            <a:pPr indent="0" marL="0">
              <a:buNone/>
            </a:pPr>
            <a:r>
              <a:rPr lang="en-US" sz="1250" b="1" dirty="0">
                <a:solidFill>
                  <a:srgbClr val="0A1628"/>
                </a:solidFill>
                <a:latin typeface="Calibri" pitchFamily="34" charset="0"/>
                <a:ea typeface="Calibri" pitchFamily="34" charset="-122"/>
                <a:cs typeface="Calibri" pitchFamily="34" charset="-120"/>
              </a:rPr>
              <a:t>📊  Market Trend Analysis &amp; Investment</a:t>
            </a:r>
            <a:endParaRPr lang="en-US" sz="1250" dirty="0"/>
          </a:p>
        </p:txBody>
      </p:sp>
      <p:sp>
        <p:nvSpPr>
          <p:cNvPr id="10" name="Text 8"/>
          <p:cNvSpPr/>
          <p:nvPr/>
        </p:nvSpPr>
        <p:spPr>
          <a:xfrm>
            <a:off x="384048" y="1572768"/>
            <a:ext cx="4041648" cy="1188720"/>
          </a:xfrm>
          <a:prstGeom prst="rect">
            <a:avLst/>
          </a:prstGeom>
          <a:noFill/>
          <a:ln/>
        </p:spPr>
        <p:txBody>
          <a:bodyPr wrap="square" rtlCol="0" anchor="ctr"/>
          <a:lstStyle/>
          <a:p>
            <a:pPr indent="0" marL="0">
              <a:buNone/>
            </a:pPr>
            <a:r>
              <a:rPr lang="en-US" sz="1000" dirty="0">
                <a:solidFill>
                  <a:srgbClr val="CBD5E1"/>
                </a:solidFill>
                <a:latin typeface="Calibri" pitchFamily="34" charset="0"/>
                <a:ea typeface="Calibri" pitchFamily="34" charset="-122"/>
                <a:cs typeface="Calibri" pitchFamily="34" charset="-120"/>
              </a:rPr>
              <a:t>Assess market data — news sentiment, social media trends, historical patterns — to predict future movements. Combines customer insights with market trend analysis to align investment strategies with client risk appetites and maximize returns.</a:t>
            </a:r>
            <a:endParaRPr lang="en-US" sz="1000" dirty="0"/>
          </a:p>
        </p:txBody>
      </p:sp>
      <p:sp>
        <p:nvSpPr>
          <p:cNvPr id="11" name="Shape 9"/>
          <p:cNvSpPr/>
          <p:nvPr/>
        </p:nvSpPr>
        <p:spPr>
          <a:xfrm>
            <a:off x="4736592" y="1060704"/>
            <a:ext cx="4261104" cy="1792224"/>
          </a:xfrm>
          <a:prstGeom prst="rect">
            <a:avLst/>
          </a:prstGeom>
          <a:solidFill>
            <a:srgbClr val="0F2044"/>
          </a:solidFill>
          <a:ln w="22860">
            <a:solidFill>
              <a:srgbClr val="D4A017"/>
            </a:solidFill>
            <a:prstDash val="solid"/>
          </a:ln>
          <a:effectLst>
            <a:outerShdw sx="100000" sy="100000" kx="0" ky="0" algn="bl" rotWithShape="0" blurRad="101600" dist="38100" dir="8100000">
              <a:srgbClr val="000000">
                <a:alpha val="20000"/>
              </a:srgbClr>
            </a:outerShdw>
          </a:effectLst>
        </p:spPr>
      </p:sp>
      <p:sp>
        <p:nvSpPr>
          <p:cNvPr id="12" name="Shape 10"/>
          <p:cNvSpPr/>
          <p:nvPr/>
        </p:nvSpPr>
        <p:spPr>
          <a:xfrm>
            <a:off x="4736592" y="1060704"/>
            <a:ext cx="4261104" cy="457200"/>
          </a:xfrm>
          <a:prstGeom prst="rect">
            <a:avLst/>
          </a:prstGeom>
          <a:solidFill>
            <a:srgbClr val="D4A017"/>
          </a:solidFill>
          <a:ln w="12700">
            <a:solidFill>
              <a:srgbClr val="D4A017"/>
            </a:solidFill>
            <a:prstDash val="solid"/>
          </a:ln>
        </p:spPr>
      </p:sp>
      <p:sp>
        <p:nvSpPr>
          <p:cNvPr id="13" name="Shape 11"/>
          <p:cNvSpPr/>
          <p:nvPr/>
        </p:nvSpPr>
        <p:spPr>
          <a:xfrm>
            <a:off x="4846320" y="1152144"/>
            <a:ext cx="329184" cy="329184"/>
          </a:xfrm>
          <a:prstGeom prst="ellipse">
            <a:avLst/>
          </a:prstGeom>
          <a:solidFill>
            <a:srgbClr val="0A1628"/>
          </a:solidFill>
          <a:ln w="12700">
            <a:solidFill>
              <a:srgbClr val="0A1628"/>
            </a:solidFill>
            <a:prstDash val="solid"/>
          </a:ln>
        </p:spPr>
      </p:sp>
      <p:sp>
        <p:nvSpPr>
          <p:cNvPr id="14" name="Text 12"/>
          <p:cNvSpPr/>
          <p:nvPr/>
        </p:nvSpPr>
        <p:spPr>
          <a:xfrm>
            <a:off x="4846320" y="1152144"/>
            <a:ext cx="329184" cy="329184"/>
          </a:xfrm>
          <a:prstGeom prst="rect">
            <a:avLst/>
          </a:prstGeom>
          <a:noFill/>
          <a:ln/>
        </p:spPr>
        <p:txBody>
          <a:bodyPr wrap="square" rtlCol="0" anchor="ctr"/>
          <a:lstStyle/>
          <a:p>
            <a:pPr algn="ctr" indent="0" marL="0">
              <a:buNone/>
            </a:pPr>
            <a:r>
              <a:rPr lang="en-US" sz="1000" b="1" dirty="0">
                <a:solidFill>
                  <a:srgbClr val="F5C842"/>
                </a:solidFill>
              </a:rPr>
              <a:t>06</a:t>
            </a:r>
            <a:endParaRPr lang="en-US" sz="1000" dirty="0"/>
          </a:p>
        </p:txBody>
      </p:sp>
      <p:sp>
        <p:nvSpPr>
          <p:cNvPr id="15" name="Text 13"/>
          <p:cNvSpPr/>
          <p:nvPr/>
        </p:nvSpPr>
        <p:spPr>
          <a:xfrm>
            <a:off x="5248656" y="1060704"/>
            <a:ext cx="3657600" cy="457200"/>
          </a:xfrm>
          <a:prstGeom prst="rect">
            <a:avLst/>
          </a:prstGeom>
          <a:noFill/>
          <a:ln/>
        </p:spPr>
        <p:txBody>
          <a:bodyPr wrap="square" rtlCol="0" anchor="ctr"/>
          <a:lstStyle/>
          <a:p>
            <a:pPr indent="0" marL="0">
              <a:buNone/>
            </a:pPr>
            <a:r>
              <a:rPr lang="en-US" sz="1250" b="1" dirty="0">
                <a:solidFill>
                  <a:srgbClr val="0A1628"/>
                </a:solidFill>
                <a:latin typeface="Calibri" pitchFamily="34" charset="0"/>
                <a:ea typeface="Calibri" pitchFamily="34" charset="-122"/>
                <a:cs typeface="Calibri" pitchFamily="34" charset="-120"/>
              </a:rPr>
              <a:t>💲  Dynamic Pricing &amp; Product Optimisation</a:t>
            </a:r>
            <a:endParaRPr lang="en-US" sz="1250" dirty="0"/>
          </a:p>
        </p:txBody>
      </p:sp>
      <p:sp>
        <p:nvSpPr>
          <p:cNvPr id="16" name="Text 14"/>
          <p:cNvSpPr/>
          <p:nvPr/>
        </p:nvSpPr>
        <p:spPr>
          <a:xfrm>
            <a:off x="4846320" y="1572768"/>
            <a:ext cx="4041648" cy="1188720"/>
          </a:xfrm>
          <a:prstGeom prst="rect">
            <a:avLst/>
          </a:prstGeom>
          <a:noFill/>
          <a:ln/>
        </p:spPr>
        <p:txBody>
          <a:bodyPr wrap="square" rtlCol="0" anchor="ctr"/>
          <a:lstStyle/>
          <a:p>
            <a:pPr indent="0" marL="0">
              <a:buNone/>
            </a:pPr>
            <a:r>
              <a:rPr lang="en-US" sz="1000" dirty="0">
                <a:solidFill>
                  <a:srgbClr val="CBD5E1"/>
                </a:solidFill>
                <a:latin typeface="Calibri" pitchFamily="34" charset="0"/>
                <a:ea typeface="Calibri" pitchFamily="34" charset="-122"/>
                <a:cs typeface="Calibri" pitchFamily="34" charset="-120"/>
              </a:rPr>
              <a:t>Real-time analysis of customer preferences, competition, and market dynamics enables dynamic pricing adjustments. Analysis of feedback and transaction data also drives development of innovative products addressing unmet customer needs.</a:t>
            </a:r>
            <a:endParaRPr lang="en-US" sz="1000" dirty="0"/>
          </a:p>
        </p:txBody>
      </p:sp>
      <p:sp>
        <p:nvSpPr>
          <p:cNvPr id="17" name="Shape 15"/>
          <p:cNvSpPr/>
          <p:nvPr/>
        </p:nvSpPr>
        <p:spPr>
          <a:xfrm>
            <a:off x="274320" y="2999232"/>
            <a:ext cx="4261104" cy="1792224"/>
          </a:xfrm>
          <a:prstGeom prst="rect">
            <a:avLst/>
          </a:prstGeom>
          <a:solidFill>
            <a:srgbClr val="0F2044"/>
          </a:solidFill>
          <a:ln w="22860">
            <a:solidFill>
              <a:srgbClr val="1D4ED8"/>
            </a:solidFill>
            <a:prstDash val="solid"/>
          </a:ln>
          <a:effectLst>
            <a:outerShdw sx="100000" sy="100000" kx="0" ky="0" algn="bl" rotWithShape="0" blurRad="101600" dist="38100" dir="8100000">
              <a:srgbClr val="000000">
                <a:alpha val="20000"/>
              </a:srgbClr>
            </a:outerShdw>
          </a:effectLst>
        </p:spPr>
      </p:sp>
      <p:sp>
        <p:nvSpPr>
          <p:cNvPr id="18" name="Shape 16"/>
          <p:cNvSpPr/>
          <p:nvPr/>
        </p:nvSpPr>
        <p:spPr>
          <a:xfrm>
            <a:off x="274320" y="2999232"/>
            <a:ext cx="4261104" cy="457200"/>
          </a:xfrm>
          <a:prstGeom prst="rect">
            <a:avLst/>
          </a:prstGeom>
          <a:solidFill>
            <a:srgbClr val="1D4ED8"/>
          </a:solidFill>
          <a:ln w="12700">
            <a:solidFill>
              <a:srgbClr val="1D4ED8"/>
            </a:solidFill>
            <a:prstDash val="solid"/>
          </a:ln>
        </p:spPr>
      </p:sp>
      <p:sp>
        <p:nvSpPr>
          <p:cNvPr id="19" name="Shape 17"/>
          <p:cNvSpPr/>
          <p:nvPr/>
        </p:nvSpPr>
        <p:spPr>
          <a:xfrm>
            <a:off x="384048" y="3090672"/>
            <a:ext cx="329184" cy="329184"/>
          </a:xfrm>
          <a:prstGeom prst="ellipse">
            <a:avLst/>
          </a:prstGeom>
          <a:solidFill>
            <a:srgbClr val="0A1628"/>
          </a:solidFill>
          <a:ln w="12700">
            <a:solidFill>
              <a:srgbClr val="0A1628"/>
            </a:solidFill>
            <a:prstDash val="solid"/>
          </a:ln>
        </p:spPr>
      </p:sp>
      <p:sp>
        <p:nvSpPr>
          <p:cNvPr id="20" name="Text 18"/>
          <p:cNvSpPr/>
          <p:nvPr/>
        </p:nvSpPr>
        <p:spPr>
          <a:xfrm>
            <a:off x="384048" y="3090672"/>
            <a:ext cx="329184" cy="329184"/>
          </a:xfrm>
          <a:prstGeom prst="rect">
            <a:avLst/>
          </a:prstGeom>
          <a:noFill/>
          <a:ln/>
        </p:spPr>
        <p:txBody>
          <a:bodyPr wrap="square" rtlCol="0" anchor="ctr"/>
          <a:lstStyle/>
          <a:p>
            <a:pPr algn="ctr" indent="0" marL="0">
              <a:buNone/>
            </a:pPr>
            <a:r>
              <a:rPr lang="en-US" sz="1000" b="1" dirty="0">
                <a:solidFill>
                  <a:srgbClr val="1D4ED8"/>
                </a:solidFill>
              </a:rPr>
              <a:t>07</a:t>
            </a:r>
            <a:endParaRPr lang="en-US" sz="1000" dirty="0"/>
          </a:p>
        </p:txBody>
      </p:sp>
      <p:sp>
        <p:nvSpPr>
          <p:cNvPr id="21" name="Text 19"/>
          <p:cNvSpPr/>
          <p:nvPr/>
        </p:nvSpPr>
        <p:spPr>
          <a:xfrm>
            <a:off x="786384" y="2999232"/>
            <a:ext cx="3657600" cy="457200"/>
          </a:xfrm>
          <a:prstGeom prst="rect">
            <a:avLst/>
          </a:prstGeom>
          <a:noFill/>
          <a:ln/>
        </p:spPr>
        <p:txBody>
          <a:bodyPr wrap="square" rtlCol="0" anchor="ctr"/>
          <a:lstStyle/>
          <a:p>
            <a:pPr indent="0" marL="0">
              <a:buNone/>
            </a:pPr>
            <a:r>
              <a:rPr lang="en-US" sz="1250" b="1" dirty="0">
                <a:solidFill>
                  <a:srgbClr val="0A1628"/>
                </a:solidFill>
                <a:latin typeface="Calibri" pitchFamily="34" charset="0"/>
                <a:ea typeface="Calibri" pitchFamily="34" charset="-122"/>
                <a:cs typeface="Calibri" pitchFamily="34" charset="-120"/>
              </a:rPr>
              <a:t>⚖️  Automated Regulatory Compliance</a:t>
            </a:r>
            <a:endParaRPr lang="en-US" sz="1250" dirty="0"/>
          </a:p>
        </p:txBody>
      </p:sp>
      <p:sp>
        <p:nvSpPr>
          <p:cNvPr id="22" name="Text 20"/>
          <p:cNvSpPr/>
          <p:nvPr/>
        </p:nvSpPr>
        <p:spPr>
          <a:xfrm>
            <a:off x="384048" y="3511296"/>
            <a:ext cx="4041648" cy="1188720"/>
          </a:xfrm>
          <a:prstGeom prst="rect">
            <a:avLst/>
          </a:prstGeom>
          <a:noFill/>
          <a:ln/>
        </p:spPr>
        <p:txBody>
          <a:bodyPr wrap="square" rtlCol="0" anchor="ctr"/>
          <a:lstStyle/>
          <a:p>
            <a:pPr indent="0" marL="0">
              <a:buNone/>
            </a:pPr>
            <a:r>
              <a:rPr lang="en-US" sz="1000" dirty="0">
                <a:solidFill>
                  <a:srgbClr val="CBD5E1"/>
                </a:solidFill>
                <a:latin typeface="Calibri" pitchFamily="34" charset="0"/>
                <a:ea typeface="Calibri" pitchFamily="34" charset="-122"/>
                <a:cs typeface="Calibri" pitchFamily="34" charset="-120"/>
              </a:rPr>
              <a:t>Continuous monitoring identifies patterns, anomalies, and deviations signalling non-compliance. Algorithms auto-update monitoring parameters when regulations change and create audit trails — ensuring compliance frameworks remain current.</a:t>
            </a:r>
            <a:endParaRPr lang="en-US" sz="1000" dirty="0"/>
          </a:p>
        </p:txBody>
      </p:sp>
      <p:sp>
        <p:nvSpPr>
          <p:cNvPr id="23" name="Shape 21"/>
          <p:cNvSpPr/>
          <p:nvPr/>
        </p:nvSpPr>
        <p:spPr>
          <a:xfrm>
            <a:off x="4736592" y="2999232"/>
            <a:ext cx="4261104" cy="1792224"/>
          </a:xfrm>
          <a:prstGeom prst="rect">
            <a:avLst/>
          </a:prstGeom>
          <a:solidFill>
            <a:srgbClr val="0F2044"/>
          </a:solidFill>
          <a:ln w="22860">
            <a:solidFill>
              <a:srgbClr val="5EEAD4"/>
            </a:solidFill>
            <a:prstDash val="solid"/>
          </a:ln>
          <a:effectLst>
            <a:outerShdw sx="100000" sy="100000" kx="0" ky="0" algn="bl" rotWithShape="0" blurRad="101600" dist="38100" dir="8100000">
              <a:srgbClr val="000000">
                <a:alpha val="20000"/>
              </a:srgbClr>
            </a:outerShdw>
          </a:effectLst>
        </p:spPr>
      </p:sp>
      <p:sp>
        <p:nvSpPr>
          <p:cNvPr id="24" name="Shape 22"/>
          <p:cNvSpPr/>
          <p:nvPr/>
        </p:nvSpPr>
        <p:spPr>
          <a:xfrm>
            <a:off x="4736592" y="2999232"/>
            <a:ext cx="4261104" cy="457200"/>
          </a:xfrm>
          <a:prstGeom prst="rect">
            <a:avLst/>
          </a:prstGeom>
          <a:solidFill>
            <a:srgbClr val="5EEAD4"/>
          </a:solidFill>
          <a:ln w="12700">
            <a:solidFill>
              <a:srgbClr val="5EEAD4"/>
            </a:solidFill>
            <a:prstDash val="solid"/>
          </a:ln>
        </p:spPr>
      </p:sp>
      <p:sp>
        <p:nvSpPr>
          <p:cNvPr id="25" name="Shape 23"/>
          <p:cNvSpPr/>
          <p:nvPr/>
        </p:nvSpPr>
        <p:spPr>
          <a:xfrm>
            <a:off x="4846320" y="3090672"/>
            <a:ext cx="329184" cy="329184"/>
          </a:xfrm>
          <a:prstGeom prst="ellipse">
            <a:avLst/>
          </a:prstGeom>
          <a:solidFill>
            <a:srgbClr val="0A1628"/>
          </a:solidFill>
          <a:ln w="12700">
            <a:solidFill>
              <a:srgbClr val="0A1628"/>
            </a:solidFill>
            <a:prstDash val="solid"/>
          </a:ln>
        </p:spPr>
      </p:sp>
      <p:sp>
        <p:nvSpPr>
          <p:cNvPr id="26" name="Text 24"/>
          <p:cNvSpPr/>
          <p:nvPr/>
        </p:nvSpPr>
        <p:spPr>
          <a:xfrm>
            <a:off x="4846320" y="3090672"/>
            <a:ext cx="329184" cy="329184"/>
          </a:xfrm>
          <a:prstGeom prst="rect">
            <a:avLst/>
          </a:prstGeom>
          <a:noFill/>
          <a:ln/>
        </p:spPr>
        <p:txBody>
          <a:bodyPr wrap="square" rtlCol="0" anchor="ctr"/>
          <a:lstStyle/>
          <a:p>
            <a:pPr algn="ctr" indent="0" marL="0">
              <a:buNone/>
            </a:pPr>
            <a:r>
              <a:rPr lang="en-US" sz="1000" b="1" dirty="0">
                <a:solidFill>
                  <a:srgbClr val="5EEAD4"/>
                </a:solidFill>
              </a:rPr>
              <a:t>08</a:t>
            </a:r>
            <a:endParaRPr lang="en-US" sz="1000" dirty="0"/>
          </a:p>
        </p:txBody>
      </p:sp>
      <p:sp>
        <p:nvSpPr>
          <p:cNvPr id="27" name="Text 25"/>
          <p:cNvSpPr/>
          <p:nvPr/>
        </p:nvSpPr>
        <p:spPr>
          <a:xfrm>
            <a:off x="5248656" y="2999232"/>
            <a:ext cx="3657600" cy="457200"/>
          </a:xfrm>
          <a:prstGeom prst="rect">
            <a:avLst/>
          </a:prstGeom>
          <a:noFill/>
          <a:ln/>
        </p:spPr>
        <p:txBody>
          <a:bodyPr wrap="square" rtlCol="0" anchor="ctr"/>
          <a:lstStyle/>
          <a:p>
            <a:pPr indent="0" marL="0">
              <a:buNone/>
            </a:pPr>
            <a:r>
              <a:rPr lang="en-US" sz="1250" b="1" dirty="0">
                <a:solidFill>
                  <a:srgbClr val="0A1628"/>
                </a:solidFill>
                <a:latin typeface="Calibri" pitchFamily="34" charset="0"/>
                <a:ea typeface="Calibri" pitchFamily="34" charset="-122"/>
                <a:cs typeface="Calibri" pitchFamily="34" charset="-120"/>
              </a:rPr>
              <a:t>🎯  Customer Segmentation &amp; Targeted Marketing</a:t>
            </a:r>
            <a:endParaRPr lang="en-US" sz="1250" dirty="0"/>
          </a:p>
        </p:txBody>
      </p:sp>
      <p:sp>
        <p:nvSpPr>
          <p:cNvPr id="28" name="Text 26"/>
          <p:cNvSpPr/>
          <p:nvPr/>
        </p:nvSpPr>
        <p:spPr>
          <a:xfrm>
            <a:off x="4846320" y="3511296"/>
            <a:ext cx="4041648" cy="1188720"/>
          </a:xfrm>
          <a:prstGeom prst="rect">
            <a:avLst/>
          </a:prstGeom>
          <a:noFill/>
          <a:ln/>
        </p:spPr>
        <p:txBody>
          <a:bodyPr wrap="square" rtlCol="0" anchor="ctr"/>
          <a:lstStyle/>
          <a:p>
            <a:pPr indent="0" marL="0">
              <a:buNone/>
            </a:pPr>
            <a:r>
              <a:rPr lang="en-US" sz="1000" dirty="0">
                <a:solidFill>
                  <a:srgbClr val="CBD5E1"/>
                </a:solidFill>
                <a:latin typeface="Calibri" pitchFamily="34" charset="0"/>
                <a:ea typeface="Calibri" pitchFamily="34" charset="-122"/>
                <a:cs typeface="Calibri" pitchFamily="34" charset="-120"/>
              </a:rPr>
              <a:t>Segments customers by behaviour, preferences, and demographics from transaction histories, interactions, and engagement patterns. Enables FIs to reach customers with the right content, at the right time, through their preferred channels.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C"/>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A1628"/>
          </a:solidFill>
          <a:ln w="12700">
            <a:solidFill>
              <a:srgbClr val="0A1628"/>
            </a:solidFill>
            <a:prstDash val="solid"/>
          </a:ln>
        </p:spPr>
      </p:sp>
      <p:sp>
        <p:nvSpPr>
          <p:cNvPr id="3" name="Shape 1"/>
          <p:cNvSpPr/>
          <p:nvPr/>
        </p:nvSpPr>
        <p:spPr>
          <a:xfrm>
            <a:off x="0" y="960120"/>
            <a:ext cx="9144000" cy="64008"/>
          </a:xfrm>
          <a:prstGeom prst="rect">
            <a:avLst/>
          </a:prstGeom>
          <a:solidFill>
            <a:srgbClr val="F5C842"/>
          </a:solidFill>
          <a:ln w="12700">
            <a:solidFill>
              <a:srgbClr val="F5C842"/>
            </a:solidFill>
            <a:prstDash val="solid"/>
          </a:ln>
        </p:spPr>
      </p:sp>
      <p:sp>
        <p:nvSpPr>
          <p:cNvPr id="4" name="Text 2"/>
          <p:cNvSpPr/>
          <p:nvPr/>
        </p:nvSpPr>
        <p:spPr>
          <a:xfrm>
            <a:off x="411480" y="0"/>
            <a:ext cx="8321040" cy="960120"/>
          </a:xfrm>
          <a:prstGeom prst="rect">
            <a:avLst/>
          </a:prstGeom>
          <a:noFill/>
          <a:ln/>
        </p:spPr>
        <p:txBody>
          <a:bodyPr wrap="square" rtlCol="0" anchor="ctr"/>
          <a:lstStyle/>
          <a:p>
            <a:pPr indent="0" marL="0">
              <a:buNone/>
            </a:pPr>
            <a:r>
              <a:rPr lang="en-US" sz="2500" b="1" dirty="0">
                <a:solidFill>
                  <a:srgbClr val="F5C842"/>
                </a:solidFill>
                <a:latin typeface="Calibri" pitchFamily="34" charset="0"/>
                <a:ea typeface="Calibri" pitchFamily="34" charset="-122"/>
                <a:cs typeface="Calibri" pitchFamily="34" charset="-120"/>
              </a:rPr>
              <a:t>Use Cases 09–12: Intelligence, Efficiency &amp; Experience</a:t>
            </a:r>
            <a:endParaRPr lang="en-US" sz="2500" dirty="0"/>
          </a:p>
        </p:txBody>
      </p:sp>
      <p:sp>
        <p:nvSpPr>
          <p:cNvPr id="5" name="Shape 3"/>
          <p:cNvSpPr/>
          <p:nvPr/>
        </p:nvSpPr>
        <p:spPr>
          <a:xfrm>
            <a:off x="347472" y="1170432"/>
            <a:ext cx="4251960" cy="1783080"/>
          </a:xfrm>
          <a:prstGeom prst="rect">
            <a:avLst/>
          </a:prstGeom>
          <a:solidFill>
            <a:srgbClr val="0A1628"/>
          </a:solidFill>
          <a:ln w="22860">
            <a:solidFill>
              <a:srgbClr val="0D9488"/>
            </a:solidFill>
            <a:prstDash val="solid"/>
          </a:ln>
          <a:effectLst>
            <a:outerShdw sx="100000" sy="100000" kx="0" ky="0" algn="bl" rotWithShape="0" blurRad="101600" dist="38100" dir="8100000">
              <a:srgbClr val="000000">
                <a:alpha val="20000"/>
              </a:srgbClr>
            </a:outerShdw>
          </a:effectLst>
        </p:spPr>
      </p:sp>
      <p:sp>
        <p:nvSpPr>
          <p:cNvPr id="6" name="Shape 4"/>
          <p:cNvSpPr/>
          <p:nvPr/>
        </p:nvSpPr>
        <p:spPr>
          <a:xfrm>
            <a:off x="347472" y="1170432"/>
            <a:ext cx="4251960" cy="457200"/>
          </a:xfrm>
          <a:prstGeom prst="rect">
            <a:avLst/>
          </a:prstGeom>
          <a:solidFill>
            <a:srgbClr val="0D9488"/>
          </a:solidFill>
          <a:ln w="12700">
            <a:solidFill>
              <a:srgbClr val="0D9488"/>
            </a:solidFill>
            <a:prstDash val="solid"/>
          </a:ln>
        </p:spPr>
      </p:sp>
      <p:sp>
        <p:nvSpPr>
          <p:cNvPr id="7" name="Shape 5"/>
          <p:cNvSpPr/>
          <p:nvPr/>
        </p:nvSpPr>
        <p:spPr>
          <a:xfrm>
            <a:off x="457200" y="1261872"/>
            <a:ext cx="329184" cy="329184"/>
          </a:xfrm>
          <a:prstGeom prst="ellipse">
            <a:avLst/>
          </a:prstGeom>
          <a:solidFill>
            <a:srgbClr val="0A1628"/>
          </a:solidFill>
          <a:ln w="12700">
            <a:solidFill>
              <a:srgbClr val="0A1628"/>
            </a:solidFill>
            <a:prstDash val="solid"/>
          </a:ln>
        </p:spPr>
      </p:sp>
      <p:sp>
        <p:nvSpPr>
          <p:cNvPr id="8" name="Text 6"/>
          <p:cNvSpPr/>
          <p:nvPr/>
        </p:nvSpPr>
        <p:spPr>
          <a:xfrm>
            <a:off x="457200" y="1261872"/>
            <a:ext cx="329184" cy="329184"/>
          </a:xfrm>
          <a:prstGeom prst="rect">
            <a:avLst/>
          </a:prstGeom>
          <a:noFill/>
          <a:ln/>
        </p:spPr>
        <p:txBody>
          <a:bodyPr wrap="square" rtlCol="0" anchor="ctr"/>
          <a:lstStyle/>
          <a:p>
            <a:pPr algn="ctr" indent="0" marL="0">
              <a:buNone/>
            </a:pPr>
            <a:r>
              <a:rPr lang="en-US" sz="1000" b="1" dirty="0">
                <a:solidFill>
                  <a:srgbClr val="0D9488"/>
                </a:solidFill>
              </a:rPr>
              <a:t>09</a:t>
            </a:r>
            <a:endParaRPr lang="en-US" sz="1000" dirty="0"/>
          </a:p>
        </p:txBody>
      </p:sp>
      <p:sp>
        <p:nvSpPr>
          <p:cNvPr id="9" name="Text 7"/>
          <p:cNvSpPr/>
          <p:nvPr/>
        </p:nvSpPr>
        <p:spPr>
          <a:xfrm>
            <a:off x="859536" y="1170432"/>
            <a:ext cx="3657600" cy="457200"/>
          </a:xfrm>
          <a:prstGeom prst="rect">
            <a:avLst/>
          </a:prstGeom>
          <a:noFill/>
          <a:ln/>
        </p:spPr>
        <p:txBody>
          <a:bodyPr wrap="square" rtlCol="0" anchor="ctr"/>
          <a:lstStyle/>
          <a:p>
            <a:pPr indent="0" marL="0">
              <a:buNone/>
            </a:pPr>
            <a:r>
              <a:rPr lang="en-US" sz="1250" b="1" dirty="0">
                <a:solidFill>
                  <a:srgbClr val="0A1628"/>
                </a:solidFill>
                <a:latin typeface="Calibri" pitchFamily="34" charset="0"/>
                <a:ea typeface="Calibri" pitchFamily="34" charset="-122"/>
                <a:cs typeface="Calibri" pitchFamily="34" charset="-120"/>
              </a:rPr>
              <a:t>📁  Predictive Analytics for Asset Management</a:t>
            </a:r>
            <a:endParaRPr lang="en-US" sz="1250" dirty="0"/>
          </a:p>
        </p:txBody>
      </p:sp>
      <p:sp>
        <p:nvSpPr>
          <p:cNvPr id="10" name="Text 8"/>
          <p:cNvSpPr/>
          <p:nvPr/>
        </p:nvSpPr>
        <p:spPr>
          <a:xfrm>
            <a:off x="457200" y="1682496"/>
            <a:ext cx="4041648" cy="1188720"/>
          </a:xfrm>
          <a:prstGeom prst="rect">
            <a:avLst/>
          </a:prstGeom>
          <a:noFill/>
          <a:ln/>
        </p:spPr>
        <p:txBody>
          <a:bodyPr wrap="square" rtlCol="0" anchor="ctr"/>
          <a:lstStyle/>
          <a:p>
            <a:pPr indent="0" marL="0">
              <a:buNone/>
            </a:pPr>
            <a:r>
              <a:rPr lang="en-US" sz="1000" dirty="0">
                <a:solidFill>
                  <a:srgbClr val="CBD5E1"/>
                </a:solidFill>
                <a:latin typeface="Calibri" pitchFamily="34" charset="0"/>
                <a:ea typeface="Calibri" pitchFamily="34" charset="-122"/>
                <a:cs typeface="Calibri" pitchFamily="34" charset="-120"/>
              </a:rPr>
              <a:t>Predictive modelling on vast datasets uncovers patterns in historical market data for future asset performance. Real-time data analysis enables dynamic portfolio adjustments, helping asset managers navigate market complexity with agility and precision.</a:t>
            </a:r>
            <a:endParaRPr lang="en-US" sz="1000" dirty="0"/>
          </a:p>
        </p:txBody>
      </p:sp>
      <p:sp>
        <p:nvSpPr>
          <p:cNvPr id="11" name="Shape 9"/>
          <p:cNvSpPr/>
          <p:nvPr/>
        </p:nvSpPr>
        <p:spPr>
          <a:xfrm>
            <a:off x="4782312" y="1170432"/>
            <a:ext cx="4251960" cy="1783080"/>
          </a:xfrm>
          <a:prstGeom prst="rect">
            <a:avLst/>
          </a:prstGeom>
          <a:solidFill>
            <a:srgbClr val="0A1628"/>
          </a:solidFill>
          <a:ln w="22860">
            <a:solidFill>
              <a:srgbClr val="1D4ED8"/>
            </a:solidFill>
            <a:prstDash val="solid"/>
          </a:ln>
          <a:effectLst>
            <a:outerShdw sx="100000" sy="100000" kx="0" ky="0" algn="bl" rotWithShape="0" blurRad="101600" dist="38100" dir="8100000">
              <a:srgbClr val="000000">
                <a:alpha val="20000"/>
              </a:srgbClr>
            </a:outerShdw>
          </a:effectLst>
        </p:spPr>
      </p:sp>
      <p:sp>
        <p:nvSpPr>
          <p:cNvPr id="12" name="Shape 10"/>
          <p:cNvSpPr/>
          <p:nvPr/>
        </p:nvSpPr>
        <p:spPr>
          <a:xfrm>
            <a:off x="4782312" y="1170432"/>
            <a:ext cx="4251960" cy="457200"/>
          </a:xfrm>
          <a:prstGeom prst="rect">
            <a:avLst/>
          </a:prstGeom>
          <a:solidFill>
            <a:srgbClr val="1D4ED8"/>
          </a:solidFill>
          <a:ln w="12700">
            <a:solidFill>
              <a:srgbClr val="1D4ED8"/>
            </a:solidFill>
            <a:prstDash val="solid"/>
          </a:ln>
        </p:spPr>
      </p:sp>
      <p:sp>
        <p:nvSpPr>
          <p:cNvPr id="13" name="Shape 11"/>
          <p:cNvSpPr/>
          <p:nvPr/>
        </p:nvSpPr>
        <p:spPr>
          <a:xfrm>
            <a:off x="4892040" y="1261872"/>
            <a:ext cx="329184" cy="329184"/>
          </a:xfrm>
          <a:prstGeom prst="ellipse">
            <a:avLst/>
          </a:prstGeom>
          <a:solidFill>
            <a:srgbClr val="0A1628"/>
          </a:solidFill>
          <a:ln w="12700">
            <a:solidFill>
              <a:srgbClr val="0A1628"/>
            </a:solidFill>
            <a:prstDash val="solid"/>
          </a:ln>
        </p:spPr>
      </p:sp>
      <p:sp>
        <p:nvSpPr>
          <p:cNvPr id="14" name="Text 12"/>
          <p:cNvSpPr/>
          <p:nvPr/>
        </p:nvSpPr>
        <p:spPr>
          <a:xfrm>
            <a:off x="4892040" y="1261872"/>
            <a:ext cx="329184" cy="329184"/>
          </a:xfrm>
          <a:prstGeom prst="rect">
            <a:avLst/>
          </a:prstGeom>
          <a:noFill/>
          <a:ln/>
        </p:spPr>
        <p:txBody>
          <a:bodyPr wrap="square" rtlCol="0" anchor="ctr"/>
          <a:lstStyle/>
          <a:p>
            <a:pPr algn="ctr" indent="0" marL="0">
              <a:buNone/>
            </a:pPr>
            <a:r>
              <a:rPr lang="en-US" sz="1000" b="1" dirty="0">
                <a:solidFill>
                  <a:srgbClr val="1D4ED8"/>
                </a:solidFill>
              </a:rPr>
              <a:t>10</a:t>
            </a:r>
            <a:endParaRPr lang="en-US" sz="1000" dirty="0"/>
          </a:p>
        </p:txBody>
      </p:sp>
      <p:sp>
        <p:nvSpPr>
          <p:cNvPr id="15" name="Text 13"/>
          <p:cNvSpPr/>
          <p:nvPr/>
        </p:nvSpPr>
        <p:spPr>
          <a:xfrm>
            <a:off x="5294376" y="1170432"/>
            <a:ext cx="3657600" cy="457200"/>
          </a:xfrm>
          <a:prstGeom prst="rect">
            <a:avLst/>
          </a:prstGeom>
          <a:noFill/>
          <a:ln/>
        </p:spPr>
        <p:txBody>
          <a:bodyPr wrap="square" rtlCol="0" anchor="ctr"/>
          <a:lstStyle/>
          <a:p>
            <a:pPr indent="0" marL="0">
              <a:buNone/>
            </a:pPr>
            <a:r>
              <a:rPr lang="en-US" sz="1250" b="1" dirty="0">
                <a:solidFill>
                  <a:srgbClr val="0A1628"/>
                </a:solidFill>
                <a:latin typeface="Calibri" pitchFamily="34" charset="0"/>
                <a:ea typeface="Calibri" pitchFamily="34" charset="-122"/>
                <a:cs typeface="Calibri" pitchFamily="34" charset="-120"/>
              </a:rPr>
              <a:t>👤  Personalised Financial Planning</a:t>
            </a:r>
            <a:endParaRPr lang="en-US" sz="1250" dirty="0"/>
          </a:p>
        </p:txBody>
      </p:sp>
      <p:sp>
        <p:nvSpPr>
          <p:cNvPr id="16" name="Text 14"/>
          <p:cNvSpPr/>
          <p:nvPr/>
        </p:nvSpPr>
        <p:spPr>
          <a:xfrm>
            <a:off x="4892040" y="1682496"/>
            <a:ext cx="4041648" cy="1188720"/>
          </a:xfrm>
          <a:prstGeom prst="rect">
            <a:avLst/>
          </a:prstGeom>
          <a:noFill/>
          <a:ln/>
        </p:spPr>
        <p:txBody>
          <a:bodyPr wrap="square" rtlCol="0" anchor="ctr"/>
          <a:lstStyle/>
          <a:p>
            <a:pPr indent="0" marL="0">
              <a:buNone/>
            </a:pPr>
            <a:r>
              <a:rPr lang="en-US" sz="1000" dirty="0">
                <a:solidFill>
                  <a:srgbClr val="CBD5E1"/>
                </a:solidFill>
                <a:latin typeface="Calibri" pitchFamily="34" charset="0"/>
                <a:ea typeface="Calibri" pitchFamily="34" charset="-122"/>
                <a:cs typeface="Calibri" pitchFamily="34" charset="-120"/>
              </a:rPr>
              <a:t>In-depth insights into customer behaviour and preferences enable tailored financial planning advice and investment recommendations — identifying preferred investment vehicles, risk tolerance levels, and individual financial goals for each client.</a:t>
            </a:r>
            <a:endParaRPr lang="en-US" sz="1000" dirty="0"/>
          </a:p>
        </p:txBody>
      </p:sp>
      <p:sp>
        <p:nvSpPr>
          <p:cNvPr id="17" name="Shape 15"/>
          <p:cNvSpPr/>
          <p:nvPr/>
        </p:nvSpPr>
        <p:spPr>
          <a:xfrm>
            <a:off x="347472" y="3090672"/>
            <a:ext cx="4251960" cy="1783080"/>
          </a:xfrm>
          <a:prstGeom prst="rect">
            <a:avLst/>
          </a:prstGeom>
          <a:solidFill>
            <a:srgbClr val="0A1628"/>
          </a:solidFill>
          <a:ln w="22860">
            <a:solidFill>
              <a:srgbClr val="D4A017"/>
            </a:solidFill>
            <a:prstDash val="solid"/>
          </a:ln>
          <a:effectLst>
            <a:outerShdw sx="100000" sy="100000" kx="0" ky="0" algn="bl" rotWithShape="0" blurRad="101600" dist="38100" dir="8100000">
              <a:srgbClr val="000000">
                <a:alpha val="20000"/>
              </a:srgbClr>
            </a:outerShdw>
          </a:effectLst>
        </p:spPr>
      </p:sp>
      <p:sp>
        <p:nvSpPr>
          <p:cNvPr id="18" name="Shape 16"/>
          <p:cNvSpPr/>
          <p:nvPr/>
        </p:nvSpPr>
        <p:spPr>
          <a:xfrm>
            <a:off x="347472" y="3090672"/>
            <a:ext cx="4251960" cy="457200"/>
          </a:xfrm>
          <a:prstGeom prst="rect">
            <a:avLst/>
          </a:prstGeom>
          <a:solidFill>
            <a:srgbClr val="D4A017"/>
          </a:solidFill>
          <a:ln w="12700">
            <a:solidFill>
              <a:srgbClr val="D4A017"/>
            </a:solidFill>
            <a:prstDash val="solid"/>
          </a:ln>
        </p:spPr>
      </p:sp>
      <p:sp>
        <p:nvSpPr>
          <p:cNvPr id="19" name="Shape 17"/>
          <p:cNvSpPr/>
          <p:nvPr/>
        </p:nvSpPr>
        <p:spPr>
          <a:xfrm>
            <a:off x="457200" y="3182112"/>
            <a:ext cx="329184" cy="329184"/>
          </a:xfrm>
          <a:prstGeom prst="ellipse">
            <a:avLst/>
          </a:prstGeom>
          <a:solidFill>
            <a:srgbClr val="0A1628"/>
          </a:solidFill>
          <a:ln w="12700">
            <a:solidFill>
              <a:srgbClr val="0A1628"/>
            </a:solidFill>
            <a:prstDash val="solid"/>
          </a:ln>
        </p:spPr>
      </p:sp>
      <p:sp>
        <p:nvSpPr>
          <p:cNvPr id="20" name="Text 18"/>
          <p:cNvSpPr/>
          <p:nvPr/>
        </p:nvSpPr>
        <p:spPr>
          <a:xfrm>
            <a:off x="457200" y="3182112"/>
            <a:ext cx="329184" cy="329184"/>
          </a:xfrm>
          <a:prstGeom prst="rect">
            <a:avLst/>
          </a:prstGeom>
          <a:noFill/>
          <a:ln/>
        </p:spPr>
        <p:txBody>
          <a:bodyPr wrap="square" rtlCol="0" anchor="ctr"/>
          <a:lstStyle/>
          <a:p>
            <a:pPr algn="ctr" indent="0" marL="0">
              <a:buNone/>
            </a:pPr>
            <a:r>
              <a:rPr lang="en-US" sz="1000" b="1" dirty="0">
                <a:solidFill>
                  <a:srgbClr val="D4A017"/>
                </a:solidFill>
              </a:rPr>
              <a:t>11</a:t>
            </a:r>
            <a:endParaRPr lang="en-US" sz="1000" dirty="0"/>
          </a:p>
        </p:txBody>
      </p:sp>
      <p:sp>
        <p:nvSpPr>
          <p:cNvPr id="21" name="Text 19"/>
          <p:cNvSpPr/>
          <p:nvPr/>
        </p:nvSpPr>
        <p:spPr>
          <a:xfrm>
            <a:off x="859536" y="3090672"/>
            <a:ext cx="3657600" cy="457200"/>
          </a:xfrm>
          <a:prstGeom prst="rect">
            <a:avLst/>
          </a:prstGeom>
          <a:noFill/>
          <a:ln/>
        </p:spPr>
        <p:txBody>
          <a:bodyPr wrap="square" rtlCol="0" anchor="ctr"/>
          <a:lstStyle/>
          <a:p>
            <a:pPr indent="0" marL="0">
              <a:buNone/>
            </a:pPr>
            <a:r>
              <a:rPr lang="en-US" sz="1250" b="1" dirty="0">
                <a:solidFill>
                  <a:srgbClr val="0A1628"/>
                </a:solidFill>
                <a:latin typeface="Calibri" pitchFamily="34" charset="0"/>
                <a:ea typeface="Calibri" pitchFamily="34" charset="-122"/>
                <a:cs typeface="Calibri" pitchFamily="34" charset="-120"/>
              </a:rPr>
              <a:t>⚡  Operational Efficiency &amp; Cost Reduction</a:t>
            </a:r>
            <a:endParaRPr lang="en-US" sz="1250" dirty="0"/>
          </a:p>
        </p:txBody>
      </p:sp>
      <p:sp>
        <p:nvSpPr>
          <p:cNvPr id="22" name="Text 20"/>
          <p:cNvSpPr/>
          <p:nvPr/>
        </p:nvSpPr>
        <p:spPr>
          <a:xfrm>
            <a:off x="457200" y="3602736"/>
            <a:ext cx="4041648" cy="1188720"/>
          </a:xfrm>
          <a:prstGeom prst="rect">
            <a:avLst/>
          </a:prstGeom>
          <a:noFill/>
          <a:ln/>
        </p:spPr>
        <p:txBody>
          <a:bodyPr wrap="square" rtlCol="0" anchor="ctr"/>
          <a:lstStyle/>
          <a:p>
            <a:pPr indent="0" marL="0">
              <a:buNone/>
            </a:pPr>
            <a:r>
              <a:rPr lang="en-US" sz="1000" dirty="0">
                <a:solidFill>
                  <a:srgbClr val="CBD5E1"/>
                </a:solidFill>
                <a:latin typeface="Calibri" pitchFamily="34" charset="0"/>
                <a:ea typeface="Calibri" pitchFamily="34" charset="-122"/>
                <a:cs typeface="Calibri" pitchFamily="34" charset="-120"/>
              </a:rPr>
              <a:t>Data mining identifies inefficiencies in operational processes, uncovers cost optimisation opportunities, and automates routine tasks. This fosters a culture of continuous improvement — positioning institutions for sustained operational excellence.</a:t>
            </a:r>
            <a:endParaRPr lang="en-US" sz="1000" dirty="0"/>
          </a:p>
        </p:txBody>
      </p:sp>
      <p:sp>
        <p:nvSpPr>
          <p:cNvPr id="23" name="Shape 21"/>
          <p:cNvSpPr/>
          <p:nvPr/>
        </p:nvSpPr>
        <p:spPr>
          <a:xfrm>
            <a:off x="4782312" y="3090672"/>
            <a:ext cx="4251960" cy="1783080"/>
          </a:xfrm>
          <a:prstGeom prst="rect">
            <a:avLst/>
          </a:prstGeom>
          <a:solidFill>
            <a:srgbClr val="0A1628"/>
          </a:solidFill>
          <a:ln w="22860">
            <a:solidFill>
              <a:srgbClr val="0D9488"/>
            </a:solidFill>
            <a:prstDash val="solid"/>
          </a:ln>
          <a:effectLst>
            <a:outerShdw sx="100000" sy="100000" kx="0" ky="0" algn="bl" rotWithShape="0" blurRad="101600" dist="38100" dir="8100000">
              <a:srgbClr val="000000">
                <a:alpha val="20000"/>
              </a:srgbClr>
            </a:outerShdw>
          </a:effectLst>
        </p:spPr>
      </p:sp>
      <p:sp>
        <p:nvSpPr>
          <p:cNvPr id="24" name="Shape 22"/>
          <p:cNvSpPr/>
          <p:nvPr/>
        </p:nvSpPr>
        <p:spPr>
          <a:xfrm>
            <a:off x="4782312" y="3090672"/>
            <a:ext cx="4251960" cy="457200"/>
          </a:xfrm>
          <a:prstGeom prst="rect">
            <a:avLst/>
          </a:prstGeom>
          <a:solidFill>
            <a:srgbClr val="0D9488"/>
          </a:solidFill>
          <a:ln w="12700">
            <a:solidFill>
              <a:srgbClr val="0D9488"/>
            </a:solidFill>
            <a:prstDash val="solid"/>
          </a:ln>
        </p:spPr>
      </p:sp>
      <p:sp>
        <p:nvSpPr>
          <p:cNvPr id="25" name="Shape 23"/>
          <p:cNvSpPr/>
          <p:nvPr/>
        </p:nvSpPr>
        <p:spPr>
          <a:xfrm>
            <a:off x="4892040" y="3182112"/>
            <a:ext cx="329184" cy="329184"/>
          </a:xfrm>
          <a:prstGeom prst="ellipse">
            <a:avLst/>
          </a:prstGeom>
          <a:solidFill>
            <a:srgbClr val="0A1628"/>
          </a:solidFill>
          <a:ln w="12700">
            <a:solidFill>
              <a:srgbClr val="0A1628"/>
            </a:solidFill>
            <a:prstDash val="solid"/>
          </a:ln>
        </p:spPr>
      </p:sp>
      <p:sp>
        <p:nvSpPr>
          <p:cNvPr id="26" name="Text 24"/>
          <p:cNvSpPr/>
          <p:nvPr/>
        </p:nvSpPr>
        <p:spPr>
          <a:xfrm>
            <a:off x="4892040" y="3182112"/>
            <a:ext cx="329184" cy="329184"/>
          </a:xfrm>
          <a:prstGeom prst="rect">
            <a:avLst/>
          </a:prstGeom>
          <a:noFill/>
          <a:ln/>
        </p:spPr>
        <p:txBody>
          <a:bodyPr wrap="square" rtlCol="0" anchor="ctr"/>
          <a:lstStyle/>
          <a:p>
            <a:pPr algn="ctr" indent="0" marL="0">
              <a:buNone/>
            </a:pPr>
            <a:r>
              <a:rPr lang="en-US" sz="1000" b="1" dirty="0">
                <a:solidFill>
                  <a:srgbClr val="0D9488"/>
                </a:solidFill>
              </a:rPr>
              <a:t>12</a:t>
            </a:r>
            <a:endParaRPr lang="en-US" sz="1000" dirty="0"/>
          </a:p>
        </p:txBody>
      </p:sp>
      <p:sp>
        <p:nvSpPr>
          <p:cNvPr id="27" name="Text 25"/>
          <p:cNvSpPr/>
          <p:nvPr/>
        </p:nvSpPr>
        <p:spPr>
          <a:xfrm>
            <a:off x="5294376" y="3090672"/>
            <a:ext cx="3657600" cy="457200"/>
          </a:xfrm>
          <a:prstGeom prst="rect">
            <a:avLst/>
          </a:prstGeom>
          <a:noFill/>
          <a:ln/>
        </p:spPr>
        <p:txBody>
          <a:bodyPr wrap="square" rtlCol="0" anchor="ctr"/>
          <a:lstStyle/>
          <a:p>
            <a:pPr indent="0" marL="0">
              <a:buNone/>
            </a:pPr>
            <a:r>
              <a:rPr lang="en-US" sz="1250" b="1" dirty="0">
                <a:solidFill>
                  <a:srgbClr val="0A1628"/>
                </a:solidFill>
                <a:latin typeface="Calibri" pitchFamily="34" charset="0"/>
                <a:ea typeface="Calibri" pitchFamily="34" charset="-122"/>
                <a:cs typeface="Calibri" pitchFamily="34" charset="-120"/>
              </a:rPr>
              <a:t>💬  Sentiment Analysis for Customer Feedback</a:t>
            </a:r>
            <a:endParaRPr lang="en-US" sz="1250" dirty="0"/>
          </a:p>
        </p:txBody>
      </p:sp>
      <p:sp>
        <p:nvSpPr>
          <p:cNvPr id="28" name="Text 26"/>
          <p:cNvSpPr/>
          <p:nvPr/>
        </p:nvSpPr>
        <p:spPr>
          <a:xfrm>
            <a:off x="4892040" y="3602736"/>
            <a:ext cx="4041648" cy="1188720"/>
          </a:xfrm>
          <a:prstGeom prst="rect">
            <a:avLst/>
          </a:prstGeom>
          <a:noFill/>
          <a:ln/>
        </p:spPr>
        <p:txBody>
          <a:bodyPr wrap="square" rtlCol="0" anchor="ctr"/>
          <a:lstStyle/>
          <a:p>
            <a:pPr indent="0" marL="0">
              <a:buNone/>
            </a:pPr>
            <a:r>
              <a:rPr lang="en-US" sz="1000" dirty="0">
                <a:solidFill>
                  <a:srgbClr val="CBD5E1"/>
                </a:solidFill>
                <a:latin typeface="Calibri" pitchFamily="34" charset="0"/>
                <a:ea typeface="Calibri" pitchFamily="34" charset="-122"/>
                <a:cs typeface="Calibri" pitchFamily="34" charset="-120"/>
              </a:rPr>
              <a:t>Analysing vast datasets of customer opinions uncovers trends in satisfaction and areas of concern. This data-driven approach allows institutions to respond proactively, enhance customer experience, and adapt strategies to meet evolving expectations.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F2044"/>
          </a:solidFill>
          <a:ln w="12700">
            <a:solidFill>
              <a:srgbClr val="0F2044"/>
            </a:solidFill>
            <a:prstDash val="solid"/>
          </a:ln>
        </p:spPr>
      </p:sp>
      <p:sp>
        <p:nvSpPr>
          <p:cNvPr id="3" name="Shape 1"/>
          <p:cNvSpPr/>
          <p:nvPr/>
        </p:nvSpPr>
        <p:spPr>
          <a:xfrm>
            <a:off x="0" y="914400"/>
            <a:ext cx="9144000" cy="54864"/>
          </a:xfrm>
          <a:prstGeom prst="rect">
            <a:avLst/>
          </a:prstGeom>
          <a:solidFill>
            <a:srgbClr val="F5C842"/>
          </a:solidFill>
          <a:ln w="12700">
            <a:solidFill>
              <a:srgbClr val="F5C842"/>
            </a:solidFill>
            <a:prstDash val="solid"/>
          </a:ln>
        </p:spPr>
      </p:sp>
      <p:sp>
        <p:nvSpPr>
          <p:cNvPr id="4" name="Text 2"/>
          <p:cNvSpPr/>
          <p:nvPr/>
        </p:nvSpPr>
        <p:spPr>
          <a:xfrm>
            <a:off x="411480" y="0"/>
            <a:ext cx="8321040" cy="914400"/>
          </a:xfrm>
          <a:prstGeom prst="rect">
            <a:avLst/>
          </a:prstGeom>
          <a:noFill/>
          <a:ln/>
        </p:spPr>
        <p:txBody>
          <a:bodyPr wrap="square" rtlCol="0" anchor="ctr"/>
          <a:lstStyle/>
          <a:p>
            <a:pPr indent="0" marL="0">
              <a:buNone/>
            </a:pPr>
            <a:r>
              <a:rPr lang="en-US" sz="2800" b="1" dirty="0">
                <a:solidFill>
                  <a:srgbClr val="F5C842"/>
                </a:solidFill>
                <a:latin typeface="Calibri" pitchFamily="34" charset="0"/>
                <a:ea typeface="Calibri" pitchFamily="34" charset="-122"/>
                <a:cs typeface="Calibri" pitchFamily="34" charset="-120"/>
              </a:rPr>
              <a:t>Tools, Techniques &amp; Best Practices</a:t>
            </a:r>
            <a:endParaRPr lang="en-US" sz="2800" dirty="0"/>
          </a:p>
        </p:txBody>
      </p:sp>
      <p:sp>
        <p:nvSpPr>
          <p:cNvPr id="5" name="Text 3"/>
          <p:cNvSpPr/>
          <p:nvPr/>
        </p:nvSpPr>
        <p:spPr>
          <a:xfrm>
            <a:off x="347472" y="1060704"/>
            <a:ext cx="5074920" cy="329184"/>
          </a:xfrm>
          <a:prstGeom prst="rect">
            <a:avLst/>
          </a:prstGeom>
          <a:noFill/>
          <a:ln/>
        </p:spPr>
        <p:txBody>
          <a:bodyPr wrap="square" rtlCol="0" anchor="ctr"/>
          <a:lstStyle/>
          <a:p>
            <a:pPr indent="0" marL="0">
              <a:buNone/>
            </a:pPr>
            <a:r>
              <a:rPr lang="en-US" sz="1600" b="1" dirty="0">
                <a:solidFill>
                  <a:srgbClr val="F5C842"/>
                </a:solidFill>
                <a:latin typeface="Calibri" pitchFamily="34" charset="0"/>
                <a:ea typeface="Calibri" pitchFamily="34" charset="-122"/>
                <a:cs typeface="Calibri" pitchFamily="34" charset="-120"/>
              </a:rPr>
              <a:t>Top Tools</a:t>
            </a:r>
            <a:endParaRPr lang="en-US" sz="1600" dirty="0"/>
          </a:p>
        </p:txBody>
      </p:sp>
      <p:sp>
        <p:nvSpPr>
          <p:cNvPr id="6" name="Shape 4"/>
          <p:cNvSpPr/>
          <p:nvPr/>
        </p:nvSpPr>
        <p:spPr>
          <a:xfrm>
            <a:off x="347472" y="1444752"/>
            <a:ext cx="1609344" cy="1389888"/>
          </a:xfrm>
          <a:prstGeom prst="rect">
            <a:avLst/>
          </a:prstGeom>
          <a:solidFill>
            <a:srgbClr val="1A3460"/>
          </a:solidFill>
          <a:ln w="19050">
            <a:solidFill>
              <a:srgbClr val="1D4ED8"/>
            </a:solidFill>
            <a:prstDash val="solid"/>
          </a:ln>
          <a:effectLst>
            <a:outerShdw sx="100000" sy="100000" kx="0" ky="0" algn="bl" rotWithShape="0" blurRad="101600" dist="38100" dir="8100000">
              <a:srgbClr val="000000">
                <a:alpha val="20000"/>
              </a:srgbClr>
            </a:outerShdw>
          </a:effectLst>
        </p:spPr>
      </p:sp>
      <p:sp>
        <p:nvSpPr>
          <p:cNvPr id="7" name="Text 5"/>
          <p:cNvSpPr/>
          <p:nvPr/>
        </p:nvSpPr>
        <p:spPr>
          <a:xfrm>
            <a:off x="347472" y="1463040"/>
            <a:ext cx="1609344" cy="420624"/>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8" name="Text 6"/>
          <p:cNvSpPr/>
          <p:nvPr/>
        </p:nvSpPr>
        <p:spPr>
          <a:xfrm>
            <a:off x="420624" y="1901952"/>
            <a:ext cx="1463040" cy="329184"/>
          </a:xfrm>
          <a:prstGeom prst="rect">
            <a:avLst/>
          </a:prstGeom>
          <a:noFill/>
          <a:ln/>
        </p:spPr>
        <p:txBody>
          <a:bodyPr wrap="square" rtlCol="0" anchor="ctr"/>
          <a:lstStyle/>
          <a:p>
            <a:pPr algn="ctr" indent="0" marL="0">
              <a:buNone/>
            </a:pPr>
            <a:r>
              <a:rPr lang="en-US" sz="1050" b="1" dirty="0">
                <a:solidFill>
                  <a:srgbClr val="BAE6FD"/>
                </a:solidFill>
                <a:latin typeface="Calibri" pitchFamily="34" charset="0"/>
                <a:ea typeface="Calibri" pitchFamily="34" charset="-122"/>
                <a:cs typeface="Calibri" pitchFamily="34" charset="-120"/>
              </a:rPr>
              <a:t>Python &amp; R</a:t>
            </a:r>
            <a:endParaRPr lang="en-US" sz="1050" dirty="0"/>
          </a:p>
        </p:txBody>
      </p:sp>
      <p:sp>
        <p:nvSpPr>
          <p:cNvPr id="9" name="Text 7"/>
          <p:cNvSpPr/>
          <p:nvPr/>
        </p:nvSpPr>
        <p:spPr>
          <a:xfrm>
            <a:off x="420624" y="2231136"/>
            <a:ext cx="1463040" cy="566928"/>
          </a:xfrm>
          <a:prstGeom prst="rect">
            <a:avLst/>
          </a:prstGeom>
          <a:noFill/>
          <a:ln/>
        </p:spPr>
        <p:txBody>
          <a:bodyPr wrap="square" rtlCol="0" anchor="ctr"/>
          <a:lstStyle/>
          <a:p>
            <a:pPr indent="0" marL="0">
              <a:buNone/>
            </a:pPr>
            <a:r>
              <a:rPr lang="en-US" sz="850" dirty="0">
                <a:solidFill>
                  <a:srgbClr val="CBD5E1"/>
                </a:solidFill>
                <a:latin typeface="Calibri" pitchFamily="34" charset="0"/>
                <a:ea typeface="Calibri" pitchFamily="34" charset="-122"/>
                <a:cs typeface="Calibri" pitchFamily="34" charset="-120"/>
              </a:rPr>
              <a:t>Pandas, NumPy, ggplot2 for statistical modeling and visualization</a:t>
            </a:r>
            <a:endParaRPr lang="en-US" sz="850" dirty="0"/>
          </a:p>
        </p:txBody>
      </p:sp>
      <p:sp>
        <p:nvSpPr>
          <p:cNvPr id="10" name="Shape 8"/>
          <p:cNvSpPr/>
          <p:nvPr/>
        </p:nvSpPr>
        <p:spPr>
          <a:xfrm>
            <a:off x="2066544" y="1444752"/>
            <a:ext cx="1609344" cy="1389888"/>
          </a:xfrm>
          <a:prstGeom prst="rect">
            <a:avLst/>
          </a:prstGeom>
          <a:solidFill>
            <a:srgbClr val="1A3460"/>
          </a:solidFill>
          <a:ln w="19050">
            <a:solidFill>
              <a:srgbClr val="0D9488"/>
            </a:solidFill>
            <a:prstDash val="solid"/>
          </a:ln>
          <a:effectLst>
            <a:outerShdw sx="100000" sy="100000" kx="0" ky="0" algn="bl" rotWithShape="0" blurRad="101600" dist="38100" dir="8100000">
              <a:srgbClr val="000000">
                <a:alpha val="20000"/>
              </a:srgbClr>
            </a:outerShdw>
          </a:effectLst>
        </p:spPr>
      </p:sp>
      <p:sp>
        <p:nvSpPr>
          <p:cNvPr id="11" name="Text 9"/>
          <p:cNvSpPr/>
          <p:nvPr/>
        </p:nvSpPr>
        <p:spPr>
          <a:xfrm>
            <a:off x="2066544" y="1463040"/>
            <a:ext cx="1609344" cy="420624"/>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12" name="Text 10"/>
          <p:cNvSpPr/>
          <p:nvPr/>
        </p:nvSpPr>
        <p:spPr>
          <a:xfrm>
            <a:off x="2139696" y="1901952"/>
            <a:ext cx="1463040" cy="329184"/>
          </a:xfrm>
          <a:prstGeom prst="rect">
            <a:avLst/>
          </a:prstGeom>
          <a:noFill/>
          <a:ln/>
        </p:spPr>
        <p:txBody>
          <a:bodyPr wrap="square" rtlCol="0" anchor="ctr"/>
          <a:lstStyle/>
          <a:p>
            <a:pPr algn="ctr" indent="0" marL="0">
              <a:buNone/>
            </a:pPr>
            <a:r>
              <a:rPr lang="en-US" sz="1050" b="1" dirty="0">
                <a:solidFill>
                  <a:srgbClr val="5EEAD4"/>
                </a:solidFill>
                <a:latin typeface="Calibri" pitchFamily="34" charset="0"/>
                <a:ea typeface="Calibri" pitchFamily="34" charset="-122"/>
                <a:cs typeface="Calibri" pitchFamily="34" charset="-120"/>
              </a:rPr>
              <a:t>Tableau &amp; Power BI</a:t>
            </a:r>
            <a:endParaRPr lang="en-US" sz="1050" dirty="0"/>
          </a:p>
        </p:txBody>
      </p:sp>
      <p:sp>
        <p:nvSpPr>
          <p:cNvPr id="13" name="Text 11"/>
          <p:cNvSpPr/>
          <p:nvPr/>
        </p:nvSpPr>
        <p:spPr>
          <a:xfrm>
            <a:off x="2139696" y="2231136"/>
            <a:ext cx="1463040" cy="566928"/>
          </a:xfrm>
          <a:prstGeom prst="rect">
            <a:avLst/>
          </a:prstGeom>
          <a:noFill/>
          <a:ln/>
        </p:spPr>
        <p:txBody>
          <a:bodyPr wrap="square" rtlCol="0" anchor="ctr"/>
          <a:lstStyle/>
          <a:p>
            <a:pPr indent="0" marL="0">
              <a:buNone/>
            </a:pPr>
            <a:r>
              <a:rPr lang="en-US" sz="850" dirty="0">
                <a:solidFill>
                  <a:srgbClr val="CBD5E1"/>
                </a:solidFill>
                <a:latin typeface="Calibri" pitchFamily="34" charset="0"/>
                <a:ea typeface="Calibri" pitchFamily="34" charset="-122"/>
                <a:cs typeface="Calibri" pitchFamily="34" charset="-120"/>
              </a:rPr>
              <a:t>Visualization tools for interpreting complex data and presenting insights</a:t>
            </a:r>
            <a:endParaRPr lang="en-US" sz="850" dirty="0"/>
          </a:p>
        </p:txBody>
      </p:sp>
      <p:sp>
        <p:nvSpPr>
          <p:cNvPr id="14" name="Shape 12"/>
          <p:cNvSpPr/>
          <p:nvPr/>
        </p:nvSpPr>
        <p:spPr>
          <a:xfrm>
            <a:off x="3785616" y="1444752"/>
            <a:ext cx="1609344" cy="1389888"/>
          </a:xfrm>
          <a:prstGeom prst="rect">
            <a:avLst/>
          </a:prstGeom>
          <a:solidFill>
            <a:srgbClr val="1A3460"/>
          </a:solidFill>
          <a:ln w="19050">
            <a:solidFill>
              <a:srgbClr val="D4A017"/>
            </a:solidFill>
            <a:prstDash val="solid"/>
          </a:ln>
          <a:effectLst>
            <a:outerShdw sx="100000" sy="100000" kx="0" ky="0" algn="bl" rotWithShape="0" blurRad="101600" dist="38100" dir="8100000">
              <a:srgbClr val="000000">
                <a:alpha val="20000"/>
              </a:srgbClr>
            </a:outerShdw>
          </a:effectLst>
        </p:spPr>
      </p:sp>
      <p:sp>
        <p:nvSpPr>
          <p:cNvPr id="15" name="Text 13"/>
          <p:cNvSpPr/>
          <p:nvPr/>
        </p:nvSpPr>
        <p:spPr>
          <a:xfrm>
            <a:off x="3785616" y="1463040"/>
            <a:ext cx="1609344" cy="420624"/>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16" name="Text 14"/>
          <p:cNvSpPr/>
          <p:nvPr/>
        </p:nvSpPr>
        <p:spPr>
          <a:xfrm>
            <a:off x="3858768" y="1901952"/>
            <a:ext cx="1463040" cy="329184"/>
          </a:xfrm>
          <a:prstGeom prst="rect">
            <a:avLst/>
          </a:prstGeom>
          <a:noFill/>
          <a:ln/>
        </p:spPr>
        <p:txBody>
          <a:bodyPr wrap="square" rtlCol="0" anchor="ctr"/>
          <a:lstStyle/>
          <a:p>
            <a:pPr algn="ctr" indent="0" marL="0">
              <a:buNone/>
            </a:pPr>
            <a:r>
              <a:rPr lang="en-US" sz="1050" b="1" dirty="0">
                <a:solidFill>
                  <a:srgbClr val="F5C842"/>
                </a:solidFill>
                <a:latin typeface="Calibri" pitchFamily="34" charset="0"/>
                <a:ea typeface="Calibri" pitchFamily="34" charset="-122"/>
                <a:cs typeface="Calibri" pitchFamily="34" charset="-120"/>
              </a:rPr>
              <a:t>Apache Spark</a:t>
            </a:r>
            <a:endParaRPr lang="en-US" sz="1050" dirty="0"/>
          </a:p>
        </p:txBody>
      </p:sp>
      <p:sp>
        <p:nvSpPr>
          <p:cNvPr id="17" name="Text 15"/>
          <p:cNvSpPr/>
          <p:nvPr/>
        </p:nvSpPr>
        <p:spPr>
          <a:xfrm>
            <a:off x="3858768" y="2231136"/>
            <a:ext cx="1463040" cy="566928"/>
          </a:xfrm>
          <a:prstGeom prst="rect">
            <a:avLst/>
          </a:prstGeom>
          <a:noFill/>
          <a:ln/>
        </p:spPr>
        <p:txBody>
          <a:bodyPr wrap="square" rtlCol="0" anchor="ctr"/>
          <a:lstStyle/>
          <a:p>
            <a:pPr indent="0" marL="0">
              <a:buNone/>
            </a:pPr>
            <a:r>
              <a:rPr lang="en-US" sz="850" dirty="0">
                <a:solidFill>
                  <a:srgbClr val="CBD5E1"/>
                </a:solidFill>
                <a:latin typeface="Calibri" pitchFamily="34" charset="0"/>
                <a:ea typeface="Calibri" pitchFamily="34" charset="-122"/>
                <a:cs typeface="Calibri" pitchFamily="34" charset="-120"/>
              </a:rPr>
              <a:t>Distributed computing framework for processing large-scale financial datasets</a:t>
            </a:r>
            <a:endParaRPr lang="en-US" sz="850" dirty="0"/>
          </a:p>
        </p:txBody>
      </p:sp>
      <p:sp>
        <p:nvSpPr>
          <p:cNvPr id="18" name="Shape 16"/>
          <p:cNvSpPr/>
          <p:nvPr/>
        </p:nvSpPr>
        <p:spPr>
          <a:xfrm>
            <a:off x="347472" y="2926080"/>
            <a:ext cx="2487168" cy="1389888"/>
          </a:xfrm>
          <a:prstGeom prst="rect">
            <a:avLst/>
          </a:prstGeom>
          <a:solidFill>
            <a:srgbClr val="1A3460"/>
          </a:solidFill>
          <a:ln w="19050">
            <a:solidFill>
              <a:srgbClr val="1D4ED8"/>
            </a:solidFill>
            <a:prstDash val="solid"/>
          </a:ln>
          <a:effectLst>
            <a:outerShdw sx="100000" sy="100000" kx="0" ky="0" algn="bl" rotWithShape="0" blurRad="101600" dist="38100" dir="8100000">
              <a:srgbClr val="000000">
                <a:alpha val="20000"/>
              </a:srgbClr>
            </a:outerShdw>
          </a:effectLst>
        </p:spPr>
      </p:sp>
      <p:sp>
        <p:nvSpPr>
          <p:cNvPr id="19" name="Text 17"/>
          <p:cNvSpPr/>
          <p:nvPr/>
        </p:nvSpPr>
        <p:spPr>
          <a:xfrm>
            <a:off x="347472" y="2944368"/>
            <a:ext cx="2487168" cy="420624"/>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20" name="Text 18"/>
          <p:cNvSpPr/>
          <p:nvPr/>
        </p:nvSpPr>
        <p:spPr>
          <a:xfrm>
            <a:off x="420624" y="3383280"/>
            <a:ext cx="2340864" cy="329184"/>
          </a:xfrm>
          <a:prstGeom prst="rect">
            <a:avLst/>
          </a:prstGeom>
          <a:noFill/>
          <a:ln/>
        </p:spPr>
        <p:txBody>
          <a:bodyPr wrap="square" rtlCol="0" anchor="ctr"/>
          <a:lstStyle/>
          <a:p>
            <a:pPr algn="ctr" indent="0" marL="0">
              <a:buNone/>
            </a:pPr>
            <a:r>
              <a:rPr lang="en-US" sz="1050" b="1" dirty="0">
                <a:solidFill>
                  <a:srgbClr val="BAE6FD"/>
                </a:solidFill>
                <a:latin typeface="Calibri" pitchFamily="34" charset="0"/>
                <a:ea typeface="Calibri" pitchFamily="34" charset="-122"/>
                <a:cs typeface="Calibri" pitchFamily="34" charset="-120"/>
              </a:rPr>
              <a:t>SAS &amp; MATLAB</a:t>
            </a:r>
            <a:endParaRPr lang="en-US" sz="1050" dirty="0"/>
          </a:p>
        </p:txBody>
      </p:sp>
      <p:sp>
        <p:nvSpPr>
          <p:cNvPr id="21" name="Text 19"/>
          <p:cNvSpPr/>
          <p:nvPr/>
        </p:nvSpPr>
        <p:spPr>
          <a:xfrm>
            <a:off x="420624" y="3712464"/>
            <a:ext cx="2340864" cy="530352"/>
          </a:xfrm>
          <a:prstGeom prst="rect">
            <a:avLst/>
          </a:prstGeom>
          <a:noFill/>
          <a:ln/>
        </p:spPr>
        <p:txBody>
          <a:bodyPr wrap="square" rtlCol="0" anchor="ctr"/>
          <a:lstStyle/>
          <a:p>
            <a:pPr indent="0" marL="0">
              <a:buNone/>
            </a:pPr>
            <a:r>
              <a:rPr lang="en-US" sz="850" dirty="0">
                <a:solidFill>
                  <a:srgbClr val="CBD5E1"/>
                </a:solidFill>
                <a:latin typeface="Calibri" pitchFamily="34" charset="0"/>
                <a:ea typeface="Calibri" pitchFamily="34" charset="-122"/>
                <a:cs typeface="Calibri" pitchFamily="34" charset="-120"/>
              </a:rPr>
              <a:t>Specialized software for advanced statistical analysis and financial modeling</a:t>
            </a:r>
            <a:endParaRPr lang="en-US" sz="850" dirty="0"/>
          </a:p>
        </p:txBody>
      </p:sp>
      <p:sp>
        <p:nvSpPr>
          <p:cNvPr id="22" name="Shape 20"/>
          <p:cNvSpPr/>
          <p:nvPr/>
        </p:nvSpPr>
        <p:spPr>
          <a:xfrm>
            <a:off x="2953512" y="2926080"/>
            <a:ext cx="2487168" cy="1389888"/>
          </a:xfrm>
          <a:prstGeom prst="rect">
            <a:avLst/>
          </a:prstGeom>
          <a:solidFill>
            <a:srgbClr val="1A3460"/>
          </a:solidFill>
          <a:ln w="19050">
            <a:solidFill>
              <a:srgbClr val="0D9488"/>
            </a:solidFill>
            <a:prstDash val="solid"/>
          </a:ln>
          <a:effectLst>
            <a:outerShdw sx="100000" sy="100000" kx="0" ky="0" algn="bl" rotWithShape="0" blurRad="101600" dist="38100" dir="8100000">
              <a:srgbClr val="000000">
                <a:alpha val="20000"/>
              </a:srgbClr>
            </a:outerShdw>
          </a:effectLst>
        </p:spPr>
      </p:sp>
      <p:sp>
        <p:nvSpPr>
          <p:cNvPr id="23" name="Text 21"/>
          <p:cNvSpPr/>
          <p:nvPr/>
        </p:nvSpPr>
        <p:spPr>
          <a:xfrm>
            <a:off x="2953512" y="2944368"/>
            <a:ext cx="2487168" cy="420624"/>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24" name="Text 22"/>
          <p:cNvSpPr/>
          <p:nvPr/>
        </p:nvSpPr>
        <p:spPr>
          <a:xfrm>
            <a:off x="3026664" y="3383280"/>
            <a:ext cx="2340864" cy="329184"/>
          </a:xfrm>
          <a:prstGeom prst="rect">
            <a:avLst/>
          </a:prstGeom>
          <a:noFill/>
          <a:ln/>
        </p:spPr>
        <p:txBody>
          <a:bodyPr wrap="square" rtlCol="0" anchor="ctr"/>
          <a:lstStyle/>
          <a:p>
            <a:pPr algn="ctr" indent="0" marL="0">
              <a:buNone/>
            </a:pPr>
            <a:r>
              <a:rPr lang="en-US" sz="1050" b="1" dirty="0">
                <a:solidFill>
                  <a:srgbClr val="5EEAD4"/>
                </a:solidFill>
                <a:latin typeface="Calibri" pitchFamily="34" charset="0"/>
                <a:ea typeface="Calibri" pitchFamily="34" charset="-122"/>
                <a:cs typeface="Calibri" pitchFamily="34" charset="-120"/>
              </a:rPr>
              <a:t>TensorFlow &amp; PyTorch</a:t>
            </a:r>
            <a:endParaRPr lang="en-US" sz="1050" dirty="0"/>
          </a:p>
        </p:txBody>
      </p:sp>
      <p:sp>
        <p:nvSpPr>
          <p:cNvPr id="25" name="Text 23"/>
          <p:cNvSpPr/>
          <p:nvPr/>
        </p:nvSpPr>
        <p:spPr>
          <a:xfrm>
            <a:off x="3026664" y="3712464"/>
            <a:ext cx="2340864" cy="530352"/>
          </a:xfrm>
          <a:prstGeom prst="rect">
            <a:avLst/>
          </a:prstGeom>
          <a:noFill/>
          <a:ln/>
        </p:spPr>
        <p:txBody>
          <a:bodyPr wrap="square" rtlCol="0" anchor="ctr"/>
          <a:lstStyle/>
          <a:p>
            <a:pPr indent="0" marL="0">
              <a:buNone/>
            </a:pPr>
            <a:r>
              <a:rPr lang="en-US" sz="850" dirty="0">
                <a:solidFill>
                  <a:srgbClr val="CBD5E1"/>
                </a:solidFill>
                <a:latin typeface="Calibri" pitchFamily="34" charset="0"/>
                <a:ea typeface="Calibri" pitchFamily="34" charset="-122"/>
                <a:cs typeface="Calibri" pitchFamily="34" charset="-120"/>
              </a:rPr>
              <a:t>ML frameworks for building predictive models and neural networks</a:t>
            </a:r>
            <a:endParaRPr lang="en-US" sz="850" dirty="0"/>
          </a:p>
        </p:txBody>
      </p:sp>
      <p:sp>
        <p:nvSpPr>
          <p:cNvPr id="26" name="Text 24"/>
          <p:cNvSpPr/>
          <p:nvPr/>
        </p:nvSpPr>
        <p:spPr>
          <a:xfrm>
            <a:off x="5486400" y="1060704"/>
            <a:ext cx="3337560" cy="329184"/>
          </a:xfrm>
          <a:prstGeom prst="rect">
            <a:avLst/>
          </a:prstGeom>
          <a:noFill/>
          <a:ln/>
        </p:spPr>
        <p:txBody>
          <a:bodyPr wrap="square" rtlCol="0" anchor="ctr"/>
          <a:lstStyle/>
          <a:p>
            <a:pPr indent="0" marL="0">
              <a:buNone/>
            </a:pPr>
            <a:r>
              <a:rPr lang="en-US" sz="1600" b="1" dirty="0">
                <a:solidFill>
                  <a:srgbClr val="5EEAD4"/>
                </a:solidFill>
                <a:latin typeface="Calibri" pitchFamily="34" charset="0"/>
                <a:ea typeface="Calibri" pitchFamily="34" charset="-122"/>
                <a:cs typeface="Calibri" pitchFamily="34" charset="-120"/>
              </a:rPr>
              <a:t>Best Practices</a:t>
            </a:r>
            <a:endParaRPr lang="en-US" sz="1600" dirty="0"/>
          </a:p>
        </p:txBody>
      </p:sp>
      <p:sp>
        <p:nvSpPr>
          <p:cNvPr id="27" name="Shape 25"/>
          <p:cNvSpPr/>
          <p:nvPr/>
        </p:nvSpPr>
        <p:spPr>
          <a:xfrm>
            <a:off x="5486400" y="1444752"/>
            <a:ext cx="3337560" cy="594360"/>
          </a:xfrm>
          <a:prstGeom prst="rect">
            <a:avLst/>
          </a:prstGeom>
          <a:solidFill>
            <a:srgbClr val="1A3460"/>
          </a:solidFill>
          <a:ln w="9525">
            <a:solidFill>
              <a:srgbClr val="D4A017"/>
            </a:solidFill>
            <a:prstDash val="solid"/>
          </a:ln>
        </p:spPr>
      </p:sp>
      <p:sp>
        <p:nvSpPr>
          <p:cNvPr id="28" name="Shape 26"/>
          <p:cNvSpPr/>
          <p:nvPr/>
        </p:nvSpPr>
        <p:spPr>
          <a:xfrm>
            <a:off x="5486400" y="1444752"/>
            <a:ext cx="91440" cy="594360"/>
          </a:xfrm>
          <a:prstGeom prst="rect">
            <a:avLst/>
          </a:prstGeom>
          <a:solidFill>
            <a:srgbClr val="D4A017"/>
          </a:solidFill>
          <a:ln w="12700">
            <a:solidFill>
              <a:srgbClr val="D4A017"/>
            </a:solidFill>
            <a:prstDash val="solid"/>
          </a:ln>
        </p:spPr>
      </p:sp>
      <p:sp>
        <p:nvSpPr>
          <p:cNvPr id="29" name="Text 27"/>
          <p:cNvSpPr/>
          <p:nvPr/>
        </p:nvSpPr>
        <p:spPr>
          <a:xfrm>
            <a:off x="5650992" y="1481328"/>
            <a:ext cx="3090672" cy="256032"/>
          </a:xfrm>
          <a:prstGeom prst="rect">
            <a:avLst/>
          </a:prstGeom>
          <a:noFill/>
          <a:ln/>
        </p:spPr>
        <p:txBody>
          <a:bodyPr wrap="square" rtlCol="0" anchor="ctr"/>
          <a:lstStyle/>
          <a:p>
            <a:pPr indent="0" marL="0">
              <a:buNone/>
            </a:pPr>
            <a:r>
              <a:rPr lang="en-US" sz="1100" b="1" dirty="0">
                <a:solidFill>
                  <a:srgbClr val="F5C842"/>
                </a:solidFill>
                <a:latin typeface="Calibri" pitchFamily="34" charset="0"/>
                <a:ea typeface="Calibri" pitchFamily="34" charset="-122"/>
                <a:cs typeface="Calibri" pitchFamily="34" charset="-120"/>
              </a:rPr>
              <a:t>Define Objectives</a:t>
            </a:r>
            <a:endParaRPr lang="en-US" sz="1100" dirty="0"/>
          </a:p>
        </p:txBody>
      </p:sp>
      <p:sp>
        <p:nvSpPr>
          <p:cNvPr id="30" name="Text 28"/>
          <p:cNvSpPr/>
          <p:nvPr/>
        </p:nvSpPr>
        <p:spPr>
          <a:xfrm>
            <a:off x="5650992" y="1737360"/>
            <a:ext cx="3090672" cy="256032"/>
          </a:xfrm>
          <a:prstGeom prst="rect">
            <a:avLst/>
          </a:prstGeom>
          <a:noFill/>
          <a:ln/>
        </p:spPr>
        <p:txBody>
          <a:bodyPr wrap="square" rtlCol="0" anchor="ctr"/>
          <a:lstStyle/>
          <a:p>
            <a:pPr indent="0" marL="0">
              <a:buNone/>
            </a:pPr>
            <a:r>
              <a:rPr lang="en-US" sz="950" dirty="0">
                <a:solidFill>
                  <a:srgbClr val="CBD5E1"/>
                </a:solidFill>
                <a:latin typeface="Calibri" pitchFamily="34" charset="0"/>
                <a:ea typeface="Calibri" pitchFamily="34" charset="-122"/>
                <a:cs typeface="Calibri" pitchFamily="34" charset="-120"/>
              </a:rPr>
              <a:t>Clearly outline goals: fraud detection, risk mgmt, segmentation.</a:t>
            </a:r>
            <a:endParaRPr lang="en-US" sz="950" dirty="0"/>
          </a:p>
        </p:txBody>
      </p:sp>
      <p:sp>
        <p:nvSpPr>
          <p:cNvPr id="31" name="Shape 29"/>
          <p:cNvSpPr/>
          <p:nvPr/>
        </p:nvSpPr>
        <p:spPr>
          <a:xfrm>
            <a:off x="5486400" y="2121408"/>
            <a:ext cx="3337560" cy="594360"/>
          </a:xfrm>
          <a:prstGeom prst="rect">
            <a:avLst/>
          </a:prstGeom>
          <a:solidFill>
            <a:srgbClr val="1A3460"/>
          </a:solidFill>
          <a:ln w="9525">
            <a:solidFill>
              <a:srgbClr val="0D9488"/>
            </a:solidFill>
            <a:prstDash val="solid"/>
          </a:ln>
        </p:spPr>
      </p:sp>
      <p:sp>
        <p:nvSpPr>
          <p:cNvPr id="32" name="Shape 30"/>
          <p:cNvSpPr/>
          <p:nvPr/>
        </p:nvSpPr>
        <p:spPr>
          <a:xfrm>
            <a:off x="5486400" y="2121408"/>
            <a:ext cx="91440" cy="594360"/>
          </a:xfrm>
          <a:prstGeom prst="rect">
            <a:avLst/>
          </a:prstGeom>
          <a:solidFill>
            <a:srgbClr val="0D9488"/>
          </a:solidFill>
          <a:ln w="12700">
            <a:solidFill>
              <a:srgbClr val="0D9488"/>
            </a:solidFill>
            <a:prstDash val="solid"/>
          </a:ln>
        </p:spPr>
      </p:sp>
      <p:sp>
        <p:nvSpPr>
          <p:cNvPr id="33" name="Text 31"/>
          <p:cNvSpPr/>
          <p:nvPr/>
        </p:nvSpPr>
        <p:spPr>
          <a:xfrm>
            <a:off x="5650992" y="2157984"/>
            <a:ext cx="3090672" cy="256032"/>
          </a:xfrm>
          <a:prstGeom prst="rect">
            <a:avLst/>
          </a:prstGeom>
          <a:noFill/>
          <a:ln/>
        </p:spPr>
        <p:txBody>
          <a:bodyPr wrap="square" rtlCol="0" anchor="ctr"/>
          <a:lstStyle/>
          <a:p>
            <a:pPr indent="0" marL="0">
              <a:buNone/>
            </a:pPr>
            <a:r>
              <a:rPr lang="en-US" sz="1100" b="1" dirty="0">
                <a:solidFill>
                  <a:srgbClr val="5EEAD4"/>
                </a:solidFill>
                <a:latin typeface="Calibri" pitchFamily="34" charset="0"/>
                <a:ea typeface="Calibri" pitchFamily="34" charset="-122"/>
                <a:cs typeface="Calibri" pitchFamily="34" charset="-120"/>
              </a:rPr>
              <a:t>Cross-Team Collaboration</a:t>
            </a:r>
            <a:endParaRPr lang="en-US" sz="1100" dirty="0"/>
          </a:p>
        </p:txBody>
      </p:sp>
      <p:sp>
        <p:nvSpPr>
          <p:cNvPr id="34" name="Text 32"/>
          <p:cNvSpPr/>
          <p:nvPr/>
        </p:nvSpPr>
        <p:spPr>
          <a:xfrm>
            <a:off x="5650992" y="2414016"/>
            <a:ext cx="3090672" cy="256032"/>
          </a:xfrm>
          <a:prstGeom prst="rect">
            <a:avLst/>
          </a:prstGeom>
          <a:noFill/>
          <a:ln/>
        </p:spPr>
        <p:txBody>
          <a:bodyPr wrap="square" rtlCol="0" anchor="ctr"/>
          <a:lstStyle/>
          <a:p>
            <a:pPr indent="0" marL="0">
              <a:buNone/>
            </a:pPr>
            <a:r>
              <a:rPr lang="en-US" sz="950" dirty="0">
                <a:solidFill>
                  <a:srgbClr val="CBD5E1"/>
                </a:solidFill>
                <a:latin typeface="Calibri" pitchFamily="34" charset="0"/>
                <a:ea typeface="Calibri" pitchFamily="34" charset="-122"/>
                <a:cs typeface="Calibri" pitchFamily="34" charset="-120"/>
              </a:rPr>
              <a:t>Unite data scientists, analysts, and IT for aligned outcomes.</a:t>
            </a:r>
            <a:endParaRPr lang="en-US" sz="950" dirty="0"/>
          </a:p>
        </p:txBody>
      </p:sp>
      <p:sp>
        <p:nvSpPr>
          <p:cNvPr id="35" name="Shape 33"/>
          <p:cNvSpPr/>
          <p:nvPr/>
        </p:nvSpPr>
        <p:spPr>
          <a:xfrm>
            <a:off x="5486400" y="2798064"/>
            <a:ext cx="3337560" cy="594360"/>
          </a:xfrm>
          <a:prstGeom prst="rect">
            <a:avLst/>
          </a:prstGeom>
          <a:solidFill>
            <a:srgbClr val="1A3460"/>
          </a:solidFill>
          <a:ln w="9525">
            <a:solidFill>
              <a:srgbClr val="D4A017"/>
            </a:solidFill>
            <a:prstDash val="solid"/>
          </a:ln>
        </p:spPr>
      </p:sp>
      <p:sp>
        <p:nvSpPr>
          <p:cNvPr id="36" name="Shape 34"/>
          <p:cNvSpPr/>
          <p:nvPr/>
        </p:nvSpPr>
        <p:spPr>
          <a:xfrm>
            <a:off x="5486400" y="2798064"/>
            <a:ext cx="91440" cy="594360"/>
          </a:xfrm>
          <a:prstGeom prst="rect">
            <a:avLst/>
          </a:prstGeom>
          <a:solidFill>
            <a:srgbClr val="D4A017"/>
          </a:solidFill>
          <a:ln w="12700">
            <a:solidFill>
              <a:srgbClr val="D4A017"/>
            </a:solidFill>
            <a:prstDash val="solid"/>
          </a:ln>
        </p:spPr>
      </p:sp>
      <p:sp>
        <p:nvSpPr>
          <p:cNvPr id="37" name="Text 35"/>
          <p:cNvSpPr/>
          <p:nvPr/>
        </p:nvSpPr>
        <p:spPr>
          <a:xfrm>
            <a:off x="5650992" y="2834640"/>
            <a:ext cx="3090672" cy="256032"/>
          </a:xfrm>
          <a:prstGeom prst="rect">
            <a:avLst/>
          </a:prstGeom>
          <a:noFill/>
          <a:ln/>
        </p:spPr>
        <p:txBody>
          <a:bodyPr wrap="square" rtlCol="0" anchor="ctr"/>
          <a:lstStyle/>
          <a:p>
            <a:pPr indent="0" marL="0">
              <a:buNone/>
            </a:pPr>
            <a:r>
              <a:rPr lang="en-US" sz="1100" b="1" dirty="0">
                <a:solidFill>
                  <a:srgbClr val="F5C842"/>
                </a:solidFill>
                <a:latin typeface="Calibri" pitchFamily="34" charset="0"/>
                <a:ea typeface="Calibri" pitchFamily="34" charset="-122"/>
                <a:cs typeface="Calibri" pitchFamily="34" charset="-120"/>
              </a:rPr>
              <a:t>Iterative Approach</a:t>
            </a:r>
            <a:endParaRPr lang="en-US" sz="1100" dirty="0"/>
          </a:p>
        </p:txBody>
      </p:sp>
      <p:sp>
        <p:nvSpPr>
          <p:cNvPr id="38" name="Text 36"/>
          <p:cNvSpPr/>
          <p:nvPr/>
        </p:nvSpPr>
        <p:spPr>
          <a:xfrm>
            <a:off x="5650992" y="3090672"/>
            <a:ext cx="3090672" cy="256032"/>
          </a:xfrm>
          <a:prstGeom prst="rect">
            <a:avLst/>
          </a:prstGeom>
          <a:noFill/>
          <a:ln/>
        </p:spPr>
        <p:txBody>
          <a:bodyPr wrap="square" rtlCol="0" anchor="ctr"/>
          <a:lstStyle/>
          <a:p>
            <a:pPr indent="0" marL="0">
              <a:buNone/>
            </a:pPr>
            <a:r>
              <a:rPr lang="en-US" sz="950" dirty="0">
                <a:solidFill>
                  <a:srgbClr val="CBD5E1"/>
                </a:solidFill>
                <a:latin typeface="Calibri" pitchFamily="34" charset="0"/>
                <a:ea typeface="Calibri" pitchFamily="34" charset="-122"/>
                <a:cs typeface="Calibri" pitchFamily="34" charset="-120"/>
              </a:rPr>
              <a:t>Refine models continuously; improve accuracy over time.</a:t>
            </a:r>
            <a:endParaRPr lang="en-US" sz="950" dirty="0"/>
          </a:p>
        </p:txBody>
      </p:sp>
      <p:sp>
        <p:nvSpPr>
          <p:cNvPr id="39" name="Shape 37"/>
          <p:cNvSpPr/>
          <p:nvPr/>
        </p:nvSpPr>
        <p:spPr>
          <a:xfrm>
            <a:off x="5486400" y="3474720"/>
            <a:ext cx="3337560" cy="594360"/>
          </a:xfrm>
          <a:prstGeom prst="rect">
            <a:avLst/>
          </a:prstGeom>
          <a:solidFill>
            <a:srgbClr val="1A3460"/>
          </a:solidFill>
          <a:ln w="9525">
            <a:solidFill>
              <a:srgbClr val="0D9488"/>
            </a:solidFill>
            <a:prstDash val="solid"/>
          </a:ln>
        </p:spPr>
      </p:sp>
      <p:sp>
        <p:nvSpPr>
          <p:cNvPr id="40" name="Shape 38"/>
          <p:cNvSpPr/>
          <p:nvPr/>
        </p:nvSpPr>
        <p:spPr>
          <a:xfrm>
            <a:off x="5486400" y="3474720"/>
            <a:ext cx="91440" cy="594360"/>
          </a:xfrm>
          <a:prstGeom prst="rect">
            <a:avLst/>
          </a:prstGeom>
          <a:solidFill>
            <a:srgbClr val="0D9488"/>
          </a:solidFill>
          <a:ln w="12700">
            <a:solidFill>
              <a:srgbClr val="0D9488"/>
            </a:solidFill>
            <a:prstDash val="solid"/>
          </a:ln>
        </p:spPr>
      </p:sp>
      <p:sp>
        <p:nvSpPr>
          <p:cNvPr id="41" name="Text 39"/>
          <p:cNvSpPr/>
          <p:nvPr/>
        </p:nvSpPr>
        <p:spPr>
          <a:xfrm>
            <a:off x="5650992" y="3511296"/>
            <a:ext cx="3090672" cy="256032"/>
          </a:xfrm>
          <a:prstGeom prst="rect">
            <a:avLst/>
          </a:prstGeom>
          <a:noFill/>
          <a:ln/>
        </p:spPr>
        <p:txBody>
          <a:bodyPr wrap="square" rtlCol="0" anchor="ctr"/>
          <a:lstStyle/>
          <a:p>
            <a:pPr indent="0" marL="0">
              <a:buNone/>
            </a:pPr>
            <a:r>
              <a:rPr lang="en-US" sz="1100" b="1" dirty="0">
                <a:solidFill>
                  <a:srgbClr val="5EEAD4"/>
                </a:solidFill>
                <a:latin typeface="Calibri" pitchFamily="34" charset="0"/>
                <a:ea typeface="Calibri" pitchFamily="34" charset="-122"/>
                <a:cs typeface="Calibri" pitchFamily="34" charset="-120"/>
              </a:rPr>
              <a:t>Monitor Performance</a:t>
            </a:r>
            <a:endParaRPr lang="en-US" sz="1100" dirty="0"/>
          </a:p>
        </p:txBody>
      </p:sp>
      <p:sp>
        <p:nvSpPr>
          <p:cNvPr id="42" name="Text 40"/>
          <p:cNvSpPr/>
          <p:nvPr/>
        </p:nvSpPr>
        <p:spPr>
          <a:xfrm>
            <a:off x="5650992" y="3767328"/>
            <a:ext cx="3090672" cy="256032"/>
          </a:xfrm>
          <a:prstGeom prst="rect">
            <a:avLst/>
          </a:prstGeom>
          <a:noFill/>
          <a:ln/>
        </p:spPr>
        <p:txBody>
          <a:bodyPr wrap="square" rtlCol="0" anchor="ctr"/>
          <a:lstStyle/>
          <a:p>
            <a:pPr indent="0" marL="0">
              <a:buNone/>
            </a:pPr>
            <a:r>
              <a:rPr lang="en-US" sz="950" dirty="0">
                <a:solidFill>
                  <a:srgbClr val="CBD5E1"/>
                </a:solidFill>
                <a:latin typeface="Calibri" pitchFamily="34" charset="0"/>
                <a:ea typeface="Calibri" pitchFamily="34" charset="-122"/>
                <a:cs typeface="Calibri" pitchFamily="34" charset="-120"/>
              </a:rPr>
              <a:t>Evaluate and adjust models as market conditions change.</a:t>
            </a:r>
            <a:endParaRPr lang="en-US" sz="950" dirty="0"/>
          </a:p>
        </p:txBody>
      </p:sp>
      <p:sp>
        <p:nvSpPr>
          <p:cNvPr id="43" name="Shape 41"/>
          <p:cNvSpPr/>
          <p:nvPr/>
        </p:nvSpPr>
        <p:spPr>
          <a:xfrm>
            <a:off x="5486400" y="4151376"/>
            <a:ext cx="3337560" cy="594360"/>
          </a:xfrm>
          <a:prstGeom prst="rect">
            <a:avLst/>
          </a:prstGeom>
          <a:solidFill>
            <a:srgbClr val="1A3460"/>
          </a:solidFill>
          <a:ln w="9525">
            <a:solidFill>
              <a:srgbClr val="D4A017"/>
            </a:solidFill>
            <a:prstDash val="solid"/>
          </a:ln>
        </p:spPr>
      </p:sp>
      <p:sp>
        <p:nvSpPr>
          <p:cNvPr id="44" name="Shape 42"/>
          <p:cNvSpPr/>
          <p:nvPr/>
        </p:nvSpPr>
        <p:spPr>
          <a:xfrm>
            <a:off x="5486400" y="4151376"/>
            <a:ext cx="91440" cy="594360"/>
          </a:xfrm>
          <a:prstGeom prst="rect">
            <a:avLst/>
          </a:prstGeom>
          <a:solidFill>
            <a:srgbClr val="D4A017"/>
          </a:solidFill>
          <a:ln w="12700">
            <a:solidFill>
              <a:srgbClr val="D4A017"/>
            </a:solidFill>
            <a:prstDash val="solid"/>
          </a:ln>
        </p:spPr>
      </p:sp>
      <p:sp>
        <p:nvSpPr>
          <p:cNvPr id="45" name="Text 43"/>
          <p:cNvSpPr/>
          <p:nvPr/>
        </p:nvSpPr>
        <p:spPr>
          <a:xfrm>
            <a:off x="5650992" y="4187952"/>
            <a:ext cx="3090672" cy="256032"/>
          </a:xfrm>
          <a:prstGeom prst="rect">
            <a:avLst/>
          </a:prstGeom>
          <a:noFill/>
          <a:ln/>
        </p:spPr>
        <p:txBody>
          <a:bodyPr wrap="square" rtlCol="0" anchor="ctr"/>
          <a:lstStyle/>
          <a:p>
            <a:pPr indent="0" marL="0">
              <a:buNone/>
            </a:pPr>
            <a:r>
              <a:rPr lang="en-US" sz="1100" b="1" dirty="0">
                <a:solidFill>
                  <a:srgbClr val="F5C842"/>
                </a:solidFill>
                <a:latin typeface="Calibri" pitchFamily="34" charset="0"/>
                <a:ea typeface="Calibri" pitchFamily="34" charset="-122"/>
                <a:cs typeface="Calibri" pitchFamily="34" charset="-120"/>
              </a:rPr>
              <a:t>Invest in Training</a:t>
            </a:r>
            <a:endParaRPr lang="en-US" sz="1100" dirty="0"/>
          </a:p>
        </p:txBody>
      </p:sp>
      <p:sp>
        <p:nvSpPr>
          <p:cNvPr id="46" name="Text 44"/>
          <p:cNvSpPr/>
          <p:nvPr/>
        </p:nvSpPr>
        <p:spPr>
          <a:xfrm>
            <a:off x="5650992" y="4443984"/>
            <a:ext cx="3090672" cy="256032"/>
          </a:xfrm>
          <a:prstGeom prst="rect">
            <a:avLst/>
          </a:prstGeom>
          <a:noFill/>
          <a:ln/>
        </p:spPr>
        <p:txBody>
          <a:bodyPr wrap="square" rtlCol="0" anchor="ctr"/>
          <a:lstStyle/>
          <a:p>
            <a:pPr indent="0" marL="0">
              <a:buNone/>
            </a:pPr>
            <a:r>
              <a:rPr lang="en-US" sz="950" dirty="0">
                <a:solidFill>
                  <a:srgbClr val="CBD5E1"/>
                </a:solidFill>
                <a:latin typeface="Calibri" pitchFamily="34" charset="0"/>
                <a:ea typeface="Calibri" pitchFamily="34" charset="-122"/>
                <a:cs typeface="Calibri" pitchFamily="34" charset="-120"/>
              </a:rPr>
              <a:t>Keep teams updated on the latest data mining tools and methods.</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4FC"/>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A1628"/>
          </a:solidFill>
          <a:ln w="12700">
            <a:solidFill>
              <a:srgbClr val="0A1628"/>
            </a:solidFill>
            <a:prstDash val="solid"/>
          </a:ln>
        </p:spPr>
      </p:sp>
      <p:sp>
        <p:nvSpPr>
          <p:cNvPr id="3" name="Shape 1"/>
          <p:cNvSpPr/>
          <p:nvPr/>
        </p:nvSpPr>
        <p:spPr>
          <a:xfrm>
            <a:off x="0" y="960120"/>
            <a:ext cx="9144000" cy="64008"/>
          </a:xfrm>
          <a:prstGeom prst="rect">
            <a:avLst/>
          </a:prstGeom>
          <a:solidFill>
            <a:srgbClr val="F5C842"/>
          </a:solidFill>
          <a:ln w="12700">
            <a:solidFill>
              <a:srgbClr val="F5C842"/>
            </a:solidFill>
            <a:prstDash val="solid"/>
          </a:ln>
        </p:spPr>
      </p:sp>
      <p:sp>
        <p:nvSpPr>
          <p:cNvPr id="4" name="Text 2"/>
          <p:cNvSpPr/>
          <p:nvPr/>
        </p:nvSpPr>
        <p:spPr>
          <a:xfrm>
            <a:off x="411480" y="0"/>
            <a:ext cx="8321040" cy="960120"/>
          </a:xfrm>
          <a:prstGeom prst="rect">
            <a:avLst/>
          </a:prstGeom>
          <a:noFill/>
          <a:ln/>
        </p:spPr>
        <p:txBody>
          <a:bodyPr wrap="square" rtlCol="0" anchor="ctr"/>
          <a:lstStyle/>
          <a:p>
            <a:pPr indent="0" marL="0">
              <a:buNone/>
            </a:pPr>
            <a:r>
              <a:rPr lang="en-US" sz="2700" b="1" dirty="0">
                <a:solidFill>
                  <a:srgbClr val="F8FAFF"/>
                </a:solidFill>
                <a:latin typeface="Calibri" pitchFamily="34" charset="0"/>
                <a:ea typeface="Calibri" pitchFamily="34" charset="-122"/>
                <a:cs typeface="Calibri" pitchFamily="34" charset="-120"/>
              </a:rPr>
              <a:t>Challenges &amp; Solutions in Financial Data Mining</a:t>
            </a:r>
            <a:endParaRPr lang="en-US" sz="2700" dirty="0"/>
          </a:p>
        </p:txBody>
      </p:sp>
      <p:sp>
        <p:nvSpPr>
          <p:cNvPr id="5" name="Shape 3"/>
          <p:cNvSpPr/>
          <p:nvPr/>
        </p:nvSpPr>
        <p:spPr>
          <a:xfrm>
            <a:off x="365760" y="1170432"/>
            <a:ext cx="4160520" cy="420624"/>
          </a:xfrm>
          <a:prstGeom prst="rect">
            <a:avLst/>
          </a:prstGeom>
          <a:solidFill>
            <a:srgbClr val="DC2626"/>
          </a:solidFill>
          <a:ln w="12700">
            <a:solidFill>
              <a:srgbClr val="DC2626"/>
            </a:solidFill>
            <a:prstDash val="solid"/>
          </a:ln>
        </p:spPr>
      </p:sp>
      <p:sp>
        <p:nvSpPr>
          <p:cNvPr id="6" name="Text 4"/>
          <p:cNvSpPr/>
          <p:nvPr/>
        </p:nvSpPr>
        <p:spPr>
          <a:xfrm>
            <a:off x="365760" y="1170432"/>
            <a:ext cx="4160520" cy="420624"/>
          </a:xfrm>
          <a:prstGeom prst="rect">
            <a:avLst/>
          </a:prstGeom>
          <a:noFill/>
          <a:ln/>
        </p:spPr>
        <p:txBody>
          <a:bodyPr wrap="square" rtlCol="0" anchor="ctr"/>
          <a:lstStyle/>
          <a:p>
            <a:pPr algn="ctr" indent="0" marL="0">
              <a:buNone/>
            </a:pPr>
            <a:r>
              <a:rPr lang="en-US" sz="1400" b="1" dirty="0">
                <a:solidFill>
                  <a:srgbClr val="F8FAFF"/>
                </a:solidFill>
                <a:latin typeface="Calibri" pitchFamily="34" charset="0"/>
                <a:ea typeface="Calibri" pitchFamily="34" charset="-122"/>
                <a:cs typeface="Calibri" pitchFamily="34" charset="-120"/>
              </a:rPr>
              <a:t>⚠  CHALLENGES</a:t>
            </a:r>
            <a:endParaRPr lang="en-US" sz="1400" dirty="0"/>
          </a:p>
        </p:txBody>
      </p:sp>
      <p:sp>
        <p:nvSpPr>
          <p:cNvPr id="7" name="Shape 5"/>
          <p:cNvSpPr/>
          <p:nvPr/>
        </p:nvSpPr>
        <p:spPr>
          <a:xfrm>
            <a:off x="4617720" y="1170432"/>
            <a:ext cx="4160520" cy="420624"/>
          </a:xfrm>
          <a:prstGeom prst="rect">
            <a:avLst/>
          </a:prstGeom>
          <a:solidFill>
            <a:srgbClr val="15803D"/>
          </a:solidFill>
          <a:ln w="12700">
            <a:solidFill>
              <a:srgbClr val="15803D"/>
            </a:solidFill>
            <a:prstDash val="solid"/>
          </a:ln>
        </p:spPr>
      </p:sp>
      <p:sp>
        <p:nvSpPr>
          <p:cNvPr id="8" name="Text 6"/>
          <p:cNvSpPr/>
          <p:nvPr/>
        </p:nvSpPr>
        <p:spPr>
          <a:xfrm>
            <a:off x="4617720" y="1170432"/>
            <a:ext cx="4160520" cy="420624"/>
          </a:xfrm>
          <a:prstGeom prst="rect">
            <a:avLst/>
          </a:prstGeom>
          <a:noFill/>
          <a:ln/>
        </p:spPr>
        <p:txBody>
          <a:bodyPr wrap="square" rtlCol="0" anchor="ctr"/>
          <a:lstStyle/>
          <a:p>
            <a:pPr algn="ctr" indent="0" marL="0">
              <a:buNone/>
            </a:pPr>
            <a:r>
              <a:rPr lang="en-US" sz="1400" b="1" dirty="0">
                <a:solidFill>
                  <a:srgbClr val="F8FAFF"/>
                </a:solidFill>
                <a:latin typeface="Calibri" pitchFamily="34" charset="0"/>
                <a:ea typeface="Calibri" pitchFamily="34" charset="-122"/>
                <a:cs typeface="Calibri" pitchFamily="34" charset="-120"/>
              </a:rPr>
              <a:t>✔  SOLUTIONS</a:t>
            </a:r>
            <a:endParaRPr lang="en-US" sz="1400" dirty="0"/>
          </a:p>
        </p:txBody>
      </p:sp>
      <p:sp>
        <p:nvSpPr>
          <p:cNvPr id="9" name="Shape 7"/>
          <p:cNvSpPr/>
          <p:nvPr/>
        </p:nvSpPr>
        <p:spPr>
          <a:xfrm>
            <a:off x="365760" y="1682496"/>
            <a:ext cx="4160520" cy="594360"/>
          </a:xfrm>
          <a:prstGeom prst="rect">
            <a:avLst/>
          </a:prstGeom>
          <a:solidFill>
            <a:srgbClr val="0A1628"/>
          </a:solidFill>
          <a:ln w="9525">
            <a:solidFill>
              <a:srgbClr val="7F1D1D"/>
            </a:solidFill>
            <a:prstDash val="solid"/>
          </a:ln>
        </p:spPr>
      </p:sp>
      <p:sp>
        <p:nvSpPr>
          <p:cNvPr id="10" name="Shape 8"/>
          <p:cNvSpPr/>
          <p:nvPr/>
        </p:nvSpPr>
        <p:spPr>
          <a:xfrm>
            <a:off x="365760" y="1682496"/>
            <a:ext cx="91440" cy="594360"/>
          </a:xfrm>
          <a:prstGeom prst="rect">
            <a:avLst/>
          </a:prstGeom>
          <a:solidFill>
            <a:srgbClr val="DC2626"/>
          </a:solidFill>
          <a:ln w="12700">
            <a:solidFill>
              <a:srgbClr val="DC2626"/>
            </a:solidFill>
            <a:prstDash val="solid"/>
          </a:ln>
        </p:spPr>
      </p:sp>
      <p:sp>
        <p:nvSpPr>
          <p:cNvPr id="11" name="Text 9"/>
          <p:cNvSpPr/>
          <p:nvPr/>
        </p:nvSpPr>
        <p:spPr>
          <a:xfrm>
            <a:off x="548640" y="1719072"/>
            <a:ext cx="3840480" cy="256032"/>
          </a:xfrm>
          <a:prstGeom prst="rect">
            <a:avLst/>
          </a:prstGeom>
          <a:noFill/>
          <a:ln/>
        </p:spPr>
        <p:txBody>
          <a:bodyPr wrap="square" rtlCol="0" anchor="ctr"/>
          <a:lstStyle/>
          <a:p>
            <a:pPr indent="0" marL="0">
              <a:buNone/>
            </a:pPr>
            <a:r>
              <a:rPr lang="en-US" sz="1100" b="1" dirty="0">
                <a:solidFill>
                  <a:srgbClr val="FCA5A5"/>
                </a:solidFill>
                <a:latin typeface="Calibri" pitchFamily="34" charset="0"/>
                <a:ea typeface="Calibri" pitchFamily="34" charset="-122"/>
                <a:cs typeface="Calibri" pitchFamily="34" charset="-120"/>
              </a:rPr>
              <a:t>Data Quality Issues</a:t>
            </a:r>
            <a:endParaRPr lang="en-US" sz="1100" dirty="0"/>
          </a:p>
        </p:txBody>
      </p:sp>
      <p:sp>
        <p:nvSpPr>
          <p:cNvPr id="12" name="Text 10"/>
          <p:cNvSpPr/>
          <p:nvPr/>
        </p:nvSpPr>
        <p:spPr>
          <a:xfrm>
            <a:off x="548640" y="1975104"/>
            <a:ext cx="3840480" cy="256032"/>
          </a:xfrm>
          <a:prstGeom prst="rect">
            <a:avLst/>
          </a:prstGeom>
          <a:noFill/>
          <a:ln/>
        </p:spPr>
        <p:txBody>
          <a:bodyPr wrap="square" rtlCol="0" anchor="ctr"/>
          <a:lstStyle/>
          <a:p>
            <a:pPr indent="0" marL="0">
              <a:buNone/>
            </a:pPr>
            <a:r>
              <a:rPr lang="en-US" sz="950" dirty="0">
                <a:solidFill>
                  <a:srgbClr val="CBD5E1"/>
                </a:solidFill>
                <a:latin typeface="Calibri" pitchFamily="34" charset="0"/>
                <a:ea typeface="Calibri" pitchFamily="34" charset="-122"/>
                <a:cs typeface="Calibri" pitchFamily="34" charset="-120"/>
              </a:rPr>
              <a:t>Incomplete, inconsistent, or noisy financial data compromises analysis accuracy.</a:t>
            </a:r>
            <a:endParaRPr lang="en-US" sz="950" dirty="0"/>
          </a:p>
        </p:txBody>
      </p:sp>
      <p:sp>
        <p:nvSpPr>
          <p:cNvPr id="13" name="Shape 11"/>
          <p:cNvSpPr/>
          <p:nvPr/>
        </p:nvSpPr>
        <p:spPr>
          <a:xfrm>
            <a:off x="4617720" y="1682496"/>
            <a:ext cx="4160520" cy="594360"/>
          </a:xfrm>
          <a:prstGeom prst="rect">
            <a:avLst/>
          </a:prstGeom>
          <a:solidFill>
            <a:srgbClr val="0A1628"/>
          </a:solidFill>
          <a:ln w="9525">
            <a:solidFill>
              <a:srgbClr val="14532D"/>
            </a:solidFill>
            <a:prstDash val="solid"/>
          </a:ln>
        </p:spPr>
      </p:sp>
      <p:sp>
        <p:nvSpPr>
          <p:cNvPr id="14" name="Shape 12"/>
          <p:cNvSpPr/>
          <p:nvPr/>
        </p:nvSpPr>
        <p:spPr>
          <a:xfrm>
            <a:off x="4617720" y="1682496"/>
            <a:ext cx="91440" cy="594360"/>
          </a:xfrm>
          <a:prstGeom prst="rect">
            <a:avLst/>
          </a:prstGeom>
          <a:solidFill>
            <a:srgbClr val="15803D"/>
          </a:solidFill>
          <a:ln w="12700">
            <a:solidFill>
              <a:srgbClr val="15803D"/>
            </a:solidFill>
            <a:prstDash val="solid"/>
          </a:ln>
        </p:spPr>
      </p:sp>
      <p:sp>
        <p:nvSpPr>
          <p:cNvPr id="15" name="Text 13"/>
          <p:cNvSpPr/>
          <p:nvPr/>
        </p:nvSpPr>
        <p:spPr>
          <a:xfrm>
            <a:off x="4800600" y="1719072"/>
            <a:ext cx="3840480" cy="256032"/>
          </a:xfrm>
          <a:prstGeom prst="rect">
            <a:avLst/>
          </a:prstGeom>
          <a:noFill/>
          <a:ln/>
        </p:spPr>
        <p:txBody>
          <a:bodyPr wrap="square" rtlCol="0" anchor="ctr"/>
          <a:lstStyle/>
          <a:p>
            <a:pPr indent="0" marL="0">
              <a:buNone/>
            </a:pPr>
            <a:r>
              <a:rPr lang="en-US" sz="1100" b="1" dirty="0">
                <a:solidFill>
                  <a:srgbClr val="86EFAC"/>
                </a:solidFill>
                <a:latin typeface="Calibri" pitchFamily="34" charset="0"/>
                <a:ea typeface="Calibri" pitchFamily="34" charset="-122"/>
                <a:cs typeface="Calibri" pitchFamily="34" charset="-120"/>
              </a:rPr>
              <a:t>Data Preprocessing</a:t>
            </a:r>
            <a:endParaRPr lang="en-US" sz="1100" dirty="0"/>
          </a:p>
        </p:txBody>
      </p:sp>
      <p:sp>
        <p:nvSpPr>
          <p:cNvPr id="16" name="Text 14"/>
          <p:cNvSpPr/>
          <p:nvPr/>
        </p:nvSpPr>
        <p:spPr>
          <a:xfrm>
            <a:off x="4800600" y="1975104"/>
            <a:ext cx="3840480" cy="256032"/>
          </a:xfrm>
          <a:prstGeom prst="rect">
            <a:avLst/>
          </a:prstGeom>
          <a:noFill/>
          <a:ln/>
        </p:spPr>
        <p:txBody>
          <a:bodyPr wrap="square" rtlCol="0" anchor="ctr"/>
          <a:lstStyle/>
          <a:p>
            <a:pPr indent="0" marL="0">
              <a:buNone/>
            </a:pPr>
            <a:r>
              <a:rPr lang="en-US" sz="950" dirty="0">
                <a:solidFill>
                  <a:srgbClr val="CBD5E1"/>
                </a:solidFill>
                <a:latin typeface="Calibri" pitchFamily="34" charset="0"/>
                <a:ea typeface="Calibri" pitchFamily="34" charset="-122"/>
                <a:cs typeface="Calibri" pitchFamily="34" charset="-120"/>
              </a:rPr>
              <a:t>Invest in robust cleaning and preprocessing to ensure quality and reliability.</a:t>
            </a:r>
            <a:endParaRPr lang="en-US" sz="950" dirty="0"/>
          </a:p>
        </p:txBody>
      </p:sp>
      <p:sp>
        <p:nvSpPr>
          <p:cNvPr id="17" name="Shape 15"/>
          <p:cNvSpPr/>
          <p:nvPr/>
        </p:nvSpPr>
        <p:spPr>
          <a:xfrm>
            <a:off x="365760" y="2350008"/>
            <a:ext cx="4160520" cy="594360"/>
          </a:xfrm>
          <a:prstGeom prst="rect">
            <a:avLst/>
          </a:prstGeom>
          <a:solidFill>
            <a:srgbClr val="0A1628"/>
          </a:solidFill>
          <a:ln w="9525">
            <a:solidFill>
              <a:srgbClr val="7F1D1D"/>
            </a:solidFill>
            <a:prstDash val="solid"/>
          </a:ln>
        </p:spPr>
      </p:sp>
      <p:sp>
        <p:nvSpPr>
          <p:cNvPr id="18" name="Shape 16"/>
          <p:cNvSpPr/>
          <p:nvPr/>
        </p:nvSpPr>
        <p:spPr>
          <a:xfrm>
            <a:off x="365760" y="2350008"/>
            <a:ext cx="91440" cy="594360"/>
          </a:xfrm>
          <a:prstGeom prst="rect">
            <a:avLst/>
          </a:prstGeom>
          <a:solidFill>
            <a:srgbClr val="DC2626"/>
          </a:solidFill>
          <a:ln w="12700">
            <a:solidFill>
              <a:srgbClr val="DC2626"/>
            </a:solidFill>
            <a:prstDash val="solid"/>
          </a:ln>
        </p:spPr>
      </p:sp>
      <p:sp>
        <p:nvSpPr>
          <p:cNvPr id="19" name="Text 17"/>
          <p:cNvSpPr/>
          <p:nvPr/>
        </p:nvSpPr>
        <p:spPr>
          <a:xfrm>
            <a:off x="548640" y="2386584"/>
            <a:ext cx="3840480" cy="256032"/>
          </a:xfrm>
          <a:prstGeom prst="rect">
            <a:avLst/>
          </a:prstGeom>
          <a:noFill/>
          <a:ln/>
        </p:spPr>
        <p:txBody>
          <a:bodyPr wrap="square" rtlCol="0" anchor="ctr"/>
          <a:lstStyle/>
          <a:p>
            <a:pPr indent="0" marL="0">
              <a:buNone/>
            </a:pPr>
            <a:r>
              <a:rPr lang="en-US" sz="1100" b="1" dirty="0">
                <a:solidFill>
                  <a:srgbClr val="FCA5A5"/>
                </a:solidFill>
                <a:latin typeface="Calibri" pitchFamily="34" charset="0"/>
                <a:ea typeface="Calibri" pitchFamily="34" charset="-122"/>
                <a:cs typeface="Calibri" pitchFamily="34" charset="-120"/>
              </a:rPr>
              <a:t>Scalability</a:t>
            </a:r>
            <a:endParaRPr lang="en-US" sz="1100" dirty="0"/>
          </a:p>
        </p:txBody>
      </p:sp>
      <p:sp>
        <p:nvSpPr>
          <p:cNvPr id="20" name="Text 18"/>
          <p:cNvSpPr/>
          <p:nvPr/>
        </p:nvSpPr>
        <p:spPr>
          <a:xfrm>
            <a:off x="548640" y="2642616"/>
            <a:ext cx="3840480" cy="256032"/>
          </a:xfrm>
          <a:prstGeom prst="rect">
            <a:avLst/>
          </a:prstGeom>
          <a:noFill/>
          <a:ln/>
        </p:spPr>
        <p:txBody>
          <a:bodyPr wrap="square" rtlCol="0" anchor="ctr"/>
          <a:lstStyle/>
          <a:p>
            <a:pPr indent="0" marL="0">
              <a:buNone/>
            </a:pPr>
            <a:r>
              <a:rPr lang="en-US" sz="950" dirty="0">
                <a:solidFill>
                  <a:srgbClr val="CBD5E1"/>
                </a:solidFill>
                <a:latin typeface="Calibri" pitchFamily="34" charset="0"/>
                <a:ea typeface="Calibri" pitchFamily="34" charset="-122"/>
                <a:cs typeface="Calibri" pitchFamily="34" charset="-120"/>
              </a:rPr>
              <a:t>Growing datasets require advanced computational resources and processing power.</a:t>
            </a:r>
            <a:endParaRPr lang="en-US" sz="950" dirty="0"/>
          </a:p>
        </p:txBody>
      </p:sp>
      <p:sp>
        <p:nvSpPr>
          <p:cNvPr id="21" name="Shape 19"/>
          <p:cNvSpPr/>
          <p:nvPr/>
        </p:nvSpPr>
        <p:spPr>
          <a:xfrm>
            <a:off x="4617720" y="2350008"/>
            <a:ext cx="4160520" cy="594360"/>
          </a:xfrm>
          <a:prstGeom prst="rect">
            <a:avLst/>
          </a:prstGeom>
          <a:solidFill>
            <a:srgbClr val="0A1628"/>
          </a:solidFill>
          <a:ln w="9525">
            <a:solidFill>
              <a:srgbClr val="14532D"/>
            </a:solidFill>
            <a:prstDash val="solid"/>
          </a:ln>
        </p:spPr>
      </p:sp>
      <p:sp>
        <p:nvSpPr>
          <p:cNvPr id="22" name="Shape 20"/>
          <p:cNvSpPr/>
          <p:nvPr/>
        </p:nvSpPr>
        <p:spPr>
          <a:xfrm>
            <a:off x="4617720" y="2350008"/>
            <a:ext cx="91440" cy="594360"/>
          </a:xfrm>
          <a:prstGeom prst="rect">
            <a:avLst/>
          </a:prstGeom>
          <a:solidFill>
            <a:srgbClr val="15803D"/>
          </a:solidFill>
          <a:ln w="12700">
            <a:solidFill>
              <a:srgbClr val="15803D"/>
            </a:solidFill>
            <a:prstDash val="solid"/>
          </a:ln>
        </p:spPr>
      </p:sp>
      <p:sp>
        <p:nvSpPr>
          <p:cNvPr id="23" name="Text 21"/>
          <p:cNvSpPr/>
          <p:nvPr/>
        </p:nvSpPr>
        <p:spPr>
          <a:xfrm>
            <a:off x="4800600" y="2386584"/>
            <a:ext cx="3840480" cy="256032"/>
          </a:xfrm>
          <a:prstGeom prst="rect">
            <a:avLst/>
          </a:prstGeom>
          <a:noFill/>
          <a:ln/>
        </p:spPr>
        <p:txBody>
          <a:bodyPr wrap="square" rtlCol="0" anchor="ctr"/>
          <a:lstStyle/>
          <a:p>
            <a:pPr indent="0" marL="0">
              <a:buNone/>
            </a:pPr>
            <a:r>
              <a:rPr lang="en-US" sz="1100" b="1" dirty="0">
                <a:solidFill>
                  <a:srgbClr val="86EFAC"/>
                </a:solidFill>
                <a:latin typeface="Calibri" pitchFamily="34" charset="0"/>
                <a:ea typeface="Calibri" pitchFamily="34" charset="-122"/>
                <a:cs typeface="Calibri" pitchFamily="34" charset="-120"/>
              </a:rPr>
              <a:t>Scalable Infrastructure</a:t>
            </a:r>
            <a:endParaRPr lang="en-US" sz="1100" dirty="0"/>
          </a:p>
        </p:txBody>
      </p:sp>
      <p:sp>
        <p:nvSpPr>
          <p:cNvPr id="24" name="Text 22"/>
          <p:cNvSpPr/>
          <p:nvPr/>
        </p:nvSpPr>
        <p:spPr>
          <a:xfrm>
            <a:off x="4800600" y="2642616"/>
            <a:ext cx="3840480" cy="256032"/>
          </a:xfrm>
          <a:prstGeom prst="rect">
            <a:avLst/>
          </a:prstGeom>
          <a:noFill/>
          <a:ln/>
        </p:spPr>
        <p:txBody>
          <a:bodyPr wrap="square" rtlCol="0" anchor="ctr"/>
          <a:lstStyle/>
          <a:p>
            <a:pPr indent="0" marL="0">
              <a:buNone/>
            </a:pPr>
            <a:r>
              <a:rPr lang="en-US" sz="950" dirty="0">
                <a:solidFill>
                  <a:srgbClr val="CBD5E1"/>
                </a:solidFill>
                <a:latin typeface="Calibri" pitchFamily="34" charset="0"/>
                <a:ea typeface="Calibri" pitchFamily="34" charset="-122"/>
                <a:cs typeface="Calibri" pitchFamily="34" charset="-120"/>
              </a:rPr>
              <a:t>Adopt cloud-based solutions and distributed computing frameworks like Apache Spark.</a:t>
            </a:r>
            <a:endParaRPr lang="en-US" sz="950" dirty="0"/>
          </a:p>
        </p:txBody>
      </p:sp>
      <p:sp>
        <p:nvSpPr>
          <p:cNvPr id="25" name="Shape 23"/>
          <p:cNvSpPr/>
          <p:nvPr/>
        </p:nvSpPr>
        <p:spPr>
          <a:xfrm>
            <a:off x="365760" y="3017520"/>
            <a:ext cx="4160520" cy="594360"/>
          </a:xfrm>
          <a:prstGeom prst="rect">
            <a:avLst/>
          </a:prstGeom>
          <a:solidFill>
            <a:srgbClr val="0A1628"/>
          </a:solidFill>
          <a:ln w="9525">
            <a:solidFill>
              <a:srgbClr val="7F1D1D"/>
            </a:solidFill>
            <a:prstDash val="solid"/>
          </a:ln>
        </p:spPr>
      </p:sp>
      <p:sp>
        <p:nvSpPr>
          <p:cNvPr id="26" name="Shape 24"/>
          <p:cNvSpPr/>
          <p:nvPr/>
        </p:nvSpPr>
        <p:spPr>
          <a:xfrm>
            <a:off x="365760" y="3017520"/>
            <a:ext cx="91440" cy="594360"/>
          </a:xfrm>
          <a:prstGeom prst="rect">
            <a:avLst/>
          </a:prstGeom>
          <a:solidFill>
            <a:srgbClr val="DC2626"/>
          </a:solidFill>
          <a:ln w="12700">
            <a:solidFill>
              <a:srgbClr val="DC2626"/>
            </a:solidFill>
            <a:prstDash val="solid"/>
          </a:ln>
        </p:spPr>
      </p:sp>
      <p:sp>
        <p:nvSpPr>
          <p:cNvPr id="27" name="Text 25"/>
          <p:cNvSpPr/>
          <p:nvPr/>
        </p:nvSpPr>
        <p:spPr>
          <a:xfrm>
            <a:off x="548640" y="3054096"/>
            <a:ext cx="3840480" cy="256032"/>
          </a:xfrm>
          <a:prstGeom prst="rect">
            <a:avLst/>
          </a:prstGeom>
          <a:noFill/>
          <a:ln/>
        </p:spPr>
        <p:txBody>
          <a:bodyPr wrap="square" rtlCol="0" anchor="ctr"/>
          <a:lstStyle/>
          <a:p>
            <a:pPr indent="0" marL="0">
              <a:buNone/>
            </a:pPr>
            <a:r>
              <a:rPr lang="en-US" sz="1100" b="1" dirty="0">
                <a:solidFill>
                  <a:srgbClr val="FCA5A5"/>
                </a:solidFill>
                <a:latin typeface="Calibri" pitchFamily="34" charset="0"/>
                <a:ea typeface="Calibri" pitchFamily="34" charset="-122"/>
                <a:cs typeface="Calibri" pitchFamily="34" charset="-120"/>
              </a:rPr>
              <a:t>Regulatory Compliance</a:t>
            </a:r>
            <a:endParaRPr lang="en-US" sz="1100" dirty="0"/>
          </a:p>
        </p:txBody>
      </p:sp>
      <p:sp>
        <p:nvSpPr>
          <p:cNvPr id="28" name="Text 26"/>
          <p:cNvSpPr/>
          <p:nvPr/>
        </p:nvSpPr>
        <p:spPr>
          <a:xfrm>
            <a:off x="548640" y="3310128"/>
            <a:ext cx="3840480" cy="256032"/>
          </a:xfrm>
          <a:prstGeom prst="rect">
            <a:avLst/>
          </a:prstGeom>
          <a:noFill/>
          <a:ln/>
        </p:spPr>
        <p:txBody>
          <a:bodyPr wrap="square" rtlCol="0" anchor="ctr"/>
          <a:lstStyle/>
          <a:p>
            <a:pPr indent="0" marL="0">
              <a:buNone/>
            </a:pPr>
            <a:r>
              <a:rPr lang="en-US" sz="950" dirty="0">
                <a:solidFill>
                  <a:srgbClr val="CBD5E1"/>
                </a:solidFill>
                <a:latin typeface="Calibri" pitchFamily="34" charset="0"/>
                <a:ea typeface="Calibri" pitchFamily="34" charset="-122"/>
                <a:cs typeface="Calibri" pitchFamily="34" charset="-120"/>
              </a:rPr>
              <a:t>Complex data privacy and security regulations limit data mining scope.</a:t>
            </a:r>
            <a:endParaRPr lang="en-US" sz="950" dirty="0"/>
          </a:p>
        </p:txBody>
      </p:sp>
      <p:sp>
        <p:nvSpPr>
          <p:cNvPr id="29" name="Shape 27"/>
          <p:cNvSpPr/>
          <p:nvPr/>
        </p:nvSpPr>
        <p:spPr>
          <a:xfrm>
            <a:off x="4617720" y="3017520"/>
            <a:ext cx="4160520" cy="594360"/>
          </a:xfrm>
          <a:prstGeom prst="rect">
            <a:avLst/>
          </a:prstGeom>
          <a:solidFill>
            <a:srgbClr val="0A1628"/>
          </a:solidFill>
          <a:ln w="9525">
            <a:solidFill>
              <a:srgbClr val="14532D"/>
            </a:solidFill>
            <a:prstDash val="solid"/>
          </a:ln>
        </p:spPr>
      </p:sp>
      <p:sp>
        <p:nvSpPr>
          <p:cNvPr id="30" name="Shape 28"/>
          <p:cNvSpPr/>
          <p:nvPr/>
        </p:nvSpPr>
        <p:spPr>
          <a:xfrm>
            <a:off x="4617720" y="3017520"/>
            <a:ext cx="91440" cy="594360"/>
          </a:xfrm>
          <a:prstGeom prst="rect">
            <a:avLst/>
          </a:prstGeom>
          <a:solidFill>
            <a:srgbClr val="15803D"/>
          </a:solidFill>
          <a:ln w="12700">
            <a:solidFill>
              <a:srgbClr val="15803D"/>
            </a:solidFill>
            <a:prstDash val="solid"/>
          </a:ln>
        </p:spPr>
      </p:sp>
      <p:sp>
        <p:nvSpPr>
          <p:cNvPr id="31" name="Text 29"/>
          <p:cNvSpPr/>
          <p:nvPr/>
        </p:nvSpPr>
        <p:spPr>
          <a:xfrm>
            <a:off x="4800600" y="3054096"/>
            <a:ext cx="3840480" cy="256032"/>
          </a:xfrm>
          <a:prstGeom prst="rect">
            <a:avLst/>
          </a:prstGeom>
          <a:noFill/>
          <a:ln/>
        </p:spPr>
        <p:txBody>
          <a:bodyPr wrap="square" rtlCol="0" anchor="ctr"/>
          <a:lstStyle/>
          <a:p>
            <a:pPr indent="0" marL="0">
              <a:buNone/>
            </a:pPr>
            <a:r>
              <a:rPr lang="en-US" sz="1100" b="1" dirty="0">
                <a:solidFill>
                  <a:srgbClr val="86EFAC"/>
                </a:solidFill>
                <a:latin typeface="Calibri" pitchFamily="34" charset="0"/>
                <a:ea typeface="Calibri" pitchFamily="34" charset="-122"/>
                <a:cs typeface="Calibri" pitchFamily="34" charset="-120"/>
              </a:rPr>
              <a:t>Compliance Frameworks</a:t>
            </a:r>
            <a:endParaRPr lang="en-US" sz="1100" dirty="0"/>
          </a:p>
        </p:txBody>
      </p:sp>
      <p:sp>
        <p:nvSpPr>
          <p:cNvPr id="32" name="Text 30"/>
          <p:cNvSpPr/>
          <p:nvPr/>
        </p:nvSpPr>
        <p:spPr>
          <a:xfrm>
            <a:off x="4800600" y="3310128"/>
            <a:ext cx="3840480" cy="256032"/>
          </a:xfrm>
          <a:prstGeom prst="rect">
            <a:avLst/>
          </a:prstGeom>
          <a:noFill/>
          <a:ln/>
        </p:spPr>
        <p:txBody>
          <a:bodyPr wrap="square" rtlCol="0" anchor="ctr"/>
          <a:lstStyle/>
          <a:p>
            <a:pPr indent="0" marL="0">
              <a:buNone/>
            </a:pPr>
            <a:r>
              <a:rPr lang="en-US" sz="950" dirty="0">
                <a:solidFill>
                  <a:srgbClr val="CBD5E1"/>
                </a:solidFill>
                <a:latin typeface="Calibri" pitchFamily="34" charset="0"/>
                <a:ea typeface="Calibri" pitchFamily="34" charset="-122"/>
                <a:cs typeface="Calibri" pitchFamily="34" charset="-120"/>
              </a:rPr>
              <a:t>Work with legal teams to maximize data mining utility within regulatory boundaries.</a:t>
            </a:r>
            <a:endParaRPr lang="en-US" sz="950" dirty="0"/>
          </a:p>
        </p:txBody>
      </p:sp>
      <p:sp>
        <p:nvSpPr>
          <p:cNvPr id="33" name="Shape 31"/>
          <p:cNvSpPr/>
          <p:nvPr/>
        </p:nvSpPr>
        <p:spPr>
          <a:xfrm>
            <a:off x="365760" y="3685032"/>
            <a:ext cx="4160520" cy="594360"/>
          </a:xfrm>
          <a:prstGeom prst="rect">
            <a:avLst/>
          </a:prstGeom>
          <a:solidFill>
            <a:srgbClr val="0A1628"/>
          </a:solidFill>
          <a:ln w="9525">
            <a:solidFill>
              <a:srgbClr val="7F1D1D"/>
            </a:solidFill>
            <a:prstDash val="solid"/>
          </a:ln>
        </p:spPr>
      </p:sp>
      <p:sp>
        <p:nvSpPr>
          <p:cNvPr id="34" name="Shape 32"/>
          <p:cNvSpPr/>
          <p:nvPr/>
        </p:nvSpPr>
        <p:spPr>
          <a:xfrm>
            <a:off x="365760" y="3685032"/>
            <a:ext cx="91440" cy="594360"/>
          </a:xfrm>
          <a:prstGeom prst="rect">
            <a:avLst/>
          </a:prstGeom>
          <a:solidFill>
            <a:srgbClr val="DC2626"/>
          </a:solidFill>
          <a:ln w="12700">
            <a:solidFill>
              <a:srgbClr val="DC2626"/>
            </a:solidFill>
            <a:prstDash val="solid"/>
          </a:ln>
        </p:spPr>
      </p:sp>
      <p:sp>
        <p:nvSpPr>
          <p:cNvPr id="35" name="Text 33"/>
          <p:cNvSpPr/>
          <p:nvPr/>
        </p:nvSpPr>
        <p:spPr>
          <a:xfrm>
            <a:off x="548640" y="3721608"/>
            <a:ext cx="3840480" cy="256032"/>
          </a:xfrm>
          <a:prstGeom prst="rect">
            <a:avLst/>
          </a:prstGeom>
          <a:noFill/>
          <a:ln/>
        </p:spPr>
        <p:txBody>
          <a:bodyPr wrap="square" rtlCol="0" anchor="ctr"/>
          <a:lstStyle/>
          <a:p>
            <a:pPr indent="0" marL="0">
              <a:buNone/>
            </a:pPr>
            <a:r>
              <a:rPr lang="en-US" sz="1100" b="1" dirty="0">
                <a:solidFill>
                  <a:srgbClr val="FCA5A5"/>
                </a:solidFill>
                <a:latin typeface="Calibri" pitchFamily="34" charset="0"/>
                <a:ea typeface="Calibri" pitchFamily="34" charset="-122"/>
                <a:cs typeface="Calibri" pitchFamily="34" charset="-120"/>
              </a:rPr>
              <a:t>Interpretability</a:t>
            </a:r>
            <a:endParaRPr lang="en-US" sz="1100" dirty="0"/>
          </a:p>
        </p:txBody>
      </p:sp>
      <p:sp>
        <p:nvSpPr>
          <p:cNvPr id="36" name="Text 34"/>
          <p:cNvSpPr/>
          <p:nvPr/>
        </p:nvSpPr>
        <p:spPr>
          <a:xfrm>
            <a:off x="548640" y="3977640"/>
            <a:ext cx="3840480" cy="256032"/>
          </a:xfrm>
          <a:prstGeom prst="rect">
            <a:avLst/>
          </a:prstGeom>
          <a:noFill/>
          <a:ln/>
        </p:spPr>
        <p:txBody>
          <a:bodyPr wrap="square" rtlCol="0" anchor="ctr"/>
          <a:lstStyle/>
          <a:p>
            <a:pPr indent="0" marL="0">
              <a:buNone/>
            </a:pPr>
            <a:r>
              <a:rPr lang="en-US" sz="950" dirty="0">
                <a:solidFill>
                  <a:srgbClr val="CBD5E1"/>
                </a:solidFill>
                <a:latin typeface="Calibri" pitchFamily="34" charset="0"/>
                <a:ea typeface="Calibri" pitchFamily="34" charset="-122"/>
                <a:cs typeface="Calibri" pitchFamily="34" charset="-120"/>
              </a:rPr>
              <a:t>Deep learning models are hard to explain to non-technical stakeholders.</a:t>
            </a:r>
            <a:endParaRPr lang="en-US" sz="950" dirty="0"/>
          </a:p>
        </p:txBody>
      </p:sp>
      <p:sp>
        <p:nvSpPr>
          <p:cNvPr id="37" name="Shape 35"/>
          <p:cNvSpPr/>
          <p:nvPr/>
        </p:nvSpPr>
        <p:spPr>
          <a:xfrm>
            <a:off x="4617720" y="3685032"/>
            <a:ext cx="4160520" cy="594360"/>
          </a:xfrm>
          <a:prstGeom prst="rect">
            <a:avLst/>
          </a:prstGeom>
          <a:solidFill>
            <a:srgbClr val="0A1628"/>
          </a:solidFill>
          <a:ln w="9525">
            <a:solidFill>
              <a:srgbClr val="14532D"/>
            </a:solidFill>
            <a:prstDash val="solid"/>
          </a:ln>
        </p:spPr>
      </p:sp>
      <p:sp>
        <p:nvSpPr>
          <p:cNvPr id="38" name="Shape 36"/>
          <p:cNvSpPr/>
          <p:nvPr/>
        </p:nvSpPr>
        <p:spPr>
          <a:xfrm>
            <a:off x="4617720" y="3685032"/>
            <a:ext cx="91440" cy="594360"/>
          </a:xfrm>
          <a:prstGeom prst="rect">
            <a:avLst/>
          </a:prstGeom>
          <a:solidFill>
            <a:srgbClr val="15803D"/>
          </a:solidFill>
          <a:ln w="12700">
            <a:solidFill>
              <a:srgbClr val="15803D"/>
            </a:solidFill>
            <a:prstDash val="solid"/>
          </a:ln>
        </p:spPr>
      </p:sp>
      <p:sp>
        <p:nvSpPr>
          <p:cNvPr id="39" name="Text 37"/>
          <p:cNvSpPr/>
          <p:nvPr/>
        </p:nvSpPr>
        <p:spPr>
          <a:xfrm>
            <a:off x="4800600" y="3721608"/>
            <a:ext cx="3840480" cy="256032"/>
          </a:xfrm>
          <a:prstGeom prst="rect">
            <a:avLst/>
          </a:prstGeom>
          <a:noFill/>
          <a:ln/>
        </p:spPr>
        <p:txBody>
          <a:bodyPr wrap="square" rtlCol="0" anchor="ctr"/>
          <a:lstStyle/>
          <a:p>
            <a:pPr indent="0" marL="0">
              <a:buNone/>
            </a:pPr>
            <a:r>
              <a:rPr lang="en-US" sz="1100" b="1" dirty="0">
                <a:solidFill>
                  <a:srgbClr val="86EFAC"/>
                </a:solidFill>
                <a:latin typeface="Calibri" pitchFamily="34" charset="0"/>
                <a:ea typeface="Calibri" pitchFamily="34" charset="-122"/>
                <a:cs typeface="Calibri" pitchFamily="34" charset="-120"/>
              </a:rPr>
              <a:t>Explainable AI</a:t>
            </a:r>
            <a:endParaRPr lang="en-US" sz="1100" dirty="0"/>
          </a:p>
        </p:txBody>
      </p:sp>
      <p:sp>
        <p:nvSpPr>
          <p:cNvPr id="40" name="Text 38"/>
          <p:cNvSpPr/>
          <p:nvPr/>
        </p:nvSpPr>
        <p:spPr>
          <a:xfrm>
            <a:off x="4800600" y="3977640"/>
            <a:ext cx="3840480" cy="256032"/>
          </a:xfrm>
          <a:prstGeom prst="rect">
            <a:avLst/>
          </a:prstGeom>
          <a:noFill/>
          <a:ln/>
        </p:spPr>
        <p:txBody>
          <a:bodyPr wrap="square" rtlCol="0" anchor="ctr"/>
          <a:lstStyle/>
          <a:p>
            <a:pPr indent="0" marL="0">
              <a:buNone/>
            </a:pPr>
            <a:r>
              <a:rPr lang="en-US" sz="950" dirty="0">
                <a:solidFill>
                  <a:srgbClr val="CBD5E1"/>
                </a:solidFill>
                <a:latin typeface="Calibri" pitchFamily="34" charset="0"/>
                <a:ea typeface="Calibri" pitchFamily="34" charset="-122"/>
                <a:cs typeface="Calibri" pitchFamily="34" charset="-120"/>
              </a:rPr>
              <a:t>Use interpretable models and visualization tools to make outputs understandable.</a:t>
            </a:r>
            <a:endParaRPr lang="en-US" sz="950" dirty="0"/>
          </a:p>
        </p:txBody>
      </p:sp>
      <p:sp>
        <p:nvSpPr>
          <p:cNvPr id="41" name="Shape 39"/>
          <p:cNvSpPr/>
          <p:nvPr/>
        </p:nvSpPr>
        <p:spPr>
          <a:xfrm>
            <a:off x="365760" y="4352544"/>
            <a:ext cx="4160520" cy="594360"/>
          </a:xfrm>
          <a:prstGeom prst="rect">
            <a:avLst/>
          </a:prstGeom>
          <a:solidFill>
            <a:srgbClr val="0A1628"/>
          </a:solidFill>
          <a:ln w="9525">
            <a:solidFill>
              <a:srgbClr val="7F1D1D"/>
            </a:solidFill>
            <a:prstDash val="solid"/>
          </a:ln>
        </p:spPr>
      </p:sp>
      <p:sp>
        <p:nvSpPr>
          <p:cNvPr id="42" name="Shape 40"/>
          <p:cNvSpPr/>
          <p:nvPr/>
        </p:nvSpPr>
        <p:spPr>
          <a:xfrm>
            <a:off x="365760" y="4352544"/>
            <a:ext cx="91440" cy="594360"/>
          </a:xfrm>
          <a:prstGeom prst="rect">
            <a:avLst/>
          </a:prstGeom>
          <a:solidFill>
            <a:srgbClr val="DC2626"/>
          </a:solidFill>
          <a:ln w="12700">
            <a:solidFill>
              <a:srgbClr val="DC2626"/>
            </a:solidFill>
            <a:prstDash val="solid"/>
          </a:ln>
        </p:spPr>
      </p:sp>
      <p:sp>
        <p:nvSpPr>
          <p:cNvPr id="43" name="Text 41"/>
          <p:cNvSpPr/>
          <p:nvPr/>
        </p:nvSpPr>
        <p:spPr>
          <a:xfrm>
            <a:off x="548640" y="4389120"/>
            <a:ext cx="3840480" cy="256032"/>
          </a:xfrm>
          <a:prstGeom prst="rect">
            <a:avLst/>
          </a:prstGeom>
          <a:noFill/>
          <a:ln/>
        </p:spPr>
        <p:txBody>
          <a:bodyPr wrap="square" rtlCol="0" anchor="ctr"/>
          <a:lstStyle/>
          <a:p>
            <a:pPr indent="0" marL="0">
              <a:buNone/>
            </a:pPr>
            <a:r>
              <a:rPr lang="en-US" sz="1100" b="1" dirty="0">
                <a:solidFill>
                  <a:srgbClr val="FCA5A5"/>
                </a:solidFill>
                <a:latin typeface="Calibri" pitchFamily="34" charset="0"/>
                <a:ea typeface="Calibri" pitchFamily="34" charset="-122"/>
                <a:cs typeface="Calibri" pitchFamily="34" charset="-120"/>
              </a:rPr>
              <a:t>Ethical Concerns</a:t>
            </a:r>
            <a:endParaRPr lang="en-US" sz="1100" dirty="0"/>
          </a:p>
        </p:txBody>
      </p:sp>
      <p:sp>
        <p:nvSpPr>
          <p:cNvPr id="44" name="Text 42"/>
          <p:cNvSpPr/>
          <p:nvPr/>
        </p:nvSpPr>
        <p:spPr>
          <a:xfrm>
            <a:off x="548640" y="4645152"/>
            <a:ext cx="3840480" cy="256032"/>
          </a:xfrm>
          <a:prstGeom prst="rect">
            <a:avLst/>
          </a:prstGeom>
          <a:noFill/>
          <a:ln/>
        </p:spPr>
        <p:txBody>
          <a:bodyPr wrap="square" rtlCol="0" anchor="ctr"/>
          <a:lstStyle/>
          <a:p>
            <a:pPr indent="0" marL="0">
              <a:buNone/>
            </a:pPr>
            <a:r>
              <a:rPr lang="en-US" sz="950" dirty="0">
                <a:solidFill>
                  <a:srgbClr val="CBD5E1"/>
                </a:solidFill>
                <a:latin typeface="Calibri" pitchFamily="34" charset="0"/>
                <a:ea typeface="Calibri" pitchFamily="34" charset="-122"/>
                <a:cs typeface="Calibri" pitchFamily="34" charset="-120"/>
              </a:rPr>
              <a:t>Sensitive financial data raises privacy and fairness issues in scoring and marketing.</a:t>
            </a:r>
            <a:endParaRPr lang="en-US" sz="950" dirty="0"/>
          </a:p>
        </p:txBody>
      </p:sp>
      <p:sp>
        <p:nvSpPr>
          <p:cNvPr id="45" name="Shape 43"/>
          <p:cNvSpPr/>
          <p:nvPr/>
        </p:nvSpPr>
        <p:spPr>
          <a:xfrm>
            <a:off x="4617720" y="4352544"/>
            <a:ext cx="4160520" cy="594360"/>
          </a:xfrm>
          <a:prstGeom prst="rect">
            <a:avLst/>
          </a:prstGeom>
          <a:solidFill>
            <a:srgbClr val="0A1628"/>
          </a:solidFill>
          <a:ln w="9525">
            <a:solidFill>
              <a:srgbClr val="14532D"/>
            </a:solidFill>
            <a:prstDash val="solid"/>
          </a:ln>
        </p:spPr>
      </p:sp>
      <p:sp>
        <p:nvSpPr>
          <p:cNvPr id="46" name="Shape 44"/>
          <p:cNvSpPr/>
          <p:nvPr/>
        </p:nvSpPr>
        <p:spPr>
          <a:xfrm>
            <a:off x="4617720" y="4352544"/>
            <a:ext cx="91440" cy="594360"/>
          </a:xfrm>
          <a:prstGeom prst="rect">
            <a:avLst/>
          </a:prstGeom>
          <a:solidFill>
            <a:srgbClr val="15803D"/>
          </a:solidFill>
          <a:ln w="12700">
            <a:solidFill>
              <a:srgbClr val="15803D"/>
            </a:solidFill>
            <a:prstDash val="solid"/>
          </a:ln>
        </p:spPr>
      </p:sp>
      <p:sp>
        <p:nvSpPr>
          <p:cNvPr id="47" name="Text 45"/>
          <p:cNvSpPr/>
          <p:nvPr/>
        </p:nvSpPr>
        <p:spPr>
          <a:xfrm>
            <a:off x="4800600" y="4389120"/>
            <a:ext cx="3840480" cy="256032"/>
          </a:xfrm>
          <a:prstGeom prst="rect">
            <a:avLst/>
          </a:prstGeom>
          <a:noFill/>
          <a:ln/>
        </p:spPr>
        <p:txBody>
          <a:bodyPr wrap="square" rtlCol="0" anchor="ctr"/>
          <a:lstStyle/>
          <a:p>
            <a:pPr indent="0" marL="0">
              <a:buNone/>
            </a:pPr>
            <a:r>
              <a:rPr lang="en-US" sz="1100" b="1" dirty="0">
                <a:solidFill>
                  <a:srgbClr val="86EFAC"/>
                </a:solidFill>
                <a:latin typeface="Calibri" pitchFamily="34" charset="0"/>
                <a:ea typeface="Calibri" pitchFamily="34" charset="-122"/>
                <a:cs typeface="Calibri" pitchFamily="34" charset="-120"/>
              </a:rPr>
              <a:t>Ethical Guidelines</a:t>
            </a:r>
            <a:endParaRPr lang="en-US" sz="1100" dirty="0"/>
          </a:p>
        </p:txBody>
      </p:sp>
      <p:sp>
        <p:nvSpPr>
          <p:cNvPr id="48" name="Text 46"/>
          <p:cNvSpPr/>
          <p:nvPr/>
        </p:nvSpPr>
        <p:spPr>
          <a:xfrm>
            <a:off x="4800600" y="4645152"/>
            <a:ext cx="3840480" cy="256032"/>
          </a:xfrm>
          <a:prstGeom prst="rect">
            <a:avLst/>
          </a:prstGeom>
          <a:noFill/>
          <a:ln/>
        </p:spPr>
        <p:txBody>
          <a:bodyPr wrap="square" rtlCol="0" anchor="ctr"/>
          <a:lstStyle/>
          <a:p>
            <a:pPr indent="0" marL="0">
              <a:buNone/>
            </a:pPr>
            <a:r>
              <a:rPr lang="en-US" sz="950" dirty="0">
                <a:solidFill>
                  <a:srgbClr val="CBD5E1"/>
                </a:solidFill>
                <a:latin typeface="Calibri" pitchFamily="34" charset="0"/>
                <a:ea typeface="Calibri" pitchFamily="34" charset="-122"/>
                <a:cs typeface="Calibri" pitchFamily="34" charset="-120"/>
              </a:rPr>
              <a:t>Develop and enforce ethical guidelines prioritising transparency and fairness.</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3460"/>
          </a:solidFill>
          <a:ln w="12700">
            <a:solidFill>
              <a:srgbClr val="1A3460"/>
            </a:solidFill>
            <a:prstDash val="solid"/>
          </a:ln>
        </p:spPr>
      </p:sp>
      <p:sp>
        <p:nvSpPr>
          <p:cNvPr id="3" name="Shape 1"/>
          <p:cNvSpPr/>
          <p:nvPr/>
        </p:nvSpPr>
        <p:spPr>
          <a:xfrm>
            <a:off x="0" y="914400"/>
            <a:ext cx="9144000" cy="54864"/>
          </a:xfrm>
          <a:prstGeom prst="rect">
            <a:avLst/>
          </a:prstGeom>
          <a:solidFill>
            <a:srgbClr val="F5C842"/>
          </a:solidFill>
          <a:ln w="12700">
            <a:solidFill>
              <a:srgbClr val="F5C842"/>
            </a:solidFill>
            <a:prstDash val="solid"/>
          </a:ln>
        </p:spPr>
      </p:sp>
      <p:sp>
        <p:nvSpPr>
          <p:cNvPr id="4" name="Text 2"/>
          <p:cNvSpPr/>
          <p:nvPr/>
        </p:nvSpPr>
        <p:spPr>
          <a:xfrm>
            <a:off x="411480" y="0"/>
            <a:ext cx="8321040" cy="914400"/>
          </a:xfrm>
          <a:prstGeom prst="rect">
            <a:avLst/>
          </a:prstGeom>
          <a:noFill/>
          <a:ln/>
        </p:spPr>
        <p:txBody>
          <a:bodyPr wrap="square" rtlCol="0" anchor="ctr"/>
          <a:lstStyle/>
          <a:p>
            <a:pPr indent="0" marL="0">
              <a:buNone/>
            </a:pPr>
            <a:r>
              <a:rPr lang="en-US" sz="2600" b="1" dirty="0">
                <a:solidFill>
                  <a:srgbClr val="F5C842"/>
                </a:solidFill>
                <a:latin typeface="Calibri" pitchFamily="34" charset="0"/>
                <a:ea typeface="Calibri" pitchFamily="34" charset="-122"/>
                <a:cs typeface="Calibri" pitchFamily="34" charset="-120"/>
              </a:rPr>
              <a:t>Do's &amp; Don'ts + 8-Step Implementation Guide</a:t>
            </a:r>
            <a:endParaRPr lang="en-US" sz="2600" dirty="0"/>
          </a:p>
        </p:txBody>
      </p:sp>
      <p:sp>
        <p:nvSpPr>
          <p:cNvPr id="5" name="Text 3"/>
          <p:cNvSpPr/>
          <p:nvPr/>
        </p:nvSpPr>
        <p:spPr>
          <a:xfrm>
            <a:off x="320040" y="1078992"/>
            <a:ext cx="4251960" cy="329184"/>
          </a:xfrm>
          <a:prstGeom prst="rect">
            <a:avLst/>
          </a:prstGeom>
          <a:noFill/>
          <a:ln/>
        </p:spPr>
        <p:txBody>
          <a:bodyPr wrap="square" rtlCol="0" anchor="ctr"/>
          <a:lstStyle/>
          <a:p>
            <a:pPr indent="0" marL="0">
              <a:buNone/>
            </a:pPr>
            <a:r>
              <a:rPr lang="en-US" sz="1500" b="1" dirty="0">
                <a:solidFill>
                  <a:srgbClr val="F5C842"/>
                </a:solidFill>
                <a:latin typeface="Calibri" pitchFamily="34" charset="0"/>
                <a:ea typeface="Calibri" pitchFamily="34" charset="-122"/>
                <a:cs typeface="Calibri" pitchFamily="34" charset="-120"/>
              </a:rPr>
              <a:t>Do's &amp; Don'ts</a:t>
            </a:r>
            <a:endParaRPr lang="en-US" sz="1500" dirty="0"/>
          </a:p>
        </p:txBody>
      </p:sp>
      <p:sp>
        <p:nvSpPr>
          <p:cNvPr id="6" name="Shape 4"/>
          <p:cNvSpPr/>
          <p:nvPr/>
        </p:nvSpPr>
        <p:spPr>
          <a:xfrm>
            <a:off x="320040" y="1481328"/>
            <a:ext cx="2029968" cy="548640"/>
          </a:xfrm>
          <a:prstGeom prst="rect">
            <a:avLst/>
          </a:prstGeom>
          <a:solidFill>
            <a:srgbClr val="0F2044"/>
          </a:solidFill>
          <a:ln w="9525">
            <a:solidFill>
              <a:srgbClr val="15803D"/>
            </a:solidFill>
            <a:prstDash val="solid"/>
          </a:ln>
        </p:spPr>
      </p:sp>
      <p:sp>
        <p:nvSpPr>
          <p:cNvPr id="7" name="Shape 5"/>
          <p:cNvSpPr/>
          <p:nvPr/>
        </p:nvSpPr>
        <p:spPr>
          <a:xfrm>
            <a:off x="320040" y="1481328"/>
            <a:ext cx="73152" cy="548640"/>
          </a:xfrm>
          <a:prstGeom prst="rect">
            <a:avLst/>
          </a:prstGeom>
          <a:solidFill>
            <a:srgbClr val="15803D"/>
          </a:solidFill>
          <a:ln w="12700">
            <a:solidFill>
              <a:srgbClr val="15803D"/>
            </a:solidFill>
            <a:prstDash val="solid"/>
          </a:ln>
        </p:spPr>
      </p:sp>
      <p:sp>
        <p:nvSpPr>
          <p:cNvPr id="8" name="Text 6"/>
          <p:cNvSpPr/>
          <p:nvPr/>
        </p:nvSpPr>
        <p:spPr>
          <a:xfrm>
            <a:off x="457200" y="1481328"/>
            <a:ext cx="1828800" cy="548640"/>
          </a:xfrm>
          <a:prstGeom prst="rect">
            <a:avLst/>
          </a:prstGeom>
          <a:noFill/>
          <a:ln/>
        </p:spPr>
        <p:txBody>
          <a:bodyPr wrap="square" rtlCol="0" anchor="ctr"/>
          <a:lstStyle/>
          <a:p>
            <a:pPr indent="0" marL="0">
              <a:buNone/>
            </a:pPr>
            <a:r>
              <a:rPr lang="en-US" sz="950" b="1" dirty="0">
                <a:solidFill>
                  <a:srgbClr val="86EFAC"/>
                </a:solidFill>
                <a:latin typeface="Calibri" pitchFamily="34" charset="0"/>
                <a:ea typeface="Calibri" pitchFamily="34" charset="-122"/>
                <a:cs typeface="Calibri" pitchFamily="34" charset="-120"/>
              </a:rPr>
              <a:t>✔ </a:t>
            </a:r>
            <a:pPr indent="0" marL="0">
              <a:buNone/>
            </a:pPr>
            <a:r>
              <a:rPr lang="en-US" sz="950" dirty="0">
                <a:solidFill>
                  <a:srgbClr val="CBD5E1"/>
                </a:solidFill>
                <a:latin typeface="Calibri" pitchFamily="34" charset="0"/>
                <a:ea typeface="Calibri" pitchFamily="34" charset="-122"/>
                <a:cs typeface="Calibri" pitchFamily="34" charset="-120"/>
              </a:rPr>
              <a:t>Ensure data quality through preprocessing</a:t>
            </a:r>
            <a:endParaRPr lang="en-US" sz="950" dirty="0"/>
          </a:p>
        </p:txBody>
      </p:sp>
      <p:sp>
        <p:nvSpPr>
          <p:cNvPr id="9" name="Shape 7"/>
          <p:cNvSpPr/>
          <p:nvPr/>
        </p:nvSpPr>
        <p:spPr>
          <a:xfrm>
            <a:off x="2487168" y="1481328"/>
            <a:ext cx="2029968" cy="548640"/>
          </a:xfrm>
          <a:prstGeom prst="rect">
            <a:avLst/>
          </a:prstGeom>
          <a:solidFill>
            <a:srgbClr val="0F2044"/>
          </a:solidFill>
          <a:ln w="9525">
            <a:solidFill>
              <a:srgbClr val="DC2626"/>
            </a:solidFill>
            <a:prstDash val="solid"/>
          </a:ln>
        </p:spPr>
      </p:sp>
      <p:sp>
        <p:nvSpPr>
          <p:cNvPr id="10" name="Shape 8"/>
          <p:cNvSpPr/>
          <p:nvPr/>
        </p:nvSpPr>
        <p:spPr>
          <a:xfrm>
            <a:off x="2487168" y="1481328"/>
            <a:ext cx="73152" cy="548640"/>
          </a:xfrm>
          <a:prstGeom prst="rect">
            <a:avLst/>
          </a:prstGeom>
          <a:solidFill>
            <a:srgbClr val="DC2626"/>
          </a:solidFill>
          <a:ln w="12700">
            <a:solidFill>
              <a:srgbClr val="DC2626"/>
            </a:solidFill>
            <a:prstDash val="solid"/>
          </a:ln>
        </p:spPr>
      </p:sp>
      <p:sp>
        <p:nvSpPr>
          <p:cNvPr id="11" name="Text 9"/>
          <p:cNvSpPr/>
          <p:nvPr/>
        </p:nvSpPr>
        <p:spPr>
          <a:xfrm>
            <a:off x="2615184" y="1481328"/>
            <a:ext cx="1828800" cy="548640"/>
          </a:xfrm>
          <a:prstGeom prst="rect">
            <a:avLst/>
          </a:prstGeom>
          <a:noFill/>
          <a:ln/>
        </p:spPr>
        <p:txBody>
          <a:bodyPr wrap="square" rtlCol="0" anchor="ctr"/>
          <a:lstStyle/>
          <a:p>
            <a:pPr indent="0" marL="0">
              <a:buNone/>
            </a:pPr>
            <a:r>
              <a:rPr lang="en-US" sz="950" b="1" dirty="0">
                <a:solidFill>
                  <a:srgbClr val="FCA5A5"/>
                </a:solidFill>
                <a:latin typeface="Calibri" pitchFamily="34" charset="0"/>
                <a:ea typeface="Calibri" pitchFamily="34" charset="-122"/>
                <a:cs typeface="Calibri" pitchFamily="34" charset="-120"/>
              </a:rPr>
              <a:t>✘ </a:t>
            </a:r>
            <a:pPr indent="0" marL="0">
              <a:buNone/>
            </a:pPr>
            <a:r>
              <a:rPr lang="en-US" sz="950" dirty="0">
                <a:solidFill>
                  <a:srgbClr val="CBD5E1"/>
                </a:solidFill>
                <a:latin typeface="Calibri" pitchFamily="34" charset="0"/>
                <a:ea typeface="Calibri" pitchFamily="34" charset="-122"/>
                <a:cs typeface="Calibri" pitchFamily="34" charset="-120"/>
              </a:rPr>
              <a:t>Ignore data privacy and regulatory concerns</a:t>
            </a:r>
            <a:endParaRPr lang="en-US" sz="950" dirty="0"/>
          </a:p>
        </p:txBody>
      </p:sp>
      <p:sp>
        <p:nvSpPr>
          <p:cNvPr id="12" name="Shape 10"/>
          <p:cNvSpPr/>
          <p:nvPr/>
        </p:nvSpPr>
        <p:spPr>
          <a:xfrm>
            <a:off x="320040" y="2093976"/>
            <a:ext cx="2029968" cy="548640"/>
          </a:xfrm>
          <a:prstGeom prst="rect">
            <a:avLst/>
          </a:prstGeom>
          <a:solidFill>
            <a:srgbClr val="0F2044"/>
          </a:solidFill>
          <a:ln w="9525">
            <a:solidFill>
              <a:srgbClr val="15803D"/>
            </a:solidFill>
            <a:prstDash val="solid"/>
          </a:ln>
        </p:spPr>
      </p:sp>
      <p:sp>
        <p:nvSpPr>
          <p:cNvPr id="13" name="Shape 11"/>
          <p:cNvSpPr/>
          <p:nvPr/>
        </p:nvSpPr>
        <p:spPr>
          <a:xfrm>
            <a:off x="320040" y="2093976"/>
            <a:ext cx="73152" cy="548640"/>
          </a:xfrm>
          <a:prstGeom prst="rect">
            <a:avLst/>
          </a:prstGeom>
          <a:solidFill>
            <a:srgbClr val="15803D"/>
          </a:solidFill>
          <a:ln w="12700">
            <a:solidFill>
              <a:srgbClr val="15803D"/>
            </a:solidFill>
            <a:prstDash val="solid"/>
          </a:ln>
        </p:spPr>
      </p:sp>
      <p:sp>
        <p:nvSpPr>
          <p:cNvPr id="14" name="Text 12"/>
          <p:cNvSpPr/>
          <p:nvPr/>
        </p:nvSpPr>
        <p:spPr>
          <a:xfrm>
            <a:off x="457200" y="2093976"/>
            <a:ext cx="1828800" cy="548640"/>
          </a:xfrm>
          <a:prstGeom prst="rect">
            <a:avLst/>
          </a:prstGeom>
          <a:noFill/>
          <a:ln/>
        </p:spPr>
        <p:txBody>
          <a:bodyPr wrap="square" rtlCol="0" anchor="ctr"/>
          <a:lstStyle/>
          <a:p>
            <a:pPr indent="0" marL="0">
              <a:buNone/>
            </a:pPr>
            <a:r>
              <a:rPr lang="en-US" sz="950" b="1" dirty="0">
                <a:solidFill>
                  <a:srgbClr val="86EFAC"/>
                </a:solidFill>
                <a:latin typeface="Calibri" pitchFamily="34" charset="0"/>
                <a:ea typeface="Calibri" pitchFamily="34" charset="-122"/>
                <a:cs typeface="Calibri" pitchFamily="34" charset="-120"/>
              </a:rPr>
              <a:t>✔ </a:t>
            </a:r>
            <a:pPr indent="0" marL="0">
              <a:buNone/>
            </a:pPr>
            <a:r>
              <a:rPr lang="en-US" sz="950" dirty="0">
                <a:solidFill>
                  <a:srgbClr val="CBD5E1"/>
                </a:solidFill>
                <a:latin typeface="Calibri" pitchFamily="34" charset="0"/>
                <a:ea typeface="Calibri" pitchFamily="34" charset="-122"/>
                <a:cs typeface="Calibri" pitchFamily="34" charset="-120"/>
              </a:rPr>
              <a:t>Use scalable tools for large datasets</a:t>
            </a:r>
            <a:endParaRPr lang="en-US" sz="950" dirty="0"/>
          </a:p>
        </p:txBody>
      </p:sp>
      <p:sp>
        <p:nvSpPr>
          <p:cNvPr id="15" name="Shape 13"/>
          <p:cNvSpPr/>
          <p:nvPr/>
        </p:nvSpPr>
        <p:spPr>
          <a:xfrm>
            <a:off x="2487168" y="2093976"/>
            <a:ext cx="2029968" cy="548640"/>
          </a:xfrm>
          <a:prstGeom prst="rect">
            <a:avLst/>
          </a:prstGeom>
          <a:solidFill>
            <a:srgbClr val="0F2044"/>
          </a:solidFill>
          <a:ln w="9525">
            <a:solidFill>
              <a:srgbClr val="DC2626"/>
            </a:solidFill>
            <a:prstDash val="solid"/>
          </a:ln>
        </p:spPr>
      </p:sp>
      <p:sp>
        <p:nvSpPr>
          <p:cNvPr id="16" name="Shape 14"/>
          <p:cNvSpPr/>
          <p:nvPr/>
        </p:nvSpPr>
        <p:spPr>
          <a:xfrm>
            <a:off x="2487168" y="2093976"/>
            <a:ext cx="73152" cy="548640"/>
          </a:xfrm>
          <a:prstGeom prst="rect">
            <a:avLst/>
          </a:prstGeom>
          <a:solidFill>
            <a:srgbClr val="DC2626"/>
          </a:solidFill>
          <a:ln w="12700">
            <a:solidFill>
              <a:srgbClr val="DC2626"/>
            </a:solidFill>
            <a:prstDash val="solid"/>
          </a:ln>
        </p:spPr>
      </p:sp>
      <p:sp>
        <p:nvSpPr>
          <p:cNvPr id="17" name="Text 15"/>
          <p:cNvSpPr/>
          <p:nvPr/>
        </p:nvSpPr>
        <p:spPr>
          <a:xfrm>
            <a:off x="2615184" y="2093976"/>
            <a:ext cx="1828800" cy="548640"/>
          </a:xfrm>
          <a:prstGeom prst="rect">
            <a:avLst/>
          </a:prstGeom>
          <a:noFill/>
          <a:ln/>
        </p:spPr>
        <p:txBody>
          <a:bodyPr wrap="square" rtlCol="0" anchor="ctr"/>
          <a:lstStyle/>
          <a:p>
            <a:pPr indent="0" marL="0">
              <a:buNone/>
            </a:pPr>
            <a:r>
              <a:rPr lang="en-US" sz="950" b="1" dirty="0">
                <a:solidFill>
                  <a:srgbClr val="FCA5A5"/>
                </a:solidFill>
                <a:latin typeface="Calibri" pitchFamily="34" charset="0"/>
                <a:ea typeface="Calibri" pitchFamily="34" charset="-122"/>
                <a:cs typeface="Calibri" pitchFamily="34" charset="-120"/>
              </a:rPr>
              <a:t>✘ </a:t>
            </a:r>
            <a:pPr indent="0" marL="0">
              <a:buNone/>
            </a:pPr>
            <a:r>
              <a:rPr lang="en-US" sz="950" dirty="0">
                <a:solidFill>
                  <a:srgbClr val="CBD5E1"/>
                </a:solidFill>
                <a:latin typeface="Calibri" pitchFamily="34" charset="0"/>
                <a:ea typeface="Calibri" pitchFamily="34" charset="-122"/>
                <a:cs typeface="Calibri" pitchFamily="34" charset="-120"/>
              </a:rPr>
              <a:t>Rely solely on outdated statistical methods</a:t>
            </a:r>
            <a:endParaRPr lang="en-US" sz="950" dirty="0"/>
          </a:p>
        </p:txBody>
      </p:sp>
      <p:sp>
        <p:nvSpPr>
          <p:cNvPr id="18" name="Shape 16"/>
          <p:cNvSpPr/>
          <p:nvPr/>
        </p:nvSpPr>
        <p:spPr>
          <a:xfrm>
            <a:off x="320040" y="2706624"/>
            <a:ext cx="2029968" cy="548640"/>
          </a:xfrm>
          <a:prstGeom prst="rect">
            <a:avLst/>
          </a:prstGeom>
          <a:solidFill>
            <a:srgbClr val="0F2044"/>
          </a:solidFill>
          <a:ln w="9525">
            <a:solidFill>
              <a:srgbClr val="15803D"/>
            </a:solidFill>
            <a:prstDash val="solid"/>
          </a:ln>
        </p:spPr>
      </p:sp>
      <p:sp>
        <p:nvSpPr>
          <p:cNvPr id="19" name="Shape 17"/>
          <p:cNvSpPr/>
          <p:nvPr/>
        </p:nvSpPr>
        <p:spPr>
          <a:xfrm>
            <a:off x="320040" y="2706624"/>
            <a:ext cx="73152" cy="548640"/>
          </a:xfrm>
          <a:prstGeom prst="rect">
            <a:avLst/>
          </a:prstGeom>
          <a:solidFill>
            <a:srgbClr val="15803D"/>
          </a:solidFill>
          <a:ln w="12700">
            <a:solidFill>
              <a:srgbClr val="15803D"/>
            </a:solidFill>
            <a:prstDash val="solid"/>
          </a:ln>
        </p:spPr>
      </p:sp>
      <p:sp>
        <p:nvSpPr>
          <p:cNvPr id="20" name="Text 18"/>
          <p:cNvSpPr/>
          <p:nvPr/>
        </p:nvSpPr>
        <p:spPr>
          <a:xfrm>
            <a:off x="457200" y="2706624"/>
            <a:ext cx="1828800" cy="548640"/>
          </a:xfrm>
          <a:prstGeom prst="rect">
            <a:avLst/>
          </a:prstGeom>
          <a:noFill/>
          <a:ln/>
        </p:spPr>
        <p:txBody>
          <a:bodyPr wrap="square" rtlCol="0" anchor="ctr"/>
          <a:lstStyle/>
          <a:p>
            <a:pPr indent="0" marL="0">
              <a:buNone/>
            </a:pPr>
            <a:r>
              <a:rPr lang="en-US" sz="950" b="1" dirty="0">
                <a:solidFill>
                  <a:srgbClr val="86EFAC"/>
                </a:solidFill>
                <a:latin typeface="Calibri" pitchFamily="34" charset="0"/>
                <a:ea typeface="Calibri" pitchFamily="34" charset="-122"/>
                <a:cs typeface="Calibri" pitchFamily="34" charset="-120"/>
              </a:rPr>
              <a:t>✔ </a:t>
            </a:r>
            <a:pPr indent="0" marL="0">
              <a:buNone/>
            </a:pPr>
            <a:r>
              <a:rPr lang="en-US" sz="950" dirty="0">
                <a:solidFill>
                  <a:srgbClr val="CBD5E1"/>
                </a:solidFill>
                <a:latin typeface="Calibri" pitchFamily="34" charset="0"/>
                <a:ea typeface="Calibri" pitchFamily="34" charset="-122"/>
                <a:cs typeface="Calibri" pitchFamily="34" charset="-120"/>
              </a:rPr>
              <a:t>Collaborate across departments</a:t>
            </a:r>
            <a:endParaRPr lang="en-US" sz="950" dirty="0"/>
          </a:p>
        </p:txBody>
      </p:sp>
      <p:sp>
        <p:nvSpPr>
          <p:cNvPr id="21" name="Shape 19"/>
          <p:cNvSpPr/>
          <p:nvPr/>
        </p:nvSpPr>
        <p:spPr>
          <a:xfrm>
            <a:off x="2487168" y="2706624"/>
            <a:ext cx="2029968" cy="548640"/>
          </a:xfrm>
          <a:prstGeom prst="rect">
            <a:avLst/>
          </a:prstGeom>
          <a:solidFill>
            <a:srgbClr val="0F2044"/>
          </a:solidFill>
          <a:ln w="9525">
            <a:solidFill>
              <a:srgbClr val="DC2626"/>
            </a:solidFill>
            <a:prstDash val="solid"/>
          </a:ln>
        </p:spPr>
      </p:sp>
      <p:sp>
        <p:nvSpPr>
          <p:cNvPr id="22" name="Shape 20"/>
          <p:cNvSpPr/>
          <p:nvPr/>
        </p:nvSpPr>
        <p:spPr>
          <a:xfrm>
            <a:off x="2487168" y="2706624"/>
            <a:ext cx="73152" cy="548640"/>
          </a:xfrm>
          <a:prstGeom prst="rect">
            <a:avLst/>
          </a:prstGeom>
          <a:solidFill>
            <a:srgbClr val="DC2626"/>
          </a:solidFill>
          <a:ln w="12700">
            <a:solidFill>
              <a:srgbClr val="DC2626"/>
            </a:solidFill>
            <a:prstDash val="solid"/>
          </a:ln>
        </p:spPr>
      </p:sp>
      <p:sp>
        <p:nvSpPr>
          <p:cNvPr id="23" name="Text 21"/>
          <p:cNvSpPr/>
          <p:nvPr/>
        </p:nvSpPr>
        <p:spPr>
          <a:xfrm>
            <a:off x="2615184" y="2706624"/>
            <a:ext cx="1828800" cy="548640"/>
          </a:xfrm>
          <a:prstGeom prst="rect">
            <a:avLst/>
          </a:prstGeom>
          <a:noFill/>
          <a:ln/>
        </p:spPr>
        <p:txBody>
          <a:bodyPr wrap="square" rtlCol="0" anchor="ctr"/>
          <a:lstStyle/>
          <a:p>
            <a:pPr indent="0" marL="0">
              <a:buNone/>
            </a:pPr>
            <a:r>
              <a:rPr lang="en-US" sz="950" b="1" dirty="0">
                <a:solidFill>
                  <a:srgbClr val="FCA5A5"/>
                </a:solidFill>
                <a:latin typeface="Calibri" pitchFamily="34" charset="0"/>
                <a:ea typeface="Calibri" pitchFamily="34" charset="-122"/>
                <a:cs typeface="Calibri" pitchFamily="34" charset="-120"/>
              </a:rPr>
              <a:t>✘ </a:t>
            </a:r>
            <a:pPr indent="0" marL="0">
              <a:buNone/>
            </a:pPr>
            <a:r>
              <a:rPr lang="en-US" sz="950" dirty="0">
                <a:solidFill>
                  <a:srgbClr val="CBD5E1"/>
                </a:solidFill>
                <a:latin typeface="Calibri" pitchFamily="34" charset="0"/>
                <a:ea typeface="Calibri" pitchFamily="34" charset="-122"/>
                <a:cs typeface="Calibri" pitchFamily="34" charset="-120"/>
              </a:rPr>
              <a:t>Work in isolation without stakeholder input</a:t>
            </a:r>
            <a:endParaRPr lang="en-US" sz="950" dirty="0"/>
          </a:p>
        </p:txBody>
      </p:sp>
      <p:sp>
        <p:nvSpPr>
          <p:cNvPr id="24" name="Shape 22"/>
          <p:cNvSpPr/>
          <p:nvPr/>
        </p:nvSpPr>
        <p:spPr>
          <a:xfrm>
            <a:off x="320040" y="3319272"/>
            <a:ext cx="2029968" cy="548640"/>
          </a:xfrm>
          <a:prstGeom prst="rect">
            <a:avLst/>
          </a:prstGeom>
          <a:solidFill>
            <a:srgbClr val="0F2044"/>
          </a:solidFill>
          <a:ln w="9525">
            <a:solidFill>
              <a:srgbClr val="15803D"/>
            </a:solidFill>
            <a:prstDash val="solid"/>
          </a:ln>
        </p:spPr>
      </p:sp>
      <p:sp>
        <p:nvSpPr>
          <p:cNvPr id="25" name="Shape 23"/>
          <p:cNvSpPr/>
          <p:nvPr/>
        </p:nvSpPr>
        <p:spPr>
          <a:xfrm>
            <a:off x="320040" y="3319272"/>
            <a:ext cx="73152" cy="548640"/>
          </a:xfrm>
          <a:prstGeom prst="rect">
            <a:avLst/>
          </a:prstGeom>
          <a:solidFill>
            <a:srgbClr val="15803D"/>
          </a:solidFill>
          <a:ln w="12700">
            <a:solidFill>
              <a:srgbClr val="15803D"/>
            </a:solidFill>
            <a:prstDash val="solid"/>
          </a:ln>
        </p:spPr>
      </p:sp>
      <p:sp>
        <p:nvSpPr>
          <p:cNvPr id="26" name="Text 24"/>
          <p:cNvSpPr/>
          <p:nvPr/>
        </p:nvSpPr>
        <p:spPr>
          <a:xfrm>
            <a:off x="457200" y="3319272"/>
            <a:ext cx="1828800" cy="548640"/>
          </a:xfrm>
          <a:prstGeom prst="rect">
            <a:avLst/>
          </a:prstGeom>
          <a:noFill/>
          <a:ln/>
        </p:spPr>
        <p:txBody>
          <a:bodyPr wrap="square" rtlCol="0" anchor="ctr"/>
          <a:lstStyle/>
          <a:p>
            <a:pPr indent="0" marL="0">
              <a:buNone/>
            </a:pPr>
            <a:r>
              <a:rPr lang="en-US" sz="950" b="1" dirty="0">
                <a:solidFill>
                  <a:srgbClr val="86EFAC"/>
                </a:solidFill>
                <a:latin typeface="Calibri" pitchFamily="34" charset="0"/>
                <a:ea typeface="Calibri" pitchFamily="34" charset="-122"/>
                <a:cs typeface="Calibri" pitchFamily="34" charset="-120"/>
              </a:rPr>
              <a:t>✔ </a:t>
            </a:r>
            <a:pPr indent="0" marL="0">
              <a:buNone/>
            </a:pPr>
            <a:r>
              <a:rPr lang="en-US" sz="950" dirty="0">
                <a:solidFill>
                  <a:srgbClr val="CBD5E1"/>
                </a:solidFill>
                <a:latin typeface="Calibri" pitchFamily="34" charset="0"/>
                <a:ea typeface="Calibri" pitchFamily="34" charset="-122"/>
                <a:cs typeface="Calibri" pitchFamily="34" charset="-120"/>
              </a:rPr>
              <a:t>Invest in training and skill development</a:t>
            </a:r>
            <a:endParaRPr lang="en-US" sz="950" dirty="0"/>
          </a:p>
        </p:txBody>
      </p:sp>
      <p:sp>
        <p:nvSpPr>
          <p:cNvPr id="27" name="Shape 25"/>
          <p:cNvSpPr/>
          <p:nvPr/>
        </p:nvSpPr>
        <p:spPr>
          <a:xfrm>
            <a:off x="2487168" y="3319272"/>
            <a:ext cx="2029968" cy="548640"/>
          </a:xfrm>
          <a:prstGeom prst="rect">
            <a:avLst/>
          </a:prstGeom>
          <a:solidFill>
            <a:srgbClr val="0F2044"/>
          </a:solidFill>
          <a:ln w="9525">
            <a:solidFill>
              <a:srgbClr val="DC2626"/>
            </a:solidFill>
            <a:prstDash val="solid"/>
          </a:ln>
        </p:spPr>
      </p:sp>
      <p:sp>
        <p:nvSpPr>
          <p:cNvPr id="28" name="Shape 26"/>
          <p:cNvSpPr/>
          <p:nvPr/>
        </p:nvSpPr>
        <p:spPr>
          <a:xfrm>
            <a:off x="2487168" y="3319272"/>
            <a:ext cx="73152" cy="548640"/>
          </a:xfrm>
          <a:prstGeom prst="rect">
            <a:avLst/>
          </a:prstGeom>
          <a:solidFill>
            <a:srgbClr val="DC2626"/>
          </a:solidFill>
          <a:ln w="12700">
            <a:solidFill>
              <a:srgbClr val="DC2626"/>
            </a:solidFill>
            <a:prstDash val="solid"/>
          </a:ln>
        </p:spPr>
      </p:sp>
      <p:sp>
        <p:nvSpPr>
          <p:cNvPr id="29" name="Text 27"/>
          <p:cNvSpPr/>
          <p:nvPr/>
        </p:nvSpPr>
        <p:spPr>
          <a:xfrm>
            <a:off x="2615184" y="3319272"/>
            <a:ext cx="1828800" cy="548640"/>
          </a:xfrm>
          <a:prstGeom prst="rect">
            <a:avLst/>
          </a:prstGeom>
          <a:noFill/>
          <a:ln/>
        </p:spPr>
        <p:txBody>
          <a:bodyPr wrap="square" rtlCol="0" anchor="ctr"/>
          <a:lstStyle/>
          <a:p>
            <a:pPr indent="0" marL="0">
              <a:buNone/>
            </a:pPr>
            <a:r>
              <a:rPr lang="en-US" sz="950" b="1" dirty="0">
                <a:solidFill>
                  <a:srgbClr val="FCA5A5"/>
                </a:solidFill>
                <a:latin typeface="Calibri" pitchFamily="34" charset="0"/>
                <a:ea typeface="Calibri" pitchFamily="34" charset="-122"/>
                <a:cs typeface="Calibri" pitchFamily="34" charset="-120"/>
              </a:rPr>
              <a:t>✘ </a:t>
            </a:r>
            <a:pPr indent="0" marL="0">
              <a:buNone/>
            </a:pPr>
            <a:r>
              <a:rPr lang="en-US" sz="950" dirty="0">
                <a:solidFill>
                  <a:srgbClr val="CBD5E1"/>
                </a:solidFill>
                <a:latin typeface="Calibri" pitchFamily="34" charset="0"/>
                <a:ea typeface="Calibri" pitchFamily="34" charset="-122"/>
                <a:cs typeface="Calibri" pitchFamily="34" charset="-120"/>
              </a:rPr>
              <a:t>Neglect ongoing model evaluation and updates</a:t>
            </a:r>
            <a:endParaRPr lang="en-US" sz="950" dirty="0"/>
          </a:p>
        </p:txBody>
      </p:sp>
      <p:sp>
        <p:nvSpPr>
          <p:cNvPr id="30" name="Shape 28"/>
          <p:cNvSpPr/>
          <p:nvPr/>
        </p:nvSpPr>
        <p:spPr>
          <a:xfrm>
            <a:off x="320040" y="3931920"/>
            <a:ext cx="2029968" cy="548640"/>
          </a:xfrm>
          <a:prstGeom prst="rect">
            <a:avLst/>
          </a:prstGeom>
          <a:solidFill>
            <a:srgbClr val="0F2044"/>
          </a:solidFill>
          <a:ln w="9525">
            <a:solidFill>
              <a:srgbClr val="15803D"/>
            </a:solidFill>
            <a:prstDash val="solid"/>
          </a:ln>
        </p:spPr>
      </p:sp>
      <p:sp>
        <p:nvSpPr>
          <p:cNvPr id="31" name="Shape 29"/>
          <p:cNvSpPr/>
          <p:nvPr/>
        </p:nvSpPr>
        <p:spPr>
          <a:xfrm>
            <a:off x="320040" y="3931920"/>
            <a:ext cx="73152" cy="548640"/>
          </a:xfrm>
          <a:prstGeom prst="rect">
            <a:avLst/>
          </a:prstGeom>
          <a:solidFill>
            <a:srgbClr val="15803D"/>
          </a:solidFill>
          <a:ln w="12700">
            <a:solidFill>
              <a:srgbClr val="15803D"/>
            </a:solidFill>
            <a:prstDash val="solid"/>
          </a:ln>
        </p:spPr>
      </p:sp>
      <p:sp>
        <p:nvSpPr>
          <p:cNvPr id="32" name="Text 30"/>
          <p:cNvSpPr/>
          <p:nvPr/>
        </p:nvSpPr>
        <p:spPr>
          <a:xfrm>
            <a:off x="457200" y="3931920"/>
            <a:ext cx="1828800" cy="548640"/>
          </a:xfrm>
          <a:prstGeom prst="rect">
            <a:avLst/>
          </a:prstGeom>
          <a:noFill/>
          <a:ln/>
        </p:spPr>
        <p:txBody>
          <a:bodyPr wrap="square" rtlCol="0" anchor="ctr"/>
          <a:lstStyle/>
          <a:p>
            <a:pPr indent="0" marL="0">
              <a:buNone/>
            </a:pPr>
            <a:r>
              <a:rPr lang="en-US" sz="950" b="1" dirty="0">
                <a:solidFill>
                  <a:srgbClr val="86EFAC"/>
                </a:solidFill>
                <a:latin typeface="Calibri" pitchFamily="34" charset="0"/>
                <a:ea typeface="Calibri" pitchFamily="34" charset="-122"/>
                <a:cs typeface="Calibri" pitchFamily="34" charset="-120"/>
              </a:rPr>
              <a:t>✔ </a:t>
            </a:r>
            <a:pPr indent="0" marL="0">
              <a:buNone/>
            </a:pPr>
            <a:r>
              <a:rPr lang="en-US" sz="950" dirty="0">
                <a:solidFill>
                  <a:srgbClr val="CBD5E1"/>
                </a:solidFill>
                <a:latin typeface="Calibri" pitchFamily="34" charset="0"/>
                <a:ea typeface="Calibri" pitchFamily="34" charset="-122"/>
                <a:cs typeface="Calibri" pitchFamily="34" charset="-120"/>
              </a:rPr>
              <a:t>Prioritise ethical practices and transparency</a:t>
            </a:r>
            <a:endParaRPr lang="en-US" sz="950" dirty="0"/>
          </a:p>
        </p:txBody>
      </p:sp>
      <p:sp>
        <p:nvSpPr>
          <p:cNvPr id="33" name="Shape 31"/>
          <p:cNvSpPr/>
          <p:nvPr/>
        </p:nvSpPr>
        <p:spPr>
          <a:xfrm>
            <a:off x="2487168" y="3931920"/>
            <a:ext cx="2029968" cy="548640"/>
          </a:xfrm>
          <a:prstGeom prst="rect">
            <a:avLst/>
          </a:prstGeom>
          <a:solidFill>
            <a:srgbClr val="0F2044"/>
          </a:solidFill>
          <a:ln w="9525">
            <a:solidFill>
              <a:srgbClr val="DC2626"/>
            </a:solidFill>
            <a:prstDash val="solid"/>
          </a:ln>
        </p:spPr>
      </p:sp>
      <p:sp>
        <p:nvSpPr>
          <p:cNvPr id="34" name="Shape 32"/>
          <p:cNvSpPr/>
          <p:nvPr/>
        </p:nvSpPr>
        <p:spPr>
          <a:xfrm>
            <a:off x="2487168" y="3931920"/>
            <a:ext cx="73152" cy="548640"/>
          </a:xfrm>
          <a:prstGeom prst="rect">
            <a:avLst/>
          </a:prstGeom>
          <a:solidFill>
            <a:srgbClr val="DC2626"/>
          </a:solidFill>
          <a:ln w="12700">
            <a:solidFill>
              <a:srgbClr val="DC2626"/>
            </a:solidFill>
            <a:prstDash val="solid"/>
          </a:ln>
        </p:spPr>
      </p:sp>
      <p:sp>
        <p:nvSpPr>
          <p:cNvPr id="35" name="Text 33"/>
          <p:cNvSpPr/>
          <p:nvPr/>
        </p:nvSpPr>
        <p:spPr>
          <a:xfrm>
            <a:off x="2615184" y="3931920"/>
            <a:ext cx="1828800" cy="548640"/>
          </a:xfrm>
          <a:prstGeom prst="rect">
            <a:avLst/>
          </a:prstGeom>
          <a:noFill/>
          <a:ln/>
        </p:spPr>
        <p:txBody>
          <a:bodyPr wrap="square" rtlCol="0" anchor="ctr"/>
          <a:lstStyle/>
          <a:p>
            <a:pPr indent="0" marL="0">
              <a:buNone/>
            </a:pPr>
            <a:r>
              <a:rPr lang="en-US" sz="950" b="1" dirty="0">
                <a:solidFill>
                  <a:srgbClr val="FCA5A5"/>
                </a:solidFill>
                <a:latin typeface="Calibri" pitchFamily="34" charset="0"/>
                <a:ea typeface="Calibri" pitchFamily="34" charset="-122"/>
                <a:cs typeface="Calibri" pitchFamily="34" charset="-120"/>
              </a:rPr>
              <a:t>✘ </a:t>
            </a:r>
            <a:pPr indent="0" marL="0">
              <a:buNone/>
            </a:pPr>
            <a:r>
              <a:rPr lang="en-US" sz="950" dirty="0">
                <a:solidFill>
                  <a:srgbClr val="CBD5E1"/>
                </a:solidFill>
                <a:latin typeface="Calibri" pitchFamily="34" charset="0"/>
                <a:ea typeface="Calibri" pitchFamily="34" charset="-122"/>
                <a:cs typeface="Calibri" pitchFamily="34" charset="-120"/>
              </a:rPr>
              <a:t>Exploit sensitive data for unfair advantages</a:t>
            </a:r>
            <a:endParaRPr lang="en-US" sz="950" dirty="0"/>
          </a:p>
        </p:txBody>
      </p:sp>
      <p:sp>
        <p:nvSpPr>
          <p:cNvPr id="36" name="Text 34"/>
          <p:cNvSpPr/>
          <p:nvPr/>
        </p:nvSpPr>
        <p:spPr>
          <a:xfrm>
            <a:off x="4892040" y="1078992"/>
            <a:ext cx="3931920" cy="329184"/>
          </a:xfrm>
          <a:prstGeom prst="rect">
            <a:avLst/>
          </a:prstGeom>
          <a:noFill/>
          <a:ln/>
        </p:spPr>
        <p:txBody>
          <a:bodyPr wrap="square" rtlCol="0" anchor="ctr"/>
          <a:lstStyle/>
          <a:p>
            <a:pPr indent="0" marL="0">
              <a:buNone/>
            </a:pPr>
            <a:r>
              <a:rPr lang="en-US" sz="1500" b="1" dirty="0">
                <a:solidFill>
                  <a:srgbClr val="5EEAD4"/>
                </a:solidFill>
                <a:latin typeface="Calibri" pitchFamily="34" charset="0"/>
                <a:ea typeface="Calibri" pitchFamily="34" charset="-122"/>
                <a:cs typeface="Calibri" pitchFamily="34" charset="-120"/>
              </a:rPr>
              <a:t>8-Step Implementation</a:t>
            </a:r>
            <a:endParaRPr lang="en-US" sz="1500" dirty="0"/>
          </a:p>
        </p:txBody>
      </p:sp>
      <p:sp>
        <p:nvSpPr>
          <p:cNvPr id="37" name="Shape 35"/>
          <p:cNvSpPr/>
          <p:nvPr/>
        </p:nvSpPr>
        <p:spPr>
          <a:xfrm>
            <a:off x="4892040" y="1508760"/>
            <a:ext cx="292608" cy="292608"/>
          </a:xfrm>
          <a:prstGeom prst="ellipse">
            <a:avLst/>
          </a:prstGeom>
          <a:solidFill>
            <a:srgbClr val="D4A017"/>
          </a:solidFill>
          <a:ln w="12700">
            <a:solidFill>
              <a:srgbClr val="D4A017"/>
            </a:solidFill>
            <a:prstDash val="solid"/>
          </a:ln>
        </p:spPr>
      </p:sp>
      <p:sp>
        <p:nvSpPr>
          <p:cNvPr id="38" name="Text 36"/>
          <p:cNvSpPr/>
          <p:nvPr/>
        </p:nvSpPr>
        <p:spPr>
          <a:xfrm>
            <a:off x="4892040" y="1508760"/>
            <a:ext cx="292608" cy="292608"/>
          </a:xfrm>
          <a:prstGeom prst="rect">
            <a:avLst/>
          </a:prstGeom>
          <a:noFill/>
          <a:ln/>
        </p:spPr>
        <p:txBody>
          <a:bodyPr wrap="square" rtlCol="0" anchor="ctr"/>
          <a:lstStyle/>
          <a:p>
            <a:pPr algn="ctr" indent="0" marL="0">
              <a:buNone/>
            </a:pPr>
            <a:r>
              <a:rPr lang="en-US" sz="900" b="1" dirty="0">
                <a:solidFill>
                  <a:srgbClr val="0A1628"/>
                </a:solidFill>
              </a:rPr>
              <a:t>1</a:t>
            </a:r>
            <a:endParaRPr lang="en-US" sz="900" dirty="0"/>
          </a:p>
        </p:txBody>
      </p:sp>
      <p:sp>
        <p:nvSpPr>
          <p:cNvPr id="39" name="Text 37"/>
          <p:cNvSpPr/>
          <p:nvPr/>
        </p:nvSpPr>
        <p:spPr>
          <a:xfrm>
            <a:off x="5266944" y="1444752"/>
            <a:ext cx="3520440" cy="402336"/>
          </a:xfrm>
          <a:prstGeom prst="rect">
            <a:avLst/>
          </a:prstGeom>
          <a:noFill/>
          <a:ln/>
        </p:spPr>
        <p:txBody>
          <a:bodyPr wrap="square" rtlCol="0" anchor="ctr"/>
          <a:lstStyle/>
          <a:p>
            <a:pPr indent="0" marL="0">
              <a:buNone/>
            </a:pPr>
            <a:r>
              <a:rPr lang="en-US" sz="1000" dirty="0">
                <a:solidFill>
                  <a:srgbClr val="CBD5E1"/>
                </a:solidFill>
                <a:latin typeface="Calibri" pitchFamily="34" charset="0"/>
                <a:ea typeface="Calibri" pitchFamily="34" charset="-122"/>
                <a:cs typeface="Calibri" pitchFamily="34" charset="-120"/>
              </a:rPr>
              <a:t>Identify Objectives — define specific goals (fraud detection, optimisation)</a:t>
            </a:r>
            <a:endParaRPr lang="en-US" sz="1000" dirty="0"/>
          </a:p>
        </p:txBody>
      </p:sp>
      <p:sp>
        <p:nvSpPr>
          <p:cNvPr id="40" name="Shape 38"/>
          <p:cNvSpPr/>
          <p:nvPr/>
        </p:nvSpPr>
        <p:spPr>
          <a:xfrm>
            <a:off x="4892040" y="1956816"/>
            <a:ext cx="292608" cy="292608"/>
          </a:xfrm>
          <a:prstGeom prst="ellipse">
            <a:avLst/>
          </a:prstGeom>
          <a:solidFill>
            <a:srgbClr val="0D9488"/>
          </a:solidFill>
          <a:ln w="12700">
            <a:solidFill>
              <a:srgbClr val="0D9488"/>
            </a:solidFill>
            <a:prstDash val="solid"/>
          </a:ln>
        </p:spPr>
      </p:sp>
      <p:sp>
        <p:nvSpPr>
          <p:cNvPr id="41" name="Text 39"/>
          <p:cNvSpPr/>
          <p:nvPr/>
        </p:nvSpPr>
        <p:spPr>
          <a:xfrm>
            <a:off x="4892040" y="1956816"/>
            <a:ext cx="292608" cy="292608"/>
          </a:xfrm>
          <a:prstGeom prst="rect">
            <a:avLst/>
          </a:prstGeom>
          <a:noFill/>
          <a:ln/>
        </p:spPr>
        <p:txBody>
          <a:bodyPr wrap="square" rtlCol="0" anchor="ctr"/>
          <a:lstStyle/>
          <a:p>
            <a:pPr algn="ctr" indent="0" marL="0">
              <a:buNone/>
            </a:pPr>
            <a:r>
              <a:rPr lang="en-US" sz="900" b="1" dirty="0">
                <a:solidFill>
                  <a:srgbClr val="0A1628"/>
                </a:solidFill>
              </a:rPr>
              <a:t>2</a:t>
            </a:r>
            <a:endParaRPr lang="en-US" sz="900" dirty="0"/>
          </a:p>
        </p:txBody>
      </p:sp>
      <p:sp>
        <p:nvSpPr>
          <p:cNvPr id="42" name="Text 40"/>
          <p:cNvSpPr/>
          <p:nvPr/>
        </p:nvSpPr>
        <p:spPr>
          <a:xfrm>
            <a:off x="5266944" y="1892808"/>
            <a:ext cx="3520440" cy="402336"/>
          </a:xfrm>
          <a:prstGeom prst="rect">
            <a:avLst/>
          </a:prstGeom>
          <a:noFill/>
          <a:ln/>
        </p:spPr>
        <p:txBody>
          <a:bodyPr wrap="square" rtlCol="0" anchor="ctr"/>
          <a:lstStyle/>
          <a:p>
            <a:pPr indent="0" marL="0">
              <a:buNone/>
            </a:pPr>
            <a:r>
              <a:rPr lang="en-US" sz="1000" dirty="0">
                <a:solidFill>
                  <a:srgbClr val="CBD5E1"/>
                </a:solidFill>
                <a:latin typeface="Calibri" pitchFamily="34" charset="0"/>
                <a:ea typeface="Calibri" pitchFamily="34" charset="-122"/>
                <a:cs typeface="Calibri" pitchFamily="34" charset="-120"/>
              </a:rPr>
              <a:t>Collect Data — gather datasets from internal and external sources</a:t>
            </a:r>
            <a:endParaRPr lang="en-US" sz="1000" dirty="0"/>
          </a:p>
        </p:txBody>
      </p:sp>
      <p:sp>
        <p:nvSpPr>
          <p:cNvPr id="43" name="Shape 41"/>
          <p:cNvSpPr/>
          <p:nvPr/>
        </p:nvSpPr>
        <p:spPr>
          <a:xfrm>
            <a:off x="4892040" y="2404872"/>
            <a:ext cx="292608" cy="292608"/>
          </a:xfrm>
          <a:prstGeom prst="ellipse">
            <a:avLst/>
          </a:prstGeom>
          <a:solidFill>
            <a:srgbClr val="D4A017"/>
          </a:solidFill>
          <a:ln w="12700">
            <a:solidFill>
              <a:srgbClr val="D4A017"/>
            </a:solidFill>
            <a:prstDash val="solid"/>
          </a:ln>
        </p:spPr>
      </p:sp>
      <p:sp>
        <p:nvSpPr>
          <p:cNvPr id="44" name="Text 42"/>
          <p:cNvSpPr/>
          <p:nvPr/>
        </p:nvSpPr>
        <p:spPr>
          <a:xfrm>
            <a:off x="4892040" y="2404872"/>
            <a:ext cx="292608" cy="292608"/>
          </a:xfrm>
          <a:prstGeom prst="rect">
            <a:avLst/>
          </a:prstGeom>
          <a:noFill/>
          <a:ln/>
        </p:spPr>
        <p:txBody>
          <a:bodyPr wrap="square" rtlCol="0" anchor="ctr"/>
          <a:lstStyle/>
          <a:p>
            <a:pPr algn="ctr" indent="0" marL="0">
              <a:buNone/>
            </a:pPr>
            <a:r>
              <a:rPr lang="en-US" sz="900" b="1" dirty="0">
                <a:solidFill>
                  <a:srgbClr val="0A1628"/>
                </a:solidFill>
              </a:rPr>
              <a:t>3</a:t>
            </a:r>
            <a:endParaRPr lang="en-US" sz="900" dirty="0"/>
          </a:p>
        </p:txBody>
      </p:sp>
      <p:sp>
        <p:nvSpPr>
          <p:cNvPr id="45" name="Text 43"/>
          <p:cNvSpPr/>
          <p:nvPr/>
        </p:nvSpPr>
        <p:spPr>
          <a:xfrm>
            <a:off x="5266944" y="2340864"/>
            <a:ext cx="3520440" cy="402336"/>
          </a:xfrm>
          <a:prstGeom prst="rect">
            <a:avLst/>
          </a:prstGeom>
          <a:noFill/>
          <a:ln/>
        </p:spPr>
        <p:txBody>
          <a:bodyPr wrap="square" rtlCol="0" anchor="ctr"/>
          <a:lstStyle/>
          <a:p>
            <a:pPr indent="0" marL="0">
              <a:buNone/>
            </a:pPr>
            <a:r>
              <a:rPr lang="en-US" sz="1000" dirty="0">
                <a:solidFill>
                  <a:srgbClr val="CBD5E1"/>
                </a:solidFill>
                <a:latin typeface="Calibri" pitchFamily="34" charset="0"/>
                <a:ea typeface="Calibri" pitchFamily="34" charset="-122"/>
                <a:cs typeface="Calibri" pitchFamily="34" charset="-120"/>
              </a:rPr>
              <a:t>Preprocess Data — clean and remove inconsistencies</a:t>
            </a:r>
            <a:endParaRPr lang="en-US" sz="1000" dirty="0"/>
          </a:p>
        </p:txBody>
      </p:sp>
      <p:sp>
        <p:nvSpPr>
          <p:cNvPr id="46" name="Shape 44"/>
          <p:cNvSpPr/>
          <p:nvPr/>
        </p:nvSpPr>
        <p:spPr>
          <a:xfrm>
            <a:off x="4892040" y="2852928"/>
            <a:ext cx="292608" cy="292608"/>
          </a:xfrm>
          <a:prstGeom prst="ellipse">
            <a:avLst/>
          </a:prstGeom>
          <a:solidFill>
            <a:srgbClr val="0D9488"/>
          </a:solidFill>
          <a:ln w="12700">
            <a:solidFill>
              <a:srgbClr val="0D9488"/>
            </a:solidFill>
            <a:prstDash val="solid"/>
          </a:ln>
        </p:spPr>
      </p:sp>
      <p:sp>
        <p:nvSpPr>
          <p:cNvPr id="47" name="Text 45"/>
          <p:cNvSpPr/>
          <p:nvPr/>
        </p:nvSpPr>
        <p:spPr>
          <a:xfrm>
            <a:off x="4892040" y="2852928"/>
            <a:ext cx="292608" cy="292608"/>
          </a:xfrm>
          <a:prstGeom prst="rect">
            <a:avLst/>
          </a:prstGeom>
          <a:noFill/>
          <a:ln/>
        </p:spPr>
        <p:txBody>
          <a:bodyPr wrap="square" rtlCol="0" anchor="ctr"/>
          <a:lstStyle/>
          <a:p>
            <a:pPr algn="ctr" indent="0" marL="0">
              <a:buNone/>
            </a:pPr>
            <a:r>
              <a:rPr lang="en-US" sz="900" b="1" dirty="0">
                <a:solidFill>
                  <a:srgbClr val="0A1628"/>
                </a:solidFill>
              </a:rPr>
              <a:t>4</a:t>
            </a:r>
            <a:endParaRPr lang="en-US" sz="900" dirty="0"/>
          </a:p>
        </p:txBody>
      </p:sp>
      <p:sp>
        <p:nvSpPr>
          <p:cNvPr id="48" name="Text 46"/>
          <p:cNvSpPr/>
          <p:nvPr/>
        </p:nvSpPr>
        <p:spPr>
          <a:xfrm>
            <a:off x="5266944" y="2788920"/>
            <a:ext cx="3520440" cy="402336"/>
          </a:xfrm>
          <a:prstGeom prst="rect">
            <a:avLst/>
          </a:prstGeom>
          <a:noFill/>
          <a:ln/>
        </p:spPr>
        <p:txBody>
          <a:bodyPr wrap="square" rtlCol="0" anchor="ctr"/>
          <a:lstStyle/>
          <a:p>
            <a:pPr indent="0" marL="0">
              <a:buNone/>
            </a:pPr>
            <a:r>
              <a:rPr lang="en-US" sz="1000" dirty="0">
                <a:solidFill>
                  <a:srgbClr val="CBD5E1"/>
                </a:solidFill>
                <a:latin typeface="Calibri" pitchFamily="34" charset="0"/>
                <a:ea typeface="Calibri" pitchFamily="34" charset="-122"/>
                <a:cs typeface="Calibri" pitchFamily="34" charset="-120"/>
              </a:rPr>
              <a:t>Select Tools — choose algorithms suited to objectives and data type</a:t>
            </a:r>
            <a:endParaRPr lang="en-US" sz="1000" dirty="0"/>
          </a:p>
        </p:txBody>
      </p:sp>
      <p:sp>
        <p:nvSpPr>
          <p:cNvPr id="49" name="Shape 47"/>
          <p:cNvSpPr/>
          <p:nvPr/>
        </p:nvSpPr>
        <p:spPr>
          <a:xfrm>
            <a:off x="4892040" y="3300984"/>
            <a:ext cx="292608" cy="292608"/>
          </a:xfrm>
          <a:prstGeom prst="ellipse">
            <a:avLst/>
          </a:prstGeom>
          <a:solidFill>
            <a:srgbClr val="D4A017"/>
          </a:solidFill>
          <a:ln w="12700">
            <a:solidFill>
              <a:srgbClr val="D4A017"/>
            </a:solidFill>
            <a:prstDash val="solid"/>
          </a:ln>
        </p:spPr>
      </p:sp>
      <p:sp>
        <p:nvSpPr>
          <p:cNvPr id="50" name="Text 48"/>
          <p:cNvSpPr/>
          <p:nvPr/>
        </p:nvSpPr>
        <p:spPr>
          <a:xfrm>
            <a:off x="4892040" y="3300984"/>
            <a:ext cx="292608" cy="292608"/>
          </a:xfrm>
          <a:prstGeom prst="rect">
            <a:avLst/>
          </a:prstGeom>
          <a:noFill/>
          <a:ln/>
        </p:spPr>
        <p:txBody>
          <a:bodyPr wrap="square" rtlCol="0" anchor="ctr"/>
          <a:lstStyle/>
          <a:p>
            <a:pPr algn="ctr" indent="0" marL="0">
              <a:buNone/>
            </a:pPr>
            <a:r>
              <a:rPr lang="en-US" sz="900" b="1" dirty="0">
                <a:solidFill>
                  <a:srgbClr val="0A1628"/>
                </a:solidFill>
              </a:rPr>
              <a:t>5</a:t>
            </a:r>
            <a:endParaRPr lang="en-US" sz="900" dirty="0"/>
          </a:p>
        </p:txBody>
      </p:sp>
      <p:sp>
        <p:nvSpPr>
          <p:cNvPr id="51" name="Text 49"/>
          <p:cNvSpPr/>
          <p:nvPr/>
        </p:nvSpPr>
        <p:spPr>
          <a:xfrm>
            <a:off x="5266944" y="3236976"/>
            <a:ext cx="3520440" cy="402336"/>
          </a:xfrm>
          <a:prstGeom prst="rect">
            <a:avLst/>
          </a:prstGeom>
          <a:noFill/>
          <a:ln/>
        </p:spPr>
        <p:txBody>
          <a:bodyPr wrap="square" rtlCol="0" anchor="ctr"/>
          <a:lstStyle/>
          <a:p>
            <a:pPr indent="0" marL="0">
              <a:buNone/>
            </a:pPr>
            <a:r>
              <a:rPr lang="en-US" sz="1000" dirty="0">
                <a:solidFill>
                  <a:srgbClr val="CBD5E1"/>
                </a:solidFill>
                <a:latin typeface="Calibri" pitchFamily="34" charset="0"/>
                <a:ea typeface="Calibri" pitchFamily="34" charset="-122"/>
                <a:cs typeface="Calibri" pitchFamily="34" charset="-120"/>
              </a:rPr>
              <a:t>Build Models — develop predictive or descriptive ML models</a:t>
            </a:r>
            <a:endParaRPr lang="en-US" sz="1000" dirty="0"/>
          </a:p>
        </p:txBody>
      </p:sp>
      <p:sp>
        <p:nvSpPr>
          <p:cNvPr id="52" name="Shape 50"/>
          <p:cNvSpPr/>
          <p:nvPr/>
        </p:nvSpPr>
        <p:spPr>
          <a:xfrm>
            <a:off x="4892040" y="3749040"/>
            <a:ext cx="292608" cy="292608"/>
          </a:xfrm>
          <a:prstGeom prst="ellipse">
            <a:avLst/>
          </a:prstGeom>
          <a:solidFill>
            <a:srgbClr val="0D9488"/>
          </a:solidFill>
          <a:ln w="12700">
            <a:solidFill>
              <a:srgbClr val="0D9488"/>
            </a:solidFill>
            <a:prstDash val="solid"/>
          </a:ln>
        </p:spPr>
      </p:sp>
      <p:sp>
        <p:nvSpPr>
          <p:cNvPr id="53" name="Text 51"/>
          <p:cNvSpPr/>
          <p:nvPr/>
        </p:nvSpPr>
        <p:spPr>
          <a:xfrm>
            <a:off x="4892040" y="3749040"/>
            <a:ext cx="292608" cy="292608"/>
          </a:xfrm>
          <a:prstGeom prst="rect">
            <a:avLst/>
          </a:prstGeom>
          <a:noFill/>
          <a:ln/>
        </p:spPr>
        <p:txBody>
          <a:bodyPr wrap="square" rtlCol="0" anchor="ctr"/>
          <a:lstStyle/>
          <a:p>
            <a:pPr algn="ctr" indent="0" marL="0">
              <a:buNone/>
            </a:pPr>
            <a:r>
              <a:rPr lang="en-US" sz="900" b="1" dirty="0">
                <a:solidFill>
                  <a:srgbClr val="0A1628"/>
                </a:solidFill>
              </a:rPr>
              <a:t>6</a:t>
            </a:r>
            <a:endParaRPr lang="en-US" sz="900" dirty="0"/>
          </a:p>
        </p:txBody>
      </p:sp>
      <p:sp>
        <p:nvSpPr>
          <p:cNvPr id="54" name="Text 52"/>
          <p:cNvSpPr/>
          <p:nvPr/>
        </p:nvSpPr>
        <p:spPr>
          <a:xfrm>
            <a:off x="5266944" y="3685032"/>
            <a:ext cx="3520440" cy="402336"/>
          </a:xfrm>
          <a:prstGeom prst="rect">
            <a:avLst/>
          </a:prstGeom>
          <a:noFill/>
          <a:ln/>
        </p:spPr>
        <p:txBody>
          <a:bodyPr wrap="square" rtlCol="0" anchor="ctr"/>
          <a:lstStyle/>
          <a:p>
            <a:pPr indent="0" marL="0">
              <a:buNone/>
            </a:pPr>
            <a:r>
              <a:rPr lang="en-US" sz="1000" dirty="0">
                <a:solidFill>
                  <a:srgbClr val="CBD5E1"/>
                </a:solidFill>
                <a:latin typeface="Calibri" pitchFamily="34" charset="0"/>
                <a:ea typeface="Calibri" pitchFamily="34" charset="-122"/>
                <a:cs typeface="Calibri" pitchFamily="34" charset="-120"/>
              </a:rPr>
              <a:t>Evaluate Models — test accuracy using precision, recall, F1 score</a:t>
            </a:r>
            <a:endParaRPr lang="en-US" sz="1000" dirty="0"/>
          </a:p>
        </p:txBody>
      </p:sp>
      <p:sp>
        <p:nvSpPr>
          <p:cNvPr id="55" name="Shape 53"/>
          <p:cNvSpPr/>
          <p:nvPr/>
        </p:nvSpPr>
        <p:spPr>
          <a:xfrm>
            <a:off x="4892040" y="4197096"/>
            <a:ext cx="292608" cy="292608"/>
          </a:xfrm>
          <a:prstGeom prst="ellipse">
            <a:avLst/>
          </a:prstGeom>
          <a:solidFill>
            <a:srgbClr val="D4A017"/>
          </a:solidFill>
          <a:ln w="12700">
            <a:solidFill>
              <a:srgbClr val="D4A017"/>
            </a:solidFill>
            <a:prstDash val="solid"/>
          </a:ln>
        </p:spPr>
      </p:sp>
      <p:sp>
        <p:nvSpPr>
          <p:cNvPr id="56" name="Text 54"/>
          <p:cNvSpPr/>
          <p:nvPr/>
        </p:nvSpPr>
        <p:spPr>
          <a:xfrm>
            <a:off x="4892040" y="4197096"/>
            <a:ext cx="292608" cy="292608"/>
          </a:xfrm>
          <a:prstGeom prst="rect">
            <a:avLst/>
          </a:prstGeom>
          <a:noFill/>
          <a:ln/>
        </p:spPr>
        <p:txBody>
          <a:bodyPr wrap="square" rtlCol="0" anchor="ctr"/>
          <a:lstStyle/>
          <a:p>
            <a:pPr algn="ctr" indent="0" marL="0">
              <a:buNone/>
            </a:pPr>
            <a:r>
              <a:rPr lang="en-US" sz="900" b="1" dirty="0">
                <a:solidFill>
                  <a:srgbClr val="0A1628"/>
                </a:solidFill>
              </a:rPr>
              <a:t>7</a:t>
            </a:r>
            <a:endParaRPr lang="en-US" sz="900" dirty="0"/>
          </a:p>
        </p:txBody>
      </p:sp>
      <p:sp>
        <p:nvSpPr>
          <p:cNvPr id="57" name="Text 55"/>
          <p:cNvSpPr/>
          <p:nvPr/>
        </p:nvSpPr>
        <p:spPr>
          <a:xfrm>
            <a:off x="5266944" y="4133088"/>
            <a:ext cx="3520440" cy="402336"/>
          </a:xfrm>
          <a:prstGeom prst="rect">
            <a:avLst/>
          </a:prstGeom>
          <a:noFill/>
          <a:ln/>
        </p:spPr>
        <p:txBody>
          <a:bodyPr wrap="square" rtlCol="0" anchor="ctr"/>
          <a:lstStyle/>
          <a:p>
            <a:pPr indent="0" marL="0">
              <a:buNone/>
            </a:pPr>
            <a:r>
              <a:rPr lang="en-US" sz="1000" dirty="0">
                <a:solidFill>
                  <a:srgbClr val="CBD5E1"/>
                </a:solidFill>
                <a:latin typeface="Calibri" pitchFamily="34" charset="0"/>
                <a:ea typeface="Calibri" pitchFamily="34" charset="-122"/>
                <a:cs typeface="Calibri" pitchFamily="34" charset="-120"/>
              </a:rPr>
              <a:t>Deploy Solutions — implement in real-world apps and platforms</a:t>
            </a:r>
            <a:endParaRPr lang="en-US" sz="1000" dirty="0"/>
          </a:p>
        </p:txBody>
      </p:sp>
      <p:sp>
        <p:nvSpPr>
          <p:cNvPr id="58" name="Shape 56"/>
          <p:cNvSpPr/>
          <p:nvPr/>
        </p:nvSpPr>
        <p:spPr>
          <a:xfrm>
            <a:off x="4892040" y="4645152"/>
            <a:ext cx="292608" cy="292608"/>
          </a:xfrm>
          <a:prstGeom prst="ellipse">
            <a:avLst/>
          </a:prstGeom>
          <a:solidFill>
            <a:srgbClr val="0D9488"/>
          </a:solidFill>
          <a:ln w="12700">
            <a:solidFill>
              <a:srgbClr val="0D9488"/>
            </a:solidFill>
            <a:prstDash val="solid"/>
          </a:ln>
        </p:spPr>
      </p:sp>
      <p:sp>
        <p:nvSpPr>
          <p:cNvPr id="59" name="Text 57"/>
          <p:cNvSpPr/>
          <p:nvPr/>
        </p:nvSpPr>
        <p:spPr>
          <a:xfrm>
            <a:off x="4892040" y="4645152"/>
            <a:ext cx="292608" cy="292608"/>
          </a:xfrm>
          <a:prstGeom prst="rect">
            <a:avLst/>
          </a:prstGeom>
          <a:noFill/>
          <a:ln/>
        </p:spPr>
        <p:txBody>
          <a:bodyPr wrap="square" rtlCol="0" anchor="ctr"/>
          <a:lstStyle/>
          <a:p>
            <a:pPr algn="ctr" indent="0" marL="0">
              <a:buNone/>
            </a:pPr>
            <a:r>
              <a:rPr lang="en-US" sz="900" b="1" dirty="0">
                <a:solidFill>
                  <a:srgbClr val="0A1628"/>
                </a:solidFill>
              </a:rPr>
              <a:t>8</a:t>
            </a:r>
            <a:endParaRPr lang="en-US" sz="900" dirty="0"/>
          </a:p>
        </p:txBody>
      </p:sp>
      <p:sp>
        <p:nvSpPr>
          <p:cNvPr id="60" name="Text 58"/>
          <p:cNvSpPr/>
          <p:nvPr/>
        </p:nvSpPr>
        <p:spPr>
          <a:xfrm>
            <a:off x="5266944" y="4581144"/>
            <a:ext cx="3520440" cy="402336"/>
          </a:xfrm>
          <a:prstGeom prst="rect">
            <a:avLst/>
          </a:prstGeom>
          <a:noFill/>
          <a:ln/>
        </p:spPr>
        <p:txBody>
          <a:bodyPr wrap="square" rtlCol="0" anchor="ctr"/>
          <a:lstStyle/>
          <a:p>
            <a:pPr indent="0" marL="0">
              <a:buNone/>
            </a:pPr>
            <a:r>
              <a:rPr lang="en-US" sz="1000" dirty="0">
                <a:solidFill>
                  <a:srgbClr val="CBD5E1"/>
                </a:solidFill>
                <a:latin typeface="Calibri" pitchFamily="34" charset="0"/>
                <a:ea typeface="Calibri" pitchFamily="34" charset="-122"/>
                <a:cs typeface="Calibri" pitchFamily="34" charset="-120"/>
              </a:rPr>
              <a:t>Monitor &amp; Refine — continuously update models to changing conditions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4FC"/>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A1628"/>
          </a:solidFill>
          <a:ln w="12700">
            <a:solidFill>
              <a:srgbClr val="0A1628"/>
            </a:solidFill>
            <a:prstDash val="solid"/>
          </a:ln>
        </p:spPr>
      </p:sp>
      <p:sp>
        <p:nvSpPr>
          <p:cNvPr id="3" name="Shape 1"/>
          <p:cNvSpPr/>
          <p:nvPr/>
        </p:nvSpPr>
        <p:spPr>
          <a:xfrm>
            <a:off x="0" y="960120"/>
            <a:ext cx="9144000" cy="64008"/>
          </a:xfrm>
          <a:prstGeom prst="rect">
            <a:avLst/>
          </a:prstGeom>
          <a:solidFill>
            <a:srgbClr val="5EEAD4"/>
          </a:solidFill>
          <a:ln w="12700">
            <a:solidFill>
              <a:srgbClr val="5EEAD4"/>
            </a:solidFill>
            <a:prstDash val="solid"/>
          </a:ln>
        </p:spPr>
      </p:sp>
      <p:sp>
        <p:nvSpPr>
          <p:cNvPr id="4" name="Text 2"/>
          <p:cNvSpPr/>
          <p:nvPr/>
        </p:nvSpPr>
        <p:spPr>
          <a:xfrm>
            <a:off x="411480" y="0"/>
            <a:ext cx="8321040" cy="960120"/>
          </a:xfrm>
          <a:prstGeom prst="rect">
            <a:avLst/>
          </a:prstGeom>
          <a:noFill/>
          <a:ln/>
        </p:spPr>
        <p:txBody>
          <a:bodyPr wrap="square" rtlCol="0" anchor="ctr"/>
          <a:lstStyle/>
          <a:p>
            <a:pPr indent="0" marL="0">
              <a:buNone/>
            </a:pPr>
            <a:r>
              <a:rPr lang="en-US" sz="2800" b="1" dirty="0">
                <a:solidFill>
                  <a:srgbClr val="5EEAD4"/>
                </a:solidFill>
                <a:latin typeface="Calibri" pitchFamily="34" charset="0"/>
                <a:ea typeface="Calibri" pitchFamily="34" charset="-122"/>
                <a:cs typeface="Calibri" pitchFamily="34" charset="-120"/>
              </a:rPr>
              <a:t>Future Trends in Financial Data Mining</a:t>
            </a:r>
            <a:endParaRPr lang="en-US" sz="2800" dirty="0"/>
          </a:p>
        </p:txBody>
      </p:sp>
      <p:sp>
        <p:nvSpPr>
          <p:cNvPr id="5" name="Text 3"/>
          <p:cNvSpPr/>
          <p:nvPr/>
        </p:nvSpPr>
        <p:spPr>
          <a:xfrm>
            <a:off x="365760" y="1143000"/>
            <a:ext cx="5029200" cy="329184"/>
          </a:xfrm>
          <a:prstGeom prst="rect">
            <a:avLst/>
          </a:prstGeom>
          <a:noFill/>
          <a:ln/>
        </p:spPr>
        <p:txBody>
          <a:bodyPr wrap="square" rtlCol="0" anchor="ctr"/>
          <a:lstStyle/>
          <a:p>
            <a:pPr indent="0" marL="0">
              <a:buNone/>
            </a:pPr>
            <a:r>
              <a:rPr lang="en-US" sz="1500" b="1" dirty="0">
                <a:solidFill>
                  <a:srgbClr val="0A1628"/>
                </a:solidFill>
                <a:latin typeface="Calibri" pitchFamily="34" charset="0"/>
                <a:ea typeface="Calibri" pitchFamily="34" charset="-122"/>
                <a:cs typeface="Calibri" pitchFamily="34" charset="-120"/>
              </a:rPr>
              <a:t>Emerging Technologies</a:t>
            </a:r>
            <a:endParaRPr lang="en-US" sz="1500" dirty="0"/>
          </a:p>
        </p:txBody>
      </p:sp>
      <p:sp>
        <p:nvSpPr>
          <p:cNvPr id="6" name="Shape 4"/>
          <p:cNvSpPr/>
          <p:nvPr/>
        </p:nvSpPr>
        <p:spPr>
          <a:xfrm>
            <a:off x="347472" y="1536192"/>
            <a:ext cx="2029968" cy="1883664"/>
          </a:xfrm>
          <a:prstGeom prst="rect">
            <a:avLst/>
          </a:prstGeom>
          <a:solidFill>
            <a:srgbClr val="0A1628"/>
          </a:solidFill>
          <a:ln w="19050">
            <a:solidFill>
              <a:srgbClr val="1D4ED8"/>
            </a:solidFill>
            <a:prstDash val="solid"/>
          </a:ln>
          <a:effectLst>
            <a:outerShdw sx="100000" sy="100000" kx="0" ky="0" algn="bl" rotWithShape="0" blurRad="101600" dist="38100" dir="8100000">
              <a:srgbClr val="000000">
                <a:alpha val="20000"/>
              </a:srgbClr>
            </a:outerShdw>
          </a:effectLst>
        </p:spPr>
      </p:sp>
      <p:sp>
        <p:nvSpPr>
          <p:cNvPr id="7" name="Shape 5"/>
          <p:cNvSpPr/>
          <p:nvPr/>
        </p:nvSpPr>
        <p:spPr>
          <a:xfrm>
            <a:off x="347472" y="1536192"/>
            <a:ext cx="2029968" cy="420624"/>
          </a:xfrm>
          <a:prstGeom prst="rect">
            <a:avLst/>
          </a:prstGeom>
          <a:solidFill>
            <a:srgbClr val="1D4ED8"/>
          </a:solidFill>
          <a:ln w="12700">
            <a:solidFill>
              <a:srgbClr val="1D4ED8"/>
            </a:solidFill>
            <a:prstDash val="solid"/>
          </a:ln>
        </p:spPr>
      </p:sp>
      <p:sp>
        <p:nvSpPr>
          <p:cNvPr id="8" name="Text 6"/>
          <p:cNvSpPr/>
          <p:nvPr/>
        </p:nvSpPr>
        <p:spPr>
          <a:xfrm>
            <a:off x="347472" y="1536192"/>
            <a:ext cx="2029968" cy="420624"/>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9" name="Text 7"/>
          <p:cNvSpPr/>
          <p:nvPr/>
        </p:nvSpPr>
        <p:spPr>
          <a:xfrm>
            <a:off x="420624" y="2011680"/>
            <a:ext cx="1883664" cy="347472"/>
          </a:xfrm>
          <a:prstGeom prst="rect">
            <a:avLst/>
          </a:prstGeom>
          <a:noFill/>
          <a:ln/>
        </p:spPr>
        <p:txBody>
          <a:bodyPr wrap="square" rtlCol="0" anchor="ctr"/>
          <a:lstStyle/>
          <a:p>
            <a:pPr algn="ctr" indent="0" marL="0">
              <a:buNone/>
            </a:pPr>
            <a:r>
              <a:rPr lang="en-US" sz="1050" b="1" dirty="0">
                <a:solidFill>
                  <a:srgbClr val="BAE6FD"/>
                </a:solidFill>
                <a:latin typeface="Calibri" pitchFamily="34" charset="0"/>
                <a:ea typeface="Calibri" pitchFamily="34" charset="-122"/>
                <a:cs typeface="Calibri" pitchFamily="34" charset="-120"/>
              </a:rPr>
              <a:t>Artificial Intelligence</a:t>
            </a:r>
            <a:endParaRPr lang="en-US" sz="1050" dirty="0"/>
          </a:p>
        </p:txBody>
      </p:sp>
      <p:sp>
        <p:nvSpPr>
          <p:cNvPr id="10" name="Text 8"/>
          <p:cNvSpPr/>
          <p:nvPr/>
        </p:nvSpPr>
        <p:spPr>
          <a:xfrm>
            <a:off x="438912" y="2377440"/>
            <a:ext cx="1847088" cy="969264"/>
          </a:xfrm>
          <a:prstGeom prst="rect">
            <a:avLst/>
          </a:prstGeom>
          <a:noFill/>
          <a:ln/>
        </p:spPr>
        <p:txBody>
          <a:bodyPr wrap="square" rtlCol="0" anchor="ctr"/>
          <a:lstStyle/>
          <a:p>
            <a:pPr indent="0" marL="0">
              <a:buNone/>
            </a:pPr>
            <a:r>
              <a:rPr lang="en-US" sz="950" dirty="0">
                <a:solidFill>
                  <a:srgbClr val="CBD5E1"/>
                </a:solidFill>
                <a:latin typeface="Calibri" pitchFamily="34" charset="0"/>
                <a:ea typeface="Calibri" pitchFamily="34" charset="-122"/>
                <a:cs typeface="Calibri" pitchFamily="34" charset="-120"/>
              </a:rPr>
              <a:t>AI-powered algorithms are becoming increasingly sophisticated — enabling more accurate predictions and automated financial decision-making at scale.</a:t>
            </a:r>
            <a:endParaRPr lang="en-US" sz="950" dirty="0"/>
          </a:p>
        </p:txBody>
      </p:sp>
      <p:sp>
        <p:nvSpPr>
          <p:cNvPr id="11" name="Shape 9"/>
          <p:cNvSpPr/>
          <p:nvPr/>
        </p:nvSpPr>
        <p:spPr>
          <a:xfrm>
            <a:off x="2514600" y="1536192"/>
            <a:ext cx="2029968" cy="1883664"/>
          </a:xfrm>
          <a:prstGeom prst="rect">
            <a:avLst/>
          </a:prstGeom>
          <a:solidFill>
            <a:srgbClr val="0A1628"/>
          </a:solidFill>
          <a:ln w="19050">
            <a:solidFill>
              <a:srgbClr val="0D9488"/>
            </a:solidFill>
            <a:prstDash val="solid"/>
          </a:ln>
          <a:effectLst>
            <a:outerShdw sx="100000" sy="100000" kx="0" ky="0" algn="bl" rotWithShape="0" blurRad="101600" dist="38100" dir="8100000">
              <a:srgbClr val="000000">
                <a:alpha val="20000"/>
              </a:srgbClr>
            </a:outerShdw>
          </a:effectLst>
        </p:spPr>
      </p:sp>
      <p:sp>
        <p:nvSpPr>
          <p:cNvPr id="12" name="Shape 10"/>
          <p:cNvSpPr/>
          <p:nvPr/>
        </p:nvSpPr>
        <p:spPr>
          <a:xfrm>
            <a:off x="2514600" y="1536192"/>
            <a:ext cx="2029968" cy="420624"/>
          </a:xfrm>
          <a:prstGeom prst="rect">
            <a:avLst/>
          </a:prstGeom>
          <a:solidFill>
            <a:srgbClr val="0D9488"/>
          </a:solidFill>
          <a:ln w="12700">
            <a:solidFill>
              <a:srgbClr val="0D9488"/>
            </a:solidFill>
            <a:prstDash val="solid"/>
          </a:ln>
        </p:spPr>
      </p:sp>
      <p:sp>
        <p:nvSpPr>
          <p:cNvPr id="13" name="Text 11"/>
          <p:cNvSpPr/>
          <p:nvPr/>
        </p:nvSpPr>
        <p:spPr>
          <a:xfrm>
            <a:off x="2514600" y="1536192"/>
            <a:ext cx="2029968" cy="420624"/>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14" name="Text 12"/>
          <p:cNvSpPr/>
          <p:nvPr/>
        </p:nvSpPr>
        <p:spPr>
          <a:xfrm>
            <a:off x="2587752" y="2011680"/>
            <a:ext cx="1883664" cy="347472"/>
          </a:xfrm>
          <a:prstGeom prst="rect">
            <a:avLst/>
          </a:prstGeom>
          <a:noFill/>
          <a:ln/>
        </p:spPr>
        <p:txBody>
          <a:bodyPr wrap="square" rtlCol="0" anchor="ctr"/>
          <a:lstStyle/>
          <a:p>
            <a:pPr algn="ctr" indent="0" marL="0">
              <a:buNone/>
            </a:pPr>
            <a:r>
              <a:rPr lang="en-US" sz="1050" b="1" dirty="0">
                <a:solidFill>
                  <a:srgbClr val="5EEAD4"/>
                </a:solidFill>
                <a:latin typeface="Calibri" pitchFamily="34" charset="0"/>
                <a:ea typeface="Calibri" pitchFamily="34" charset="-122"/>
                <a:cs typeface="Calibri" pitchFamily="34" charset="-120"/>
              </a:rPr>
              <a:t>Blockchain Analytics</a:t>
            </a:r>
            <a:endParaRPr lang="en-US" sz="1050" dirty="0"/>
          </a:p>
        </p:txBody>
      </p:sp>
      <p:sp>
        <p:nvSpPr>
          <p:cNvPr id="15" name="Text 13"/>
          <p:cNvSpPr/>
          <p:nvPr/>
        </p:nvSpPr>
        <p:spPr>
          <a:xfrm>
            <a:off x="2606040" y="2377440"/>
            <a:ext cx="1847088" cy="969264"/>
          </a:xfrm>
          <a:prstGeom prst="rect">
            <a:avLst/>
          </a:prstGeom>
          <a:noFill/>
          <a:ln/>
        </p:spPr>
        <p:txBody>
          <a:bodyPr wrap="square" rtlCol="0" anchor="ctr"/>
          <a:lstStyle/>
          <a:p>
            <a:pPr indent="0" marL="0">
              <a:buNone/>
            </a:pPr>
            <a:r>
              <a:rPr lang="en-US" sz="950" dirty="0">
                <a:solidFill>
                  <a:srgbClr val="CBD5E1"/>
                </a:solidFill>
                <a:latin typeface="Calibri" pitchFamily="34" charset="0"/>
                <a:ea typeface="Calibri" pitchFamily="34" charset="-122"/>
                <a:cs typeface="Calibri" pitchFamily="34" charset="-120"/>
              </a:rPr>
              <a:t>Blockchain creates new opportunities for data mining — particularly in fraud detection, transaction tracing, and real-time financial intelligence.</a:t>
            </a:r>
            <a:endParaRPr lang="en-US" sz="950" dirty="0"/>
          </a:p>
        </p:txBody>
      </p:sp>
      <p:sp>
        <p:nvSpPr>
          <p:cNvPr id="16" name="Shape 14"/>
          <p:cNvSpPr/>
          <p:nvPr/>
        </p:nvSpPr>
        <p:spPr>
          <a:xfrm>
            <a:off x="4681728" y="1536192"/>
            <a:ext cx="2029968" cy="1883664"/>
          </a:xfrm>
          <a:prstGeom prst="rect">
            <a:avLst/>
          </a:prstGeom>
          <a:solidFill>
            <a:srgbClr val="0A1628"/>
          </a:solidFill>
          <a:ln w="19050">
            <a:solidFill>
              <a:srgbClr val="D4A017"/>
            </a:solidFill>
            <a:prstDash val="solid"/>
          </a:ln>
          <a:effectLst>
            <a:outerShdw sx="100000" sy="100000" kx="0" ky="0" algn="bl" rotWithShape="0" blurRad="101600" dist="38100" dir="8100000">
              <a:srgbClr val="000000">
                <a:alpha val="20000"/>
              </a:srgbClr>
            </a:outerShdw>
          </a:effectLst>
        </p:spPr>
      </p:sp>
      <p:sp>
        <p:nvSpPr>
          <p:cNvPr id="17" name="Shape 15"/>
          <p:cNvSpPr/>
          <p:nvPr/>
        </p:nvSpPr>
        <p:spPr>
          <a:xfrm>
            <a:off x="4681728" y="1536192"/>
            <a:ext cx="2029968" cy="420624"/>
          </a:xfrm>
          <a:prstGeom prst="rect">
            <a:avLst/>
          </a:prstGeom>
          <a:solidFill>
            <a:srgbClr val="D4A017"/>
          </a:solidFill>
          <a:ln w="12700">
            <a:solidFill>
              <a:srgbClr val="D4A017"/>
            </a:solidFill>
            <a:prstDash val="solid"/>
          </a:ln>
        </p:spPr>
      </p:sp>
      <p:sp>
        <p:nvSpPr>
          <p:cNvPr id="18" name="Text 16"/>
          <p:cNvSpPr/>
          <p:nvPr/>
        </p:nvSpPr>
        <p:spPr>
          <a:xfrm>
            <a:off x="4681728" y="1536192"/>
            <a:ext cx="2029968" cy="420624"/>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19" name="Text 17"/>
          <p:cNvSpPr/>
          <p:nvPr/>
        </p:nvSpPr>
        <p:spPr>
          <a:xfrm>
            <a:off x="4754880" y="2011680"/>
            <a:ext cx="1883664" cy="347472"/>
          </a:xfrm>
          <a:prstGeom prst="rect">
            <a:avLst/>
          </a:prstGeom>
          <a:noFill/>
          <a:ln/>
        </p:spPr>
        <p:txBody>
          <a:bodyPr wrap="square" rtlCol="0" anchor="ctr"/>
          <a:lstStyle/>
          <a:p>
            <a:pPr algn="ctr" indent="0" marL="0">
              <a:buNone/>
            </a:pPr>
            <a:r>
              <a:rPr lang="en-US" sz="1050" b="1" dirty="0">
                <a:solidFill>
                  <a:srgbClr val="F5C842"/>
                </a:solidFill>
                <a:latin typeface="Calibri" pitchFamily="34" charset="0"/>
                <a:ea typeface="Calibri" pitchFamily="34" charset="-122"/>
                <a:cs typeface="Calibri" pitchFamily="34" charset="-120"/>
              </a:rPr>
              <a:t>Quantum Computing</a:t>
            </a:r>
            <a:endParaRPr lang="en-US" sz="1050" dirty="0"/>
          </a:p>
        </p:txBody>
      </p:sp>
      <p:sp>
        <p:nvSpPr>
          <p:cNvPr id="20" name="Text 18"/>
          <p:cNvSpPr/>
          <p:nvPr/>
        </p:nvSpPr>
        <p:spPr>
          <a:xfrm>
            <a:off x="4773168" y="2377440"/>
            <a:ext cx="1847088" cy="969264"/>
          </a:xfrm>
          <a:prstGeom prst="rect">
            <a:avLst/>
          </a:prstGeom>
          <a:noFill/>
          <a:ln/>
        </p:spPr>
        <p:txBody>
          <a:bodyPr wrap="square" rtlCol="0" anchor="ctr"/>
          <a:lstStyle/>
          <a:p>
            <a:pPr indent="0" marL="0">
              <a:buNone/>
            </a:pPr>
            <a:r>
              <a:rPr lang="en-US" sz="950" dirty="0">
                <a:solidFill>
                  <a:srgbClr val="CBD5E1"/>
                </a:solidFill>
                <a:latin typeface="Calibri" pitchFamily="34" charset="0"/>
                <a:ea typeface="Calibri" pitchFamily="34" charset="-122"/>
                <a:cs typeface="Calibri" pitchFamily="34" charset="-120"/>
              </a:rPr>
              <a:t>Promises to revolutionise data mining by enabling faster and dramatically more complex analyses across multi-dimensional financial datasets.</a:t>
            </a:r>
            <a:endParaRPr lang="en-US" sz="950" dirty="0"/>
          </a:p>
        </p:txBody>
      </p:sp>
      <p:sp>
        <p:nvSpPr>
          <p:cNvPr id="21" name="Shape 19"/>
          <p:cNvSpPr/>
          <p:nvPr/>
        </p:nvSpPr>
        <p:spPr>
          <a:xfrm>
            <a:off x="6848856" y="1536192"/>
            <a:ext cx="2029968" cy="1883664"/>
          </a:xfrm>
          <a:prstGeom prst="rect">
            <a:avLst/>
          </a:prstGeom>
          <a:solidFill>
            <a:srgbClr val="0A1628"/>
          </a:solidFill>
          <a:ln w="19050">
            <a:solidFill>
              <a:srgbClr val="1D4ED8"/>
            </a:solidFill>
            <a:prstDash val="solid"/>
          </a:ln>
          <a:effectLst>
            <a:outerShdw sx="100000" sy="100000" kx="0" ky="0" algn="bl" rotWithShape="0" blurRad="101600" dist="38100" dir="8100000">
              <a:srgbClr val="000000">
                <a:alpha val="20000"/>
              </a:srgbClr>
            </a:outerShdw>
          </a:effectLst>
        </p:spPr>
      </p:sp>
      <p:sp>
        <p:nvSpPr>
          <p:cNvPr id="22" name="Shape 20"/>
          <p:cNvSpPr/>
          <p:nvPr/>
        </p:nvSpPr>
        <p:spPr>
          <a:xfrm>
            <a:off x="6848856" y="1536192"/>
            <a:ext cx="2029968" cy="420624"/>
          </a:xfrm>
          <a:prstGeom prst="rect">
            <a:avLst/>
          </a:prstGeom>
          <a:solidFill>
            <a:srgbClr val="1D4ED8"/>
          </a:solidFill>
          <a:ln w="12700">
            <a:solidFill>
              <a:srgbClr val="1D4ED8"/>
            </a:solidFill>
            <a:prstDash val="solid"/>
          </a:ln>
        </p:spPr>
      </p:sp>
      <p:sp>
        <p:nvSpPr>
          <p:cNvPr id="23" name="Text 21"/>
          <p:cNvSpPr/>
          <p:nvPr/>
        </p:nvSpPr>
        <p:spPr>
          <a:xfrm>
            <a:off x="6848856" y="1536192"/>
            <a:ext cx="2029968" cy="420624"/>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24" name="Text 22"/>
          <p:cNvSpPr/>
          <p:nvPr/>
        </p:nvSpPr>
        <p:spPr>
          <a:xfrm>
            <a:off x="6922008" y="2011680"/>
            <a:ext cx="1883664" cy="347472"/>
          </a:xfrm>
          <a:prstGeom prst="rect">
            <a:avLst/>
          </a:prstGeom>
          <a:noFill/>
          <a:ln/>
        </p:spPr>
        <p:txBody>
          <a:bodyPr wrap="square" rtlCol="0" anchor="ctr"/>
          <a:lstStyle/>
          <a:p>
            <a:pPr algn="ctr" indent="0" marL="0">
              <a:buNone/>
            </a:pPr>
            <a:r>
              <a:rPr lang="en-US" sz="1050" b="1" dirty="0">
                <a:solidFill>
                  <a:srgbClr val="BAE6FD"/>
                </a:solidFill>
                <a:latin typeface="Calibri" pitchFamily="34" charset="0"/>
                <a:ea typeface="Calibri" pitchFamily="34" charset="-122"/>
                <a:cs typeface="Calibri" pitchFamily="34" charset="-120"/>
              </a:rPr>
              <a:t>NLP &amp; Sentiment Analysis</a:t>
            </a:r>
            <a:endParaRPr lang="en-US" sz="1050" dirty="0"/>
          </a:p>
        </p:txBody>
      </p:sp>
      <p:sp>
        <p:nvSpPr>
          <p:cNvPr id="25" name="Text 23"/>
          <p:cNvSpPr/>
          <p:nvPr/>
        </p:nvSpPr>
        <p:spPr>
          <a:xfrm>
            <a:off x="6940296" y="2377440"/>
            <a:ext cx="1847088" cy="969264"/>
          </a:xfrm>
          <a:prstGeom prst="rect">
            <a:avLst/>
          </a:prstGeom>
          <a:noFill/>
          <a:ln/>
        </p:spPr>
        <p:txBody>
          <a:bodyPr wrap="square" rtlCol="0" anchor="ctr"/>
          <a:lstStyle/>
          <a:p>
            <a:pPr indent="0" marL="0">
              <a:buNone/>
            </a:pPr>
            <a:r>
              <a:rPr lang="en-US" sz="950" dirty="0">
                <a:solidFill>
                  <a:srgbClr val="CBD5E1"/>
                </a:solidFill>
                <a:latin typeface="Calibri" pitchFamily="34" charset="0"/>
                <a:ea typeface="Calibri" pitchFamily="34" charset="-122"/>
                <a:cs typeface="Calibri" pitchFamily="34" charset="-120"/>
              </a:rPr>
              <a:t>Analyses unstructured data — news articles, earnings calls, social media — for market sentiment prediction and investment signal generation.</a:t>
            </a:r>
            <a:endParaRPr lang="en-US" sz="950" dirty="0"/>
          </a:p>
        </p:txBody>
      </p:sp>
      <p:sp>
        <p:nvSpPr>
          <p:cNvPr id="26" name="Text 24"/>
          <p:cNvSpPr/>
          <p:nvPr/>
        </p:nvSpPr>
        <p:spPr>
          <a:xfrm>
            <a:off x="365760" y="3529584"/>
            <a:ext cx="8412480" cy="329184"/>
          </a:xfrm>
          <a:prstGeom prst="rect">
            <a:avLst/>
          </a:prstGeom>
          <a:noFill/>
          <a:ln/>
        </p:spPr>
        <p:txBody>
          <a:bodyPr wrap="square" rtlCol="0" anchor="ctr"/>
          <a:lstStyle/>
          <a:p>
            <a:pPr indent="0" marL="0">
              <a:buNone/>
            </a:pPr>
            <a:r>
              <a:rPr lang="en-US" sz="1500" b="1" dirty="0">
                <a:solidFill>
                  <a:srgbClr val="0A1628"/>
                </a:solidFill>
                <a:latin typeface="Calibri" pitchFamily="34" charset="0"/>
                <a:ea typeface="Calibri" pitchFamily="34" charset="-122"/>
                <a:cs typeface="Calibri" pitchFamily="34" charset="-120"/>
              </a:rPr>
              <a:t>Predictions for Development</a:t>
            </a:r>
            <a:endParaRPr lang="en-US" sz="1500" dirty="0"/>
          </a:p>
        </p:txBody>
      </p:sp>
      <p:sp>
        <p:nvSpPr>
          <p:cNvPr id="27" name="Shape 25"/>
          <p:cNvSpPr/>
          <p:nvPr/>
        </p:nvSpPr>
        <p:spPr>
          <a:xfrm>
            <a:off x="347472" y="3913632"/>
            <a:ext cx="2029968" cy="987552"/>
          </a:xfrm>
          <a:prstGeom prst="rect">
            <a:avLst/>
          </a:prstGeom>
          <a:solidFill>
            <a:srgbClr val="0A1628"/>
          </a:solidFill>
          <a:ln w="19050">
            <a:solidFill>
              <a:srgbClr val="D4A017"/>
            </a:solidFill>
            <a:prstDash val="solid"/>
          </a:ln>
          <a:effectLst>
            <a:outerShdw sx="100000" sy="100000" kx="0" ky="0" algn="bl" rotWithShape="0" blurRad="101600" dist="38100" dir="8100000">
              <a:srgbClr val="000000">
                <a:alpha val="20000"/>
              </a:srgbClr>
            </a:outerShdw>
          </a:effectLst>
        </p:spPr>
      </p:sp>
      <p:sp>
        <p:nvSpPr>
          <p:cNvPr id="28" name="Text 26"/>
          <p:cNvSpPr/>
          <p:nvPr/>
        </p:nvSpPr>
        <p:spPr>
          <a:xfrm>
            <a:off x="438912" y="3931920"/>
            <a:ext cx="1847088" cy="329184"/>
          </a:xfrm>
          <a:prstGeom prst="rect">
            <a:avLst/>
          </a:prstGeom>
          <a:noFill/>
          <a:ln/>
        </p:spPr>
        <p:txBody>
          <a:bodyPr wrap="square" rtlCol="0" anchor="ctr"/>
          <a:lstStyle/>
          <a:p>
            <a:pPr indent="0" marL="0">
              <a:buNone/>
            </a:pPr>
            <a:r>
              <a:rPr lang="en-US" sz="1050" b="1" dirty="0">
                <a:solidFill>
                  <a:srgbClr val="F5C842"/>
                </a:solidFill>
                <a:latin typeface="Calibri" pitchFamily="34" charset="0"/>
                <a:ea typeface="Calibri" pitchFamily="34" charset="-122"/>
                <a:cs typeface="Calibri" pitchFamily="34" charset="-120"/>
              </a:rPr>
              <a:t>👤  Increased Personalisation</a:t>
            </a:r>
            <a:endParaRPr lang="en-US" sz="1050" dirty="0"/>
          </a:p>
        </p:txBody>
      </p:sp>
      <p:sp>
        <p:nvSpPr>
          <p:cNvPr id="29" name="Text 27"/>
          <p:cNvSpPr/>
          <p:nvPr/>
        </p:nvSpPr>
        <p:spPr>
          <a:xfrm>
            <a:off x="438912" y="4279392"/>
            <a:ext cx="1847088" cy="566928"/>
          </a:xfrm>
          <a:prstGeom prst="rect">
            <a:avLst/>
          </a:prstGeom>
          <a:noFill/>
          <a:ln/>
        </p:spPr>
        <p:txBody>
          <a:bodyPr wrap="square" rtlCol="0" anchor="ctr"/>
          <a:lstStyle/>
          <a:p>
            <a:pPr indent="0" marL="0">
              <a:buNone/>
            </a:pPr>
            <a:r>
              <a:rPr lang="en-US" sz="950" dirty="0">
                <a:solidFill>
                  <a:srgbClr val="CBD5E1"/>
                </a:solidFill>
                <a:latin typeface="Calibri" pitchFamily="34" charset="0"/>
                <a:ea typeface="Calibri" pitchFamily="34" charset="-122"/>
                <a:cs typeface="Calibri" pitchFamily="34" charset="-120"/>
              </a:rPr>
              <a:t>Even more tailored financial services — from bespoke investment advice to customised loan products.</a:t>
            </a:r>
            <a:endParaRPr lang="en-US" sz="950" dirty="0"/>
          </a:p>
        </p:txBody>
      </p:sp>
      <p:sp>
        <p:nvSpPr>
          <p:cNvPr id="30" name="Shape 28"/>
          <p:cNvSpPr/>
          <p:nvPr/>
        </p:nvSpPr>
        <p:spPr>
          <a:xfrm>
            <a:off x="2514600" y="3913632"/>
            <a:ext cx="2029968" cy="987552"/>
          </a:xfrm>
          <a:prstGeom prst="rect">
            <a:avLst/>
          </a:prstGeom>
          <a:solidFill>
            <a:srgbClr val="0A1628"/>
          </a:solidFill>
          <a:ln w="19050">
            <a:solidFill>
              <a:srgbClr val="0D9488"/>
            </a:solidFill>
            <a:prstDash val="solid"/>
          </a:ln>
          <a:effectLst>
            <a:outerShdw sx="100000" sy="100000" kx="0" ky="0" algn="bl" rotWithShape="0" blurRad="101600" dist="38100" dir="8100000">
              <a:srgbClr val="000000">
                <a:alpha val="20000"/>
              </a:srgbClr>
            </a:outerShdw>
          </a:effectLst>
        </p:spPr>
      </p:sp>
      <p:sp>
        <p:nvSpPr>
          <p:cNvPr id="31" name="Text 29"/>
          <p:cNvSpPr/>
          <p:nvPr/>
        </p:nvSpPr>
        <p:spPr>
          <a:xfrm>
            <a:off x="2606040" y="3931920"/>
            <a:ext cx="1847088" cy="329184"/>
          </a:xfrm>
          <a:prstGeom prst="rect">
            <a:avLst/>
          </a:prstGeom>
          <a:noFill/>
          <a:ln/>
        </p:spPr>
        <p:txBody>
          <a:bodyPr wrap="square" rtlCol="0" anchor="ctr"/>
          <a:lstStyle/>
          <a:p>
            <a:pPr indent="0" marL="0">
              <a:buNone/>
            </a:pPr>
            <a:r>
              <a:rPr lang="en-US" sz="1050" b="1" dirty="0">
                <a:solidFill>
                  <a:srgbClr val="5EEAD4"/>
                </a:solidFill>
                <a:latin typeface="Calibri" pitchFamily="34" charset="0"/>
                <a:ea typeface="Calibri" pitchFamily="34" charset="-122"/>
                <a:cs typeface="Calibri" pitchFamily="34" charset="-120"/>
              </a:rPr>
              <a:t>🛡️  Enhanced Risk Management</a:t>
            </a:r>
            <a:endParaRPr lang="en-US" sz="1050" dirty="0"/>
          </a:p>
        </p:txBody>
      </p:sp>
      <p:sp>
        <p:nvSpPr>
          <p:cNvPr id="32" name="Text 30"/>
          <p:cNvSpPr/>
          <p:nvPr/>
        </p:nvSpPr>
        <p:spPr>
          <a:xfrm>
            <a:off x="2606040" y="4279392"/>
            <a:ext cx="1847088" cy="566928"/>
          </a:xfrm>
          <a:prstGeom prst="rect">
            <a:avLst/>
          </a:prstGeom>
          <a:noFill/>
          <a:ln/>
        </p:spPr>
        <p:txBody>
          <a:bodyPr wrap="square" rtlCol="0" anchor="ctr"/>
          <a:lstStyle/>
          <a:p>
            <a:pPr indent="0" marL="0">
              <a:buNone/>
            </a:pPr>
            <a:r>
              <a:rPr lang="en-US" sz="950" dirty="0">
                <a:solidFill>
                  <a:srgbClr val="CBD5E1"/>
                </a:solidFill>
                <a:latin typeface="Calibri" pitchFamily="34" charset="0"/>
                <a:ea typeface="Calibri" pitchFamily="34" charset="-122"/>
                <a:cs typeface="Calibri" pitchFamily="34" charset="-120"/>
              </a:rPr>
              <a:t>Predictive models more accurately anticipate and mitigate risks, enabling proactive response.</a:t>
            </a:r>
            <a:endParaRPr lang="en-US" sz="950" dirty="0"/>
          </a:p>
        </p:txBody>
      </p:sp>
      <p:sp>
        <p:nvSpPr>
          <p:cNvPr id="33" name="Shape 31"/>
          <p:cNvSpPr/>
          <p:nvPr/>
        </p:nvSpPr>
        <p:spPr>
          <a:xfrm>
            <a:off x="4681728" y="3913632"/>
            <a:ext cx="2029968" cy="987552"/>
          </a:xfrm>
          <a:prstGeom prst="rect">
            <a:avLst/>
          </a:prstGeom>
          <a:solidFill>
            <a:srgbClr val="0A1628"/>
          </a:solidFill>
          <a:ln w="19050">
            <a:solidFill>
              <a:srgbClr val="D4A017"/>
            </a:solidFill>
            <a:prstDash val="solid"/>
          </a:ln>
          <a:effectLst>
            <a:outerShdw sx="100000" sy="100000" kx="0" ky="0" algn="bl" rotWithShape="0" blurRad="101600" dist="38100" dir="8100000">
              <a:srgbClr val="000000">
                <a:alpha val="20000"/>
              </a:srgbClr>
            </a:outerShdw>
          </a:effectLst>
        </p:spPr>
      </p:sp>
      <p:sp>
        <p:nvSpPr>
          <p:cNvPr id="34" name="Text 32"/>
          <p:cNvSpPr/>
          <p:nvPr/>
        </p:nvSpPr>
        <p:spPr>
          <a:xfrm>
            <a:off x="4773168" y="3931920"/>
            <a:ext cx="1847088" cy="329184"/>
          </a:xfrm>
          <a:prstGeom prst="rect">
            <a:avLst/>
          </a:prstGeom>
          <a:noFill/>
          <a:ln/>
        </p:spPr>
        <p:txBody>
          <a:bodyPr wrap="square" rtlCol="0" anchor="ctr"/>
          <a:lstStyle/>
          <a:p>
            <a:pPr indent="0" marL="0">
              <a:buNone/>
            </a:pPr>
            <a:r>
              <a:rPr lang="en-US" sz="1050" b="1" dirty="0">
                <a:solidFill>
                  <a:srgbClr val="F5C842"/>
                </a:solidFill>
                <a:latin typeface="Calibri" pitchFamily="34" charset="0"/>
                <a:ea typeface="Calibri" pitchFamily="34" charset="-122"/>
                <a:cs typeface="Calibri" pitchFamily="34" charset="-120"/>
              </a:rPr>
              <a:t>🌐  Greater Integration</a:t>
            </a:r>
            <a:endParaRPr lang="en-US" sz="1050" dirty="0"/>
          </a:p>
        </p:txBody>
      </p:sp>
      <p:sp>
        <p:nvSpPr>
          <p:cNvPr id="35" name="Text 33"/>
          <p:cNvSpPr/>
          <p:nvPr/>
        </p:nvSpPr>
        <p:spPr>
          <a:xfrm>
            <a:off x="4773168" y="4279392"/>
            <a:ext cx="1847088" cy="566928"/>
          </a:xfrm>
          <a:prstGeom prst="rect">
            <a:avLst/>
          </a:prstGeom>
          <a:noFill/>
          <a:ln/>
        </p:spPr>
        <p:txBody>
          <a:bodyPr wrap="square" rtlCol="0" anchor="ctr"/>
          <a:lstStyle/>
          <a:p>
            <a:pPr indent="0" marL="0">
              <a:buNone/>
            </a:pPr>
            <a:r>
              <a:rPr lang="en-US" sz="950" dirty="0">
                <a:solidFill>
                  <a:srgbClr val="CBD5E1"/>
                </a:solidFill>
                <a:latin typeface="Calibri" pitchFamily="34" charset="0"/>
                <a:ea typeface="Calibri" pitchFamily="34" charset="-122"/>
                <a:cs typeface="Calibri" pitchFamily="34" charset="-120"/>
              </a:rPr>
              <a:t>Data mining integrates with IoT, edge computing, and blockchain for real-time, distributed insights.</a:t>
            </a:r>
            <a:endParaRPr lang="en-US" sz="950" dirty="0"/>
          </a:p>
        </p:txBody>
      </p:sp>
      <p:sp>
        <p:nvSpPr>
          <p:cNvPr id="36" name="Shape 34"/>
          <p:cNvSpPr/>
          <p:nvPr/>
        </p:nvSpPr>
        <p:spPr>
          <a:xfrm>
            <a:off x="6848856" y="3913632"/>
            <a:ext cx="2029968" cy="987552"/>
          </a:xfrm>
          <a:prstGeom prst="rect">
            <a:avLst/>
          </a:prstGeom>
          <a:solidFill>
            <a:srgbClr val="0A1628"/>
          </a:solidFill>
          <a:ln w="19050">
            <a:solidFill>
              <a:srgbClr val="0D9488"/>
            </a:solidFill>
            <a:prstDash val="solid"/>
          </a:ln>
          <a:effectLst>
            <a:outerShdw sx="100000" sy="100000" kx="0" ky="0" algn="bl" rotWithShape="0" blurRad="101600" dist="38100" dir="8100000">
              <a:srgbClr val="000000">
                <a:alpha val="20000"/>
              </a:srgbClr>
            </a:outerShdw>
          </a:effectLst>
        </p:spPr>
      </p:sp>
      <p:sp>
        <p:nvSpPr>
          <p:cNvPr id="37" name="Text 35"/>
          <p:cNvSpPr/>
          <p:nvPr/>
        </p:nvSpPr>
        <p:spPr>
          <a:xfrm>
            <a:off x="6940296" y="3931920"/>
            <a:ext cx="1847088" cy="329184"/>
          </a:xfrm>
          <a:prstGeom prst="rect">
            <a:avLst/>
          </a:prstGeom>
          <a:noFill/>
          <a:ln/>
        </p:spPr>
        <p:txBody>
          <a:bodyPr wrap="square" rtlCol="0" anchor="ctr"/>
          <a:lstStyle/>
          <a:p>
            <a:pPr indent="0" marL="0">
              <a:buNone/>
            </a:pPr>
            <a:r>
              <a:rPr lang="en-US" sz="1050" b="1" dirty="0">
                <a:solidFill>
                  <a:srgbClr val="5EEAD4"/>
                </a:solidFill>
                <a:latin typeface="Calibri" pitchFamily="34" charset="0"/>
                <a:ea typeface="Calibri" pitchFamily="34" charset="-122"/>
                <a:cs typeface="Calibri" pitchFamily="34" charset="-120"/>
              </a:rPr>
              <a:t>⚖️  Focus on Ethics</a:t>
            </a:r>
            <a:endParaRPr lang="en-US" sz="1050" dirty="0"/>
          </a:p>
        </p:txBody>
      </p:sp>
      <p:sp>
        <p:nvSpPr>
          <p:cNvPr id="38" name="Text 36"/>
          <p:cNvSpPr/>
          <p:nvPr/>
        </p:nvSpPr>
        <p:spPr>
          <a:xfrm>
            <a:off x="6940296" y="4279392"/>
            <a:ext cx="1847088" cy="566928"/>
          </a:xfrm>
          <a:prstGeom prst="rect">
            <a:avLst/>
          </a:prstGeom>
          <a:noFill/>
          <a:ln/>
        </p:spPr>
        <p:txBody>
          <a:bodyPr wrap="square" rtlCol="0" anchor="ctr"/>
          <a:lstStyle/>
          <a:p>
            <a:pPr indent="0" marL="0">
              <a:buNone/>
            </a:pPr>
            <a:r>
              <a:rPr lang="en-US" sz="950" dirty="0">
                <a:solidFill>
                  <a:srgbClr val="CBD5E1"/>
                </a:solidFill>
                <a:latin typeface="Calibri" pitchFamily="34" charset="0"/>
                <a:ea typeface="Calibri" pitchFamily="34" charset="-122"/>
                <a:cs typeface="Calibri" pitchFamily="34" charset="-120"/>
              </a:rPr>
              <a:t>Growing emphasis on ethical data practices, algorithmic fairness, and regulatory transparency.</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6217920" y="-1371600"/>
            <a:ext cx="5029200" cy="5029200"/>
          </a:xfrm>
          <a:prstGeom prst="ellipse">
            <a:avLst/>
          </a:prstGeom>
          <a:solidFill>
            <a:srgbClr val="0F2044"/>
          </a:solidFill>
          <a:ln w="12700">
            <a:solidFill>
              <a:srgbClr val="0F2044"/>
            </a:solidFill>
            <a:prstDash val="solid"/>
          </a:ln>
        </p:spPr>
      </p:sp>
      <p:sp>
        <p:nvSpPr>
          <p:cNvPr id="3" name="Shape 1"/>
          <p:cNvSpPr/>
          <p:nvPr/>
        </p:nvSpPr>
        <p:spPr>
          <a:xfrm>
            <a:off x="-1371600" y="3108960"/>
            <a:ext cx="4114800" cy="4114800"/>
          </a:xfrm>
          <a:prstGeom prst="ellipse">
            <a:avLst/>
          </a:prstGeom>
          <a:solidFill>
            <a:srgbClr val="1D4ED8">
              <a:alpha val="12000"/>
            </a:srgbClr>
          </a:solidFill>
          <a:ln w="12700">
            <a:solidFill>
              <a:srgbClr val="1D4ED8">
                <a:alpha val="15000"/>
              </a:srgbClr>
            </a:solidFill>
            <a:prstDash val="solid"/>
          </a:ln>
        </p:spPr>
      </p:sp>
      <p:sp>
        <p:nvSpPr>
          <p:cNvPr id="4" name="Shape 2"/>
          <p:cNvSpPr/>
          <p:nvPr/>
        </p:nvSpPr>
        <p:spPr>
          <a:xfrm>
            <a:off x="0" y="0"/>
            <a:ext cx="201168" cy="5143500"/>
          </a:xfrm>
          <a:prstGeom prst="rect">
            <a:avLst/>
          </a:prstGeom>
          <a:solidFill>
            <a:srgbClr val="F5C842"/>
          </a:solidFill>
          <a:ln w="12700">
            <a:solidFill>
              <a:srgbClr val="F5C842"/>
            </a:solidFill>
            <a:prstDash val="solid"/>
          </a:ln>
        </p:spPr>
      </p:sp>
      <p:sp>
        <p:nvSpPr>
          <p:cNvPr id="5" name="Text 3"/>
          <p:cNvSpPr/>
          <p:nvPr/>
        </p:nvSpPr>
        <p:spPr>
          <a:xfrm>
            <a:off x="457200" y="274320"/>
            <a:ext cx="8229600" cy="594360"/>
          </a:xfrm>
          <a:prstGeom prst="rect">
            <a:avLst/>
          </a:prstGeom>
          <a:noFill/>
          <a:ln/>
        </p:spPr>
        <p:txBody>
          <a:bodyPr wrap="square" rtlCol="0" anchor="ctr"/>
          <a:lstStyle/>
          <a:p>
            <a:pPr indent="0" marL="0">
              <a:buNone/>
            </a:pPr>
            <a:r>
              <a:rPr lang="en-US" sz="3800" b="1" dirty="0">
                <a:solidFill>
                  <a:srgbClr val="F5C842"/>
                </a:solidFill>
                <a:latin typeface="Calibri" pitchFamily="34" charset="0"/>
                <a:ea typeface="Calibri" pitchFamily="34" charset="-122"/>
                <a:cs typeface="Calibri" pitchFamily="34" charset="-120"/>
              </a:rPr>
              <a:t>Key Takeaways</a:t>
            </a:r>
            <a:endParaRPr lang="en-US" sz="3800" dirty="0"/>
          </a:p>
        </p:txBody>
      </p:sp>
      <p:sp>
        <p:nvSpPr>
          <p:cNvPr id="6" name="Text 4"/>
          <p:cNvSpPr/>
          <p:nvPr/>
        </p:nvSpPr>
        <p:spPr>
          <a:xfrm>
            <a:off x="457200" y="877824"/>
            <a:ext cx="5486400" cy="274320"/>
          </a:xfrm>
          <a:prstGeom prst="rect">
            <a:avLst/>
          </a:prstGeom>
          <a:noFill/>
          <a:ln/>
        </p:spPr>
        <p:txBody>
          <a:bodyPr wrap="square" rtlCol="0" anchor="ctr"/>
          <a:lstStyle/>
          <a:p>
            <a:pPr indent="0" marL="0">
              <a:buNone/>
            </a:pPr>
            <a:r>
              <a:rPr lang="en-US" sz="1100" i="1" dirty="0">
                <a:solidFill>
                  <a:srgbClr val="64748B"/>
                </a:solidFill>
              </a:rPr>
              <a:t>Data Mining in Finance</a:t>
            </a:r>
            <a:endParaRPr lang="en-US" sz="1100" dirty="0"/>
          </a:p>
        </p:txBody>
      </p:sp>
      <p:sp>
        <p:nvSpPr>
          <p:cNvPr id="7" name="Shape 5"/>
          <p:cNvSpPr/>
          <p:nvPr/>
        </p:nvSpPr>
        <p:spPr>
          <a:xfrm>
            <a:off x="457200" y="1389888"/>
            <a:ext cx="329184" cy="329184"/>
          </a:xfrm>
          <a:prstGeom prst="ellipse">
            <a:avLst/>
          </a:prstGeom>
          <a:solidFill>
            <a:srgbClr val="1D4ED8"/>
          </a:solidFill>
          <a:ln w="12700">
            <a:solidFill>
              <a:srgbClr val="1D4ED8"/>
            </a:solidFill>
            <a:prstDash val="solid"/>
          </a:ln>
        </p:spPr>
      </p:sp>
      <p:sp>
        <p:nvSpPr>
          <p:cNvPr id="8" name="Text 6"/>
          <p:cNvSpPr/>
          <p:nvPr/>
        </p:nvSpPr>
        <p:spPr>
          <a:xfrm>
            <a:off x="457200" y="1389888"/>
            <a:ext cx="329184" cy="329184"/>
          </a:xfrm>
          <a:prstGeom prst="rect">
            <a:avLst/>
          </a:prstGeom>
          <a:noFill/>
          <a:ln/>
        </p:spPr>
        <p:txBody>
          <a:bodyPr wrap="square" rtlCol="0" anchor="ctr"/>
          <a:lstStyle/>
          <a:p>
            <a:pPr algn="ctr" indent="0" marL="0">
              <a:buNone/>
            </a:pPr>
            <a:r>
              <a:rPr lang="en-US" sz="1000" b="1" dirty="0">
                <a:solidFill>
                  <a:srgbClr val="F8FAFF"/>
                </a:solidFill>
              </a:rPr>
              <a:t>✦</a:t>
            </a:r>
            <a:endParaRPr lang="en-US" sz="1000" dirty="0"/>
          </a:p>
        </p:txBody>
      </p:sp>
      <p:sp>
        <p:nvSpPr>
          <p:cNvPr id="9" name="Text 7"/>
          <p:cNvSpPr/>
          <p:nvPr/>
        </p:nvSpPr>
        <p:spPr>
          <a:xfrm>
            <a:off x="932688" y="1316736"/>
            <a:ext cx="7818120" cy="502920"/>
          </a:xfrm>
          <a:prstGeom prst="rect">
            <a:avLst/>
          </a:prstGeom>
          <a:noFill/>
          <a:ln/>
        </p:spPr>
        <p:txBody>
          <a:bodyPr wrap="square" rtlCol="0" anchor="ctr"/>
          <a:lstStyle/>
          <a:p>
            <a:pPr indent="0" marL="0">
              <a:buNone/>
            </a:pPr>
            <a:r>
              <a:rPr lang="en-US" sz="1150" dirty="0">
                <a:solidFill>
                  <a:srgbClr val="CBD5E1"/>
                </a:solidFill>
                <a:latin typeface="Calibri" pitchFamily="34" charset="0"/>
                <a:ea typeface="Calibri" pitchFamily="34" charset="-122"/>
                <a:cs typeface="Calibri" pitchFamily="34" charset="-120"/>
              </a:rPr>
              <a:t>Data mining extracts actionable insights from vast financial datasets using classification, clustering, regression, anomaly detection, and time series analysis.</a:t>
            </a:r>
            <a:endParaRPr lang="en-US" sz="1150" dirty="0"/>
          </a:p>
        </p:txBody>
      </p:sp>
      <p:sp>
        <p:nvSpPr>
          <p:cNvPr id="10" name="Shape 8"/>
          <p:cNvSpPr/>
          <p:nvPr/>
        </p:nvSpPr>
        <p:spPr>
          <a:xfrm>
            <a:off x="457200" y="1965960"/>
            <a:ext cx="329184" cy="329184"/>
          </a:xfrm>
          <a:prstGeom prst="ellipse">
            <a:avLst/>
          </a:prstGeom>
          <a:solidFill>
            <a:srgbClr val="D4A017"/>
          </a:solidFill>
          <a:ln w="12700">
            <a:solidFill>
              <a:srgbClr val="D4A017"/>
            </a:solidFill>
            <a:prstDash val="solid"/>
          </a:ln>
        </p:spPr>
      </p:sp>
      <p:sp>
        <p:nvSpPr>
          <p:cNvPr id="11" name="Text 9"/>
          <p:cNvSpPr/>
          <p:nvPr/>
        </p:nvSpPr>
        <p:spPr>
          <a:xfrm>
            <a:off x="457200" y="1965960"/>
            <a:ext cx="329184" cy="329184"/>
          </a:xfrm>
          <a:prstGeom prst="rect">
            <a:avLst/>
          </a:prstGeom>
          <a:noFill/>
          <a:ln/>
        </p:spPr>
        <p:txBody>
          <a:bodyPr wrap="square" rtlCol="0" anchor="ctr"/>
          <a:lstStyle/>
          <a:p>
            <a:pPr algn="ctr" indent="0" marL="0">
              <a:buNone/>
            </a:pPr>
            <a:r>
              <a:rPr lang="en-US" sz="1000" b="1" dirty="0">
                <a:solidFill>
                  <a:srgbClr val="F8FAFF"/>
                </a:solidFill>
              </a:rPr>
              <a:t>✦</a:t>
            </a:r>
            <a:endParaRPr lang="en-US" sz="1000" dirty="0"/>
          </a:p>
        </p:txBody>
      </p:sp>
      <p:sp>
        <p:nvSpPr>
          <p:cNvPr id="12" name="Text 10"/>
          <p:cNvSpPr/>
          <p:nvPr/>
        </p:nvSpPr>
        <p:spPr>
          <a:xfrm>
            <a:off x="932688" y="1892808"/>
            <a:ext cx="7818120" cy="502920"/>
          </a:xfrm>
          <a:prstGeom prst="rect">
            <a:avLst/>
          </a:prstGeom>
          <a:noFill/>
          <a:ln/>
        </p:spPr>
        <p:txBody>
          <a:bodyPr wrap="square" rtlCol="0" anchor="ctr"/>
          <a:lstStyle/>
          <a:p>
            <a:pPr indent="0" marL="0">
              <a:buNone/>
            </a:pPr>
            <a:r>
              <a:rPr lang="en-US" sz="1150" dirty="0">
                <a:solidFill>
                  <a:srgbClr val="CBD5E1"/>
                </a:solidFill>
                <a:latin typeface="Calibri" pitchFamily="34" charset="0"/>
                <a:ea typeface="Calibri" pitchFamily="34" charset="-122"/>
                <a:cs typeface="Calibri" pitchFamily="34" charset="-120"/>
              </a:rPr>
              <a:t>12 key use cases span credit scoring, fraud detection, insurance, churn prediction, market analysis, compliance, segmentation, and operational efficiency.</a:t>
            </a:r>
            <a:endParaRPr lang="en-US" sz="1150" dirty="0"/>
          </a:p>
        </p:txBody>
      </p:sp>
      <p:sp>
        <p:nvSpPr>
          <p:cNvPr id="13" name="Shape 11"/>
          <p:cNvSpPr/>
          <p:nvPr/>
        </p:nvSpPr>
        <p:spPr>
          <a:xfrm>
            <a:off x="457200" y="2542032"/>
            <a:ext cx="329184" cy="329184"/>
          </a:xfrm>
          <a:prstGeom prst="ellipse">
            <a:avLst/>
          </a:prstGeom>
          <a:solidFill>
            <a:srgbClr val="0D9488"/>
          </a:solidFill>
          <a:ln w="12700">
            <a:solidFill>
              <a:srgbClr val="0D9488"/>
            </a:solidFill>
            <a:prstDash val="solid"/>
          </a:ln>
        </p:spPr>
      </p:sp>
      <p:sp>
        <p:nvSpPr>
          <p:cNvPr id="14" name="Text 12"/>
          <p:cNvSpPr/>
          <p:nvPr/>
        </p:nvSpPr>
        <p:spPr>
          <a:xfrm>
            <a:off x="457200" y="2542032"/>
            <a:ext cx="329184" cy="329184"/>
          </a:xfrm>
          <a:prstGeom prst="rect">
            <a:avLst/>
          </a:prstGeom>
          <a:noFill/>
          <a:ln/>
        </p:spPr>
        <p:txBody>
          <a:bodyPr wrap="square" rtlCol="0" anchor="ctr"/>
          <a:lstStyle/>
          <a:p>
            <a:pPr algn="ctr" indent="0" marL="0">
              <a:buNone/>
            </a:pPr>
            <a:r>
              <a:rPr lang="en-US" sz="1000" b="1" dirty="0">
                <a:solidFill>
                  <a:srgbClr val="F8FAFF"/>
                </a:solidFill>
              </a:rPr>
              <a:t>✦</a:t>
            </a:r>
            <a:endParaRPr lang="en-US" sz="1000" dirty="0"/>
          </a:p>
        </p:txBody>
      </p:sp>
      <p:sp>
        <p:nvSpPr>
          <p:cNvPr id="15" name="Text 13"/>
          <p:cNvSpPr/>
          <p:nvPr/>
        </p:nvSpPr>
        <p:spPr>
          <a:xfrm>
            <a:off x="932688" y="2468880"/>
            <a:ext cx="7818120" cy="502920"/>
          </a:xfrm>
          <a:prstGeom prst="rect">
            <a:avLst/>
          </a:prstGeom>
          <a:noFill/>
          <a:ln/>
        </p:spPr>
        <p:txBody>
          <a:bodyPr wrap="square" rtlCol="0" anchor="ctr"/>
          <a:lstStyle/>
          <a:p>
            <a:pPr indent="0" marL="0">
              <a:buNone/>
            </a:pPr>
            <a:r>
              <a:rPr lang="en-US" sz="1150" dirty="0">
                <a:solidFill>
                  <a:srgbClr val="CBD5E1"/>
                </a:solidFill>
                <a:latin typeface="Calibri" pitchFamily="34" charset="0"/>
                <a:ea typeface="Calibri" pitchFamily="34" charset="-122"/>
                <a:cs typeface="Calibri" pitchFamily="34" charset="-120"/>
              </a:rPr>
              <a:t>Core tools include Python/R, Tableau/Power BI, Apache Spark, SAS/MATLAB, and TensorFlow — each suited to different analytical challenges in finance.</a:t>
            </a:r>
            <a:endParaRPr lang="en-US" sz="1150" dirty="0"/>
          </a:p>
        </p:txBody>
      </p:sp>
      <p:sp>
        <p:nvSpPr>
          <p:cNvPr id="16" name="Shape 14"/>
          <p:cNvSpPr/>
          <p:nvPr/>
        </p:nvSpPr>
        <p:spPr>
          <a:xfrm>
            <a:off x="457200" y="3118104"/>
            <a:ext cx="329184" cy="329184"/>
          </a:xfrm>
          <a:prstGeom prst="ellipse">
            <a:avLst/>
          </a:prstGeom>
          <a:solidFill>
            <a:srgbClr val="D4A017"/>
          </a:solidFill>
          <a:ln w="12700">
            <a:solidFill>
              <a:srgbClr val="D4A017"/>
            </a:solidFill>
            <a:prstDash val="solid"/>
          </a:ln>
        </p:spPr>
      </p:sp>
      <p:sp>
        <p:nvSpPr>
          <p:cNvPr id="17" name="Text 15"/>
          <p:cNvSpPr/>
          <p:nvPr/>
        </p:nvSpPr>
        <p:spPr>
          <a:xfrm>
            <a:off x="457200" y="3118104"/>
            <a:ext cx="329184" cy="329184"/>
          </a:xfrm>
          <a:prstGeom prst="rect">
            <a:avLst/>
          </a:prstGeom>
          <a:noFill/>
          <a:ln/>
        </p:spPr>
        <p:txBody>
          <a:bodyPr wrap="square" rtlCol="0" anchor="ctr"/>
          <a:lstStyle/>
          <a:p>
            <a:pPr algn="ctr" indent="0" marL="0">
              <a:buNone/>
            </a:pPr>
            <a:r>
              <a:rPr lang="en-US" sz="1000" b="1" dirty="0">
                <a:solidFill>
                  <a:srgbClr val="F8FAFF"/>
                </a:solidFill>
              </a:rPr>
              <a:t>✦</a:t>
            </a:r>
            <a:endParaRPr lang="en-US" sz="1000" dirty="0"/>
          </a:p>
        </p:txBody>
      </p:sp>
      <p:sp>
        <p:nvSpPr>
          <p:cNvPr id="18" name="Text 16"/>
          <p:cNvSpPr/>
          <p:nvPr/>
        </p:nvSpPr>
        <p:spPr>
          <a:xfrm>
            <a:off x="932688" y="3044952"/>
            <a:ext cx="7818120" cy="502920"/>
          </a:xfrm>
          <a:prstGeom prst="rect">
            <a:avLst/>
          </a:prstGeom>
          <a:noFill/>
          <a:ln/>
        </p:spPr>
        <p:txBody>
          <a:bodyPr wrap="square" rtlCol="0" anchor="ctr"/>
          <a:lstStyle/>
          <a:p>
            <a:pPr indent="0" marL="0">
              <a:buNone/>
            </a:pPr>
            <a:r>
              <a:rPr lang="en-US" sz="1150" dirty="0">
                <a:solidFill>
                  <a:srgbClr val="CBD5E1"/>
                </a:solidFill>
                <a:latin typeface="Calibri" pitchFamily="34" charset="0"/>
                <a:ea typeface="Calibri" pitchFamily="34" charset="-122"/>
                <a:cs typeface="Calibri" pitchFamily="34" charset="-120"/>
              </a:rPr>
              <a:t>Major challenges — data quality, scalability, compliance, interpretability, and ethics — each have targeted solutions for responsible deployment.</a:t>
            </a:r>
            <a:endParaRPr lang="en-US" sz="1150" dirty="0"/>
          </a:p>
        </p:txBody>
      </p:sp>
      <p:sp>
        <p:nvSpPr>
          <p:cNvPr id="19" name="Shape 17"/>
          <p:cNvSpPr/>
          <p:nvPr/>
        </p:nvSpPr>
        <p:spPr>
          <a:xfrm>
            <a:off x="457200" y="3694176"/>
            <a:ext cx="329184" cy="329184"/>
          </a:xfrm>
          <a:prstGeom prst="ellipse">
            <a:avLst/>
          </a:prstGeom>
          <a:solidFill>
            <a:srgbClr val="0D9488"/>
          </a:solidFill>
          <a:ln w="12700">
            <a:solidFill>
              <a:srgbClr val="0D9488"/>
            </a:solidFill>
            <a:prstDash val="solid"/>
          </a:ln>
        </p:spPr>
      </p:sp>
      <p:sp>
        <p:nvSpPr>
          <p:cNvPr id="20" name="Text 18"/>
          <p:cNvSpPr/>
          <p:nvPr/>
        </p:nvSpPr>
        <p:spPr>
          <a:xfrm>
            <a:off x="457200" y="3694176"/>
            <a:ext cx="329184" cy="329184"/>
          </a:xfrm>
          <a:prstGeom prst="rect">
            <a:avLst/>
          </a:prstGeom>
          <a:noFill/>
          <a:ln/>
        </p:spPr>
        <p:txBody>
          <a:bodyPr wrap="square" rtlCol="0" anchor="ctr"/>
          <a:lstStyle/>
          <a:p>
            <a:pPr algn="ctr" indent="0" marL="0">
              <a:buNone/>
            </a:pPr>
            <a:r>
              <a:rPr lang="en-US" sz="1000" b="1" dirty="0">
                <a:solidFill>
                  <a:srgbClr val="F8FAFF"/>
                </a:solidFill>
              </a:rPr>
              <a:t>✦</a:t>
            </a:r>
            <a:endParaRPr lang="en-US" sz="1000" dirty="0"/>
          </a:p>
        </p:txBody>
      </p:sp>
      <p:sp>
        <p:nvSpPr>
          <p:cNvPr id="21" name="Text 19"/>
          <p:cNvSpPr/>
          <p:nvPr/>
        </p:nvSpPr>
        <p:spPr>
          <a:xfrm>
            <a:off x="932688" y="3621024"/>
            <a:ext cx="7818120" cy="502920"/>
          </a:xfrm>
          <a:prstGeom prst="rect">
            <a:avLst/>
          </a:prstGeom>
          <a:noFill/>
          <a:ln/>
        </p:spPr>
        <p:txBody>
          <a:bodyPr wrap="square" rtlCol="0" anchor="ctr"/>
          <a:lstStyle/>
          <a:p>
            <a:pPr indent="0" marL="0">
              <a:buNone/>
            </a:pPr>
            <a:r>
              <a:rPr lang="en-US" sz="1150" dirty="0">
                <a:solidFill>
                  <a:srgbClr val="CBD5E1"/>
                </a:solidFill>
                <a:latin typeface="Calibri" pitchFamily="34" charset="0"/>
                <a:ea typeface="Calibri" pitchFamily="34" charset="-122"/>
                <a:cs typeface="Calibri" pitchFamily="34" charset="-120"/>
              </a:rPr>
              <a:t>Future trends: AI automation, blockchain analytics, quantum computing, and NLP will dramatically expand data mining's power in financial markets.</a:t>
            </a:r>
            <a:endParaRPr lang="en-US" sz="1150" dirty="0"/>
          </a:p>
        </p:txBody>
      </p:sp>
      <p:sp>
        <p:nvSpPr>
          <p:cNvPr id="22" name="Shape 20"/>
          <p:cNvSpPr/>
          <p:nvPr/>
        </p:nvSpPr>
        <p:spPr>
          <a:xfrm>
            <a:off x="457200" y="4270248"/>
            <a:ext cx="329184" cy="329184"/>
          </a:xfrm>
          <a:prstGeom prst="ellipse">
            <a:avLst/>
          </a:prstGeom>
          <a:solidFill>
            <a:srgbClr val="1D4ED8"/>
          </a:solidFill>
          <a:ln w="12700">
            <a:solidFill>
              <a:srgbClr val="1D4ED8"/>
            </a:solidFill>
            <a:prstDash val="solid"/>
          </a:ln>
        </p:spPr>
      </p:sp>
      <p:sp>
        <p:nvSpPr>
          <p:cNvPr id="23" name="Text 21"/>
          <p:cNvSpPr/>
          <p:nvPr/>
        </p:nvSpPr>
        <p:spPr>
          <a:xfrm>
            <a:off x="457200" y="4270248"/>
            <a:ext cx="329184" cy="329184"/>
          </a:xfrm>
          <a:prstGeom prst="rect">
            <a:avLst/>
          </a:prstGeom>
          <a:noFill/>
          <a:ln/>
        </p:spPr>
        <p:txBody>
          <a:bodyPr wrap="square" rtlCol="0" anchor="ctr"/>
          <a:lstStyle/>
          <a:p>
            <a:pPr algn="ctr" indent="0" marL="0">
              <a:buNone/>
            </a:pPr>
            <a:r>
              <a:rPr lang="en-US" sz="1000" b="1" dirty="0">
                <a:solidFill>
                  <a:srgbClr val="F8FAFF"/>
                </a:solidFill>
              </a:rPr>
              <a:t>✦</a:t>
            </a:r>
            <a:endParaRPr lang="en-US" sz="1000" dirty="0"/>
          </a:p>
        </p:txBody>
      </p:sp>
      <p:sp>
        <p:nvSpPr>
          <p:cNvPr id="24" name="Text 22"/>
          <p:cNvSpPr/>
          <p:nvPr/>
        </p:nvSpPr>
        <p:spPr>
          <a:xfrm>
            <a:off x="932688" y="4197096"/>
            <a:ext cx="7818120" cy="502920"/>
          </a:xfrm>
          <a:prstGeom prst="rect">
            <a:avLst/>
          </a:prstGeom>
          <a:noFill/>
          <a:ln/>
        </p:spPr>
        <p:txBody>
          <a:bodyPr wrap="square" rtlCol="0" anchor="ctr"/>
          <a:lstStyle/>
          <a:p>
            <a:pPr indent="0" marL="0">
              <a:buNone/>
            </a:pPr>
            <a:r>
              <a:rPr lang="en-US" sz="1150" dirty="0">
                <a:solidFill>
                  <a:srgbClr val="CBD5E1"/>
                </a:solidFill>
                <a:latin typeface="Calibri" pitchFamily="34" charset="0"/>
                <a:ea typeface="Calibri" pitchFamily="34" charset="-122"/>
                <a:cs typeface="Calibri" pitchFamily="34" charset="-120"/>
              </a:rPr>
              <a:t>Financial institutions that embrace data mining as a strategic investment will outperform in credit risk, fraud prevention, personalisation, and compliance.</a:t>
            </a:r>
            <a:endParaRPr lang="en-US" sz="1150" dirty="0"/>
          </a:p>
        </p:txBody>
      </p:sp>
      <p:sp>
        <p:nvSpPr>
          <p:cNvPr id="25" name="Shape 23"/>
          <p:cNvSpPr/>
          <p:nvPr/>
        </p:nvSpPr>
        <p:spPr>
          <a:xfrm>
            <a:off x="457200" y="4663440"/>
            <a:ext cx="8321040" cy="384048"/>
          </a:xfrm>
          <a:prstGeom prst="rect">
            <a:avLst/>
          </a:prstGeom>
          <a:solidFill>
            <a:srgbClr val="D4A017"/>
          </a:solidFill>
          <a:ln w="12700">
            <a:solidFill>
              <a:srgbClr val="D4A017"/>
            </a:solidFill>
            <a:prstDash val="solid"/>
          </a:ln>
        </p:spPr>
      </p:sp>
      <p:sp>
        <p:nvSpPr>
          <p:cNvPr id="26" name="Text 24"/>
          <p:cNvSpPr/>
          <p:nvPr/>
        </p:nvSpPr>
        <p:spPr>
          <a:xfrm>
            <a:off x="457200" y="4663440"/>
            <a:ext cx="8321040" cy="384048"/>
          </a:xfrm>
          <a:prstGeom prst="rect">
            <a:avLst/>
          </a:prstGeom>
          <a:noFill/>
          <a:ln/>
        </p:spPr>
        <p:txBody>
          <a:bodyPr wrap="square" rtlCol="0" anchor="ctr"/>
          <a:lstStyle/>
          <a:p>
            <a:pPr algn="ctr" indent="0" marL="0">
              <a:buNone/>
            </a:pPr>
            <a:r>
              <a:rPr lang="en-US" sz="1300" b="1" dirty="0">
                <a:solidFill>
                  <a:srgbClr val="0A1628"/>
                </a:solidFill>
                <a:latin typeface="Calibri" pitchFamily="34" charset="0"/>
                <a:ea typeface="Calibri" pitchFamily="34" charset="-122"/>
                <a:cs typeface="Calibri" pitchFamily="34" charset="-120"/>
              </a:rPr>
              <a:t>Data mining in finance: from raw transactions to strategic intelligence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Mining in Finance</dc:title>
  <dc:subject>PptxGenJS Presentation</dc:subject>
  <dc:creator>PptxGenJS</dc:creator>
  <cp:lastModifiedBy>PptxGenJS</cp:lastModifiedBy>
  <cp:revision>1</cp:revision>
  <dcterms:created xsi:type="dcterms:W3CDTF">2026-04-09T03:34:59Z</dcterms:created>
  <dcterms:modified xsi:type="dcterms:W3CDTF">2026-04-09T03:34:59Z</dcterms:modified>
</cp:coreProperties>
</file>