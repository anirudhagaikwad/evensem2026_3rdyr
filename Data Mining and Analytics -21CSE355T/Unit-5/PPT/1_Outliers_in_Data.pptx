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F461AF9-6E7B-44E7-BD91-6175C12F462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8"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AC84C22-FFB1-401C-8358-BF16E219EAD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1"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1B4D4B1-BF20-4D18-B21F-C91E4B36577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4"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982AD07-A466-4415-891C-725290E8FF6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7"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5953045-BD04-4647-B978-FB641097E67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0"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20C4A4F-F858-4337-BA59-1DD847F9B88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3"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FFB4323-7EA4-460C-9CFD-0F9ED505F39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6"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4D69F8C-9D5E-45D5-83A9-FE794E5A88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9"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BDD61C0-36AF-43CA-A933-113CAFA2DFE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22"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50A048D-2FC2-4E46-93B7-9DD5C97F211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685800" y="1143000"/>
            <a:ext cx="5486040" cy="3085920"/>
          </a:xfrm>
          <a:prstGeom prst="rect">
            <a:avLst/>
          </a:prstGeom>
          <a:ln w="0">
            <a:noFill/>
          </a:ln>
        </p:spPr>
      </p:sp>
      <p:sp>
        <p:nvSpPr>
          <p:cNvPr id="5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25"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2939739-6276-417F-A2B3-4F132FBC21B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8"/>
        </a:solidFill>
      </p:bgPr>
    </p:bg>
    <p:spTree>
      <p:nvGrpSpPr>
        <p:cNvPr id="1" name=""/>
        <p:cNvGrpSpPr/>
        <p:nvPr/>
      </p:nvGrpSpPr>
      <p:grpSpPr>
        <a:xfrm>
          <a:off x="0" y="0"/>
          <a:ext cx="0" cy="0"/>
          <a:chOff x="0" y="0"/>
          <a:chExt cx="0" cy="0"/>
        </a:xfrm>
      </p:grpSpPr>
      <p:sp>
        <p:nvSpPr>
          <p:cNvPr id="8" name="Shape 0"/>
          <p:cNvSpPr/>
          <p:nvPr/>
        </p:nvSpPr>
        <p:spPr>
          <a:xfrm>
            <a:off x="5943600" y="0"/>
            <a:ext cx="3200040" cy="5143320"/>
          </a:xfrm>
          <a:prstGeom prst="rect">
            <a:avLst/>
          </a:prstGeom>
          <a:solidFill>
            <a:srgbClr val="1b2438"/>
          </a:solidFill>
          <a:ln w="12700">
            <a:solidFill>
              <a:srgbClr val="1b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8823960" y="0"/>
            <a:ext cx="319680" cy="514332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Shape 2"/>
          <p:cNvSpPr/>
          <p:nvPr/>
        </p:nvSpPr>
        <p:spPr>
          <a:xfrm>
            <a:off x="6592680" y="156348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Shape 3"/>
          <p:cNvSpPr/>
          <p:nvPr/>
        </p:nvSpPr>
        <p:spPr>
          <a:xfrm>
            <a:off x="6958440" y="142632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Shape 4"/>
          <p:cNvSpPr/>
          <p:nvPr/>
        </p:nvSpPr>
        <p:spPr>
          <a:xfrm>
            <a:off x="7278480" y="165492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 name="Shape 5"/>
          <p:cNvSpPr/>
          <p:nvPr/>
        </p:nvSpPr>
        <p:spPr>
          <a:xfrm>
            <a:off x="6775560" y="181980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Shape 6"/>
          <p:cNvSpPr/>
          <p:nvPr/>
        </p:nvSpPr>
        <p:spPr>
          <a:xfrm>
            <a:off x="7095600" y="191124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Shape 7"/>
          <p:cNvSpPr/>
          <p:nvPr/>
        </p:nvSpPr>
        <p:spPr>
          <a:xfrm>
            <a:off x="6546960" y="197496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Shape 8"/>
          <p:cNvSpPr/>
          <p:nvPr/>
        </p:nvSpPr>
        <p:spPr>
          <a:xfrm>
            <a:off x="7342560" y="202068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Shape 9"/>
          <p:cNvSpPr/>
          <p:nvPr/>
        </p:nvSpPr>
        <p:spPr>
          <a:xfrm>
            <a:off x="6867000" y="215784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Shape 10"/>
          <p:cNvSpPr/>
          <p:nvPr/>
        </p:nvSpPr>
        <p:spPr>
          <a:xfrm>
            <a:off x="6684120" y="229500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 name="Shape 11"/>
          <p:cNvSpPr/>
          <p:nvPr/>
        </p:nvSpPr>
        <p:spPr>
          <a:xfrm>
            <a:off x="7141320" y="231336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Shape 12"/>
          <p:cNvSpPr/>
          <p:nvPr/>
        </p:nvSpPr>
        <p:spPr>
          <a:xfrm>
            <a:off x="7232760" y="1490400"/>
            <a:ext cx="164160" cy="16416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Shape 13"/>
          <p:cNvSpPr/>
          <p:nvPr/>
        </p:nvSpPr>
        <p:spPr>
          <a:xfrm>
            <a:off x="6501240" y="3117960"/>
            <a:ext cx="164160" cy="16416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Shape 14"/>
          <p:cNvSpPr/>
          <p:nvPr/>
        </p:nvSpPr>
        <p:spPr>
          <a:xfrm>
            <a:off x="6775560" y="2935080"/>
            <a:ext cx="164160" cy="16416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Shape 15"/>
          <p:cNvSpPr/>
          <p:nvPr/>
        </p:nvSpPr>
        <p:spPr>
          <a:xfrm>
            <a:off x="6912720" y="3209400"/>
            <a:ext cx="164160" cy="16416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Shape 16"/>
          <p:cNvSpPr/>
          <p:nvPr/>
        </p:nvSpPr>
        <p:spPr>
          <a:xfrm>
            <a:off x="7095600" y="3026520"/>
            <a:ext cx="164160" cy="16416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Shape 17"/>
          <p:cNvSpPr/>
          <p:nvPr/>
        </p:nvSpPr>
        <p:spPr>
          <a:xfrm>
            <a:off x="7232760" y="3300840"/>
            <a:ext cx="164160" cy="16416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Shape 18"/>
          <p:cNvSpPr/>
          <p:nvPr/>
        </p:nvSpPr>
        <p:spPr>
          <a:xfrm>
            <a:off x="6638400" y="3346560"/>
            <a:ext cx="164160" cy="16416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Shape 19"/>
          <p:cNvSpPr/>
          <p:nvPr/>
        </p:nvSpPr>
        <p:spPr>
          <a:xfrm>
            <a:off x="7644240" y="831960"/>
            <a:ext cx="255600" cy="25560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 name="Shape 20"/>
          <p:cNvSpPr/>
          <p:nvPr/>
        </p:nvSpPr>
        <p:spPr>
          <a:xfrm>
            <a:off x="6135480" y="4032360"/>
            <a:ext cx="255600" cy="25560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 name="Text 21"/>
          <p:cNvSpPr/>
          <p:nvPr/>
        </p:nvSpPr>
        <p:spPr>
          <a:xfrm>
            <a:off x="7818120" y="713160"/>
            <a:ext cx="8683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1" strike="noStrike">
                <a:solidFill>
                  <a:srgbClr val="e53935"/>
                </a:solidFill>
                <a:latin typeface="Calibri"/>
              </a:rPr>
              <a:t>OUTLIER</a:t>
            </a:r>
            <a:endParaRPr b="0" lang="en-US" sz="900" spc="-1" strike="noStrike">
              <a:solidFill>
                <a:srgbClr val="ffffff"/>
              </a:solidFill>
              <a:latin typeface="Arial"/>
            </a:endParaRPr>
          </a:p>
        </p:txBody>
      </p:sp>
      <p:sp>
        <p:nvSpPr>
          <p:cNvPr id="30" name="Text 22"/>
          <p:cNvSpPr/>
          <p:nvPr/>
        </p:nvSpPr>
        <p:spPr>
          <a:xfrm>
            <a:off x="6053400" y="4370760"/>
            <a:ext cx="8683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1" strike="noStrike">
                <a:solidFill>
                  <a:srgbClr val="e53935"/>
                </a:solidFill>
                <a:latin typeface="Calibri"/>
              </a:rPr>
              <a:t>OUTLIER</a:t>
            </a:r>
            <a:endParaRPr b="0" lang="en-US" sz="900" spc="-1" strike="noStrike">
              <a:solidFill>
                <a:srgbClr val="ffffff"/>
              </a:solidFill>
              <a:latin typeface="Arial"/>
            </a:endParaRPr>
          </a:p>
        </p:txBody>
      </p:sp>
      <p:sp>
        <p:nvSpPr>
          <p:cNvPr id="31" name="Shape 23"/>
          <p:cNvSpPr/>
          <p:nvPr/>
        </p:nvSpPr>
        <p:spPr>
          <a:xfrm>
            <a:off x="7772400" y="960120"/>
            <a:ext cx="73080" cy="255960"/>
          </a:xfrm>
          <a:prstGeom prst="line">
            <a:avLst/>
          </a:prstGeom>
          <a:ln w="12700">
            <a:solidFill>
              <a:srgbClr val="e53935"/>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2" name="Shape 24"/>
          <p:cNvSpPr/>
          <p:nvPr/>
        </p:nvSpPr>
        <p:spPr>
          <a:xfrm flipV="1">
            <a:off x="6263640" y="3940920"/>
            <a:ext cx="360" cy="219600"/>
          </a:xfrm>
          <a:prstGeom prst="line">
            <a:avLst/>
          </a:prstGeom>
          <a:ln w="12700">
            <a:solidFill>
              <a:srgbClr val="e53935"/>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3" name="Shape 25"/>
          <p:cNvSpPr/>
          <p:nvPr/>
        </p:nvSpPr>
        <p:spPr>
          <a:xfrm>
            <a:off x="475560" y="567000"/>
            <a:ext cx="1645560" cy="328680"/>
          </a:xfrm>
          <a:prstGeom prst="roundRect">
            <a:avLst>
              <a:gd name="adj" fmla="val 27778"/>
            </a:avLst>
          </a:prstGeom>
          <a:solidFill>
            <a:srgbClr val="e53935">
              <a:alpha val="75000"/>
            </a:srgbClr>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Text 26"/>
          <p:cNvSpPr/>
          <p:nvPr/>
        </p:nvSpPr>
        <p:spPr>
          <a:xfrm>
            <a:off x="475560" y="567000"/>
            <a:ext cx="16455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50" spc="-1" strike="noStrike">
                <a:solidFill>
                  <a:srgbClr val="ffffff"/>
                </a:solidFill>
                <a:latin typeface="Calibri"/>
              </a:rPr>
              <a:t>MACHINE LEARNING</a:t>
            </a:r>
            <a:endParaRPr b="0" lang="en-US" sz="750" spc="-1" strike="noStrike">
              <a:solidFill>
                <a:srgbClr val="ffffff"/>
              </a:solidFill>
              <a:latin typeface="Arial"/>
            </a:endParaRPr>
          </a:p>
        </p:txBody>
      </p:sp>
      <p:sp>
        <p:nvSpPr>
          <p:cNvPr id="35" name="Text 27"/>
          <p:cNvSpPr/>
          <p:nvPr/>
        </p:nvSpPr>
        <p:spPr>
          <a:xfrm>
            <a:off x="457200" y="987480"/>
            <a:ext cx="5211720" cy="1005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6400" spc="-1" strike="noStrike">
                <a:solidFill>
                  <a:srgbClr val="e53935"/>
                </a:solidFill>
                <a:latin typeface="Calibri"/>
                <a:ea typeface="Calibri"/>
              </a:rPr>
              <a:t>Outliers</a:t>
            </a:r>
            <a:endParaRPr b="0" lang="en-US" sz="6400" spc="-1" strike="noStrike">
              <a:solidFill>
                <a:srgbClr val="ffffff"/>
              </a:solidFill>
              <a:latin typeface="Arial"/>
            </a:endParaRPr>
          </a:p>
        </p:txBody>
      </p:sp>
      <p:sp>
        <p:nvSpPr>
          <p:cNvPr id="36" name="Text 28"/>
          <p:cNvSpPr/>
          <p:nvPr/>
        </p:nvSpPr>
        <p:spPr>
          <a:xfrm>
            <a:off x="457200" y="1901880"/>
            <a:ext cx="521172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400" spc="-1" strike="noStrike">
                <a:solidFill>
                  <a:srgbClr val="ffffff"/>
                </a:solidFill>
                <a:latin typeface="Calibri"/>
                <a:ea typeface="Calibri"/>
              </a:rPr>
              <a:t>in Data</a:t>
            </a:r>
            <a:endParaRPr b="0" lang="en-US" sz="4400" spc="-1" strike="noStrike">
              <a:solidFill>
                <a:srgbClr val="ffffff"/>
              </a:solidFill>
              <a:latin typeface="Arial"/>
            </a:endParaRPr>
          </a:p>
        </p:txBody>
      </p:sp>
      <p:sp>
        <p:nvSpPr>
          <p:cNvPr id="37" name="Text 29"/>
          <p:cNvSpPr/>
          <p:nvPr/>
        </p:nvSpPr>
        <p:spPr>
          <a:xfrm>
            <a:off x="457200" y="2541960"/>
            <a:ext cx="521172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900" spc="-1" strike="noStrike">
                <a:solidFill>
                  <a:srgbClr val="ffb300"/>
                </a:solidFill>
                <a:latin typeface="Calibri Light"/>
                <a:ea typeface="Calibri Light"/>
              </a:rPr>
              <a:t>Types, Detection &amp; Handling</a:t>
            </a:r>
            <a:endParaRPr b="0" lang="en-US" sz="1900" spc="-1" strike="noStrike">
              <a:solidFill>
                <a:srgbClr val="ffffff"/>
              </a:solidFill>
              <a:latin typeface="Arial"/>
            </a:endParaRPr>
          </a:p>
        </p:txBody>
      </p:sp>
      <p:sp>
        <p:nvSpPr>
          <p:cNvPr id="38" name="Text 30"/>
          <p:cNvSpPr/>
          <p:nvPr/>
        </p:nvSpPr>
        <p:spPr>
          <a:xfrm>
            <a:off x="457200" y="3035880"/>
            <a:ext cx="5211720" cy="65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pc="-1" strike="noStrike">
                <a:solidFill>
                  <a:srgbClr val="90a4ae"/>
                </a:solidFill>
                <a:latin typeface="Calibri Light"/>
                <a:ea typeface="Calibri Light"/>
              </a:rPr>
              <a:t>Data points that differ significantly from the rest — impacting</a:t>
            </a:r>
            <a:endParaRPr b="0" lang="en-US" sz="1300" spc="-1" strike="noStrike">
              <a:solidFill>
                <a:srgbClr val="ffffff"/>
              </a:solidFill>
              <a:latin typeface="Arial"/>
            </a:endParaRPr>
          </a:p>
          <a:p>
            <a:pPr defTabSz="914400">
              <a:lnSpc>
                <a:spcPct val="100000"/>
              </a:lnSpc>
              <a:tabLst>
                <a:tab algn="l" pos="0"/>
              </a:tabLst>
            </a:pPr>
            <a:r>
              <a:rPr b="0" lang="en-US" sz="1300" spc="-1" strike="noStrike">
                <a:solidFill>
                  <a:srgbClr val="90a4ae"/>
                </a:solidFill>
                <a:latin typeface="Calibri Light"/>
                <a:ea typeface="Calibri Light"/>
              </a:rPr>
              <a:t>statistical measures, model accuracy, and data quality.</a:t>
            </a:r>
            <a:endParaRPr b="0" lang="en-US" sz="1300" spc="-1" strike="noStrike">
              <a:solidFill>
                <a:srgbClr val="ffffff"/>
              </a:solidFill>
              <a:latin typeface="Arial"/>
            </a:endParaRPr>
          </a:p>
        </p:txBody>
      </p:sp>
      <p:sp>
        <p:nvSpPr>
          <p:cNvPr id="39" name="Shape 31"/>
          <p:cNvSpPr/>
          <p:nvPr/>
        </p:nvSpPr>
        <p:spPr>
          <a:xfrm>
            <a:off x="457200" y="3822120"/>
            <a:ext cx="1554120" cy="319680"/>
          </a:xfrm>
          <a:prstGeom prst="roundRect">
            <a:avLst>
              <a:gd name="adj" fmla="val 28571"/>
            </a:avLst>
          </a:prstGeom>
          <a:solidFill>
            <a:srgbClr val="1e88e5">
              <a:alpha val="70000"/>
            </a:srgbClr>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Text 32"/>
          <p:cNvSpPr/>
          <p:nvPr/>
        </p:nvSpPr>
        <p:spPr>
          <a:xfrm>
            <a:off x="457200" y="3822120"/>
            <a:ext cx="15541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rPr>
              <a:t>5 Types</a:t>
            </a:r>
            <a:endParaRPr b="0" lang="en-US" sz="1050" spc="-1" strike="noStrike">
              <a:solidFill>
                <a:srgbClr val="ffffff"/>
              </a:solidFill>
              <a:latin typeface="Arial"/>
            </a:endParaRPr>
          </a:p>
        </p:txBody>
      </p:sp>
      <p:sp>
        <p:nvSpPr>
          <p:cNvPr id="41" name="Shape 33"/>
          <p:cNvSpPr/>
          <p:nvPr/>
        </p:nvSpPr>
        <p:spPr>
          <a:xfrm>
            <a:off x="2148840" y="3822120"/>
            <a:ext cx="1554120" cy="319680"/>
          </a:xfrm>
          <a:prstGeom prst="roundRect">
            <a:avLst>
              <a:gd name="adj" fmla="val 28571"/>
            </a:avLst>
          </a:prstGeom>
          <a:solidFill>
            <a:srgbClr val="e53935">
              <a:alpha val="70000"/>
            </a:srgbClr>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Text 34"/>
          <p:cNvSpPr/>
          <p:nvPr/>
        </p:nvSpPr>
        <p:spPr>
          <a:xfrm>
            <a:off x="2148840" y="3822120"/>
            <a:ext cx="15541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rPr>
              <a:t>Detection Methods</a:t>
            </a:r>
            <a:endParaRPr b="0" lang="en-US" sz="1050" spc="-1" strike="noStrike">
              <a:solidFill>
                <a:srgbClr val="ffffff"/>
              </a:solidFill>
              <a:latin typeface="Arial"/>
            </a:endParaRPr>
          </a:p>
        </p:txBody>
      </p:sp>
      <p:sp>
        <p:nvSpPr>
          <p:cNvPr id="43" name="Shape 35"/>
          <p:cNvSpPr/>
          <p:nvPr/>
        </p:nvSpPr>
        <p:spPr>
          <a:xfrm>
            <a:off x="3840480" y="3822120"/>
            <a:ext cx="1554120" cy="319680"/>
          </a:xfrm>
          <a:prstGeom prst="roundRect">
            <a:avLst>
              <a:gd name="adj" fmla="val 28571"/>
            </a:avLst>
          </a:prstGeom>
          <a:solidFill>
            <a:srgbClr val="ffb300">
              <a:alpha val="70000"/>
            </a:srgbClr>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 name="Text 36"/>
          <p:cNvSpPr/>
          <p:nvPr/>
        </p:nvSpPr>
        <p:spPr>
          <a:xfrm>
            <a:off x="3840480" y="3822120"/>
            <a:ext cx="15541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ffffff"/>
                </a:solidFill>
                <a:latin typeface="Calibri"/>
              </a:rPr>
              <a:t>Handling Strategies</a:t>
            </a:r>
            <a:endParaRPr b="0" lang="en-US" sz="1050" spc="-1" strike="noStrike">
              <a:solidFill>
                <a:srgbClr val="ffffff"/>
              </a:solidFill>
              <a:latin typeface="Arial"/>
            </a:endParaRPr>
          </a:p>
        </p:txBody>
      </p:sp>
      <p:sp>
        <p:nvSpPr>
          <p:cNvPr id="45" name="Shape 37"/>
          <p:cNvSpPr/>
          <p:nvPr/>
        </p:nvSpPr>
        <p:spPr>
          <a:xfrm>
            <a:off x="0" y="4736520"/>
            <a:ext cx="9143640" cy="406440"/>
          </a:xfrm>
          <a:prstGeom prst="rect">
            <a:avLst/>
          </a:prstGeom>
          <a:solidFill>
            <a:srgbClr val="22304a"/>
          </a:solidFill>
          <a:ln w="12700">
            <a:solidFill>
              <a:srgbClr val="2230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Shape 38"/>
          <p:cNvSpPr/>
          <p:nvPr/>
        </p:nvSpPr>
        <p:spPr>
          <a:xfrm>
            <a:off x="0" y="4736520"/>
            <a:ext cx="63720" cy="40644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Text 39"/>
          <p:cNvSpPr/>
          <p:nvPr/>
        </p:nvSpPr>
        <p:spPr>
          <a:xfrm>
            <a:off x="274320" y="4736520"/>
            <a:ext cx="8595000" cy="406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90a4ae"/>
                </a:solidFill>
                <a:latin typeface="Calibri"/>
              </a:rPr>
              <a:t>Univariate  •  Multivariate  •  Point  •  Contextual  •  Collective  •  Z-Score  •  IQR  •  DBSCAN  •  Isolation Forest</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48" name="Shape 0"/>
          <p:cNvSpPr/>
          <p:nvPr/>
        </p:nvSpPr>
        <p:spPr>
          <a:xfrm>
            <a:off x="0" y="0"/>
            <a:ext cx="9143640" cy="59400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 name="Shape 1"/>
          <p:cNvSpPr/>
          <p:nvPr/>
        </p:nvSpPr>
        <p:spPr>
          <a:xfrm>
            <a:off x="0" y="594360"/>
            <a:ext cx="9143640" cy="63720"/>
          </a:xfrm>
          <a:prstGeom prst="rect">
            <a:avLst/>
          </a:prstGeom>
          <a:solidFill>
            <a:srgbClr val="e53935"/>
          </a:solidFill>
          <a:ln w="12700">
            <a:solidFill>
              <a:srgbClr val="e5393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50" name="Text 2"/>
          <p:cNvSpPr/>
          <p:nvPr/>
        </p:nvSpPr>
        <p:spPr>
          <a:xfrm>
            <a:off x="457200" y="91440"/>
            <a:ext cx="822924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ffffff"/>
                </a:solidFill>
                <a:latin typeface="Calibri"/>
                <a:ea typeface="Calibri"/>
              </a:rPr>
              <a:t>What are Outliers in Data?</a:t>
            </a:r>
            <a:endParaRPr b="0" lang="en-US" sz="2400" spc="-1" strike="noStrike">
              <a:solidFill>
                <a:srgbClr val="000000"/>
              </a:solidFill>
              <a:latin typeface="Arial"/>
            </a:endParaRPr>
          </a:p>
        </p:txBody>
      </p:sp>
      <p:sp>
        <p:nvSpPr>
          <p:cNvPr id="51" name="Shape 3"/>
          <p:cNvSpPr/>
          <p:nvPr/>
        </p:nvSpPr>
        <p:spPr>
          <a:xfrm>
            <a:off x="320040" y="822960"/>
            <a:ext cx="8503560" cy="914040"/>
          </a:xfrm>
          <a:prstGeom prst="rect">
            <a:avLst/>
          </a:prstGeom>
          <a:solidFill>
            <a:srgbClr val="131a28"/>
          </a:solidFill>
          <a:ln w="19050">
            <a:solidFill>
              <a:srgbClr val="e5393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Shape 4"/>
          <p:cNvSpPr/>
          <p:nvPr/>
        </p:nvSpPr>
        <p:spPr>
          <a:xfrm>
            <a:off x="320040" y="822960"/>
            <a:ext cx="63720" cy="91404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Text 5"/>
          <p:cNvSpPr/>
          <p:nvPr/>
        </p:nvSpPr>
        <p:spPr>
          <a:xfrm>
            <a:off x="511920" y="887040"/>
            <a:ext cx="8210880" cy="78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pc="-1" strike="noStrike">
                <a:solidFill>
                  <a:srgbClr val="fff8e1"/>
                </a:solidFill>
                <a:latin typeface="Calibri Light"/>
                <a:ea typeface="Calibri Light"/>
              </a:rPr>
              <a:t>"Outliers are data points that differ significantly from the rest of the dataset and do not follow the general pattern. They can occur due to errors, rare events or natural variability in data — and can affect mean, variance, and model performance."</a:t>
            </a:r>
            <a:endParaRPr b="0" lang="en-US" sz="1250" spc="-1" strike="noStrike">
              <a:solidFill>
                <a:srgbClr val="000000"/>
              </a:solidFill>
              <a:latin typeface="Arial"/>
            </a:endParaRPr>
          </a:p>
        </p:txBody>
      </p:sp>
      <p:sp>
        <p:nvSpPr>
          <p:cNvPr id="54" name="Shape 6"/>
          <p:cNvSpPr/>
          <p:nvPr/>
        </p:nvSpPr>
        <p:spPr>
          <a:xfrm>
            <a:off x="320040" y="1883520"/>
            <a:ext cx="2029680" cy="1051200"/>
          </a:xfrm>
          <a:prstGeom prst="rect">
            <a:avLst/>
          </a:prstGeom>
          <a:solidFill>
            <a:srgbClr val="ffffff"/>
          </a:solidFill>
          <a:ln w="19050">
            <a:solidFill>
              <a:srgbClr val="e5393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 name="Shape 7"/>
          <p:cNvSpPr/>
          <p:nvPr/>
        </p:nvSpPr>
        <p:spPr>
          <a:xfrm>
            <a:off x="320040" y="1883520"/>
            <a:ext cx="2029680" cy="63720"/>
          </a:xfrm>
          <a:prstGeom prst="rect">
            <a:avLst/>
          </a:prstGeom>
          <a:solidFill>
            <a:srgbClr val="e53935"/>
          </a:solidFill>
          <a:ln w="12700">
            <a:solidFill>
              <a:srgbClr val="e5393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56" name="Shape 8"/>
          <p:cNvSpPr/>
          <p:nvPr/>
        </p:nvSpPr>
        <p:spPr>
          <a:xfrm>
            <a:off x="1106280" y="1993320"/>
            <a:ext cx="456840" cy="456840"/>
          </a:xfrm>
          <a:prstGeom prst="ellipse">
            <a:avLst/>
          </a:prstGeom>
          <a:solidFill>
            <a:srgbClr val="e53935">
              <a:alpha val="80000"/>
            </a:srgbClr>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Text 9"/>
          <p:cNvSpPr/>
          <p:nvPr/>
        </p:nvSpPr>
        <p:spPr>
          <a:xfrm>
            <a:off x="1106280" y="199332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a:t>
            </a:r>
            <a:endParaRPr b="0" lang="en-US" sz="1800" spc="-1" strike="noStrike">
              <a:solidFill>
                <a:srgbClr val="000000"/>
              </a:solidFill>
              <a:latin typeface="Arial"/>
            </a:endParaRPr>
          </a:p>
        </p:txBody>
      </p:sp>
      <p:sp>
        <p:nvSpPr>
          <p:cNvPr id="58" name="Text 10"/>
          <p:cNvSpPr/>
          <p:nvPr/>
        </p:nvSpPr>
        <p:spPr>
          <a:xfrm>
            <a:off x="374760" y="2523600"/>
            <a:ext cx="191988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131a28"/>
                </a:solidFill>
                <a:latin typeface="Calibri"/>
              </a:rPr>
              <a:t>Unusually high</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131a28"/>
                </a:solidFill>
                <a:latin typeface="Calibri"/>
              </a:rPr>
              <a:t>or low values</a:t>
            </a:r>
            <a:endParaRPr b="0" lang="en-US" sz="1150" spc="-1" strike="noStrike">
              <a:solidFill>
                <a:srgbClr val="000000"/>
              </a:solidFill>
              <a:latin typeface="Arial"/>
            </a:endParaRPr>
          </a:p>
        </p:txBody>
      </p:sp>
      <p:sp>
        <p:nvSpPr>
          <p:cNvPr id="59" name="Shape 11"/>
          <p:cNvSpPr/>
          <p:nvPr/>
        </p:nvSpPr>
        <p:spPr>
          <a:xfrm>
            <a:off x="2468880" y="1883520"/>
            <a:ext cx="2029680" cy="1051200"/>
          </a:xfrm>
          <a:prstGeom prst="rect">
            <a:avLst/>
          </a:prstGeom>
          <a:solidFill>
            <a:srgbClr val="ffffff"/>
          </a:solidFill>
          <a:ln w="19050">
            <a:solidFill>
              <a:srgbClr val="ff7043"/>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 name="Shape 12"/>
          <p:cNvSpPr/>
          <p:nvPr/>
        </p:nvSpPr>
        <p:spPr>
          <a:xfrm>
            <a:off x="2468880" y="1883520"/>
            <a:ext cx="2029680" cy="63720"/>
          </a:xfrm>
          <a:prstGeom prst="rect">
            <a:avLst/>
          </a:prstGeom>
          <a:solidFill>
            <a:srgbClr val="ff7043"/>
          </a:solidFill>
          <a:ln w="12700">
            <a:solidFill>
              <a:srgbClr val="ff7043"/>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61" name="Shape 13"/>
          <p:cNvSpPr/>
          <p:nvPr/>
        </p:nvSpPr>
        <p:spPr>
          <a:xfrm>
            <a:off x="3255120" y="1993320"/>
            <a:ext cx="456840" cy="456840"/>
          </a:xfrm>
          <a:prstGeom prst="ellipse">
            <a:avLst/>
          </a:prstGeom>
          <a:solidFill>
            <a:srgbClr val="ff7043">
              <a:alpha val="80000"/>
            </a:srgbClr>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Text 14"/>
          <p:cNvSpPr/>
          <p:nvPr/>
        </p:nvSpPr>
        <p:spPr>
          <a:xfrm>
            <a:off x="3255120" y="199332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a:t>
            </a:r>
            <a:endParaRPr b="0" lang="en-US" sz="1800" spc="-1" strike="noStrike">
              <a:solidFill>
                <a:srgbClr val="000000"/>
              </a:solidFill>
              <a:latin typeface="Arial"/>
            </a:endParaRPr>
          </a:p>
        </p:txBody>
      </p:sp>
      <p:sp>
        <p:nvSpPr>
          <p:cNvPr id="63" name="Text 15"/>
          <p:cNvSpPr/>
          <p:nvPr/>
        </p:nvSpPr>
        <p:spPr>
          <a:xfrm>
            <a:off x="2523600" y="2523600"/>
            <a:ext cx="191988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131a28"/>
                </a:solidFill>
                <a:latin typeface="Calibri"/>
              </a:rPr>
              <a:t>Affects mean,</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131a28"/>
                </a:solidFill>
                <a:latin typeface="Calibri"/>
              </a:rPr>
              <a:t>variance &amp; models</a:t>
            </a:r>
            <a:endParaRPr b="0" lang="en-US" sz="1150" spc="-1" strike="noStrike">
              <a:solidFill>
                <a:srgbClr val="000000"/>
              </a:solidFill>
              <a:latin typeface="Arial"/>
            </a:endParaRPr>
          </a:p>
        </p:txBody>
      </p:sp>
      <p:sp>
        <p:nvSpPr>
          <p:cNvPr id="64" name="Shape 16"/>
          <p:cNvSpPr/>
          <p:nvPr/>
        </p:nvSpPr>
        <p:spPr>
          <a:xfrm>
            <a:off x="4617720" y="1883520"/>
            <a:ext cx="2029680" cy="1051200"/>
          </a:xfrm>
          <a:prstGeom prst="rect">
            <a:avLst/>
          </a:prstGeom>
          <a:solidFill>
            <a:srgbClr val="ffffff"/>
          </a:solidFill>
          <a:ln w="19050">
            <a:solidFill>
              <a:srgbClr val="1e88e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 name="Shape 17"/>
          <p:cNvSpPr/>
          <p:nvPr/>
        </p:nvSpPr>
        <p:spPr>
          <a:xfrm>
            <a:off x="4617720" y="1883520"/>
            <a:ext cx="2029680" cy="63720"/>
          </a:xfrm>
          <a:prstGeom prst="rect">
            <a:avLst/>
          </a:prstGeom>
          <a:solidFill>
            <a:srgbClr val="1e88e5"/>
          </a:solidFill>
          <a:ln w="12700">
            <a:solidFill>
              <a:srgbClr val="1e88e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66" name="Shape 18"/>
          <p:cNvSpPr/>
          <p:nvPr/>
        </p:nvSpPr>
        <p:spPr>
          <a:xfrm>
            <a:off x="5403960" y="1993320"/>
            <a:ext cx="456840" cy="456840"/>
          </a:xfrm>
          <a:prstGeom prst="ellipse">
            <a:avLst/>
          </a:prstGeom>
          <a:solidFill>
            <a:srgbClr val="1e88e5">
              <a:alpha val="80000"/>
            </a:srgbClr>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Text 19"/>
          <p:cNvSpPr/>
          <p:nvPr/>
        </p:nvSpPr>
        <p:spPr>
          <a:xfrm>
            <a:off x="5403960" y="199332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a:t>
            </a:r>
            <a:endParaRPr b="0" lang="en-US" sz="1800" spc="-1" strike="noStrike">
              <a:solidFill>
                <a:srgbClr val="000000"/>
              </a:solidFill>
              <a:latin typeface="Arial"/>
            </a:endParaRPr>
          </a:p>
        </p:txBody>
      </p:sp>
      <p:sp>
        <p:nvSpPr>
          <p:cNvPr id="68" name="Text 20"/>
          <p:cNvSpPr/>
          <p:nvPr/>
        </p:nvSpPr>
        <p:spPr>
          <a:xfrm>
            <a:off x="4672440" y="2523600"/>
            <a:ext cx="191988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131a28"/>
                </a:solidFill>
                <a:latin typeface="Calibri"/>
              </a:rPr>
              <a:t>Detected via stats</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131a28"/>
                </a:solidFill>
                <a:latin typeface="Calibri"/>
              </a:rPr>
              <a:t>&amp; visualization</a:t>
            </a:r>
            <a:endParaRPr b="0" lang="en-US" sz="1150" spc="-1" strike="noStrike">
              <a:solidFill>
                <a:srgbClr val="000000"/>
              </a:solidFill>
              <a:latin typeface="Arial"/>
            </a:endParaRPr>
          </a:p>
        </p:txBody>
      </p:sp>
      <p:sp>
        <p:nvSpPr>
          <p:cNvPr id="69" name="Shape 21"/>
          <p:cNvSpPr/>
          <p:nvPr/>
        </p:nvSpPr>
        <p:spPr>
          <a:xfrm>
            <a:off x="6766560" y="1883520"/>
            <a:ext cx="2029680" cy="1051200"/>
          </a:xfrm>
          <a:prstGeom prst="rect">
            <a:avLst/>
          </a:prstGeom>
          <a:solidFill>
            <a:srgbClr val="ffffff"/>
          </a:solidFill>
          <a:ln w="19050">
            <a:solidFill>
              <a:srgbClr val="43a047"/>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 name="Shape 22"/>
          <p:cNvSpPr/>
          <p:nvPr/>
        </p:nvSpPr>
        <p:spPr>
          <a:xfrm>
            <a:off x="6766560" y="1883520"/>
            <a:ext cx="2029680" cy="63720"/>
          </a:xfrm>
          <a:prstGeom prst="rect">
            <a:avLst/>
          </a:prstGeom>
          <a:solidFill>
            <a:srgbClr val="43a047"/>
          </a:solidFill>
          <a:ln w="12700">
            <a:solidFill>
              <a:srgbClr val="43a047"/>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71" name="Shape 23"/>
          <p:cNvSpPr/>
          <p:nvPr/>
        </p:nvSpPr>
        <p:spPr>
          <a:xfrm>
            <a:off x="7552800" y="1993320"/>
            <a:ext cx="456840" cy="456840"/>
          </a:xfrm>
          <a:prstGeom prst="ellipse">
            <a:avLst/>
          </a:prstGeom>
          <a:solidFill>
            <a:srgbClr val="43a047">
              <a:alpha val="80000"/>
            </a:srgbClr>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Text 24"/>
          <p:cNvSpPr/>
          <p:nvPr/>
        </p:nvSpPr>
        <p:spPr>
          <a:xfrm>
            <a:off x="7552800" y="199332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a:t>
            </a:r>
            <a:endParaRPr b="0" lang="en-US" sz="1800" spc="-1" strike="noStrike">
              <a:solidFill>
                <a:srgbClr val="000000"/>
              </a:solidFill>
              <a:latin typeface="Arial"/>
            </a:endParaRPr>
          </a:p>
        </p:txBody>
      </p:sp>
      <p:sp>
        <p:nvSpPr>
          <p:cNvPr id="73" name="Text 25"/>
          <p:cNvSpPr/>
          <p:nvPr/>
        </p:nvSpPr>
        <p:spPr>
          <a:xfrm>
            <a:off x="6821280" y="2523600"/>
            <a:ext cx="191988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131a28"/>
                </a:solidFill>
                <a:latin typeface="Calibri"/>
              </a:rPr>
              <a:t>Analyze before</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131a28"/>
                </a:solidFill>
                <a:latin typeface="Calibri"/>
              </a:rPr>
              <a:t>removing them</a:t>
            </a:r>
            <a:endParaRPr b="0" lang="en-US" sz="1150" spc="-1" strike="noStrike">
              <a:solidFill>
                <a:srgbClr val="000000"/>
              </a:solidFill>
              <a:latin typeface="Arial"/>
            </a:endParaRPr>
          </a:p>
        </p:txBody>
      </p:sp>
      <p:sp>
        <p:nvSpPr>
          <p:cNvPr id="74" name="Text 26"/>
          <p:cNvSpPr/>
          <p:nvPr/>
        </p:nvSpPr>
        <p:spPr>
          <a:xfrm>
            <a:off x="320040" y="3090600"/>
            <a:ext cx="27428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131a28"/>
                </a:solidFill>
                <a:latin typeface="Calibri"/>
              </a:rPr>
              <a:t>Why Outliers Occur</a:t>
            </a:r>
            <a:endParaRPr b="0" lang="en-US" sz="1500" spc="-1" strike="noStrike">
              <a:solidFill>
                <a:srgbClr val="000000"/>
              </a:solidFill>
              <a:latin typeface="Arial"/>
            </a:endParaRPr>
          </a:p>
        </p:txBody>
      </p:sp>
      <p:sp>
        <p:nvSpPr>
          <p:cNvPr id="75" name="Shape 27"/>
          <p:cNvSpPr/>
          <p:nvPr/>
        </p:nvSpPr>
        <p:spPr>
          <a:xfrm>
            <a:off x="320040" y="3529440"/>
            <a:ext cx="2724480" cy="566640"/>
          </a:xfrm>
          <a:prstGeom prst="rect">
            <a:avLst/>
          </a:prstGeom>
          <a:solidFill>
            <a:srgbClr val="ffffff"/>
          </a:solidFill>
          <a:ln w="16510">
            <a:solidFill>
              <a:srgbClr val="e5393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 name="Shape 28"/>
          <p:cNvSpPr/>
          <p:nvPr/>
        </p:nvSpPr>
        <p:spPr>
          <a:xfrm>
            <a:off x="320040" y="3529440"/>
            <a:ext cx="63720" cy="56664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Shape 29"/>
          <p:cNvSpPr/>
          <p:nvPr/>
        </p:nvSpPr>
        <p:spPr>
          <a:xfrm>
            <a:off x="457200" y="3684960"/>
            <a:ext cx="273960" cy="273960"/>
          </a:xfrm>
          <a:prstGeom prst="ellipse">
            <a:avLst/>
          </a:prstGeom>
          <a:solidFill>
            <a:srgbClr val="e53935">
              <a:alpha val="75000"/>
            </a:srgbClr>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Text 30"/>
          <p:cNvSpPr/>
          <p:nvPr/>
        </p:nvSpPr>
        <p:spPr>
          <a:xfrm>
            <a:off x="731160" y="3529440"/>
            <a:ext cx="212112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131a28"/>
                </a:solidFill>
                <a:latin typeface="Calibri"/>
              </a:rPr>
              <a:t>Data Entry Errors</a:t>
            </a:r>
            <a:endParaRPr b="0" lang="en-US" sz="1150" spc="-1" strike="noStrike">
              <a:solidFill>
                <a:srgbClr val="000000"/>
              </a:solidFill>
              <a:latin typeface="Arial"/>
            </a:endParaRPr>
          </a:p>
        </p:txBody>
      </p:sp>
      <p:sp>
        <p:nvSpPr>
          <p:cNvPr id="79" name="Text 31"/>
          <p:cNvSpPr/>
          <p:nvPr/>
        </p:nvSpPr>
        <p:spPr>
          <a:xfrm>
            <a:off x="831960" y="3849480"/>
            <a:ext cx="21211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45566"/>
                </a:solidFill>
                <a:latin typeface="Calibri"/>
              </a:rPr>
              <a:t>Mistakes made while entering data manually generate extreme or inconsistent values.</a:t>
            </a:r>
            <a:endParaRPr b="0" lang="en-US" sz="1000" spc="-1" strike="noStrike">
              <a:solidFill>
                <a:srgbClr val="000000"/>
              </a:solidFill>
              <a:latin typeface="Arial"/>
            </a:endParaRPr>
          </a:p>
        </p:txBody>
      </p:sp>
      <p:sp>
        <p:nvSpPr>
          <p:cNvPr id="80" name="Shape 32"/>
          <p:cNvSpPr/>
          <p:nvPr/>
        </p:nvSpPr>
        <p:spPr>
          <a:xfrm>
            <a:off x="3200400" y="3529440"/>
            <a:ext cx="2724480" cy="566640"/>
          </a:xfrm>
          <a:prstGeom prst="rect">
            <a:avLst/>
          </a:prstGeom>
          <a:solidFill>
            <a:srgbClr val="ffffff"/>
          </a:solidFill>
          <a:ln w="16510">
            <a:solidFill>
              <a:srgbClr val="ff7043"/>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 name="Shape 33"/>
          <p:cNvSpPr/>
          <p:nvPr/>
        </p:nvSpPr>
        <p:spPr>
          <a:xfrm>
            <a:off x="3200400" y="3529440"/>
            <a:ext cx="63720" cy="566640"/>
          </a:xfrm>
          <a:prstGeom prst="rect">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2" name="Shape 34"/>
          <p:cNvSpPr/>
          <p:nvPr/>
        </p:nvSpPr>
        <p:spPr>
          <a:xfrm>
            <a:off x="3337560" y="3684960"/>
            <a:ext cx="273960" cy="273960"/>
          </a:xfrm>
          <a:prstGeom prst="ellipse">
            <a:avLst/>
          </a:prstGeom>
          <a:solidFill>
            <a:srgbClr val="ff7043">
              <a:alpha val="75000"/>
            </a:srgbClr>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 35"/>
          <p:cNvSpPr/>
          <p:nvPr/>
        </p:nvSpPr>
        <p:spPr>
          <a:xfrm>
            <a:off x="3712320" y="3529440"/>
            <a:ext cx="212112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131a28"/>
                </a:solidFill>
                <a:latin typeface="Calibri"/>
              </a:rPr>
              <a:t>Measurement Errors</a:t>
            </a:r>
            <a:endParaRPr b="0" lang="en-US" sz="1150" spc="-1" strike="noStrike">
              <a:solidFill>
                <a:srgbClr val="000000"/>
              </a:solidFill>
              <a:latin typeface="Arial"/>
            </a:endParaRPr>
          </a:p>
        </p:txBody>
      </p:sp>
      <p:sp>
        <p:nvSpPr>
          <p:cNvPr id="84" name="Text 36"/>
          <p:cNvSpPr/>
          <p:nvPr/>
        </p:nvSpPr>
        <p:spPr>
          <a:xfrm>
            <a:off x="3712320" y="3849480"/>
            <a:ext cx="21211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45566"/>
                </a:solidFill>
                <a:latin typeface="Calibri"/>
              </a:rPr>
              <a:t>Faulty instruments or incorrect experimental setups produce abnormal readings.</a:t>
            </a:r>
            <a:endParaRPr b="0" lang="en-US" sz="1000" spc="-1" strike="noStrike">
              <a:solidFill>
                <a:srgbClr val="000000"/>
              </a:solidFill>
              <a:latin typeface="Arial"/>
            </a:endParaRPr>
          </a:p>
        </p:txBody>
      </p:sp>
      <p:sp>
        <p:nvSpPr>
          <p:cNvPr id="85" name="Shape 37"/>
          <p:cNvSpPr/>
          <p:nvPr/>
        </p:nvSpPr>
        <p:spPr>
          <a:xfrm>
            <a:off x="6080760" y="3529440"/>
            <a:ext cx="2724480" cy="566640"/>
          </a:xfrm>
          <a:prstGeom prst="rect">
            <a:avLst/>
          </a:prstGeom>
          <a:solidFill>
            <a:srgbClr val="ffffff"/>
          </a:solidFill>
          <a:ln w="16510">
            <a:solidFill>
              <a:srgbClr val="ffb300"/>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 name="Shape 38"/>
          <p:cNvSpPr/>
          <p:nvPr/>
        </p:nvSpPr>
        <p:spPr>
          <a:xfrm>
            <a:off x="6080760" y="3529440"/>
            <a:ext cx="63720" cy="56664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 name="Shape 39"/>
          <p:cNvSpPr/>
          <p:nvPr/>
        </p:nvSpPr>
        <p:spPr>
          <a:xfrm>
            <a:off x="6217920" y="3684960"/>
            <a:ext cx="273960" cy="273960"/>
          </a:xfrm>
          <a:prstGeom prst="ellipse">
            <a:avLst/>
          </a:prstGeom>
          <a:solidFill>
            <a:srgbClr val="ffb300">
              <a:alpha val="75000"/>
            </a:srgbClr>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 name="Text 40"/>
          <p:cNvSpPr/>
          <p:nvPr/>
        </p:nvSpPr>
        <p:spPr>
          <a:xfrm>
            <a:off x="6565680" y="3429000"/>
            <a:ext cx="212112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131a28"/>
                </a:solidFill>
                <a:latin typeface="Calibri"/>
              </a:rPr>
              <a:t>Experimental Errors</a:t>
            </a:r>
            <a:endParaRPr b="0" lang="en-US" sz="1150" spc="-1" strike="noStrike">
              <a:solidFill>
                <a:srgbClr val="000000"/>
              </a:solidFill>
              <a:latin typeface="Arial"/>
            </a:endParaRPr>
          </a:p>
        </p:txBody>
      </p:sp>
      <p:sp>
        <p:nvSpPr>
          <p:cNvPr id="89" name="Text 41"/>
          <p:cNvSpPr/>
          <p:nvPr/>
        </p:nvSpPr>
        <p:spPr>
          <a:xfrm>
            <a:off x="6592680" y="3849480"/>
            <a:ext cx="21211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45566"/>
                </a:solidFill>
                <a:latin typeface="Calibri"/>
              </a:rPr>
              <a:t>Poorly designed experiments produce results not representing the underlying phenomenon.</a:t>
            </a:r>
            <a:endParaRPr b="0" lang="en-US" sz="1000" spc="-1" strike="noStrike">
              <a:solidFill>
                <a:srgbClr val="000000"/>
              </a:solidFill>
              <a:latin typeface="Arial"/>
            </a:endParaRPr>
          </a:p>
        </p:txBody>
      </p:sp>
      <p:sp>
        <p:nvSpPr>
          <p:cNvPr id="90" name="Shape 42"/>
          <p:cNvSpPr/>
          <p:nvPr/>
        </p:nvSpPr>
        <p:spPr>
          <a:xfrm>
            <a:off x="320040" y="4187880"/>
            <a:ext cx="2724480" cy="566640"/>
          </a:xfrm>
          <a:prstGeom prst="rect">
            <a:avLst/>
          </a:prstGeom>
          <a:solidFill>
            <a:srgbClr val="ffffff"/>
          </a:solidFill>
          <a:ln w="16510">
            <a:solidFill>
              <a:srgbClr val="7e57c2"/>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 name="Shape 43"/>
          <p:cNvSpPr/>
          <p:nvPr/>
        </p:nvSpPr>
        <p:spPr>
          <a:xfrm>
            <a:off x="320040" y="4187880"/>
            <a:ext cx="63720" cy="566640"/>
          </a:xfrm>
          <a:prstGeom prst="rect">
            <a:avLst/>
          </a:prstGeom>
          <a:solidFill>
            <a:srgbClr val="7e57c2"/>
          </a:solidFill>
          <a:ln w="12700">
            <a:solidFill>
              <a:srgbClr val="7e57c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Shape 44"/>
          <p:cNvSpPr/>
          <p:nvPr/>
        </p:nvSpPr>
        <p:spPr>
          <a:xfrm>
            <a:off x="457200" y="4343400"/>
            <a:ext cx="273960" cy="273960"/>
          </a:xfrm>
          <a:prstGeom prst="ellipse">
            <a:avLst/>
          </a:prstGeom>
          <a:solidFill>
            <a:srgbClr val="7e57c2">
              <a:alpha val="75000"/>
            </a:srgbClr>
          </a:solidFill>
          <a:ln w="12700">
            <a:solidFill>
              <a:srgbClr val="7e57c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Text 45"/>
          <p:cNvSpPr/>
          <p:nvPr/>
        </p:nvSpPr>
        <p:spPr>
          <a:xfrm>
            <a:off x="850680" y="4187880"/>
            <a:ext cx="212112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131a28"/>
                </a:solidFill>
                <a:latin typeface="Calibri"/>
              </a:rPr>
              <a:t>Intentional Outliers</a:t>
            </a:r>
            <a:endParaRPr b="0" lang="en-US" sz="1150" spc="-1" strike="noStrike">
              <a:solidFill>
                <a:srgbClr val="000000"/>
              </a:solidFill>
              <a:latin typeface="Arial"/>
            </a:endParaRPr>
          </a:p>
        </p:txBody>
      </p:sp>
      <p:sp>
        <p:nvSpPr>
          <p:cNvPr id="94" name="Text 46"/>
          <p:cNvSpPr/>
          <p:nvPr/>
        </p:nvSpPr>
        <p:spPr>
          <a:xfrm>
            <a:off x="831960" y="4507920"/>
            <a:ext cx="21211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45566"/>
                </a:solidFill>
                <a:latin typeface="Calibri"/>
              </a:rPr>
              <a:t>Introduced deliberately — such as in cases of fraud or deliberate data manipulation.</a:t>
            </a:r>
            <a:endParaRPr b="0" lang="en-US" sz="1000" spc="-1" strike="noStrike">
              <a:solidFill>
                <a:srgbClr val="000000"/>
              </a:solidFill>
              <a:latin typeface="Arial"/>
            </a:endParaRPr>
          </a:p>
        </p:txBody>
      </p:sp>
      <p:sp>
        <p:nvSpPr>
          <p:cNvPr id="95" name="Shape 47"/>
          <p:cNvSpPr/>
          <p:nvPr/>
        </p:nvSpPr>
        <p:spPr>
          <a:xfrm>
            <a:off x="3200400" y="4187880"/>
            <a:ext cx="2724480" cy="566640"/>
          </a:xfrm>
          <a:prstGeom prst="rect">
            <a:avLst/>
          </a:prstGeom>
          <a:solidFill>
            <a:srgbClr val="ffffff"/>
          </a:solidFill>
          <a:ln w="16510">
            <a:solidFill>
              <a:srgbClr val="1e88e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 name="Shape 48"/>
          <p:cNvSpPr/>
          <p:nvPr/>
        </p:nvSpPr>
        <p:spPr>
          <a:xfrm>
            <a:off x="3200400" y="4187880"/>
            <a:ext cx="63720" cy="56664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Shape 49"/>
          <p:cNvSpPr/>
          <p:nvPr/>
        </p:nvSpPr>
        <p:spPr>
          <a:xfrm>
            <a:off x="3337560" y="4343400"/>
            <a:ext cx="273960" cy="273960"/>
          </a:xfrm>
          <a:prstGeom prst="ellipse">
            <a:avLst/>
          </a:prstGeom>
          <a:solidFill>
            <a:srgbClr val="1e88e5">
              <a:alpha val="75000"/>
            </a:srgbClr>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8" name="Text 50"/>
          <p:cNvSpPr/>
          <p:nvPr/>
        </p:nvSpPr>
        <p:spPr>
          <a:xfrm>
            <a:off x="3712320" y="4187880"/>
            <a:ext cx="212112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131a28"/>
                </a:solidFill>
                <a:latin typeface="Calibri"/>
              </a:rPr>
              <a:t>Data Processing Errors</a:t>
            </a:r>
            <a:endParaRPr b="0" lang="en-US" sz="1150" spc="-1" strike="noStrike">
              <a:solidFill>
                <a:srgbClr val="000000"/>
              </a:solidFill>
              <a:latin typeface="Arial"/>
            </a:endParaRPr>
          </a:p>
        </p:txBody>
      </p:sp>
      <p:sp>
        <p:nvSpPr>
          <p:cNvPr id="99" name="Text 51"/>
          <p:cNvSpPr/>
          <p:nvPr/>
        </p:nvSpPr>
        <p:spPr>
          <a:xfrm>
            <a:off x="3712320" y="4507920"/>
            <a:ext cx="21211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45566"/>
                </a:solidFill>
                <a:latin typeface="Calibri"/>
              </a:rPr>
              <a:t>Errors during data collection, cleaning, or transformation introduce unusual values.</a:t>
            </a:r>
            <a:endParaRPr b="0" lang="en-US" sz="1000" spc="-1" strike="noStrike">
              <a:solidFill>
                <a:srgbClr val="000000"/>
              </a:solidFill>
              <a:latin typeface="Arial"/>
            </a:endParaRPr>
          </a:p>
        </p:txBody>
      </p:sp>
      <p:sp>
        <p:nvSpPr>
          <p:cNvPr id="100" name="Shape 52"/>
          <p:cNvSpPr/>
          <p:nvPr/>
        </p:nvSpPr>
        <p:spPr>
          <a:xfrm>
            <a:off x="6080760" y="4187880"/>
            <a:ext cx="2724480" cy="566640"/>
          </a:xfrm>
          <a:prstGeom prst="rect">
            <a:avLst/>
          </a:prstGeom>
          <a:solidFill>
            <a:srgbClr val="ffffff"/>
          </a:solidFill>
          <a:ln w="16510">
            <a:solidFill>
              <a:srgbClr val="43a047"/>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1" name="Shape 53"/>
          <p:cNvSpPr/>
          <p:nvPr/>
        </p:nvSpPr>
        <p:spPr>
          <a:xfrm>
            <a:off x="6080760" y="4187880"/>
            <a:ext cx="63720" cy="56664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 name="Shape 54"/>
          <p:cNvSpPr/>
          <p:nvPr/>
        </p:nvSpPr>
        <p:spPr>
          <a:xfrm>
            <a:off x="6217920" y="4343400"/>
            <a:ext cx="273960" cy="273960"/>
          </a:xfrm>
          <a:prstGeom prst="ellipse">
            <a:avLst/>
          </a:prstGeom>
          <a:solidFill>
            <a:srgbClr val="43a047">
              <a:alpha val="75000"/>
            </a:srgbClr>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 name="Text 55"/>
          <p:cNvSpPr/>
          <p:nvPr/>
        </p:nvSpPr>
        <p:spPr>
          <a:xfrm>
            <a:off x="6592680" y="4187880"/>
            <a:ext cx="212112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131a28"/>
                </a:solidFill>
                <a:latin typeface="Calibri"/>
              </a:rPr>
              <a:t>Natural Variation</a:t>
            </a:r>
            <a:endParaRPr b="0" lang="en-US" sz="1150" spc="-1" strike="noStrike">
              <a:solidFill>
                <a:srgbClr val="000000"/>
              </a:solidFill>
              <a:latin typeface="Arial"/>
            </a:endParaRPr>
          </a:p>
        </p:txBody>
      </p:sp>
      <p:sp>
        <p:nvSpPr>
          <p:cNvPr id="104" name="Text 56"/>
          <p:cNvSpPr/>
          <p:nvPr/>
        </p:nvSpPr>
        <p:spPr>
          <a:xfrm>
            <a:off x="6592680" y="4507920"/>
            <a:ext cx="21211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45566"/>
                </a:solidFill>
                <a:latin typeface="Calibri"/>
              </a:rPr>
              <a:t>Some outliers arise naturally due to inherent variability in the population or process.</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8"/>
        </a:solidFill>
      </p:bgPr>
    </p:bg>
    <p:spTree>
      <p:nvGrpSpPr>
        <p:cNvPr id="1" name=""/>
        <p:cNvGrpSpPr/>
        <p:nvPr/>
      </p:nvGrpSpPr>
      <p:grpSpPr>
        <a:xfrm>
          <a:off x="0" y="0"/>
          <a:ext cx="0" cy="0"/>
          <a:chOff x="0" y="0"/>
          <a:chExt cx="0" cy="0"/>
        </a:xfrm>
      </p:grpSpPr>
      <p:sp>
        <p:nvSpPr>
          <p:cNvPr id="105" name="Shape 0"/>
          <p:cNvSpPr/>
          <p:nvPr/>
        </p:nvSpPr>
        <p:spPr>
          <a:xfrm>
            <a:off x="0" y="0"/>
            <a:ext cx="9143640" cy="63720"/>
          </a:xfrm>
          <a:prstGeom prst="rect">
            <a:avLst/>
          </a:prstGeom>
          <a:solidFill>
            <a:srgbClr val="ffb300"/>
          </a:solidFill>
          <a:ln w="12700">
            <a:solidFill>
              <a:srgbClr val="ffb300"/>
            </a:solidFill>
            <a:round/>
          </a:ln>
        </p:spPr>
        <p:style>
          <a:lnRef idx="0"/>
          <a:fillRef idx="0"/>
          <a:effectRef idx="0"/>
          <a:fontRef idx="minor"/>
        </p:style>
        <p:txBody>
          <a:bodyPr lIns="90000" rIns="90000" tIns="19080" bIns="19080" anchor="t">
            <a:noAutofit/>
          </a:bodyPr>
          <a:p>
            <a:endParaRPr b="0" lang="en-US" sz="1800" spc="-1" strike="noStrike">
              <a:solidFill>
                <a:srgbClr val="000000"/>
              </a:solidFill>
              <a:latin typeface="Arial"/>
            </a:endParaRPr>
          </a:p>
        </p:txBody>
      </p:sp>
      <p:sp>
        <p:nvSpPr>
          <p:cNvPr id="106" name="Text 1"/>
          <p:cNvSpPr/>
          <p:nvPr/>
        </p:nvSpPr>
        <p:spPr>
          <a:xfrm>
            <a:off x="457200" y="164520"/>
            <a:ext cx="82292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ffffff"/>
                </a:solidFill>
                <a:latin typeface="Calibri"/>
                <a:ea typeface="Calibri"/>
              </a:rPr>
              <a:t>Why Handling Outliers Is Necessary</a:t>
            </a:r>
            <a:endParaRPr b="0" lang="en-US" sz="2800" spc="-1" strike="noStrike">
              <a:solidFill>
                <a:srgbClr val="ffffff"/>
              </a:solidFill>
              <a:latin typeface="Arial"/>
            </a:endParaRPr>
          </a:p>
        </p:txBody>
      </p:sp>
      <p:sp>
        <p:nvSpPr>
          <p:cNvPr id="107" name="Shape 2"/>
          <p:cNvSpPr/>
          <p:nvPr/>
        </p:nvSpPr>
        <p:spPr>
          <a:xfrm>
            <a:off x="274320" y="822960"/>
            <a:ext cx="2788560" cy="4041360"/>
          </a:xfrm>
          <a:prstGeom prst="rect">
            <a:avLst/>
          </a:prstGeom>
          <a:solidFill>
            <a:srgbClr val="22304a"/>
          </a:solidFill>
          <a:ln w="1905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Shape 3"/>
          <p:cNvSpPr/>
          <p:nvPr/>
        </p:nvSpPr>
        <p:spPr>
          <a:xfrm>
            <a:off x="274320" y="822960"/>
            <a:ext cx="2788560" cy="49356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Shape 4"/>
          <p:cNvSpPr/>
          <p:nvPr/>
        </p:nvSpPr>
        <p:spPr>
          <a:xfrm>
            <a:off x="384120" y="868680"/>
            <a:ext cx="383760" cy="383760"/>
          </a:xfrm>
          <a:prstGeom prst="ellipse">
            <a:avLst/>
          </a:prstGeom>
          <a:solidFill>
            <a:srgbClr val="131a28">
              <a:alpha val="75000"/>
            </a:srgbClr>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Text 5"/>
          <p:cNvSpPr/>
          <p:nvPr/>
        </p:nvSpPr>
        <p:spPr>
          <a:xfrm>
            <a:off x="384120" y="8686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01</a:t>
            </a:r>
            <a:endParaRPr b="0" lang="en-US" sz="1400" spc="-1" strike="noStrike">
              <a:solidFill>
                <a:srgbClr val="ffffff"/>
              </a:solidFill>
              <a:latin typeface="Arial"/>
            </a:endParaRPr>
          </a:p>
        </p:txBody>
      </p:sp>
      <p:sp>
        <p:nvSpPr>
          <p:cNvPr id="111" name="Text 6"/>
          <p:cNvSpPr/>
          <p:nvPr/>
        </p:nvSpPr>
        <p:spPr>
          <a:xfrm>
            <a:off x="841320" y="896040"/>
            <a:ext cx="212112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fffff"/>
                </a:solidFill>
                <a:latin typeface="Calibri"/>
              </a:rPr>
              <a:t>Impact on Analysis</a:t>
            </a:r>
            <a:endParaRPr b="0" lang="en-US" sz="1250" spc="-1" strike="noStrike">
              <a:solidFill>
                <a:srgbClr val="ffffff"/>
              </a:solidFill>
              <a:latin typeface="Arial"/>
            </a:endParaRPr>
          </a:p>
        </p:txBody>
      </p:sp>
      <p:sp>
        <p:nvSpPr>
          <p:cNvPr id="112" name="Shape 7"/>
          <p:cNvSpPr/>
          <p:nvPr/>
        </p:nvSpPr>
        <p:spPr>
          <a:xfrm>
            <a:off x="411480" y="1444680"/>
            <a:ext cx="2514240" cy="255600"/>
          </a:xfrm>
          <a:prstGeom prst="rect">
            <a:avLst/>
          </a:prstGeom>
          <a:solidFill>
            <a:srgbClr val="1b2438"/>
          </a:solidFill>
          <a:ln w="12700">
            <a:solidFill>
              <a:srgbClr val="1b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Shape 8"/>
          <p:cNvSpPr/>
          <p:nvPr/>
        </p:nvSpPr>
        <p:spPr>
          <a:xfrm>
            <a:off x="411480" y="1444680"/>
            <a:ext cx="1885680" cy="25560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Text 9"/>
          <p:cNvSpPr/>
          <p:nvPr/>
        </p:nvSpPr>
        <p:spPr>
          <a:xfrm>
            <a:off x="411480" y="1737360"/>
            <a:ext cx="2514240" cy="219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e53935"/>
                </a:solidFill>
                <a:latin typeface="Calibri"/>
              </a:rPr>
              <a:t>Impact Level: High</a:t>
            </a:r>
            <a:endParaRPr b="0" lang="en-US" sz="950" spc="-1" strike="noStrike">
              <a:solidFill>
                <a:srgbClr val="ffffff"/>
              </a:solidFill>
              <a:latin typeface="Arial"/>
            </a:endParaRPr>
          </a:p>
        </p:txBody>
      </p:sp>
      <p:sp>
        <p:nvSpPr>
          <p:cNvPr id="115" name="Shape 10"/>
          <p:cNvSpPr/>
          <p:nvPr/>
        </p:nvSpPr>
        <p:spPr>
          <a:xfrm>
            <a:off x="411480" y="2066400"/>
            <a:ext cx="200880" cy="20088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Text 11"/>
          <p:cNvSpPr/>
          <p:nvPr/>
        </p:nvSpPr>
        <p:spPr>
          <a:xfrm>
            <a:off x="685800" y="2030040"/>
            <a:ext cx="2304000" cy="126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0a4ae"/>
                </a:solidFill>
                <a:latin typeface="Calibri"/>
              </a:rPr>
              <a:t>Outliers distort statistical measures — mean, variance and correlation — leading to biased or misleading results.</a:t>
            </a:r>
            <a:endParaRPr b="0" lang="en-US" sz="1150" spc="-1" strike="noStrike">
              <a:solidFill>
                <a:srgbClr val="ffffff"/>
              </a:solidFill>
              <a:latin typeface="Arial"/>
            </a:endParaRPr>
          </a:p>
        </p:txBody>
      </p:sp>
      <p:sp>
        <p:nvSpPr>
          <p:cNvPr id="117" name="Shape 12"/>
          <p:cNvSpPr/>
          <p:nvPr/>
        </p:nvSpPr>
        <p:spPr>
          <a:xfrm>
            <a:off x="411480" y="3364920"/>
            <a:ext cx="200880" cy="20088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8" name="Text 13"/>
          <p:cNvSpPr/>
          <p:nvPr/>
        </p:nvSpPr>
        <p:spPr>
          <a:xfrm>
            <a:off x="685800" y="3328560"/>
            <a:ext cx="2304000" cy="126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0a4ae"/>
                </a:solidFill>
                <a:latin typeface="Calibri"/>
              </a:rPr>
              <a:t>Removing extreme values helps analysis represent central trends and typical behavior of the dataset more accurately.</a:t>
            </a:r>
            <a:endParaRPr b="0" lang="en-US" sz="1150" spc="-1" strike="noStrike">
              <a:solidFill>
                <a:srgbClr val="ffffff"/>
              </a:solidFill>
              <a:latin typeface="Arial"/>
            </a:endParaRPr>
          </a:p>
        </p:txBody>
      </p:sp>
      <p:sp>
        <p:nvSpPr>
          <p:cNvPr id="119" name="Shape 14"/>
          <p:cNvSpPr/>
          <p:nvPr/>
        </p:nvSpPr>
        <p:spPr>
          <a:xfrm>
            <a:off x="3200400" y="822960"/>
            <a:ext cx="2788560" cy="4041360"/>
          </a:xfrm>
          <a:prstGeom prst="rect">
            <a:avLst/>
          </a:prstGeom>
          <a:solidFill>
            <a:srgbClr val="22304a"/>
          </a:solidFill>
          <a:ln w="1905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Shape 15"/>
          <p:cNvSpPr/>
          <p:nvPr/>
        </p:nvSpPr>
        <p:spPr>
          <a:xfrm>
            <a:off x="3200400" y="822960"/>
            <a:ext cx="2788560" cy="493560"/>
          </a:xfrm>
          <a:prstGeom prst="rect">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Shape 16"/>
          <p:cNvSpPr/>
          <p:nvPr/>
        </p:nvSpPr>
        <p:spPr>
          <a:xfrm>
            <a:off x="3310200" y="868680"/>
            <a:ext cx="383760" cy="383760"/>
          </a:xfrm>
          <a:prstGeom prst="ellipse">
            <a:avLst/>
          </a:prstGeom>
          <a:solidFill>
            <a:srgbClr val="131a28">
              <a:alpha val="75000"/>
            </a:srgbClr>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Text 17"/>
          <p:cNvSpPr/>
          <p:nvPr/>
        </p:nvSpPr>
        <p:spPr>
          <a:xfrm>
            <a:off x="3310200" y="8686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02</a:t>
            </a:r>
            <a:endParaRPr b="0" lang="en-US" sz="1400" spc="-1" strike="noStrike">
              <a:solidFill>
                <a:srgbClr val="ffffff"/>
              </a:solidFill>
              <a:latin typeface="Arial"/>
            </a:endParaRPr>
          </a:p>
        </p:txBody>
      </p:sp>
      <p:sp>
        <p:nvSpPr>
          <p:cNvPr id="123" name="Text 18"/>
          <p:cNvSpPr/>
          <p:nvPr/>
        </p:nvSpPr>
        <p:spPr>
          <a:xfrm>
            <a:off x="3767400" y="896040"/>
            <a:ext cx="212112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fffff"/>
                </a:solidFill>
                <a:latin typeface="Calibri"/>
              </a:rPr>
              <a:t>Statistical Validity</a:t>
            </a:r>
            <a:endParaRPr b="0" lang="en-US" sz="1250" spc="-1" strike="noStrike">
              <a:solidFill>
                <a:srgbClr val="ffffff"/>
              </a:solidFill>
              <a:latin typeface="Arial"/>
            </a:endParaRPr>
          </a:p>
        </p:txBody>
      </p:sp>
      <p:sp>
        <p:nvSpPr>
          <p:cNvPr id="124" name="Shape 19"/>
          <p:cNvSpPr/>
          <p:nvPr/>
        </p:nvSpPr>
        <p:spPr>
          <a:xfrm>
            <a:off x="3337560" y="1444680"/>
            <a:ext cx="2514240" cy="255600"/>
          </a:xfrm>
          <a:prstGeom prst="rect">
            <a:avLst/>
          </a:prstGeom>
          <a:solidFill>
            <a:srgbClr val="1b2438"/>
          </a:solidFill>
          <a:ln w="12700">
            <a:solidFill>
              <a:srgbClr val="1b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Shape 20"/>
          <p:cNvSpPr/>
          <p:nvPr/>
        </p:nvSpPr>
        <p:spPr>
          <a:xfrm>
            <a:off x="3337560" y="1444680"/>
            <a:ext cx="1885680" cy="255600"/>
          </a:xfrm>
          <a:prstGeom prst="rect">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Text 21"/>
          <p:cNvSpPr/>
          <p:nvPr/>
        </p:nvSpPr>
        <p:spPr>
          <a:xfrm>
            <a:off x="3337560" y="1737360"/>
            <a:ext cx="2514240" cy="219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ff7043"/>
                </a:solidFill>
                <a:latin typeface="Calibri"/>
              </a:rPr>
              <a:t>Impact Level: High</a:t>
            </a:r>
            <a:endParaRPr b="0" lang="en-US" sz="950" spc="-1" strike="noStrike">
              <a:solidFill>
                <a:srgbClr val="ffffff"/>
              </a:solidFill>
              <a:latin typeface="Arial"/>
            </a:endParaRPr>
          </a:p>
        </p:txBody>
      </p:sp>
      <p:sp>
        <p:nvSpPr>
          <p:cNvPr id="127" name="Shape 22"/>
          <p:cNvSpPr/>
          <p:nvPr/>
        </p:nvSpPr>
        <p:spPr>
          <a:xfrm>
            <a:off x="3337560" y="2066400"/>
            <a:ext cx="200880" cy="200880"/>
          </a:xfrm>
          <a:prstGeom prst="ellipse">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Text 23"/>
          <p:cNvSpPr/>
          <p:nvPr/>
        </p:nvSpPr>
        <p:spPr>
          <a:xfrm>
            <a:off x="3611880" y="2030040"/>
            <a:ext cx="2304000" cy="126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0a4ae"/>
                </a:solidFill>
                <a:latin typeface="Calibri"/>
              </a:rPr>
              <a:t>Outliers can weaken reliability of hypothesis testing and reduce performance of predictive models.</a:t>
            </a:r>
            <a:endParaRPr b="0" lang="en-US" sz="1150" spc="-1" strike="noStrike">
              <a:solidFill>
                <a:srgbClr val="ffffff"/>
              </a:solidFill>
              <a:latin typeface="Arial"/>
            </a:endParaRPr>
          </a:p>
        </p:txBody>
      </p:sp>
      <p:sp>
        <p:nvSpPr>
          <p:cNvPr id="129" name="Shape 24"/>
          <p:cNvSpPr/>
          <p:nvPr/>
        </p:nvSpPr>
        <p:spPr>
          <a:xfrm>
            <a:off x="3337560" y="3364920"/>
            <a:ext cx="200880" cy="200880"/>
          </a:xfrm>
          <a:prstGeom prst="ellipse">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0" name="Text 25"/>
          <p:cNvSpPr/>
          <p:nvPr/>
        </p:nvSpPr>
        <p:spPr>
          <a:xfrm>
            <a:off x="3611880" y="3328560"/>
            <a:ext cx="2304000" cy="126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0a4ae"/>
                </a:solidFill>
                <a:latin typeface="Calibri"/>
              </a:rPr>
              <a:t>Proper handling improves model stability, accuracy, and trustworthiness of statistical conclusions.</a:t>
            </a:r>
            <a:endParaRPr b="0" lang="en-US" sz="1150" spc="-1" strike="noStrike">
              <a:solidFill>
                <a:srgbClr val="ffffff"/>
              </a:solidFill>
              <a:latin typeface="Arial"/>
            </a:endParaRPr>
          </a:p>
        </p:txBody>
      </p:sp>
      <p:sp>
        <p:nvSpPr>
          <p:cNvPr id="131" name="Shape 26"/>
          <p:cNvSpPr/>
          <p:nvPr/>
        </p:nvSpPr>
        <p:spPr>
          <a:xfrm>
            <a:off x="6126480" y="822960"/>
            <a:ext cx="2788560" cy="4041360"/>
          </a:xfrm>
          <a:prstGeom prst="rect">
            <a:avLst/>
          </a:prstGeom>
          <a:solidFill>
            <a:srgbClr val="22304a"/>
          </a:solidFill>
          <a:ln w="1905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Shape 27"/>
          <p:cNvSpPr/>
          <p:nvPr/>
        </p:nvSpPr>
        <p:spPr>
          <a:xfrm>
            <a:off x="6126480" y="822960"/>
            <a:ext cx="2788560" cy="49356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3" name="Shape 28"/>
          <p:cNvSpPr/>
          <p:nvPr/>
        </p:nvSpPr>
        <p:spPr>
          <a:xfrm>
            <a:off x="6236280" y="868680"/>
            <a:ext cx="383760" cy="383760"/>
          </a:xfrm>
          <a:prstGeom prst="ellipse">
            <a:avLst/>
          </a:prstGeom>
          <a:solidFill>
            <a:srgbClr val="131a28">
              <a:alpha val="75000"/>
            </a:srgbClr>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4" name="Text 29"/>
          <p:cNvSpPr/>
          <p:nvPr/>
        </p:nvSpPr>
        <p:spPr>
          <a:xfrm>
            <a:off x="6236280" y="86868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03</a:t>
            </a:r>
            <a:endParaRPr b="0" lang="en-US" sz="1400" spc="-1" strike="noStrike">
              <a:solidFill>
                <a:srgbClr val="ffffff"/>
              </a:solidFill>
              <a:latin typeface="Arial"/>
            </a:endParaRPr>
          </a:p>
        </p:txBody>
      </p:sp>
      <p:sp>
        <p:nvSpPr>
          <p:cNvPr id="135" name="Text 30"/>
          <p:cNvSpPr/>
          <p:nvPr/>
        </p:nvSpPr>
        <p:spPr>
          <a:xfrm>
            <a:off x="6693480" y="896040"/>
            <a:ext cx="212112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fffff"/>
                </a:solidFill>
                <a:latin typeface="Calibri"/>
              </a:rPr>
              <a:t>Model Performance &amp; Interpretability</a:t>
            </a:r>
            <a:endParaRPr b="0" lang="en-US" sz="1250" spc="-1" strike="noStrike">
              <a:solidFill>
                <a:srgbClr val="ffffff"/>
              </a:solidFill>
              <a:latin typeface="Arial"/>
            </a:endParaRPr>
          </a:p>
        </p:txBody>
      </p:sp>
      <p:sp>
        <p:nvSpPr>
          <p:cNvPr id="136" name="Shape 31"/>
          <p:cNvSpPr/>
          <p:nvPr/>
        </p:nvSpPr>
        <p:spPr>
          <a:xfrm>
            <a:off x="6263640" y="1444680"/>
            <a:ext cx="2514240" cy="255600"/>
          </a:xfrm>
          <a:prstGeom prst="rect">
            <a:avLst/>
          </a:prstGeom>
          <a:solidFill>
            <a:srgbClr val="1b2438"/>
          </a:solidFill>
          <a:ln w="12700">
            <a:solidFill>
              <a:srgbClr val="1b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7" name="Shape 32"/>
          <p:cNvSpPr/>
          <p:nvPr/>
        </p:nvSpPr>
        <p:spPr>
          <a:xfrm>
            <a:off x="6263640" y="1444680"/>
            <a:ext cx="1885680" cy="25560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8" name="Text 33"/>
          <p:cNvSpPr/>
          <p:nvPr/>
        </p:nvSpPr>
        <p:spPr>
          <a:xfrm>
            <a:off x="6263640" y="1737360"/>
            <a:ext cx="2514240" cy="219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ffb300"/>
                </a:solidFill>
                <a:latin typeface="Calibri"/>
              </a:rPr>
              <a:t>Impact Level: High</a:t>
            </a:r>
            <a:endParaRPr b="0" lang="en-US" sz="950" spc="-1" strike="noStrike">
              <a:solidFill>
                <a:srgbClr val="ffffff"/>
              </a:solidFill>
              <a:latin typeface="Arial"/>
            </a:endParaRPr>
          </a:p>
        </p:txBody>
      </p:sp>
      <p:sp>
        <p:nvSpPr>
          <p:cNvPr id="139" name="Shape 34"/>
          <p:cNvSpPr/>
          <p:nvPr/>
        </p:nvSpPr>
        <p:spPr>
          <a:xfrm>
            <a:off x="6263640" y="2066400"/>
            <a:ext cx="200880" cy="200880"/>
          </a:xfrm>
          <a:prstGeom prst="ellipse">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0" name="Text 35"/>
          <p:cNvSpPr/>
          <p:nvPr/>
        </p:nvSpPr>
        <p:spPr>
          <a:xfrm>
            <a:off x="6537960" y="2030040"/>
            <a:ext cx="2304000" cy="126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0a4ae"/>
                </a:solidFill>
                <a:latin typeface="Calibri"/>
              </a:rPr>
              <a:t>Outliers may cause machine learning models to overfit or learn incorrect patterns from rare extreme values.</a:t>
            </a:r>
            <a:endParaRPr b="0" lang="en-US" sz="1150" spc="-1" strike="noStrike">
              <a:solidFill>
                <a:srgbClr val="ffffff"/>
              </a:solidFill>
              <a:latin typeface="Arial"/>
            </a:endParaRPr>
          </a:p>
        </p:txBody>
      </p:sp>
      <p:sp>
        <p:nvSpPr>
          <p:cNvPr id="141" name="Shape 36"/>
          <p:cNvSpPr/>
          <p:nvPr/>
        </p:nvSpPr>
        <p:spPr>
          <a:xfrm>
            <a:off x="6263640" y="3364920"/>
            <a:ext cx="200880" cy="200880"/>
          </a:xfrm>
          <a:prstGeom prst="ellipse">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 name="Text 37"/>
          <p:cNvSpPr/>
          <p:nvPr/>
        </p:nvSpPr>
        <p:spPr>
          <a:xfrm>
            <a:off x="6537960" y="3328560"/>
            <a:ext cx="2304000" cy="126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0a4ae"/>
                </a:solidFill>
                <a:latin typeface="Calibri"/>
              </a:rPr>
              <a:t>Eliminating irrelevant outliers makes models easier to interpret and enhances their generalization to new data.</a:t>
            </a:r>
            <a:endParaRPr b="0" lang="en-US" sz="1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143" name="Shape 0"/>
          <p:cNvSpPr/>
          <p:nvPr/>
        </p:nvSpPr>
        <p:spPr>
          <a:xfrm>
            <a:off x="0" y="0"/>
            <a:ext cx="9143640" cy="59400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Shape 1"/>
          <p:cNvSpPr/>
          <p:nvPr/>
        </p:nvSpPr>
        <p:spPr>
          <a:xfrm>
            <a:off x="0" y="594360"/>
            <a:ext cx="9143640" cy="63720"/>
          </a:xfrm>
          <a:prstGeom prst="rect">
            <a:avLst/>
          </a:prstGeom>
          <a:solidFill>
            <a:srgbClr val="1e88e5"/>
          </a:solidFill>
          <a:ln w="12700">
            <a:solidFill>
              <a:srgbClr val="1e88e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45" name="Text 2"/>
          <p:cNvSpPr/>
          <p:nvPr/>
        </p:nvSpPr>
        <p:spPr>
          <a:xfrm>
            <a:off x="457200" y="91440"/>
            <a:ext cx="822924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ffffff"/>
                </a:solidFill>
                <a:latin typeface="Calibri"/>
                <a:ea typeface="Calibri"/>
              </a:rPr>
              <a:t>5 Types of Outliers</a:t>
            </a:r>
            <a:endParaRPr b="0" lang="en-US" sz="2400" spc="-1" strike="noStrike">
              <a:solidFill>
                <a:srgbClr val="000000"/>
              </a:solidFill>
              <a:latin typeface="Arial"/>
            </a:endParaRPr>
          </a:p>
        </p:txBody>
      </p:sp>
      <p:sp>
        <p:nvSpPr>
          <p:cNvPr id="146" name="Shape 3"/>
          <p:cNvSpPr/>
          <p:nvPr/>
        </p:nvSpPr>
        <p:spPr>
          <a:xfrm>
            <a:off x="274320" y="804600"/>
            <a:ext cx="4205880" cy="1718640"/>
          </a:xfrm>
          <a:prstGeom prst="rect">
            <a:avLst/>
          </a:prstGeom>
          <a:solidFill>
            <a:srgbClr val="ffffff"/>
          </a:solidFill>
          <a:ln w="19050">
            <a:solidFill>
              <a:srgbClr val="e5393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7" name="Shape 4"/>
          <p:cNvSpPr/>
          <p:nvPr/>
        </p:nvSpPr>
        <p:spPr>
          <a:xfrm>
            <a:off x="274320" y="804600"/>
            <a:ext cx="4205880" cy="63720"/>
          </a:xfrm>
          <a:prstGeom prst="rect">
            <a:avLst/>
          </a:prstGeom>
          <a:solidFill>
            <a:srgbClr val="e53935"/>
          </a:solidFill>
          <a:ln w="12700">
            <a:solidFill>
              <a:srgbClr val="e5393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48" name="Shape 5"/>
          <p:cNvSpPr/>
          <p:nvPr/>
        </p:nvSpPr>
        <p:spPr>
          <a:xfrm>
            <a:off x="411480" y="941760"/>
            <a:ext cx="402120" cy="40212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 6"/>
          <p:cNvSpPr/>
          <p:nvPr/>
        </p:nvSpPr>
        <p:spPr>
          <a:xfrm>
            <a:off x="411480" y="941760"/>
            <a:ext cx="402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131a28"/>
                </a:solidFill>
                <a:latin typeface="Calibri"/>
              </a:rPr>
              <a:t>1</a:t>
            </a:r>
            <a:endParaRPr b="0" lang="en-US" sz="1600" spc="-1" strike="noStrike">
              <a:solidFill>
                <a:srgbClr val="000000"/>
              </a:solidFill>
              <a:latin typeface="Arial"/>
            </a:endParaRPr>
          </a:p>
        </p:txBody>
      </p:sp>
      <p:sp>
        <p:nvSpPr>
          <p:cNvPr id="150" name="Text 7"/>
          <p:cNvSpPr/>
          <p:nvPr/>
        </p:nvSpPr>
        <p:spPr>
          <a:xfrm>
            <a:off x="914400" y="969120"/>
            <a:ext cx="34560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31a28"/>
                </a:solidFill>
                <a:latin typeface="Calibri"/>
              </a:rPr>
              <a:t>Univariate Outliers</a:t>
            </a:r>
            <a:endParaRPr b="0" lang="en-US" sz="1300" spc="-1" strike="noStrike">
              <a:solidFill>
                <a:srgbClr val="000000"/>
              </a:solidFill>
              <a:latin typeface="Arial"/>
            </a:endParaRPr>
          </a:p>
        </p:txBody>
      </p:sp>
      <p:sp>
        <p:nvSpPr>
          <p:cNvPr id="151" name="Text 8"/>
          <p:cNvSpPr/>
          <p:nvPr/>
        </p:nvSpPr>
        <p:spPr>
          <a:xfrm>
            <a:off x="411480" y="1426320"/>
            <a:ext cx="3949920" cy="1023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445566"/>
                </a:solidFill>
                <a:latin typeface="Calibri"/>
              </a:rPr>
              <a:t>Extreme values in a SINGLE variable. Example: adult height of 7 feet where most range 5.5–6 feet — clearly unusual in that one dimension.</a:t>
            </a:r>
            <a:endParaRPr b="0" lang="en-US" sz="1150" spc="-1" strike="noStrike">
              <a:solidFill>
                <a:srgbClr val="000000"/>
              </a:solidFill>
              <a:latin typeface="Arial"/>
            </a:endParaRPr>
          </a:p>
        </p:txBody>
      </p:sp>
      <p:sp>
        <p:nvSpPr>
          <p:cNvPr id="152" name="Shape 9"/>
          <p:cNvSpPr/>
          <p:nvPr/>
        </p:nvSpPr>
        <p:spPr>
          <a:xfrm>
            <a:off x="4663440" y="804600"/>
            <a:ext cx="4205880" cy="1718640"/>
          </a:xfrm>
          <a:prstGeom prst="rect">
            <a:avLst/>
          </a:prstGeom>
          <a:solidFill>
            <a:srgbClr val="ffffff"/>
          </a:solidFill>
          <a:ln w="19050">
            <a:solidFill>
              <a:srgbClr val="ff7043"/>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3" name="Shape 10"/>
          <p:cNvSpPr/>
          <p:nvPr/>
        </p:nvSpPr>
        <p:spPr>
          <a:xfrm>
            <a:off x="4663440" y="804600"/>
            <a:ext cx="4205880" cy="63720"/>
          </a:xfrm>
          <a:prstGeom prst="rect">
            <a:avLst/>
          </a:prstGeom>
          <a:solidFill>
            <a:srgbClr val="ff7043"/>
          </a:solidFill>
          <a:ln w="12700">
            <a:solidFill>
              <a:srgbClr val="ff7043"/>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54" name="Shape 11"/>
          <p:cNvSpPr/>
          <p:nvPr/>
        </p:nvSpPr>
        <p:spPr>
          <a:xfrm>
            <a:off x="4800600" y="941760"/>
            <a:ext cx="402120" cy="402120"/>
          </a:xfrm>
          <a:prstGeom prst="ellipse">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Text 12"/>
          <p:cNvSpPr/>
          <p:nvPr/>
        </p:nvSpPr>
        <p:spPr>
          <a:xfrm>
            <a:off x="4800600" y="941760"/>
            <a:ext cx="402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131a28"/>
                </a:solidFill>
                <a:latin typeface="Calibri"/>
              </a:rPr>
              <a:t>2</a:t>
            </a:r>
            <a:endParaRPr b="0" lang="en-US" sz="1600" spc="-1" strike="noStrike">
              <a:solidFill>
                <a:srgbClr val="000000"/>
              </a:solidFill>
              <a:latin typeface="Arial"/>
            </a:endParaRPr>
          </a:p>
        </p:txBody>
      </p:sp>
      <p:sp>
        <p:nvSpPr>
          <p:cNvPr id="156" name="Text 13"/>
          <p:cNvSpPr/>
          <p:nvPr/>
        </p:nvSpPr>
        <p:spPr>
          <a:xfrm>
            <a:off x="5303520" y="969120"/>
            <a:ext cx="34560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31a28"/>
                </a:solidFill>
                <a:latin typeface="Calibri"/>
              </a:rPr>
              <a:t>Multivariate Outliers</a:t>
            </a:r>
            <a:endParaRPr b="0" lang="en-US" sz="1300" spc="-1" strike="noStrike">
              <a:solidFill>
                <a:srgbClr val="000000"/>
              </a:solidFill>
              <a:latin typeface="Arial"/>
            </a:endParaRPr>
          </a:p>
        </p:txBody>
      </p:sp>
      <p:sp>
        <p:nvSpPr>
          <p:cNvPr id="157" name="Text 14"/>
          <p:cNvSpPr/>
          <p:nvPr/>
        </p:nvSpPr>
        <p:spPr>
          <a:xfrm>
            <a:off x="4800600" y="1426320"/>
            <a:ext cx="3949920" cy="1023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445566"/>
                </a:solidFill>
                <a:latin typeface="Calibri"/>
              </a:rPr>
              <a:t>Unusual COMBINATION of values across multiple variables. Example: extremely tall AND unusually heavy — even if each value alone seems reasonable.</a:t>
            </a:r>
            <a:endParaRPr b="0" lang="en-US" sz="1150" spc="-1" strike="noStrike">
              <a:solidFill>
                <a:srgbClr val="000000"/>
              </a:solidFill>
              <a:latin typeface="Arial"/>
            </a:endParaRPr>
          </a:p>
        </p:txBody>
      </p:sp>
      <p:sp>
        <p:nvSpPr>
          <p:cNvPr id="158" name="Shape 15"/>
          <p:cNvSpPr/>
          <p:nvPr/>
        </p:nvSpPr>
        <p:spPr>
          <a:xfrm>
            <a:off x="274320" y="2688480"/>
            <a:ext cx="4205880" cy="1718640"/>
          </a:xfrm>
          <a:prstGeom prst="rect">
            <a:avLst/>
          </a:prstGeom>
          <a:solidFill>
            <a:srgbClr val="ffffff"/>
          </a:solidFill>
          <a:ln w="19050">
            <a:solidFill>
              <a:srgbClr val="7e57c2"/>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9" name="Shape 16"/>
          <p:cNvSpPr/>
          <p:nvPr/>
        </p:nvSpPr>
        <p:spPr>
          <a:xfrm>
            <a:off x="274320" y="2688480"/>
            <a:ext cx="4205880" cy="63720"/>
          </a:xfrm>
          <a:prstGeom prst="rect">
            <a:avLst/>
          </a:prstGeom>
          <a:solidFill>
            <a:srgbClr val="7e57c2"/>
          </a:solidFill>
          <a:ln w="12700">
            <a:solidFill>
              <a:srgbClr val="7e57c2"/>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60" name="Shape 17"/>
          <p:cNvSpPr/>
          <p:nvPr/>
        </p:nvSpPr>
        <p:spPr>
          <a:xfrm>
            <a:off x="411480" y="2825640"/>
            <a:ext cx="402120" cy="402120"/>
          </a:xfrm>
          <a:prstGeom prst="ellipse">
            <a:avLst/>
          </a:prstGeom>
          <a:solidFill>
            <a:srgbClr val="7e57c2"/>
          </a:solidFill>
          <a:ln w="12700">
            <a:solidFill>
              <a:srgbClr val="7e57c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Text 18"/>
          <p:cNvSpPr/>
          <p:nvPr/>
        </p:nvSpPr>
        <p:spPr>
          <a:xfrm>
            <a:off x="411480" y="2825640"/>
            <a:ext cx="402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131a28"/>
                </a:solidFill>
                <a:latin typeface="Calibri"/>
              </a:rPr>
              <a:t>3</a:t>
            </a:r>
            <a:endParaRPr b="0" lang="en-US" sz="1600" spc="-1" strike="noStrike">
              <a:solidFill>
                <a:srgbClr val="000000"/>
              </a:solidFill>
              <a:latin typeface="Arial"/>
            </a:endParaRPr>
          </a:p>
        </p:txBody>
      </p:sp>
      <p:sp>
        <p:nvSpPr>
          <p:cNvPr id="162" name="Text 19"/>
          <p:cNvSpPr/>
          <p:nvPr/>
        </p:nvSpPr>
        <p:spPr>
          <a:xfrm>
            <a:off x="914400" y="2853000"/>
            <a:ext cx="34560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31a28"/>
                </a:solidFill>
                <a:latin typeface="Calibri"/>
              </a:rPr>
              <a:t>Point (Global) Outliers</a:t>
            </a:r>
            <a:endParaRPr b="0" lang="en-US" sz="1300" spc="-1" strike="noStrike">
              <a:solidFill>
                <a:srgbClr val="000000"/>
              </a:solidFill>
              <a:latin typeface="Arial"/>
            </a:endParaRPr>
          </a:p>
        </p:txBody>
      </p:sp>
      <p:sp>
        <p:nvSpPr>
          <p:cNvPr id="163" name="Text 20"/>
          <p:cNvSpPr/>
          <p:nvPr/>
        </p:nvSpPr>
        <p:spPr>
          <a:xfrm>
            <a:off x="411480" y="3310200"/>
            <a:ext cx="3949920" cy="1023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445566"/>
                </a:solidFill>
                <a:latin typeface="Calibri"/>
              </a:rPr>
              <a:t>Individual data points far from the majority of observations. Simplest type. Example: extremely high household energy consumption compared to neighbors.</a:t>
            </a:r>
            <a:endParaRPr b="0" lang="en-US" sz="1150" spc="-1" strike="noStrike">
              <a:solidFill>
                <a:srgbClr val="000000"/>
              </a:solidFill>
              <a:latin typeface="Arial"/>
            </a:endParaRPr>
          </a:p>
        </p:txBody>
      </p:sp>
      <p:sp>
        <p:nvSpPr>
          <p:cNvPr id="164" name="Shape 21"/>
          <p:cNvSpPr/>
          <p:nvPr/>
        </p:nvSpPr>
        <p:spPr>
          <a:xfrm>
            <a:off x="4663440" y="2688480"/>
            <a:ext cx="4205880" cy="1718640"/>
          </a:xfrm>
          <a:prstGeom prst="rect">
            <a:avLst/>
          </a:prstGeom>
          <a:solidFill>
            <a:srgbClr val="ffffff"/>
          </a:solidFill>
          <a:ln w="19050">
            <a:solidFill>
              <a:srgbClr val="00acc1"/>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5" name="Shape 22"/>
          <p:cNvSpPr/>
          <p:nvPr/>
        </p:nvSpPr>
        <p:spPr>
          <a:xfrm>
            <a:off x="4663440" y="2688480"/>
            <a:ext cx="4205880" cy="63720"/>
          </a:xfrm>
          <a:prstGeom prst="rect">
            <a:avLst/>
          </a:prstGeom>
          <a:solidFill>
            <a:srgbClr val="00acc1"/>
          </a:solidFill>
          <a:ln w="12700">
            <a:solidFill>
              <a:srgbClr val="00acc1"/>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66" name="Shape 23"/>
          <p:cNvSpPr/>
          <p:nvPr/>
        </p:nvSpPr>
        <p:spPr>
          <a:xfrm>
            <a:off x="4800600" y="2825640"/>
            <a:ext cx="402120" cy="40212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7" name="Text 24"/>
          <p:cNvSpPr/>
          <p:nvPr/>
        </p:nvSpPr>
        <p:spPr>
          <a:xfrm>
            <a:off x="4800600" y="2825640"/>
            <a:ext cx="402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131a28"/>
                </a:solidFill>
                <a:latin typeface="Calibri"/>
              </a:rPr>
              <a:t>4</a:t>
            </a:r>
            <a:endParaRPr b="0" lang="en-US" sz="1600" spc="-1" strike="noStrike">
              <a:solidFill>
                <a:srgbClr val="000000"/>
              </a:solidFill>
              <a:latin typeface="Arial"/>
            </a:endParaRPr>
          </a:p>
        </p:txBody>
      </p:sp>
      <p:sp>
        <p:nvSpPr>
          <p:cNvPr id="168" name="Text 25"/>
          <p:cNvSpPr/>
          <p:nvPr/>
        </p:nvSpPr>
        <p:spPr>
          <a:xfrm>
            <a:off x="5303520" y="2853000"/>
            <a:ext cx="34560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31a28"/>
                </a:solidFill>
                <a:latin typeface="Calibri"/>
              </a:rPr>
              <a:t>Contextual (Conditional) Outliers</a:t>
            </a:r>
            <a:endParaRPr b="0" lang="en-US" sz="1300" spc="-1" strike="noStrike">
              <a:solidFill>
                <a:srgbClr val="000000"/>
              </a:solidFill>
              <a:latin typeface="Arial"/>
            </a:endParaRPr>
          </a:p>
        </p:txBody>
      </p:sp>
      <p:sp>
        <p:nvSpPr>
          <p:cNvPr id="169" name="Text 26"/>
          <p:cNvSpPr/>
          <p:nvPr/>
        </p:nvSpPr>
        <p:spPr>
          <a:xfrm>
            <a:off x="4800600" y="3310200"/>
            <a:ext cx="3949920" cy="1023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445566"/>
                </a:solidFill>
                <a:latin typeface="Calibri"/>
              </a:rPr>
              <a:t>Abnormal only in specific conditions. Example: very low temperature in June is an outlier — but the same value in December is completely normal.</a:t>
            </a:r>
            <a:endParaRPr b="0" lang="en-US" sz="1150" spc="-1" strike="noStrike">
              <a:solidFill>
                <a:srgbClr val="000000"/>
              </a:solidFill>
              <a:latin typeface="Arial"/>
            </a:endParaRPr>
          </a:p>
        </p:txBody>
      </p:sp>
      <p:sp>
        <p:nvSpPr>
          <p:cNvPr id="170" name="Shape 27"/>
          <p:cNvSpPr/>
          <p:nvPr/>
        </p:nvSpPr>
        <p:spPr>
          <a:xfrm>
            <a:off x="2468880" y="4572000"/>
            <a:ext cx="4205880" cy="1718640"/>
          </a:xfrm>
          <a:prstGeom prst="rect">
            <a:avLst/>
          </a:prstGeom>
          <a:solidFill>
            <a:srgbClr val="ffffff"/>
          </a:solidFill>
          <a:ln w="19050">
            <a:solidFill>
              <a:srgbClr val="ffb300"/>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Shape 28"/>
          <p:cNvSpPr/>
          <p:nvPr/>
        </p:nvSpPr>
        <p:spPr>
          <a:xfrm>
            <a:off x="2468880" y="4572000"/>
            <a:ext cx="4205880" cy="63720"/>
          </a:xfrm>
          <a:prstGeom prst="rect">
            <a:avLst/>
          </a:prstGeom>
          <a:solidFill>
            <a:srgbClr val="ffb300"/>
          </a:solidFill>
          <a:ln w="12700">
            <a:solidFill>
              <a:srgbClr val="ffb300"/>
            </a:solidFill>
            <a:round/>
          </a:ln>
        </p:spPr>
        <p:style>
          <a:lnRef idx="0"/>
          <a:fillRef idx="0"/>
          <a:effectRef idx="0"/>
          <a:fontRef idx="minor"/>
        </p:style>
        <p:txBody>
          <a:bodyPr lIns="90000" rIns="90000" tIns="19080" bIns="19080" anchor="t">
            <a:noAutofit/>
          </a:bodyPr>
          <a:p>
            <a:endParaRPr b="0" lang="en-US" sz="1800" spc="-1" strike="noStrike">
              <a:solidFill>
                <a:srgbClr val="000000"/>
              </a:solidFill>
              <a:latin typeface="Arial"/>
            </a:endParaRPr>
          </a:p>
        </p:txBody>
      </p:sp>
      <p:sp>
        <p:nvSpPr>
          <p:cNvPr id="172" name="Shape 29"/>
          <p:cNvSpPr/>
          <p:nvPr/>
        </p:nvSpPr>
        <p:spPr>
          <a:xfrm>
            <a:off x="2606040" y="4709160"/>
            <a:ext cx="402120" cy="402120"/>
          </a:xfrm>
          <a:prstGeom prst="ellipse">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3" name="Text 30"/>
          <p:cNvSpPr/>
          <p:nvPr/>
        </p:nvSpPr>
        <p:spPr>
          <a:xfrm>
            <a:off x="2606040" y="4709160"/>
            <a:ext cx="402120" cy="402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131a28"/>
                </a:solidFill>
                <a:latin typeface="Calibri"/>
              </a:rPr>
              <a:t>5</a:t>
            </a:r>
            <a:endParaRPr b="0" lang="en-US" sz="1600" spc="-1" strike="noStrike">
              <a:solidFill>
                <a:srgbClr val="000000"/>
              </a:solidFill>
              <a:latin typeface="Arial"/>
            </a:endParaRPr>
          </a:p>
        </p:txBody>
      </p:sp>
      <p:sp>
        <p:nvSpPr>
          <p:cNvPr id="174" name="Text 31"/>
          <p:cNvSpPr/>
          <p:nvPr/>
        </p:nvSpPr>
        <p:spPr>
          <a:xfrm>
            <a:off x="3108960" y="4736520"/>
            <a:ext cx="34560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31a28"/>
                </a:solidFill>
                <a:latin typeface="Calibri"/>
              </a:rPr>
              <a:t>Collective Outliers</a:t>
            </a:r>
            <a:endParaRPr b="0" lang="en-US" sz="1300" spc="-1" strike="noStrike">
              <a:solidFill>
                <a:srgbClr val="000000"/>
              </a:solidFill>
              <a:latin typeface="Arial"/>
            </a:endParaRPr>
          </a:p>
        </p:txBody>
      </p:sp>
      <p:sp>
        <p:nvSpPr>
          <p:cNvPr id="175" name="Text 32"/>
          <p:cNvSpPr/>
          <p:nvPr/>
        </p:nvSpPr>
        <p:spPr>
          <a:xfrm>
            <a:off x="2606040" y="5193720"/>
            <a:ext cx="3949920" cy="1023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445566"/>
                </a:solidFill>
                <a:latin typeface="Calibri"/>
              </a:rPr>
              <a:t>A GROUP of points that collectively deviate, even if individual points seem normal. Often indicates a shift in patterns — like unusual network activity sequences.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8"/>
        </a:solidFill>
      </p:bgPr>
    </p:bg>
    <p:spTree>
      <p:nvGrpSpPr>
        <p:cNvPr id="1" name=""/>
        <p:cNvGrpSpPr/>
        <p:nvPr/>
      </p:nvGrpSpPr>
      <p:grpSpPr>
        <a:xfrm>
          <a:off x="0" y="0"/>
          <a:ext cx="0" cy="0"/>
          <a:chOff x="0" y="0"/>
          <a:chExt cx="0" cy="0"/>
        </a:xfrm>
      </p:grpSpPr>
      <p:sp>
        <p:nvSpPr>
          <p:cNvPr id="176" name="Shape 0"/>
          <p:cNvSpPr/>
          <p:nvPr/>
        </p:nvSpPr>
        <p:spPr>
          <a:xfrm>
            <a:off x="0" y="0"/>
            <a:ext cx="9143640" cy="63720"/>
          </a:xfrm>
          <a:prstGeom prst="rect">
            <a:avLst/>
          </a:prstGeom>
          <a:solidFill>
            <a:srgbClr val="00acc1"/>
          </a:solidFill>
          <a:ln w="12700">
            <a:solidFill>
              <a:srgbClr val="00acc1"/>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77" name="Text 1"/>
          <p:cNvSpPr/>
          <p:nvPr/>
        </p:nvSpPr>
        <p:spPr>
          <a:xfrm>
            <a:off x="457200" y="164520"/>
            <a:ext cx="82292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700" spc="-1" strike="noStrike">
                <a:solidFill>
                  <a:srgbClr val="ffffff"/>
                </a:solidFill>
                <a:latin typeface="Calibri"/>
                <a:ea typeface="Calibri"/>
              </a:rPr>
              <a:t>Detection Method 1: Visualization Techniques</a:t>
            </a:r>
            <a:endParaRPr b="0" lang="en-US" sz="2700" spc="-1" strike="noStrike">
              <a:solidFill>
                <a:srgbClr val="ffffff"/>
              </a:solidFill>
              <a:latin typeface="Arial"/>
            </a:endParaRPr>
          </a:p>
        </p:txBody>
      </p:sp>
      <p:sp>
        <p:nvSpPr>
          <p:cNvPr id="178" name="Text 2"/>
          <p:cNvSpPr/>
          <p:nvPr/>
        </p:nvSpPr>
        <p:spPr>
          <a:xfrm>
            <a:off x="457200" y="658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pc="-1" strike="noStrike">
                <a:solidFill>
                  <a:srgbClr val="90a4ae"/>
                </a:solidFill>
                <a:latin typeface="Calibri"/>
              </a:rPr>
              <a:t>Intuitive methods for spotting extreme values by seeing the data distribution</a:t>
            </a:r>
            <a:endParaRPr b="0" lang="en-US" sz="1300" spc="-1" strike="noStrike">
              <a:solidFill>
                <a:srgbClr val="ffffff"/>
              </a:solidFill>
              <a:latin typeface="Arial"/>
            </a:endParaRPr>
          </a:p>
        </p:txBody>
      </p:sp>
      <p:sp>
        <p:nvSpPr>
          <p:cNvPr id="179" name="Shape 3"/>
          <p:cNvSpPr/>
          <p:nvPr/>
        </p:nvSpPr>
        <p:spPr>
          <a:xfrm>
            <a:off x="274320" y="887040"/>
            <a:ext cx="4068720" cy="4004640"/>
          </a:xfrm>
          <a:prstGeom prst="rect">
            <a:avLst/>
          </a:prstGeom>
          <a:solidFill>
            <a:srgbClr val="22304a"/>
          </a:solidFill>
          <a:ln w="1905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Shape 4"/>
          <p:cNvSpPr/>
          <p:nvPr/>
        </p:nvSpPr>
        <p:spPr>
          <a:xfrm>
            <a:off x="274320" y="887040"/>
            <a:ext cx="4068720" cy="475200"/>
          </a:xfrm>
          <a:prstGeom prst="rect">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Text 5"/>
          <p:cNvSpPr/>
          <p:nvPr/>
        </p:nvSpPr>
        <p:spPr>
          <a:xfrm>
            <a:off x="384120" y="887040"/>
            <a:ext cx="38491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31a28"/>
                </a:solidFill>
                <a:latin typeface="Calibri"/>
              </a:rPr>
              <a:t>A. Box Plot</a:t>
            </a:r>
            <a:endParaRPr b="0" lang="en-US" sz="1400" spc="-1" strike="noStrike">
              <a:solidFill>
                <a:srgbClr val="ffffff"/>
              </a:solidFill>
              <a:latin typeface="Arial"/>
            </a:endParaRPr>
          </a:p>
        </p:txBody>
      </p:sp>
      <p:sp>
        <p:nvSpPr>
          <p:cNvPr id="182" name="Shape 6"/>
          <p:cNvSpPr/>
          <p:nvPr/>
        </p:nvSpPr>
        <p:spPr>
          <a:xfrm>
            <a:off x="1170360" y="2166840"/>
            <a:ext cx="460800" cy="360"/>
          </a:xfrm>
          <a:prstGeom prst="line">
            <a:avLst/>
          </a:prstGeom>
          <a:ln w="19050">
            <a:solidFill>
              <a:srgbClr val="00acc1"/>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83" name="Shape 7"/>
          <p:cNvSpPr/>
          <p:nvPr/>
        </p:nvSpPr>
        <p:spPr>
          <a:xfrm>
            <a:off x="1631160" y="1691640"/>
            <a:ext cx="360" cy="950760"/>
          </a:xfrm>
          <a:prstGeom prst="line">
            <a:avLst/>
          </a:prstGeom>
          <a:ln w="19050">
            <a:solidFill>
              <a:srgbClr val="00acc1"/>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4" name="Shape 8"/>
          <p:cNvSpPr/>
          <p:nvPr/>
        </p:nvSpPr>
        <p:spPr>
          <a:xfrm>
            <a:off x="2757600" y="1691640"/>
            <a:ext cx="360" cy="950760"/>
          </a:xfrm>
          <a:prstGeom prst="line">
            <a:avLst/>
          </a:prstGeom>
          <a:ln w="19050">
            <a:solidFill>
              <a:srgbClr val="00acc1"/>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5" name="Shape 9"/>
          <p:cNvSpPr/>
          <p:nvPr/>
        </p:nvSpPr>
        <p:spPr>
          <a:xfrm>
            <a:off x="2757600" y="2166840"/>
            <a:ext cx="460800" cy="360"/>
          </a:xfrm>
          <a:prstGeom prst="line">
            <a:avLst/>
          </a:prstGeom>
          <a:ln w="19050">
            <a:solidFill>
              <a:srgbClr val="00acc1"/>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86" name="Shape 10"/>
          <p:cNvSpPr/>
          <p:nvPr/>
        </p:nvSpPr>
        <p:spPr>
          <a:xfrm>
            <a:off x="1631160" y="1691640"/>
            <a:ext cx="1126080" cy="950760"/>
          </a:xfrm>
          <a:prstGeom prst="rect">
            <a:avLst/>
          </a:prstGeom>
          <a:solidFill>
            <a:srgbClr val="00acc1">
              <a:alpha val="25000"/>
            </a:srgbClr>
          </a:solidFill>
          <a:ln w="1905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7" name="Shape 11"/>
          <p:cNvSpPr/>
          <p:nvPr/>
        </p:nvSpPr>
        <p:spPr>
          <a:xfrm>
            <a:off x="2143080" y="1691640"/>
            <a:ext cx="360" cy="950760"/>
          </a:xfrm>
          <a:prstGeom prst="line">
            <a:avLst/>
          </a:prstGeom>
          <a:ln w="25400">
            <a:solidFill>
              <a:srgbClr val="ffb30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8" name="Shape 12"/>
          <p:cNvSpPr/>
          <p:nvPr/>
        </p:nvSpPr>
        <p:spPr>
          <a:xfrm>
            <a:off x="965520" y="2075760"/>
            <a:ext cx="182520" cy="18252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9" name="Shape 13"/>
          <p:cNvSpPr/>
          <p:nvPr/>
        </p:nvSpPr>
        <p:spPr>
          <a:xfrm>
            <a:off x="3346560" y="2075760"/>
            <a:ext cx="182520" cy="18252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Text 14"/>
          <p:cNvSpPr/>
          <p:nvPr/>
        </p:nvSpPr>
        <p:spPr>
          <a:xfrm>
            <a:off x="1585440" y="2797920"/>
            <a:ext cx="456840" cy="219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00acc1"/>
                </a:solidFill>
                <a:latin typeface="Calibri"/>
              </a:rPr>
              <a:t>Q1</a:t>
            </a:r>
            <a:endParaRPr b="0" lang="en-US" sz="900" spc="-1" strike="noStrike">
              <a:solidFill>
                <a:srgbClr val="ffffff"/>
              </a:solidFill>
              <a:latin typeface="Arial"/>
            </a:endParaRPr>
          </a:p>
        </p:txBody>
      </p:sp>
      <p:sp>
        <p:nvSpPr>
          <p:cNvPr id="191" name="Text 15"/>
          <p:cNvSpPr/>
          <p:nvPr/>
        </p:nvSpPr>
        <p:spPr>
          <a:xfrm>
            <a:off x="2666520" y="2797920"/>
            <a:ext cx="456840" cy="219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00acc1"/>
                </a:solidFill>
                <a:latin typeface="Calibri"/>
              </a:rPr>
              <a:t>Q3</a:t>
            </a:r>
            <a:endParaRPr b="0" lang="en-US" sz="900" spc="-1" strike="noStrike">
              <a:solidFill>
                <a:srgbClr val="ffffff"/>
              </a:solidFill>
              <a:latin typeface="Arial"/>
            </a:endParaRPr>
          </a:p>
        </p:txBody>
      </p:sp>
      <p:sp>
        <p:nvSpPr>
          <p:cNvPr id="192" name="Text 16"/>
          <p:cNvSpPr/>
          <p:nvPr/>
        </p:nvSpPr>
        <p:spPr>
          <a:xfrm>
            <a:off x="1887480" y="2797920"/>
            <a:ext cx="77688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rgbClr val="ffb300"/>
                </a:solidFill>
                <a:latin typeface="Calibri"/>
              </a:rPr>
              <a:t>Median</a:t>
            </a:r>
            <a:endParaRPr b="0" lang="en-US" sz="900" spc="-1" strike="noStrike">
              <a:solidFill>
                <a:srgbClr val="ffffff"/>
              </a:solidFill>
              <a:latin typeface="Arial"/>
            </a:endParaRPr>
          </a:p>
        </p:txBody>
      </p:sp>
      <p:sp>
        <p:nvSpPr>
          <p:cNvPr id="193" name="Text 17"/>
          <p:cNvSpPr/>
          <p:nvPr/>
        </p:nvSpPr>
        <p:spPr>
          <a:xfrm>
            <a:off x="896040" y="1874520"/>
            <a:ext cx="639720" cy="219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e53935"/>
                </a:solidFill>
                <a:latin typeface="Calibri"/>
              </a:rPr>
              <a:t>Outlier</a:t>
            </a:r>
            <a:endParaRPr b="0" lang="en-US" sz="900" spc="-1" strike="noStrike">
              <a:solidFill>
                <a:srgbClr val="ffffff"/>
              </a:solidFill>
              <a:latin typeface="Arial"/>
            </a:endParaRPr>
          </a:p>
        </p:txBody>
      </p:sp>
      <p:sp>
        <p:nvSpPr>
          <p:cNvPr id="194" name="Text 18"/>
          <p:cNvSpPr/>
          <p:nvPr/>
        </p:nvSpPr>
        <p:spPr>
          <a:xfrm>
            <a:off x="3269880" y="1874520"/>
            <a:ext cx="639720" cy="219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e53935"/>
                </a:solidFill>
                <a:latin typeface="Calibri"/>
              </a:rPr>
              <a:t>Outlier</a:t>
            </a:r>
            <a:endParaRPr b="0" lang="en-US" sz="900" spc="-1" strike="noStrike">
              <a:solidFill>
                <a:srgbClr val="ffffff"/>
              </a:solidFill>
              <a:latin typeface="Arial"/>
            </a:endParaRPr>
          </a:p>
        </p:txBody>
      </p:sp>
      <p:sp>
        <p:nvSpPr>
          <p:cNvPr id="195" name="Text 19"/>
          <p:cNvSpPr/>
          <p:nvPr/>
        </p:nvSpPr>
        <p:spPr>
          <a:xfrm>
            <a:off x="1938600" y="1280160"/>
            <a:ext cx="731160" cy="23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00acc1"/>
                </a:solidFill>
                <a:latin typeface="Calibri"/>
              </a:rPr>
              <a:t>IQR</a:t>
            </a:r>
            <a:endParaRPr b="0" lang="en-US" sz="900" spc="-1" strike="noStrike">
              <a:solidFill>
                <a:srgbClr val="ffffff"/>
              </a:solidFill>
              <a:latin typeface="Arial"/>
            </a:endParaRPr>
          </a:p>
        </p:txBody>
      </p:sp>
      <p:sp>
        <p:nvSpPr>
          <p:cNvPr id="196" name="Shape 20"/>
          <p:cNvSpPr/>
          <p:nvPr/>
        </p:nvSpPr>
        <p:spPr>
          <a:xfrm>
            <a:off x="1631160" y="1426320"/>
            <a:ext cx="1126080" cy="91080"/>
          </a:xfrm>
          <a:prstGeom prst="rect">
            <a:avLst/>
          </a:prstGeom>
          <a:solidFill>
            <a:srgbClr val="00acc1">
              <a:alpha val="50000"/>
            </a:srgbClr>
          </a:solidFill>
          <a:ln w="762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Text 21"/>
          <p:cNvSpPr/>
          <p:nvPr/>
        </p:nvSpPr>
        <p:spPr>
          <a:xfrm>
            <a:off x="384120" y="3163680"/>
            <a:ext cx="3748680" cy="1663920"/>
          </a:xfrm>
          <a:prstGeom prst="rect">
            <a:avLst/>
          </a:prstGeom>
          <a:noFill/>
          <a:ln w="0">
            <a:noFill/>
          </a:ln>
        </p:spPr>
        <p:style>
          <a:lnRef idx="0"/>
          <a:fillRef idx="0"/>
          <a:effectRef idx="0"/>
          <a:fontRef idx="minor"/>
        </p:style>
        <p:txBody>
          <a:bodyPr lIns="90000" rIns="90000" tIns="45000" bIns="45000" anchor="ctr">
            <a:noAutofit/>
          </a:bodyPr>
          <a:p>
            <a:r>
              <a:rPr b="1" lang="en-US" sz="1200" spc="-1" strike="noStrike">
                <a:solidFill>
                  <a:srgbClr val="00acc1"/>
                </a:solidFill>
                <a:latin typeface="Calibri"/>
                <a:ea typeface="Calibri"/>
              </a:rPr>
              <a:t>How it works:</a:t>
            </a:r>
            <a:endParaRPr b="0" lang="en-US" sz="1200" spc="-1" strike="noStrike">
              <a:solidFill>
                <a:srgbClr val="ffffff"/>
              </a:solidFill>
              <a:latin typeface="Arial"/>
            </a:endParaRPr>
          </a:p>
          <a:p>
            <a:r>
              <a:rPr b="0" lang="en-US" sz="1200" spc="-1" strike="noStrike">
                <a:solidFill>
                  <a:srgbClr val="90a4ae"/>
                </a:solidFill>
                <a:latin typeface="Calibri"/>
                <a:ea typeface="Calibri"/>
              </a:rPr>
              <a:t>Any data points lying beyond the whiskers — defined as </a:t>
            </a:r>
            <a:r>
              <a:rPr b="1" lang="en-US" sz="1200" spc="-1" strike="noStrike">
                <a:solidFill>
                  <a:srgbClr val="ffb300"/>
                </a:solidFill>
                <a:latin typeface="Calibri"/>
                <a:ea typeface="Calibri"/>
              </a:rPr>
              <a:t>1.5 × IQR</a:t>
            </a:r>
            <a:r>
              <a:rPr b="0" lang="en-US" sz="1200" spc="-1" strike="noStrike">
                <a:solidFill>
                  <a:srgbClr val="90a4ae"/>
                </a:solidFill>
                <a:latin typeface="Calibri"/>
                <a:ea typeface="Calibri"/>
              </a:rPr>
              <a:t> from Q1 or Q3 — are considered potential outliers.</a:t>
            </a:r>
            <a:endParaRPr b="0" lang="en-US" sz="1200" spc="-1" strike="noStrike">
              <a:solidFill>
                <a:srgbClr val="ffffff"/>
              </a:solidFill>
              <a:latin typeface="Arial"/>
            </a:endParaRPr>
          </a:p>
          <a:p>
            <a:endParaRPr b="0" lang="en-US" sz="1200" spc="-1" strike="noStrike">
              <a:solidFill>
                <a:srgbClr val="ffffff"/>
              </a:solidFill>
              <a:latin typeface="Arial"/>
            </a:endParaRPr>
          </a:p>
          <a:p>
            <a:pPr defTabSz="914400">
              <a:lnSpc>
                <a:spcPct val="100000"/>
              </a:lnSpc>
              <a:tabLst>
                <a:tab algn="l" pos="0"/>
              </a:tabLst>
            </a:pPr>
            <a:r>
              <a:rPr b="1" lang="en-US" sz="1200" spc="-1" strike="noStrike">
                <a:solidFill>
                  <a:srgbClr val="00acc1"/>
                </a:solidFill>
                <a:latin typeface="Calibri"/>
                <a:ea typeface="Calibri"/>
              </a:rPr>
              <a:t>Best for: </a:t>
            </a:r>
            <a:r>
              <a:rPr b="0" lang="en-US" sz="1200" spc="-1" strike="noStrike">
                <a:solidFill>
                  <a:srgbClr val="90a4ae"/>
                </a:solidFill>
                <a:latin typeface="Calibri"/>
                <a:ea typeface="Calibri"/>
              </a:rPr>
              <a:t>Quickly identifying extreme values in a single variable.</a:t>
            </a:r>
            <a:endParaRPr b="0" lang="en-US" sz="1200" spc="-1" strike="noStrike">
              <a:solidFill>
                <a:srgbClr val="ffffff"/>
              </a:solidFill>
              <a:latin typeface="Arial"/>
            </a:endParaRPr>
          </a:p>
        </p:txBody>
      </p:sp>
      <p:sp>
        <p:nvSpPr>
          <p:cNvPr id="198" name="Shape 22"/>
          <p:cNvSpPr/>
          <p:nvPr/>
        </p:nvSpPr>
        <p:spPr>
          <a:xfrm>
            <a:off x="4800600" y="887040"/>
            <a:ext cx="4068720" cy="4004640"/>
          </a:xfrm>
          <a:prstGeom prst="rect">
            <a:avLst/>
          </a:prstGeom>
          <a:solidFill>
            <a:srgbClr val="22304a"/>
          </a:solidFill>
          <a:ln w="1905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9" name="Shape 23"/>
          <p:cNvSpPr/>
          <p:nvPr/>
        </p:nvSpPr>
        <p:spPr>
          <a:xfrm>
            <a:off x="4800600" y="887040"/>
            <a:ext cx="4068720" cy="475200"/>
          </a:xfrm>
          <a:prstGeom prst="rect">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Text 24"/>
          <p:cNvSpPr/>
          <p:nvPr/>
        </p:nvSpPr>
        <p:spPr>
          <a:xfrm>
            <a:off x="4910400" y="887040"/>
            <a:ext cx="38491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ffffff"/>
                </a:solidFill>
                <a:latin typeface="Calibri"/>
              </a:rPr>
              <a:t>B. Scatter Plot</a:t>
            </a:r>
            <a:endParaRPr b="0" lang="en-US" sz="1400" spc="-1" strike="noStrike">
              <a:solidFill>
                <a:srgbClr val="ffffff"/>
              </a:solidFill>
              <a:latin typeface="Arial"/>
            </a:endParaRPr>
          </a:p>
        </p:txBody>
      </p:sp>
      <p:sp>
        <p:nvSpPr>
          <p:cNvPr id="201" name="Shape 25"/>
          <p:cNvSpPr/>
          <p:nvPr/>
        </p:nvSpPr>
        <p:spPr>
          <a:xfrm>
            <a:off x="5120640" y="1481040"/>
            <a:ext cx="360" cy="2011680"/>
          </a:xfrm>
          <a:prstGeom prst="line">
            <a:avLst/>
          </a:prstGeom>
          <a:ln w="12700">
            <a:solidFill>
              <a:srgbClr val="90a4ae"/>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02" name="Shape 26"/>
          <p:cNvSpPr/>
          <p:nvPr/>
        </p:nvSpPr>
        <p:spPr>
          <a:xfrm>
            <a:off x="5120640" y="3492720"/>
            <a:ext cx="3520440" cy="360"/>
          </a:xfrm>
          <a:prstGeom prst="line">
            <a:avLst/>
          </a:prstGeom>
          <a:ln w="12700">
            <a:solidFill>
              <a:srgbClr val="90a4ae"/>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03" name="Text 27"/>
          <p:cNvSpPr/>
          <p:nvPr/>
        </p:nvSpPr>
        <p:spPr>
          <a:xfrm>
            <a:off x="4892040" y="1444680"/>
            <a:ext cx="273960" cy="23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90a4ae"/>
                </a:solidFill>
                <a:latin typeface="Calibri"/>
              </a:rPr>
              <a:t>IQ</a:t>
            </a:r>
            <a:endParaRPr b="0" lang="en-US" sz="900" spc="-1" strike="noStrike">
              <a:solidFill>
                <a:srgbClr val="ffffff"/>
              </a:solidFill>
              <a:latin typeface="Arial"/>
            </a:endParaRPr>
          </a:p>
        </p:txBody>
      </p:sp>
      <p:sp>
        <p:nvSpPr>
          <p:cNvPr id="204" name="Text 28"/>
          <p:cNvSpPr/>
          <p:nvPr/>
        </p:nvSpPr>
        <p:spPr>
          <a:xfrm>
            <a:off x="8485560" y="3429000"/>
            <a:ext cx="6397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rgbClr val="90a4ae"/>
                </a:solidFill>
                <a:latin typeface="Calibri"/>
              </a:rPr>
              <a:t>Index</a:t>
            </a:r>
            <a:endParaRPr b="0" lang="en-US" sz="900" spc="-1" strike="noStrike">
              <a:solidFill>
                <a:srgbClr val="ffffff"/>
              </a:solidFill>
              <a:latin typeface="Arial"/>
            </a:endParaRPr>
          </a:p>
        </p:txBody>
      </p:sp>
      <p:sp>
        <p:nvSpPr>
          <p:cNvPr id="205" name="Shape 29"/>
          <p:cNvSpPr/>
          <p:nvPr/>
        </p:nvSpPr>
        <p:spPr>
          <a:xfrm>
            <a:off x="5367600" y="303588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6" name="Shape 30"/>
          <p:cNvSpPr/>
          <p:nvPr/>
        </p:nvSpPr>
        <p:spPr>
          <a:xfrm>
            <a:off x="5687640" y="287136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7" name="Shape 31"/>
          <p:cNvSpPr/>
          <p:nvPr/>
        </p:nvSpPr>
        <p:spPr>
          <a:xfrm>
            <a:off x="6007680" y="294444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Shape 32"/>
          <p:cNvSpPr/>
          <p:nvPr/>
        </p:nvSpPr>
        <p:spPr>
          <a:xfrm>
            <a:off x="6327720" y="283464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9" name="Shape 33"/>
          <p:cNvSpPr/>
          <p:nvPr/>
        </p:nvSpPr>
        <p:spPr>
          <a:xfrm>
            <a:off x="6647760" y="292608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Shape 34"/>
          <p:cNvSpPr/>
          <p:nvPr/>
        </p:nvSpPr>
        <p:spPr>
          <a:xfrm>
            <a:off x="6967800" y="277992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Shape 35"/>
          <p:cNvSpPr/>
          <p:nvPr/>
        </p:nvSpPr>
        <p:spPr>
          <a:xfrm>
            <a:off x="7287840" y="287136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Shape 36"/>
          <p:cNvSpPr/>
          <p:nvPr/>
        </p:nvSpPr>
        <p:spPr>
          <a:xfrm>
            <a:off x="7607880" y="281628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Shape 37"/>
          <p:cNvSpPr/>
          <p:nvPr/>
        </p:nvSpPr>
        <p:spPr>
          <a:xfrm>
            <a:off x="7927920" y="289872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Shape 38"/>
          <p:cNvSpPr/>
          <p:nvPr/>
        </p:nvSpPr>
        <p:spPr>
          <a:xfrm>
            <a:off x="8247960" y="283464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Shape 39"/>
          <p:cNvSpPr/>
          <p:nvPr/>
        </p:nvSpPr>
        <p:spPr>
          <a:xfrm>
            <a:off x="5312520" y="1719000"/>
            <a:ext cx="255600" cy="25560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Shape 40"/>
          <p:cNvSpPr/>
          <p:nvPr/>
        </p:nvSpPr>
        <p:spPr>
          <a:xfrm>
            <a:off x="8192880" y="1408320"/>
            <a:ext cx="255600" cy="25560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Text 41"/>
          <p:cNvSpPr/>
          <p:nvPr/>
        </p:nvSpPr>
        <p:spPr>
          <a:xfrm>
            <a:off x="8339400" y="1261800"/>
            <a:ext cx="50256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e53935"/>
                </a:solidFill>
                <a:latin typeface="Calibri"/>
              </a:rPr>
              <a:t>150</a:t>
            </a:r>
            <a:endParaRPr b="0" lang="en-US" sz="850" spc="-1" strike="noStrike">
              <a:solidFill>
                <a:srgbClr val="ffffff"/>
              </a:solidFill>
              <a:latin typeface="Arial"/>
            </a:endParaRPr>
          </a:p>
        </p:txBody>
      </p:sp>
      <p:sp>
        <p:nvSpPr>
          <p:cNvPr id="218" name="Text 42"/>
          <p:cNvSpPr/>
          <p:nvPr/>
        </p:nvSpPr>
        <p:spPr>
          <a:xfrm>
            <a:off x="5413320" y="1572840"/>
            <a:ext cx="36540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e53935"/>
                </a:solidFill>
                <a:latin typeface="Calibri"/>
              </a:rPr>
              <a:t>72</a:t>
            </a:r>
            <a:endParaRPr b="0" lang="en-US" sz="850" spc="-1" strike="noStrike">
              <a:solidFill>
                <a:srgbClr val="ffffff"/>
              </a:solidFill>
              <a:latin typeface="Arial"/>
            </a:endParaRPr>
          </a:p>
        </p:txBody>
      </p:sp>
      <p:sp>
        <p:nvSpPr>
          <p:cNvPr id="219" name="Text 43"/>
          <p:cNvSpPr/>
          <p:nvPr/>
        </p:nvSpPr>
        <p:spPr>
          <a:xfrm>
            <a:off x="5139000" y="3529440"/>
            <a:ext cx="4568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pc="-1" strike="noStrike">
                <a:solidFill>
                  <a:srgbClr val="90a4ae"/>
                </a:solidFill>
                <a:latin typeface="Calibri"/>
              </a:rPr>
              <a:t>95</a:t>
            </a:r>
            <a:endParaRPr b="0" lang="en-US" sz="800" spc="-1" strike="noStrike">
              <a:solidFill>
                <a:srgbClr val="ffffff"/>
              </a:solidFill>
              <a:latin typeface="Arial"/>
            </a:endParaRPr>
          </a:p>
        </p:txBody>
      </p:sp>
      <p:sp>
        <p:nvSpPr>
          <p:cNvPr id="220" name="Text 44"/>
          <p:cNvSpPr/>
          <p:nvPr/>
        </p:nvSpPr>
        <p:spPr>
          <a:xfrm>
            <a:off x="5943600" y="3529440"/>
            <a:ext cx="4568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pc="-1" strike="noStrike">
                <a:solidFill>
                  <a:srgbClr val="90a4ae"/>
                </a:solidFill>
                <a:latin typeface="Calibri"/>
              </a:rPr>
              <a:t>100</a:t>
            </a:r>
            <a:endParaRPr b="0" lang="en-US" sz="800" spc="-1" strike="noStrike">
              <a:solidFill>
                <a:srgbClr val="ffffff"/>
              </a:solidFill>
              <a:latin typeface="Arial"/>
            </a:endParaRPr>
          </a:p>
        </p:txBody>
      </p:sp>
      <p:sp>
        <p:nvSpPr>
          <p:cNvPr id="221" name="Text 45"/>
          <p:cNvSpPr/>
          <p:nvPr/>
        </p:nvSpPr>
        <p:spPr>
          <a:xfrm>
            <a:off x="6748200" y="3529440"/>
            <a:ext cx="4568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pc="-1" strike="noStrike">
                <a:solidFill>
                  <a:srgbClr val="90a4ae"/>
                </a:solidFill>
                <a:latin typeface="Calibri"/>
              </a:rPr>
              <a:t>105</a:t>
            </a:r>
            <a:endParaRPr b="0" lang="en-US" sz="800" spc="-1" strike="noStrike">
              <a:solidFill>
                <a:srgbClr val="ffffff"/>
              </a:solidFill>
              <a:latin typeface="Arial"/>
            </a:endParaRPr>
          </a:p>
        </p:txBody>
      </p:sp>
      <p:sp>
        <p:nvSpPr>
          <p:cNvPr id="222" name="Text 46"/>
          <p:cNvSpPr/>
          <p:nvPr/>
        </p:nvSpPr>
        <p:spPr>
          <a:xfrm>
            <a:off x="7552800" y="3529440"/>
            <a:ext cx="4568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pc="-1" strike="noStrike">
                <a:solidFill>
                  <a:srgbClr val="90a4ae"/>
                </a:solidFill>
                <a:latin typeface="Calibri"/>
              </a:rPr>
              <a:t>110</a:t>
            </a:r>
            <a:endParaRPr b="0" lang="en-US" sz="800" spc="-1" strike="noStrike">
              <a:solidFill>
                <a:srgbClr val="ffffff"/>
              </a:solidFill>
              <a:latin typeface="Arial"/>
            </a:endParaRPr>
          </a:p>
        </p:txBody>
      </p:sp>
      <p:sp>
        <p:nvSpPr>
          <p:cNvPr id="223" name="Text 47"/>
          <p:cNvSpPr/>
          <p:nvPr/>
        </p:nvSpPr>
        <p:spPr>
          <a:xfrm>
            <a:off x="4910400" y="3163680"/>
            <a:ext cx="3748680" cy="1663920"/>
          </a:xfrm>
          <a:prstGeom prst="rect">
            <a:avLst/>
          </a:prstGeom>
          <a:noFill/>
          <a:ln w="0">
            <a:noFill/>
          </a:ln>
        </p:spPr>
        <p:style>
          <a:lnRef idx="0"/>
          <a:fillRef idx="0"/>
          <a:effectRef idx="0"/>
          <a:fontRef idx="minor"/>
        </p:style>
        <p:txBody>
          <a:bodyPr lIns="90000" rIns="90000" tIns="45000" bIns="45000" anchor="ctr">
            <a:noAutofit/>
          </a:bodyPr>
          <a:p>
            <a:r>
              <a:rPr b="1" lang="en-US" sz="1200" spc="-1" strike="noStrike">
                <a:solidFill>
                  <a:srgbClr val="ff7043"/>
                </a:solidFill>
                <a:latin typeface="Calibri"/>
                <a:ea typeface="Calibri"/>
              </a:rPr>
              <a:t>How it works:</a:t>
            </a:r>
            <a:endParaRPr b="0" lang="en-US" sz="1200" spc="-1" strike="noStrike">
              <a:solidFill>
                <a:srgbClr val="ffffff"/>
              </a:solidFill>
              <a:latin typeface="Arial"/>
            </a:endParaRPr>
          </a:p>
          <a:p>
            <a:r>
              <a:rPr b="0" lang="en-US" sz="1200" spc="-1" strike="noStrike">
                <a:solidFill>
                  <a:srgbClr val="90a4ae"/>
                </a:solidFill>
                <a:latin typeface="Calibri"/>
                <a:ea typeface="Calibri"/>
              </a:rPr>
              <a:t>Plots data points as dots — outliers appear as points that </a:t>
            </a:r>
            <a:r>
              <a:rPr b="1" lang="en-US" sz="1200" spc="-1" strike="noStrike">
                <a:solidFill>
                  <a:srgbClr val="ff7043"/>
                </a:solidFill>
                <a:latin typeface="Calibri"/>
                <a:ea typeface="Calibri"/>
              </a:rPr>
              <a:t>deviate significantly</a:t>
            </a:r>
            <a:r>
              <a:rPr b="0" lang="en-US" sz="1200" spc="-1" strike="noStrike">
                <a:solidFill>
                  <a:srgbClr val="90a4ae"/>
                </a:solidFill>
                <a:latin typeface="Calibri"/>
                <a:ea typeface="Calibri"/>
              </a:rPr>
              <a:t> from the general pattern or trend.</a:t>
            </a:r>
            <a:endParaRPr b="0" lang="en-US" sz="1200" spc="-1" strike="noStrike">
              <a:solidFill>
                <a:srgbClr val="ffffff"/>
              </a:solidFill>
              <a:latin typeface="Arial"/>
            </a:endParaRPr>
          </a:p>
          <a:p>
            <a:endParaRPr b="0" lang="en-US" sz="1200" spc="-1" strike="noStrike">
              <a:solidFill>
                <a:srgbClr val="ffffff"/>
              </a:solidFill>
              <a:latin typeface="Arial"/>
            </a:endParaRPr>
          </a:p>
          <a:p>
            <a:pPr defTabSz="914400">
              <a:lnSpc>
                <a:spcPct val="100000"/>
              </a:lnSpc>
              <a:tabLst>
                <a:tab algn="l" pos="0"/>
              </a:tabLst>
            </a:pPr>
            <a:r>
              <a:rPr b="1" lang="en-US" sz="1200" spc="-1" strike="noStrike">
                <a:solidFill>
                  <a:srgbClr val="ff7043"/>
                </a:solidFill>
                <a:latin typeface="Calibri"/>
                <a:ea typeface="Calibri"/>
              </a:rPr>
              <a:t>Best for: </a:t>
            </a:r>
            <a:r>
              <a:rPr b="0" lang="en-US" sz="1200" spc="-1" strike="noStrike">
                <a:solidFill>
                  <a:srgbClr val="90a4ae"/>
                </a:solidFill>
                <a:latin typeface="Calibri"/>
                <a:ea typeface="Calibri"/>
              </a:rPr>
              <a:t>Exploring relationships between two variables and spotting extreme combinations.</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224" name="Shape 0"/>
          <p:cNvSpPr/>
          <p:nvPr/>
        </p:nvSpPr>
        <p:spPr>
          <a:xfrm>
            <a:off x="0" y="0"/>
            <a:ext cx="9143640" cy="59400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Shape 1"/>
          <p:cNvSpPr/>
          <p:nvPr/>
        </p:nvSpPr>
        <p:spPr>
          <a:xfrm>
            <a:off x="0" y="594360"/>
            <a:ext cx="9143640" cy="63720"/>
          </a:xfrm>
          <a:prstGeom prst="rect">
            <a:avLst/>
          </a:prstGeom>
          <a:solidFill>
            <a:srgbClr val="7e57c2"/>
          </a:solidFill>
          <a:ln w="12700">
            <a:solidFill>
              <a:srgbClr val="7e57c2"/>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226" name="Text 2"/>
          <p:cNvSpPr/>
          <p:nvPr/>
        </p:nvSpPr>
        <p:spPr>
          <a:xfrm>
            <a:off x="457200" y="91440"/>
            <a:ext cx="822924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ffffff"/>
                </a:solidFill>
                <a:latin typeface="Calibri"/>
                <a:ea typeface="Calibri"/>
              </a:rPr>
              <a:t>Detection Method 2: Statistical Methods</a:t>
            </a:r>
            <a:endParaRPr b="0" lang="en-US" sz="2200" spc="-1" strike="noStrike">
              <a:solidFill>
                <a:srgbClr val="000000"/>
              </a:solidFill>
              <a:latin typeface="Arial"/>
            </a:endParaRPr>
          </a:p>
        </p:txBody>
      </p:sp>
      <p:sp>
        <p:nvSpPr>
          <p:cNvPr id="227" name="Shape 3"/>
          <p:cNvSpPr/>
          <p:nvPr/>
        </p:nvSpPr>
        <p:spPr>
          <a:xfrm>
            <a:off x="320040" y="822960"/>
            <a:ext cx="4297320" cy="1992960"/>
          </a:xfrm>
          <a:prstGeom prst="rect">
            <a:avLst/>
          </a:prstGeom>
          <a:solidFill>
            <a:srgbClr val="ffffff"/>
          </a:solidFill>
          <a:ln w="19050">
            <a:solidFill>
              <a:srgbClr val="e5393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8" name="Shape 4"/>
          <p:cNvSpPr/>
          <p:nvPr/>
        </p:nvSpPr>
        <p:spPr>
          <a:xfrm>
            <a:off x="320040" y="822960"/>
            <a:ext cx="4297320" cy="63720"/>
          </a:xfrm>
          <a:prstGeom prst="rect">
            <a:avLst/>
          </a:prstGeom>
          <a:solidFill>
            <a:srgbClr val="e53935"/>
          </a:solidFill>
          <a:ln w="12700">
            <a:solidFill>
              <a:srgbClr val="e5393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229" name="Shape 5"/>
          <p:cNvSpPr/>
          <p:nvPr/>
        </p:nvSpPr>
        <p:spPr>
          <a:xfrm>
            <a:off x="429840" y="932760"/>
            <a:ext cx="383760" cy="38376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Text 6"/>
          <p:cNvSpPr/>
          <p:nvPr/>
        </p:nvSpPr>
        <p:spPr>
          <a:xfrm>
            <a:off x="429840" y="9327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rPr>
              <a:t>A</a:t>
            </a:r>
            <a:endParaRPr b="0" lang="en-US" sz="1500" spc="-1" strike="noStrike">
              <a:solidFill>
                <a:srgbClr val="000000"/>
              </a:solidFill>
              <a:latin typeface="Arial"/>
            </a:endParaRPr>
          </a:p>
        </p:txBody>
      </p:sp>
      <p:sp>
        <p:nvSpPr>
          <p:cNvPr id="231" name="Text 7"/>
          <p:cNvSpPr/>
          <p:nvPr/>
        </p:nvSpPr>
        <p:spPr>
          <a:xfrm>
            <a:off x="914400" y="951120"/>
            <a:ext cx="35658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31a28"/>
                </a:solidFill>
                <a:latin typeface="Calibri"/>
              </a:rPr>
              <a:t>Z-Score Method</a:t>
            </a:r>
            <a:endParaRPr b="0" lang="en-US" sz="1350" spc="-1" strike="noStrike">
              <a:solidFill>
                <a:srgbClr val="000000"/>
              </a:solidFill>
              <a:latin typeface="Arial"/>
            </a:endParaRPr>
          </a:p>
        </p:txBody>
      </p:sp>
      <p:sp>
        <p:nvSpPr>
          <p:cNvPr id="232" name="Shape 8"/>
          <p:cNvSpPr/>
          <p:nvPr/>
        </p:nvSpPr>
        <p:spPr>
          <a:xfrm>
            <a:off x="429840" y="1389960"/>
            <a:ext cx="2084400" cy="34704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3" name="Text 9"/>
          <p:cNvSpPr/>
          <p:nvPr/>
        </p:nvSpPr>
        <p:spPr>
          <a:xfrm>
            <a:off x="429840" y="1389960"/>
            <a:ext cx="208440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e53935"/>
                </a:solidFill>
                <a:latin typeface="Consolas"/>
                <a:ea typeface="Consolas"/>
              </a:rPr>
              <a:t>Z = (x - μ) / σ</a:t>
            </a:r>
            <a:endParaRPr b="0" lang="en-US" sz="950" spc="-1" strike="noStrike">
              <a:solidFill>
                <a:srgbClr val="000000"/>
              </a:solidFill>
              <a:latin typeface="Arial"/>
            </a:endParaRPr>
          </a:p>
        </p:txBody>
      </p:sp>
      <p:sp>
        <p:nvSpPr>
          <p:cNvPr id="234" name="Shape 10"/>
          <p:cNvSpPr/>
          <p:nvPr/>
        </p:nvSpPr>
        <p:spPr>
          <a:xfrm>
            <a:off x="2606040" y="1389960"/>
            <a:ext cx="1901520" cy="347040"/>
          </a:xfrm>
          <a:prstGeom prst="roundRect">
            <a:avLst>
              <a:gd name="adj" fmla="val 15789"/>
            </a:avLst>
          </a:prstGeom>
          <a:solidFill>
            <a:srgbClr val="e53935">
              <a:alpha val="15000"/>
            </a:srgbClr>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5" name="Text 11"/>
          <p:cNvSpPr/>
          <p:nvPr/>
        </p:nvSpPr>
        <p:spPr>
          <a:xfrm>
            <a:off x="2606040" y="1389960"/>
            <a:ext cx="190152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00" spc="-1" strike="noStrike">
                <a:solidFill>
                  <a:srgbClr val="e53935"/>
                </a:solidFill>
                <a:latin typeface="Consolas"/>
                <a:ea typeface="Consolas"/>
              </a:rPr>
              <a:t>Z &gt; +3  or  Z &lt; -3  →  Outlier</a:t>
            </a:r>
            <a:endParaRPr b="0" lang="en-US" sz="900" spc="-1" strike="noStrike">
              <a:solidFill>
                <a:srgbClr val="000000"/>
              </a:solidFill>
              <a:latin typeface="Arial"/>
            </a:endParaRPr>
          </a:p>
        </p:txBody>
      </p:sp>
      <p:sp>
        <p:nvSpPr>
          <p:cNvPr id="236" name="Text 12"/>
          <p:cNvSpPr/>
          <p:nvPr/>
        </p:nvSpPr>
        <p:spPr>
          <a:xfrm>
            <a:off x="429840" y="1810440"/>
            <a:ext cx="405972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334455"/>
                </a:solidFill>
                <a:latin typeface="Calibri"/>
              </a:rPr>
              <a:t>Measures how many standard deviations a data point is from the mean. Values beyond ±3 standard deviations are treated as outliers.</a:t>
            </a:r>
            <a:endParaRPr b="0" lang="en-US" sz="1100" spc="-1" strike="noStrike">
              <a:solidFill>
                <a:srgbClr val="000000"/>
              </a:solidFill>
              <a:latin typeface="Arial"/>
            </a:endParaRPr>
          </a:p>
        </p:txBody>
      </p:sp>
      <p:sp>
        <p:nvSpPr>
          <p:cNvPr id="237" name="Shape 13"/>
          <p:cNvSpPr/>
          <p:nvPr/>
        </p:nvSpPr>
        <p:spPr>
          <a:xfrm>
            <a:off x="429840" y="2395800"/>
            <a:ext cx="145800" cy="14580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8" name="Text 14"/>
          <p:cNvSpPr/>
          <p:nvPr/>
        </p:nvSpPr>
        <p:spPr>
          <a:xfrm>
            <a:off x="640080" y="2377440"/>
            <a:ext cx="385848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e53935"/>
                </a:solidFill>
                <a:latin typeface="Calibri"/>
              </a:rPr>
              <a:t>Best for: Normally distributed data</a:t>
            </a:r>
            <a:endParaRPr b="0" lang="en-US" sz="1050" spc="-1" strike="noStrike">
              <a:solidFill>
                <a:srgbClr val="000000"/>
              </a:solidFill>
              <a:latin typeface="Arial"/>
            </a:endParaRPr>
          </a:p>
        </p:txBody>
      </p:sp>
      <p:sp>
        <p:nvSpPr>
          <p:cNvPr id="239" name="Shape 15"/>
          <p:cNvSpPr/>
          <p:nvPr/>
        </p:nvSpPr>
        <p:spPr>
          <a:xfrm>
            <a:off x="4782240" y="822960"/>
            <a:ext cx="4297320" cy="1992960"/>
          </a:xfrm>
          <a:prstGeom prst="rect">
            <a:avLst/>
          </a:prstGeom>
          <a:solidFill>
            <a:srgbClr val="ffffff"/>
          </a:solidFill>
          <a:ln w="19050">
            <a:solidFill>
              <a:srgbClr val="ff7043"/>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0" name="Shape 16"/>
          <p:cNvSpPr/>
          <p:nvPr/>
        </p:nvSpPr>
        <p:spPr>
          <a:xfrm>
            <a:off x="4782240" y="822960"/>
            <a:ext cx="4297320" cy="63720"/>
          </a:xfrm>
          <a:prstGeom prst="rect">
            <a:avLst/>
          </a:prstGeom>
          <a:solidFill>
            <a:srgbClr val="ff7043"/>
          </a:solidFill>
          <a:ln w="12700">
            <a:solidFill>
              <a:srgbClr val="ff7043"/>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241" name="Shape 17"/>
          <p:cNvSpPr/>
          <p:nvPr/>
        </p:nvSpPr>
        <p:spPr>
          <a:xfrm>
            <a:off x="4892040" y="932760"/>
            <a:ext cx="383760" cy="383760"/>
          </a:xfrm>
          <a:prstGeom prst="ellipse">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Text 18"/>
          <p:cNvSpPr/>
          <p:nvPr/>
        </p:nvSpPr>
        <p:spPr>
          <a:xfrm>
            <a:off x="4892040" y="9327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rPr>
              <a:t>B</a:t>
            </a:r>
            <a:endParaRPr b="0" lang="en-US" sz="1500" spc="-1" strike="noStrike">
              <a:solidFill>
                <a:srgbClr val="000000"/>
              </a:solidFill>
              <a:latin typeface="Arial"/>
            </a:endParaRPr>
          </a:p>
        </p:txBody>
      </p:sp>
      <p:sp>
        <p:nvSpPr>
          <p:cNvPr id="243" name="Text 19"/>
          <p:cNvSpPr/>
          <p:nvPr/>
        </p:nvSpPr>
        <p:spPr>
          <a:xfrm>
            <a:off x="5376600" y="951120"/>
            <a:ext cx="35658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31a28"/>
                </a:solidFill>
                <a:latin typeface="Calibri"/>
              </a:rPr>
              <a:t>IQR Method</a:t>
            </a:r>
            <a:endParaRPr b="0" lang="en-US" sz="1350" spc="-1" strike="noStrike">
              <a:solidFill>
                <a:srgbClr val="000000"/>
              </a:solidFill>
              <a:latin typeface="Arial"/>
            </a:endParaRPr>
          </a:p>
        </p:txBody>
      </p:sp>
      <p:sp>
        <p:nvSpPr>
          <p:cNvPr id="244" name="Shape 20"/>
          <p:cNvSpPr/>
          <p:nvPr/>
        </p:nvSpPr>
        <p:spPr>
          <a:xfrm>
            <a:off x="4892040" y="1389960"/>
            <a:ext cx="2084400" cy="34704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5" name="Text 21"/>
          <p:cNvSpPr/>
          <p:nvPr/>
        </p:nvSpPr>
        <p:spPr>
          <a:xfrm>
            <a:off x="4892040" y="1389960"/>
            <a:ext cx="208440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ff7043"/>
                </a:solidFill>
                <a:latin typeface="Consolas"/>
                <a:ea typeface="Consolas"/>
              </a:rPr>
              <a:t>Lower: Q1 − 1.5×IQR</a:t>
            </a:r>
            <a:endParaRPr b="0" lang="en-US" sz="950" spc="-1" strike="noStrike">
              <a:solidFill>
                <a:srgbClr val="000000"/>
              </a:solidFill>
              <a:latin typeface="Arial"/>
            </a:endParaRPr>
          </a:p>
          <a:p>
            <a:pPr algn="ctr" defTabSz="914400">
              <a:lnSpc>
                <a:spcPct val="100000"/>
              </a:lnSpc>
              <a:tabLst>
                <a:tab algn="l" pos="0"/>
              </a:tabLst>
            </a:pPr>
            <a:r>
              <a:rPr b="0" lang="en-US" sz="950" spc="-1" strike="noStrike">
                <a:solidFill>
                  <a:srgbClr val="ff7043"/>
                </a:solidFill>
                <a:latin typeface="Consolas"/>
                <a:ea typeface="Consolas"/>
              </a:rPr>
              <a:t>Upper: Q3 + 1.5×IQR</a:t>
            </a:r>
            <a:endParaRPr b="0" lang="en-US" sz="950" spc="-1" strike="noStrike">
              <a:solidFill>
                <a:srgbClr val="000000"/>
              </a:solidFill>
              <a:latin typeface="Arial"/>
            </a:endParaRPr>
          </a:p>
        </p:txBody>
      </p:sp>
      <p:sp>
        <p:nvSpPr>
          <p:cNvPr id="246" name="Shape 22"/>
          <p:cNvSpPr/>
          <p:nvPr/>
        </p:nvSpPr>
        <p:spPr>
          <a:xfrm>
            <a:off x="7068240" y="1389960"/>
            <a:ext cx="1901520" cy="347040"/>
          </a:xfrm>
          <a:prstGeom prst="roundRect">
            <a:avLst>
              <a:gd name="adj" fmla="val 15789"/>
            </a:avLst>
          </a:prstGeom>
          <a:solidFill>
            <a:srgbClr val="ff7043">
              <a:alpha val="15000"/>
            </a:srgbClr>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Text 23"/>
          <p:cNvSpPr/>
          <p:nvPr/>
        </p:nvSpPr>
        <p:spPr>
          <a:xfrm>
            <a:off x="7068240" y="1389960"/>
            <a:ext cx="190152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00" spc="-1" strike="noStrike">
                <a:solidFill>
                  <a:srgbClr val="ff7043"/>
                </a:solidFill>
                <a:latin typeface="Consolas"/>
                <a:ea typeface="Consolas"/>
              </a:rPr>
              <a:t>x &lt; Lower  or  x &gt; Upper  →  Outlier</a:t>
            </a:r>
            <a:endParaRPr b="0" lang="en-US" sz="900" spc="-1" strike="noStrike">
              <a:solidFill>
                <a:srgbClr val="000000"/>
              </a:solidFill>
              <a:latin typeface="Arial"/>
            </a:endParaRPr>
          </a:p>
        </p:txBody>
      </p:sp>
      <p:sp>
        <p:nvSpPr>
          <p:cNvPr id="248" name="Text 24"/>
          <p:cNvSpPr/>
          <p:nvPr/>
        </p:nvSpPr>
        <p:spPr>
          <a:xfrm>
            <a:off x="4892040" y="1810440"/>
            <a:ext cx="405972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334455"/>
                </a:solidFill>
                <a:latin typeface="Calibri"/>
              </a:rPr>
              <a:t>Defines outliers as values below Q1 − 1.5×IQR or above Q3 + 1.5×IQR. Does NOT assume normal distribution — robust and widely used.</a:t>
            </a:r>
            <a:endParaRPr b="0" lang="en-US" sz="1100" spc="-1" strike="noStrike">
              <a:solidFill>
                <a:srgbClr val="000000"/>
              </a:solidFill>
              <a:latin typeface="Arial"/>
            </a:endParaRPr>
          </a:p>
        </p:txBody>
      </p:sp>
      <p:sp>
        <p:nvSpPr>
          <p:cNvPr id="249" name="Shape 25"/>
          <p:cNvSpPr/>
          <p:nvPr/>
        </p:nvSpPr>
        <p:spPr>
          <a:xfrm>
            <a:off x="4892040" y="2395800"/>
            <a:ext cx="145800" cy="145800"/>
          </a:xfrm>
          <a:prstGeom prst="ellipse">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Text 26"/>
          <p:cNvSpPr/>
          <p:nvPr/>
        </p:nvSpPr>
        <p:spPr>
          <a:xfrm>
            <a:off x="5102280" y="2377440"/>
            <a:ext cx="385848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f7043"/>
                </a:solidFill>
                <a:latin typeface="Calibri"/>
              </a:rPr>
              <a:t>Best for: Non-normal, real-world datasets</a:t>
            </a:r>
            <a:endParaRPr b="0" lang="en-US" sz="1050" spc="-1" strike="noStrike">
              <a:solidFill>
                <a:srgbClr val="000000"/>
              </a:solidFill>
              <a:latin typeface="Arial"/>
            </a:endParaRPr>
          </a:p>
        </p:txBody>
      </p:sp>
      <p:sp>
        <p:nvSpPr>
          <p:cNvPr id="251" name="Shape 27"/>
          <p:cNvSpPr/>
          <p:nvPr/>
        </p:nvSpPr>
        <p:spPr>
          <a:xfrm>
            <a:off x="320040" y="2944440"/>
            <a:ext cx="4297320" cy="1992960"/>
          </a:xfrm>
          <a:prstGeom prst="rect">
            <a:avLst/>
          </a:prstGeom>
          <a:solidFill>
            <a:srgbClr val="ffffff"/>
          </a:solidFill>
          <a:ln w="19050">
            <a:solidFill>
              <a:srgbClr val="00acc1"/>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2" name="Shape 28"/>
          <p:cNvSpPr/>
          <p:nvPr/>
        </p:nvSpPr>
        <p:spPr>
          <a:xfrm>
            <a:off x="320040" y="2944440"/>
            <a:ext cx="4297320" cy="63720"/>
          </a:xfrm>
          <a:prstGeom prst="rect">
            <a:avLst/>
          </a:prstGeom>
          <a:solidFill>
            <a:srgbClr val="00acc1"/>
          </a:solidFill>
          <a:ln w="12700">
            <a:solidFill>
              <a:srgbClr val="00acc1"/>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253" name="Shape 29"/>
          <p:cNvSpPr/>
          <p:nvPr/>
        </p:nvSpPr>
        <p:spPr>
          <a:xfrm>
            <a:off x="429840" y="3054240"/>
            <a:ext cx="383760" cy="38376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4" name="Text 30"/>
          <p:cNvSpPr/>
          <p:nvPr/>
        </p:nvSpPr>
        <p:spPr>
          <a:xfrm>
            <a:off x="429840" y="305424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rPr>
              <a:t>C</a:t>
            </a:r>
            <a:endParaRPr b="0" lang="en-US" sz="1500" spc="-1" strike="noStrike">
              <a:solidFill>
                <a:srgbClr val="000000"/>
              </a:solidFill>
              <a:latin typeface="Arial"/>
            </a:endParaRPr>
          </a:p>
        </p:txBody>
      </p:sp>
      <p:sp>
        <p:nvSpPr>
          <p:cNvPr id="255" name="Text 31"/>
          <p:cNvSpPr/>
          <p:nvPr/>
        </p:nvSpPr>
        <p:spPr>
          <a:xfrm>
            <a:off x="914400" y="3072240"/>
            <a:ext cx="35658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31a28"/>
                </a:solidFill>
                <a:latin typeface="Calibri"/>
              </a:rPr>
              <a:t>DBSCAN</a:t>
            </a:r>
            <a:endParaRPr b="0" lang="en-US" sz="1350" spc="-1" strike="noStrike">
              <a:solidFill>
                <a:srgbClr val="000000"/>
              </a:solidFill>
              <a:latin typeface="Arial"/>
            </a:endParaRPr>
          </a:p>
        </p:txBody>
      </p:sp>
      <p:sp>
        <p:nvSpPr>
          <p:cNvPr id="256" name="Shape 32"/>
          <p:cNvSpPr/>
          <p:nvPr/>
        </p:nvSpPr>
        <p:spPr>
          <a:xfrm>
            <a:off x="429840" y="3511440"/>
            <a:ext cx="2084400" cy="34704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7" name="Text 33"/>
          <p:cNvSpPr/>
          <p:nvPr/>
        </p:nvSpPr>
        <p:spPr>
          <a:xfrm>
            <a:off x="429840" y="3511440"/>
            <a:ext cx="208440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00acc1"/>
                </a:solidFill>
                <a:latin typeface="Consolas"/>
                <a:ea typeface="Consolas"/>
              </a:rPr>
              <a:t>eps + minPts parameters</a:t>
            </a:r>
            <a:endParaRPr b="0" lang="en-US" sz="950" spc="-1" strike="noStrike">
              <a:solidFill>
                <a:srgbClr val="000000"/>
              </a:solidFill>
              <a:latin typeface="Arial"/>
            </a:endParaRPr>
          </a:p>
        </p:txBody>
      </p:sp>
      <p:sp>
        <p:nvSpPr>
          <p:cNvPr id="258" name="Shape 34"/>
          <p:cNvSpPr/>
          <p:nvPr/>
        </p:nvSpPr>
        <p:spPr>
          <a:xfrm>
            <a:off x="2606040" y="3511440"/>
            <a:ext cx="1901520" cy="347040"/>
          </a:xfrm>
          <a:prstGeom prst="roundRect">
            <a:avLst>
              <a:gd name="adj" fmla="val 15789"/>
            </a:avLst>
          </a:prstGeom>
          <a:solidFill>
            <a:srgbClr val="00acc1">
              <a:alpha val="15000"/>
            </a:srgbClr>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Text 35"/>
          <p:cNvSpPr/>
          <p:nvPr/>
        </p:nvSpPr>
        <p:spPr>
          <a:xfrm>
            <a:off x="2606040" y="3511440"/>
            <a:ext cx="190152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00" spc="-1" strike="noStrike">
                <a:solidFill>
                  <a:srgbClr val="00acc1"/>
                </a:solidFill>
                <a:latin typeface="Consolas"/>
                <a:ea typeface="Consolas"/>
              </a:rPr>
              <a:t>Cluster = -1  →  Outlier (Noise)</a:t>
            </a:r>
            <a:endParaRPr b="0" lang="en-US" sz="900" spc="-1" strike="noStrike">
              <a:solidFill>
                <a:srgbClr val="000000"/>
              </a:solidFill>
              <a:latin typeface="Arial"/>
            </a:endParaRPr>
          </a:p>
        </p:txBody>
      </p:sp>
      <p:sp>
        <p:nvSpPr>
          <p:cNvPr id="260" name="Text 36"/>
          <p:cNvSpPr/>
          <p:nvPr/>
        </p:nvSpPr>
        <p:spPr>
          <a:xfrm>
            <a:off x="429840" y="3931920"/>
            <a:ext cx="405972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334455"/>
                </a:solidFill>
                <a:latin typeface="Calibri"/>
              </a:rPr>
              <a:t>Detects outliers by grouping dense regions and labeling points that do not belong to any cluster as noise. Effective for irregular shapes.</a:t>
            </a:r>
            <a:endParaRPr b="0" lang="en-US" sz="1100" spc="-1" strike="noStrike">
              <a:solidFill>
                <a:srgbClr val="000000"/>
              </a:solidFill>
              <a:latin typeface="Arial"/>
            </a:endParaRPr>
          </a:p>
        </p:txBody>
      </p:sp>
      <p:sp>
        <p:nvSpPr>
          <p:cNvPr id="261" name="Shape 37"/>
          <p:cNvSpPr/>
          <p:nvPr/>
        </p:nvSpPr>
        <p:spPr>
          <a:xfrm>
            <a:off x="429840" y="4517280"/>
            <a:ext cx="145800" cy="145800"/>
          </a:xfrm>
          <a:prstGeom prst="ellipse">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Text 38"/>
          <p:cNvSpPr/>
          <p:nvPr/>
        </p:nvSpPr>
        <p:spPr>
          <a:xfrm>
            <a:off x="640080" y="4498920"/>
            <a:ext cx="385848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00acc1"/>
                </a:solidFill>
                <a:latin typeface="Calibri"/>
              </a:rPr>
              <a:t>Best for: Datasets with irregular shapes/densities</a:t>
            </a:r>
            <a:endParaRPr b="0" lang="en-US" sz="1050" spc="-1" strike="noStrike">
              <a:solidFill>
                <a:srgbClr val="000000"/>
              </a:solidFill>
              <a:latin typeface="Arial"/>
            </a:endParaRPr>
          </a:p>
        </p:txBody>
      </p:sp>
      <p:sp>
        <p:nvSpPr>
          <p:cNvPr id="263" name="Shape 39"/>
          <p:cNvSpPr/>
          <p:nvPr/>
        </p:nvSpPr>
        <p:spPr>
          <a:xfrm>
            <a:off x="4782240" y="2944440"/>
            <a:ext cx="4297320" cy="1992960"/>
          </a:xfrm>
          <a:prstGeom prst="rect">
            <a:avLst/>
          </a:prstGeom>
          <a:solidFill>
            <a:srgbClr val="ffffff"/>
          </a:solidFill>
          <a:ln w="19050">
            <a:solidFill>
              <a:srgbClr val="43a047"/>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4" name="Shape 40"/>
          <p:cNvSpPr/>
          <p:nvPr/>
        </p:nvSpPr>
        <p:spPr>
          <a:xfrm>
            <a:off x="4782240" y="2944440"/>
            <a:ext cx="4297320" cy="63720"/>
          </a:xfrm>
          <a:prstGeom prst="rect">
            <a:avLst/>
          </a:prstGeom>
          <a:solidFill>
            <a:srgbClr val="43a047"/>
          </a:solidFill>
          <a:ln w="12700">
            <a:solidFill>
              <a:srgbClr val="43a047"/>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265" name="Shape 41"/>
          <p:cNvSpPr/>
          <p:nvPr/>
        </p:nvSpPr>
        <p:spPr>
          <a:xfrm>
            <a:off x="4892040" y="3054240"/>
            <a:ext cx="383760" cy="383760"/>
          </a:xfrm>
          <a:prstGeom prst="ellipse">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6" name="Text 42"/>
          <p:cNvSpPr/>
          <p:nvPr/>
        </p:nvSpPr>
        <p:spPr>
          <a:xfrm>
            <a:off x="4892040" y="305424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libri"/>
              </a:rPr>
              <a:t>D</a:t>
            </a:r>
            <a:endParaRPr b="0" lang="en-US" sz="1500" spc="-1" strike="noStrike">
              <a:solidFill>
                <a:srgbClr val="000000"/>
              </a:solidFill>
              <a:latin typeface="Arial"/>
            </a:endParaRPr>
          </a:p>
        </p:txBody>
      </p:sp>
      <p:sp>
        <p:nvSpPr>
          <p:cNvPr id="267" name="Text 43"/>
          <p:cNvSpPr/>
          <p:nvPr/>
        </p:nvSpPr>
        <p:spPr>
          <a:xfrm>
            <a:off x="5376600" y="3072240"/>
            <a:ext cx="356580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31a28"/>
                </a:solidFill>
                <a:latin typeface="Calibri"/>
              </a:rPr>
              <a:t>Isolation Forest</a:t>
            </a:r>
            <a:endParaRPr b="0" lang="en-US" sz="1350" spc="-1" strike="noStrike">
              <a:solidFill>
                <a:srgbClr val="000000"/>
              </a:solidFill>
              <a:latin typeface="Arial"/>
            </a:endParaRPr>
          </a:p>
        </p:txBody>
      </p:sp>
      <p:sp>
        <p:nvSpPr>
          <p:cNvPr id="268" name="Shape 44"/>
          <p:cNvSpPr/>
          <p:nvPr/>
        </p:nvSpPr>
        <p:spPr>
          <a:xfrm>
            <a:off x="4892040" y="3511440"/>
            <a:ext cx="2084400" cy="34704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9" name="Text 45"/>
          <p:cNvSpPr/>
          <p:nvPr/>
        </p:nvSpPr>
        <p:spPr>
          <a:xfrm>
            <a:off x="4892040" y="3511440"/>
            <a:ext cx="208440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43a047"/>
                </a:solidFill>
                <a:latin typeface="Consolas"/>
                <a:ea typeface="Consolas"/>
              </a:rPr>
              <a:t>contamination parameter</a:t>
            </a:r>
            <a:endParaRPr b="0" lang="en-US" sz="950" spc="-1" strike="noStrike">
              <a:solidFill>
                <a:srgbClr val="000000"/>
              </a:solidFill>
              <a:latin typeface="Arial"/>
            </a:endParaRPr>
          </a:p>
        </p:txBody>
      </p:sp>
      <p:sp>
        <p:nvSpPr>
          <p:cNvPr id="270" name="Shape 46"/>
          <p:cNvSpPr/>
          <p:nvPr/>
        </p:nvSpPr>
        <p:spPr>
          <a:xfrm>
            <a:off x="7068240" y="3511440"/>
            <a:ext cx="1901520" cy="347040"/>
          </a:xfrm>
          <a:prstGeom prst="roundRect">
            <a:avLst>
              <a:gd name="adj" fmla="val 15789"/>
            </a:avLst>
          </a:prstGeom>
          <a:solidFill>
            <a:srgbClr val="43a047">
              <a:alpha val="15000"/>
            </a:srgbClr>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1" name="Text 47"/>
          <p:cNvSpPr/>
          <p:nvPr/>
        </p:nvSpPr>
        <p:spPr>
          <a:xfrm>
            <a:off x="7068240" y="3511440"/>
            <a:ext cx="190152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00" spc="-1" strike="noStrike">
                <a:solidFill>
                  <a:srgbClr val="43a047"/>
                </a:solidFill>
                <a:latin typeface="Consolas"/>
                <a:ea typeface="Consolas"/>
              </a:rPr>
              <a:t>Outlier = -1  →  Anomaly detected</a:t>
            </a:r>
            <a:endParaRPr b="0" lang="en-US" sz="900" spc="-1" strike="noStrike">
              <a:solidFill>
                <a:srgbClr val="000000"/>
              </a:solidFill>
              <a:latin typeface="Arial"/>
            </a:endParaRPr>
          </a:p>
        </p:txBody>
      </p:sp>
      <p:sp>
        <p:nvSpPr>
          <p:cNvPr id="272" name="Text 48"/>
          <p:cNvSpPr/>
          <p:nvPr/>
        </p:nvSpPr>
        <p:spPr>
          <a:xfrm>
            <a:off x="4892040" y="3931920"/>
            <a:ext cx="405972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334455"/>
                </a:solidFill>
                <a:latin typeface="Calibri"/>
              </a:rPr>
              <a:t>Detects outliers by isolating data points using random decision trees. Anomalies are separated with fewer splits — fast and scalable for high-dimensional data.</a:t>
            </a:r>
            <a:endParaRPr b="0" lang="en-US" sz="1100" spc="-1" strike="noStrike">
              <a:solidFill>
                <a:srgbClr val="000000"/>
              </a:solidFill>
              <a:latin typeface="Arial"/>
            </a:endParaRPr>
          </a:p>
        </p:txBody>
      </p:sp>
      <p:sp>
        <p:nvSpPr>
          <p:cNvPr id="273" name="Shape 49"/>
          <p:cNvSpPr/>
          <p:nvPr/>
        </p:nvSpPr>
        <p:spPr>
          <a:xfrm>
            <a:off x="4892040" y="4517280"/>
            <a:ext cx="145800" cy="145800"/>
          </a:xfrm>
          <a:prstGeom prst="ellipse">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4" name="Text 50"/>
          <p:cNvSpPr/>
          <p:nvPr/>
        </p:nvSpPr>
        <p:spPr>
          <a:xfrm>
            <a:off x="5102280" y="4498920"/>
            <a:ext cx="385848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43a047"/>
                </a:solidFill>
                <a:latin typeface="Calibri"/>
              </a:rPr>
              <a:t>Best for: High-dimensional datasets, large data</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8"/>
        </a:solidFill>
      </p:bgPr>
    </p:bg>
    <p:spTree>
      <p:nvGrpSpPr>
        <p:cNvPr id="1" name=""/>
        <p:cNvGrpSpPr/>
        <p:nvPr/>
      </p:nvGrpSpPr>
      <p:grpSpPr>
        <a:xfrm>
          <a:off x="0" y="0"/>
          <a:ext cx="0" cy="0"/>
          <a:chOff x="0" y="0"/>
          <a:chExt cx="0" cy="0"/>
        </a:xfrm>
      </p:grpSpPr>
      <p:sp>
        <p:nvSpPr>
          <p:cNvPr id="275" name="Shape 0"/>
          <p:cNvSpPr/>
          <p:nvPr/>
        </p:nvSpPr>
        <p:spPr>
          <a:xfrm>
            <a:off x="0" y="0"/>
            <a:ext cx="9143640" cy="63720"/>
          </a:xfrm>
          <a:prstGeom prst="rect">
            <a:avLst/>
          </a:prstGeom>
          <a:solidFill>
            <a:srgbClr val="43a047"/>
          </a:solidFill>
          <a:ln w="12700">
            <a:solidFill>
              <a:srgbClr val="43a047"/>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276" name="Text 1"/>
          <p:cNvSpPr/>
          <p:nvPr/>
        </p:nvSpPr>
        <p:spPr>
          <a:xfrm>
            <a:off x="457200" y="164520"/>
            <a:ext cx="82292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900" spc="-1" strike="noStrike">
                <a:solidFill>
                  <a:srgbClr val="ffffff"/>
                </a:solidFill>
                <a:latin typeface="Calibri"/>
                <a:ea typeface="Calibri"/>
              </a:rPr>
              <a:t>How to Handle Outliers in Data</a:t>
            </a:r>
            <a:endParaRPr b="0" lang="en-US" sz="2900" spc="-1" strike="noStrike">
              <a:solidFill>
                <a:srgbClr val="ffffff"/>
              </a:solidFill>
              <a:latin typeface="Arial"/>
            </a:endParaRPr>
          </a:p>
        </p:txBody>
      </p:sp>
      <p:sp>
        <p:nvSpPr>
          <p:cNvPr id="277" name="Text 2"/>
          <p:cNvSpPr/>
          <p:nvPr/>
        </p:nvSpPr>
        <p:spPr>
          <a:xfrm>
            <a:off x="457200" y="658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pc="-1" strike="noStrike">
                <a:solidFill>
                  <a:srgbClr val="90a4ae"/>
                </a:solidFill>
                <a:latin typeface="Calibri"/>
              </a:rPr>
              <a:t>Once detected, the approach depends on cause, dataset size, and analysis goals</a:t>
            </a:r>
            <a:endParaRPr b="0" lang="en-US" sz="1300" spc="-1" strike="noStrike">
              <a:solidFill>
                <a:srgbClr val="ffffff"/>
              </a:solidFill>
              <a:latin typeface="Arial"/>
            </a:endParaRPr>
          </a:p>
        </p:txBody>
      </p:sp>
      <p:sp>
        <p:nvSpPr>
          <p:cNvPr id="278" name="Shape 3"/>
          <p:cNvSpPr/>
          <p:nvPr/>
        </p:nvSpPr>
        <p:spPr>
          <a:xfrm>
            <a:off x="274320" y="969120"/>
            <a:ext cx="8595000" cy="895680"/>
          </a:xfrm>
          <a:prstGeom prst="rect">
            <a:avLst/>
          </a:prstGeom>
          <a:solidFill>
            <a:srgbClr val="22304a"/>
          </a:solidFill>
          <a:ln w="1524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Shape 4"/>
          <p:cNvSpPr/>
          <p:nvPr/>
        </p:nvSpPr>
        <p:spPr>
          <a:xfrm>
            <a:off x="274320" y="969120"/>
            <a:ext cx="548280" cy="89568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0" name="Text 5"/>
          <p:cNvSpPr/>
          <p:nvPr/>
        </p:nvSpPr>
        <p:spPr>
          <a:xfrm>
            <a:off x="274320" y="969120"/>
            <a:ext cx="548280" cy="895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1</a:t>
            </a:r>
            <a:endParaRPr b="0" lang="en-US" sz="1800" spc="-1" strike="noStrike">
              <a:solidFill>
                <a:srgbClr val="ffffff"/>
              </a:solidFill>
              <a:latin typeface="Arial"/>
            </a:endParaRPr>
          </a:p>
        </p:txBody>
      </p:sp>
      <p:sp>
        <p:nvSpPr>
          <p:cNvPr id="281" name="Text 6"/>
          <p:cNvSpPr/>
          <p:nvPr/>
        </p:nvSpPr>
        <p:spPr>
          <a:xfrm>
            <a:off x="932760" y="1042560"/>
            <a:ext cx="2285640" cy="292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ffffff"/>
                </a:solidFill>
                <a:latin typeface="Calibri"/>
              </a:rPr>
              <a:t>Removal (Trimming)</a:t>
            </a:r>
            <a:endParaRPr b="0" lang="en-US" sz="1350" spc="-1" strike="noStrike">
              <a:solidFill>
                <a:srgbClr val="ffffff"/>
              </a:solidFill>
              <a:latin typeface="Arial"/>
            </a:endParaRPr>
          </a:p>
        </p:txBody>
      </p:sp>
      <p:sp>
        <p:nvSpPr>
          <p:cNvPr id="282" name="Text 7"/>
          <p:cNvSpPr/>
          <p:nvPr/>
        </p:nvSpPr>
        <p:spPr>
          <a:xfrm>
            <a:off x="932760" y="1389960"/>
            <a:ext cx="228564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90a4ae"/>
                </a:solidFill>
                <a:latin typeface="Calibri"/>
              </a:rPr>
              <a:t>Outliers can be removed entirely if they are clearly errors or irrelevant to the analysis.</a:t>
            </a:r>
            <a:endParaRPr b="0" lang="en-US" sz="1100" spc="-1" strike="noStrike">
              <a:solidFill>
                <a:srgbClr val="ffffff"/>
              </a:solidFill>
              <a:latin typeface="Arial"/>
            </a:endParaRPr>
          </a:p>
        </p:txBody>
      </p:sp>
      <p:sp>
        <p:nvSpPr>
          <p:cNvPr id="283" name="Shape 8"/>
          <p:cNvSpPr/>
          <p:nvPr/>
        </p:nvSpPr>
        <p:spPr>
          <a:xfrm>
            <a:off x="3337560" y="1024200"/>
            <a:ext cx="2724480" cy="365400"/>
          </a:xfrm>
          <a:prstGeom prst="rect">
            <a:avLst/>
          </a:prstGeom>
          <a:solidFill>
            <a:srgbClr val="43a047">
              <a:alpha val="12000"/>
            </a:srgbClr>
          </a:solidFill>
          <a:ln w="1016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4" name="Shape 9"/>
          <p:cNvSpPr/>
          <p:nvPr/>
        </p:nvSpPr>
        <p:spPr>
          <a:xfrm>
            <a:off x="3337560" y="1024200"/>
            <a:ext cx="45360" cy="36540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Text 10"/>
          <p:cNvSpPr/>
          <p:nvPr/>
        </p:nvSpPr>
        <p:spPr>
          <a:xfrm>
            <a:off x="3420000" y="1024200"/>
            <a:ext cx="257832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3a047"/>
                </a:solidFill>
                <a:latin typeface="Calibri"/>
              </a:rPr>
              <a:t>Best for: Large datasets where a small number of extreme values won't significantly affect overall results.</a:t>
            </a:r>
            <a:endParaRPr b="0" lang="en-US" sz="1000" spc="-1" strike="noStrike">
              <a:solidFill>
                <a:srgbClr val="ffffff"/>
              </a:solidFill>
              <a:latin typeface="Arial"/>
            </a:endParaRPr>
          </a:p>
        </p:txBody>
      </p:sp>
      <p:sp>
        <p:nvSpPr>
          <p:cNvPr id="286" name="Shape 11"/>
          <p:cNvSpPr/>
          <p:nvPr/>
        </p:nvSpPr>
        <p:spPr>
          <a:xfrm>
            <a:off x="3337560" y="1444680"/>
            <a:ext cx="2724480" cy="347040"/>
          </a:xfrm>
          <a:prstGeom prst="rect">
            <a:avLst/>
          </a:prstGeom>
          <a:solidFill>
            <a:srgbClr val="ffb300">
              <a:alpha val="12000"/>
            </a:srgbClr>
          </a:solidFill>
          <a:ln w="1016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7" name="Shape 12"/>
          <p:cNvSpPr/>
          <p:nvPr/>
        </p:nvSpPr>
        <p:spPr>
          <a:xfrm>
            <a:off x="3337560" y="1444680"/>
            <a:ext cx="45360" cy="34704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8" name="Text 13"/>
          <p:cNvSpPr/>
          <p:nvPr/>
        </p:nvSpPr>
        <p:spPr>
          <a:xfrm>
            <a:off x="3420000" y="1444680"/>
            <a:ext cx="25783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fb300"/>
                </a:solidFill>
                <a:latin typeface="Calibri"/>
              </a:rPr>
              <a:t>Note: Removing too many points may distort the data distribution and reduce representativeness.</a:t>
            </a:r>
            <a:endParaRPr b="0" lang="en-US" sz="1000" spc="-1" strike="noStrike">
              <a:solidFill>
                <a:srgbClr val="ffffff"/>
              </a:solidFill>
              <a:latin typeface="Arial"/>
            </a:endParaRPr>
          </a:p>
        </p:txBody>
      </p:sp>
      <p:sp>
        <p:nvSpPr>
          <p:cNvPr id="289" name="Shape 14"/>
          <p:cNvSpPr/>
          <p:nvPr/>
        </p:nvSpPr>
        <p:spPr>
          <a:xfrm>
            <a:off x="6172200" y="1243440"/>
            <a:ext cx="2578320" cy="347040"/>
          </a:xfrm>
          <a:prstGeom prst="roundRect">
            <a:avLst>
              <a:gd name="adj" fmla="val 21053"/>
            </a:avLst>
          </a:prstGeom>
          <a:solidFill>
            <a:srgbClr val="e53935">
              <a:alpha val="75000"/>
            </a:srgbClr>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0" name="Text 15"/>
          <p:cNvSpPr/>
          <p:nvPr/>
        </p:nvSpPr>
        <p:spPr>
          <a:xfrm>
            <a:off x="6172200" y="1243440"/>
            <a:ext cx="257832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rPr>
              <a:t>Removal (Trimming)</a:t>
            </a:r>
            <a:endParaRPr b="0" lang="en-US" sz="1100" spc="-1" strike="noStrike">
              <a:solidFill>
                <a:srgbClr val="ffffff"/>
              </a:solidFill>
              <a:latin typeface="Arial"/>
            </a:endParaRPr>
          </a:p>
        </p:txBody>
      </p:sp>
      <p:sp>
        <p:nvSpPr>
          <p:cNvPr id="291" name="Shape 16"/>
          <p:cNvSpPr/>
          <p:nvPr/>
        </p:nvSpPr>
        <p:spPr>
          <a:xfrm>
            <a:off x="274320" y="1993320"/>
            <a:ext cx="8595000" cy="895680"/>
          </a:xfrm>
          <a:prstGeom prst="rect">
            <a:avLst/>
          </a:prstGeom>
          <a:solidFill>
            <a:srgbClr val="22304a"/>
          </a:solidFill>
          <a:ln w="1524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Shape 17"/>
          <p:cNvSpPr/>
          <p:nvPr/>
        </p:nvSpPr>
        <p:spPr>
          <a:xfrm>
            <a:off x="274320" y="1993320"/>
            <a:ext cx="548280" cy="895680"/>
          </a:xfrm>
          <a:prstGeom prst="rect">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Text 18"/>
          <p:cNvSpPr/>
          <p:nvPr/>
        </p:nvSpPr>
        <p:spPr>
          <a:xfrm>
            <a:off x="274320" y="1993320"/>
            <a:ext cx="548280" cy="895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2</a:t>
            </a:r>
            <a:endParaRPr b="0" lang="en-US" sz="1800" spc="-1" strike="noStrike">
              <a:solidFill>
                <a:srgbClr val="ffffff"/>
              </a:solidFill>
              <a:latin typeface="Arial"/>
            </a:endParaRPr>
          </a:p>
        </p:txBody>
      </p:sp>
      <p:sp>
        <p:nvSpPr>
          <p:cNvPr id="294" name="Text 19"/>
          <p:cNvSpPr/>
          <p:nvPr/>
        </p:nvSpPr>
        <p:spPr>
          <a:xfrm>
            <a:off x="932760" y="2066400"/>
            <a:ext cx="2285640" cy="292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ffffff"/>
                </a:solidFill>
                <a:latin typeface="Calibri"/>
              </a:rPr>
              <a:t>Capping / Flooring</a:t>
            </a:r>
            <a:endParaRPr b="0" lang="en-US" sz="1350" spc="-1" strike="noStrike">
              <a:solidFill>
                <a:srgbClr val="ffffff"/>
              </a:solidFill>
              <a:latin typeface="Arial"/>
            </a:endParaRPr>
          </a:p>
        </p:txBody>
      </p:sp>
      <p:sp>
        <p:nvSpPr>
          <p:cNvPr id="295" name="Text 20"/>
          <p:cNvSpPr/>
          <p:nvPr/>
        </p:nvSpPr>
        <p:spPr>
          <a:xfrm>
            <a:off x="932760" y="2414160"/>
            <a:ext cx="228564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90a4ae"/>
                </a:solidFill>
                <a:latin typeface="Calibri"/>
              </a:rPr>
              <a:t>Outliers are replaced with upper and lower bound thresholds. Values above the upper bound are capped; below the lower bound are floored.</a:t>
            </a:r>
            <a:endParaRPr b="0" lang="en-US" sz="1100" spc="-1" strike="noStrike">
              <a:solidFill>
                <a:srgbClr val="ffffff"/>
              </a:solidFill>
              <a:latin typeface="Arial"/>
            </a:endParaRPr>
          </a:p>
        </p:txBody>
      </p:sp>
      <p:sp>
        <p:nvSpPr>
          <p:cNvPr id="296" name="Shape 21"/>
          <p:cNvSpPr/>
          <p:nvPr/>
        </p:nvSpPr>
        <p:spPr>
          <a:xfrm>
            <a:off x="3337560" y="2048400"/>
            <a:ext cx="2724480" cy="365400"/>
          </a:xfrm>
          <a:prstGeom prst="rect">
            <a:avLst/>
          </a:prstGeom>
          <a:solidFill>
            <a:srgbClr val="43a047">
              <a:alpha val="12000"/>
            </a:srgbClr>
          </a:solidFill>
          <a:ln w="1016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7" name="Shape 22"/>
          <p:cNvSpPr/>
          <p:nvPr/>
        </p:nvSpPr>
        <p:spPr>
          <a:xfrm>
            <a:off x="3337560" y="2048400"/>
            <a:ext cx="45360" cy="36540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Text 23"/>
          <p:cNvSpPr/>
          <p:nvPr/>
        </p:nvSpPr>
        <p:spPr>
          <a:xfrm>
            <a:off x="3420000" y="2048400"/>
            <a:ext cx="257832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3a047"/>
                </a:solidFill>
                <a:latin typeface="Calibri"/>
              </a:rPr>
              <a:t>Best for: Numeric features with long-tailed distributions — all data points are preserved.</a:t>
            </a:r>
            <a:endParaRPr b="0" lang="en-US" sz="1000" spc="-1" strike="noStrike">
              <a:solidFill>
                <a:srgbClr val="ffffff"/>
              </a:solidFill>
              <a:latin typeface="Arial"/>
            </a:endParaRPr>
          </a:p>
        </p:txBody>
      </p:sp>
      <p:sp>
        <p:nvSpPr>
          <p:cNvPr id="299" name="Shape 24"/>
          <p:cNvSpPr/>
          <p:nvPr/>
        </p:nvSpPr>
        <p:spPr>
          <a:xfrm>
            <a:off x="3337560" y="2468880"/>
            <a:ext cx="2724480" cy="347040"/>
          </a:xfrm>
          <a:prstGeom prst="rect">
            <a:avLst/>
          </a:prstGeom>
          <a:solidFill>
            <a:srgbClr val="ffb300">
              <a:alpha val="12000"/>
            </a:srgbClr>
          </a:solidFill>
          <a:ln w="1016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0" name="Shape 25"/>
          <p:cNvSpPr/>
          <p:nvPr/>
        </p:nvSpPr>
        <p:spPr>
          <a:xfrm>
            <a:off x="3337560" y="2468880"/>
            <a:ext cx="45360" cy="34704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1" name="Text 26"/>
          <p:cNvSpPr/>
          <p:nvPr/>
        </p:nvSpPr>
        <p:spPr>
          <a:xfrm>
            <a:off x="3420000" y="2468880"/>
            <a:ext cx="25783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fb300"/>
                </a:solidFill>
                <a:latin typeface="Calibri"/>
              </a:rPr>
              <a:t>Note: May mask real extreme signals in the data.</a:t>
            </a:r>
            <a:endParaRPr b="0" lang="en-US" sz="1000" spc="-1" strike="noStrike">
              <a:solidFill>
                <a:srgbClr val="ffffff"/>
              </a:solidFill>
              <a:latin typeface="Arial"/>
            </a:endParaRPr>
          </a:p>
        </p:txBody>
      </p:sp>
      <p:sp>
        <p:nvSpPr>
          <p:cNvPr id="302" name="Shape 27"/>
          <p:cNvSpPr/>
          <p:nvPr/>
        </p:nvSpPr>
        <p:spPr>
          <a:xfrm>
            <a:off x="6172200" y="2267640"/>
            <a:ext cx="2578320" cy="347040"/>
          </a:xfrm>
          <a:prstGeom prst="roundRect">
            <a:avLst>
              <a:gd name="adj" fmla="val 21053"/>
            </a:avLst>
          </a:prstGeom>
          <a:solidFill>
            <a:srgbClr val="ff7043">
              <a:alpha val="75000"/>
            </a:srgbClr>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3" name="Text 28"/>
          <p:cNvSpPr/>
          <p:nvPr/>
        </p:nvSpPr>
        <p:spPr>
          <a:xfrm>
            <a:off x="6172200" y="2267640"/>
            <a:ext cx="257832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rPr>
              <a:t>Capping / Flooring</a:t>
            </a:r>
            <a:endParaRPr b="0" lang="en-US" sz="1100" spc="-1" strike="noStrike">
              <a:solidFill>
                <a:srgbClr val="ffffff"/>
              </a:solidFill>
              <a:latin typeface="Arial"/>
            </a:endParaRPr>
          </a:p>
        </p:txBody>
      </p:sp>
      <p:sp>
        <p:nvSpPr>
          <p:cNvPr id="304" name="Shape 29"/>
          <p:cNvSpPr/>
          <p:nvPr/>
        </p:nvSpPr>
        <p:spPr>
          <a:xfrm>
            <a:off x="274320" y="3017520"/>
            <a:ext cx="8595000" cy="895680"/>
          </a:xfrm>
          <a:prstGeom prst="rect">
            <a:avLst/>
          </a:prstGeom>
          <a:solidFill>
            <a:srgbClr val="22304a"/>
          </a:solidFill>
          <a:ln w="1524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5" name="Shape 30"/>
          <p:cNvSpPr/>
          <p:nvPr/>
        </p:nvSpPr>
        <p:spPr>
          <a:xfrm>
            <a:off x="274320" y="3017520"/>
            <a:ext cx="548280" cy="89568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6" name="Text 31"/>
          <p:cNvSpPr/>
          <p:nvPr/>
        </p:nvSpPr>
        <p:spPr>
          <a:xfrm>
            <a:off x="274320" y="3017520"/>
            <a:ext cx="548280" cy="895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3</a:t>
            </a:r>
            <a:endParaRPr b="0" lang="en-US" sz="1800" spc="-1" strike="noStrike">
              <a:solidFill>
                <a:srgbClr val="ffffff"/>
              </a:solidFill>
              <a:latin typeface="Arial"/>
            </a:endParaRPr>
          </a:p>
        </p:txBody>
      </p:sp>
      <p:sp>
        <p:nvSpPr>
          <p:cNvPr id="307" name="Text 32"/>
          <p:cNvSpPr/>
          <p:nvPr/>
        </p:nvSpPr>
        <p:spPr>
          <a:xfrm>
            <a:off x="932760" y="3090600"/>
            <a:ext cx="2285640" cy="292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ffffff"/>
                </a:solidFill>
                <a:latin typeface="Calibri"/>
              </a:rPr>
              <a:t>Mean / Median Imputation</a:t>
            </a:r>
            <a:endParaRPr b="0" lang="en-US" sz="1350" spc="-1" strike="noStrike">
              <a:solidFill>
                <a:srgbClr val="ffffff"/>
              </a:solidFill>
              <a:latin typeface="Arial"/>
            </a:endParaRPr>
          </a:p>
        </p:txBody>
      </p:sp>
      <p:sp>
        <p:nvSpPr>
          <p:cNvPr id="308" name="Text 33"/>
          <p:cNvSpPr/>
          <p:nvPr/>
        </p:nvSpPr>
        <p:spPr>
          <a:xfrm>
            <a:off x="932760" y="3438000"/>
            <a:ext cx="228564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90a4ae"/>
                </a:solidFill>
                <a:latin typeface="Calibri"/>
              </a:rPr>
              <a:t>Outliers are replaced with the mean or median of the data. Median imputation is preferred — less affected by extreme values.</a:t>
            </a:r>
            <a:endParaRPr b="0" lang="en-US" sz="1100" spc="-1" strike="noStrike">
              <a:solidFill>
                <a:srgbClr val="ffffff"/>
              </a:solidFill>
              <a:latin typeface="Arial"/>
            </a:endParaRPr>
          </a:p>
        </p:txBody>
      </p:sp>
      <p:sp>
        <p:nvSpPr>
          <p:cNvPr id="309" name="Shape 34"/>
          <p:cNvSpPr/>
          <p:nvPr/>
        </p:nvSpPr>
        <p:spPr>
          <a:xfrm>
            <a:off x="3337560" y="3072240"/>
            <a:ext cx="2724480" cy="365400"/>
          </a:xfrm>
          <a:prstGeom prst="rect">
            <a:avLst/>
          </a:prstGeom>
          <a:solidFill>
            <a:srgbClr val="43a047">
              <a:alpha val="12000"/>
            </a:srgbClr>
          </a:solidFill>
          <a:ln w="1016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Shape 35"/>
          <p:cNvSpPr/>
          <p:nvPr/>
        </p:nvSpPr>
        <p:spPr>
          <a:xfrm>
            <a:off x="3337560" y="3072240"/>
            <a:ext cx="45360" cy="36540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1" name="Text 36"/>
          <p:cNvSpPr/>
          <p:nvPr/>
        </p:nvSpPr>
        <p:spPr>
          <a:xfrm>
            <a:off x="3420000" y="3072240"/>
            <a:ext cx="257832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3a047"/>
                </a:solidFill>
                <a:latin typeface="Calibri"/>
              </a:rPr>
              <a:t>Best for: Datasets where outliers are rare and likely due to errors.</a:t>
            </a:r>
            <a:endParaRPr b="0" lang="en-US" sz="1000" spc="-1" strike="noStrike">
              <a:solidFill>
                <a:srgbClr val="ffffff"/>
              </a:solidFill>
              <a:latin typeface="Arial"/>
            </a:endParaRPr>
          </a:p>
        </p:txBody>
      </p:sp>
      <p:sp>
        <p:nvSpPr>
          <p:cNvPr id="312" name="Shape 37"/>
          <p:cNvSpPr/>
          <p:nvPr/>
        </p:nvSpPr>
        <p:spPr>
          <a:xfrm>
            <a:off x="3337560" y="3493080"/>
            <a:ext cx="2724480" cy="347040"/>
          </a:xfrm>
          <a:prstGeom prst="rect">
            <a:avLst/>
          </a:prstGeom>
          <a:solidFill>
            <a:srgbClr val="ffb300">
              <a:alpha val="12000"/>
            </a:srgbClr>
          </a:solidFill>
          <a:ln w="1016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3" name="Shape 38"/>
          <p:cNvSpPr/>
          <p:nvPr/>
        </p:nvSpPr>
        <p:spPr>
          <a:xfrm>
            <a:off x="3337560" y="3493080"/>
            <a:ext cx="45360" cy="34704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4" name="Text 39"/>
          <p:cNvSpPr/>
          <p:nvPr/>
        </p:nvSpPr>
        <p:spPr>
          <a:xfrm>
            <a:off x="3420000" y="3493080"/>
            <a:ext cx="25783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fb300"/>
                </a:solidFill>
                <a:latin typeface="Calibri"/>
              </a:rPr>
              <a:t>Note: Median is preferred over mean as mean itself is affected by outliers.</a:t>
            </a:r>
            <a:endParaRPr b="0" lang="en-US" sz="1000" spc="-1" strike="noStrike">
              <a:solidFill>
                <a:srgbClr val="ffffff"/>
              </a:solidFill>
              <a:latin typeface="Arial"/>
            </a:endParaRPr>
          </a:p>
        </p:txBody>
      </p:sp>
      <p:sp>
        <p:nvSpPr>
          <p:cNvPr id="315" name="Shape 40"/>
          <p:cNvSpPr/>
          <p:nvPr/>
        </p:nvSpPr>
        <p:spPr>
          <a:xfrm>
            <a:off x="6172200" y="3291840"/>
            <a:ext cx="2578320" cy="347040"/>
          </a:xfrm>
          <a:prstGeom prst="roundRect">
            <a:avLst>
              <a:gd name="adj" fmla="val 21053"/>
            </a:avLst>
          </a:prstGeom>
          <a:solidFill>
            <a:srgbClr val="ffb300">
              <a:alpha val="75000"/>
            </a:srgbClr>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6" name="Text 41"/>
          <p:cNvSpPr/>
          <p:nvPr/>
        </p:nvSpPr>
        <p:spPr>
          <a:xfrm>
            <a:off x="6172200" y="3291840"/>
            <a:ext cx="257832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rPr>
              <a:t>Mean / Median Imputation</a:t>
            </a:r>
            <a:endParaRPr b="0" lang="en-US" sz="1100" spc="-1" strike="noStrike">
              <a:solidFill>
                <a:srgbClr val="ffffff"/>
              </a:solidFill>
              <a:latin typeface="Arial"/>
            </a:endParaRPr>
          </a:p>
        </p:txBody>
      </p:sp>
      <p:sp>
        <p:nvSpPr>
          <p:cNvPr id="317" name="Shape 42"/>
          <p:cNvSpPr/>
          <p:nvPr/>
        </p:nvSpPr>
        <p:spPr>
          <a:xfrm>
            <a:off x="274320" y="4041720"/>
            <a:ext cx="8595000" cy="895680"/>
          </a:xfrm>
          <a:prstGeom prst="rect">
            <a:avLst/>
          </a:prstGeom>
          <a:solidFill>
            <a:srgbClr val="22304a"/>
          </a:solidFill>
          <a:ln w="1524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8" name="Shape 43"/>
          <p:cNvSpPr/>
          <p:nvPr/>
        </p:nvSpPr>
        <p:spPr>
          <a:xfrm>
            <a:off x="274320" y="4041720"/>
            <a:ext cx="548280" cy="895680"/>
          </a:xfrm>
          <a:prstGeom prst="rect">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9" name="Text 44"/>
          <p:cNvSpPr/>
          <p:nvPr/>
        </p:nvSpPr>
        <p:spPr>
          <a:xfrm>
            <a:off x="274320" y="4041720"/>
            <a:ext cx="548280" cy="895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31a28"/>
                </a:solidFill>
                <a:latin typeface="Calibri"/>
              </a:rPr>
              <a:t>4</a:t>
            </a:r>
            <a:endParaRPr b="0" lang="en-US" sz="1800" spc="-1" strike="noStrike">
              <a:solidFill>
                <a:srgbClr val="ffffff"/>
              </a:solidFill>
              <a:latin typeface="Arial"/>
            </a:endParaRPr>
          </a:p>
        </p:txBody>
      </p:sp>
      <p:sp>
        <p:nvSpPr>
          <p:cNvPr id="320" name="Text 45"/>
          <p:cNvSpPr/>
          <p:nvPr/>
        </p:nvSpPr>
        <p:spPr>
          <a:xfrm>
            <a:off x="932760" y="4114800"/>
            <a:ext cx="2285640" cy="292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ffffff"/>
                </a:solidFill>
                <a:latin typeface="Calibri"/>
              </a:rPr>
              <a:t>Transformation</a:t>
            </a:r>
            <a:endParaRPr b="0" lang="en-US" sz="1350" spc="-1" strike="noStrike">
              <a:solidFill>
                <a:srgbClr val="ffffff"/>
              </a:solidFill>
              <a:latin typeface="Arial"/>
            </a:endParaRPr>
          </a:p>
        </p:txBody>
      </p:sp>
      <p:sp>
        <p:nvSpPr>
          <p:cNvPr id="321" name="Text 46"/>
          <p:cNvSpPr/>
          <p:nvPr/>
        </p:nvSpPr>
        <p:spPr>
          <a:xfrm>
            <a:off x="932760" y="4462200"/>
            <a:ext cx="228564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90a4ae"/>
                </a:solidFill>
                <a:latin typeface="Calibri"/>
              </a:rPr>
              <a:t>Applying logarithmic (log) or Box-Cox transformation compresses the scale — reducing the relative impact of extreme values.</a:t>
            </a:r>
            <a:endParaRPr b="0" lang="en-US" sz="1100" spc="-1" strike="noStrike">
              <a:solidFill>
                <a:srgbClr val="ffffff"/>
              </a:solidFill>
              <a:latin typeface="Arial"/>
            </a:endParaRPr>
          </a:p>
        </p:txBody>
      </p:sp>
      <p:sp>
        <p:nvSpPr>
          <p:cNvPr id="322" name="Shape 47"/>
          <p:cNvSpPr/>
          <p:nvPr/>
        </p:nvSpPr>
        <p:spPr>
          <a:xfrm>
            <a:off x="3337560" y="4096440"/>
            <a:ext cx="2724480" cy="365400"/>
          </a:xfrm>
          <a:prstGeom prst="rect">
            <a:avLst/>
          </a:prstGeom>
          <a:solidFill>
            <a:srgbClr val="43a047">
              <a:alpha val="12000"/>
            </a:srgbClr>
          </a:solidFill>
          <a:ln w="1016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Shape 48"/>
          <p:cNvSpPr/>
          <p:nvPr/>
        </p:nvSpPr>
        <p:spPr>
          <a:xfrm>
            <a:off x="3337560" y="4096440"/>
            <a:ext cx="45360" cy="36540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4" name="Text 49"/>
          <p:cNvSpPr/>
          <p:nvPr/>
        </p:nvSpPr>
        <p:spPr>
          <a:xfrm>
            <a:off x="3420000" y="4096440"/>
            <a:ext cx="257832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43a047"/>
                </a:solidFill>
                <a:latin typeface="Calibri"/>
              </a:rPr>
              <a:t>Best for: When preserving all data points is important but their influence needs moderation.</a:t>
            </a:r>
            <a:endParaRPr b="0" lang="en-US" sz="1000" spc="-1" strike="noStrike">
              <a:solidFill>
                <a:srgbClr val="ffffff"/>
              </a:solidFill>
              <a:latin typeface="Arial"/>
            </a:endParaRPr>
          </a:p>
        </p:txBody>
      </p:sp>
      <p:sp>
        <p:nvSpPr>
          <p:cNvPr id="325" name="Shape 50"/>
          <p:cNvSpPr/>
          <p:nvPr/>
        </p:nvSpPr>
        <p:spPr>
          <a:xfrm>
            <a:off x="3337560" y="4517280"/>
            <a:ext cx="2724480" cy="347040"/>
          </a:xfrm>
          <a:prstGeom prst="rect">
            <a:avLst/>
          </a:prstGeom>
          <a:solidFill>
            <a:srgbClr val="ffb300">
              <a:alpha val="12000"/>
            </a:srgbClr>
          </a:solidFill>
          <a:ln w="1016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6" name="Shape 51"/>
          <p:cNvSpPr/>
          <p:nvPr/>
        </p:nvSpPr>
        <p:spPr>
          <a:xfrm>
            <a:off x="3337560" y="4517280"/>
            <a:ext cx="45360" cy="34704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7" name="Text 52"/>
          <p:cNvSpPr/>
          <p:nvPr/>
        </p:nvSpPr>
        <p:spPr>
          <a:xfrm>
            <a:off x="3420000" y="4517280"/>
            <a:ext cx="25783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fb300"/>
                </a:solidFill>
                <a:latin typeface="Calibri"/>
              </a:rPr>
              <a:t>Note: Transformation changes data scale — models must be interpreted accordingly.</a:t>
            </a:r>
            <a:endParaRPr b="0" lang="en-US" sz="1000" spc="-1" strike="noStrike">
              <a:solidFill>
                <a:srgbClr val="ffffff"/>
              </a:solidFill>
              <a:latin typeface="Arial"/>
            </a:endParaRPr>
          </a:p>
        </p:txBody>
      </p:sp>
      <p:sp>
        <p:nvSpPr>
          <p:cNvPr id="328" name="Shape 53"/>
          <p:cNvSpPr/>
          <p:nvPr/>
        </p:nvSpPr>
        <p:spPr>
          <a:xfrm>
            <a:off x="6172200" y="4316040"/>
            <a:ext cx="2578320" cy="347040"/>
          </a:xfrm>
          <a:prstGeom prst="roundRect">
            <a:avLst>
              <a:gd name="adj" fmla="val 21053"/>
            </a:avLst>
          </a:prstGeom>
          <a:solidFill>
            <a:srgbClr val="00acc1">
              <a:alpha val="75000"/>
            </a:srgbClr>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9" name="Text 54"/>
          <p:cNvSpPr/>
          <p:nvPr/>
        </p:nvSpPr>
        <p:spPr>
          <a:xfrm>
            <a:off x="6172200" y="4316040"/>
            <a:ext cx="257832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rPr>
              <a:t>Transformation</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330" name="Shape 0"/>
          <p:cNvSpPr/>
          <p:nvPr/>
        </p:nvSpPr>
        <p:spPr>
          <a:xfrm>
            <a:off x="0" y="0"/>
            <a:ext cx="9143640" cy="594000"/>
          </a:xfrm>
          <a:prstGeom prst="rect">
            <a:avLst/>
          </a:prstGeom>
          <a:solidFill>
            <a:srgbClr val="131a28"/>
          </a:solidFill>
          <a:ln w="12700">
            <a:solidFill>
              <a:srgbClr val="131a2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1" name="Shape 1"/>
          <p:cNvSpPr/>
          <p:nvPr/>
        </p:nvSpPr>
        <p:spPr>
          <a:xfrm>
            <a:off x="0" y="594360"/>
            <a:ext cx="4571640" cy="63720"/>
          </a:xfrm>
          <a:prstGeom prst="rect">
            <a:avLst/>
          </a:prstGeom>
          <a:solidFill>
            <a:srgbClr val="e53935"/>
          </a:solidFill>
          <a:ln w="12700">
            <a:solidFill>
              <a:srgbClr val="e5393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332" name="Shape 2"/>
          <p:cNvSpPr/>
          <p:nvPr/>
        </p:nvSpPr>
        <p:spPr>
          <a:xfrm>
            <a:off x="4572000" y="594360"/>
            <a:ext cx="4571640" cy="63720"/>
          </a:xfrm>
          <a:prstGeom prst="rect">
            <a:avLst/>
          </a:prstGeom>
          <a:solidFill>
            <a:srgbClr val="43a047"/>
          </a:solidFill>
          <a:ln w="12700">
            <a:solidFill>
              <a:srgbClr val="43a047"/>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333" name="Text 3"/>
          <p:cNvSpPr/>
          <p:nvPr/>
        </p:nvSpPr>
        <p:spPr>
          <a:xfrm>
            <a:off x="457200" y="91440"/>
            <a:ext cx="822924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300" spc="-1" strike="noStrike">
                <a:solidFill>
                  <a:srgbClr val="ffffff"/>
                </a:solidFill>
                <a:latin typeface="Calibri"/>
                <a:ea typeface="Calibri"/>
              </a:rPr>
              <a:t>When to Drop or Keep Outliers</a:t>
            </a:r>
            <a:endParaRPr b="0" lang="en-US" sz="2300" spc="-1" strike="noStrike">
              <a:solidFill>
                <a:srgbClr val="000000"/>
              </a:solidFill>
              <a:latin typeface="Arial"/>
            </a:endParaRPr>
          </a:p>
        </p:txBody>
      </p:sp>
      <p:sp>
        <p:nvSpPr>
          <p:cNvPr id="334" name="Shape 4"/>
          <p:cNvSpPr/>
          <p:nvPr/>
        </p:nvSpPr>
        <p:spPr>
          <a:xfrm>
            <a:off x="274320" y="804600"/>
            <a:ext cx="4068720" cy="4068720"/>
          </a:xfrm>
          <a:prstGeom prst="rect">
            <a:avLst/>
          </a:prstGeom>
          <a:solidFill>
            <a:srgbClr val="ffffff"/>
          </a:solidFill>
          <a:ln w="19050">
            <a:solidFill>
              <a:srgbClr val="e53935"/>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5" name="Shape 5"/>
          <p:cNvSpPr/>
          <p:nvPr/>
        </p:nvSpPr>
        <p:spPr>
          <a:xfrm>
            <a:off x="274320" y="804600"/>
            <a:ext cx="4068720" cy="47520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6" name="Text 6"/>
          <p:cNvSpPr/>
          <p:nvPr/>
        </p:nvSpPr>
        <p:spPr>
          <a:xfrm>
            <a:off x="384120" y="804600"/>
            <a:ext cx="38491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ffffff"/>
                </a:solidFill>
                <a:latin typeface="Calibri"/>
              </a:rPr>
              <a:t>When You SHOULD Drop Outliers</a:t>
            </a:r>
            <a:endParaRPr b="0" lang="en-US" sz="1350" spc="-1" strike="noStrike">
              <a:solidFill>
                <a:srgbClr val="000000"/>
              </a:solidFill>
              <a:latin typeface="Arial"/>
            </a:endParaRPr>
          </a:p>
        </p:txBody>
      </p:sp>
      <p:sp>
        <p:nvSpPr>
          <p:cNvPr id="337" name="Shape 7"/>
          <p:cNvSpPr/>
          <p:nvPr/>
        </p:nvSpPr>
        <p:spPr>
          <a:xfrm>
            <a:off x="347400" y="1408320"/>
            <a:ext cx="3904200" cy="1005480"/>
          </a:xfrm>
          <a:prstGeom prst="rect">
            <a:avLst/>
          </a:prstGeom>
          <a:solidFill>
            <a:srgbClr val="fff1f2"/>
          </a:solidFill>
          <a:ln w="12700">
            <a:solidFill>
              <a:srgbClr val="ffcdd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8" name="Shape 8"/>
          <p:cNvSpPr/>
          <p:nvPr/>
        </p:nvSpPr>
        <p:spPr>
          <a:xfrm>
            <a:off x="347400" y="1408320"/>
            <a:ext cx="63720" cy="100548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9" name="Shape 9"/>
          <p:cNvSpPr/>
          <p:nvPr/>
        </p:nvSpPr>
        <p:spPr>
          <a:xfrm>
            <a:off x="493920" y="1536120"/>
            <a:ext cx="328680" cy="32868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0" name="Text 10"/>
          <p:cNvSpPr/>
          <p:nvPr/>
        </p:nvSpPr>
        <p:spPr>
          <a:xfrm>
            <a:off x="493920" y="153612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X</a:t>
            </a:r>
            <a:endParaRPr b="0" lang="en-US" sz="1400" spc="-1" strike="noStrike">
              <a:solidFill>
                <a:srgbClr val="000000"/>
              </a:solidFill>
              <a:latin typeface="Arial"/>
            </a:endParaRPr>
          </a:p>
        </p:txBody>
      </p:sp>
      <p:sp>
        <p:nvSpPr>
          <p:cNvPr id="341" name="Text 11"/>
          <p:cNvSpPr/>
          <p:nvPr/>
        </p:nvSpPr>
        <p:spPr>
          <a:xfrm>
            <a:off x="932760" y="1481400"/>
            <a:ext cx="3200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31a28"/>
                </a:solidFill>
                <a:latin typeface="Calibri"/>
              </a:rPr>
              <a:t>Clearly incorrect value</a:t>
            </a:r>
            <a:endParaRPr b="0" lang="en-US" sz="1250" spc="-1" strike="noStrike">
              <a:solidFill>
                <a:srgbClr val="000000"/>
              </a:solidFill>
              <a:latin typeface="Arial"/>
            </a:endParaRPr>
          </a:p>
        </p:txBody>
      </p:sp>
      <p:sp>
        <p:nvSpPr>
          <p:cNvPr id="342" name="Text 12"/>
          <p:cNvSpPr/>
          <p:nvPr/>
        </p:nvSpPr>
        <p:spPr>
          <a:xfrm>
            <a:off x="932760" y="1810440"/>
            <a:ext cx="320004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331111"/>
                </a:solidFill>
                <a:latin typeface="Calibri"/>
              </a:rPr>
              <a:t>Domain knowledge confirms the value is impossible (e.g., human age of 200 years) — safely removed.</a:t>
            </a:r>
            <a:endParaRPr b="0" lang="en-US" sz="1100" spc="-1" strike="noStrike">
              <a:solidFill>
                <a:srgbClr val="000000"/>
              </a:solidFill>
              <a:latin typeface="Arial"/>
            </a:endParaRPr>
          </a:p>
        </p:txBody>
      </p:sp>
      <p:sp>
        <p:nvSpPr>
          <p:cNvPr id="343" name="Shape 13"/>
          <p:cNvSpPr/>
          <p:nvPr/>
        </p:nvSpPr>
        <p:spPr>
          <a:xfrm>
            <a:off x="347400" y="2523600"/>
            <a:ext cx="3904200" cy="1005480"/>
          </a:xfrm>
          <a:prstGeom prst="rect">
            <a:avLst/>
          </a:prstGeom>
          <a:solidFill>
            <a:srgbClr val="fff1f2"/>
          </a:solidFill>
          <a:ln w="12700">
            <a:solidFill>
              <a:srgbClr val="ffcdd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4" name="Shape 14"/>
          <p:cNvSpPr/>
          <p:nvPr/>
        </p:nvSpPr>
        <p:spPr>
          <a:xfrm>
            <a:off x="347400" y="2523600"/>
            <a:ext cx="63720" cy="100548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Shape 15"/>
          <p:cNvSpPr/>
          <p:nvPr/>
        </p:nvSpPr>
        <p:spPr>
          <a:xfrm>
            <a:off x="493920" y="2651760"/>
            <a:ext cx="328680" cy="32868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Text 16"/>
          <p:cNvSpPr/>
          <p:nvPr/>
        </p:nvSpPr>
        <p:spPr>
          <a:xfrm>
            <a:off x="493920" y="265176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X</a:t>
            </a:r>
            <a:endParaRPr b="0" lang="en-US" sz="1400" spc="-1" strike="noStrike">
              <a:solidFill>
                <a:srgbClr val="000000"/>
              </a:solidFill>
              <a:latin typeface="Arial"/>
            </a:endParaRPr>
          </a:p>
        </p:txBody>
      </p:sp>
      <p:sp>
        <p:nvSpPr>
          <p:cNvPr id="347" name="Text 17"/>
          <p:cNvSpPr/>
          <p:nvPr/>
        </p:nvSpPr>
        <p:spPr>
          <a:xfrm>
            <a:off x="932760" y="2597040"/>
            <a:ext cx="3200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31a28"/>
                </a:solidFill>
                <a:latin typeface="Calibri"/>
              </a:rPr>
              <a:t>You have a large dataset</a:t>
            </a:r>
            <a:endParaRPr b="0" lang="en-US" sz="1250" spc="-1" strike="noStrike">
              <a:solidFill>
                <a:srgbClr val="000000"/>
              </a:solidFill>
              <a:latin typeface="Arial"/>
            </a:endParaRPr>
          </a:p>
        </p:txBody>
      </p:sp>
      <p:sp>
        <p:nvSpPr>
          <p:cNvPr id="348" name="Text 18"/>
          <p:cNvSpPr/>
          <p:nvPr/>
        </p:nvSpPr>
        <p:spPr>
          <a:xfrm>
            <a:off x="932760" y="2926080"/>
            <a:ext cx="320004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331111"/>
                </a:solidFill>
                <a:latin typeface="Calibri"/>
              </a:rPr>
              <a:t>In large samples, removing a small number of questionable outliers usually does not distort the overall distribution.</a:t>
            </a:r>
            <a:endParaRPr b="0" lang="en-US" sz="1100" spc="-1" strike="noStrike">
              <a:solidFill>
                <a:srgbClr val="000000"/>
              </a:solidFill>
              <a:latin typeface="Arial"/>
            </a:endParaRPr>
          </a:p>
        </p:txBody>
      </p:sp>
      <p:sp>
        <p:nvSpPr>
          <p:cNvPr id="349" name="Shape 19"/>
          <p:cNvSpPr/>
          <p:nvPr/>
        </p:nvSpPr>
        <p:spPr>
          <a:xfrm>
            <a:off x="347400" y="3639240"/>
            <a:ext cx="3904200" cy="1005480"/>
          </a:xfrm>
          <a:prstGeom prst="rect">
            <a:avLst/>
          </a:prstGeom>
          <a:solidFill>
            <a:srgbClr val="fff1f2"/>
          </a:solidFill>
          <a:ln w="12700">
            <a:solidFill>
              <a:srgbClr val="ffcdd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0" name="Shape 20"/>
          <p:cNvSpPr/>
          <p:nvPr/>
        </p:nvSpPr>
        <p:spPr>
          <a:xfrm>
            <a:off x="347400" y="3639240"/>
            <a:ext cx="63720" cy="100548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1" name="Shape 21"/>
          <p:cNvSpPr/>
          <p:nvPr/>
        </p:nvSpPr>
        <p:spPr>
          <a:xfrm>
            <a:off x="493920" y="3767400"/>
            <a:ext cx="328680" cy="32868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2" name="Text 22"/>
          <p:cNvSpPr/>
          <p:nvPr/>
        </p:nvSpPr>
        <p:spPr>
          <a:xfrm>
            <a:off x="493920" y="37674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X</a:t>
            </a:r>
            <a:endParaRPr b="0" lang="en-US" sz="1400" spc="-1" strike="noStrike">
              <a:solidFill>
                <a:srgbClr val="000000"/>
              </a:solidFill>
              <a:latin typeface="Arial"/>
            </a:endParaRPr>
          </a:p>
        </p:txBody>
      </p:sp>
      <p:sp>
        <p:nvSpPr>
          <p:cNvPr id="353" name="Text 23"/>
          <p:cNvSpPr/>
          <p:nvPr/>
        </p:nvSpPr>
        <p:spPr>
          <a:xfrm>
            <a:off x="932760" y="3712320"/>
            <a:ext cx="3200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31a28"/>
                </a:solidFill>
                <a:latin typeface="Calibri"/>
              </a:rPr>
              <a:t>Error is verifiable</a:t>
            </a:r>
            <a:endParaRPr b="0" lang="en-US" sz="1250" spc="-1" strike="noStrike">
              <a:solidFill>
                <a:srgbClr val="000000"/>
              </a:solidFill>
              <a:latin typeface="Arial"/>
            </a:endParaRPr>
          </a:p>
        </p:txBody>
      </p:sp>
      <p:sp>
        <p:nvSpPr>
          <p:cNvPr id="354" name="Text 24"/>
          <p:cNvSpPr/>
          <p:nvPr/>
        </p:nvSpPr>
        <p:spPr>
          <a:xfrm>
            <a:off x="932760" y="4041720"/>
            <a:ext cx="320004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331111"/>
                </a:solidFill>
                <a:latin typeface="Calibri"/>
              </a:rPr>
              <a:t>You can revisit the data source and confirm the observation resulted from an error — removal is justified.</a:t>
            </a:r>
            <a:endParaRPr b="0" lang="en-US" sz="1100" spc="-1" strike="noStrike">
              <a:solidFill>
                <a:srgbClr val="000000"/>
              </a:solidFill>
              <a:latin typeface="Arial"/>
            </a:endParaRPr>
          </a:p>
        </p:txBody>
      </p:sp>
      <p:sp>
        <p:nvSpPr>
          <p:cNvPr id="355" name="Shape 25"/>
          <p:cNvSpPr/>
          <p:nvPr/>
        </p:nvSpPr>
        <p:spPr>
          <a:xfrm>
            <a:off x="4800600" y="804600"/>
            <a:ext cx="4068720" cy="4068720"/>
          </a:xfrm>
          <a:prstGeom prst="rect">
            <a:avLst/>
          </a:prstGeom>
          <a:solidFill>
            <a:srgbClr val="ffffff"/>
          </a:solidFill>
          <a:ln w="19050">
            <a:solidFill>
              <a:srgbClr val="43a047"/>
            </a:solidFill>
            <a:round/>
          </a:ln>
          <a:effectLst>
            <a:outerShdw algn="bl" blurRad="127080" dir="8100000" dist="37674" kx="0" ky="0" rotWithShape="0" sx="100000" sy="100000">
              <a:srgbClr val="000000">
                <a:alpha val="16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6" name="Shape 26"/>
          <p:cNvSpPr/>
          <p:nvPr/>
        </p:nvSpPr>
        <p:spPr>
          <a:xfrm>
            <a:off x="4800600" y="804600"/>
            <a:ext cx="4068720" cy="47520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7" name="Text 27"/>
          <p:cNvSpPr/>
          <p:nvPr/>
        </p:nvSpPr>
        <p:spPr>
          <a:xfrm>
            <a:off x="4910400" y="804600"/>
            <a:ext cx="38491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fffff"/>
                </a:solidFill>
                <a:latin typeface="Calibri"/>
              </a:rPr>
              <a:t>When You Should NOT Drop Outliers</a:t>
            </a:r>
            <a:endParaRPr b="0" lang="en-US" sz="1300" spc="-1" strike="noStrike">
              <a:solidFill>
                <a:srgbClr val="000000"/>
              </a:solidFill>
              <a:latin typeface="Arial"/>
            </a:endParaRPr>
          </a:p>
        </p:txBody>
      </p:sp>
      <p:sp>
        <p:nvSpPr>
          <p:cNvPr id="358" name="Shape 28"/>
          <p:cNvSpPr/>
          <p:nvPr/>
        </p:nvSpPr>
        <p:spPr>
          <a:xfrm>
            <a:off x="4873680" y="1408320"/>
            <a:ext cx="3904200" cy="1005480"/>
          </a:xfrm>
          <a:prstGeom prst="rect">
            <a:avLst/>
          </a:prstGeom>
          <a:solidFill>
            <a:srgbClr val="f1fdf4"/>
          </a:solidFill>
          <a:ln w="12700">
            <a:solidFill>
              <a:srgbClr val="c8e6c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9" name="Shape 29"/>
          <p:cNvSpPr/>
          <p:nvPr/>
        </p:nvSpPr>
        <p:spPr>
          <a:xfrm>
            <a:off x="4873680" y="1408320"/>
            <a:ext cx="63720" cy="100548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0" name="Shape 30"/>
          <p:cNvSpPr/>
          <p:nvPr/>
        </p:nvSpPr>
        <p:spPr>
          <a:xfrm>
            <a:off x="5020200" y="1536120"/>
            <a:ext cx="328680" cy="328680"/>
          </a:xfrm>
          <a:prstGeom prst="ellipse">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1" name="Text 31"/>
          <p:cNvSpPr/>
          <p:nvPr/>
        </p:nvSpPr>
        <p:spPr>
          <a:xfrm>
            <a:off x="5020200" y="153612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V</a:t>
            </a:r>
            <a:endParaRPr b="0" lang="en-US" sz="1400" spc="-1" strike="noStrike">
              <a:solidFill>
                <a:srgbClr val="000000"/>
              </a:solidFill>
              <a:latin typeface="Arial"/>
            </a:endParaRPr>
          </a:p>
        </p:txBody>
      </p:sp>
      <p:sp>
        <p:nvSpPr>
          <p:cNvPr id="362" name="Text 32"/>
          <p:cNvSpPr/>
          <p:nvPr/>
        </p:nvSpPr>
        <p:spPr>
          <a:xfrm>
            <a:off x="5459040" y="1481400"/>
            <a:ext cx="3200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31a28"/>
                </a:solidFill>
                <a:latin typeface="Calibri"/>
              </a:rPr>
              <a:t>Critical or high-risk results</a:t>
            </a:r>
            <a:endParaRPr b="0" lang="en-US" sz="1250" spc="-1" strike="noStrike">
              <a:solidFill>
                <a:srgbClr val="000000"/>
              </a:solidFill>
              <a:latin typeface="Arial"/>
            </a:endParaRPr>
          </a:p>
        </p:txBody>
      </p:sp>
      <p:sp>
        <p:nvSpPr>
          <p:cNvPr id="363" name="Text 33"/>
          <p:cNvSpPr/>
          <p:nvPr/>
        </p:nvSpPr>
        <p:spPr>
          <a:xfrm>
            <a:off x="5459040" y="1810440"/>
            <a:ext cx="320004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113311"/>
                </a:solidFill>
                <a:latin typeface="Calibri"/>
              </a:rPr>
              <a:t>In safety-critical or scientific applications (e.g., aircraft failures, medical data) even extreme values carry crucial information.</a:t>
            </a:r>
            <a:endParaRPr b="0" lang="en-US" sz="1100" spc="-1" strike="noStrike">
              <a:solidFill>
                <a:srgbClr val="000000"/>
              </a:solidFill>
              <a:latin typeface="Arial"/>
            </a:endParaRPr>
          </a:p>
        </p:txBody>
      </p:sp>
      <p:sp>
        <p:nvSpPr>
          <p:cNvPr id="364" name="Shape 34"/>
          <p:cNvSpPr/>
          <p:nvPr/>
        </p:nvSpPr>
        <p:spPr>
          <a:xfrm>
            <a:off x="4873680" y="2523600"/>
            <a:ext cx="3904200" cy="1005480"/>
          </a:xfrm>
          <a:prstGeom prst="rect">
            <a:avLst/>
          </a:prstGeom>
          <a:solidFill>
            <a:srgbClr val="f1fdf4"/>
          </a:solidFill>
          <a:ln w="12700">
            <a:solidFill>
              <a:srgbClr val="c8e6c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5" name="Shape 35"/>
          <p:cNvSpPr/>
          <p:nvPr/>
        </p:nvSpPr>
        <p:spPr>
          <a:xfrm>
            <a:off x="4873680" y="2523600"/>
            <a:ext cx="63720" cy="100548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6" name="Shape 36"/>
          <p:cNvSpPr/>
          <p:nvPr/>
        </p:nvSpPr>
        <p:spPr>
          <a:xfrm>
            <a:off x="5020200" y="2651760"/>
            <a:ext cx="328680" cy="328680"/>
          </a:xfrm>
          <a:prstGeom prst="ellipse">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7" name="Text 37"/>
          <p:cNvSpPr/>
          <p:nvPr/>
        </p:nvSpPr>
        <p:spPr>
          <a:xfrm>
            <a:off x="5020200" y="265176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V</a:t>
            </a:r>
            <a:endParaRPr b="0" lang="en-US" sz="1400" spc="-1" strike="noStrike">
              <a:solidFill>
                <a:srgbClr val="000000"/>
              </a:solidFill>
              <a:latin typeface="Arial"/>
            </a:endParaRPr>
          </a:p>
        </p:txBody>
      </p:sp>
      <p:sp>
        <p:nvSpPr>
          <p:cNvPr id="368" name="Text 38"/>
          <p:cNvSpPr/>
          <p:nvPr/>
        </p:nvSpPr>
        <p:spPr>
          <a:xfrm>
            <a:off x="5459040" y="2597040"/>
            <a:ext cx="3200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31a28"/>
                </a:solidFill>
                <a:latin typeface="Calibri"/>
              </a:rPr>
              <a:t>Many outliers are present</a:t>
            </a:r>
            <a:endParaRPr b="0" lang="en-US" sz="1250" spc="-1" strike="noStrike">
              <a:solidFill>
                <a:srgbClr val="000000"/>
              </a:solidFill>
              <a:latin typeface="Arial"/>
            </a:endParaRPr>
          </a:p>
        </p:txBody>
      </p:sp>
      <p:sp>
        <p:nvSpPr>
          <p:cNvPr id="369" name="Text 39"/>
          <p:cNvSpPr/>
          <p:nvPr/>
        </p:nvSpPr>
        <p:spPr>
          <a:xfrm>
            <a:off x="5459040" y="2926080"/>
            <a:ext cx="320004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113311"/>
                </a:solidFill>
                <a:latin typeface="Calibri"/>
              </a:rPr>
              <a:t>If a large portion appears as outliers, it likely indicates a data pattern shift or segmentation issue — deeper analysis needed.</a:t>
            </a:r>
            <a:endParaRPr b="0" lang="en-US" sz="1100" spc="-1" strike="noStrike">
              <a:solidFill>
                <a:srgbClr val="000000"/>
              </a:solidFill>
              <a:latin typeface="Arial"/>
            </a:endParaRPr>
          </a:p>
        </p:txBody>
      </p:sp>
      <p:sp>
        <p:nvSpPr>
          <p:cNvPr id="370" name="Shape 40"/>
          <p:cNvSpPr/>
          <p:nvPr/>
        </p:nvSpPr>
        <p:spPr>
          <a:xfrm>
            <a:off x="4873680" y="3639240"/>
            <a:ext cx="3904200" cy="1005480"/>
          </a:xfrm>
          <a:prstGeom prst="rect">
            <a:avLst/>
          </a:prstGeom>
          <a:solidFill>
            <a:srgbClr val="f1fdf4"/>
          </a:solidFill>
          <a:ln w="12700">
            <a:solidFill>
              <a:srgbClr val="c8e6c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1" name="Shape 41"/>
          <p:cNvSpPr/>
          <p:nvPr/>
        </p:nvSpPr>
        <p:spPr>
          <a:xfrm>
            <a:off x="4873680" y="3639240"/>
            <a:ext cx="63720" cy="100548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2" name="Shape 42"/>
          <p:cNvSpPr/>
          <p:nvPr/>
        </p:nvSpPr>
        <p:spPr>
          <a:xfrm>
            <a:off x="5020200" y="3767400"/>
            <a:ext cx="328680" cy="328680"/>
          </a:xfrm>
          <a:prstGeom prst="ellipse">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3" name="Text 43"/>
          <p:cNvSpPr/>
          <p:nvPr/>
        </p:nvSpPr>
        <p:spPr>
          <a:xfrm>
            <a:off x="5020200" y="3767400"/>
            <a:ext cx="328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rPr>
              <a:t>V</a:t>
            </a:r>
            <a:endParaRPr b="0" lang="en-US" sz="1400" spc="-1" strike="noStrike">
              <a:solidFill>
                <a:srgbClr val="000000"/>
              </a:solidFill>
              <a:latin typeface="Arial"/>
            </a:endParaRPr>
          </a:p>
        </p:txBody>
      </p:sp>
      <p:sp>
        <p:nvSpPr>
          <p:cNvPr id="374" name="Text 44"/>
          <p:cNvSpPr/>
          <p:nvPr/>
        </p:nvSpPr>
        <p:spPr>
          <a:xfrm>
            <a:off x="5459040" y="3712320"/>
            <a:ext cx="3200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31a28"/>
                </a:solidFill>
                <a:latin typeface="Calibri"/>
              </a:rPr>
              <a:t>Outliers represent real events</a:t>
            </a:r>
            <a:endParaRPr b="0" lang="en-US" sz="1250" spc="-1" strike="noStrike">
              <a:solidFill>
                <a:srgbClr val="000000"/>
              </a:solidFill>
              <a:latin typeface="Arial"/>
            </a:endParaRPr>
          </a:p>
        </p:txBody>
      </p:sp>
      <p:sp>
        <p:nvSpPr>
          <p:cNvPr id="375" name="Text 45"/>
          <p:cNvSpPr/>
          <p:nvPr/>
        </p:nvSpPr>
        <p:spPr>
          <a:xfrm>
            <a:off x="5459040" y="4041720"/>
            <a:ext cx="320004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113311"/>
                </a:solidFill>
                <a:latin typeface="Calibri"/>
              </a:rPr>
              <a:t>In fraud detection, anomaly detection or rare event modeling, outliers are often the PRIMARY FOCUS and must be retained.</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8"/>
        </a:solidFill>
      </p:bgPr>
    </p:bg>
    <p:spTree>
      <p:nvGrpSpPr>
        <p:cNvPr id="1" name=""/>
        <p:cNvGrpSpPr/>
        <p:nvPr/>
      </p:nvGrpSpPr>
      <p:grpSpPr>
        <a:xfrm>
          <a:off x="0" y="0"/>
          <a:ext cx="0" cy="0"/>
          <a:chOff x="0" y="0"/>
          <a:chExt cx="0" cy="0"/>
        </a:xfrm>
      </p:grpSpPr>
      <p:sp>
        <p:nvSpPr>
          <p:cNvPr id="376" name="Shape 0"/>
          <p:cNvSpPr/>
          <p:nvPr/>
        </p:nvSpPr>
        <p:spPr>
          <a:xfrm>
            <a:off x="0" y="0"/>
            <a:ext cx="9143640" cy="63720"/>
          </a:xfrm>
          <a:prstGeom prst="rect">
            <a:avLst/>
          </a:prstGeom>
          <a:solidFill>
            <a:srgbClr val="ffb300"/>
          </a:solidFill>
          <a:ln w="12700">
            <a:solidFill>
              <a:srgbClr val="ffb300"/>
            </a:solidFill>
            <a:round/>
          </a:ln>
        </p:spPr>
        <p:style>
          <a:lnRef idx="0"/>
          <a:fillRef idx="0"/>
          <a:effectRef idx="0"/>
          <a:fontRef idx="minor"/>
        </p:style>
        <p:txBody>
          <a:bodyPr lIns="90000" rIns="90000" tIns="19080" bIns="19080" anchor="t">
            <a:noAutofit/>
          </a:bodyPr>
          <a:p>
            <a:endParaRPr b="0" lang="en-US" sz="1800" spc="-1" strike="noStrike">
              <a:solidFill>
                <a:srgbClr val="000000"/>
              </a:solidFill>
              <a:latin typeface="Arial"/>
            </a:endParaRPr>
          </a:p>
        </p:txBody>
      </p:sp>
      <p:sp>
        <p:nvSpPr>
          <p:cNvPr id="377" name="Text 1"/>
          <p:cNvSpPr/>
          <p:nvPr/>
        </p:nvSpPr>
        <p:spPr>
          <a:xfrm>
            <a:off x="457200" y="164520"/>
            <a:ext cx="82292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900" spc="-1" strike="noStrike">
                <a:solidFill>
                  <a:srgbClr val="ffffff"/>
                </a:solidFill>
                <a:latin typeface="Calibri"/>
                <a:ea typeface="Calibri"/>
              </a:rPr>
              <a:t>Detection Method Comparison</a:t>
            </a:r>
            <a:endParaRPr b="0" lang="en-US" sz="2900" spc="-1" strike="noStrike">
              <a:solidFill>
                <a:srgbClr val="ffffff"/>
              </a:solidFill>
              <a:latin typeface="Arial"/>
            </a:endParaRPr>
          </a:p>
        </p:txBody>
      </p:sp>
      <p:sp>
        <p:nvSpPr>
          <p:cNvPr id="378" name="Shape 2"/>
          <p:cNvSpPr/>
          <p:nvPr/>
        </p:nvSpPr>
        <p:spPr>
          <a:xfrm>
            <a:off x="2267640" y="804600"/>
            <a:ext cx="1663920" cy="47520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9" name="Text 3"/>
          <p:cNvSpPr/>
          <p:nvPr/>
        </p:nvSpPr>
        <p:spPr>
          <a:xfrm>
            <a:off x="2267640" y="804600"/>
            <a:ext cx="166392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Z-Score</a:t>
            </a:r>
            <a:endParaRPr b="0" lang="en-US" sz="1250" spc="-1" strike="noStrike">
              <a:solidFill>
                <a:srgbClr val="ffffff"/>
              </a:solidFill>
              <a:latin typeface="Arial"/>
            </a:endParaRPr>
          </a:p>
        </p:txBody>
      </p:sp>
      <p:sp>
        <p:nvSpPr>
          <p:cNvPr id="380" name="Shape 4"/>
          <p:cNvSpPr/>
          <p:nvPr/>
        </p:nvSpPr>
        <p:spPr>
          <a:xfrm>
            <a:off x="4005000" y="804600"/>
            <a:ext cx="1663920" cy="475200"/>
          </a:xfrm>
          <a:prstGeom prst="rect">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1" name="Text 5"/>
          <p:cNvSpPr/>
          <p:nvPr/>
        </p:nvSpPr>
        <p:spPr>
          <a:xfrm>
            <a:off x="4005000" y="804600"/>
            <a:ext cx="166392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IQR Method</a:t>
            </a:r>
            <a:endParaRPr b="0" lang="en-US" sz="1250" spc="-1" strike="noStrike">
              <a:solidFill>
                <a:srgbClr val="ffffff"/>
              </a:solidFill>
              <a:latin typeface="Arial"/>
            </a:endParaRPr>
          </a:p>
        </p:txBody>
      </p:sp>
      <p:sp>
        <p:nvSpPr>
          <p:cNvPr id="382" name="Shape 6"/>
          <p:cNvSpPr/>
          <p:nvPr/>
        </p:nvSpPr>
        <p:spPr>
          <a:xfrm>
            <a:off x="5742360" y="804600"/>
            <a:ext cx="1663920" cy="475200"/>
          </a:xfrm>
          <a:prstGeom prst="rect">
            <a:avLst/>
          </a:prstGeom>
          <a:solidFill>
            <a:srgbClr val="00acc1"/>
          </a:solidFill>
          <a:ln w="12700">
            <a:solidFill>
              <a:srgbClr val="00acc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3" name="Text 7"/>
          <p:cNvSpPr/>
          <p:nvPr/>
        </p:nvSpPr>
        <p:spPr>
          <a:xfrm>
            <a:off x="5742360" y="804600"/>
            <a:ext cx="166392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DBSCAN</a:t>
            </a:r>
            <a:endParaRPr b="0" lang="en-US" sz="1250" spc="-1" strike="noStrike">
              <a:solidFill>
                <a:srgbClr val="ffffff"/>
              </a:solidFill>
              <a:latin typeface="Arial"/>
            </a:endParaRPr>
          </a:p>
        </p:txBody>
      </p:sp>
      <p:sp>
        <p:nvSpPr>
          <p:cNvPr id="384" name="Shape 8"/>
          <p:cNvSpPr/>
          <p:nvPr/>
        </p:nvSpPr>
        <p:spPr>
          <a:xfrm>
            <a:off x="7479720" y="804600"/>
            <a:ext cx="1663920" cy="47520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5" name="Text 9"/>
          <p:cNvSpPr/>
          <p:nvPr/>
        </p:nvSpPr>
        <p:spPr>
          <a:xfrm>
            <a:off x="7479720" y="804600"/>
            <a:ext cx="166392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31a28"/>
                </a:solidFill>
                <a:latin typeface="Calibri"/>
              </a:rPr>
              <a:t>Isolation Forest</a:t>
            </a:r>
            <a:endParaRPr b="0" lang="en-US" sz="1250" spc="-1" strike="noStrike">
              <a:solidFill>
                <a:srgbClr val="ffffff"/>
              </a:solidFill>
              <a:latin typeface="Arial"/>
            </a:endParaRPr>
          </a:p>
        </p:txBody>
      </p:sp>
      <p:sp>
        <p:nvSpPr>
          <p:cNvPr id="386" name="Shape 10"/>
          <p:cNvSpPr/>
          <p:nvPr/>
        </p:nvSpPr>
        <p:spPr>
          <a:xfrm>
            <a:off x="274320" y="1389960"/>
            <a:ext cx="194724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7" name="Text 11"/>
          <p:cNvSpPr/>
          <p:nvPr/>
        </p:nvSpPr>
        <p:spPr>
          <a:xfrm>
            <a:off x="347400" y="1426320"/>
            <a:ext cx="18100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b300"/>
                </a:solidFill>
                <a:latin typeface="Calibri"/>
              </a:rPr>
              <a:t>Type</a:t>
            </a:r>
            <a:endParaRPr b="0" lang="en-US" sz="1100" spc="-1" strike="noStrike">
              <a:solidFill>
                <a:srgbClr val="ffffff"/>
              </a:solidFill>
              <a:latin typeface="Arial"/>
            </a:endParaRPr>
          </a:p>
        </p:txBody>
      </p:sp>
      <p:sp>
        <p:nvSpPr>
          <p:cNvPr id="388" name="Shape 12"/>
          <p:cNvSpPr/>
          <p:nvPr/>
        </p:nvSpPr>
        <p:spPr>
          <a:xfrm>
            <a:off x="2267640" y="13899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9" name="Text 13"/>
          <p:cNvSpPr/>
          <p:nvPr/>
        </p:nvSpPr>
        <p:spPr>
          <a:xfrm>
            <a:off x="2313360" y="14263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Statistical</a:t>
            </a:r>
            <a:endParaRPr b="0" lang="en-US" sz="1050" spc="-1" strike="noStrike">
              <a:solidFill>
                <a:srgbClr val="ffffff"/>
              </a:solidFill>
              <a:latin typeface="Arial"/>
            </a:endParaRPr>
          </a:p>
        </p:txBody>
      </p:sp>
      <p:sp>
        <p:nvSpPr>
          <p:cNvPr id="390" name="Shape 14"/>
          <p:cNvSpPr/>
          <p:nvPr/>
        </p:nvSpPr>
        <p:spPr>
          <a:xfrm>
            <a:off x="4005000" y="13899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1" name="Text 15"/>
          <p:cNvSpPr/>
          <p:nvPr/>
        </p:nvSpPr>
        <p:spPr>
          <a:xfrm>
            <a:off x="4050720" y="14263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Statistical</a:t>
            </a:r>
            <a:endParaRPr b="0" lang="en-US" sz="1050" spc="-1" strike="noStrike">
              <a:solidFill>
                <a:srgbClr val="ffffff"/>
              </a:solidFill>
              <a:latin typeface="Arial"/>
            </a:endParaRPr>
          </a:p>
        </p:txBody>
      </p:sp>
      <p:sp>
        <p:nvSpPr>
          <p:cNvPr id="392" name="Shape 16"/>
          <p:cNvSpPr/>
          <p:nvPr/>
        </p:nvSpPr>
        <p:spPr>
          <a:xfrm>
            <a:off x="5742360" y="13899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3" name="Text 17"/>
          <p:cNvSpPr/>
          <p:nvPr/>
        </p:nvSpPr>
        <p:spPr>
          <a:xfrm>
            <a:off x="5788080" y="14263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ML-Based</a:t>
            </a:r>
            <a:endParaRPr b="0" lang="en-US" sz="1050" spc="-1" strike="noStrike">
              <a:solidFill>
                <a:srgbClr val="ffffff"/>
              </a:solidFill>
              <a:latin typeface="Arial"/>
            </a:endParaRPr>
          </a:p>
        </p:txBody>
      </p:sp>
      <p:sp>
        <p:nvSpPr>
          <p:cNvPr id="394" name="Shape 18"/>
          <p:cNvSpPr/>
          <p:nvPr/>
        </p:nvSpPr>
        <p:spPr>
          <a:xfrm>
            <a:off x="7479720" y="13899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5" name="Text 19"/>
          <p:cNvSpPr/>
          <p:nvPr/>
        </p:nvSpPr>
        <p:spPr>
          <a:xfrm>
            <a:off x="7525440" y="14263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ML-Based</a:t>
            </a:r>
            <a:endParaRPr b="0" lang="en-US" sz="1050" spc="-1" strike="noStrike">
              <a:solidFill>
                <a:srgbClr val="ffffff"/>
              </a:solidFill>
              <a:latin typeface="Arial"/>
            </a:endParaRPr>
          </a:p>
        </p:txBody>
      </p:sp>
      <p:sp>
        <p:nvSpPr>
          <p:cNvPr id="396" name="Shape 20"/>
          <p:cNvSpPr/>
          <p:nvPr/>
        </p:nvSpPr>
        <p:spPr>
          <a:xfrm>
            <a:off x="274320" y="1901880"/>
            <a:ext cx="194724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Text 21"/>
          <p:cNvSpPr/>
          <p:nvPr/>
        </p:nvSpPr>
        <p:spPr>
          <a:xfrm>
            <a:off x="347400" y="1938600"/>
            <a:ext cx="18100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b300"/>
                </a:solidFill>
                <a:latin typeface="Calibri"/>
              </a:rPr>
              <a:t>Assumes Normal</a:t>
            </a:r>
            <a:endParaRPr b="0" lang="en-US" sz="1100" spc="-1" strike="noStrike">
              <a:solidFill>
                <a:srgbClr val="ffffff"/>
              </a:solidFill>
              <a:latin typeface="Arial"/>
            </a:endParaRPr>
          </a:p>
        </p:txBody>
      </p:sp>
      <p:sp>
        <p:nvSpPr>
          <p:cNvPr id="398" name="Shape 22"/>
          <p:cNvSpPr/>
          <p:nvPr/>
        </p:nvSpPr>
        <p:spPr>
          <a:xfrm>
            <a:off x="2267640" y="19018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9" name="Text 23"/>
          <p:cNvSpPr/>
          <p:nvPr/>
        </p:nvSpPr>
        <p:spPr>
          <a:xfrm>
            <a:off x="2313360" y="19386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e53935"/>
                </a:solidFill>
                <a:latin typeface="Calibri"/>
              </a:rPr>
              <a:t>Yes — required</a:t>
            </a:r>
            <a:endParaRPr b="0" lang="en-US" sz="1050" spc="-1" strike="noStrike">
              <a:solidFill>
                <a:srgbClr val="ffffff"/>
              </a:solidFill>
              <a:latin typeface="Arial"/>
            </a:endParaRPr>
          </a:p>
        </p:txBody>
      </p:sp>
      <p:sp>
        <p:nvSpPr>
          <p:cNvPr id="400" name="Shape 24"/>
          <p:cNvSpPr/>
          <p:nvPr/>
        </p:nvSpPr>
        <p:spPr>
          <a:xfrm>
            <a:off x="4005000" y="19018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1" name="Text 25"/>
          <p:cNvSpPr/>
          <p:nvPr/>
        </p:nvSpPr>
        <p:spPr>
          <a:xfrm>
            <a:off x="4050720" y="19386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ff7043"/>
                </a:solidFill>
                <a:latin typeface="Calibri"/>
              </a:rPr>
              <a:t>No — robust</a:t>
            </a:r>
            <a:endParaRPr b="0" lang="en-US" sz="1050" spc="-1" strike="noStrike">
              <a:solidFill>
                <a:srgbClr val="ffffff"/>
              </a:solidFill>
              <a:latin typeface="Arial"/>
            </a:endParaRPr>
          </a:p>
        </p:txBody>
      </p:sp>
      <p:sp>
        <p:nvSpPr>
          <p:cNvPr id="402" name="Shape 26"/>
          <p:cNvSpPr/>
          <p:nvPr/>
        </p:nvSpPr>
        <p:spPr>
          <a:xfrm>
            <a:off x="5742360" y="19018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3" name="Text 27"/>
          <p:cNvSpPr/>
          <p:nvPr/>
        </p:nvSpPr>
        <p:spPr>
          <a:xfrm>
            <a:off x="5788080" y="19386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No</a:t>
            </a:r>
            <a:endParaRPr b="0" lang="en-US" sz="1050" spc="-1" strike="noStrike">
              <a:solidFill>
                <a:srgbClr val="ffffff"/>
              </a:solidFill>
              <a:latin typeface="Arial"/>
            </a:endParaRPr>
          </a:p>
        </p:txBody>
      </p:sp>
      <p:sp>
        <p:nvSpPr>
          <p:cNvPr id="404" name="Shape 28"/>
          <p:cNvSpPr/>
          <p:nvPr/>
        </p:nvSpPr>
        <p:spPr>
          <a:xfrm>
            <a:off x="7479720" y="19018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5" name="Text 29"/>
          <p:cNvSpPr/>
          <p:nvPr/>
        </p:nvSpPr>
        <p:spPr>
          <a:xfrm>
            <a:off x="7525440" y="19386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No</a:t>
            </a:r>
            <a:endParaRPr b="0" lang="en-US" sz="1050" spc="-1" strike="noStrike">
              <a:solidFill>
                <a:srgbClr val="ffffff"/>
              </a:solidFill>
              <a:latin typeface="Arial"/>
            </a:endParaRPr>
          </a:p>
        </p:txBody>
      </p:sp>
      <p:sp>
        <p:nvSpPr>
          <p:cNvPr id="406" name="Shape 30"/>
          <p:cNvSpPr/>
          <p:nvPr/>
        </p:nvSpPr>
        <p:spPr>
          <a:xfrm>
            <a:off x="274320" y="2414160"/>
            <a:ext cx="194724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7" name="Text 31"/>
          <p:cNvSpPr/>
          <p:nvPr/>
        </p:nvSpPr>
        <p:spPr>
          <a:xfrm>
            <a:off x="347400" y="2450520"/>
            <a:ext cx="18100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b300"/>
                </a:solidFill>
                <a:latin typeface="Calibri"/>
              </a:rPr>
              <a:t>Threshold</a:t>
            </a:r>
            <a:endParaRPr b="0" lang="en-US" sz="1100" spc="-1" strike="noStrike">
              <a:solidFill>
                <a:srgbClr val="ffffff"/>
              </a:solidFill>
              <a:latin typeface="Arial"/>
            </a:endParaRPr>
          </a:p>
        </p:txBody>
      </p:sp>
      <p:sp>
        <p:nvSpPr>
          <p:cNvPr id="408" name="Shape 32"/>
          <p:cNvSpPr/>
          <p:nvPr/>
        </p:nvSpPr>
        <p:spPr>
          <a:xfrm>
            <a:off x="2267640" y="24141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9" name="Text 33"/>
          <p:cNvSpPr/>
          <p:nvPr/>
        </p:nvSpPr>
        <p:spPr>
          <a:xfrm>
            <a:off x="2313360" y="24505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|Z| &gt; 3</a:t>
            </a:r>
            <a:endParaRPr b="0" lang="en-US" sz="1050" spc="-1" strike="noStrike">
              <a:solidFill>
                <a:srgbClr val="ffffff"/>
              </a:solidFill>
              <a:latin typeface="Arial"/>
            </a:endParaRPr>
          </a:p>
        </p:txBody>
      </p:sp>
      <p:sp>
        <p:nvSpPr>
          <p:cNvPr id="410" name="Shape 34"/>
          <p:cNvSpPr/>
          <p:nvPr/>
        </p:nvSpPr>
        <p:spPr>
          <a:xfrm>
            <a:off x="4005000" y="24141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1" name="Text 35"/>
          <p:cNvSpPr/>
          <p:nvPr/>
        </p:nvSpPr>
        <p:spPr>
          <a:xfrm>
            <a:off x="4050720" y="24505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1.5 × IQR</a:t>
            </a:r>
            <a:endParaRPr b="0" lang="en-US" sz="1050" spc="-1" strike="noStrike">
              <a:solidFill>
                <a:srgbClr val="ffffff"/>
              </a:solidFill>
              <a:latin typeface="Arial"/>
            </a:endParaRPr>
          </a:p>
        </p:txBody>
      </p:sp>
      <p:sp>
        <p:nvSpPr>
          <p:cNvPr id="412" name="Shape 36"/>
          <p:cNvSpPr/>
          <p:nvPr/>
        </p:nvSpPr>
        <p:spPr>
          <a:xfrm>
            <a:off x="5742360" y="24141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3" name="Text 37"/>
          <p:cNvSpPr/>
          <p:nvPr/>
        </p:nvSpPr>
        <p:spPr>
          <a:xfrm>
            <a:off x="5788080" y="24505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Cluster = -1</a:t>
            </a:r>
            <a:endParaRPr b="0" lang="en-US" sz="1050" spc="-1" strike="noStrike">
              <a:solidFill>
                <a:srgbClr val="ffffff"/>
              </a:solidFill>
              <a:latin typeface="Arial"/>
            </a:endParaRPr>
          </a:p>
        </p:txBody>
      </p:sp>
      <p:sp>
        <p:nvSpPr>
          <p:cNvPr id="414" name="Shape 38"/>
          <p:cNvSpPr/>
          <p:nvPr/>
        </p:nvSpPr>
        <p:spPr>
          <a:xfrm>
            <a:off x="7479720" y="241416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5" name="Text 39"/>
          <p:cNvSpPr/>
          <p:nvPr/>
        </p:nvSpPr>
        <p:spPr>
          <a:xfrm>
            <a:off x="7525440" y="24505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Score = -1</a:t>
            </a:r>
            <a:endParaRPr b="0" lang="en-US" sz="1050" spc="-1" strike="noStrike">
              <a:solidFill>
                <a:srgbClr val="ffffff"/>
              </a:solidFill>
              <a:latin typeface="Arial"/>
            </a:endParaRPr>
          </a:p>
        </p:txBody>
      </p:sp>
      <p:sp>
        <p:nvSpPr>
          <p:cNvPr id="416" name="Shape 40"/>
          <p:cNvSpPr/>
          <p:nvPr/>
        </p:nvSpPr>
        <p:spPr>
          <a:xfrm>
            <a:off x="274320" y="2926080"/>
            <a:ext cx="194724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7" name="Text 41"/>
          <p:cNvSpPr/>
          <p:nvPr/>
        </p:nvSpPr>
        <p:spPr>
          <a:xfrm>
            <a:off x="347400" y="2962800"/>
            <a:ext cx="18100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b300"/>
                </a:solidFill>
                <a:latin typeface="Calibri"/>
              </a:rPr>
              <a:t>High-Dim Data</a:t>
            </a:r>
            <a:endParaRPr b="0" lang="en-US" sz="1100" spc="-1" strike="noStrike">
              <a:solidFill>
                <a:srgbClr val="ffffff"/>
              </a:solidFill>
              <a:latin typeface="Arial"/>
            </a:endParaRPr>
          </a:p>
        </p:txBody>
      </p:sp>
      <p:sp>
        <p:nvSpPr>
          <p:cNvPr id="418" name="Shape 42"/>
          <p:cNvSpPr/>
          <p:nvPr/>
        </p:nvSpPr>
        <p:spPr>
          <a:xfrm>
            <a:off x="2267640" y="29260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9" name="Text 43"/>
          <p:cNvSpPr/>
          <p:nvPr/>
        </p:nvSpPr>
        <p:spPr>
          <a:xfrm>
            <a:off x="2313360" y="29628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Poor</a:t>
            </a:r>
            <a:endParaRPr b="0" lang="en-US" sz="1050" spc="-1" strike="noStrike">
              <a:solidFill>
                <a:srgbClr val="ffffff"/>
              </a:solidFill>
              <a:latin typeface="Arial"/>
            </a:endParaRPr>
          </a:p>
        </p:txBody>
      </p:sp>
      <p:sp>
        <p:nvSpPr>
          <p:cNvPr id="420" name="Shape 44"/>
          <p:cNvSpPr/>
          <p:nvPr/>
        </p:nvSpPr>
        <p:spPr>
          <a:xfrm>
            <a:off x="4005000" y="29260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1" name="Text 45"/>
          <p:cNvSpPr/>
          <p:nvPr/>
        </p:nvSpPr>
        <p:spPr>
          <a:xfrm>
            <a:off x="4050720" y="29628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Poor</a:t>
            </a:r>
            <a:endParaRPr b="0" lang="en-US" sz="1050" spc="-1" strike="noStrike">
              <a:solidFill>
                <a:srgbClr val="ffffff"/>
              </a:solidFill>
              <a:latin typeface="Arial"/>
            </a:endParaRPr>
          </a:p>
        </p:txBody>
      </p:sp>
      <p:sp>
        <p:nvSpPr>
          <p:cNvPr id="422" name="Shape 46"/>
          <p:cNvSpPr/>
          <p:nvPr/>
        </p:nvSpPr>
        <p:spPr>
          <a:xfrm>
            <a:off x="5742360" y="29260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3" name="Text 47"/>
          <p:cNvSpPr/>
          <p:nvPr/>
        </p:nvSpPr>
        <p:spPr>
          <a:xfrm>
            <a:off x="5788080" y="29628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Moderate</a:t>
            </a:r>
            <a:endParaRPr b="0" lang="en-US" sz="1050" spc="-1" strike="noStrike">
              <a:solidFill>
                <a:srgbClr val="ffffff"/>
              </a:solidFill>
              <a:latin typeface="Arial"/>
            </a:endParaRPr>
          </a:p>
        </p:txBody>
      </p:sp>
      <p:sp>
        <p:nvSpPr>
          <p:cNvPr id="424" name="Shape 48"/>
          <p:cNvSpPr/>
          <p:nvPr/>
        </p:nvSpPr>
        <p:spPr>
          <a:xfrm>
            <a:off x="7479720" y="29260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5" name="Text 49"/>
          <p:cNvSpPr/>
          <p:nvPr/>
        </p:nvSpPr>
        <p:spPr>
          <a:xfrm>
            <a:off x="7525440" y="296280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43a047"/>
                </a:solidFill>
                <a:latin typeface="Calibri"/>
              </a:rPr>
              <a:t>Excellent</a:t>
            </a:r>
            <a:endParaRPr b="0" lang="en-US" sz="1050" spc="-1" strike="noStrike">
              <a:solidFill>
                <a:srgbClr val="ffffff"/>
              </a:solidFill>
              <a:latin typeface="Arial"/>
            </a:endParaRPr>
          </a:p>
        </p:txBody>
      </p:sp>
      <p:sp>
        <p:nvSpPr>
          <p:cNvPr id="426" name="Shape 50"/>
          <p:cNvSpPr/>
          <p:nvPr/>
        </p:nvSpPr>
        <p:spPr>
          <a:xfrm>
            <a:off x="274320" y="3438000"/>
            <a:ext cx="194724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7" name="Text 51"/>
          <p:cNvSpPr/>
          <p:nvPr/>
        </p:nvSpPr>
        <p:spPr>
          <a:xfrm>
            <a:off x="347400" y="3474720"/>
            <a:ext cx="18100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b300"/>
                </a:solidFill>
                <a:latin typeface="Calibri"/>
              </a:rPr>
              <a:t>Cluster Shapes</a:t>
            </a:r>
            <a:endParaRPr b="0" lang="en-US" sz="1100" spc="-1" strike="noStrike">
              <a:solidFill>
                <a:srgbClr val="ffffff"/>
              </a:solidFill>
              <a:latin typeface="Arial"/>
            </a:endParaRPr>
          </a:p>
        </p:txBody>
      </p:sp>
      <p:sp>
        <p:nvSpPr>
          <p:cNvPr id="428" name="Shape 52"/>
          <p:cNvSpPr/>
          <p:nvPr/>
        </p:nvSpPr>
        <p:spPr>
          <a:xfrm>
            <a:off x="2267640" y="34380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9" name="Text 53"/>
          <p:cNvSpPr/>
          <p:nvPr/>
        </p:nvSpPr>
        <p:spPr>
          <a:xfrm>
            <a:off x="2313360" y="34747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N/A</a:t>
            </a:r>
            <a:endParaRPr b="0" lang="en-US" sz="1050" spc="-1" strike="noStrike">
              <a:solidFill>
                <a:srgbClr val="ffffff"/>
              </a:solidFill>
              <a:latin typeface="Arial"/>
            </a:endParaRPr>
          </a:p>
        </p:txBody>
      </p:sp>
      <p:sp>
        <p:nvSpPr>
          <p:cNvPr id="430" name="Shape 54"/>
          <p:cNvSpPr/>
          <p:nvPr/>
        </p:nvSpPr>
        <p:spPr>
          <a:xfrm>
            <a:off x="4005000" y="34380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1" name="Text 55"/>
          <p:cNvSpPr/>
          <p:nvPr/>
        </p:nvSpPr>
        <p:spPr>
          <a:xfrm>
            <a:off x="4050720" y="34747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N/A</a:t>
            </a:r>
            <a:endParaRPr b="0" lang="en-US" sz="1050" spc="-1" strike="noStrike">
              <a:solidFill>
                <a:srgbClr val="ffffff"/>
              </a:solidFill>
              <a:latin typeface="Arial"/>
            </a:endParaRPr>
          </a:p>
        </p:txBody>
      </p:sp>
      <p:sp>
        <p:nvSpPr>
          <p:cNvPr id="432" name="Shape 56"/>
          <p:cNvSpPr/>
          <p:nvPr/>
        </p:nvSpPr>
        <p:spPr>
          <a:xfrm>
            <a:off x="5742360" y="34380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3" name="Text 57"/>
          <p:cNvSpPr/>
          <p:nvPr/>
        </p:nvSpPr>
        <p:spPr>
          <a:xfrm>
            <a:off x="5788080" y="34747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Arbitrary</a:t>
            </a:r>
            <a:endParaRPr b="0" lang="en-US" sz="1050" spc="-1" strike="noStrike">
              <a:solidFill>
                <a:srgbClr val="ffffff"/>
              </a:solidFill>
              <a:latin typeface="Arial"/>
            </a:endParaRPr>
          </a:p>
        </p:txBody>
      </p:sp>
      <p:sp>
        <p:nvSpPr>
          <p:cNvPr id="434" name="Shape 58"/>
          <p:cNvSpPr/>
          <p:nvPr/>
        </p:nvSpPr>
        <p:spPr>
          <a:xfrm>
            <a:off x="7479720" y="34380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5" name="Text 59"/>
          <p:cNvSpPr/>
          <p:nvPr/>
        </p:nvSpPr>
        <p:spPr>
          <a:xfrm>
            <a:off x="7525440" y="34747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Arbitrary</a:t>
            </a:r>
            <a:endParaRPr b="0" lang="en-US" sz="1050" spc="-1" strike="noStrike">
              <a:solidFill>
                <a:srgbClr val="ffffff"/>
              </a:solidFill>
              <a:latin typeface="Arial"/>
            </a:endParaRPr>
          </a:p>
        </p:txBody>
      </p:sp>
      <p:sp>
        <p:nvSpPr>
          <p:cNvPr id="436" name="Shape 60"/>
          <p:cNvSpPr/>
          <p:nvPr/>
        </p:nvSpPr>
        <p:spPr>
          <a:xfrm>
            <a:off x="274320" y="3950280"/>
            <a:ext cx="194724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7" name="Text 61"/>
          <p:cNvSpPr/>
          <p:nvPr/>
        </p:nvSpPr>
        <p:spPr>
          <a:xfrm>
            <a:off x="347400" y="3986640"/>
            <a:ext cx="18100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b300"/>
                </a:solidFill>
                <a:latin typeface="Calibri"/>
              </a:rPr>
              <a:t>Speed</a:t>
            </a:r>
            <a:endParaRPr b="0" lang="en-US" sz="1100" spc="-1" strike="noStrike">
              <a:solidFill>
                <a:srgbClr val="ffffff"/>
              </a:solidFill>
              <a:latin typeface="Arial"/>
            </a:endParaRPr>
          </a:p>
        </p:txBody>
      </p:sp>
      <p:sp>
        <p:nvSpPr>
          <p:cNvPr id="438" name="Shape 62"/>
          <p:cNvSpPr/>
          <p:nvPr/>
        </p:nvSpPr>
        <p:spPr>
          <a:xfrm>
            <a:off x="2267640" y="39502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9" name="Text 63"/>
          <p:cNvSpPr/>
          <p:nvPr/>
        </p:nvSpPr>
        <p:spPr>
          <a:xfrm>
            <a:off x="2313360" y="398664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e53935"/>
                </a:solidFill>
                <a:latin typeface="Calibri"/>
              </a:rPr>
              <a:t>Very fast</a:t>
            </a:r>
            <a:endParaRPr b="0" lang="en-US" sz="1050" spc="-1" strike="noStrike">
              <a:solidFill>
                <a:srgbClr val="ffffff"/>
              </a:solidFill>
              <a:latin typeface="Arial"/>
            </a:endParaRPr>
          </a:p>
        </p:txBody>
      </p:sp>
      <p:sp>
        <p:nvSpPr>
          <p:cNvPr id="440" name="Shape 64"/>
          <p:cNvSpPr/>
          <p:nvPr/>
        </p:nvSpPr>
        <p:spPr>
          <a:xfrm>
            <a:off x="4005000" y="39502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1" name="Text 65"/>
          <p:cNvSpPr/>
          <p:nvPr/>
        </p:nvSpPr>
        <p:spPr>
          <a:xfrm>
            <a:off x="4050720" y="398664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ff7043"/>
                </a:solidFill>
                <a:latin typeface="Calibri"/>
              </a:rPr>
              <a:t>Very fast</a:t>
            </a:r>
            <a:endParaRPr b="0" lang="en-US" sz="1050" spc="-1" strike="noStrike">
              <a:solidFill>
                <a:srgbClr val="ffffff"/>
              </a:solidFill>
              <a:latin typeface="Arial"/>
            </a:endParaRPr>
          </a:p>
        </p:txBody>
      </p:sp>
      <p:sp>
        <p:nvSpPr>
          <p:cNvPr id="442" name="Shape 66"/>
          <p:cNvSpPr/>
          <p:nvPr/>
        </p:nvSpPr>
        <p:spPr>
          <a:xfrm>
            <a:off x="5742360" y="39502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3" name="Text 67"/>
          <p:cNvSpPr/>
          <p:nvPr/>
        </p:nvSpPr>
        <p:spPr>
          <a:xfrm>
            <a:off x="5788080" y="398664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Moderate</a:t>
            </a:r>
            <a:endParaRPr b="0" lang="en-US" sz="1050" spc="-1" strike="noStrike">
              <a:solidFill>
                <a:srgbClr val="ffffff"/>
              </a:solidFill>
              <a:latin typeface="Arial"/>
            </a:endParaRPr>
          </a:p>
        </p:txBody>
      </p:sp>
      <p:sp>
        <p:nvSpPr>
          <p:cNvPr id="444" name="Shape 68"/>
          <p:cNvSpPr/>
          <p:nvPr/>
        </p:nvSpPr>
        <p:spPr>
          <a:xfrm>
            <a:off x="7479720" y="3950280"/>
            <a:ext cx="1663920" cy="438480"/>
          </a:xfrm>
          <a:prstGeom prst="rect">
            <a:avLst/>
          </a:prstGeom>
          <a:solidFill>
            <a:srgbClr val="1b2438"/>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5" name="Text 69"/>
          <p:cNvSpPr/>
          <p:nvPr/>
        </p:nvSpPr>
        <p:spPr>
          <a:xfrm>
            <a:off x="7525440" y="398664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50" spc="-1" strike="noStrike">
                <a:solidFill>
                  <a:srgbClr val="43a047"/>
                </a:solidFill>
                <a:latin typeface="Calibri"/>
              </a:rPr>
              <a:t>Fast — scalable</a:t>
            </a:r>
            <a:endParaRPr b="0" lang="en-US" sz="1050" spc="-1" strike="noStrike">
              <a:solidFill>
                <a:srgbClr val="ffffff"/>
              </a:solidFill>
              <a:latin typeface="Arial"/>
            </a:endParaRPr>
          </a:p>
        </p:txBody>
      </p:sp>
      <p:sp>
        <p:nvSpPr>
          <p:cNvPr id="446" name="Shape 70"/>
          <p:cNvSpPr/>
          <p:nvPr/>
        </p:nvSpPr>
        <p:spPr>
          <a:xfrm>
            <a:off x="274320" y="4462200"/>
            <a:ext cx="194724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7" name="Text 71"/>
          <p:cNvSpPr/>
          <p:nvPr/>
        </p:nvSpPr>
        <p:spPr>
          <a:xfrm>
            <a:off x="347400" y="4498920"/>
            <a:ext cx="18100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b300"/>
                </a:solidFill>
                <a:latin typeface="Calibri"/>
              </a:rPr>
              <a:t>Best Use Case</a:t>
            </a:r>
            <a:endParaRPr b="0" lang="en-US" sz="1100" spc="-1" strike="noStrike">
              <a:solidFill>
                <a:srgbClr val="ffffff"/>
              </a:solidFill>
              <a:latin typeface="Arial"/>
            </a:endParaRPr>
          </a:p>
        </p:txBody>
      </p:sp>
      <p:sp>
        <p:nvSpPr>
          <p:cNvPr id="448" name="Shape 72"/>
          <p:cNvSpPr/>
          <p:nvPr/>
        </p:nvSpPr>
        <p:spPr>
          <a:xfrm>
            <a:off x="2267640" y="44622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9" name="Text 73"/>
          <p:cNvSpPr/>
          <p:nvPr/>
        </p:nvSpPr>
        <p:spPr>
          <a:xfrm>
            <a:off x="2313360" y="44989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Normal datasets</a:t>
            </a:r>
            <a:endParaRPr b="0" lang="en-US" sz="1050" spc="-1" strike="noStrike">
              <a:solidFill>
                <a:srgbClr val="ffffff"/>
              </a:solidFill>
              <a:latin typeface="Arial"/>
            </a:endParaRPr>
          </a:p>
        </p:txBody>
      </p:sp>
      <p:sp>
        <p:nvSpPr>
          <p:cNvPr id="450" name="Shape 74"/>
          <p:cNvSpPr/>
          <p:nvPr/>
        </p:nvSpPr>
        <p:spPr>
          <a:xfrm>
            <a:off x="4005000" y="44622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1" name="Text 75"/>
          <p:cNvSpPr/>
          <p:nvPr/>
        </p:nvSpPr>
        <p:spPr>
          <a:xfrm>
            <a:off x="4050720" y="44989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Skewed data</a:t>
            </a:r>
            <a:endParaRPr b="0" lang="en-US" sz="1050" spc="-1" strike="noStrike">
              <a:solidFill>
                <a:srgbClr val="ffffff"/>
              </a:solidFill>
              <a:latin typeface="Arial"/>
            </a:endParaRPr>
          </a:p>
        </p:txBody>
      </p:sp>
      <p:sp>
        <p:nvSpPr>
          <p:cNvPr id="452" name="Shape 76"/>
          <p:cNvSpPr/>
          <p:nvPr/>
        </p:nvSpPr>
        <p:spPr>
          <a:xfrm>
            <a:off x="5742360" y="44622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3" name="Text 77"/>
          <p:cNvSpPr/>
          <p:nvPr/>
        </p:nvSpPr>
        <p:spPr>
          <a:xfrm>
            <a:off x="5788080" y="44989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Spatial data</a:t>
            </a:r>
            <a:endParaRPr b="0" lang="en-US" sz="1050" spc="-1" strike="noStrike">
              <a:solidFill>
                <a:srgbClr val="ffffff"/>
              </a:solidFill>
              <a:latin typeface="Arial"/>
            </a:endParaRPr>
          </a:p>
        </p:txBody>
      </p:sp>
      <p:sp>
        <p:nvSpPr>
          <p:cNvPr id="454" name="Shape 78"/>
          <p:cNvSpPr/>
          <p:nvPr/>
        </p:nvSpPr>
        <p:spPr>
          <a:xfrm>
            <a:off x="7479720" y="4462200"/>
            <a:ext cx="1663920" cy="438480"/>
          </a:xfrm>
          <a:prstGeom prst="rect">
            <a:avLst/>
          </a:prstGeom>
          <a:solidFill>
            <a:srgbClr val="22304a"/>
          </a:solidFill>
          <a:ln w="12700">
            <a:solidFill>
              <a:srgbClr val="1e3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5" name="Text 79"/>
          <p:cNvSpPr/>
          <p:nvPr/>
        </p:nvSpPr>
        <p:spPr>
          <a:xfrm>
            <a:off x="7525440" y="4498920"/>
            <a:ext cx="15724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90a4ae"/>
                </a:solidFill>
                <a:latin typeface="Calibri"/>
              </a:rPr>
              <a:t>Large / high-dim</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8"/>
        </a:solidFill>
      </p:bgPr>
    </p:bg>
    <p:spTree>
      <p:nvGrpSpPr>
        <p:cNvPr id="1" name=""/>
        <p:cNvGrpSpPr/>
        <p:nvPr/>
      </p:nvGrpSpPr>
      <p:grpSpPr>
        <a:xfrm>
          <a:off x="0" y="0"/>
          <a:ext cx="0" cy="0"/>
          <a:chOff x="0" y="0"/>
          <a:chExt cx="0" cy="0"/>
        </a:xfrm>
      </p:grpSpPr>
      <p:sp>
        <p:nvSpPr>
          <p:cNvPr id="456" name="Shape 0"/>
          <p:cNvSpPr/>
          <p:nvPr/>
        </p:nvSpPr>
        <p:spPr>
          <a:xfrm>
            <a:off x="6858000" y="0"/>
            <a:ext cx="2285640" cy="5143320"/>
          </a:xfrm>
          <a:prstGeom prst="rect">
            <a:avLst/>
          </a:prstGeom>
          <a:solidFill>
            <a:srgbClr val="1b2438"/>
          </a:solidFill>
          <a:ln w="12700">
            <a:solidFill>
              <a:srgbClr val="1b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7" name="Shape 1"/>
          <p:cNvSpPr/>
          <p:nvPr/>
        </p:nvSpPr>
        <p:spPr>
          <a:xfrm>
            <a:off x="8869680" y="0"/>
            <a:ext cx="273960" cy="514332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8" name="Shape 2"/>
          <p:cNvSpPr/>
          <p:nvPr/>
        </p:nvSpPr>
        <p:spPr>
          <a:xfrm>
            <a:off x="7059240" y="129852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9" name="Shape 3"/>
          <p:cNvSpPr/>
          <p:nvPr/>
        </p:nvSpPr>
        <p:spPr>
          <a:xfrm>
            <a:off x="7333560" y="118872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0" name="Shape 4"/>
          <p:cNvSpPr/>
          <p:nvPr/>
        </p:nvSpPr>
        <p:spPr>
          <a:xfrm>
            <a:off x="7607880" y="134424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1" name="Shape 5"/>
          <p:cNvSpPr/>
          <p:nvPr/>
        </p:nvSpPr>
        <p:spPr>
          <a:xfrm>
            <a:off x="7882200" y="122544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2" name="Shape 6"/>
          <p:cNvSpPr/>
          <p:nvPr/>
        </p:nvSpPr>
        <p:spPr>
          <a:xfrm>
            <a:off x="7287840" y="149976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3" name="Shape 7"/>
          <p:cNvSpPr/>
          <p:nvPr/>
        </p:nvSpPr>
        <p:spPr>
          <a:xfrm>
            <a:off x="7562160" y="159120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4" name="Shape 8"/>
          <p:cNvSpPr/>
          <p:nvPr/>
        </p:nvSpPr>
        <p:spPr>
          <a:xfrm>
            <a:off x="7169040" y="171000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5" name="Shape 9"/>
          <p:cNvSpPr/>
          <p:nvPr/>
        </p:nvSpPr>
        <p:spPr>
          <a:xfrm>
            <a:off x="7425000" y="182880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6" name="Shape 10"/>
          <p:cNvSpPr/>
          <p:nvPr/>
        </p:nvSpPr>
        <p:spPr>
          <a:xfrm>
            <a:off x="7745040" y="1710000"/>
            <a:ext cx="145800" cy="145800"/>
          </a:xfrm>
          <a:prstGeom prst="ellipse">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7" name="Shape 11"/>
          <p:cNvSpPr/>
          <p:nvPr/>
        </p:nvSpPr>
        <p:spPr>
          <a:xfrm>
            <a:off x="6894720" y="3072240"/>
            <a:ext cx="255600" cy="25560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8" name="Text 12"/>
          <p:cNvSpPr/>
          <p:nvPr/>
        </p:nvSpPr>
        <p:spPr>
          <a:xfrm>
            <a:off x="6784920" y="3364920"/>
            <a:ext cx="822600" cy="20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e53935"/>
                </a:solidFill>
                <a:latin typeface="Calibri"/>
              </a:rPr>
              <a:t>Outlier</a:t>
            </a:r>
            <a:endParaRPr b="0" lang="en-US" sz="900" spc="-1" strike="noStrike">
              <a:solidFill>
                <a:srgbClr val="ffffff"/>
              </a:solidFill>
              <a:latin typeface="Arial"/>
            </a:endParaRPr>
          </a:p>
        </p:txBody>
      </p:sp>
      <p:sp>
        <p:nvSpPr>
          <p:cNvPr id="469" name="Shape 13"/>
          <p:cNvSpPr/>
          <p:nvPr/>
        </p:nvSpPr>
        <p:spPr>
          <a:xfrm>
            <a:off x="7059240" y="3858840"/>
            <a:ext cx="1535760" cy="639720"/>
          </a:xfrm>
          <a:prstGeom prst="rect">
            <a:avLst/>
          </a:prstGeom>
          <a:solidFill>
            <a:srgbClr val="1e88e5">
              <a:alpha val="20000"/>
            </a:srgbClr>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0" name="Shape 14"/>
          <p:cNvSpPr/>
          <p:nvPr/>
        </p:nvSpPr>
        <p:spPr>
          <a:xfrm>
            <a:off x="7662600" y="3858480"/>
            <a:ext cx="360" cy="640080"/>
          </a:xfrm>
          <a:prstGeom prst="line">
            <a:avLst/>
          </a:prstGeom>
          <a:ln w="19050">
            <a:solidFill>
              <a:srgbClr val="ffb30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71" name="Shape 15"/>
          <p:cNvSpPr/>
          <p:nvPr/>
        </p:nvSpPr>
        <p:spPr>
          <a:xfrm>
            <a:off x="8394120" y="4023360"/>
            <a:ext cx="182520" cy="182520"/>
          </a:xfrm>
          <a:prstGeom prst="ellipse">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2" name="Text 16"/>
          <p:cNvSpPr/>
          <p:nvPr/>
        </p:nvSpPr>
        <p:spPr>
          <a:xfrm>
            <a:off x="7059240" y="4517280"/>
            <a:ext cx="1535760" cy="20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850" spc="-1" strike="noStrike">
                <a:solidFill>
                  <a:srgbClr val="1e88e5"/>
                </a:solidFill>
                <a:latin typeface="Calibri"/>
              </a:rPr>
              <a:t>Box Plot</a:t>
            </a:r>
            <a:endParaRPr b="0" lang="en-US" sz="850" spc="-1" strike="noStrike">
              <a:solidFill>
                <a:srgbClr val="ffffff"/>
              </a:solidFill>
              <a:latin typeface="Arial"/>
            </a:endParaRPr>
          </a:p>
        </p:txBody>
      </p:sp>
      <p:sp>
        <p:nvSpPr>
          <p:cNvPr id="473" name="Shape 17"/>
          <p:cNvSpPr/>
          <p:nvPr/>
        </p:nvSpPr>
        <p:spPr>
          <a:xfrm>
            <a:off x="0" y="0"/>
            <a:ext cx="9143640" cy="63720"/>
          </a:xfrm>
          <a:prstGeom prst="rect">
            <a:avLst/>
          </a:prstGeom>
          <a:solidFill>
            <a:srgbClr val="e53935"/>
          </a:solidFill>
          <a:ln w="12700">
            <a:solidFill>
              <a:srgbClr val="e53935"/>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474" name="Shape 18"/>
          <p:cNvSpPr/>
          <p:nvPr/>
        </p:nvSpPr>
        <p:spPr>
          <a:xfrm>
            <a:off x="0" y="5070240"/>
            <a:ext cx="9143640" cy="72720"/>
          </a:xfrm>
          <a:prstGeom prst="rect">
            <a:avLst/>
          </a:prstGeom>
          <a:solidFill>
            <a:srgbClr val="e53935"/>
          </a:solidFill>
          <a:ln w="12700">
            <a:solidFill>
              <a:srgbClr val="e53935"/>
            </a:solidFill>
            <a:round/>
          </a:ln>
        </p:spPr>
        <p:style>
          <a:lnRef idx="0"/>
          <a:fillRef idx="0"/>
          <a:effectRef idx="0"/>
          <a:fontRef idx="minor"/>
        </p:style>
        <p:txBody>
          <a:bodyPr lIns="90000" rIns="90000" tIns="28080" bIns="28080" anchor="t">
            <a:noAutofit/>
          </a:bodyPr>
          <a:p>
            <a:endParaRPr b="0" lang="en-US" sz="1800" spc="-1" strike="noStrike">
              <a:solidFill>
                <a:srgbClr val="ffffff"/>
              </a:solidFill>
              <a:latin typeface="Arial"/>
            </a:endParaRPr>
          </a:p>
        </p:txBody>
      </p:sp>
      <p:sp>
        <p:nvSpPr>
          <p:cNvPr id="475" name="Text 19"/>
          <p:cNvSpPr/>
          <p:nvPr/>
        </p:nvSpPr>
        <p:spPr>
          <a:xfrm>
            <a:off x="457200" y="164520"/>
            <a:ext cx="612612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ffffff"/>
                </a:solidFill>
                <a:latin typeface="Calibri"/>
                <a:ea typeface="Calibri"/>
              </a:rPr>
              <a:t>Key Takeaways</a:t>
            </a:r>
            <a:endParaRPr b="0" lang="en-US" sz="3200" spc="-1" strike="noStrike">
              <a:solidFill>
                <a:srgbClr val="ffffff"/>
              </a:solidFill>
              <a:latin typeface="Arial"/>
            </a:endParaRPr>
          </a:p>
        </p:txBody>
      </p:sp>
      <p:sp>
        <p:nvSpPr>
          <p:cNvPr id="476" name="Shape 20"/>
          <p:cNvSpPr/>
          <p:nvPr/>
        </p:nvSpPr>
        <p:spPr>
          <a:xfrm>
            <a:off x="411480" y="960120"/>
            <a:ext cx="6217560" cy="676440"/>
          </a:xfrm>
          <a:prstGeom prst="rect">
            <a:avLst/>
          </a:prstGeom>
          <a:solidFill>
            <a:srgbClr val="22304a"/>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7" name="Shape 21"/>
          <p:cNvSpPr/>
          <p:nvPr/>
        </p:nvSpPr>
        <p:spPr>
          <a:xfrm>
            <a:off x="411480" y="960120"/>
            <a:ext cx="658080" cy="676440"/>
          </a:xfrm>
          <a:prstGeom prst="rect">
            <a:avLst/>
          </a:prstGeom>
          <a:solidFill>
            <a:srgbClr val="e53935"/>
          </a:solidFill>
          <a:ln w="12700">
            <a:solidFill>
              <a:srgbClr val="e539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8" name="Text 22"/>
          <p:cNvSpPr/>
          <p:nvPr/>
        </p:nvSpPr>
        <p:spPr>
          <a:xfrm>
            <a:off x="411480" y="960120"/>
            <a:ext cx="658080" cy="676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31a28"/>
                </a:solidFill>
                <a:latin typeface="Calibri"/>
              </a:rPr>
              <a:t>01</a:t>
            </a:r>
            <a:endParaRPr b="0" lang="en-US" sz="1400" spc="-1" strike="noStrike">
              <a:solidFill>
                <a:srgbClr val="ffffff"/>
              </a:solidFill>
              <a:latin typeface="Arial"/>
            </a:endParaRPr>
          </a:p>
        </p:txBody>
      </p:sp>
      <p:sp>
        <p:nvSpPr>
          <p:cNvPr id="479" name="Text 23"/>
          <p:cNvSpPr/>
          <p:nvPr/>
        </p:nvSpPr>
        <p:spPr>
          <a:xfrm>
            <a:off x="1170360" y="1078920"/>
            <a:ext cx="535788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90a4ae"/>
                </a:solidFill>
                <a:latin typeface="Calibri"/>
              </a:rPr>
              <a:t>Outliers are data points that differ significantly from the rest and do not follow the general pattern — from errors, rare events, or natural variability.</a:t>
            </a:r>
            <a:endParaRPr b="0" lang="en-US" sz="1250" spc="-1" strike="noStrike">
              <a:solidFill>
                <a:srgbClr val="ffffff"/>
              </a:solidFill>
              <a:latin typeface="Arial"/>
            </a:endParaRPr>
          </a:p>
        </p:txBody>
      </p:sp>
      <p:sp>
        <p:nvSpPr>
          <p:cNvPr id="480" name="Shape 24"/>
          <p:cNvSpPr/>
          <p:nvPr/>
        </p:nvSpPr>
        <p:spPr>
          <a:xfrm>
            <a:off x="411480" y="1755720"/>
            <a:ext cx="6217560" cy="676440"/>
          </a:xfrm>
          <a:prstGeom prst="rect">
            <a:avLst/>
          </a:prstGeom>
          <a:solidFill>
            <a:srgbClr val="22304a"/>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1" name="Shape 25"/>
          <p:cNvSpPr/>
          <p:nvPr/>
        </p:nvSpPr>
        <p:spPr>
          <a:xfrm>
            <a:off x="411480" y="1755720"/>
            <a:ext cx="658080" cy="676440"/>
          </a:xfrm>
          <a:prstGeom prst="rect">
            <a:avLst/>
          </a:prstGeom>
          <a:solidFill>
            <a:srgbClr val="ff7043"/>
          </a:solidFill>
          <a:ln w="12700">
            <a:solidFill>
              <a:srgbClr val="ff704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2" name="Text 26"/>
          <p:cNvSpPr/>
          <p:nvPr/>
        </p:nvSpPr>
        <p:spPr>
          <a:xfrm>
            <a:off x="411480" y="1755720"/>
            <a:ext cx="658080" cy="676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31a28"/>
                </a:solidFill>
                <a:latin typeface="Calibri"/>
              </a:rPr>
              <a:t>02</a:t>
            </a:r>
            <a:endParaRPr b="0" lang="en-US" sz="1400" spc="-1" strike="noStrike">
              <a:solidFill>
                <a:srgbClr val="ffffff"/>
              </a:solidFill>
              <a:latin typeface="Arial"/>
            </a:endParaRPr>
          </a:p>
        </p:txBody>
      </p:sp>
      <p:sp>
        <p:nvSpPr>
          <p:cNvPr id="483" name="Text 27"/>
          <p:cNvSpPr/>
          <p:nvPr/>
        </p:nvSpPr>
        <p:spPr>
          <a:xfrm>
            <a:off x="1170360" y="1874520"/>
            <a:ext cx="535788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90a4ae"/>
                </a:solidFill>
                <a:latin typeface="Calibri"/>
              </a:rPr>
              <a:t>Five types: Univariate, Multivariate, Point (Global), Contextual (Conditional), and Collective — each requires different detection approaches.</a:t>
            </a:r>
            <a:endParaRPr b="0" lang="en-US" sz="1250" spc="-1" strike="noStrike">
              <a:solidFill>
                <a:srgbClr val="ffffff"/>
              </a:solidFill>
              <a:latin typeface="Arial"/>
            </a:endParaRPr>
          </a:p>
        </p:txBody>
      </p:sp>
      <p:sp>
        <p:nvSpPr>
          <p:cNvPr id="484" name="Shape 28"/>
          <p:cNvSpPr/>
          <p:nvPr/>
        </p:nvSpPr>
        <p:spPr>
          <a:xfrm>
            <a:off x="411480" y="2551320"/>
            <a:ext cx="6217560" cy="676440"/>
          </a:xfrm>
          <a:prstGeom prst="rect">
            <a:avLst/>
          </a:prstGeom>
          <a:solidFill>
            <a:srgbClr val="22304a"/>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5" name="Shape 29"/>
          <p:cNvSpPr/>
          <p:nvPr/>
        </p:nvSpPr>
        <p:spPr>
          <a:xfrm>
            <a:off x="411480" y="2551320"/>
            <a:ext cx="658080" cy="67644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6" name="Text 30"/>
          <p:cNvSpPr/>
          <p:nvPr/>
        </p:nvSpPr>
        <p:spPr>
          <a:xfrm>
            <a:off x="411480" y="2551320"/>
            <a:ext cx="658080" cy="676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31a28"/>
                </a:solidFill>
                <a:latin typeface="Calibri"/>
              </a:rPr>
              <a:t>03</a:t>
            </a:r>
            <a:endParaRPr b="0" lang="en-US" sz="1400" spc="-1" strike="noStrike">
              <a:solidFill>
                <a:srgbClr val="ffffff"/>
              </a:solidFill>
              <a:latin typeface="Arial"/>
            </a:endParaRPr>
          </a:p>
        </p:txBody>
      </p:sp>
      <p:sp>
        <p:nvSpPr>
          <p:cNvPr id="487" name="Text 31"/>
          <p:cNvSpPr/>
          <p:nvPr/>
        </p:nvSpPr>
        <p:spPr>
          <a:xfrm>
            <a:off x="1170360" y="2670120"/>
            <a:ext cx="535788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90a4ae"/>
                </a:solidFill>
                <a:latin typeface="Calibri"/>
              </a:rPr>
              <a:t>Detection methods: Box Plot &amp; Scatter (visual), Z-Score &amp; IQR (statistical), DBSCAN &amp; Isolation Forest (ML-based density/tree methods).</a:t>
            </a:r>
            <a:endParaRPr b="0" lang="en-US" sz="1250" spc="-1" strike="noStrike">
              <a:solidFill>
                <a:srgbClr val="ffffff"/>
              </a:solidFill>
              <a:latin typeface="Arial"/>
            </a:endParaRPr>
          </a:p>
        </p:txBody>
      </p:sp>
      <p:sp>
        <p:nvSpPr>
          <p:cNvPr id="488" name="Shape 32"/>
          <p:cNvSpPr/>
          <p:nvPr/>
        </p:nvSpPr>
        <p:spPr>
          <a:xfrm>
            <a:off x="411480" y="3346560"/>
            <a:ext cx="6217560" cy="676440"/>
          </a:xfrm>
          <a:prstGeom prst="rect">
            <a:avLst/>
          </a:prstGeom>
          <a:solidFill>
            <a:srgbClr val="22304a"/>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9" name="Shape 33"/>
          <p:cNvSpPr/>
          <p:nvPr/>
        </p:nvSpPr>
        <p:spPr>
          <a:xfrm>
            <a:off x="411480" y="3346560"/>
            <a:ext cx="658080" cy="676440"/>
          </a:xfrm>
          <a:prstGeom prst="rect">
            <a:avLst/>
          </a:prstGeom>
          <a:solidFill>
            <a:srgbClr val="43a047"/>
          </a:solidFill>
          <a:ln w="12700">
            <a:solidFill>
              <a:srgbClr val="43a04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0" name="Text 34"/>
          <p:cNvSpPr/>
          <p:nvPr/>
        </p:nvSpPr>
        <p:spPr>
          <a:xfrm>
            <a:off x="411480" y="3346560"/>
            <a:ext cx="658080" cy="676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31a28"/>
                </a:solidFill>
                <a:latin typeface="Calibri"/>
              </a:rPr>
              <a:t>04</a:t>
            </a:r>
            <a:endParaRPr b="0" lang="en-US" sz="1400" spc="-1" strike="noStrike">
              <a:solidFill>
                <a:srgbClr val="ffffff"/>
              </a:solidFill>
              <a:latin typeface="Arial"/>
            </a:endParaRPr>
          </a:p>
        </p:txBody>
      </p:sp>
      <p:sp>
        <p:nvSpPr>
          <p:cNvPr id="491" name="Text 35"/>
          <p:cNvSpPr/>
          <p:nvPr/>
        </p:nvSpPr>
        <p:spPr>
          <a:xfrm>
            <a:off x="1170360" y="3465720"/>
            <a:ext cx="535788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90a4ae"/>
                </a:solidFill>
                <a:latin typeface="Calibri"/>
              </a:rPr>
              <a:t>Handling strategies: Removal, Capping/Flooring, Mean/Median Imputation, and Data Transformation — chosen based on cause and dataset size.</a:t>
            </a:r>
            <a:endParaRPr b="0" lang="en-US" sz="1250" spc="-1" strike="noStrike">
              <a:solidFill>
                <a:srgbClr val="ffffff"/>
              </a:solidFill>
              <a:latin typeface="Arial"/>
            </a:endParaRPr>
          </a:p>
        </p:txBody>
      </p:sp>
      <p:sp>
        <p:nvSpPr>
          <p:cNvPr id="492" name="Shape 36"/>
          <p:cNvSpPr/>
          <p:nvPr/>
        </p:nvSpPr>
        <p:spPr>
          <a:xfrm>
            <a:off x="411480" y="4142160"/>
            <a:ext cx="6217560" cy="676440"/>
          </a:xfrm>
          <a:prstGeom prst="rect">
            <a:avLst/>
          </a:prstGeom>
          <a:solidFill>
            <a:srgbClr val="22304a"/>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3" name="Shape 37"/>
          <p:cNvSpPr/>
          <p:nvPr/>
        </p:nvSpPr>
        <p:spPr>
          <a:xfrm>
            <a:off x="411480" y="4142160"/>
            <a:ext cx="658080" cy="676440"/>
          </a:xfrm>
          <a:prstGeom prst="rect">
            <a:avLst/>
          </a:prstGeom>
          <a:solidFill>
            <a:srgbClr val="ffb300"/>
          </a:solidFill>
          <a:ln w="12700">
            <a:solidFill>
              <a:srgbClr val="ffb3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4" name="Text 38"/>
          <p:cNvSpPr/>
          <p:nvPr/>
        </p:nvSpPr>
        <p:spPr>
          <a:xfrm>
            <a:off x="411480" y="4142160"/>
            <a:ext cx="658080" cy="676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31a28"/>
                </a:solidFill>
                <a:latin typeface="Calibri"/>
              </a:rPr>
              <a:t>05</a:t>
            </a:r>
            <a:endParaRPr b="0" lang="en-US" sz="1400" spc="-1" strike="noStrike">
              <a:solidFill>
                <a:srgbClr val="ffffff"/>
              </a:solidFill>
              <a:latin typeface="Arial"/>
            </a:endParaRPr>
          </a:p>
        </p:txBody>
      </p:sp>
      <p:sp>
        <p:nvSpPr>
          <p:cNvPr id="495" name="Text 39"/>
          <p:cNvSpPr/>
          <p:nvPr/>
        </p:nvSpPr>
        <p:spPr>
          <a:xfrm>
            <a:off x="1170360" y="4260960"/>
            <a:ext cx="535788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90a4ae"/>
                </a:solidFill>
                <a:latin typeface="Calibri"/>
              </a:rPr>
              <a:t>Drop outliers only when clearly incorrect or verifiable errors. Retain them in fraud detection, anomaly detection, and safety-critical domains.</a:t>
            </a:r>
            <a:endParaRPr b="0" lang="en-US"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2026-04-06T11:04:46Z</dcterms:created>
  <dc:creator>PptxGenJS</dc:creator>
  <dc:description/>
  <dc:language>en-US</dc:language>
  <cp:lastModifiedBy/>
  <dcterms:modified xsi:type="dcterms:W3CDTF">2026-04-08T09:34:40Z</dcterms:modified>
  <cp:revision>2</cp:revision>
  <dc:subject>PptxGenJS Presentation</dc:subject>
  <dc:title>Outliers in Data – Types, Detection &amp; Handling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