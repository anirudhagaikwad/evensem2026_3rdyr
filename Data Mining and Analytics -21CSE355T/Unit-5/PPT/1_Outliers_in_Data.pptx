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A28"/>
        </a:solidFill>
      </p:bgPr>
    </p:bg>
    <p:spTree>
      <p:nvGrpSpPr>
        <p:cNvPr id="1" name=""/>
        <p:cNvGrpSpPr/>
        <p:nvPr/>
      </p:nvGrpSpPr>
      <p:grpSpPr>
        <a:xfrm>
          <a:off x="0" y="0"/>
          <a:ext cx="0" cy="0"/>
          <a:chOff x="0" y="0"/>
          <a:chExt cx="0" cy="0"/>
        </a:xfrm>
      </p:grpSpPr>
      <p:sp>
        <p:nvSpPr>
          <p:cNvPr id="2" name="Shape 0"/>
          <p:cNvSpPr/>
          <p:nvPr/>
        </p:nvSpPr>
        <p:spPr>
          <a:xfrm>
            <a:off x="5943600" y="0"/>
            <a:ext cx="3200400" cy="5143500"/>
          </a:xfrm>
          <a:prstGeom prst="rect">
            <a:avLst/>
          </a:prstGeom>
          <a:solidFill>
            <a:srgbClr val="1B2438"/>
          </a:solidFill>
          <a:ln w="12700">
            <a:solidFill>
              <a:srgbClr val="1B2438"/>
            </a:solidFill>
            <a:prstDash val="solid"/>
          </a:ln>
        </p:spPr>
      </p:sp>
      <p:sp>
        <p:nvSpPr>
          <p:cNvPr id="3" name="Shape 1"/>
          <p:cNvSpPr/>
          <p:nvPr/>
        </p:nvSpPr>
        <p:spPr>
          <a:xfrm>
            <a:off x="8823960" y="0"/>
            <a:ext cx="320040" cy="5143500"/>
          </a:xfrm>
          <a:prstGeom prst="rect">
            <a:avLst/>
          </a:prstGeom>
          <a:solidFill>
            <a:srgbClr val="E53935"/>
          </a:solidFill>
          <a:ln w="12700">
            <a:solidFill>
              <a:srgbClr val="E53935"/>
            </a:solidFill>
            <a:prstDash val="solid"/>
          </a:ln>
        </p:spPr>
      </p:sp>
      <p:sp>
        <p:nvSpPr>
          <p:cNvPr id="4" name="Shape 2"/>
          <p:cNvSpPr/>
          <p:nvPr/>
        </p:nvSpPr>
        <p:spPr>
          <a:xfrm>
            <a:off x="6592824" y="1563624"/>
            <a:ext cx="164592" cy="164592"/>
          </a:xfrm>
          <a:prstGeom prst="ellipse">
            <a:avLst/>
          </a:prstGeom>
          <a:solidFill>
            <a:srgbClr val="1E88E5"/>
          </a:solidFill>
          <a:ln w="12700">
            <a:solidFill>
              <a:srgbClr val="1E88E5"/>
            </a:solidFill>
            <a:prstDash val="solid"/>
          </a:ln>
        </p:spPr>
      </p:sp>
      <p:sp>
        <p:nvSpPr>
          <p:cNvPr id="5" name="Shape 3"/>
          <p:cNvSpPr/>
          <p:nvPr/>
        </p:nvSpPr>
        <p:spPr>
          <a:xfrm>
            <a:off x="6958584" y="1426464"/>
            <a:ext cx="164592" cy="164592"/>
          </a:xfrm>
          <a:prstGeom prst="ellipse">
            <a:avLst/>
          </a:prstGeom>
          <a:solidFill>
            <a:srgbClr val="1E88E5"/>
          </a:solidFill>
          <a:ln w="12700">
            <a:solidFill>
              <a:srgbClr val="1E88E5"/>
            </a:solidFill>
            <a:prstDash val="solid"/>
          </a:ln>
        </p:spPr>
      </p:sp>
      <p:sp>
        <p:nvSpPr>
          <p:cNvPr id="6" name="Shape 4"/>
          <p:cNvSpPr/>
          <p:nvPr/>
        </p:nvSpPr>
        <p:spPr>
          <a:xfrm>
            <a:off x="7278624" y="1655064"/>
            <a:ext cx="164592" cy="164592"/>
          </a:xfrm>
          <a:prstGeom prst="ellipse">
            <a:avLst/>
          </a:prstGeom>
          <a:solidFill>
            <a:srgbClr val="1E88E5"/>
          </a:solidFill>
          <a:ln w="12700">
            <a:solidFill>
              <a:srgbClr val="1E88E5"/>
            </a:solidFill>
            <a:prstDash val="solid"/>
          </a:ln>
        </p:spPr>
      </p:sp>
      <p:sp>
        <p:nvSpPr>
          <p:cNvPr id="7" name="Shape 5"/>
          <p:cNvSpPr/>
          <p:nvPr/>
        </p:nvSpPr>
        <p:spPr>
          <a:xfrm>
            <a:off x="6775704" y="1819656"/>
            <a:ext cx="164592" cy="164592"/>
          </a:xfrm>
          <a:prstGeom prst="ellipse">
            <a:avLst/>
          </a:prstGeom>
          <a:solidFill>
            <a:srgbClr val="1E88E5"/>
          </a:solidFill>
          <a:ln w="12700">
            <a:solidFill>
              <a:srgbClr val="1E88E5"/>
            </a:solidFill>
            <a:prstDash val="solid"/>
          </a:ln>
        </p:spPr>
      </p:sp>
      <p:sp>
        <p:nvSpPr>
          <p:cNvPr id="8" name="Shape 6"/>
          <p:cNvSpPr/>
          <p:nvPr/>
        </p:nvSpPr>
        <p:spPr>
          <a:xfrm>
            <a:off x="7095744" y="1911096"/>
            <a:ext cx="164592" cy="164592"/>
          </a:xfrm>
          <a:prstGeom prst="ellipse">
            <a:avLst/>
          </a:prstGeom>
          <a:solidFill>
            <a:srgbClr val="1E88E5"/>
          </a:solidFill>
          <a:ln w="12700">
            <a:solidFill>
              <a:srgbClr val="1E88E5"/>
            </a:solidFill>
            <a:prstDash val="solid"/>
          </a:ln>
        </p:spPr>
      </p:sp>
      <p:sp>
        <p:nvSpPr>
          <p:cNvPr id="9" name="Shape 7"/>
          <p:cNvSpPr/>
          <p:nvPr/>
        </p:nvSpPr>
        <p:spPr>
          <a:xfrm>
            <a:off x="6547104" y="1975104"/>
            <a:ext cx="164592" cy="164592"/>
          </a:xfrm>
          <a:prstGeom prst="ellipse">
            <a:avLst/>
          </a:prstGeom>
          <a:solidFill>
            <a:srgbClr val="1E88E5"/>
          </a:solidFill>
          <a:ln w="12700">
            <a:solidFill>
              <a:srgbClr val="1E88E5"/>
            </a:solidFill>
            <a:prstDash val="solid"/>
          </a:ln>
        </p:spPr>
      </p:sp>
      <p:sp>
        <p:nvSpPr>
          <p:cNvPr id="10" name="Shape 8"/>
          <p:cNvSpPr/>
          <p:nvPr/>
        </p:nvSpPr>
        <p:spPr>
          <a:xfrm>
            <a:off x="7342632" y="2020824"/>
            <a:ext cx="164592" cy="164592"/>
          </a:xfrm>
          <a:prstGeom prst="ellipse">
            <a:avLst/>
          </a:prstGeom>
          <a:solidFill>
            <a:srgbClr val="1E88E5"/>
          </a:solidFill>
          <a:ln w="12700">
            <a:solidFill>
              <a:srgbClr val="1E88E5"/>
            </a:solidFill>
            <a:prstDash val="solid"/>
          </a:ln>
        </p:spPr>
      </p:sp>
      <p:sp>
        <p:nvSpPr>
          <p:cNvPr id="11" name="Shape 9"/>
          <p:cNvSpPr/>
          <p:nvPr/>
        </p:nvSpPr>
        <p:spPr>
          <a:xfrm>
            <a:off x="6867144" y="2157984"/>
            <a:ext cx="164592" cy="164592"/>
          </a:xfrm>
          <a:prstGeom prst="ellipse">
            <a:avLst/>
          </a:prstGeom>
          <a:solidFill>
            <a:srgbClr val="1E88E5"/>
          </a:solidFill>
          <a:ln w="12700">
            <a:solidFill>
              <a:srgbClr val="1E88E5"/>
            </a:solidFill>
            <a:prstDash val="solid"/>
          </a:ln>
        </p:spPr>
      </p:sp>
      <p:sp>
        <p:nvSpPr>
          <p:cNvPr id="12" name="Shape 10"/>
          <p:cNvSpPr/>
          <p:nvPr/>
        </p:nvSpPr>
        <p:spPr>
          <a:xfrm>
            <a:off x="6684264" y="2295144"/>
            <a:ext cx="164592" cy="164592"/>
          </a:xfrm>
          <a:prstGeom prst="ellipse">
            <a:avLst/>
          </a:prstGeom>
          <a:solidFill>
            <a:srgbClr val="1E88E5"/>
          </a:solidFill>
          <a:ln w="12700">
            <a:solidFill>
              <a:srgbClr val="1E88E5"/>
            </a:solidFill>
            <a:prstDash val="solid"/>
          </a:ln>
        </p:spPr>
      </p:sp>
      <p:sp>
        <p:nvSpPr>
          <p:cNvPr id="13" name="Shape 11"/>
          <p:cNvSpPr/>
          <p:nvPr/>
        </p:nvSpPr>
        <p:spPr>
          <a:xfrm>
            <a:off x="7141464" y="2313432"/>
            <a:ext cx="164592" cy="164592"/>
          </a:xfrm>
          <a:prstGeom prst="ellipse">
            <a:avLst/>
          </a:prstGeom>
          <a:solidFill>
            <a:srgbClr val="1E88E5"/>
          </a:solidFill>
          <a:ln w="12700">
            <a:solidFill>
              <a:srgbClr val="1E88E5"/>
            </a:solidFill>
            <a:prstDash val="solid"/>
          </a:ln>
        </p:spPr>
      </p:sp>
      <p:sp>
        <p:nvSpPr>
          <p:cNvPr id="14" name="Shape 12"/>
          <p:cNvSpPr/>
          <p:nvPr/>
        </p:nvSpPr>
        <p:spPr>
          <a:xfrm>
            <a:off x="7232904" y="1490472"/>
            <a:ext cx="164592" cy="164592"/>
          </a:xfrm>
          <a:prstGeom prst="ellipse">
            <a:avLst/>
          </a:prstGeom>
          <a:solidFill>
            <a:srgbClr val="1E88E5"/>
          </a:solidFill>
          <a:ln w="12700">
            <a:solidFill>
              <a:srgbClr val="1E88E5"/>
            </a:solidFill>
            <a:prstDash val="solid"/>
          </a:ln>
        </p:spPr>
      </p:sp>
      <p:sp>
        <p:nvSpPr>
          <p:cNvPr id="15" name="Shape 13"/>
          <p:cNvSpPr/>
          <p:nvPr/>
        </p:nvSpPr>
        <p:spPr>
          <a:xfrm>
            <a:off x="6501384" y="3118104"/>
            <a:ext cx="164592" cy="164592"/>
          </a:xfrm>
          <a:prstGeom prst="ellipse">
            <a:avLst/>
          </a:prstGeom>
          <a:solidFill>
            <a:srgbClr val="00ACC1"/>
          </a:solidFill>
          <a:ln w="12700">
            <a:solidFill>
              <a:srgbClr val="00ACC1"/>
            </a:solidFill>
            <a:prstDash val="solid"/>
          </a:ln>
        </p:spPr>
      </p:sp>
      <p:sp>
        <p:nvSpPr>
          <p:cNvPr id="16" name="Shape 14"/>
          <p:cNvSpPr/>
          <p:nvPr/>
        </p:nvSpPr>
        <p:spPr>
          <a:xfrm>
            <a:off x="6775704" y="2935224"/>
            <a:ext cx="164592" cy="164592"/>
          </a:xfrm>
          <a:prstGeom prst="ellipse">
            <a:avLst/>
          </a:prstGeom>
          <a:solidFill>
            <a:srgbClr val="00ACC1"/>
          </a:solidFill>
          <a:ln w="12700">
            <a:solidFill>
              <a:srgbClr val="00ACC1"/>
            </a:solidFill>
            <a:prstDash val="solid"/>
          </a:ln>
        </p:spPr>
      </p:sp>
      <p:sp>
        <p:nvSpPr>
          <p:cNvPr id="17" name="Shape 15"/>
          <p:cNvSpPr/>
          <p:nvPr/>
        </p:nvSpPr>
        <p:spPr>
          <a:xfrm>
            <a:off x="6912864" y="3209544"/>
            <a:ext cx="164592" cy="164592"/>
          </a:xfrm>
          <a:prstGeom prst="ellipse">
            <a:avLst/>
          </a:prstGeom>
          <a:solidFill>
            <a:srgbClr val="00ACC1"/>
          </a:solidFill>
          <a:ln w="12700">
            <a:solidFill>
              <a:srgbClr val="00ACC1"/>
            </a:solidFill>
            <a:prstDash val="solid"/>
          </a:ln>
        </p:spPr>
      </p:sp>
      <p:sp>
        <p:nvSpPr>
          <p:cNvPr id="18" name="Shape 16"/>
          <p:cNvSpPr/>
          <p:nvPr/>
        </p:nvSpPr>
        <p:spPr>
          <a:xfrm>
            <a:off x="7095744" y="3026664"/>
            <a:ext cx="164592" cy="164592"/>
          </a:xfrm>
          <a:prstGeom prst="ellipse">
            <a:avLst/>
          </a:prstGeom>
          <a:solidFill>
            <a:srgbClr val="00ACC1"/>
          </a:solidFill>
          <a:ln w="12700">
            <a:solidFill>
              <a:srgbClr val="00ACC1"/>
            </a:solidFill>
            <a:prstDash val="solid"/>
          </a:ln>
        </p:spPr>
      </p:sp>
      <p:sp>
        <p:nvSpPr>
          <p:cNvPr id="19" name="Shape 17"/>
          <p:cNvSpPr/>
          <p:nvPr/>
        </p:nvSpPr>
        <p:spPr>
          <a:xfrm>
            <a:off x="7232904" y="3300984"/>
            <a:ext cx="164592" cy="164592"/>
          </a:xfrm>
          <a:prstGeom prst="ellipse">
            <a:avLst/>
          </a:prstGeom>
          <a:solidFill>
            <a:srgbClr val="00ACC1"/>
          </a:solidFill>
          <a:ln w="12700">
            <a:solidFill>
              <a:srgbClr val="00ACC1"/>
            </a:solidFill>
            <a:prstDash val="solid"/>
          </a:ln>
        </p:spPr>
      </p:sp>
      <p:sp>
        <p:nvSpPr>
          <p:cNvPr id="20" name="Shape 18"/>
          <p:cNvSpPr/>
          <p:nvPr/>
        </p:nvSpPr>
        <p:spPr>
          <a:xfrm>
            <a:off x="6638544" y="3346704"/>
            <a:ext cx="164592" cy="164592"/>
          </a:xfrm>
          <a:prstGeom prst="ellipse">
            <a:avLst/>
          </a:prstGeom>
          <a:solidFill>
            <a:srgbClr val="00ACC1"/>
          </a:solidFill>
          <a:ln w="12700">
            <a:solidFill>
              <a:srgbClr val="00ACC1"/>
            </a:solidFill>
            <a:prstDash val="solid"/>
          </a:ln>
        </p:spPr>
      </p:sp>
      <p:sp>
        <p:nvSpPr>
          <p:cNvPr id="21" name="Shape 19"/>
          <p:cNvSpPr/>
          <p:nvPr/>
        </p:nvSpPr>
        <p:spPr>
          <a:xfrm>
            <a:off x="7644384" y="832104"/>
            <a:ext cx="256032" cy="256032"/>
          </a:xfrm>
          <a:prstGeom prst="ellipse">
            <a:avLst/>
          </a:prstGeom>
          <a:solidFill>
            <a:srgbClr val="E53935"/>
          </a:solidFill>
          <a:ln w="12700">
            <a:solidFill>
              <a:srgbClr val="E53935"/>
            </a:solidFill>
            <a:prstDash val="solid"/>
          </a:ln>
        </p:spPr>
      </p:sp>
      <p:sp>
        <p:nvSpPr>
          <p:cNvPr id="22" name="Shape 20"/>
          <p:cNvSpPr/>
          <p:nvPr/>
        </p:nvSpPr>
        <p:spPr>
          <a:xfrm>
            <a:off x="6135624" y="4032504"/>
            <a:ext cx="256032" cy="256032"/>
          </a:xfrm>
          <a:prstGeom prst="ellipse">
            <a:avLst/>
          </a:prstGeom>
          <a:solidFill>
            <a:srgbClr val="E53935"/>
          </a:solidFill>
          <a:ln w="12700">
            <a:solidFill>
              <a:srgbClr val="E53935"/>
            </a:solidFill>
            <a:prstDash val="solid"/>
          </a:ln>
        </p:spPr>
      </p:sp>
      <p:sp>
        <p:nvSpPr>
          <p:cNvPr id="23" name="Text 21"/>
          <p:cNvSpPr/>
          <p:nvPr/>
        </p:nvSpPr>
        <p:spPr>
          <a:xfrm>
            <a:off x="7818120" y="713232"/>
            <a:ext cx="868680" cy="201168"/>
          </a:xfrm>
          <a:prstGeom prst="rect">
            <a:avLst/>
          </a:prstGeom>
          <a:noFill/>
          <a:ln/>
        </p:spPr>
        <p:txBody>
          <a:bodyPr wrap="square" rtlCol="0" anchor="ctr"/>
          <a:lstStyle/>
          <a:p>
            <a:pPr indent="0" marL="0">
              <a:buNone/>
            </a:pPr>
            <a:r>
              <a:rPr lang="en-US" sz="900" b="1" dirty="0">
                <a:solidFill>
                  <a:srgbClr val="E53935"/>
                </a:solidFill>
              </a:rPr>
              <a:t>OUTLIER</a:t>
            </a:r>
            <a:endParaRPr lang="en-US" sz="900" dirty="0"/>
          </a:p>
        </p:txBody>
      </p:sp>
      <p:sp>
        <p:nvSpPr>
          <p:cNvPr id="24" name="Text 22"/>
          <p:cNvSpPr/>
          <p:nvPr/>
        </p:nvSpPr>
        <p:spPr>
          <a:xfrm>
            <a:off x="6053328" y="4370832"/>
            <a:ext cx="868680" cy="201168"/>
          </a:xfrm>
          <a:prstGeom prst="rect">
            <a:avLst/>
          </a:prstGeom>
          <a:noFill/>
          <a:ln/>
        </p:spPr>
        <p:txBody>
          <a:bodyPr wrap="square" rtlCol="0" anchor="ctr"/>
          <a:lstStyle/>
          <a:p>
            <a:pPr indent="0" marL="0">
              <a:buNone/>
            </a:pPr>
            <a:r>
              <a:rPr lang="en-US" sz="900" b="1" dirty="0">
                <a:solidFill>
                  <a:srgbClr val="E53935"/>
                </a:solidFill>
              </a:rPr>
              <a:t>OUTLIER</a:t>
            </a:r>
            <a:endParaRPr lang="en-US" sz="900" dirty="0"/>
          </a:p>
        </p:txBody>
      </p:sp>
      <p:sp>
        <p:nvSpPr>
          <p:cNvPr id="25" name="Shape 23"/>
          <p:cNvSpPr/>
          <p:nvPr/>
        </p:nvSpPr>
        <p:spPr>
          <a:xfrm>
            <a:off x="7772400" y="960120"/>
            <a:ext cx="73152" cy="256032"/>
          </a:xfrm>
          <a:prstGeom prst="line">
            <a:avLst/>
          </a:prstGeom>
          <a:noFill/>
          <a:ln w="12700">
            <a:solidFill>
              <a:srgbClr val="E53935"/>
            </a:solidFill>
            <a:prstDash val="solid"/>
          </a:ln>
        </p:spPr>
      </p:sp>
      <p:sp>
        <p:nvSpPr>
          <p:cNvPr id="26" name="Shape 24"/>
          <p:cNvSpPr/>
          <p:nvPr/>
        </p:nvSpPr>
        <p:spPr>
          <a:xfrm>
            <a:off x="6263640" y="4160520"/>
            <a:ext cx="0" cy="-219456"/>
          </a:xfrm>
          <a:prstGeom prst="line">
            <a:avLst/>
          </a:prstGeom>
          <a:noFill/>
          <a:ln w="12700">
            <a:solidFill>
              <a:srgbClr val="E53935"/>
            </a:solidFill>
            <a:prstDash val="solid"/>
          </a:ln>
        </p:spPr>
      </p:sp>
      <p:sp>
        <p:nvSpPr>
          <p:cNvPr id="27" name="Shape 25"/>
          <p:cNvSpPr/>
          <p:nvPr/>
        </p:nvSpPr>
        <p:spPr>
          <a:xfrm>
            <a:off x="475488" y="566928"/>
            <a:ext cx="1645920" cy="329184"/>
          </a:xfrm>
          <a:prstGeom prst="roundRect">
            <a:avLst>
              <a:gd name="adj" fmla="val 27778"/>
            </a:avLst>
          </a:prstGeom>
          <a:solidFill>
            <a:srgbClr val="E53935">
              <a:alpha val="75000"/>
            </a:srgbClr>
          </a:solidFill>
          <a:ln w="12700">
            <a:solidFill>
              <a:srgbClr val="E53935"/>
            </a:solidFill>
            <a:prstDash val="solid"/>
          </a:ln>
        </p:spPr>
      </p:sp>
      <p:sp>
        <p:nvSpPr>
          <p:cNvPr id="28" name="Text 26"/>
          <p:cNvSpPr/>
          <p:nvPr/>
        </p:nvSpPr>
        <p:spPr>
          <a:xfrm>
            <a:off x="475488" y="566928"/>
            <a:ext cx="1645920" cy="329184"/>
          </a:xfrm>
          <a:prstGeom prst="rect">
            <a:avLst/>
          </a:prstGeom>
          <a:noFill/>
          <a:ln/>
        </p:spPr>
        <p:txBody>
          <a:bodyPr wrap="square" lIns="0" tIns="0" rIns="0" bIns="0" rtlCol="0" anchor="ctr"/>
          <a:lstStyle/>
          <a:p>
            <a:pPr algn="ctr" indent="0" marL="0">
              <a:buNone/>
            </a:pPr>
            <a:r>
              <a:rPr lang="en-US" sz="750" b="1" dirty="0">
                <a:solidFill>
                  <a:srgbClr val="FFFFFF"/>
                </a:solidFill>
              </a:rPr>
              <a:t>MACHINE LEARNING</a:t>
            </a:r>
            <a:endParaRPr lang="en-US" sz="750" dirty="0"/>
          </a:p>
        </p:txBody>
      </p:sp>
      <p:sp>
        <p:nvSpPr>
          <p:cNvPr id="29" name="Text 27"/>
          <p:cNvSpPr/>
          <p:nvPr/>
        </p:nvSpPr>
        <p:spPr>
          <a:xfrm>
            <a:off x="457200" y="987552"/>
            <a:ext cx="5212080" cy="1005840"/>
          </a:xfrm>
          <a:prstGeom prst="rect">
            <a:avLst/>
          </a:prstGeom>
          <a:noFill/>
          <a:ln/>
        </p:spPr>
        <p:txBody>
          <a:bodyPr wrap="square" rtlCol="0" anchor="ctr"/>
          <a:lstStyle/>
          <a:p>
            <a:pPr indent="0" marL="0">
              <a:buNone/>
            </a:pPr>
            <a:r>
              <a:rPr lang="en-US" sz="6400" b="1" dirty="0">
                <a:solidFill>
                  <a:srgbClr val="E53935"/>
                </a:solidFill>
                <a:latin typeface="Calibri" pitchFamily="34" charset="0"/>
                <a:ea typeface="Calibri" pitchFamily="34" charset="-122"/>
                <a:cs typeface="Calibri" pitchFamily="34" charset="-120"/>
              </a:rPr>
              <a:t>Outliers</a:t>
            </a:r>
            <a:endParaRPr lang="en-US" sz="6400" dirty="0"/>
          </a:p>
        </p:txBody>
      </p:sp>
      <p:sp>
        <p:nvSpPr>
          <p:cNvPr id="30" name="Text 28"/>
          <p:cNvSpPr/>
          <p:nvPr/>
        </p:nvSpPr>
        <p:spPr>
          <a:xfrm>
            <a:off x="457200" y="1901952"/>
            <a:ext cx="5212080" cy="640080"/>
          </a:xfrm>
          <a:prstGeom prst="rect">
            <a:avLst/>
          </a:prstGeom>
          <a:noFill/>
          <a:ln/>
        </p:spPr>
        <p:txBody>
          <a:bodyPr wrap="square"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 Data</a:t>
            </a:r>
            <a:endParaRPr lang="en-US" sz="4400" dirty="0"/>
          </a:p>
        </p:txBody>
      </p:sp>
      <p:sp>
        <p:nvSpPr>
          <p:cNvPr id="31" name="Text 29"/>
          <p:cNvSpPr/>
          <p:nvPr/>
        </p:nvSpPr>
        <p:spPr>
          <a:xfrm>
            <a:off x="457200" y="2542032"/>
            <a:ext cx="5212080" cy="402336"/>
          </a:xfrm>
          <a:prstGeom prst="rect">
            <a:avLst/>
          </a:prstGeom>
          <a:noFill/>
          <a:ln/>
        </p:spPr>
        <p:txBody>
          <a:bodyPr wrap="square" rtlCol="0" anchor="ctr"/>
          <a:lstStyle/>
          <a:p>
            <a:pPr indent="0" marL="0">
              <a:buNone/>
            </a:pPr>
            <a:r>
              <a:rPr lang="en-US" sz="1900" dirty="0">
                <a:solidFill>
                  <a:srgbClr val="FFB300"/>
                </a:solidFill>
                <a:latin typeface="Calibri Light" pitchFamily="34" charset="0"/>
                <a:ea typeface="Calibri Light" pitchFamily="34" charset="-122"/>
                <a:cs typeface="Calibri Light" pitchFamily="34" charset="-120"/>
              </a:rPr>
              <a:t>Types, Detection &amp; Handling</a:t>
            </a:r>
            <a:endParaRPr lang="en-US" sz="1900" dirty="0"/>
          </a:p>
        </p:txBody>
      </p:sp>
      <p:sp>
        <p:nvSpPr>
          <p:cNvPr id="32" name="Text 30"/>
          <p:cNvSpPr/>
          <p:nvPr/>
        </p:nvSpPr>
        <p:spPr>
          <a:xfrm>
            <a:off x="457200" y="3035808"/>
            <a:ext cx="5212080" cy="658368"/>
          </a:xfrm>
          <a:prstGeom prst="rect">
            <a:avLst/>
          </a:prstGeom>
          <a:noFill/>
          <a:ln/>
        </p:spPr>
        <p:txBody>
          <a:bodyPr wrap="square" rtlCol="0" anchor="ctr"/>
          <a:lstStyle/>
          <a:p>
            <a:pPr indent="0" marL="0">
              <a:buNone/>
            </a:pPr>
            <a:r>
              <a:rPr lang="en-US" sz="1300" dirty="0">
                <a:solidFill>
                  <a:srgbClr val="90A4AE"/>
                </a:solidFill>
                <a:latin typeface="Calibri Light" pitchFamily="34" charset="0"/>
                <a:ea typeface="Calibri Light" pitchFamily="34" charset="-122"/>
                <a:cs typeface="Calibri Light" pitchFamily="34" charset="-120"/>
              </a:rPr>
              <a:t>Data points that differ significantly from the rest — impacting</a:t>
            </a:r>
            <a:endParaRPr lang="en-US" sz="1300" dirty="0"/>
          </a:p>
          <a:p>
            <a:pPr indent="0" marL="0">
              <a:buNone/>
            </a:pPr>
            <a:r>
              <a:rPr lang="en-US" sz="1300" dirty="0">
                <a:solidFill>
                  <a:srgbClr val="90A4AE"/>
                </a:solidFill>
                <a:latin typeface="Calibri Light" pitchFamily="34" charset="0"/>
                <a:ea typeface="Calibri Light" pitchFamily="34" charset="-122"/>
                <a:cs typeface="Calibri Light" pitchFamily="34" charset="-120"/>
              </a:rPr>
              <a:t>statistical measures, model accuracy, and data quality.</a:t>
            </a:r>
            <a:endParaRPr lang="en-US" sz="1300" dirty="0"/>
          </a:p>
        </p:txBody>
      </p:sp>
      <p:sp>
        <p:nvSpPr>
          <p:cNvPr id="33" name="Shape 31"/>
          <p:cNvSpPr/>
          <p:nvPr/>
        </p:nvSpPr>
        <p:spPr>
          <a:xfrm>
            <a:off x="457200" y="3822192"/>
            <a:ext cx="1554480" cy="320040"/>
          </a:xfrm>
          <a:prstGeom prst="roundRect">
            <a:avLst>
              <a:gd name="adj" fmla="val 28571"/>
            </a:avLst>
          </a:prstGeom>
          <a:solidFill>
            <a:srgbClr val="1E88E5">
              <a:alpha val="70000"/>
            </a:srgbClr>
          </a:solidFill>
          <a:ln w="12700">
            <a:solidFill>
              <a:srgbClr val="1E88E5"/>
            </a:solidFill>
            <a:prstDash val="solid"/>
          </a:ln>
        </p:spPr>
      </p:sp>
      <p:sp>
        <p:nvSpPr>
          <p:cNvPr id="34" name="Text 32"/>
          <p:cNvSpPr/>
          <p:nvPr/>
        </p:nvSpPr>
        <p:spPr>
          <a:xfrm>
            <a:off x="457200" y="3822192"/>
            <a:ext cx="1554480" cy="320040"/>
          </a:xfrm>
          <a:prstGeom prst="rect">
            <a:avLst/>
          </a:prstGeom>
          <a:noFill/>
          <a:ln/>
        </p:spPr>
        <p:txBody>
          <a:bodyPr wrap="square" lIns="0" tIns="0" rIns="0" bIns="0" rtlCol="0" anchor="ctr"/>
          <a:lstStyle/>
          <a:p>
            <a:pPr algn="ctr" indent="0" marL="0">
              <a:buNone/>
            </a:pPr>
            <a:r>
              <a:rPr lang="en-US" sz="1050" b="1" dirty="0">
                <a:solidFill>
                  <a:srgbClr val="FFFFFF"/>
                </a:solidFill>
              </a:rPr>
              <a:t>5 Types</a:t>
            </a:r>
            <a:endParaRPr lang="en-US" sz="1050" dirty="0"/>
          </a:p>
        </p:txBody>
      </p:sp>
      <p:sp>
        <p:nvSpPr>
          <p:cNvPr id="35" name="Shape 33"/>
          <p:cNvSpPr/>
          <p:nvPr/>
        </p:nvSpPr>
        <p:spPr>
          <a:xfrm>
            <a:off x="2148840" y="3822192"/>
            <a:ext cx="1554480" cy="320040"/>
          </a:xfrm>
          <a:prstGeom prst="roundRect">
            <a:avLst>
              <a:gd name="adj" fmla="val 28571"/>
            </a:avLst>
          </a:prstGeom>
          <a:solidFill>
            <a:srgbClr val="E53935">
              <a:alpha val="70000"/>
            </a:srgbClr>
          </a:solidFill>
          <a:ln w="12700">
            <a:solidFill>
              <a:srgbClr val="E53935"/>
            </a:solidFill>
            <a:prstDash val="solid"/>
          </a:ln>
        </p:spPr>
      </p:sp>
      <p:sp>
        <p:nvSpPr>
          <p:cNvPr id="36" name="Text 34"/>
          <p:cNvSpPr/>
          <p:nvPr/>
        </p:nvSpPr>
        <p:spPr>
          <a:xfrm>
            <a:off x="2148840" y="3822192"/>
            <a:ext cx="1554480" cy="320040"/>
          </a:xfrm>
          <a:prstGeom prst="rect">
            <a:avLst/>
          </a:prstGeom>
          <a:noFill/>
          <a:ln/>
        </p:spPr>
        <p:txBody>
          <a:bodyPr wrap="square" lIns="0" tIns="0" rIns="0" bIns="0" rtlCol="0" anchor="ctr"/>
          <a:lstStyle/>
          <a:p>
            <a:pPr algn="ctr" indent="0" marL="0">
              <a:buNone/>
            </a:pPr>
            <a:r>
              <a:rPr lang="en-US" sz="1050" b="1" dirty="0">
                <a:solidFill>
                  <a:srgbClr val="FFFFFF"/>
                </a:solidFill>
              </a:rPr>
              <a:t>Detection Methods</a:t>
            </a:r>
            <a:endParaRPr lang="en-US" sz="1050" dirty="0"/>
          </a:p>
        </p:txBody>
      </p:sp>
      <p:sp>
        <p:nvSpPr>
          <p:cNvPr id="37" name="Shape 35"/>
          <p:cNvSpPr/>
          <p:nvPr/>
        </p:nvSpPr>
        <p:spPr>
          <a:xfrm>
            <a:off x="3840480" y="3822192"/>
            <a:ext cx="1554480" cy="320040"/>
          </a:xfrm>
          <a:prstGeom prst="roundRect">
            <a:avLst>
              <a:gd name="adj" fmla="val 28571"/>
            </a:avLst>
          </a:prstGeom>
          <a:solidFill>
            <a:srgbClr val="FFB300">
              <a:alpha val="70000"/>
            </a:srgbClr>
          </a:solidFill>
          <a:ln w="12700">
            <a:solidFill>
              <a:srgbClr val="FFB300"/>
            </a:solidFill>
            <a:prstDash val="solid"/>
          </a:ln>
        </p:spPr>
      </p:sp>
      <p:sp>
        <p:nvSpPr>
          <p:cNvPr id="38" name="Text 36"/>
          <p:cNvSpPr/>
          <p:nvPr/>
        </p:nvSpPr>
        <p:spPr>
          <a:xfrm>
            <a:off x="3840480" y="3822192"/>
            <a:ext cx="1554480" cy="320040"/>
          </a:xfrm>
          <a:prstGeom prst="rect">
            <a:avLst/>
          </a:prstGeom>
          <a:noFill/>
          <a:ln/>
        </p:spPr>
        <p:txBody>
          <a:bodyPr wrap="square" lIns="0" tIns="0" rIns="0" bIns="0" rtlCol="0" anchor="ctr"/>
          <a:lstStyle/>
          <a:p>
            <a:pPr algn="ctr" indent="0" marL="0">
              <a:buNone/>
            </a:pPr>
            <a:r>
              <a:rPr lang="en-US" sz="1050" b="1" dirty="0">
                <a:solidFill>
                  <a:srgbClr val="FFFFFF"/>
                </a:solidFill>
              </a:rPr>
              <a:t>Handling Strategies</a:t>
            </a:r>
            <a:endParaRPr lang="en-US" sz="1050" dirty="0"/>
          </a:p>
        </p:txBody>
      </p:sp>
      <p:sp>
        <p:nvSpPr>
          <p:cNvPr id="39" name="Shape 37"/>
          <p:cNvSpPr/>
          <p:nvPr/>
        </p:nvSpPr>
        <p:spPr>
          <a:xfrm>
            <a:off x="0" y="4736592"/>
            <a:ext cx="9144000" cy="406908"/>
          </a:xfrm>
          <a:prstGeom prst="rect">
            <a:avLst/>
          </a:prstGeom>
          <a:solidFill>
            <a:srgbClr val="22304A"/>
          </a:solidFill>
          <a:ln w="12700">
            <a:solidFill>
              <a:srgbClr val="22304A"/>
            </a:solidFill>
            <a:prstDash val="solid"/>
          </a:ln>
        </p:spPr>
      </p:sp>
      <p:sp>
        <p:nvSpPr>
          <p:cNvPr id="40" name="Shape 38"/>
          <p:cNvSpPr/>
          <p:nvPr/>
        </p:nvSpPr>
        <p:spPr>
          <a:xfrm>
            <a:off x="0" y="4736592"/>
            <a:ext cx="64008" cy="406908"/>
          </a:xfrm>
          <a:prstGeom prst="rect">
            <a:avLst/>
          </a:prstGeom>
          <a:solidFill>
            <a:srgbClr val="E53935"/>
          </a:solidFill>
          <a:ln w="12700">
            <a:solidFill>
              <a:srgbClr val="E53935"/>
            </a:solidFill>
            <a:prstDash val="solid"/>
          </a:ln>
        </p:spPr>
      </p:sp>
      <p:sp>
        <p:nvSpPr>
          <p:cNvPr id="41" name="Text 39"/>
          <p:cNvSpPr/>
          <p:nvPr/>
        </p:nvSpPr>
        <p:spPr>
          <a:xfrm>
            <a:off x="274320" y="4736592"/>
            <a:ext cx="8595360" cy="406908"/>
          </a:xfrm>
          <a:prstGeom prst="rect">
            <a:avLst/>
          </a:prstGeom>
          <a:noFill/>
          <a:ln/>
        </p:spPr>
        <p:txBody>
          <a:bodyPr wrap="square" rtlCol="0" anchor="ctr"/>
          <a:lstStyle/>
          <a:p>
            <a:pPr indent="0" marL="0">
              <a:buNone/>
            </a:pPr>
            <a:r>
              <a:rPr lang="en-US" sz="1100" dirty="0">
                <a:solidFill>
                  <a:srgbClr val="90A4AE"/>
                </a:solidFill>
              </a:rPr>
              <a:t>Univariate  •  Multivariate  •  Point  •  Contextual  •  Collective  •  Z-Score  •  IQR  •  DBSCAN  •  Isolation Forest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31A28"/>
          </a:solidFill>
          <a:ln w="12700">
            <a:solidFill>
              <a:srgbClr val="131A28"/>
            </a:solidFill>
            <a:prstDash val="solid"/>
          </a:ln>
        </p:spPr>
      </p:sp>
      <p:sp>
        <p:nvSpPr>
          <p:cNvPr id="3" name="Shape 1"/>
          <p:cNvSpPr/>
          <p:nvPr/>
        </p:nvSpPr>
        <p:spPr>
          <a:xfrm>
            <a:off x="0" y="594360"/>
            <a:ext cx="9144000" cy="64008"/>
          </a:xfrm>
          <a:prstGeom prst="rect">
            <a:avLst/>
          </a:prstGeom>
          <a:solidFill>
            <a:srgbClr val="E53935"/>
          </a:solidFill>
          <a:ln w="12700">
            <a:solidFill>
              <a:srgbClr val="E53935"/>
            </a:solidFill>
            <a:prstDash val="solid"/>
          </a:ln>
        </p:spPr>
      </p:sp>
      <p:sp>
        <p:nvSpPr>
          <p:cNvPr id="4" name="Text 2"/>
          <p:cNvSpPr/>
          <p:nvPr/>
        </p:nvSpPr>
        <p:spPr>
          <a:xfrm>
            <a:off x="457200" y="91440"/>
            <a:ext cx="8229600" cy="45720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What are Outliers in Data?</a:t>
            </a:r>
            <a:endParaRPr lang="en-US" sz="2400" dirty="0"/>
          </a:p>
        </p:txBody>
      </p:sp>
      <p:sp>
        <p:nvSpPr>
          <p:cNvPr id="5" name="Shape 3"/>
          <p:cNvSpPr/>
          <p:nvPr/>
        </p:nvSpPr>
        <p:spPr>
          <a:xfrm>
            <a:off x="320040" y="822960"/>
            <a:ext cx="8503920" cy="914400"/>
          </a:xfrm>
          <a:prstGeom prst="rect">
            <a:avLst/>
          </a:prstGeom>
          <a:solidFill>
            <a:srgbClr val="131A28"/>
          </a:solidFill>
          <a:ln w="19050">
            <a:solidFill>
              <a:srgbClr val="E53935"/>
            </a:solidFill>
            <a:prstDash val="solid"/>
          </a:ln>
          <a:effectLst>
            <a:outerShdw sx="100000" sy="100000" kx="0" ky="0" algn="bl" rotWithShape="0" blurRad="127000" dist="38100" dir="8100000">
              <a:srgbClr val="000000">
                <a:alpha val="16000"/>
              </a:srgbClr>
            </a:outerShdw>
          </a:effectLst>
        </p:spPr>
      </p:sp>
      <p:sp>
        <p:nvSpPr>
          <p:cNvPr id="6" name="Shape 4"/>
          <p:cNvSpPr/>
          <p:nvPr/>
        </p:nvSpPr>
        <p:spPr>
          <a:xfrm>
            <a:off x="320040" y="822960"/>
            <a:ext cx="64008" cy="914400"/>
          </a:xfrm>
          <a:prstGeom prst="rect">
            <a:avLst/>
          </a:prstGeom>
          <a:solidFill>
            <a:srgbClr val="E53935"/>
          </a:solidFill>
          <a:ln w="12700">
            <a:solidFill>
              <a:srgbClr val="E53935"/>
            </a:solidFill>
            <a:prstDash val="solid"/>
          </a:ln>
        </p:spPr>
      </p:sp>
      <p:sp>
        <p:nvSpPr>
          <p:cNvPr id="7" name="Text 5"/>
          <p:cNvSpPr/>
          <p:nvPr/>
        </p:nvSpPr>
        <p:spPr>
          <a:xfrm>
            <a:off x="512064" y="886968"/>
            <a:ext cx="8211312" cy="786384"/>
          </a:xfrm>
          <a:prstGeom prst="rect">
            <a:avLst/>
          </a:prstGeom>
          <a:noFill/>
          <a:ln/>
        </p:spPr>
        <p:txBody>
          <a:bodyPr wrap="square" rtlCol="0" anchor="ctr"/>
          <a:lstStyle/>
          <a:p>
            <a:pPr indent="0" marL="0">
              <a:buNone/>
            </a:pPr>
            <a:r>
              <a:rPr lang="en-US" sz="1250" i="1" dirty="0">
                <a:solidFill>
                  <a:srgbClr val="FFF8E1"/>
                </a:solidFill>
                <a:latin typeface="Calibri Light" pitchFamily="34" charset="0"/>
                <a:ea typeface="Calibri Light" pitchFamily="34" charset="-122"/>
                <a:cs typeface="Calibri Light" pitchFamily="34" charset="-120"/>
              </a:rPr>
              <a:t>"Outliers are data points that differ significantly from the rest of the dataset and do not follow the general pattern. They can occur due to errors, rare events or natural variability in data — and can affect mean, variance, and model performance."</a:t>
            </a:r>
            <a:endParaRPr lang="en-US" sz="1250" dirty="0"/>
          </a:p>
        </p:txBody>
      </p:sp>
      <p:sp>
        <p:nvSpPr>
          <p:cNvPr id="8" name="Shape 6"/>
          <p:cNvSpPr/>
          <p:nvPr/>
        </p:nvSpPr>
        <p:spPr>
          <a:xfrm>
            <a:off x="320040" y="1883664"/>
            <a:ext cx="2029968" cy="1051560"/>
          </a:xfrm>
          <a:prstGeom prst="rect">
            <a:avLst/>
          </a:prstGeom>
          <a:solidFill>
            <a:srgbClr val="FFFFFF"/>
          </a:solidFill>
          <a:ln w="19050">
            <a:solidFill>
              <a:srgbClr val="E53935"/>
            </a:solidFill>
            <a:prstDash val="solid"/>
          </a:ln>
          <a:effectLst>
            <a:outerShdw sx="100000" sy="100000" kx="0" ky="0" algn="bl" rotWithShape="0" blurRad="127000" dist="38100" dir="8100000">
              <a:srgbClr val="000000">
                <a:alpha val="16000"/>
              </a:srgbClr>
            </a:outerShdw>
          </a:effectLst>
        </p:spPr>
      </p:sp>
      <p:sp>
        <p:nvSpPr>
          <p:cNvPr id="9" name="Shape 7"/>
          <p:cNvSpPr/>
          <p:nvPr/>
        </p:nvSpPr>
        <p:spPr>
          <a:xfrm>
            <a:off x="320040" y="1883664"/>
            <a:ext cx="2029968" cy="64008"/>
          </a:xfrm>
          <a:prstGeom prst="rect">
            <a:avLst/>
          </a:prstGeom>
          <a:solidFill>
            <a:srgbClr val="E53935"/>
          </a:solidFill>
          <a:ln w="12700">
            <a:solidFill>
              <a:srgbClr val="E53935"/>
            </a:solidFill>
            <a:prstDash val="solid"/>
          </a:ln>
        </p:spPr>
      </p:sp>
      <p:sp>
        <p:nvSpPr>
          <p:cNvPr id="10" name="Shape 8"/>
          <p:cNvSpPr/>
          <p:nvPr/>
        </p:nvSpPr>
        <p:spPr>
          <a:xfrm>
            <a:off x="1106424" y="1993392"/>
            <a:ext cx="457200" cy="457200"/>
          </a:xfrm>
          <a:prstGeom prst="ellipse">
            <a:avLst/>
          </a:prstGeom>
          <a:solidFill>
            <a:srgbClr val="E53935">
              <a:alpha val="80000"/>
            </a:srgbClr>
          </a:solidFill>
          <a:ln w="12700">
            <a:solidFill>
              <a:srgbClr val="E53935"/>
            </a:solidFill>
            <a:prstDash val="solid"/>
          </a:ln>
        </p:spPr>
      </p:sp>
      <p:sp>
        <p:nvSpPr>
          <p:cNvPr id="11" name="Text 9"/>
          <p:cNvSpPr/>
          <p:nvPr/>
        </p:nvSpPr>
        <p:spPr>
          <a:xfrm>
            <a:off x="1106424" y="1993392"/>
            <a:ext cx="457200" cy="457200"/>
          </a:xfrm>
          <a:prstGeom prst="rect">
            <a:avLst/>
          </a:prstGeom>
          <a:noFill/>
          <a:ln/>
        </p:spPr>
        <p:txBody>
          <a:bodyPr wrap="square" lIns="0" tIns="0" rIns="0" bIns="0" rtlCol="0" anchor="ctr"/>
          <a:lstStyle/>
          <a:p>
            <a:pPr algn="ctr" indent="0" marL="0">
              <a:buNone/>
            </a:pPr>
            <a:r>
              <a:rPr lang="en-US" sz="1800" b="1" dirty="0">
                <a:solidFill>
                  <a:srgbClr val="131A28"/>
                </a:solidFill>
              </a:rPr>
              <a:t>↑↓</a:t>
            </a:r>
            <a:endParaRPr lang="en-US" sz="1800" dirty="0"/>
          </a:p>
        </p:txBody>
      </p:sp>
      <p:sp>
        <p:nvSpPr>
          <p:cNvPr id="12" name="Text 10"/>
          <p:cNvSpPr/>
          <p:nvPr/>
        </p:nvSpPr>
        <p:spPr>
          <a:xfrm>
            <a:off x="374904" y="2523744"/>
            <a:ext cx="1920240" cy="365760"/>
          </a:xfrm>
          <a:prstGeom prst="rect">
            <a:avLst/>
          </a:prstGeom>
          <a:noFill/>
          <a:ln/>
        </p:spPr>
        <p:txBody>
          <a:bodyPr wrap="square" rtlCol="0" anchor="ctr"/>
          <a:lstStyle/>
          <a:p>
            <a:pPr algn="ctr" indent="0" marL="0">
              <a:buNone/>
            </a:pPr>
            <a:r>
              <a:rPr lang="en-US" sz="1150" b="1" dirty="0">
                <a:solidFill>
                  <a:srgbClr val="131A28"/>
                </a:solidFill>
              </a:rPr>
              <a:t>Unusually high</a:t>
            </a:r>
            <a:endParaRPr lang="en-US" sz="1150" dirty="0"/>
          </a:p>
          <a:p>
            <a:pPr algn="ctr" indent="0" marL="0">
              <a:buNone/>
            </a:pPr>
            <a:r>
              <a:rPr lang="en-US" sz="1150" b="1" dirty="0">
                <a:solidFill>
                  <a:srgbClr val="131A28"/>
                </a:solidFill>
              </a:rPr>
              <a:t>or low values</a:t>
            </a:r>
            <a:endParaRPr lang="en-US" sz="1150" dirty="0"/>
          </a:p>
        </p:txBody>
      </p:sp>
      <p:sp>
        <p:nvSpPr>
          <p:cNvPr id="13" name="Shape 11"/>
          <p:cNvSpPr/>
          <p:nvPr/>
        </p:nvSpPr>
        <p:spPr>
          <a:xfrm>
            <a:off x="2468880" y="1883664"/>
            <a:ext cx="2029968" cy="1051560"/>
          </a:xfrm>
          <a:prstGeom prst="rect">
            <a:avLst/>
          </a:prstGeom>
          <a:solidFill>
            <a:srgbClr val="FFFFFF"/>
          </a:solidFill>
          <a:ln w="19050">
            <a:solidFill>
              <a:srgbClr val="FF7043"/>
            </a:solidFill>
            <a:prstDash val="solid"/>
          </a:ln>
          <a:effectLst>
            <a:outerShdw sx="100000" sy="100000" kx="0" ky="0" algn="bl" rotWithShape="0" blurRad="127000" dist="38100" dir="8100000">
              <a:srgbClr val="000000">
                <a:alpha val="16000"/>
              </a:srgbClr>
            </a:outerShdw>
          </a:effectLst>
        </p:spPr>
      </p:sp>
      <p:sp>
        <p:nvSpPr>
          <p:cNvPr id="14" name="Shape 12"/>
          <p:cNvSpPr/>
          <p:nvPr/>
        </p:nvSpPr>
        <p:spPr>
          <a:xfrm>
            <a:off x="2468880" y="1883664"/>
            <a:ext cx="2029968" cy="64008"/>
          </a:xfrm>
          <a:prstGeom prst="rect">
            <a:avLst/>
          </a:prstGeom>
          <a:solidFill>
            <a:srgbClr val="FF7043"/>
          </a:solidFill>
          <a:ln w="12700">
            <a:solidFill>
              <a:srgbClr val="FF7043"/>
            </a:solidFill>
            <a:prstDash val="solid"/>
          </a:ln>
        </p:spPr>
      </p:sp>
      <p:sp>
        <p:nvSpPr>
          <p:cNvPr id="15" name="Shape 13"/>
          <p:cNvSpPr/>
          <p:nvPr/>
        </p:nvSpPr>
        <p:spPr>
          <a:xfrm>
            <a:off x="3255264" y="1993392"/>
            <a:ext cx="457200" cy="457200"/>
          </a:xfrm>
          <a:prstGeom prst="ellipse">
            <a:avLst/>
          </a:prstGeom>
          <a:solidFill>
            <a:srgbClr val="FF7043">
              <a:alpha val="80000"/>
            </a:srgbClr>
          </a:solidFill>
          <a:ln w="12700">
            <a:solidFill>
              <a:srgbClr val="FF7043"/>
            </a:solidFill>
            <a:prstDash val="solid"/>
          </a:ln>
        </p:spPr>
      </p:sp>
      <p:sp>
        <p:nvSpPr>
          <p:cNvPr id="16" name="Text 14"/>
          <p:cNvSpPr/>
          <p:nvPr/>
        </p:nvSpPr>
        <p:spPr>
          <a:xfrm>
            <a:off x="3255264" y="1993392"/>
            <a:ext cx="457200" cy="457200"/>
          </a:xfrm>
          <a:prstGeom prst="rect">
            <a:avLst/>
          </a:prstGeom>
          <a:noFill/>
          <a:ln/>
        </p:spPr>
        <p:txBody>
          <a:bodyPr wrap="square" lIns="0" tIns="0" rIns="0" bIns="0" rtlCol="0" anchor="ctr"/>
          <a:lstStyle/>
          <a:p>
            <a:pPr algn="ctr" indent="0" marL="0">
              <a:buNone/>
            </a:pPr>
            <a:r>
              <a:rPr lang="en-US" sz="1800" b="1" dirty="0">
                <a:solidFill>
                  <a:srgbClr val="131A28"/>
                </a:solidFill>
              </a:rPr>
              <a:t>~</a:t>
            </a:r>
            <a:endParaRPr lang="en-US" sz="1800" dirty="0"/>
          </a:p>
        </p:txBody>
      </p:sp>
      <p:sp>
        <p:nvSpPr>
          <p:cNvPr id="17" name="Text 15"/>
          <p:cNvSpPr/>
          <p:nvPr/>
        </p:nvSpPr>
        <p:spPr>
          <a:xfrm>
            <a:off x="2523744" y="2523744"/>
            <a:ext cx="1920240" cy="365760"/>
          </a:xfrm>
          <a:prstGeom prst="rect">
            <a:avLst/>
          </a:prstGeom>
          <a:noFill/>
          <a:ln/>
        </p:spPr>
        <p:txBody>
          <a:bodyPr wrap="square" rtlCol="0" anchor="ctr"/>
          <a:lstStyle/>
          <a:p>
            <a:pPr algn="ctr" indent="0" marL="0">
              <a:buNone/>
            </a:pPr>
            <a:r>
              <a:rPr lang="en-US" sz="1150" b="1" dirty="0">
                <a:solidFill>
                  <a:srgbClr val="131A28"/>
                </a:solidFill>
              </a:rPr>
              <a:t>Affects mean,</a:t>
            </a:r>
            <a:endParaRPr lang="en-US" sz="1150" dirty="0"/>
          </a:p>
          <a:p>
            <a:pPr algn="ctr" indent="0" marL="0">
              <a:buNone/>
            </a:pPr>
            <a:r>
              <a:rPr lang="en-US" sz="1150" b="1" dirty="0">
                <a:solidFill>
                  <a:srgbClr val="131A28"/>
                </a:solidFill>
              </a:rPr>
              <a:t>variance &amp; models</a:t>
            </a:r>
            <a:endParaRPr lang="en-US" sz="1150" dirty="0"/>
          </a:p>
        </p:txBody>
      </p:sp>
      <p:sp>
        <p:nvSpPr>
          <p:cNvPr id="18" name="Shape 16"/>
          <p:cNvSpPr/>
          <p:nvPr/>
        </p:nvSpPr>
        <p:spPr>
          <a:xfrm>
            <a:off x="4617720" y="1883664"/>
            <a:ext cx="2029968" cy="1051560"/>
          </a:xfrm>
          <a:prstGeom prst="rect">
            <a:avLst/>
          </a:prstGeom>
          <a:solidFill>
            <a:srgbClr val="FFFFFF"/>
          </a:solidFill>
          <a:ln w="19050">
            <a:solidFill>
              <a:srgbClr val="1E88E5"/>
            </a:solidFill>
            <a:prstDash val="solid"/>
          </a:ln>
          <a:effectLst>
            <a:outerShdw sx="100000" sy="100000" kx="0" ky="0" algn="bl" rotWithShape="0" blurRad="127000" dist="38100" dir="8100000">
              <a:srgbClr val="000000">
                <a:alpha val="16000"/>
              </a:srgbClr>
            </a:outerShdw>
          </a:effectLst>
        </p:spPr>
      </p:sp>
      <p:sp>
        <p:nvSpPr>
          <p:cNvPr id="19" name="Shape 17"/>
          <p:cNvSpPr/>
          <p:nvPr/>
        </p:nvSpPr>
        <p:spPr>
          <a:xfrm>
            <a:off x="4617720" y="1883664"/>
            <a:ext cx="2029968" cy="64008"/>
          </a:xfrm>
          <a:prstGeom prst="rect">
            <a:avLst/>
          </a:prstGeom>
          <a:solidFill>
            <a:srgbClr val="1E88E5"/>
          </a:solidFill>
          <a:ln w="12700">
            <a:solidFill>
              <a:srgbClr val="1E88E5"/>
            </a:solidFill>
            <a:prstDash val="solid"/>
          </a:ln>
        </p:spPr>
      </p:sp>
      <p:sp>
        <p:nvSpPr>
          <p:cNvPr id="20" name="Shape 18"/>
          <p:cNvSpPr/>
          <p:nvPr/>
        </p:nvSpPr>
        <p:spPr>
          <a:xfrm>
            <a:off x="5404104" y="1993392"/>
            <a:ext cx="457200" cy="457200"/>
          </a:xfrm>
          <a:prstGeom prst="ellipse">
            <a:avLst/>
          </a:prstGeom>
          <a:solidFill>
            <a:srgbClr val="1E88E5">
              <a:alpha val="80000"/>
            </a:srgbClr>
          </a:solidFill>
          <a:ln w="12700">
            <a:solidFill>
              <a:srgbClr val="1E88E5"/>
            </a:solidFill>
            <a:prstDash val="solid"/>
          </a:ln>
        </p:spPr>
      </p:sp>
      <p:sp>
        <p:nvSpPr>
          <p:cNvPr id="21" name="Text 19"/>
          <p:cNvSpPr/>
          <p:nvPr/>
        </p:nvSpPr>
        <p:spPr>
          <a:xfrm>
            <a:off x="5404104" y="1993392"/>
            <a:ext cx="457200" cy="457200"/>
          </a:xfrm>
          <a:prstGeom prst="rect">
            <a:avLst/>
          </a:prstGeom>
          <a:noFill/>
          <a:ln/>
        </p:spPr>
        <p:txBody>
          <a:bodyPr wrap="square" lIns="0" tIns="0" rIns="0" bIns="0" rtlCol="0" anchor="ctr"/>
          <a:lstStyle/>
          <a:p>
            <a:pPr algn="ctr" indent="0" marL="0">
              <a:buNone/>
            </a:pPr>
            <a:r>
              <a:rPr lang="en-US" sz="1800" b="1" dirty="0">
                <a:solidFill>
                  <a:srgbClr val="131A28"/>
                </a:solidFill>
              </a:rPr>
              <a:t>?</a:t>
            </a:r>
            <a:endParaRPr lang="en-US" sz="1800" dirty="0"/>
          </a:p>
        </p:txBody>
      </p:sp>
      <p:sp>
        <p:nvSpPr>
          <p:cNvPr id="22" name="Text 20"/>
          <p:cNvSpPr/>
          <p:nvPr/>
        </p:nvSpPr>
        <p:spPr>
          <a:xfrm>
            <a:off x="4672584" y="2523744"/>
            <a:ext cx="1920240" cy="365760"/>
          </a:xfrm>
          <a:prstGeom prst="rect">
            <a:avLst/>
          </a:prstGeom>
          <a:noFill/>
          <a:ln/>
        </p:spPr>
        <p:txBody>
          <a:bodyPr wrap="square" rtlCol="0" anchor="ctr"/>
          <a:lstStyle/>
          <a:p>
            <a:pPr algn="ctr" indent="0" marL="0">
              <a:buNone/>
            </a:pPr>
            <a:r>
              <a:rPr lang="en-US" sz="1150" b="1" dirty="0">
                <a:solidFill>
                  <a:srgbClr val="131A28"/>
                </a:solidFill>
              </a:rPr>
              <a:t>Detected via stats</a:t>
            </a:r>
            <a:endParaRPr lang="en-US" sz="1150" dirty="0"/>
          </a:p>
          <a:p>
            <a:pPr algn="ctr" indent="0" marL="0">
              <a:buNone/>
            </a:pPr>
            <a:r>
              <a:rPr lang="en-US" sz="1150" b="1" dirty="0">
                <a:solidFill>
                  <a:srgbClr val="131A28"/>
                </a:solidFill>
              </a:rPr>
              <a:t>&amp; visualization</a:t>
            </a:r>
            <a:endParaRPr lang="en-US" sz="1150" dirty="0"/>
          </a:p>
        </p:txBody>
      </p:sp>
      <p:sp>
        <p:nvSpPr>
          <p:cNvPr id="23" name="Shape 21"/>
          <p:cNvSpPr/>
          <p:nvPr/>
        </p:nvSpPr>
        <p:spPr>
          <a:xfrm>
            <a:off x="6766560" y="1883664"/>
            <a:ext cx="2029968" cy="1051560"/>
          </a:xfrm>
          <a:prstGeom prst="rect">
            <a:avLst/>
          </a:prstGeom>
          <a:solidFill>
            <a:srgbClr val="FFFFFF"/>
          </a:solidFill>
          <a:ln w="19050">
            <a:solidFill>
              <a:srgbClr val="43A047"/>
            </a:solidFill>
            <a:prstDash val="solid"/>
          </a:ln>
          <a:effectLst>
            <a:outerShdw sx="100000" sy="100000" kx="0" ky="0" algn="bl" rotWithShape="0" blurRad="127000" dist="38100" dir="8100000">
              <a:srgbClr val="000000">
                <a:alpha val="16000"/>
              </a:srgbClr>
            </a:outerShdw>
          </a:effectLst>
        </p:spPr>
      </p:sp>
      <p:sp>
        <p:nvSpPr>
          <p:cNvPr id="24" name="Shape 22"/>
          <p:cNvSpPr/>
          <p:nvPr/>
        </p:nvSpPr>
        <p:spPr>
          <a:xfrm>
            <a:off x="6766560" y="1883664"/>
            <a:ext cx="2029968" cy="64008"/>
          </a:xfrm>
          <a:prstGeom prst="rect">
            <a:avLst/>
          </a:prstGeom>
          <a:solidFill>
            <a:srgbClr val="43A047"/>
          </a:solidFill>
          <a:ln w="12700">
            <a:solidFill>
              <a:srgbClr val="43A047"/>
            </a:solidFill>
            <a:prstDash val="solid"/>
          </a:ln>
        </p:spPr>
      </p:sp>
      <p:sp>
        <p:nvSpPr>
          <p:cNvPr id="25" name="Shape 23"/>
          <p:cNvSpPr/>
          <p:nvPr/>
        </p:nvSpPr>
        <p:spPr>
          <a:xfrm>
            <a:off x="7552944" y="1993392"/>
            <a:ext cx="457200" cy="457200"/>
          </a:xfrm>
          <a:prstGeom prst="ellipse">
            <a:avLst/>
          </a:prstGeom>
          <a:solidFill>
            <a:srgbClr val="43A047">
              <a:alpha val="80000"/>
            </a:srgbClr>
          </a:solidFill>
          <a:ln w="12700">
            <a:solidFill>
              <a:srgbClr val="43A047"/>
            </a:solidFill>
            <a:prstDash val="solid"/>
          </a:ln>
        </p:spPr>
      </p:sp>
      <p:sp>
        <p:nvSpPr>
          <p:cNvPr id="26" name="Text 24"/>
          <p:cNvSpPr/>
          <p:nvPr/>
        </p:nvSpPr>
        <p:spPr>
          <a:xfrm>
            <a:off x="7552944" y="1993392"/>
            <a:ext cx="457200" cy="457200"/>
          </a:xfrm>
          <a:prstGeom prst="rect">
            <a:avLst/>
          </a:prstGeom>
          <a:noFill/>
          <a:ln/>
        </p:spPr>
        <p:txBody>
          <a:bodyPr wrap="square" lIns="0" tIns="0" rIns="0" bIns="0" rtlCol="0" anchor="ctr"/>
          <a:lstStyle/>
          <a:p>
            <a:pPr algn="ctr" indent="0" marL="0">
              <a:buNone/>
            </a:pPr>
            <a:r>
              <a:rPr lang="en-US" sz="1800" b="1" dirty="0">
                <a:solidFill>
                  <a:srgbClr val="131A28"/>
                </a:solidFill>
              </a:rPr>
              <a:t>!</a:t>
            </a:r>
            <a:endParaRPr lang="en-US" sz="1800" dirty="0"/>
          </a:p>
        </p:txBody>
      </p:sp>
      <p:sp>
        <p:nvSpPr>
          <p:cNvPr id="27" name="Text 25"/>
          <p:cNvSpPr/>
          <p:nvPr/>
        </p:nvSpPr>
        <p:spPr>
          <a:xfrm>
            <a:off x="6821424" y="2523744"/>
            <a:ext cx="1920240" cy="365760"/>
          </a:xfrm>
          <a:prstGeom prst="rect">
            <a:avLst/>
          </a:prstGeom>
          <a:noFill/>
          <a:ln/>
        </p:spPr>
        <p:txBody>
          <a:bodyPr wrap="square" rtlCol="0" anchor="ctr"/>
          <a:lstStyle/>
          <a:p>
            <a:pPr algn="ctr" indent="0" marL="0">
              <a:buNone/>
            </a:pPr>
            <a:r>
              <a:rPr lang="en-US" sz="1150" b="1" dirty="0">
                <a:solidFill>
                  <a:srgbClr val="131A28"/>
                </a:solidFill>
              </a:rPr>
              <a:t>Analyze before</a:t>
            </a:r>
            <a:endParaRPr lang="en-US" sz="1150" dirty="0"/>
          </a:p>
          <a:p>
            <a:pPr algn="ctr" indent="0" marL="0">
              <a:buNone/>
            </a:pPr>
            <a:r>
              <a:rPr lang="en-US" sz="1150" b="1" dirty="0">
                <a:solidFill>
                  <a:srgbClr val="131A28"/>
                </a:solidFill>
              </a:rPr>
              <a:t>removing them</a:t>
            </a:r>
            <a:endParaRPr lang="en-US" sz="1150" dirty="0"/>
          </a:p>
        </p:txBody>
      </p:sp>
      <p:sp>
        <p:nvSpPr>
          <p:cNvPr id="28" name="Text 26"/>
          <p:cNvSpPr/>
          <p:nvPr/>
        </p:nvSpPr>
        <p:spPr>
          <a:xfrm>
            <a:off x="320040" y="3090672"/>
            <a:ext cx="2743200" cy="347472"/>
          </a:xfrm>
          <a:prstGeom prst="rect">
            <a:avLst/>
          </a:prstGeom>
          <a:noFill/>
          <a:ln/>
        </p:spPr>
        <p:txBody>
          <a:bodyPr wrap="square" rtlCol="0" anchor="ctr"/>
          <a:lstStyle/>
          <a:p>
            <a:pPr indent="0" marL="0">
              <a:buNone/>
            </a:pPr>
            <a:r>
              <a:rPr lang="en-US" sz="1500" b="1" dirty="0">
                <a:solidFill>
                  <a:srgbClr val="131A28"/>
                </a:solidFill>
              </a:rPr>
              <a:t>Why Outliers Occur</a:t>
            </a:r>
            <a:endParaRPr lang="en-US" sz="1500" dirty="0"/>
          </a:p>
        </p:txBody>
      </p:sp>
      <p:sp>
        <p:nvSpPr>
          <p:cNvPr id="29" name="Shape 27"/>
          <p:cNvSpPr/>
          <p:nvPr/>
        </p:nvSpPr>
        <p:spPr>
          <a:xfrm>
            <a:off x="320040" y="3529584"/>
            <a:ext cx="2724912" cy="566928"/>
          </a:xfrm>
          <a:prstGeom prst="rect">
            <a:avLst/>
          </a:prstGeom>
          <a:solidFill>
            <a:srgbClr val="FFFFFF"/>
          </a:solidFill>
          <a:ln w="16510">
            <a:solidFill>
              <a:srgbClr val="E53935"/>
            </a:solidFill>
            <a:prstDash val="solid"/>
          </a:ln>
          <a:effectLst>
            <a:outerShdw sx="100000" sy="100000" kx="0" ky="0" algn="bl" rotWithShape="0" blurRad="127000" dist="38100" dir="8100000">
              <a:srgbClr val="000000">
                <a:alpha val="16000"/>
              </a:srgbClr>
            </a:outerShdw>
          </a:effectLst>
        </p:spPr>
      </p:sp>
      <p:sp>
        <p:nvSpPr>
          <p:cNvPr id="30" name="Shape 28"/>
          <p:cNvSpPr/>
          <p:nvPr/>
        </p:nvSpPr>
        <p:spPr>
          <a:xfrm>
            <a:off x="320040" y="3529584"/>
            <a:ext cx="64008" cy="566928"/>
          </a:xfrm>
          <a:prstGeom prst="rect">
            <a:avLst/>
          </a:prstGeom>
          <a:solidFill>
            <a:srgbClr val="E53935"/>
          </a:solidFill>
          <a:ln w="12700">
            <a:solidFill>
              <a:srgbClr val="E53935"/>
            </a:solidFill>
            <a:prstDash val="solid"/>
          </a:ln>
        </p:spPr>
      </p:sp>
      <p:sp>
        <p:nvSpPr>
          <p:cNvPr id="31" name="Shape 29"/>
          <p:cNvSpPr/>
          <p:nvPr/>
        </p:nvSpPr>
        <p:spPr>
          <a:xfrm>
            <a:off x="457200" y="3685032"/>
            <a:ext cx="274320" cy="274320"/>
          </a:xfrm>
          <a:prstGeom prst="ellipse">
            <a:avLst/>
          </a:prstGeom>
          <a:solidFill>
            <a:srgbClr val="E53935">
              <a:alpha val="75000"/>
            </a:srgbClr>
          </a:solidFill>
          <a:ln w="12700">
            <a:solidFill>
              <a:srgbClr val="E53935"/>
            </a:solidFill>
            <a:prstDash val="solid"/>
          </a:ln>
        </p:spPr>
      </p:sp>
      <p:sp>
        <p:nvSpPr>
          <p:cNvPr id="32" name="Text 30"/>
          <p:cNvSpPr/>
          <p:nvPr/>
        </p:nvSpPr>
        <p:spPr>
          <a:xfrm>
            <a:off x="832104" y="3584448"/>
            <a:ext cx="2121408" cy="237744"/>
          </a:xfrm>
          <a:prstGeom prst="rect">
            <a:avLst/>
          </a:prstGeom>
          <a:noFill/>
          <a:ln/>
        </p:spPr>
        <p:txBody>
          <a:bodyPr wrap="square" rtlCol="0" anchor="ctr"/>
          <a:lstStyle/>
          <a:p>
            <a:pPr indent="0" marL="0">
              <a:buNone/>
            </a:pPr>
            <a:r>
              <a:rPr lang="en-US" sz="1150" b="1" dirty="0">
                <a:solidFill>
                  <a:srgbClr val="131A28"/>
                </a:solidFill>
              </a:rPr>
              <a:t>Data Entry Errors</a:t>
            </a:r>
            <a:endParaRPr lang="en-US" sz="1150" dirty="0"/>
          </a:p>
        </p:txBody>
      </p:sp>
      <p:sp>
        <p:nvSpPr>
          <p:cNvPr id="33" name="Text 31"/>
          <p:cNvSpPr/>
          <p:nvPr/>
        </p:nvSpPr>
        <p:spPr>
          <a:xfrm>
            <a:off x="832104" y="3849624"/>
            <a:ext cx="2121408" cy="201168"/>
          </a:xfrm>
          <a:prstGeom prst="rect">
            <a:avLst/>
          </a:prstGeom>
          <a:noFill/>
          <a:ln/>
        </p:spPr>
        <p:txBody>
          <a:bodyPr wrap="square" rtlCol="0" anchor="ctr"/>
          <a:lstStyle/>
          <a:p>
            <a:pPr indent="0" marL="0">
              <a:buNone/>
            </a:pPr>
            <a:r>
              <a:rPr lang="en-US" sz="1000" dirty="0">
                <a:solidFill>
                  <a:srgbClr val="445566"/>
                </a:solidFill>
              </a:rPr>
              <a:t>Mistakes made while entering data manually generate extreme or inconsistent values.</a:t>
            </a:r>
            <a:endParaRPr lang="en-US" sz="1000" dirty="0"/>
          </a:p>
        </p:txBody>
      </p:sp>
      <p:sp>
        <p:nvSpPr>
          <p:cNvPr id="34" name="Shape 32"/>
          <p:cNvSpPr/>
          <p:nvPr/>
        </p:nvSpPr>
        <p:spPr>
          <a:xfrm>
            <a:off x="3200400" y="3529584"/>
            <a:ext cx="2724912" cy="566928"/>
          </a:xfrm>
          <a:prstGeom prst="rect">
            <a:avLst/>
          </a:prstGeom>
          <a:solidFill>
            <a:srgbClr val="FFFFFF"/>
          </a:solidFill>
          <a:ln w="16510">
            <a:solidFill>
              <a:srgbClr val="FF7043"/>
            </a:solidFill>
            <a:prstDash val="solid"/>
          </a:ln>
          <a:effectLst>
            <a:outerShdw sx="100000" sy="100000" kx="0" ky="0" algn="bl" rotWithShape="0" blurRad="127000" dist="38100" dir="8100000">
              <a:srgbClr val="000000">
                <a:alpha val="16000"/>
              </a:srgbClr>
            </a:outerShdw>
          </a:effectLst>
        </p:spPr>
      </p:sp>
      <p:sp>
        <p:nvSpPr>
          <p:cNvPr id="35" name="Shape 33"/>
          <p:cNvSpPr/>
          <p:nvPr/>
        </p:nvSpPr>
        <p:spPr>
          <a:xfrm>
            <a:off x="3200400" y="3529584"/>
            <a:ext cx="64008" cy="566928"/>
          </a:xfrm>
          <a:prstGeom prst="rect">
            <a:avLst/>
          </a:prstGeom>
          <a:solidFill>
            <a:srgbClr val="FF7043"/>
          </a:solidFill>
          <a:ln w="12700">
            <a:solidFill>
              <a:srgbClr val="FF7043"/>
            </a:solidFill>
            <a:prstDash val="solid"/>
          </a:ln>
        </p:spPr>
      </p:sp>
      <p:sp>
        <p:nvSpPr>
          <p:cNvPr id="36" name="Shape 34"/>
          <p:cNvSpPr/>
          <p:nvPr/>
        </p:nvSpPr>
        <p:spPr>
          <a:xfrm>
            <a:off x="3337560" y="3685032"/>
            <a:ext cx="274320" cy="274320"/>
          </a:xfrm>
          <a:prstGeom prst="ellipse">
            <a:avLst/>
          </a:prstGeom>
          <a:solidFill>
            <a:srgbClr val="FF7043">
              <a:alpha val="75000"/>
            </a:srgbClr>
          </a:solidFill>
          <a:ln w="12700">
            <a:solidFill>
              <a:srgbClr val="FF7043"/>
            </a:solidFill>
            <a:prstDash val="solid"/>
          </a:ln>
        </p:spPr>
      </p:sp>
      <p:sp>
        <p:nvSpPr>
          <p:cNvPr id="37" name="Text 35"/>
          <p:cNvSpPr/>
          <p:nvPr/>
        </p:nvSpPr>
        <p:spPr>
          <a:xfrm>
            <a:off x="3712464" y="3584448"/>
            <a:ext cx="2121408" cy="237744"/>
          </a:xfrm>
          <a:prstGeom prst="rect">
            <a:avLst/>
          </a:prstGeom>
          <a:noFill/>
          <a:ln/>
        </p:spPr>
        <p:txBody>
          <a:bodyPr wrap="square" rtlCol="0" anchor="ctr"/>
          <a:lstStyle/>
          <a:p>
            <a:pPr indent="0" marL="0">
              <a:buNone/>
            </a:pPr>
            <a:r>
              <a:rPr lang="en-US" sz="1150" b="1" dirty="0">
                <a:solidFill>
                  <a:srgbClr val="131A28"/>
                </a:solidFill>
              </a:rPr>
              <a:t>Measurement Errors</a:t>
            </a:r>
            <a:endParaRPr lang="en-US" sz="1150" dirty="0"/>
          </a:p>
        </p:txBody>
      </p:sp>
      <p:sp>
        <p:nvSpPr>
          <p:cNvPr id="38" name="Text 36"/>
          <p:cNvSpPr/>
          <p:nvPr/>
        </p:nvSpPr>
        <p:spPr>
          <a:xfrm>
            <a:off x="3712464" y="3849624"/>
            <a:ext cx="2121408" cy="201168"/>
          </a:xfrm>
          <a:prstGeom prst="rect">
            <a:avLst/>
          </a:prstGeom>
          <a:noFill/>
          <a:ln/>
        </p:spPr>
        <p:txBody>
          <a:bodyPr wrap="square" rtlCol="0" anchor="ctr"/>
          <a:lstStyle/>
          <a:p>
            <a:pPr indent="0" marL="0">
              <a:buNone/>
            </a:pPr>
            <a:r>
              <a:rPr lang="en-US" sz="1000" dirty="0">
                <a:solidFill>
                  <a:srgbClr val="445566"/>
                </a:solidFill>
              </a:rPr>
              <a:t>Faulty instruments or incorrect experimental setups produce abnormal readings.</a:t>
            </a:r>
            <a:endParaRPr lang="en-US" sz="1000" dirty="0"/>
          </a:p>
        </p:txBody>
      </p:sp>
      <p:sp>
        <p:nvSpPr>
          <p:cNvPr id="39" name="Shape 37"/>
          <p:cNvSpPr/>
          <p:nvPr/>
        </p:nvSpPr>
        <p:spPr>
          <a:xfrm>
            <a:off x="6080760" y="3529584"/>
            <a:ext cx="2724912" cy="566928"/>
          </a:xfrm>
          <a:prstGeom prst="rect">
            <a:avLst/>
          </a:prstGeom>
          <a:solidFill>
            <a:srgbClr val="FFFFFF"/>
          </a:solidFill>
          <a:ln w="16510">
            <a:solidFill>
              <a:srgbClr val="FFB300"/>
            </a:solidFill>
            <a:prstDash val="solid"/>
          </a:ln>
          <a:effectLst>
            <a:outerShdw sx="100000" sy="100000" kx="0" ky="0" algn="bl" rotWithShape="0" blurRad="127000" dist="38100" dir="8100000">
              <a:srgbClr val="000000">
                <a:alpha val="16000"/>
              </a:srgbClr>
            </a:outerShdw>
          </a:effectLst>
        </p:spPr>
      </p:sp>
      <p:sp>
        <p:nvSpPr>
          <p:cNvPr id="40" name="Shape 38"/>
          <p:cNvSpPr/>
          <p:nvPr/>
        </p:nvSpPr>
        <p:spPr>
          <a:xfrm>
            <a:off x="6080760" y="3529584"/>
            <a:ext cx="64008" cy="566928"/>
          </a:xfrm>
          <a:prstGeom prst="rect">
            <a:avLst/>
          </a:prstGeom>
          <a:solidFill>
            <a:srgbClr val="FFB300"/>
          </a:solidFill>
          <a:ln w="12700">
            <a:solidFill>
              <a:srgbClr val="FFB300"/>
            </a:solidFill>
            <a:prstDash val="solid"/>
          </a:ln>
        </p:spPr>
      </p:sp>
      <p:sp>
        <p:nvSpPr>
          <p:cNvPr id="41" name="Shape 39"/>
          <p:cNvSpPr/>
          <p:nvPr/>
        </p:nvSpPr>
        <p:spPr>
          <a:xfrm>
            <a:off x="6217920" y="3685032"/>
            <a:ext cx="274320" cy="274320"/>
          </a:xfrm>
          <a:prstGeom prst="ellipse">
            <a:avLst/>
          </a:prstGeom>
          <a:solidFill>
            <a:srgbClr val="FFB300">
              <a:alpha val="75000"/>
            </a:srgbClr>
          </a:solidFill>
          <a:ln w="12700">
            <a:solidFill>
              <a:srgbClr val="FFB300"/>
            </a:solidFill>
            <a:prstDash val="solid"/>
          </a:ln>
        </p:spPr>
      </p:sp>
      <p:sp>
        <p:nvSpPr>
          <p:cNvPr id="42" name="Text 40"/>
          <p:cNvSpPr/>
          <p:nvPr/>
        </p:nvSpPr>
        <p:spPr>
          <a:xfrm>
            <a:off x="6592824" y="3584448"/>
            <a:ext cx="2121408" cy="237744"/>
          </a:xfrm>
          <a:prstGeom prst="rect">
            <a:avLst/>
          </a:prstGeom>
          <a:noFill/>
          <a:ln/>
        </p:spPr>
        <p:txBody>
          <a:bodyPr wrap="square" rtlCol="0" anchor="ctr"/>
          <a:lstStyle/>
          <a:p>
            <a:pPr indent="0" marL="0">
              <a:buNone/>
            </a:pPr>
            <a:r>
              <a:rPr lang="en-US" sz="1150" b="1" dirty="0">
                <a:solidFill>
                  <a:srgbClr val="131A28"/>
                </a:solidFill>
              </a:rPr>
              <a:t>Experimental Errors</a:t>
            </a:r>
            <a:endParaRPr lang="en-US" sz="1150" dirty="0"/>
          </a:p>
        </p:txBody>
      </p:sp>
      <p:sp>
        <p:nvSpPr>
          <p:cNvPr id="43" name="Text 41"/>
          <p:cNvSpPr/>
          <p:nvPr/>
        </p:nvSpPr>
        <p:spPr>
          <a:xfrm>
            <a:off x="6592824" y="3849624"/>
            <a:ext cx="2121408" cy="201168"/>
          </a:xfrm>
          <a:prstGeom prst="rect">
            <a:avLst/>
          </a:prstGeom>
          <a:noFill/>
          <a:ln/>
        </p:spPr>
        <p:txBody>
          <a:bodyPr wrap="square" rtlCol="0" anchor="ctr"/>
          <a:lstStyle/>
          <a:p>
            <a:pPr indent="0" marL="0">
              <a:buNone/>
            </a:pPr>
            <a:r>
              <a:rPr lang="en-US" sz="1000" dirty="0">
                <a:solidFill>
                  <a:srgbClr val="445566"/>
                </a:solidFill>
              </a:rPr>
              <a:t>Poorly designed experiments produce results not representing the underlying phenomenon.</a:t>
            </a:r>
            <a:endParaRPr lang="en-US" sz="1000" dirty="0"/>
          </a:p>
        </p:txBody>
      </p:sp>
      <p:sp>
        <p:nvSpPr>
          <p:cNvPr id="44" name="Shape 42"/>
          <p:cNvSpPr/>
          <p:nvPr/>
        </p:nvSpPr>
        <p:spPr>
          <a:xfrm>
            <a:off x="320040" y="4187952"/>
            <a:ext cx="2724912" cy="566928"/>
          </a:xfrm>
          <a:prstGeom prst="rect">
            <a:avLst/>
          </a:prstGeom>
          <a:solidFill>
            <a:srgbClr val="FFFFFF"/>
          </a:solidFill>
          <a:ln w="16510">
            <a:solidFill>
              <a:srgbClr val="7E57C2"/>
            </a:solidFill>
            <a:prstDash val="solid"/>
          </a:ln>
          <a:effectLst>
            <a:outerShdw sx="100000" sy="100000" kx="0" ky="0" algn="bl" rotWithShape="0" blurRad="127000" dist="38100" dir="8100000">
              <a:srgbClr val="000000">
                <a:alpha val="16000"/>
              </a:srgbClr>
            </a:outerShdw>
          </a:effectLst>
        </p:spPr>
      </p:sp>
      <p:sp>
        <p:nvSpPr>
          <p:cNvPr id="45" name="Shape 43"/>
          <p:cNvSpPr/>
          <p:nvPr/>
        </p:nvSpPr>
        <p:spPr>
          <a:xfrm>
            <a:off x="320040" y="4187952"/>
            <a:ext cx="64008" cy="566928"/>
          </a:xfrm>
          <a:prstGeom prst="rect">
            <a:avLst/>
          </a:prstGeom>
          <a:solidFill>
            <a:srgbClr val="7E57C2"/>
          </a:solidFill>
          <a:ln w="12700">
            <a:solidFill>
              <a:srgbClr val="7E57C2"/>
            </a:solidFill>
            <a:prstDash val="solid"/>
          </a:ln>
        </p:spPr>
      </p:sp>
      <p:sp>
        <p:nvSpPr>
          <p:cNvPr id="46" name="Shape 44"/>
          <p:cNvSpPr/>
          <p:nvPr/>
        </p:nvSpPr>
        <p:spPr>
          <a:xfrm>
            <a:off x="457200" y="4343400"/>
            <a:ext cx="274320" cy="274320"/>
          </a:xfrm>
          <a:prstGeom prst="ellipse">
            <a:avLst/>
          </a:prstGeom>
          <a:solidFill>
            <a:srgbClr val="7E57C2">
              <a:alpha val="75000"/>
            </a:srgbClr>
          </a:solidFill>
          <a:ln w="12700">
            <a:solidFill>
              <a:srgbClr val="7E57C2"/>
            </a:solidFill>
            <a:prstDash val="solid"/>
          </a:ln>
        </p:spPr>
      </p:sp>
      <p:sp>
        <p:nvSpPr>
          <p:cNvPr id="47" name="Text 45"/>
          <p:cNvSpPr/>
          <p:nvPr/>
        </p:nvSpPr>
        <p:spPr>
          <a:xfrm>
            <a:off x="832104" y="4242816"/>
            <a:ext cx="2121408" cy="237744"/>
          </a:xfrm>
          <a:prstGeom prst="rect">
            <a:avLst/>
          </a:prstGeom>
          <a:noFill/>
          <a:ln/>
        </p:spPr>
        <p:txBody>
          <a:bodyPr wrap="square" rtlCol="0" anchor="ctr"/>
          <a:lstStyle/>
          <a:p>
            <a:pPr indent="0" marL="0">
              <a:buNone/>
            </a:pPr>
            <a:r>
              <a:rPr lang="en-US" sz="1150" b="1" dirty="0">
                <a:solidFill>
                  <a:srgbClr val="131A28"/>
                </a:solidFill>
              </a:rPr>
              <a:t>Intentional Outliers</a:t>
            </a:r>
            <a:endParaRPr lang="en-US" sz="1150" dirty="0"/>
          </a:p>
        </p:txBody>
      </p:sp>
      <p:sp>
        <p:nvSpPr>
          <p:cNvPr id="48" name="Text 46"/>
          <p:cNvSpPr/>
          <p:nvPr/>
        </p:nvSpPr>
        <p:spPr>
          <a:xfrm>
            <a:off x="832104" y="4507992"/>
            <a:ext cx="2121408" cy="201168"/>
          </a:xfrm>
          <a:prstGeom prst="rect">
            <a:avLst/>
          </a:prstGeom>
          <a:noFill/>
          <a:ln/>
        </p:spPr>
        <p:txBody>
          <a:bodyPr wrap="square" rtlCol="0" anchor="ctr"/>
          <a:lstStyle/>
          <a:p>
            <a:pPr indent="0" marL="0">
              <a:buNone/>
            </a:pPr>
            <a:r>
              <a:rPr lang="en-US" sz="1000" dirty="0">
                <a:solidFill>
                  <a:srgbClr val="445566"/>
                </a:solidFill>
              </a:rPr>
              <a:t>Introduced deliberately — such as in cases of fraud or deliberate data manipulation.</a:t>
            </a:r>
            <a:endParaRPr lang="en-US" sz="1000" dirty="0"/>
          </a:p>
        </p:txBody>
      </p:sp>
      <p:sp>
        <p:nvSpPr>
          <p:cNvPr id="49" name="Shape 47"/>
          <p:cNvSpPr/>
          <p:nvPr/>
        </p:nvSpPr>
        <p:spPr>
          <a:xfrm>
            <a:off x="3200400" y="4187952"/>
            <a:ext cx="2724912" cy="566928"/>
          </a:xfrm>
          <a:prstGeom prst="rect">
            <a:avLst/>
          </a:prstGeom>
          <a:solidFill>
            <a:srgbClr val="FFFFFF"/>
          </a:solidFill>
          <a:ln w="16510">
            <a:solidFill>
              <a:srgbClr val="1E88E5"/>
            </a:solidFill>
            <a:prstDash val="solid"/>
          </a:ln>
          <a:effectLst>
            <a:outerShdw sx="100000" sy="100000" kx="0" ky="0" algn="bl" rotWithShape="0" blurRad="127000" dist="38100" dir="8100000">
              <a:srgbClr val="000000">
                <a:alpha val="16000"/>
              </a:srgbClr>
            </a:outerShdw>
          </a:effectLst>
        </p:spPr>
      </p:sp>
      <p:sp>
        <p:nvSpPr>
          <p:cNvPr id="50" name="Shape 48"/>
          <p:cNvSpPr/>
          <p:nvPr/>
        </p:nvSpPr>
        <p:spPr>
          <a:xfrm>
            <a:off x="3200400" y="4187952"/>
            <a:ext cx="64008" cy="566928"/>
          </a:xfrm>
          <a:prstGeom prst="rect">
            <a:avLst/>
          </a:prstGeom>
          <a:solidFill>
            <a:srgbClr val="1E88E5"/>
          </a:solidFill>
          <a:ln w="12700">
            <a:solidFill>
              <a:srgbClr val="1E88E5"/>
            </a:solidFill>
            <a:prstDash val="solid"/>
          </a:ln>
        </p:spPr>
      </p:sp>
      <p:sp>
        <p:nvSpPr>
          <p:cNvPr id="51" name="Shape 49"/>
          <p:cNvSpPr/>
          <p:nvPr/>
        </p:nvSpPr>
        <p:spPr>
          <a:xfrm>
            <a:off x="3337560" y="4343400"/>
            <a:ext cx="274320" cy="274320"/>
          </a:xfrm>
          <a:prstGeom prst="ellipse">
            <a:avLst/>
          </a:prstGeom>
          <a:solidFill>
            <a:srgbClr val="1E88E5">
              <a:alpha val="75000"/>
            </a:srgbClr>
          </a:solidFill>
          <a:ln w="12700">
            <a:solidFill>
              <a:srgbClr val="1E88E5"/>
            </a:solidFill>
            <a:prstDash val="solid"/>
          </a:ln>
        </p:spPr>
      </p:sp>
      <p:sp>
        <p:nvSpPr>
          <p:cNvPr id="52" name="Text 50"/>
          <p:cNvSpPr/>
          <p:nvPr/>
        </p:nvSpPr>
        <p:spPr>
          <a:xfrm>
            <a:off x="3712464" y="4242816"/>
            <a:ext cx="2121408" cy="237744"/>
          </a:xfrm>
          <a:prstGeom prst="rect">
            <a:avLst/>
          </a:prstGeom>
          <a:noFill/>
          <a:ln/>
        </p:spPr>
        <p:txBody>
          <a:bodyPr wrap="square" rtlCol="0" anchor="ctr"/>
          <a:lstStyle/>
          <a:p>
            <a:pPr indent="0" marL="0">
              <a:buNone/>
            </a:pPr>
            <a:r>
              <a:rPr lang="en-US" sz="1150" b="1" dirty="0">
                <a:solidFill>
                  <a:srgbClr val="131A28"/>
                </a:solidFill>
              </a:rPr>
              <a:t>Data Processing Errors</a:t>
            </a:r>
            <a:endParaRPr lang="en-US" sz="1150" dirty="0"/>
          </a:p>
        </p:txBody>
      </p:sp>
      <p:sp>
        <p:nvSpPr>
          <p:cNvPr id="53" name="Text 51"/>
          <p:cNvSpPr/>
          <p:nvPr/>
        </p:nvSpPr>
        <p:spPr>
          <a:xfrm>
            <a:off x="3712464" y="4507992"/>
            <a:ext cx="2121408" cy="201168"/>
          </a:xfrm>
          <a:prstGeom prst="rect">
            <a:avLst/>
          </a:prstGeom>
          <a:noFill/>
          <a:ln/>
        </p:spPr>
        <p:txBody>
          <a:bodyPr wrap="square" rtlCol="0" anchor="ctr"/>
          <a:lstStyle/>
          <a:p>
            <a:pPr indent="0" marL="0">
              <a:buNone/>
            </a:pPr>
            <a:r>
              <a:rPr lang="en-US" sz="1000" dirty="0">
                <a:solidFill>
                  <a:srgbClr val="445566"/>
                </a:solidFill>
              </a:rPr>
              <a:t>Errors during data collection, cleaning, or transformation introduce unusual values.</a:t>
            </a:r>
            <a:endParaRPr lang="en-US" sz="1000" dirty="0"/>
          </a:p>
        </p:txBody>
      </p:sp>
      <p:sp>
        <p:nvSpPr>
          <p:cNvPr id="54" name="Shape 52"/>
          <p:cNvSpPr/>
          <p:nvPr/>
        </p:nvSpPr>
        <p:spPr>
          <a:xfrm>
            <a:off x="6080760" y="4187952"/>
            <a:ext cx="2724912" cy="566928"/>
          </a:xfrm>
          <a:prstGeom prst="rect">
            <a:avLst/>
          </a:prstGeom>
          <a:solidFill>
            <a:srgbClr val="FFFFFF"/>
          </a:solidFill>
          <a:ln w="16510">
            <a:solidFill>
              <a:srgbClr val="43A047"/>
            </a:solidFill>
            <a:prstDash val="solid"/>
          </a:ln>
          <a:effectLst>
            <a:outerShdw sx="100000" sy="100000" kx="0" ky="0" algn="bl" rotWithShape="0" blurRad="127000" dist="38100" dir="8100000">
              <a:srgbClr val="000000">
                <a:alpha val="16000"/>
              </a:srgbClr>
            </a:outerShdw>
          </a:effectLst>
        </p:spPr>
      </p:sp>
      <p:sp>
        <p:nvSpPr>
          <p:cNvPr id="55" name="Shape 53"/>
          <p:cNvSpPr/>
          <p:nvPr/>
        </p:nvSpPr>
        <p:spPr>
          <a:xfrm>
            <a:off x="6080760" y="4187952"/>
            <a:ext cx="64008" cy="566928"/>
          </a:xfrm>
          <a:prstGeom prst="rect">
            <a:avLst/>
          </a:prstGeom>
          <a:solidFill>
            <a:srgbClr val="43A047"/>
          </a:solidFill>
          <a:ln w="12700">
            <a:solidFill>
              <a:srgbClr val="43A047"/>
            </a:solidFill>
            <a:prstDash val="solid"/>
          </a:ln>
        </p:spPr>
      </p:sp>
      <p:sp>
        <p:nvSpPr>
          <p:cNvPr id="56" name="Shape 54"/>
          <p:cNvSpPr/>
          <p:nvPr/>
        </p:nvSpPr>
        <p:spPr>
          <a:xfrm>
            <a:off x="6217920" y="4343400"/>
            <a:ext cx="274320" cy="274320"/>
          </a:xfrm>
          <a:prstGeom prst="ellipse">
            <a:avLst/>
          </a:prstGeom>
          <a:solidFill>
            <a:srgbClr val="43A047">
              <a:alpha val="75000"/>
            </a:srgbClr>
          </a:solidFill>
          <a:ln w="12700">
            <a:solidFill>
              <a:srgbClr val="43A047"/>
            </a:solidFill>
            <a:prstDash val="solid"/>
          </a:ln>
        </p:spPr>
      </p:sp>
      <p:sp>
        <p:nvSpPr>
          <p:cNvPr id="57" name="Text 55"/>
          <p:cNvSpPr/>
          <p:nvPr/>
        </p:nvSpPr>
        <p:spPr>
          <a:xfrm>
            <a:off x="6592824" y="4242816"/>
            <a:ext cx="2121408" cy="237744"/>
          </a:xfrm>
          <a:prstGeom prst="rect">
            <a:avLst/>
          </a:prstGeom>
          <a:noFill/>
          <a:ln/>
        </p:spPr>
        <p:txBody>
          <a:bodyPr wrap="square" rtlCol="0" anchor="ctr"/>
          <a:lstStyle/>
          <a:p>
            <a:pPr indent="0" marL="0">
              <a:buNone/>
            </a:pPr>
            <a:r>
              <a:rPr lang="en-US" sz="1150" b="1" dirty="0">
                <a:solidFill>
                  <a:srgbClr val="131A28"/>
                </a:solidFill>
              </a:rPr>
              <a:t>Natural Variation</a:t>
            </a:r>
            <a:endParaRPr lang="en-US" sz="1150" dirty="0"/>
          </a:p>
        </p:txBody>
      </p:sp>
      <p:sp>
        <p:nvSpPr>
          <p:cNvPr id="58" name="Text 56"/>
          <p:cNvSpPr/>
          <p:nvPr/>
        </p:nvSpPr>
        <p:spPr>
          <a:xfrm>
            <a:off x="6592824" y="4507992"/>
            <a:ext cx="2121408" cy="201168"/>
          </a:xfrm>
          <a:prstGeom prst="rect">
            <a:avLst/>
          </a:prstGeom>
          <a:noFill/>
          <a:ln/>
        </p:spPr>
        <p:txBody>
          <a:bodyPr wrap="square" rtlCol="0" anchor="ctr"/>
          <a:lstStyle/>
          <a:p>
            <a:pPr indent="0" marL="0">
              <a:buNone/>
            </a:pPr>
            <a:r>
              <a:rPr lang="en-US" sz="1000" dirty="0">
                <a:solidFill>
                  <a:srgbClr val="445566"/>
                </a:solidFill>
              </a:rPr>
              <a:t>Some outliers arise naturally due to inherent variability in the population or process.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1A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FFB300"/>
          </a:solidFill>
          <a:ln w="12700">
            <a:solidFill>
              <a:srgbClr val="FFB300"/>
            </a:solidFill>
            <a:prstDash val="solid"/>
          </a:ln>
        </p:spPr>
      </p:sp>
      <p:sp>
        <p:nvSpPr>
          <p:cNvPr id="3" name="Text 1"/>
          <p:cNvSpPr/>
          <p:nvPr/>
        </p:nvSpPr>
        <p:spPr>
          <a:xfrm>
            <a:off x="457200" y="164592"/>
            <a:ext cx="8229600" cy="512064"/>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Why Handling Outliers Is Necessary</a:t>
            </a:r>
            <a:endParaRPr lang="en-US" sz="2800" dirty="0"/>
          </a:p>
        </p:txBody>
      </p:sp>
      <p:sp>
        <p:nvSpPr>
          <p:cNvPr id="4" name="Shape 2"/>
          <p:cNvSpPr/>
          <p:nvPr/>
        </p:nvSpPr>
        <p:spPr>
          <a:xfrm>
            <a:off x="274320" y="822960"/>
            <a:ext cx="2788920" cy="4041648"/>
          </a:xfrm>
          <a:prstGeom prst="rect">
            <a:avLst/>
          </a:prstGeom>
          <a:solidFill>
            <a:srgbClr val="22304A"/>
          </a:solidFill>
          <a:ln w="19050">
            <a:solidFill>
              <a:srgbClr val="E53935"/>
            </a:solidFill>
            <a:prstDash val="solid"/>
          </a:ln>
        </p:spPr>
      </p:sp>
      <p:sp>
        <p:nvSpPr>
          <p:cNvPr id="5" name="Shape 3"/>
          <p:cNvSpPr/>
          <p:nvPr/>
        </p:nvSpPr>
        <p:spPr>
          <a:xfrm>
            <a:off x="274320" y="822960"/>
            <a:ext cx="2788920" cy="493776"/>
          </a:xfrm>
          <a:prstGeom prst="rect">
            <a:avLst/>
          </a:prstGeom>
          <a:solidFill>
            <a:srgbClr val="E53935"/>
          </a:solidFill>
          <a:ln w="12700">
            <a:solidFill>
              <a:srgbClr val="E53935"/>
            </a:solidFill>
            <a:prstDash val="solid"/>
          </a:ln>
        </p:spPr>
      </p:sp>
      <p:sp>
        <p:nvSpPr>
          <p:cNvPr id="6" name="Shape 4"/>
          <p:cNvSpPr/>
          <p:nvPr/>
        </p:nvSpPr>
        <p:spPr>
          <a:xfrm>
            <a:off x="384048" y="868680"/>
            <a:ext cx="384048" cy="384048"/>
          </a:xfrm>
          <a:prstGeom prst="ellipse">
            <a:avLst/>
          </a:prstGeom>
          <a:solidFill>
            <a:srgbClr val="131A28">
              <a:alpha val="75000"/>
            </a:srgbClr>
          </a:solidFill>
          <a:ln w="12700">
            <a:solidFill>
              <a:srgbClr val="131A28"/>
            </a:solidFill>
            <a:prstDash val="solid"/>
          </a:ln>
        </p:spPr>
      </p:sp>
      <p:sp>
        <p:nvSpPr>
          <p:cNvPr id="7" name="Text 5"/>
          <p:cNvSpPr/>
          <p:nvPr/>
        </p:nvSpPr>
        <p:spPr>
          <a:xfrm>
            <a:off x="384048" y="868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01</a:t>
            </a:r>
            <a:endParaRPr lang="en-US" sz="1400" dirty="0"/>
          </a:p>
        </p:txBody>
      </p:sp>
      <p:sp>
        <p:nvSpPr>
          <p:cNvPr id="8" name="Text 6"/>
          <p:cNvSpPr/>
          <p:nvPr/>
        </p:nvSpPr>
        <p:spPr>
          <a:xfrm>
            <a:off x="841248" y="896112"/>
            <a:ext cx="2121408" cy="402336"/>
          </a:xfrm>
          <a:prstGeom prst="rect">
            <a:avLst/>
          </a:prstGeom>
          <a:noFill/>
          <a:ln/>
        </p:spPr>
        <p:txBody>
          <a:bodyPr wrap="square" rtlCol="0" anchor="ctr"/>
          <a:lstStyle/>
          <a:p>
            <a:pPr indent="0" marL="0">
              <a:buNone/>
            </a:pPr>
            <a:r>
              <a:rPr lang="en-US" sz="1250" b="1" dirty="0">
                <a:solidFill>
                  <a:srgbClr val="FFFFFF"/>
                </a:solidFill>
              </a:rPr>
              <a:t>Impact on Analysis</a:t>
            </a:r>
            <a:endParaRPr lang="en-US" sz="1250" dirty="0"/>
          </a:p>
        </p:txBody>
      </p:sp>
      <p:sp>
        <p:nvSpPr>
          <p:cNvPr id="9" name="Shape 7"/>
          <p:cNvSpPr/>
          <p:nvPr/>
        </p:nvSpPr>
        <p:spPr>
          <a:xfrm>
            <a:off x="411480" y="1444752"/>
            <a:ext cx="2514600" cy="256032"/>
          </a:xfrm>
          <a:prstGeom prst="rect">
            <a:avLst/>
          </a:prstGeom>
          <a:solidFill>
            <a:srgbClr val="1B2438"/>
          </a:solidFill>
          <a:ln w="12700">
            <a:solidFill>
              <a:srgbClr val="1B2438"/>
            </a:solidFill>
            <a:prstDash val="solid"/>
          </a:ln>
        </p:spPr>
      </p:sp>
      <p:sp>
        <p:nvSpPr>
          <p:cNvPr id="10" name="Shape 8"/>
          <p:cNvSpPr/>
          <p:nvPr/>
        </p:nvSpPr>
        <p:spPr>
          <a:xfrm>
            <a:off x="411480" y="1444752"/>
            <a:ext cx="1885950" cy="256032"/>
          </a:xfrm>
          <a:prstGeom prst="rect">
            <a:avLst/>
          </a:prstGeom>
          <a:solidFill>
            <a:srgbClr val="E53935"/>
          </a:solidFill>
          <a:ln w="12700">
            <a:solidFill>
              <a:srgbClr val="E53935"/>
            </a:solidFill>
            <a:prstDash val="solid"/>
          </a:ln>
        </p:spPr>
      </p:sp>
      <p:sp>
        <p:nvSpPr>
          <p:cNvPr id="11" name="Text 9"/>
          <p:cNvSpPr/>
          <p:nvPr/>
        </p:nvSpPr>
        <p:spPr>
          <a:xfrm>
            <a:off x="411480" y="1737360"/>
            <a:ext cx="2514600" cy="219456"/>
          </a:xfrm>
          <a:prstGeom prst="rect">
            <a:avLst/>
          </a:prstGeom>
          <a:noFill/>
          <a:ln/>
        </p:spPr>
        <p:txBody>
          <a:bodyPr wrap="square" rtlCol="0" anchor="ctr"/>
          <a:lstStyle/>
          <a:p>
            <a:pPr algn="ctr" indent="0" marL="0">
              <a:buNone/>
            </a:pPr>
            <a:r>
              <a:rPr lang="en-US" sz="950" dirty="0">
                <a:solidFill>
                  <a:srgbClr val="E53935"/>
                </a:solidFill>
              </a:rPr>
              <a:t>Impact Level: High</a:t>
            </a:r>
            <a:endParaRPr lang="en-US" sz="950" dirty="0"/>
          </a:p>
        </p:txBody>
      </p:sp>
      <p:sp>
        <p:nvSpPr>
          <p:cNvPr id="12" name="Shape 10"/>
          <p:cNvSpPr/>
          <p:nvPr/>
        </p:nvSpPr>
        <p:spPr>
          <a:xfrm>
            <a:off x="411480" y="2066544"/>
            <a:ext cx="201168" cy="201168"/>
          </a:xfrm>
          <a:prstGeom prst="ellipse">
            <a:avLst/>
          </a:prstGeom>
          <a:solidFill>
            <a:srgbClr val="E53935"/>
          </a:solidFill>
          <a:ln w="12700">
            <a:solidFill>
              <a:srgbClr val="E53935"/>
            </a:solidFill>
            <a:prstDash val="solid"/>
          </a:ln>
        </p:spPr>
      </p:sp>
      <p:sp>
        <p:nvSpPr>
          <p:cNvPr id="13" name="Text 11"/>
          <p:cNvSpPr/>
          <p:nvPr/>
        </p:nvSpPr>
        <p:spPr>
          <a:xfrm>
            <a:off x="685800" y="2029968"/>
            <a:ext cx="2304288" cy="1261872"/>
          </a:xfrm>
          <a:prstGeom prst="rect">
            <a:avLst/>
          </a:prstGeom>
          <a:noFill/>
          <a:ln/>
        </p:spPr>
        <p:txBody>
          <a:bodyPr wrap="square" rtlCol="0" anchor="ctr"/>
          <a:lstStyle/>
          <a:p>
            <a:pPr indent="0" marL="0">
              <a:buNone/>
            </a:pPr>
            <a:r>
              <a:rPr lang="en-US" sz="1150" dirty="0">
                <a:solidFill>
                  <a:srgbClr val="90A4AE"/>
                </a:solidFill>
              </a:rPr>
              <a:t>Outliers distort statistical measures — mean, variance and correlation — leading to biased or misleading results.</a:t>
            </a:r>
            <a:endParaRPr lang="en-US" sz="1150" dirty="0"/>
          </a:p>
        </p:txBody>
      </p:sp>
      <p:sp>
        <p:nvSpPr>
          <p:cNvPr id="14" name="Shape 12"/>
          <p:cNvSpPr/>
          <p:nvPr/>
        </p:nvSpPr>
        <p:spPr>
          <a:xfrm>
            <a:off x="411480" y="3364992"/>
            <a:ext cx="201168" cy="201168"/>
          </a:xfrm>
          <a:prstGeom prst="ellipse">
            <a:avLst/>
          </a:prstGeom>
          <a:solidFill>
            <a:srgbClr val="E53935"/>
          </a:solidFill>
          <a:ln w="12700">
            <a:solidFill>
              <a:srgbClr val="E53935"/>
            </a:solidFill>
            <a:prstDash val="solid"/>
          </a:ln>
        </p:spPr>
      </p:sp>
      <p:sp>
        <p:nvSpPr>
          <p:cNvPr id="15" name="Text 13"/>
          <p:cNvSpPr/>
          <p:nvPr/>
        </p:nvSpPr>
        <p:spPr>
          <a:xfrm>
            <a:off x="685800" y="3328416"/>
            <a:ext cx="2304288" cy="1261872"/>
          </a:xfrm>
          <a:prstGeom prst="rect">
            <a:avLst/>
          </a:prstGeom>
          <a:noFill/>
          <a:ln/>
        </p:spPr>
        <p:txBody>
          <a:bodyPr wrap="square" rtlCol="0" anchor="ctr"/>
          <a:lstStyle/>
          <a:p>
            <a:pPr indent="0" marL="0">
              <a:buNone/>
            </a:pPr>
            <a:r>
              <a:rPr lang="en-US" sz="1150" dirty="0">
                <a:solidFill>
                  <a:srgbClr val="90A4AE"/>
                </a:solidFill>
              </a:rPr>
              <a:t>Removing extreme values helps analysis represent central trends and typical behavior of the dataset more accurately.</a:t>
            </a:r>
            <a:endParaRPr lang="en-US" sz="1150" dirty="0"/>
          </a:p>
        </p:txBody>
      </p:sp>
      <p:sp>
        <p:nvSpPr>
          <p:cNvPr id="16" name="Shape 14"/>
          <p:cNvSpPr/>
          <p:nvPr/>
        </p:nvSpPr>
        <p:spPr>
          <a:xfrm>
            <a:off x="3200400" y="822960"/>
            <a:ext cx="2788920" cy="4041648"/>
          </a:xfrm>
          <a:prstGeom prst="rect">
            <a:avLst/>
          </a:prstGeom>
          <a:solidFill>
            <a:srgbClr val="22304A"/>
          </a:solidFill>
          <a:ln w="19050">
            <a:solidFill>
              <a:srgbClr val="FF7043"/>
            </a:solidFill>
            <a:prstDash val="solid"/>
          </a:ln>
        </p:spPr>
      </p:sp>
      <p:sp>
        <p:nvSpPr>
          <p:cNvPr id="17" name="Shape 15"/>
          <p:cNvSpPr/>
          <p:nvPr/>
        </p:nvSpPr>
        <p:spPr>
          <a:xfrm>
            <a:off x="3200400" y="822960"/>
            <a:ext cx="2788920" cy="493776"/>
          </a:xfrm>
          <a:prstGeom prst="rect">
            <a:avLst/>
          </a:prstGeom>
          <a:solidFill>
            <a:srgbClr val="FF7043"/>
          </a:solidFill>
          <a:ln w="12700">
            <a:solidFill>
              <a:srgbClr val="FF7043"/>
            </a:solidFill>
            <a:prstDash val="solid"/>
          </a:ln>
        </p:spPr>
      </p:sp>
      <p:sp>
        <p:nvSpPr>
          <p:cNvPr id="18" name="Shape 16"/>
          <p:cNvSpPr/>
          <p:nvPr/>
        </p:nvSpPr>
        <p:spPr>
          <a:xfrm>
            <a:off x="3310128" y="868680"/>
            <a:ext cx="384048" cy="384048"/>
          </a:xfrm>
          <a:prstGeom prst="ellipse">
            <a:avLst/>
          </a:prstGeom>
          <a:solidFill>
            <a:srgbClr val="131A28">
              <a:alpha val="75000"/>
            </a:srgbClr>
          </a:solidFill>
          <a:ln w="12700">
            <a:solidFill>
              <a:srgbClr val="131A28"/>
            </a:solidFill>
            <a:prstDash val="solid"/>
          </a:ln>
        </p:spPr>
      </p:sp>
      <p:sp>
        <p:nvSpPr>
          <p:cNvPr id="19" name="Text 17"/>
          <p:cNvSpPr/>
          <p:nvPr/>
        </p:nvSpPr>
        <p:spPr>
          <a:xfrm>
            <a:off x="3310128" y="868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02</a:t>
            </a:r>
            <a:endParaRPr lang="en-US" sz="1400" dirty="0"/>
          </a:p>
        </p:txBody>
      </p:sp>
      <p:sp>
        <p:nvSpPr>
          <p:cNvPr id="20" name="Text 18"/>
          <p:cNvSpPr/>
          <p:nvPr/>
        </p:nvSpPr>
        <p:spPr>
          <a:xfrm>
            <a:off x="3767328" y="896112"/>
            <a:ext cx="2121408" cy="402336"/>
          </a:xfrm>
          <a:prstGeom prst="rect">
            <a:avLst/>
          </a:prstGeom>
          <a:noFill/>
          <a:ln/>
        </p:spPr>
        <p:txBody>
          <a:bodyPr wrap="square" rtlCol="0" anchor="ctr"/>
          <a:lstStyle/>
          <a:p>
            <a:pPr indent="0" marL="0">
              <a:buNone/>
            </a:pPr>
            <a:r>
              <a:rPr lang="en-US" sz="1250" b="1" dirty="0">
                <a:solidFill>
                  <a:srgbClr val="FFFFFF"/>
                </a:solidFill>
              </a:rPr>
              <a:t>Statistical Validity</a:t>
            </a:r>
            <a:endParaRPr lang="en-US" sz="1250" dirty="0"/>
          </a:p>
        </p:txBody>
      </p:sp>
      <p:sp>
        <p:nvSpPr>
          <p:cNvPr id="21" name="Shape 19"/>
          <p:cNvSpPr/>
          <p:nvPr/>
        </p:nvSpPr>
        <p:spPr>
          <a:xfrm>
            <a:off x="3337560" y="1444752"/>
            <a:ext cx="2514600" cy="256032"/>
          </a:xfrm>
          <a:prstGeom prst="rect">
            <a:avLst/>
          </a:prstGeom>
          <a:solidFill>
            <a:srgbClr val="1B2438"/>
          </a:solidFill>
          <a:ln w="12700">
            <a:solidFill>
              <a:srgbClr val="1B2438"/>
            </a:solidFill>
            <a:prstDash val="solid"/>
          </a:ln>
        </p:spPr>
      </p:sp>
      <p:sp>
        <p:nvSpPr>
          <p:cNvPr id="22" name="Shape 20"/>
          <p:cNvSpPr/>
          <p:nvPr/>
        </p:nvSpPr>
        <p:spPr>
          <a:xfrm>
            <a:off x="3337560" y="1444752"/>
            <a:ext cx="1885950" cy="256032"/>
          </a:xfrm>
          <a:prstGeom prst="rect">
            <a:avLst/>
          </a:prstGeom>
          <a:solidFill>
            <a:srgbClr val="FF7043"/>
          </a:solidFill>
          <a:ln w="12700">
            <a:solidFill>
              <a:srgbClr val="FF7043"/>
            </a:solidFill>
            <a:prstDash val="solid"/>
          </a:ln>
        </p:spPr>
      </p:sp>
      <p:sp>
        <p:nvSpPr>
          <p:cNvPr id="23" name="Text 21"/>
          <p:cNvSpPr/>
          <p:nvPr/>
        </p:nvSpPr>
        <p:spPr>
          <a:xfrm>
            <a:off x="3337560" y="1737360"/>
            <a:ext cx="2514600" cy="219456"/>
          </a:xfrm>
          <a:prstGeom prst="rect">
            <a:avLst/>
          </a:prstGeom>
          <a:noFill/>
          <a:ln/>
        </p:spPr>
        <p:txBody>
          <a:bodyPr wrap="square" rtlCol="0" anchor="ctr"/>
          <a:lstStyle/>
          <a:p>
            <a:pPr algn="ctr" indent="0" marL="0">
              <a:buNone/>
            </a:pPr>
            <a:r>
              <a:rPr lang="en-US" sz="950" dirty="0">
                <a:solidFill>
                  <a:srgbClr val="FF7043"/>
                </a:solidFill>
              </a:rPr>
              <a:t>Impact Level: High</a:t>
            </a:r>
            <a:endParaRPr lang="en-US" sz="950" dirty="0"/>
          </a:p>
        </p:txBody>
      </p:sp>
      <p:sp>
        <p:nvSpPr>
          <p:cNvPr id="24" name="Shape 22"/>
          <p:cNvSpPr/>
          <p:nvPr/>
        </p:nvSpPr>
        <p:spPr>
          <a:xfrm>
            <a:off x="3337560" y="2066544"/>
            <a:ext cx="201168" cy="201168"/>
          </a:xfrm>
          <a:prstGeom prst="ellipse">
            <a:avLst/>
          </a:prstGeom>
          <a:solidFill>
            <a:srgbClr val="FF7043"/>
          </a:solidFill>
          <a:ln w="12700">
            <a:solidFill>
              <a:srgbClr val="FF7043"/>
            </a:solidFill>
            <a:prstDash val="solid"/>
          </a:ln>
        </p:spPr>
      </p:sp>
      <p:sp>
        <p:nvSpPr>
          <p:cNvPr id="25" name="Text 23"/>
          <p:cNvSpPr/>
          <p:nvPr/>
        </p:nvSpPr>
        <p:spPr>
          <a:xfrm>
            <a:off x="3611880" y="2029968"/>
            <a:ext cx="2304288" cy="1261872"/>
          </a:xfrm>
          <a:prstGeom prst="rect">
            <a:avLst/>
          </a:prstGeom>
          <a:noFill/>
          <a:ln/>
        </p:spPr>
        <p:txBody>
          <a:bodyPr wrap="square" rtlCol="0" anchor="ctr"/>
          <a:lstStyle/>
          <a:p>
            <a:pPr indent="0" marL="0">
              <a:buNone/>
            </a:pPr>
            <a:r>
              <a:rPr lang="en-US" sz="1150" dirty="0">
                <a:solidFill>
                  <a:srgbClr val="90A4AE"/>
                </a:solidFill>
              </a:rPr>
              <a:t>Outliers can weaken reliability of hypothesis testing and reduce performance of predictive models.</a:t>
            </a:r>
            <a:endParaRPr lang="en-US" sz="1150" dirty="0"/>
          </a:p>
        </p:txBody>
      </p:sp>
      <p:sp>
        <p:nvSpPr>
          <p:cNvPr id="26" name="Shape 24"/>
          <p:cNvSpPr/>
          <p:nvPr/>
        </p:nvSpPr>
        <p:spPr>
          <a:xfrm>
            <a:off x="3337560" y="3364992"/>
            <a:ext cx="201168" cy="201168"/>
          </a:xfrm>
          <a:prstGeom prst="ellipse">
            <a:avLst/>
          </a:prstGeom>
          <a:solidFill>
            <a:srgbClr val="FF7043"/>
          </a:solidFill>
          <a:ln w="12700">
            <a:solidFill>
              <a:srgbClr val="FF7043"/>
            </a:solidFill>
            <a:prstDash val="solid"/>
          </a:ln>
        </p:spPr>
      </p:sp>
      <p:sp>
        <p:nvSpPr>
          <p:cNvPr id="27" name="Text 25"/>
          <p:cNvSpPr/>
          <p:nvPr/>
        </p:nvSpPr>
        <p:spPr>
          <a:xfrm>
            <a:off x="3611880" y="3328416"/>
            <a:ext cx="2304288" cy="1261872"/>
          </a:xfrm>
          <a:prstGeom prst="rect">
            <a:avLst/>
          </a:prstGeom>
          <a:noFill/>
          <a:ln/>
        </p:spPr>
        <p:txBody>
          <a:bodyPr wrap="square" rtlCol="0" anchor="ctr"/>
          <a:lstStyle/>
          <a:p>
            <a:pPr indent="0" marL="0">
              <a:buNone/>
            </a:pPr>
            <a:r>
              <a:rPr lang="en-US" sz="1150" dirty="0">
                <a:solidFill>
                  <a:srgbClr val="90A4AE"/>
                </a:solidFill>
              </a:rPr>
              <a:t>Proper handling improves model stability, accuracy, and trustworthiness of statistical conclusions.</a:t>
            </a:r>
            <a:endParaRPr lang="en-US" sz="1150" dirty="0"/>
          </a:p>
        </p:txBody>
      </p:sp>
      <p:sp>
        <p:nvSpPr>
          <p:cNvPr id="28" name="Shape 26"/>
          <p:cNvSpPr/>
          <p:nvPr/>
        </p:nvSpPr>
        <p:spPr>
          <a:xfrm>
            <a:off x="6126480" y="822960"/>
            <a:ext cx="2788920" cy="4041648"/>
          </a:xfrm>
          <a:prstGeom prst="rect">
            <a:avLst/>
          </a:prstGeom>
          <a:solidFill>
            <a:srgbClr val="22304A"/>
          </a:solidFill>
          <a:ln w="19050">
            <a:solidFill>
              <a:srgbClr val="FFB300"/>
            </a:solidFill>
            <a:prstDash val="solid"/>
          </a:ln>
        </p:spPr>
      </p:sp>
      <p:sp>
        <p:nvSpPr>
          <p:cNvPr id="29" name="Shape 27"/>
          <p:cNvSpPr/>
          <p:nvPr/>
        </p:nvSpPr>
        <p:spPr>
          <a:xfrm>
            <a:off x="6126480" y="822960"/>
            <a:ext cx="2788920" cy="493776"/>
          </a:xfrm>
          <a:prstGeom prst="rect">
            <a:avLst/>
          </a:prstGeom>
          <a:solidFill>
            <a:srgbClr val="FFB300"/>
          </a:solidFill>
          <a:ln w="12700">
            <a:solidFill>
              <a:srgbClr val="FFB300"/>
            </a:solidFill>
            <a:prstDash val="solid"/>
          </a:ln>
        </p:spPr>
      </p:sp>
      <p:sp>
        <p:nvSpPr>
          <p:cNvPr id="30" name="Shape 28"/>
          <p:cNvSpPr/>
          <p:nvPr/>
        </p:nvSpPr>
        <p:spPr>
          <a:xfrm>
            <a:off x="6236208" y="868680"/>
            <a:ext cx="384048" cy="384048"/>
          </a:xfrm>
          <a:prstGeom prst="ellipse">
            <a:avLst/>
          </a:prstGeom>
          <a:solidFill>
            <a:srgbClr val="131A28">
              <a:alpha val="75000"/>
            </a:srgbClr>
          </a:solidFill>
          <a:ln w="12700">
            <a:solidFill>
              <a:srgbClr val="131A28"/>
            </a:solidFill>
            <a:prstDash val="solid"/>
          </a:ln>
        </p:spPr>
      </p:sp>
      <p:sp>
        <p:nvSpPr>
          <p:cNvPr id="31" name="Text 29"/>
          <p:cNvSpPr/>
          <p:nvPr/>
        </p:nvSpPr>
        <p:spPr>
          <a:xfrm>
            <a:off x="6236208" y="868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03</a:t>
            </a:r>
            <a:endParaRPr lang="en-US" sz="1400" dirty="0"/>
          </a:p>
        </p:txBody>
      </p:sp>
      <p:sp>
        <p:nvSpPr>
          <p:cNvPr id="32" name="Text 30"/>
          <p:cNvSpPr/>
          <p:nvPr/>
        </p:nvSpPr>
        <p:spPr>
          <a:xfrm>
            <a:off x="6693408" y="896112"/>
            <a:ext cx="2121408" cy="402336"/>
          </a:xfrm>
          <a:prstGeom prst="rect">
            <a:avLst/>
          </a:prstGeom>
          <a:noFill/>
          <a:ln/>
        </p:spPr>
        <p:txBody>
          <a:bodyPr wrap="square" rtlCol="0" anchor="ctr"/>
          <a:lstStyle/>
          <a:p>
            <a:pPr indent="0" marL="0">
              <a:buNone/>
            </a:pPr>
            <a:r>
              <a:rPr lang="en-US" sz="1250" b="1" dirty="0">
                <a:solidFill>
                  <a:srgbClr val="FFFFFF"/>
                </a:solidFill>
              </a:rPr>
              <a:t>Model Performance &amp; Interpretability</a:t>
            </a:r>
            <a:endParaRPr lang="en-US" sz="1250" dirty="0"/>
          </a:p>
        </p:txBody>
      </p:sp>
      <p:sp>
        <p:nvSpPr>
          <p:cNvPr id="33" name="Shape 31"/>
          <p:cNvSpPr/>
          <p:nvPr/>
        </p:nvSpPr>
        <p:spPr>
          <a:xfrm>
            <a:off x="6263640" y="1444752"/>
            <a:ext cx="2514600" cy="256032"/>
          </a:xfrm>
          <a:prstGeom prst="rect">
            <a:avLst/>
          </a:prstGeom>
          <a:solidFill>
            <a:srgbClr val="1B2438"/>
          </a:solidFill>
          <a:ln w="12700">
            <a:solidFill>
              <a:srgbClr val="1B2438"/>
            </a:solidFill>
            <a:prstDash val="solid"/>
          </a:ln>
        </p:spPr>
      </p:sp>
      <p:sp>
        <p:nvSpPr>
          <p:cNvPr id="34" name="Shape 32"/>
          <p:cNvSpPr/>
          <p:nvPr/>
        </p:nvSpPr>
        <p:spPr>
          <a:xfrm>
            <a:off x="6263640" y="1444752"/>
            <a:ext cx="1885950" cy="256032"/>
          </a:xfrm>
          <a:prstGeom prst="rect">
            <a:avLst/>
          </a:prstGeom>
          <a:solidFill>
            <a:srgbClr val="FFB300"/>
          </a:solidFill>
          <a:ln w="12700">
            <a:solidFill>
              <a:srgbClr val="FFB300"/>
            </a:solidFill>
            <a:prstDash val="solid"/>
          </a:ln>
        </p:spPr>
      </p:sp>
      <p:sp>
        <p:nvSpPr>
          <p:cNvPr id="35" name="Text 33"/>
          <p:cNvSpPr/>
          <p:nvPr/>
        </p:nvSpPr>
        <p:spPr>
          <a:xfrm>
            <a:off x="6263640" y="1737360"/>
            <a:ext cx="2514600" cy="219456"/>
          </a:xfrm>
          <a:prstGeom prst="rect">
            <a:avLst/>
          </a:prstGeom>
          <a:noFill/>
          <a:ln/>
        </p:spPr>
        <p:txBody>
          <a:bodyPr wrap="square" rtlCol="0" anchor="ctr"/>
          <a:lstStyle/>
          <a:p>
            <a:pPr algn="ctr" indent="0" marL="0">
              <a:buNone/>
            </a:pPr>
            <a:r>
              <a:rPr lang="en-US" sz="950" dirty="0">
                <a:solidFill>
                  <a:srgbClr val="FFB300"/>
                </a:solidFill>
              </a:rPr>
              <a:t>Impact Level: High</a:t>
            </a:r>
            <a:endParaRPr lang="en-US" sz="950" dirty="0"/>
          </a:p>
        </p:txBody>
      </p:sp>
      <p:sp>
        <p:nvSpPr>
          <p:cNvPr id="36" name="Shape 34"/>
          <p:cNvSpPr/>
          <p:nvPr/>
        </p:nvSpPr>
        <p:spPr>
          <a:xfrm>
            <a:off x="6263640" y="2066544"/>
            <a:ext cx="201168" cy="201168"/>
          </a:xfrm>
          <a:prstGeom prst="ellipse">
            <a:avLst/>
          </a:prstGeom>
          <a:solidFill>
            <a:srgbClr val="FFB300"/>
          </a:solidFill>
          <a:ln w="12700">
            <a:solidFill>
              <a:srgbClr val="FFB300"/>
            </a:solidFill>
            <a:prstDash val="solid"/>
          </a:ln>
        </p:spPr>
      </p:sp>
      <p:sp>
        <p:nvSpPr>
          <p:cNvPr id="37" name="Text 35"/>
          <p:cNvSpPr/>
          <p:nvPr/>
        </p:nvSpPr>
        <p:spPr>
          <a:xfrm>
            <a:off x="6537960" y="2029968"/>
            <a:ext cx="2304288" cy="1261872"/>
          </a:xfrm>
          <a:prstGeom prst="rect">
            <a:avLst/>
          </a:prstGeom>
          <a:noFill/>
          <a:ln/>
        </p:spPr>
        <p:txBody>
          <a:bodyPr wrap="square" rtlCol="0" anchor="ctr"/>
          <a:lstStyle/>
          <a:p>
            <a:pPr indent="0" marL="0">
              <a:buNone/>
            </a:pPr>
            <a:r>
              <a:rPr lang="en-US" sz="1150" dirty="0">
                <a:solidFill>
                  <a:srgbClr val="90A4AE"/>
                </a:solidFill>
              </a:rPr>
              <a:t>Outliers may cause machine learning models to overfit or learn incorrect patterns from rare extreme values.</a:t>
            </a:r>
            <a:endParaRPr lang="en-US" sz="1150" dirty="0"/>
          </a:p>
        </p:txBody>
      </p:sp>
      <p:sp>
        <p:nvSpPr>
          <p:cNvPr id="38" name="Shape 36"/>
          <p:cNvSpPr/>
          <p:nvPr/>
        </p:nvSpPr>
        <p:spPr>
          <a:xfrm>
            <a:off x="6263640" y="3364992"/>
            <a:ext cx="201168" cy="201168"/>
          </a:xfrm>
          <a:prstGeom prst="ellipse">
            <a:avLst/>
          </a:prstGeom>
          <a:solidFill>
            <a:srgbClr val="FFB300"/>
          </a:solidFill>
          <a:ln w="12700">
            <a:solidFill>
              <a:srgbClr val="FFB300"/>
            </a:solidFill>
            <a:prstDash val="solid"/>
          </a:ln>
        </p:spPr>
      </p:sp>
      <p:sp>
        <p:nvSpPr>
          <p:cNvPr id="39" name="Text 37"/>
          <p:cNvSpPr/>
          <p:nvPr/>
        </p:nvSpPr>
        <p:spPr>
          <a:xfrm>
            <a:off x="6537960" y="3328416"/>
            <a:ext cx="2304288" cy="1261872"/>
          </a:xfrm>
          <a:prstGeom prst="rect">
            <a:avLst/>
          </a:prstGeom>
          <a:noFill/>
          <a:ln/>
        </p:spPr>
        <p:txBody>
          <a:bodyPr wrap="square" rtlCol="0" anchor="ctr"/>
          <a:lstStyle/>
          <a:p>
            <a:pPr indent="0" marL="0">
              <a:buNone/>
            </a:pPr>
            <a:r>
              <a:rPr lang="en-US" sz="1150" dirty="0">
                <a:solidFill>
                  <a:srgbClr val="90A4AE"/>
                </a:solidFill>
              </a:rPr>
              <a:t>Eliminating irrelevant outliers makes models easier to interpret and enhances their generalization to new data.</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31A28"/>
          </a:solidFill>
          <a:ln w="12700">
            <a:solidFill>
              <a:srgbClr val="131A28"/>
            </a:solidFill>
            <a:prstDash val="solid"/>
          </a:ln>
        </p:spPr>
      </p:sp>
      <p:sp>
        <p:nvSpPr>
          <p:cNvPr id="3" name="Shape 1"/>
          <p:cNvSpPr/>
          <p:nvPr/>
        </p:nvSpPr>
        <p:spPr>
          <a:xfrm>
            <a:off x="0" y="594360"/>
            <a:ext cx="9144000" cy="64008"/>
          </a:xfrm>
          <a:prstGeom prst="rect">
            <a:avLst/>
          </a:prstGeom>
          <a:solidFill>
            <a:srgbClr val="1E88E5"/>
          </a:solidFill>
          <a:ln w="12700">
            <a:solidFill>
              <a:srgbClr val="1E88E5"/>
            </a:solidFill>
            <a:prstDash val="solid"/>
          </a:ln>
        </p:spPr>
      </p:sp>
      <p:sp>
        <p:nvSpPr>
          <p:cNvPr id="4" name="Text 2"/>
          <p:cNvSpPr/>
          <p:nvPr/>
        </p:nvSpPr>
        <p:spPr>
          <a:xfrm>
            <a:off x="457200" y="91440"/>
            <a:ext cx="8229600" cy="45720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5 Types of Outliers</a:t>
            </a:r>
            <a:endParaRPr lang="en-US" sz="2400" dirty="0"/>
          </a:p>
        </p:txBody>
      </p:sp>
      <p:sp>
        <p:nvSpPr>
          <p:cNvPr id="5" name="Shape 3"/>
          <p:cNvSpPr/>
          <p:nvPr/>
        </p:nvSpPr>
        <p:spPr>
          <a:xfrm>
            <a:off x="274320" y="804672"/>
            <a:ext cx="4206240" cy="1719072"/>
          </a:xfrm>
          <a:prstGeom prst="rect">
            <a:avLst/>
          </a:prstGeom>
          <a:solidFill>
            <a:srgbClr val="FFFFFF"/>
          </a:solidFill>
          <a:ln w="19050">
            <a:solidFill>
              <a:srgbClr val="E53935"/>
            </a:solidFill>
            <a:prstDash val="solid"/>
          </a:ln>
          <a:effectLst>
            <a:outerShdw sx="100000" sy="100000" kx="0" ky="0" algn="bl" rotWithShape="0" blurRad="127000" dist="38100" dir="8100000">
              <a:srgbClr val="000000">
                <a:alpha val="16000"/>
              </a:srgbClr>
            </a:outerShdw>
          </a:effectLst>
        </p:spPr>
      </p:sp>
      <p:sp>
        <p:nvSpPr>
          <p:cNvPr id="6" name="Shape 4"/>
          <p:cNvSpPr/>
          <p:nvPr/>
        </p:nvSpPr>
        <p:spPr>
          <a:xfrm>
            <a:off x="274320" y="804672"/>
            <a:ext cx="4206240" cy="64008"/>
          </a:xfrm>
          <a:prstGeom prst="rect">
            <a:avLst/>
          </a:prstGeom>
          <a:solidFill>
            <a:srgbClr val="E53935"/>
          </a:solidFill>
          <a:ln w="12700">
            <a:solidFill>
              <a:srgbClr val="E53935"/>
            </a:solidFill>
            <a:prstDash val="solid"/>
          </a:ln>
        </p:spPr>
      </p:sp>
      <p:sp>
        <p:nvSpPr>
          <p:cNvPr id="7" name="Shape 5"/>
          <p:cNvSpPr/>
          <p:nvPr/>
        </p:nvSpPr>
        <p:spPr>
          <a:xfrm>
            <a:off x="411480" y="941832"/>
            <a:ext cx="402336" cy="402336"/>
          </a:xfrm>
          <a:prstGeom prst="ellipse">
            <a:avLst/>
          </a:prstGeom>
          <a:solidFill>
            <a:srgbClr val="E53935"/>
          </a:solidFill>
          <a:ln w="12700">
            <a:solidFill>
              <a:srgbClr val="E53935"/>
            </a:solidFill>
            <a:prstDash val="solid"/>
          </a:ln>
        </p:spPr>
      </p:sp>
      <p:sp>
        <p:nvSpPr>
          <p:cNvPr id="8" name="Text 6"/>
          <p:cNvSpPr/>
          <p:nvPr/>
        </p:nvSpPr>
        <p:spPr>
          <a:xfrm>
            <a:off x="411480" y="941832"/>
            <a:ext cx="402336" cy="402336"/>
          </a:xfrm>
          <a:prstGeom prst="rect">
            <a:avLst/>
          </a:prstGeom>
          <a:noFill/>
          <a:ln/>
        </p:spPr>
        <p:txBody>
          <a:bodyPr wrap="square" lIns="0" tIns="0" rIns="0" bIns="0" rtlCol="0" anchor="ctr"/>
          <a:lstStyle/>
          <a:p>
            <a:pPr algn="ctr" indent="0" marL="0">
              <a:buNone/>
            </a:pPr>
            <a:r>
              <a:rPr lang="en-US" sz="1600" b="1" dirty="0">
                <a:solidFill>
                  <a:srgbClr val="131A28"/>
                </a:solidFill>
              </a:rPr>
              <a:t>1</a:t>
            </a:r>
            <a:endParaRPr lang="en-US" sz="1600" dirty="0"/>
          </a:p>
        </p:txBody>
      </p:sp>
      <p:sp>
        <p:nvSpPr>
          <p:cNvPr id="9" name="Text 7"/>
          <p:cNvSpPr/>
          <p:nvPr/>
        </p:nvSpPr>
        <p:spPr>
          <a:xfrm>
            <a:off x="914400" y="969264"/>
            <a:ext cx="3456432" cy="310896"/>
          </a:xfrm>
          <a:prstGeom prst="rect">
            <a:avLst/>
          </a:prstGeom>
          <a:noFill/>
          <a:ln/>
        </p:spPr>
        <p:txBody>
          <a:bodyPr wrap="square" rtlCol="0" anchor="ctr"/>
          <a:lstStyle/>
          <a:p>
            <a:pPr indent="0" marL="0">
              <a:buNone/>
            </a:pPr>
            <a:r>
              <a:rPr lang="en-US" sz="1300" b="1" dirty="0">
                <a:solidFill>
                  <a:srgbClr val="131A28"/>
                </a:solidFill>
              </a:rPr>
              <a:t>Univariate Outliers</a:t>
            </a:r>
            <a:endParaRPr lang="en-US" sz="1300" dirty="0"/>
          </a:p>
        </p:txBody>
      </p:sp>
      <p:sp>
        <p:nvSpPr>
          <p:cNvPr id="10" name="Text 8"/>
          <p:cNvSpPr/>
          <p:nvPr/>
        </p:nvSpPr>
        <p:spPr>
          <a:xfrm>
            <a:off x="411480" y="1426464"/>
            <a:ext cx="3950208" cy="1024128"/>
          </a:xfrm>
          <a:prstGeom prst="rect">
            <a:avLst/>
          </a:prstGeom>
          <a:noFill/>
          <a:ln/>
        </p:spPr>
        <p:txBody>
          <a:bodyPr wrap="square" rtlCol="0" anchor="ctr"/>
          <a:lstStyle/>
          <a:p>
            <a:pPr indent="0" marL="0">
              <a:buNone/>
            </a:pPr>
            <a:r>
              <a:rPr lang="en-US" sz="1150" dirty="0">
                <a:solidFill>
                  <a:srgbClr val="445566"/>
                </a:solidFill>
              </a:rPr>
              <a:t>Extreme values in a SINGLE variable. Example: adult height of 7 feet where most range 5.5–6 feet — clearly unusual in that one dimension.</a:t>
            </a:r>
            <a:endParaRPr lang="en-US" sz="1150" dirty="0"/>
          </a:p>
        </p:txBody>
      </p:sp>
      <p:sp>
        <p:nvSpPr>
          <p:cNvPr id="11" name="Shape 9"/>
          <p:cNvSpPr/>
          <p:nvPr/>
        </p:nvSpPr>
        <p:spPr>
          <a:xfrm>
            <a:off x="4663440" y="804672"/>
            <a:ext cx="4206240" cy="1719072"/>
          </a:xfrm>
          <a:prstGeom prst="rect">
            <a:avLst/>
          </a:prstGeom>
          <a:solidFill>
            <a:srgbClr val="FFFFFF"/>
          </a:solidFill>
          <a:ln w="19050">
            <a:solidFill>
              <a:srgbClr val="FF7043"/>
            </a:solidFill>
            <a:prstDash val="solid"/>
          </a:ln>
          <a:effectLst>
            <a:outerShdw sx="100000" sy="100000" kx="0" ky="0" algn="bl" rotWithShape="0" blurRad="127000" dist="38100" dir="8100000">
              <a:srgbClr val="000000">
                <a:alpha val="16000"/>
              </a:srgbClr>
            </a:outerShdw>
          </a:effectLst>
        </p:spPr>
      </p:sp>
      <p:sp>
        <p:nvSpPr>
          <p:cNvPr id="12" name="Shape 10"/>
          <p:cNvSpPr/>
          <p:nvPr/>
        </p:nvSpPr>
        <p:spPr>
          <a:xfrm>
            <a:off x="4663440" y="804672"/>
            <a:ext cx="4206240" cy="64008"/>
          </a:xfrm>
          <a:prstGeom prst="rect">
            <a:avLst/>
          </a:prstGeom>
          <a:solidFill>
            <a:srgbClr val="FF7043"/>
          </a:solidFill>
          <a:ln w="12700">
            <a:solidFill>
              <a:srgbClr val="FF7043"/>
            </a:solidFill>
            <a:prstDash val="solid"/>
          </a:ln>
        </p:spPr>
      </p:sp>
      <p:sp>
        <p:nvSpPr>
          <p:cNvPr id="13" name="Shape 11"/>
          <p:cNvSpPr/>
          <p:nvPr/>
        </p:nvSpPr>
        <p:spPr>
          <a:xfrm>
            <a:off x="4800600" y="941832"/>
            <a:ext cx="402336" cy="402336"/>
          </a:xfrm>
          <a:prstGeom prst="ellipse">
            <a:avLst/>
          </a:prstGeom>
          <a:solidFill>
            <a:srgbClr val="FF7043"/>
          </a:solidFill>
          <a:ln w="12700">
            <a:solidFill>
              <a:srgbClr val="FF7043"/>
            </a:solidFill>
            <a:prstDash val="solid"/>
          </a:ln>
        </p:spPr>
      </p:sp>
      <p:sp>
        <p:nvSpPr>
          <p:cNvPr id="14" name="Text 12"/>
          <p:cNvSpPr/>
          <p:nvPr/>
        </p:nvSpPr>
        <p:spPr>
          <a:xfrm>
            <a:off x="4800600" y="941832"/>
            <a:ext cx="402336" cy="402336"/>
          </a:xfrm>
          <a:prstGeom prst="rect">
            <a:avLst/>
          </a:prstGeom>
          <a:noFill/>
          <a:ln/>
        </p:spPr>
        <p:txBody>
          <a:bodyPr wrap="square" lIns="0" tIns="0" rIns="0" bIns="0" rtlCol="0" anchor="ctr"/>
          <a:lstStyle/>
          <a:p>
            <a:pPr algn="ctr" indent="0" marL="0">
              <a:buNone/>
            </a:pPr>
            <a:r>
              <a:rPr lang="en-US" sz="1600" b="1" dirty="0">
                <a:solidFill>
                  <a:srgbClr val="131A28"/>
                </a:solidFill>
              </a:rPr>
              <a:t>2</a:t>
            </a:r>
            <a:endParaRPr lang="en-US" sz="1600" dirty="0"/>
          </a:p>
        </p:txBody>
      </p:sp>
      <p:sp>
        <p:nvSpPr>
          <p:cNvPr id="15" name="Text 13"/>
          <p:cNvSpPr/>
          <p:nvPr/>
        </p:nvSpPr>
        <p:spPr>
          <a:xfrm>
            <a:off x="5303520" y="969264"/>
            <a:ext cx="3456432" cy="310896"/>
          </a:xfrm>
          <a:prstGeom prst="rect">
            <a:avLst/>
          </a:prstGeom>
          <a:noFill/>
          <a:ln/>
        </p:spPr>
        <p:txBody>
          <a:bodyPr wrap="square" rtlCol="0" anchor="ctr"/>
          <a:lstStyle/>
          <a:p>
            <a:pPr indent="0" marL="0">
              <a:buNone/>
            </a:pPr>
            <a:r>
              <a:rPr lang="en-US" sz="1300" b="1" dirty="0">
                <a:solidFill>
                  <a:srgbClr val="131A28"/>
                </a:solidFill>
              </a:rPr>
              <a:t>Multivariate Outliers</a:t>
            </a:r>
            <a:endParaRPr lang="en-US" sz="1300" dirty="0"/>
          </a:p>
        </p:txBody>
      </p:sp>
      <p:sp>
        <p:nvSpPr>
          <p:cNvPr id="16" name="Text 14"/>
          <p:cNvSpPr/>
          <p:nvPr/>
        </p:nvSpPr>
        <p:spPr>
          <a:xfrm>
            <a:off x="4800600" y="1426464"/>
            <a:ext cx="3950208" cy="1024128"/>
          </a:xfrm>
          <a:prstGeom prst="rect">
            <a:avLst/>
          </a:prstGeom>
          <a:noFill/>
          <a:ln/>
        </p:spPr>
        <p:txBody>
          <a:bodyPr wrap="square" rtlCol="0" anchor="ctr"/>
          <a:lstStyle/>
          <a:p>
            <a:pPr indent="0" marL="0">
              <a:buNone/>
            </a:pPr>
            <a:r>
              <a:rPr lang="en-US" sz="1150" dirty="0">
                <a:solidFill>
                  <a:srgbClr val="445566"/>
                </a:solidFill>
              </a:rPr>
              <a:t>Unusual COMBINATION of values across multiple variables. Example: extremely tall AND unusually heavy — even if each value alone seems reasonable.</a:t>
            </a:r>
            <a:endParaRPr lang="en-US" sz="1150" dirty="0"/>
          </a:p>
        </p:txBody>
      </p:sp>
      <p:sp>
        <p:nvSpPr>
          <p:cNvPr id="17" name="Shape 15"/>
          <p:cNvSpPr/>
          <p:nvPr/>
        </p:nvSpPr>
        <p:spPr>
          <a:xfrm>
            <a:off x="274320" y="2688336"/>
            <a:ext cx="4206240" cy="1719072"/>
          </a:xfrm>
          <a:prstGeom prst="rect">
            <a:avLst/>
          </a:prstGeom>
          <a:solidFill>
            <a:srgbClr val="FFFFFF"/>
          </a:solidFill>
          <a:ln w="19050">
            <a:solidFill>
              <a:srgbClr val="7E57C2"/>
            </a:solidFill>
            <a:prstDash val="solid"/>
          </a:ln>
          <a:effectLst>
            <a:outerShdw sx="100000" sy="100000" kx="0" ky="0" algn="bl" rotWithShape="0" blurRad="127000" dist="38100" dir="8100000">
              <a:srgbClr val="000000">
                <a:alpha val="16000"/>
              </a:srgbClr>
            </a:outerShdw>
          </a:effectLst>
        </p:spPr>
      </p:sp>
      <p:sp>
        <p:nvSpPr>
          <p:cNvPr id="18" name="Shape 16"/>
          <p:cNvSpPr/>
          <p:nvPr/>
        </p:nvSpPr>
        <p:spPr>
          <a:xfrm>
            <a:off x="274320" y="2688336"/>
            <a:ext cx="4206240" cy="64008"/>
          </a:xfrm>
          <a:prstGeom prst="rect">
            <a:avLst/>
          </a:prstGeom>
          <a:solidFill>
            <a:srgbClr val="7E57C2"/>
          </a:solidFill>
          <a:ln w="12700">
            <a:solidFill>
              <a:srgbClr val="7E57C2"/>
            </a:solidFill>
            <a:prstDash val="solid"/>
          </a:ln>
        </p:spPr>
      </p:sp>
      <p:sp>
        <p:nvSpPr>
          <p:cNvPr id="19" name="Shape 17"/>
          <p:cNvSpPr/>
          <p:nvPr/>
        </p:nvSpPr>
        <p:spPr>
          <a:xfrm>
            <a:off x="411480" y="2825496"/>
            <a:ext cx="402336" cy="402336"/>
          </a:xfrm>
          <a:prstGeom prst="ellipse">
            <a:avLst/>
          </a:prstGeom>
          <a:solidFill>
            <a:srgbClr val="7E57C2"/>
          </a:solidFill>
          <a:ln w="12700">
            <a:solidFill>
              <a:srgbClr val="7E57C2"/>
            </a:solidFill>
            <a:prstDash val="solid"/>
          </a:ln>
        </p:spPr>
      </p:sp>
      <p:sp>
        <p:nvSpPr>
          <p:cNvPr id="20" name="Text 18"/>
          <p:cNvSpPr/>
          <p:nvPr/>
        </p:nvSpPr>
        <p:spPr>
          <a:xfrm>
            <a:off x="411480" y="2825496"/>
            <a:ext cx="402336" cy="402336"/>
          </a:xfrm>
          <a:prstGeom prst="rect">
            <a:avLst/>
          </a:prstGeom>
          <a:noFill/>
          <a:ln/>
        </p:spPr>
        <p:txBody>
          <a:bodyPr wrap="square" lIns="0" tIns="0" rIns="0" bIns="0" rtlCol="0" anchor="ctr"/>
          <a:lstStyle/>
          <a:p>
            <a:pPr algn="ctr" indent="0" marL="0">
              <a:buNone/>
            </a:pPr>
            <a:r>
              <a:rPr lang="en-US" sz="1600" b="1" dirty="0">
                <a:solidFill>
                  <a:srgbClr val="131A28"/>
                </a:solidFill>
              </a:rPr>
              <a:t>3</a:t>
            </a:r>
            <a:endParaRPr lang="en-US" sz="1600" dirty="0"/>
          </a:p>
        </p:txBody>
      </p:sp>
      <p:sp>
        <p:nvSpPr>
          <p:cNvPr id="21" name="Text 19"/>
          <p:cNvSpPr/>
          <p:nvPr/>
        </p:nvSpPr>
        <p:spPr>
          <a:xfrm>
            <a:off x="914400" y="2852928"/>
            <a:ext cx="3456432" cy="310896"/>
          </a:xfrm>
          <a:prstGeom prst="rect">
            <a:avLst/>
          </a:prstGeom>
          <a:noFill/>
          <a:ln/>
        </p:spPr>
        <p:txBody>
          <a:bodyPr wrap="square" rtlCol="0" anchor="ctr"/>
          <a:lstStyle/>
          <a:p>
            <a:pPr indent="0" marL="0">
              <a:buNone/>
            </a:pPr>
            <a:r>
              <a:rPr lang="en-US" sz="1300" b="1" dirty="0">
                <a:solidFill>
                  <a:srgbClr val="131A28"/>
                </a:solidFill>
              </a:rPr>
              <a:t>Point (Global) Outliers</a:t>
            </a:r>
            <a:endParaRPr lang="en-US" sz="1300" dirty="0"/>
          </a:p>
        </p:txBody>
      </p:sp>
      <p:sp>
        <p:nvSpPr>
          <p:cNvPr id="22" name="Text 20"/>
          <p:cNvSpPr/>
          <p:nvPr/>
        </p:nvSpPr>
        <p:spPr>
          <a:xfrm>
            <a:off x="411480" y="3310128"/>
            <a:ext cx="3950208" cy="1024128"/>
          </a:xfrm>
          <a:prstGeom prst="rect">
            <a:avLst/>
          </a:prstGeom>
          <a:noFill/>
          <a:ln/>
        </p:spPr>
        <p:txBody>
          <a:bodyPr wrap="square" rtlCol="0" anchor="ctr"/>
          <a:lstStyle/>
          <a:p>
            <a:pPr indent="0" marL="0">
              <a:buNone/>
            </a:pPr>
            <a:r>
              <a:rPr lang="en-US" sz="1150" dirty="0">
                <a:solidFill>
                  <a:srgbClr val="445566"/>
                </a:solidFill>
              </a:rPr>
              <a:t>Individual data points far from the majority of observations. Simplest type. Example: extremely high household energy consumption compared to neighbors.</a:t>
            </a:r>
            <a:endParaRPr lang="en-US" sz="1150" dirty="0"/>
          </a:p>
        </p:txBody>
      </p:sp>
      <p:sp>
        <p:nvSpPr>
          <p:cNvPr id="23" name="Shape 21"/>
          <p:cNvSpPr/>
          <p:nvPr/>
        </p:nvSpPr>
        <p:spPr>
          <a:xfrm>
            <a:off x="4663440" y="2688336"/>
            <a:ext cx="4206240" cy="1719072"/>
          </a:xfrm>
          <a:prstGeom prst="rect">
            <a:avLst/>
          </a:prstGeom>
          <a:solidFill>
            <a:srgbClr val="FFFFFF"/>
          </a:solidFill>
          <a:ln w="19050">
            <a:solidFill>
              <a:srgbClr val="00ACC1"/>
            </a:solidFill>
            <a:prstDash val="solid"/>
          </a:ln>
          <a:effectLst>
            <a:outerShdw sx="100000" sy="100000" kx="0" ky="0" algn="bl" rotWithShape="0" blurRad="127000" dist="38100" dir="8100000">
              <a:srgbClr val="000000">
                <a:alpha val="16000"/>
              </a:srgbClr>
            </a:outerShdw>
          </a:effectLst>
        </p:spPr>
      </p:sp>
      <p:sp>
        <p:nvSpPr>
          <p:cNvPr id="24" name="Shape 22"/>
          <p:cNvSpPr/>
          <p:nvPr/>
        </p:nvSpPr>
        <p:spPr>
          <a:xfrm>
            <a:off x="4663440" y="2688336"/>
            <a:ext cx="4206240" cy="64008"/>
          </a:xfrm>
          <a:prstGeom prst="rect">
            <a:avLst/>
          </a:prstGeom>
          <a:solidFill>
            <a:srgbClr val="00ACC1"/>
          </a:solidFill>
          <a:ln w="12700">
            <a:solidFill>
              <a:srgbClr val="00ACC1"/>
            </a:solidFill>
            <a:prstDash val="solid"/>
          </a:ln>
        </p:spPr>
      </p:sp>
      <p:sp>
        <p:nvSpPr>
          <p:cNvPr id="25" name="Shape 23"/>
          <p:cNvSpPr/>
          <p:nvPr/>
        </p:nvSpPr>
        <p:spPr>
          <a:xfrm>
            <a:off x="4800600" y="2825496"/>
            <a:ext cx="402336" cy="402336"/>
          </a:xfrm>
          <a:prstGeom prst="ellipse">
            <a:avLst/>
          </a:prstGeom>
          <a:solidFill>
            <a:srgbClr val="00ACC1"/>
          </a:solidFill>
          <a:ln w="12700">
            <a:solidFill>
              <a:srgbClr val="00ACC1"/>
            </a:solidFill>
            <a:prstDash val="solid"/>
          </a:ln>
        </p:spPr>
      </p:sp>
      <p:sp>
        <p:nvSpPr>
          <p:cNvPr id="26" name="Text 24"/>
          <p:cNvSpPr/>
          <p:nvPr/>
        </p:nvSpPr>
        <p:spPr>
          <a:xfrm>
            <a:off x="4800600" y="2825496"/>
            <a:ext cx="402336" cy="402336"/>
          </a:xfrm>
          <a:prstGeom prst="rect">
            <a:avLst/>
          </a:prstGeom>
          <a:noFill/>
          <a:ln/>
        </p:spPr>
        <p:txBody>
          <a:bodyPr wrap="square" lIns="0" tIns="0" rIns="0" bIns="0" rtlCol="0" anchor="ctr"/>
          <a:lstStyle/>
          <a:p>
            <a:pPr algn="ctr" indent="0" marL="0">
              <a:buNone/>
            </a:pPr>
            <a:r>
              <a:rPr lang="en-US" sz="1600" b="1" dirty="0">
                <a:solidFill>
                  <a:srgbClr val="131A28"/>
                </a:solidFill>
              </a:rPr>
              <a:t>4</a:t>
            </a:r>
            <a:endParaRPr lang="en-US" sz="1600" dirty="0"/>
          </a:p>
        </p:txBody>
      </p:sp>
      <p:sp>
        <p:nvSpPr>
          <p:cNvPr id="27" name="Text 25"/>
          <p:cNvSpPr/>
          <p:nvPr/>
        </p:nvSpPr>
        <p:spPr>
          <a:xfrm>
            <a:off x="5303520" y="2852928"/>
            <a:ext cx="3456432" cy="310896"/>
          </a:xfrm>
          <a:prstGeom prst="rect">
            <a:avLst/>
          </a:prstGeom>
          <a:noFill/>
          <a:ln/>
        </p:spPr>
        <p:txBody>
          <a:bodyPr wrap="square" rtlCol="0" anchor="ctr"/>
          <a:lstStyle/>
          <a:p>
            <a:pPr indent="0" marL="0">
              <a:buNone/>
            </a:pPr>
            <a:r>
              <a:rPr lang="en-US" sz="1300" b="1" dirty="0">
                <a:solidFill>
                  <a:srgbClr val="131A28"/>
                </a:solidFill>
              </a:rPr>
              <a:t>Contextual (Conditional) Outliers</a:t>
            </a:r>
            <a:endParaRPr lang="en-US" sz="1300" dirty="0"/>
          </a:p>
        </p:txBody>
      </p:sp>
      <p:sp>
        <p:nvSpPr>
          <p:cNvPr id="28" name="Text 26"/>
          <p:cNvSpPr/>
          <p:nvPr/>
        </p:nvSpPr>
        <p:spPr>
          <a:xfrm>
            <a:off x="4800600" y="3310128"/>
            <a:ext cx="3950208" cy="1024128"/>
          </a:xfrm>
          <a:prstGeom prst="rect">
            <a:avLst/>
          </a:prstGeom>
          <a:noFill/>
          <a:ln/>
        </p:spPr>
        <p:txBody>
          <a:bodyPr wrap="square" rtlCol="0" anchor="ctr"/>
          <a:lstStyle/>
          <a:p>
            <a:pPr indent="0" marL="0">
              <a:buNone/>
            </a:pPr>
            <a:r>
              <a:rPr lang="en-US" sz="1150" dirty="0">
                <a:solidFill>
                  <a:srgbClr val="445566"/>
                </a:solidFill>
              </a:rPr>
              <a:t>Abnormal only in specific conditions. Example: very low temperature in June is an outlier — but the same value in December is completely normal.</a:t>
            </a:r>
            <a:endParaRPr lang="en-US" sz="1150" dirty="0"/>
          </a:p>
        </p:txBody>
      </p:sp>
      <p:sp>
        <p:nvSpPr>
          <p:cNvPr id="29" name="Shape 27"/>
          <p:cNvSpPr/>
          <p:nvPr/>
        </p:nvSpPr>
        <p:spPr>
          <a:xfrm>
            <a:off x="2468880" y="4572000"/>
            <a:ext cx="4206240" cy="1719072"/>
          </a:xfrm>
          <a:prstGeom prst="rect">
            <a:avLst/>
          </a:prstGeom>
          <a:solidFill>
            <a:srgbClr val="FFFFFF"/>
          </a:solidFill>
          <a:ln w="19050">
            <a:solidFill>
              <a:srgbClr val="FFB300"/>
            </a:solidFill>
            <a:prstDash val="solid"/>
          </a:ln>
          <a:effectLst>
            <a:outerShdw sx="100000" sy="100000" kx="0" ky="0" algn="bl" rotWithShape="0" blurRad="127000" dist="38100" dir="8100000">
              <a:srgbClr val="000000">
                <a:alpha val="16000"/>
              </a:srgbClr>
            </a:outerShdw>
          </a:effectLst>
        </p:spPr>
      </p:sp>
      <p:sp>
        <p:nvSpPr>
          <p:cNvPr id="30" name="Shape 28"/>
          <p:cNvSpPr/>
          <p:nvPr/>
        </p:nvSpPr>
        <p:spPr>
          <a:xfrm>
            <a:off x="2468880" y="4572000"/>
            <a:ext cx="4206240" cy="64008"/>
          </a:xfrm>
          <a:prstGeom prst="rect">
            <a:avLst/>
          </a:prstGeom>
          <a:solidFill>
            <a:srgbClr val="FFB300"/>
          </a:solidFill>
          <a:ln w="12700">
            <a:solidFill>
              <a:srgbClr val="FFB300"/>
            </a:solidFill>
            <a:prstDash val="solid"/>
          </a:ln>
        </p:spPr>
      </p:sp>
      <p:sp>
        <p:nvSpPr>
          <p:cNvPr id="31" name="Shape 29"/>
          <p:cNvSpPr/>
          <p:nvPr/>
        </p:nvSpPr>
        <p:spPr>
          <a:xfrm>
            <a:off x="2606040" y="4709160"/>
            <a:ext cx="402336" cy="402336"/>
          </a:xfrm>
          <a:prstGeom prst="ellipse">
            <a:avLst/>
          </a:prstGeom>
          <a:solidFill>
            <a:srgbClr val="FFB300"/>
          </a:solidFill>
          <a:ln w="12700">
            <a:solidFill>
              <a:srgbClr val="FFB300"/>
            </a:solidFill>
            <a:prstDash val="solid"/>
          </a:ln>
        </p:spPr>
      </p:sp>
      <p:sp>
        <p:nvSpPr>
          <p:cNvPr id="32" name="Text 30"/>
          <p:cNvSpPr/>
          <p:nvPr/>
        </p:nvSpPr>
        <p:spPr>
          <a:xfrm>
            <a:off x="2606040" y="4709160"/>
            <a:ext cx="402336" cy="402336"/>
          </a:xfrm>
          <a:prstGeom prst="rect">
            <a:avLst/>
          </a:prstGeom>
          <a:noFill/>
          <a:ln/>
        </p:spPr>
        <p:txBody>
          <a:bodyPr wrap="square" lIns="0" tIns="0" rIns="0" bIns="0" rtlCol="0" anchor="ctr"/>
          <a:lstStyle/>
          <a:p>
            <a:pPr algn="ctr" indent="0" marL="0">
              <a:buNone/>
            </a:pPr>
            <a:r>
              <a:rPr lang="en-US" sz="1600" b="1" dirty="0">
                <a:solidFill>
                  <a:srgbClr val="131A28"/>
                </a:solidFill>
              </a:rPr>
              <a:t>5</a:t>
            </a:r>
            <a:endParaRPr lang="en-US" sz="1600" dirty="0"/>
          </a:p>
        </p:txBody>
      </p:sp>
      <p:sp>
        <p:nvSpPr>
          <p:cNvPr id="33" name="Text 31"/>
          <p:cNvSpPr/>
          <p:nvPr/>
        </p:nvSpPr>
        <p:spPr>
          <a:xfrm>
            <a:off x="3108960" y="4736592"/>
            <a:ext cx="3456432" cy="310896"/>
          </a:xfrm>
          <a:prstGeom prst="rect">
            <a:avLst/>
          </a:prstGeom>
          <a:noFill/>
          <a:ln/>
        </p:spPr>
        <p:txBody>
          <a:bodyPr wrap="square" rtlCol="0" anchor="ctr"/>
          <a:lstStyle/>
          <a:p>
            <a:pPr indent="0" marL="0">
              <a:buNone/>
            </a:pPr>
            <a:r>
              <a:rPr lang="en-US" sz="1300" b="1" dirty="0">
                <a:solidFill>
                  <a:srgbClr val="131A28"/>
                </a:solidFill>
              </a:rPr>
              <a:t>Collective Outliers</a:t>
            </a:r>
            <a:endParaRPr lang="en-US" sz="1300" dirty="0"/>
          </a:p>
        </p:txBody>
      </p:sp>
      <p:sp>
        <p:nvSpPr>
          <p:cNvPr id="34" name="Text 32"/>
          <p:cNvSpPr/>
          <p:nvPr/>
        </p:nvSpPr>
        <p:spPr>
          <a:xfrm>
            <a:off x="2606040" y="5193792"/>
            <a:ext cx="3950208" cy="1024128"/>
          </a:xfrm>
          <a:prstGeom prst="rect">
            <a:avLst/>
          </a:prstGeom>
          <a:noFill/>
          <a:ln/>
        </p:spPr>
        <p:txBody>
          <a:bodyPr wrap="square" rtlCol="0" anchor="ctr"/>
          <a:lstStyle/>
          <a:p>
            <a:pPr indent="0" marL="0">
              <a:buNone/>
            </a:pPr>
            <a:r>
              <a:rPr lang="en-US" sz="1150" dirty="0">
                <a:solidFill>
                  <a:srgbClr val="445566"/>
                </a:solidFill>
              </a:rPr>
              <a:t>A GROUP of points that collectively deviate, even if individual points seem normal. Often indicates a shift in patterns — like unusual network activity sequences.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1A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CC1"/>
          </a:solidFill>
          <a:ln w="12700">
            <a:solidFill>
              <a:srgbClr val="00ACC1"/>
            </a:solidFill>
            <a:prstDash val="solid"/>
          </a:ln>
        </p:spPr>
      </p:sp>
      <p:sp>
        <p:nvSpPr>
          <p:cNvPr id="3" name="Text 1"/>
          <p:cNvSpPr/>
          <p:nvPr/>
        </p:nvSpPr>
        <p:spPr>
          <a:xfrm>
            <a:off x="457200" y="164592"/>
            <a:ext cx="8229600" cy="512064"/>
          </a:xfrm>
          <a:prstGeom prst="rect">
            <a:avLst/>
          </a:prstGeom>
          <a:noFill/>
          <a:ln/>
        </p:spPr>
        <p:txBody>
          <a:bodyPr wrap="square"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Detection Method 1: Visualization Techniques</a:t>
            </a:r>
            <a:endParaRPr lang="en-US" sz="2700" dirty="0"/>
          </a:p>
        </p:txBody>
      </p:sp>
      <p:sp>
        <p:nvSpPr>
          <p:cNvPr id="4" name="Text 2"/>
          <p:cNvSpPr/>
          <p:nvPr/>
        </p:nvSpPr>
        <p:spPr>
          <a:xfrm>
            <a:off x="457200" y="658368"/>
            <a:ext cx="8229600" cy="274320"/>
          </a:xfrm>
          <a:prstGeom prst="rect">
            <a:avLst/>
          </a:prstGeom>
          <a:noFill/>
          <a:ln/>
        </p:spPr>
        <p:txBody>
          <a:bodyPr wrap="square" rtlCol="0" anchor="ctr"/>
          <a:lstStyle/>
          <a:p>
            <a:pPr indent="0" marL="0">
              <a:buNone/>
            </a:pPr>
            <a:r>
              <a:rPr lang="en-US" sz="1300" dirty="0">
                <a:solidFill>
                  <a:srgbClr val="90A4AE"/>
                </a:solidFill>
              </a:rPr>
              <a:t>Intuitive methods for spotting extreme values by seeing the data distribution</a:t>
            </a:r>
            <a:endParaRPr lang="en-US" sz="1300" dirty="0"/>
          </a:p>
        </p:txBody>
      </p:sp>
      <p:sp>
        <p:nvSpPr>
          <p:cNvPr id="5" name="Shape 3"/>
          <p:cNvSpPr/>
          <p:nvPr/>
        </p:nvSpPr>
        <p:spPr>
          <a:xfrm>
            <a:off x="274320" y="886968"/>
            <a:ext cx="4069080" cy="4005072"/>
          </a:xfrm>
          <a:prstGeom prst="rect">
            <a:avLst/>
          </a:prstGeom>
          <a:solidFill>
            <a:srgbClr val="22304A"/>
          </a:solidFill>
          <a:ln w="19050">
            <a:solidFill>
              <a:srgbClr val="00ACC1"/>
            </a:solidFill>
            <a:prstDash val="solid"/>
          </a:ln>
        </p:spPr>
      </p:sp>
      <p:sp>
        <p:nvSpPr>
          <p:cNvPr id="6" name="Shape 4"/>
          <p:cNvSpPr/>
          <p:nvPr/>
        </p:nvSpPr>
        <p:spPr>
          <a:xfrm>
            <a:off x="274320" y="886968"/>
            <a:ext cx="4069080" cy="475488"/>
          </a:xfrm>
          <a:prstGeom prst="rect">
            <a:avLst/>
          </a:prstGeom>
          <a:solidFill>
            <a:srgbClr val="00ACC1"/>
          </a:solidFill>
          <a:ln w="12700">
            <a:solidFill>
              <a:srgbClr val="00ACC1"/>
            </a:solidFill>
            <a:prstDash val="solid"/>
          </a:ln>
        </p:spPr>
      </p:sp>
      <p:sp>
        <p:nvSpPr>
          <p:cNvPr id="7" name="Text 5"/>
          <p:cNvSpPr/>
          <p:nvPr/>
        </p:nvSpPr>
        <p:spPr>
          <a:xfrm>
            <a:off x="384048" y="886968"/>
            <a:ext cx="3849624" cy="475488"/>
          </a:xfrm>
          <a:prstGeom prst="rect">
            <a:avLst/>
          </a:prstGeom>
          <a:noFill/>
          <a:ln/>
        </p:spPr>
        <p:txBody>
          <a:bodyPr wrap="square" rtlCol="0" anchor="ctr"/>
          <a:lstStyle/>
          <a:p>
            <a:pPr indent="0" marL="0">
              <a:buNone/>
            </a:pPr>
            <a:r>
              <a:rPr lang="en-US" sz="1400" b="1" dirty="0">
                <a:solidFill>
                  <a:srgbClr val="131A28"/>
                </a:solidFill>
              </a:rPr>
              <a:t>A. Box Plot</a:t>
            </a:r>
            <a:endParaRPr lang="en-US" sz="1400" dirty="0"/>
          </a:p>
        </p:txBody>
      </p:sp>
      <p:sp>
        <p:nvSpPr>
          <p:cNvPr id="8" name="Shape 6"/>
          <p:cNvSpPr/>
          <p:nvPr/>
        </p:nvSpPr>
        <p:spPr>
          <a:xfrm>
            <a:off x="1170432" y="2167128"/>
            <a:ext cx="460858" cy="0"/>
          </a:xfrm>
          <a:prstGeom prst="line">
            <a:avLst/>
          </a:prstGeom>
          <a:noFill/>
          <a:ln w="19050">
            <a:solidFill>
              <a:srgbClr val="00ACC1"/>
            </a:solidFill>
            <a:prstDash val="solid"/>
          </a:ln>
        </p:spPr>
      </p:sp>
      <p:sp>
        <p:nvSpPr>
          <p:cNvPr id="9" name="Shape 7"/>
          <p:cNvSpPr/>
          <p:nvPr/>
        </p:nvSpPr>
        <p:spPr>
          <a:xfrm>
            <a:off x="1631290" y="1691640"/>
            <a:ext cx="0" cy="950976"/>
          </a:xfrm>
          <a:prstGeom prst="line">
            <a:avLst/>
          </a:prstGeom>
          <a:noFill/>
          <a:ln w="19050">
            <a:solidFill>
              <a:srgbClr val="00ACC1"/>
            </a:solidFill>
            <a:prstDash val="solid"/>
          </a:ln>
        </p:spPr>
      </p:sp>
      <p:sp>
        <p:nvSpPr>
          <p:cNvPr id="10" name="Shape 8"/>
          <p:cNvSpPr/>
          <p:nvPr/>
        </p:nvSpPr>
        <p:spPr>
          <a:xfrm>
            <a:off x="2757830" y="1691640"/>
            <a:ext cx="0" cy="950976"/>
          </a:xfrm>
          <a:prstGeom prst="line">
            <a:avLst/>
          </a:prstGeom>
          <a:noFill/>
          <a:ln w="19050">
            <a:solidFill>
              <a:srgbClr val="00ACC1"/>
            </a:solidFill>
            <a:prstDash val="solid"/>
          </a:ln>
        </p:spPr>
      </p:sp>
      <p:sp>
        <p:nvSpPr>
          <p:cNvPr id="11" name="Shape 9"/>
          <p:cNvSpPr/>
          <p:nvPr/>
        </p:nvSpPr>
        <p:spPr>
          <a:xfrm>
            <a:off x="2757830" y="2167128"/>
            <a:ext cx="460858" cy="0"/>
          </a:xfrm>
          <a:prstGeom prst="line">
            <a:avLst/>
          </a:prstGeom>
          <a:noFill/>
          <a:ln w="19050">
            <a:solidFill>
              <a:srgbClr val="00ACC1"/>
            </a:solidFill>
            <a:prstDash val="solid"/>
          </a:ln>
        </p:spPr>
      </p:sp>
      <p:sp>
        <p:nvSpPr>
          <p:cNvPr id="12" name="Shape 10"/>
          <p:cNvSpPr/>
          <p:nvPr/>
        </p:nvSpPr>
        <p:spPr>
          <a:xfrm>
            <a:off x="1631290" y="1691640"/>
            <a:ext cx="1126541" cy="950976"/>
          </a:xfrm>
          <a:prstGeom prst="rect">
            <a:avLst/>
          </a:prstGeom>
          <a:solidFill>
            <a:srgbClr val="00ACC1">
              <a:alpha val="25000"/>
            </a:srgbClr>
          </a:solidFill>
          <a:ln w="19050">
            <a:solidFill>
              <a:srgbClr val="00ACC1"/>
            </a:solidFill>
            <a:prstDash val="solid"/>
          </a:ln>
        </p:spPr>
      </p:sp>
      <p:sp>
        <p:nvSpPr>
          <p:cNvPr id="13" name="Shape 11"/>
          <p:cNvSpPr/>
          <p:nvPr/>
        </p:nvSpPr>
        <p:spPr>
          <a:xfrm>
            <a:off x="2143354" y="1691640"/>
            <a:ext cx="0" cy="950976"/>
          </a:xfrm>
          <a:prstGeom prst="line">
            <a:avLst/>
          </a:prstGeom>
          <a:noFill/>
          <a:ln w="25400">
            <a:solidFill>
              <a:srgbClr val="FFB300"/>
            </a:solidFill>
            <a:prstDash val="solid"/>
          </a:ln>
        </p:spPr>
      </p:sp>
      <p:sp>
        <p:nvSpPr>
          <p:cNvPr id="14" name="Shape 12"/>
          <p:cNvSpPr/>
          <p:nvPr/>
        </p:nvSpPr>
        <p:spPr>
          <a:xfrm>
            <a:off x="965606" y="2075688"/>
            <a:ext cx="182880" cy="182880"/>
          </a:xfrm>
          <a:prstGeom prst="ellipse">
            <a:avLst/>
          </a:prstGeom>
          <a:solidFill>
            <a:srgbClr val="E53935"/>
          </a:solidFill>
          <a:ln w="12700">
            <a:solidFill>
              <a:srgbClr val="E53935"/>
            </a:solidFill>
            <a:prstDash val="solid"/>
          </a:ln>
        </p:spPr>
      </p:sp>
      <p:sp>
        <p:nvSpPr>
          <p:cNvPr id="15" name="Shape 13"/>
          <p:cNvSpPr/>
          <p:nvPr/>
        </p:nvSpPr>
        <p:spPr>
          <a:xfrm>
            <a:off x="3346704" y="2075688"/>
            <a:ext cx="182880" cy="182880"/>
          </a:xfrm>
          <a:prstGeom prst="ellipse">
            <a:avLst/>
          </a:prstGeom>
          <a:solidFill>
            <a:srgbClr val="E53935"/>
          </a:solidFill>
          <a:ln w="12700">
            <a:solidFill>
              <a:srgbClr val="E53935"/>
            </a:solidFill>
            <a:prstDash val="solid"/>
          </a:ln>
        </p:spPr>
      </p:sp>
      <p:sp>
        <p:nvSpPr>
          <p:cNvPr id="16" name="Text 14"/>
          <p:cNvSpPr/>
          <p:nvPr/>
        </p:nvSpPr>
        <p:spPr>
          <a:xfrm>
            <a:off x="1585570" y="2798064"/>
            <a:ext cx="457200" cy="219456"/>
          </a:xfrm>
          <a:prstGeom prst="rect">
            <a:avLst/>
          </a:prstGeom>
          <a:noFill/>
          <a:ln/>
        </p:spPr>
        <p:txBody>
          <a:bodyPr wrap="square" rtlCol="0" anchor="ctr"/>
          <a:lstStyle/>
          <a:p>
            <a:pPr algn="ctr" indent="0" marL="0">
              <a:buNone/>
            </a:pPr>
            <a:r>
              <a:rPr lang="en-US" sz="900" dirty="0">
                <a:solidFill>
                  <a:srgbClr val="00ACC1"/>
                </a:solidFill>
              </a:rPr>
              <a:t>Q1</a:t>
            </a:r>
            <a:endParaRPr lang="en-US" sz="900" dirty="0"/>
          </a:p>
        </p:txBody>
      </p:sp>
      <p:sp>
        <p:nvSpPr>
          <p:cNvPr id="17" name="Text 15"/>
          <p:cNvSpPr/>
          <p:nvPr/>
        </p:nvSpPr>
        <p:spPr>
          <a:xfrm>
            <a:off x="2666390" y="2798064"/>
            <a:ext cx="457200" cy="219456"/>
          </a:xfrm>
          <a:prstGeom prst="rect">
            <a:avLst/>
          </a:prstGeom>
          <a:noFill/>
          <a:ln/>
        </p:spPr>
        <p:txBody>
          <a:bodyPr wrap="square" rtlCol="0" anchor="ctr"/>
          <a:lstStyle/>
          <a:p>
            <a:pPr algn="ctr" indent="0" marL="0">
              <a:buNone/>
            </a:pPr>
            <a:r>
              <a:rPr lang="en-US" sz="900" dirty="0">
                <a:solidFill>
                  <a:srgbClr val="00ACC1"/>
                </a:solidFill>
              </a:rPr>
              <a:t>Q3</a:t>
            </a:r>
            <a:endParaRPr lang="en-US" sz="900" dirty="0"/>
          </a:p>
        </p:txBody>
      </p:sp>
      <p:sp>
        <p:nvSpPr>
          <p:cNvPr id="18" name="Text 16"/>
          <p:cNvSpPr/>
          <p:nvPr/>
        </p:nvSpPr>
        <p:spPr>
          <a:xfrm>
            <a:off x="1887322" y="2798064"/>
            <a:ext cx="777240" cy="219456"/>
          </a:xfrm>
          <a:prstGeom prst="rect">
            <a:avLst/>
          </a:prstGeom>
          <a:noFill/>
          <a:ln/>
        </p:spPr>
        <p:txBody>
          <a:bodyPr wrap="square" rtlCol="0" anchor="ctr"/>
          <a:lstStyle/>
          <a:p>
            <a:pPr indent="0" marL="0">
              <a:buNone/>
            </a:pPr>
            <a:r>
              <a:rPr lang="en-US" sz="900" dirty="0">
                <a:solidFill>
                  <a:srgbClr val="FFB300"/>
                </a:solidFill>
              </a:rPr>
              <a:t>Median</a:t>
            </a:r>
            <a:endParaRPr lang="en-US" sz="900" dirty="0"/>
          </a:p>
        </p:txBody>
      </p:sp>
      <p:sp>
        <p:nvSpPr>
          <p:cNvPr id="19" name="Text 17"/>
          <p:cNvSpPr/>
          <p:nvPr/>
        </p:nvSpPr>
        <p:spPr>
          <a:xfrm>
            <a:off x="896112" y="1874520"/>
            <a:ext cx="640080" cy="219456"/>
          </a:xfrm>
          <a:prstGeom prst="rect">
            <a:avLst/>
          </a:prstGeom>
          <a:noFill/>
          <a:ln/>
        </p:spPr>
        <p:txBody>
          <a:bodyPr wrap="square" rtlCol="0" anchor="ctr"/>
          <a:lstStyle/>
          <a:p>
            <a:pPr algn="ctr" indent="0" marL="0">
              <a:buNone/>
            </a:pPr>
            <a:r>
              <a:rPr lang="en-US" sz="900" dirty="0">
                <a:solidFill>
                  <a:srgbClr val="E53935"/>
                </a:solidFill>
              </a:rPr>
              <a:t>Outlier</a:t>
            </a:r>
            <a:endParaRPr lang="en-US" sz="900" dirty="0"/>
          </a:p>
        </p:txBody>
      </p:sp>
      <p:sp>
        <p:nvSpPr>
          <p:cNvPr id="20" name="Text 18"/>
          <p:cNvSpPr/>
          <p:nvPr/>
        </p:nvSpPr>
        <p:spPr>
          <a:xfrm>
            <a:off x="3269894" y="1874520"/>
            <a:ext cx="640080" cy="219456"/>
          </a:xfrm>
          <a:prstGeom prst="rect">
            <a:avLst/>
          </a:prstGeom>
          <a:noFill/>
          <a:ln/>
        </p:spPr>
        <p:txBody>
          <a:bodyPr wrap="square" rtlCol="0" anchor="ctr"/>
          <a:lstStyle/>
          <a:p>
            <a:pPr algn="ctr" indent="0" marL="0">
              <a:buNone/>
            </a:pPr>
            <a:r>
              <a:rPr lang="en-US" sz="900" dirty="0">
                <a:solidFill>
                  <a:srgbClr val="E53935"/>
                </a:solidFill>
              </a:rPr>
              <a:t>Outlier</a:t>
            </a:r>
            <a:endParaRPr lang="en-US" sz="900" dirty="0"/>
          </a:p>
        </p:txBody>
      </p:sp>
      <p:sp>
        <p:nvSpPr>
          <p:cNvPr id="21" name="Text 19"/>
          <p:cNvSpPr/>
          <p:nvPr/>
        </p:nvSpPr>
        <p:spPr>
          <a:xfrm>
            <a:off x="1938528" y="1280160"/>
            <a:ext cx="731520" cy="237744"/>
          </a:xfrm>
          <a:prstGeom prst="rect">
            <a:avLst/>
          </a:prstGeom>
          <a:noFill/>
          <a:ln/>
        </p:spPr>
        <p:txBody>
          <a:bodyPr wrap="square" rtlCol="0" anchor="ctr"/>
          <a:lstStyle/>
          <a:p>
            <a:pPr algn="ctr" indent="0" marL="0">
              <a:buNone/>
            </a:pPr>
            <a:r>
              <a:rPr lang="en-US" sz="900" dirty="0">
                <a:solidFill>
                  <a:srgbClr val="00ACC1"/>
                </a:solidFill>
              </a:rPr>
              <a:t>IQR</a:t>
            </a:r>
            <a:endParaRPr lang="en-US" sz="900" dirty="0"/>
          </a:p>
        </p:txBody>
      </p:sp>
      <p:sp>
        <p:nvSpPr>
          <p:cNvPr id="22" name="Shape 20"/>
          <p:cNvSpPr/>
          <p:nvPr/>
        </p:nvSpPr>
        <p:spPr>
          <a:xfrm>
            <a:off x="1631290" y="1426464"/>
            <a:ext cx="1126541" cy="91440"/>
          </a:xfrm>
          <a:prstGeom prst="rect">
            <a:avLst/>
          </a:prstGeom>
          <a:solidFill>
            <a:srgbClr val="00ACC1">
              <a:alpha val="50000"/>
            </a:srgbClr>
          </a:solidFill>
          <a:ln w="7620">
            <a:solidFill>
              <a:srgbClr val="00ACC1"/>
            </a:solidFill>
            <a:prstDash val="solid"/>
          </a:ln>
        </p:spPr>
      </p:sp>
      <p:sp>
        <p:nvSpPr>
          <p:cNvPr id="23" name="Text 21"/>
          <p:cNvSpPr/>
          <p:nvPr/>
        </p:nvSpPr>
        <p:spPr>
          <a:xfrm>
            <a:off x="384048" y="3163824"/>
            <a:ext cx="3749040" cy="1664208"/>
          </a:xfrm>
          <a:prstGeom prst="rect">
            <a:avLst/>
          </a:prstGeom>
          <a:noFill/>
          <a:ln/>
        </p:spPr>
        <p:txBody>
          <a:bodyPr wrap="square" rtlCol="0" anchor="ctr"/>
          <a:lstStyle/>
          <a:p>
            <a:pPr indent="0" marL="0">
              <a:buNone/>
            </a:pPr>
            <a:r>
              <a:rPr lang="en-US" sz="1200" b="1" dirty="0">
                <a:solidFill>
                  <a:srgbClr val="00ACC1"/>
                </a:solidFill>
                <a:latin typeface="Calibri" pitchFamily="34" charset="0"/>
                <a:ea typeface="Calibri" pitchFamily="34" charset="-122"/>
                <a:cs typeface="Calibri" pitchFamily="34" charset="-120"/>
              </a:rPr>
              <a:t>How it works:
</a:t>
            </a:r>
            <a:pPr indent="0" marL="0">
              <a:buNone/>
            </a:pPr>
            <a:r>
              <a:rPr lang="en-US" sz="1200" dirty="0">
                <a:solidFill>
                  <a:srgbClr val="90A4AE"/>
                </a:solidFill>
                <a:latin typeface="Calibri" pitchFamily="34" charset="0"/>
                <a:ea typeface="Calibri" pitchFamily="34" charset="-122"/>
                <a:cs typeface="Calibri" pitchFamily="34" charset="-120"/>
              </a:rPr>
              <a:t>Any data points lying beyond the whiskers — defined as </a:t>
            </a:r>
            <a:pPr indent="0" marL="0">
              <a:buNone/>
            </a:pPr>
            <a:r>
              <a:rPr lang="en-US" sz="1200" b="1" dirty="0">
                <a:solidFill>
                  <a:srgbClr val="FFB300"/>
                </a:solidFill>
                <a:latin typeface="Calibri" pitchFamily="34" charset="0"/>
                <a:ea typeface="Calibri" pitchFamily="34" charset="-122"/>
                <a:cs typeface="Calibri" pitchFamily="34" charset="-120"/>
              </a:rPr>
              <a:t>1.5 × IQR</a:t>
            </a:r>
            <a:pPr indent="0" marL="0">
              <a:buNone/>
            </a:pPr>
            <a:r>
              <a:rPr lang="en-US" sz="1200" dirty="0">
                <a:solidFill>
                  <a:srgbClr val="90A4AE"/>
                </a:solidFill>
                <a:latin typeface="Calibri" pitchFamily="34" charset="0"/>
                <a:ea typeface="Calibri" pitchFamily="34" charset="-122"/>
                <a:cs typeface="Calibri" pitchFamily="34" charset="-120"/>
              </a:rPr>
              <a:t> from Q1 or Q3 — are considered potential outliers.
</a:t>
            </a:r>
            <a:pPr indent="0" marL="0">
              <a:buNone/>
            </a:pPr>
            <a:r>
              <a:rPr lang="en-US" sz="1200" b="1" dirty="0">
                <a:solidFill>
                  <a:srgbClr val="00ACC1"/>
                </a:solidFill>
                <a:latin typeface="Calibri" pitchFamily="34" charset="0"/>
                <a:ea typeface="Calibri" pitchFamily="34" charset="-122"/>
                <a:cs typeface="Calibri" pitchFamily="34" charset="-120"/>
              </a:rPr>
              <a:t>Best for: </a:t>
            </a:r>
            <a:pPr indent="0" marL="0">
              <a:buNone/>
            </a:pPr>
            <a:r>
              <a:rPr lang="en-US" sz="1200" dirty="0">
                <a:solidFill>
                  <a:srgbClr val="90A4AE"/>
                </a:solidFill>
                <a:latin typeface="Calibri" pitchFamily="34" charset="0"/>
                <a:ea typeface="Calibri" pitchFamily="34" charset="-122"/>
                <a:cs typeface="Calibri" pitchFamily="34" charset="-120"/>
              </a:rPr>
              <a:t>Quickly identifying extreme values in a single variable.</a:t>
            </a:r>
            <a:endParaRPr lang="en-US" sz="1200" dirty="0"/>
          </a:p>
        </p:txBody>
      </p:sp>
      <p:sp>
        <p:nvSpPr>
          <p:cNvPr id="24" name="Shape 22"/>
          <p:cNvSpPr/>
          <p:nvPr/>
        </p:nvSpPr>
        <p:spPr>
          <a:xfrm>
            <a:off x="4800600" y="886968"/>
            <a:ext cx="4069080" cy="4005072"/>
          </a:xfrm>
          <a:prstGeom prst="rect">
            <a:avLst/>
          </a:prstGeom>
          <a:solidFill>
            <a:srgbClr val="22304A"/>
          </a:solidFill>
          <a:ln w="19050">
            <a:solidFill>
              <a:srgbClr val="FF7043"/>
            </a:solidFill>
            <a:prstDash val="solid"/>
          </a:ln>
        </p:spPr>
      </p:sp>
      <p:sp>
        <p:nvSpPr>
          <p:cNvPr id="25" name="Shape 23"/>
          <p:cNvSpPr/>
          <p:nvPr/>
        </p:nvSpPr>
        <p:spPr>
          <a:xfrm>
            <a:off x="4800600" y="886968"/>
            <a:ext cx="4069080" cy="475488"/>
          </a:xfrm>
          <a:prstGeom prst="rect">
            <a:avLst/>
          </a:prstGeom>
          <a:solidFill>
            <a:srgbClr val="FF7043"/>
          </a:solidFill>
          <a:ln w="12700">
            <a:solidFill>
              <a:srgbClr val="FF7043"/>
            </a:solidFill>
            <a:prstDash val="solid"/>
          </a:ln>
        </p:spPr>
      </p:sp>
      <p:sp>
        <p:nvSpPr>
          <p:cNvPr id="26" name="Text 24"/>
          <p:cNvSpPr/>
          <p:nvPr/>
        </p:nvSpPr>
        <p:spPr>
          <a:xfrm>
            <a:off x="4910328" y="886968"/>
            <a:ext cx="3849624" cy="475488"/>
          </a:xfrm>
          <a:prstGeom prst="rect">
            <a:avLst/>
          </a:prstGeom>
          <a:noFill/>
          <a:ln/>
        </p:spPr>
        <p:txBody>
          <a:bodyPr wrap="square" rtlCol="0" anchor="ctr"/>
          <a:lstStyle/>
          <a:p>
            <a:pPr indent="0" marL="0">
              <a:buNone/>
            </a:pPr>
            <a:r>
              <a:rPr lang="en-US" sz="1400" b="1" dirty="0">
                <a:solidFill>
                  <a:srgbClr val="FFFFFF"/>
                </a:solidFill>
              </a:rPr>
              <a:t>B. Scatter Plot</a:t>
            </a:r>
            <a:endParaRPr lang="en-US" sz="1400" dirty="0"/>
          </a:p>
        </p:txBody>
      </p:sp>
      <p:sp>
        <p:nvSpPr>
          <p:cNvPr id="27" name="Shape 25"/>
          <p:cNvSpPr/>
          <p:nvPr/>
        </p:nvSpPr>
        <p:spPr>
          <a:xfrm>
            <a:off x="5120640" y="1481328"/>
            <a:ext cx="0" cy="2011680"/>
          </a:xfrm>
          <a:prstGeom prst="line">
            <a:avLst/>
          </a:prstGeom>
          <a:noFill/>
          <a:ln w="12700">
            <a:solidFill>
              <a:srgbClr val="90A4AE"/>
            </a:solidFill>
            <a:prstDash val="solid"/>
          </a:ln>
        </p:spPr>
      </p:sp>
      <p:sp>
        <p:nvSpPr>
          <p:cNvPr id="28" name="Shape 26"/>
          <p:cNvSpPr/>
          <p:nvPr/>
        </p:nvSpPr>
        <p:spPr>
          <a:xfrm>
            <a:off x="5120640" y="3493008"/>
            <a:ext cx="3520440" cy="0"/>
          </a:xfrm>
          <a:prstGeom prst="line">
            <a:avLst/>
          </a:prstGeom>
          <a:noFill/>
          <a:ln w="12700">
            <a:solidFill>
              <a:srgbClr val="90A4AE"/>
            </a:solidFill>
            <a:prstDash val="solid"/>
          </a:ln>
        </p:spPr>
      </p:sp>
      <p:sp>
        <p:nvSpPr>
          <p:cNvPr id="29" name="Text 27"/>
          <p:cNvSpPr/>
          <p:nvPr/>
        </p:nvSpPr>
        <p:spPr>
          <a:xfrm>
            <a:off x="4892040" y="1444752"/>
            <a:ext cx="274320" cy="237744"/>
          </a:xfrm>
          <a:prstGeom prst="rect">
            <a:avLst/>
          </a:prstGeom>
          <a:noFill/>
          <a:ln/>
        </p:spPr>
        <p:txBody>
          <a:bodyPr wrap="square" rtlCol="0" anchor="ctr"/>
          <a:lstStyle/>
          <a:p>
            <a:pPr algn="ctr" indent="0" marL="0">
              <a:buNone/>
            </a:pPr>
            <a:r>
              <a:rPr lang="en-US" sz="900" dirty="0">
                <a:solidFill>
                  <a:srgbClr val="90A4AE"/>
                </a:solidFill>
              </a:rPr>
              <a:t>IQ</a:t>
            </a:r>
            <a:endParaRPr lang="en-US" sz="900" dirty="0"/>
          </a:p>
        </p:txBody>
      </p:sp>
      <p:sp>
        <p:nvSpPr>
          <p:cNvPr id="30" name="Text 28"/>
          <p:cNvSpPr/>
          <p:nvPr/>
        </p:nvSpPr>
        <p:spPr>
          <a:xfrm>
            <a:off x="8485632" y="3429000"/>
            <a:ext cx="640080" cy="201168"/>
          </a:xfrm>
          <a:prstGeom prst="rect">
            <a:avLst/>
          </a:prstGeom>
          <a:noFill/>
          <a:ln/>
        </p:spPr>
        <p:txBody>
          <a:bodyPr wrap="square" rtlCol="0" anchor="ctr"/>
          <a:lstStyle/>
          <a:p>
            <a:pPr indent="0" marL="0">
              <a:buNone/>
            </a:pPr>
            <a:r>
              <a:rPr lang="en-US" sz="900" dirty="0">
                <a:solidFill>
                  <a:srgbClr val="90A4AE"/>
                </a:solidFill>
              </a:rPr>
              <a:t>Index</a:t>
            </a:r>
            <a:endParaRPr lang="en-US" sz="900" dirty="0"/>
          </a:p>
        </p:txBody>
      </p:sp>
      <p:sp>
        <p:nvSpPr>
          <p:cNvPr id="31" name="Shape 29"/>
          <p:cNvSpPr/>
          <p:nvPr/>
        </p:nvSpPr>
        <p:spPr>
          <a:xfrm>
            <a:off x="5367528" y="3035808"/>
            <a:ext cx="146304" cy="146304"/>
          </a:xfrm>
          <a:prstGeom prst="ellipse">
            <a:avLst/>
          </a:prstGeom>
          <a:solidFill>
            <a:srgbClr val="00ACC1"/>
          </a:solidFill>
          <a:ln w="12700">
            <a:solidFill>
              <a:srgbClr val="00ACC1"/>
            </a:solidFill>
            <a:prstDash val="solid"/>
          </a:ln>
        </p:spPr>
      </p:sp>
      <p:sp>
        <p:nvSpPr>
          <p:cNvPr id="32" name="Shape 30"/>
          <p:cNvSpPr/>
          <p:nvPr/>
        </p:nvSpPr>
        <p:spPr>
          <a:xfrm>
            <a:off x="5687568" y="2871216"/>
            <a:ext cx="146304" cy="146304"/>
          </a:xfrm>
          <a:prstGeom prst="ellipse">
            <a:avLst/>
          </a:prstGeom>
          <a:solidFill>
            <a:srgbClr val="00ACC1"/>
          </a:solidFill>
          <a:ln w="12700">
            <a:solidFill>
              <a:srgbClr val="00ACC1"/>
            </a:solidFill>
            <a:prstDash val="solid"/>
          </a:ln>
        </p:spPr>
      </p:sp>
      <p:sp>
        <p:nvSpPr>
          <p:cNvPr id="33" name="Shape 31"/>
          <p:cNvSpPr/>
          <p:nvPr/>
        </p:nvSpPr>
        <p:spPr>
          <a:xfrm>
            <a:off x="6007608" y="2944368"/>
            <a:ext cx="146304" cy="146304"/>
          </a:xfrm>
          <a:prstGeom prst="ellipse">
            <a:avLst/>
          </a:prstGeom>
          <a:solidFill>
            <a:srgbClr val="00ACC1"/>
          </a:solidFill>
          <a:ln w="12700">
            <a:solidFill>
              <a:srgbClr val="00ACC1"/>
            </a:solidFill>
            <a:prstDash val="solid"/>
          </a:ln>
        </p:spPr>
      </p:sp>
      <p:sp>
        <p:nvSpPr>
          <p:cNvPr id="34" name="Shape 32"/>
          <p:cNvSpPr/>
          <p:nvPr/>
        </p:nvSpPr>
        <p:spPr>
          <a:xfrm>
            <a:off x="6327648" y="2834640"/>
            <a:ext cx="146304" cy="146304"/>
          </a:xfrm>
          <a:prstGeom prst="ellipse">
            <a:avLst/>
          </a:prstGeom>
          <a:solidFill>
            <a:srgbClr val="00ACC1"/>
          </a:solidFill>
          <a:ln w="12700">
            <a:solidFill>
              <a:srgbClr val="00ACC1"/>
            </a:solidFill>
            <a:prstDash val="solid"/>
          </a:ln>
        </p:spPr>
      </p:sp>
      <p:sp>
        <p:nvSpPr>
          <p:cNvPr id="35" name="Shape 33"/>
          <p:cNvSpPr/>
          <p:nvPr/>
        </p:nvSpPr>
        <p:spPr>
          <a:xfrm>
            <a:off x="6647688" y="2926080"/>
            <a:ext cx="146304" cy="146304"/>
          </a:xfrm>
          <a:prstGeom prst="ellipse">
            <a:avLst/>
          </a:prstGeom>
          <a:solidFill>
            <a:srgbClr val="00ACC1"/>
          </a:solidFill>
          <a:ln w="12700">
            <a:solidFill>
              <a:srgbClr val="00ACC1"/>
            </a:solidFill>
            <a:prstDash val="solid"/>
          </a:ln>
        </p:spPr>
      </p:sp>
      <p:sp>
        <p:nvSpPr>
          <p:cNvPr id="36" name="Shape 34"/>
          <p:cNvSpPr/>
          <p:nvPr/>
        </p:nvSpPr>
        <p:spPr>
          <a:xfrm>
            <a:off x="6967728" y="2779776"/>
            <a:ext cx="146304" cy="146304"/>
          </a:xfrm>
          <a:prstGeom prst="ellipse">
            <a:avLst/>
          </a:prstGeom>
          <a:solidFill>
            <a:srgbClr val="00ACC1"/>
          </a:solidFill>
          <a:ln w="12700">
            <a:solidFill>
              <a:srgbClr val="00ACC1"/>
            </a:solidFill>
            <a:prstDash val="solid"/>
          </a:ln>
        </p:spPr>
      </p:sp>
      <p:sp>
        <p:nvSpPr>
          <p:cNvPr id="37" name="Shape 35"/>
          <p:cNvSpPr/>
          <p:nvPr/>
        </p:nvSpPr>
        <p:spPr>
          <a:xfrm>
            <a:off x="7287768" y="2871216"/>
            <a:ext cx="146304" cy="146304"/>
          </a:xfrm>
          <a:prstGeom prst="ellipse">
            <a:avLst/>
          </a:prstGeom>
          <a:solidFill>
            <a:srgbClr val="00ACC1"/>
          </a:solidFill>
          <a:ln w="12700">
            <a:solidFill>
              <a:srgbClr val="00ACC1"/>
            </a:solidFill>
            <a:prstDash val="solid"/>
          </a:ln>
        </p:spPr>
      </p:sp>
      <p:sp>
        <p:nvSpPr>
          <p:cNvPr id="38" name="Shape 36"/>
          <p:cNvSpPr/>
          <p:nvPr/>
        </p:nvSpPr>
        <p:spPr>
          <a:xfrm>
            <a:off x="7607808" y="2816352"/>
            <a:ext cx="146304" cy="146304"/>
          </a:xfrm>
          <a:prstGeom prst="ellipse">
            <a:avLst/>
          </a:prstGeom>
          <a:solidFill>
            <a:srgbClr val="00ACC1"/>
          </a:solidFill>
          <a:ln w="12700">
            <a:solidFill>
              <a:srgbClr val="00ACC1"/>
            </a:solidFill>
            <a:prstDash val="solid"/>
          </a:ln>
        </p:spPr>
      </p:sp>
      <p:sp>
        <p:nvSpPr>
          <p:cNvPr id="39" name="Shape 37"/>
          <p:cNvSpPr/>
          <p:nvPr/>
        </p:nvSpPr>
        <p:spPr>
          <a:xfrm>
            <a:off x="7927848" y="2898648"/>
            <a:ext cx="146304" cy="146304"/>
          </a:xfrm>
          <a:prstGeom prst="ellipse">
            <a:avLst/>
          </a:prstGeom>
          <a:solidFill>
            <a:srgbClr val="00ACC1"/>
          </a:solidFill>
          <a:ln w="12700">
            <a:solidFill>
              <a:srgbClr val="00ACC1"/>
            </a:solidFill>
            <a:prstDash val="solid"/>
          </a:ln>
        </p:spPr>
      </p:sp>
      <p:sp>
        <p:nvSpPr>
          <p:cNvPr id="40" name="Shape 38"/>
          <p:cNvSpPr/>
          <p:nvPr/>
        </p:nvSpPr>
        <p:spPr>
          <a:xfrm>
            <a:off x="8247888" y="2834640"/>
            <a:ext cx="146304" cy="146304"/>
          </a:xfrm>
          <a:prstGeom prst="ellipse">
            <a:avLst/>
          </a:prstGeom>
          <a:solidFill>
            <a:srgbClr val="00ACC1"/>
          </a:solidFill>
          <a:ln w="12700">
            <a:solidFill>
              <a:srgbClr val="00ACC1"/>
            </a:solidFill>
            <a:prstDash val="solid"/>
          </a:ln>
        </p:spPr>
      </p:sp>
      <p:sp>
        <p:nvSpPr>
          <p:cNvPr id="41" name="Shape 39"/>
          <p:cNvSpPr/>
          <p:nvPr/>
        </p:nvSpPr>
        <p:spPr>
          <a:xfrm>
            <a:off x="5312664" y="1719072"/>
            <a:ext cx="256032" cy="256032"/>
          </a:xfrm>
          <a:prstGeom prst="ellipse">
            <a:avLst/>
          </a:prstGeom>
          <a:solidFill>
            <a:srgbClr val="E53935"/>
          </a:solidFill>
          <a:ln w="12700">
            <a:solidFill>
              <a:srgbClr val="E53935"/>
            </a:solidFill>
            <a:prstDash val="solid"/>
          </a:ln>
        </p:spPr>
      </p:sp>
      <p:sp>
        <p:nvSpPr>
          <p:cNvPr id="42" name="Shape 40"/>
          <p:cNvSpPr/>
          <p:nvPr/>
        </p:nvSpPr>
        <p:spPr>
          <a:xfrm>
            <a:off x="8193024" y="1408176"/>
            <a:ext cx="256032" cy="256032"/>
          </a:xfrm>
          <a:prstGeom prst="ellipse">
            <a:avLst/>
          </a:prstGeom>
          <a:solidFill>
            <a:srgbClr val="E53935"/>
          </a:solidFill>
          <a:ln w="12700">
            <a:solidFill>
              <a:srgbClr val="E53935"/>
            </a:solidFill>
            <a:prstDash val="solid"/>
          </a:ln>
        </p:spPr>
      </p:sp>
      <p:sp>
        <p:nvSpPr>
          <p:cNvPr id="43" name="Text 41"/>
          <p:cNvSpPr/>
          <p:nvPr/>
        </p:nvSpPr>
        <p:spPr>
          <a:xfrm>
            <a:off x="8339328" y="1261872"/>
            <a:ext cx="502920" cy="219456"/>
          </a:xfrm>
          <a:prstGeom prst="rect">
            <a:avLst/>
          </a:prstGeom>
          <a:noFill/>
          <a:ln/>
        </p:spPr>
        <p:txBody>
          <a:bodyPr wrap="square" rtlCol="0" anchor="ctr"/>
          <a:lstStyle/>
          <a:p>
            <a:pPr indent="0" marL="0">
              <a:buNone/>
            </a:pPr>
            <a:r>
              <a:rPr lang="en-US" sz="850" dirty="0">
                <a:solidFill>
                  <a:srgbClr val="E53935"/>
                </a:solidFill>
              </a:rPr>
              <a:t>150</a:t>
            </a:r>
            <a:endParaRPr lang="en-US" sz="850" dirty="0"/>
          </a:p>
        </p:txBody>
      </p:sp>
      <p:sp>
        <p:nvSpPr>
          <p:cNvPr id="44" name="Text 42"/>
          <p:cNvSpPr/>
          <p:nvPr/>
        </p:nvSpPr>
        <p:spPr>
          <a:xfrm>
            <a:off x="5413248" y="1572768"/>
            <a:ext cx="365760" cy="219456"/>
          </a:xfrm>
          <a:prstGeom prst="rect">
            <a:avLst/>
          </a:prstGeom>
          <a:noFill/>
          <a:ln/>
        </p:spPr>
        <p:txBody>
          <a:bodyPr wrap="square" rtlCol="0" anchor="ctr"/>
          <a:lstStyle/>
          <a:p>
            <a:pPr indent="0" marL="0">
              <a:buNone/>
            </a:pPr>
            <a:r>
              <a:rPr lang="en-US" sz="850" dirty="0">
                <a:solidFill>
                  <a:srgbClr val="E53935"/>
                </a:solidFill>
              </a:rPr>
              <a:t>72</a:t>
            </a:r>
            <a:endParaRPr lang="en-US" sz="850" dirty="0"/>
          </a:p>
        </p:txBody>
      </p:sp>
      <p:sp>
        <p:nvSpPr>
          <p:cNvPr id="45" name="Text 43"/>
          <p:cNvSpPr/>
          <p:nvPr/>
        </p:nvSpPr>
        <p:spPr>
          <a:xfrm>
            <a:off x="5138928" y="3529584"/>
            <a:ext cx="457200" cy="182880"/>
          </a:xfrm>
          <a:prstGeom prst="rect">
            <a:avLst/>
          </a:prstGeom>
          <a:noFill/>
          <a:ln/>
        </p:spPr>
        <p:txBody>
          <a:bodyPr wrap="square" rtlCol="0" anchor="ctr"/>
          <a:lstStyle/>
          <a:p>
            <a:pPr indent="0" marL="0">
              <a:buNone/>
            </a:pPr>
            <a:r>
              <a:rPr lang="en-US" sz="800" dirty="0">
                <a:solidFill>
                  <a:srgbClr val="90A4AE"/>
                </a:solidFill>
              </a:rPr>
              <a:t>95</a:t>
            </a:r>
            <a:endParaRPr lang="en-US" sz="800" dirty="0"/>
          </a:p>
        </p:txBody>
      </p:sp>
      <p:sp>
        <p:nvSpPr>
          <p:cNvPr id="46" name="Text 44"/>
          <p:cNvSpPr/>
          <p:nvPr/>
        </p:nvSpPr>
        <p:spPr>
          <a:xfrm>
            <a:off x="5943600" y="3529584"/>
            <a:ext cx="457200" cy="182880"/>
          </a:xfrm>
          <a:prstGeom prst="rect">
            <a:avLst/>
          </a:prstGeom>
          <a:noFill/>
          <a:ln/>
        </p:spPr>
        <p:txBody>
          <a:bodyPr wrap="square" rtlCol="0" anchor="ctr"/>
          <a:lstStyle/>
          <a:p>
            <a:pPr indent="0" marL="0">
              <a:buNone/>
            </a:pPr>
            <a:r>
              <a:rPr lang="en-US" sz="800" dirty="0">
                <a:solidFill>
                  <a:srgbClr val="90A4AE"/>
                </a:solidFill>
              </a:rPr>
              <a:t>100</a:t>
            </a:r>
            <a:endParaRPr lang="en-US" sz="800" dirty="0"/>
          </a:p>
        </p:txBody>
      </p:sp>
      <p:sp>
        <p:nvSpPr>
          <p:cNvPr id="47" name="Text 45"/>
          <p:cNvSpPr/>
          <p:nvPr/>
        </p:nvSpPr>
        <p:spPr>
          <a:xfrm>
            <a:off x="6748272" y="3529584"/>
            <a:ext cx="457200" cy="182880"/>
          </a:xfrm>
          <a:prstGeom prst="rect">
            <a:avLst/>
          </a:prstGeom>
          <a:noFill/>
          <a:ln/>
        </p:spPr>
        <p:txBody>
          <a:bodyPr wrap="square" rtlCol="0" anchor="ctr"/>
          <a:lstStyle/>
          <a:p>
            <a:pPr indent="0" marL="0">
              <a:buNone/>
            </a:pPr>
            <a:r>
              <a:rPr lang="en-US" sz="800" dirty="0">
                <a:solidFill>
                  <a:srgbClr val="90A4AE"/>
                </a:solidFill>
              </a:rPr>
              <a:t>105</a:t>
            </a:r>
            <a:endParaRPr lang="en-US" sz="800" dirty="0"/>
          </a:p>
        </p:txBody>
      </p:sp>
      <p:sp>
        <p:nvSpPr>
          <p:cNvPr id="48" name="Text 46"/>
          <p:cNvSpPr/>
          <p:nvPr/>
        </p:nvSpPr>
        <p:spPr>
          <a:xfrm>
            <a:off x="7552944" y="3529584"/>
            <a:ext cx="457200" cy="182880"/>
          </a:xfrm>
          <a:prstGeom prst="rect">
            <a:avLst/>
          </a:prstGeom>
          <a:noFill/>
          <a:ln/>
        </p:spPr>
        <p:txBody>
          <a:bodyPr wrap="square" rtlCol="0" anchor="ctr"/>
          <a:lstStyle/>
          <a:p>
            <a:pPr indent="0" marL="0">
              <a:buNone/>
            </a:pPr>
            <a:r>
              <a:rPr lang="en-US" sz="800" dirty="0">
                <a:solidFill>
                  <a:srgbClr val="90A4AE"/>
                </a:solidFill>
              </a:rPr>
              <a:t>110</a:t>
            </a:r>
            <a:endParaRPr lang="en-US" sz="800" dirty="0"/>
          </a:p>
        </p:txBody>
      </p:sp>
      <p:sp>
        <p:nvSpPr>
          <p:cNvPr id="49" name="Text 47"/>
          <p:cNvSpPr/>
          <p:nvPr/>
        </p:nvSpPr>
        <p:spPr>
          <a:xfrm>
            <a:off x="4910328" y="3163824"/>
            <a:ext cx="3749040" cy="1664208"/>
          </a:xfrm>
          <a:prstGeom prst="rect">
            <a:avLst/>
          </a:prstGeom>
          <a:noFill/>
          <a:ln/>
        </p:spPr>
        <p:txBody>
          <a:bodyPr wrap="square" rtlCol="0" anchor="ctr"/>
          <a:lstStyle/>
          <a:p>
            <a:pPr indent="0" marL="0">
              <a:buNone/>
            </a:pPr>
            <a:r>
              <a:rPr lang="en-US" sz="1200" b="1" dirty="0">
                <a:solidFill>
                  <a:srgbClr val="FF7043"/>
                </a:solidFill>
                <a:latin typeface="Calibri" pitchFamily="34" charset="0"/>
                <a:ea typeface="Calibri" pitchFamily="34" charset="-122"/>
                <a:cs typeface="Calibri" pitchFamily="34" charset="-120"/>
              </a:rPr>
              <a:t>How it works:
</a:t>
            </a:r>
            <a:pPr indent="0" marL="0">
              <a:buNone/>
            </a:pPr>
            <a:r>
              <a:rPr lang="en-US" sz="1200" dirty="0">
                <a:solidFill>
                  <a:srgbClr val="90A4AE"/>
                </a:solidFill>
                <a:latin typeface="Calibri" pitchFamily="34" charset="0"/>
                <a:ea typeface="Calibri" pitchFamily="34" charset="-122"/>
                <a:cs typeface="Calibri" pitchFamily="34" charset="-120"/>
              </a:rPr>
              <a:t>Plots data points as dots — outliers appear as points that </a:t>
            </a:r>
            <a:pPr indent="0" marL="0">
              <a:buNone/>
            </a:pPr>
            <a:r>
              <a:rPr lang="en-US" sz="1200" b="1" dirty="0">
                <a:solidFill>
                  <a:srgbClr val="FF7043"/>
                </a:solidFill>
                <a:latin typeface="Calibri" pitchFamily="34" charset="0"/>
                <a:ea typeface="Calibri" pitchFamily="34" charset="-122"/>
                <a:cs typeface="Calibri" pitchFamily="34" charset="-120"/>
              </a:rPr>
              <a:t>deviate significantly</a:t>
            </a:r>
            <a:pPr indent="0" marL="0">
              <a:buNone/>
            </a:pPr>
            <a:r>
              <a:rPr lang="en-US" sz="1200" dirty="0">
                <a:solidFill>
                  <a:srgbClr val="90A4AE"/>
                </a:solidFill>
                <a:latin typeface="Calibri" pitchFamily="34" charset="0"/>
                <a:ea typeface="Calibri" pitchFamily="34" charset="-122"/>
                <a:cs typeface="Calibri" pitchFamily="34" charset="-120"/>
              </a:rPr>
              <a:t> from the general pattern or trend.
</a:t>
            </a:r>
            <a:pPr indent="0" marL="0">
              <a:buNone/>
            </a:pPr>
            <a:r>
              <a:rPr lang="en-US" sz="1200" b="1" dirty="0">
                <a:solidFill>
                  <a:srgbClr val="FF7043"/>
                </a:solidFill>
                <a:latin typeface="Calibri" pitchFamily="34" charset="0"/>
                <a:ea typeface="Calibri" pitchFamily="34" charset="-122"/>
                <a:cs typeface="Calibri" pitchFamily="34" charset="-120"/>
              </a:rPr>
              <a:t>Best for: </a:t>
            </a:r>
            <a:pPr indent="0" marL="0">
              <a:buNone/>
            </a:pPr>
            <a:r>
              <a:rPr lang="en-US" sz="1200" dirty="0">
                <a:solidFill>
                  <a:srgbClr val="90A4AE"/>
                </a:solidFill>
                <a:latin typeface="Calibri" pitchFamily="34" charset="0"/>
                <a:ea typeface="Calibri" pitchFamily="34" charset="-122"/>
                <a:cs typeface="Calibri" pitchFamily="34" charset="-120"/>
              </a:rPr>
              <a:t>Exploring relationships between two variables and spotting extreme combinations.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31A28"/>
          </a:solidFill>
          <a:ln w="12700">
            <a:solidFill>
              <a:srgbClr val="131A28"/>
            </a:solidFill>
            <a:prstDash val="solid"/>
          </a:ln>
        </p:spPr>
      </p:sp>
      <p:sp>
        <p:nvSpPr>
          <p:cNvPr id="3" name="Shape 1"/>
          <p:cNvSpPr/>
          <p:nvPr/>
        </p:nvSpPr>
        <p:spPr>
          <a:xfrm>
            <a:off x="0" y="594360"/>
            <a:ext cx="9144000" cy="64008"/>
          </a:xfrm>
          <a:prstGeom prst="rect">
            <a:avLst/>
          </a:prstGeom>
          <a:solidFill>
            <a:srgbClr val="7E57C2"/>
          </a:solidFill>
          <a:ln w="12700">
            <a:solidFill>
              <a:srgbClr val="7E57C2"/>
            </a:solidFill>
            <a:prstDash val="solid"/>
          </a:ln>
        </p:spPr>
      </p:sp>
      <p:sp>
        <p:nvSpPr>
          <p:cNvPr id="4" name="Text 2"/>
          <p:cNvSpPr/>
          <p:nvPr/>
        </p:nvSpPr>
        <p:spPr>
          <a:xfrm>
            <a:off x="457200" y="91440"/>
            <a:ext cx="8229600" cy="45720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Detection Method 2: Statistical Methods</a:t>
            </a:r>
            <a:endParaRPr lang="en-US" sz="2200" dirty="0"/>
          </a:p>
        </p:txBody>
      </p:sp>
      <p:sp>
        <p:nvSpPr>
          <p:cNvPr id="5" name="Shape 3"/>
          <p:cNvSpPr/>
          <p:nvPr/>
        </p:nvSpPr>
        <p:spPr>
          <a:xfrm>
            <a:off x="320040" y="822960"/>
            <a:ext cx="4297680" cy="1993392"/>
          </a:xfrm>
          <a:prstGeom prst="rect">
            <a:avLst/>
          </a:prstGeom>
          <a:solidFill>
            <a:srgbClr val="FFFFFF"/>
          </a:solidFill>
          <a:ln w="19050">
            <a:solidFill>
              <a:srgbClr val="E53935"/>
            </a:solidFill>
            <a:prstDash val="solid"/>
          </a:ln>
          <a:effectLst>
            <a:outerShdw sx="100000" sy="100000" kx="0" ky="0" algn="bl" rotWithShape="0" blurRad="127000" dist="38100" dir="8100000">
              <a:srgbClr val="000000">
                <a:alpha val="16000"/>
              </a:srgbClr>
            </a:outerShdw>
          </a:effectLst>
        </p:spPr>
      </p:sp>
      <p:sp>
        <p:nvSpPr>
          <p:cNvPr id="6" name="Shape 4"/>
          <p:cNvSpPr/>
          <p:nvPr/>
        </p:nvSpPr>
        <p:spPr>
          <a:xfrm>
            <a:off x="320040" y="822960"/>
            <a:ext cx="4297680" cy="64008"/>
          </a:xfrm>
          <a:prstGeom prst="rect">
            <a:avLst/>
          </a:prstGeom>
          <a:solidFill>
            <a:srgbClr val="E53935"/>
          </a:solidFill>
          <a:ln w="12700">
            <a:solidFill>
              <a:srgbClr val="E53935"/>
            </a:solidFill>
            <a:prstDash val="solid"/>
          </a:ln>
        </p:spPr>
      </p:sp>
      <p:sp>
        <p:nvSpPr>
          <p:cNvPr id="7" name="Shape 5"/>
          <p:cNvSpPr/>
          <p:nvPr/>
        </p:nvSpPr>
        <p:spPr>
          <a:xfrm>
            <a:off x="429768" y="932688"/>
            <a:ext cx="384048" cy="384048"/>
          </a:xfrm>
          <a:prstGeom prst="ellipse">
            <a:avLst/>
          </a:prstGeom>
          <a:solidFill>
            <a:srgbClr val="E53935"/>
          </a:solidFill>
          <a:ln w="12700">
            <a:solidFill>
              <a:srgbClr val="E53935"/>
            </a:solidFill>
            <a:prstDash val="solid"/>
          </a:ln>
        </p:spPr>
      </p:sp>
      <p:sp>
        <p:nvSpPr>
          <p:cNvPr id="8" name="Text 6"/>
          <p:cNvSpPr/>
          <p:nvPr/>
        </p:nvSpPr>
        <p:spPr>
          <a:xfrm>
            <a:off x="429768" y="9326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A</a:t>
            </a:r>
            <a:endParaRPr lang="en-US" sz="1500" dirty="0"/>
          </a:p>
        </p:txBody>
      </p:sp>
      <p:sp>
        <p:nvSpPr>
          <p:cNvPr id="9" name="Text 7"/>
          <p:cNvSpPr/>
          <p:nvPr/>
        </p:nvSpPr>
        <p:spPr>
          <a:xfrm>
            <a:off x="914400" y="950976"/>
            <a:ext cx="3566160" cy="310896"/>
          </a:xfrm>
          <a:prstGeom prst="rect">
            <a:avLst/>
          </a:prstGeom>
          <a:noFill/>
          <a:ln/>
        </p:spPr>
        <p:txBody>
          <a:bodyPr wrap="square" rtlCol="0" anchor="ctr"/>
          <a:lstStyle/>
          <a:p>
            <a:pPr indent="0" marL="0">
              <a:buNone/>
            </a:pPr>
            <a:r>
              <a:rPr lang="en-US" sz="1350" b="1" dirty="0">
                <a:solidFill>
                  <a:srgbClr val="131A28"/>
                </a:solidFill>
              </a:rPr>
              <a:t>Z-Score Method</a:t>
            </a:r>
            <a:endParaRPr lang="en-US" sz="1350" dirty="0"/>
          </a:p>
        </p:txBody>
      </p:sp>
      <p:sp>
        <p:nvSpPr>
          <p:cNvPr id="10" name="Shape 8"/>
          <p:cNvSpPr/>
          <p:nvPr/>
        </p:nvSpPr>
        <p:spPr>
          <a:xfrm>
            <a:off x="429768" y="1389888"/>
            <a:ext cx="2084832" cy="347472"/>
          </a:xfrm>
          <a:prstGeom prst="rect">
            <a:avLst/>
          </a:prstGeom>
          <a:solidFill>
            <a:srgbClr val="131A28"/>
          </a:solidFill>
          <a:ln w="12700">
            <a:solidFill>
              <a:srgbClr val="131A28"/>
            </a:solidFill>
            <a:prstDash val="solid"/>
          </a:ln>
        </p:spPr>
      </p:sp>
      <p:sp>
        <p:nvSpPr>
          <p:cNvPr id="11" name="Text 9"/>
          <p:cNvSpPr/>
          <p:nvPr/>
        </p:nvSpPr>
        <p:spPr>
          <a:xfrm>
            <a:off x="429768" y="1389888"/>
            <a:ext cx="2084832" cy="347472"/>
          </a:xfrm>
          <a:prstGeom prst="rect">
            <a:avLst/>
          </a:prstGeom>
          <a:noFill/>
          <a:ln/>
        </p:spPr>
        <p:txBody>
          <a:bodyPr wrap="square" rtlCol="0" anchor="ctr"/>
          <a:lstStyle/>
          <a:p>
            <a:pPr algn="ctr" indent="0" marL="0">
              <a:buNone/>
            </a:pPr>
            <a:r>
              <a:rPr lang="en-US" sz="950" dirty="0">
                <a:solidFill>
                  <a:srgbClr val="E53935"/>
                </a:solidFill>
                <a:latin typeface="Consolas" pitchFamily="34" charset="0"/>
                <a:ea typeface="Consolas" pitchFamily="34" charset="-122"/>
                <a:cs typeface="Consolas" pitchFamily="34" charset="-120"/>
              </a:rPr>
              <a:t>Z = (x - μ) / σ</a:t>
            </a:r>
            <a:endParaRPr lang="en-US" sz="950" dirty="0"/>
          </a:p>
        </p:txBody>
      </p:sp>
      <p:sp>
        <p:nvSpPr>
          <p:cNvPr id="12" name="Shape 10"/>
          <p:cNvSpPr/>
          <p:nvPr/>
        </p:nvSpPr>
        <p:spPr>
          <a:xfrm>
            <a:off x="2606040" y="1389888"/>
            <a:ext cx="1901952" cy="347472"/>
          </a:xfrm>
          <a:prstGeom prst="roundRect">
            <a:avLst>
              <a:gd name="adj" fmla="val 15789"/>
            </a:avLst>
          </a:prstGeom>
          <a:solidFill>
            <a:srgbClr val="E53935">
              <a:alpha val="15000"/>
            </a:srgbClr>
          </a:solidFill>
          <a:ln w="12700">
            <a:solidFill>
              <a:srgbClr val="E53935"/>
            </a:solidFill>
            <a:prstDash val="solid"/>
          </a:ln>
        </p:spPr>
      </p:sp>
      <p:sp>
        <p:nvSpPr>
          <p:cNvPr id="13" name="Text 11"/>
          <p:cNvSpPr/>
          <p:nvPr/>
        </p:nvSpPr>
        <p:spPr>
          <a:xfrm>
            <a:off x="2606040" y="1389888"/>
            <a:ext cx="1901952" cy="347472"/>
          </a:xfrm>
          <a:prstGeom prst="rect">
            <a:avLst/>
          </a:prstGeom>
          <a:noFill/>
          <a:ln/>
        </p:spPr>
        <p:txBody>
          <a:bodyPr wrap="square" rtlCol="0" anchor="ctr"/>
          <a:lstStyle/>
          <a:p>
            <a:pPr algn="ctr" indent="0" marL="0">
              <a:buNone/>
            </a:pPr>
            <a:r>
              <a:rPr lang="en-US" sz="900" b="1" dirty="0">
                <a:solidFill>
                  <a:srgbClr val="E53935"/>
                </a:solidFill>
                <a:latin typeface="Consolas" pitchFamily="34" charset="0"/>
                <a:ea typeface="Consolas" pitchFamily="34" charset="-122"/>
                <a:cs typeface="Consolas" pitchFamily="34" charset="-120"/>
              </a:rPr>
              <a:t>Z &gt; +3  or  Z &lt; -3  →  Outlier</a:t>
            </a:r>
            <a:endParaRPr lang="en-US" sz="900" dirty="0"/>
          </a:p>
        </p:txBody>
      </p:sp>
      <p:sp>
        <p:nvSpPr>
          <p:cNvPr id="14" name="Text 12"/>
          <p:cNvSpPr/>
          <p:nvPr/>
        </p:nvSpPr>
        <p:spPr>
          <a:xfrm>
            <a:off x="429768" y="1810512"/>
            <a:ext cx="4059936" cy="530352"/>
          </a:xfrm>
          <a:prstGeom prst="rect">
            <a:avLst/>
          </a:prstGeom>
          <a:noFill/>
          <a:ln/>
        </p:spPr>
        <p:txBody>
          <a:bodyPr wrap="square" rtlCol="0" anchor="ctr"/>
          <a:lstStyle/>
          <a:p>
            <a:pPr indent="0" marL="0">
              <a:buNone/>
            </a:pPr>
            <a:r>
              <a:rPr lang="en-US" sz="1100" dirty="0">
                <a:solidFill>
                  <a:srgbClr val="334455"/>
                </a:solidFill>
              </a:rPr>
              <a:t>Measures how many standard deviations a data point is from the mean. Values beyond ±3 standard deviations are treated as outliers.</a:t>
            </a:r>
            <a:endParaRPr lang="en-US" sz="1100" dirty="0"/>
          </a:p>
        </p:txBody>
      </p:sp>
      <p:sp>
        <p:nvSpPr>
          <p:cNvPr id="15" name="Shape 13"/>
          <p:cNvSpPr/>
          <p:nvPr/>
        </p:nvSpPr>
        <p:spPr>
          <a:xfrm>
            <a:off x="429768" y="2395728"/>
            <a:ext cx="146304" cy="146304"/>
          </a:xfrm>
          <a:prstGeom prst="ellipse">
            <a:avLst/>
          </a:prstGeom>
          <a:solidFill>
            <a:srgbClr val="E53935"/>
          </a:solidFill>
          <a:ln w="12700">
            <a:solidFill>
              <a:srgbClr val="E53935"/>
            </a:solidFill>
            <a:prstDash val="solid"/>
          </a:ln>
        </p:spPr>
      </p:sp>
      <p:sp>
        <p:nvSpPr>
          <p:cNvPr id="16" name="Text 14"/>
          <p:cNvSpPr/>
          <p:nvPr/>
        </p:nvSpPr>
        <p:spPr>
          <a:xfrm>
            <a:off x="640080" y="2377440"/>
            <a:ext cx="3858768" cy="219456"/>
          </a:xfrm>
          <a:prstGeom prst="rect">
            <a:avLst/>
          </a:prstGeom>
          <a:noFill/>
          <a:ln/>
        </p:spPr>
        <p:txBody>
          <a:bodyPr wrap="square" rtlCol="0" anchor="ctr"/>
          <a:lstStyle/>
          <a:p>
            <a:pPr indent="0" marL="0">
              <a:buNone/>
            </a:pPr>
            <a:r>
              <a:rPr lang="en-US" sz="1050" b="1" dirty="0">
                <a:solidFill>
                  <a:srgbClr val="E53935"/>
                </a:solidFill>
              </a:rPr>
              <a:t>Best for: Normally distributed data</a:t>
            </a:r>
            <a:endParaRPr lang="en-US" sz="1050" dirty="0"/>
          </a:p>
        </p:txBody>
      </p:sp>
      <p:sp>
        <p:nvSpPr>
          <p:cNvPr id="17" name="Shape 15"/>
          <p:cNvSpPr/>
          <p:nvPr/>
        </p:nvSpPr>
        <p:spPr>
          <a:xfrm>
            <a:off x="4782312" y="822960"/>
            <a:ext cx="4297680" cy="1993392"/>
          </a:xfrm>
          <a:prstGeom prst="rect">
            <a:avLst/>
          </a:prstGeom>
          <a:solidFill>
            <a:srgbClr val="FFFFFF"/>
          </a:solidFill>
          <a:ln w="19050">
            <a:solidFill>
              <a:srgbClr val="FF7043"/>
            </a:solidFill>
            <a:prstDash val="solid"/>
          </a:ln>
          <a:effectLst>
            <a:outerShdw sx="100000" sy="100000" kx="0" ky="0" algn="bl" rotWithShape="0" blurRad="127000" dist="38100" dir="8100000">
              <a:srgbClr val="000000">
                <a:alpha val="16000"/>
              </a:srgbClr>
            </a:outerShdw>
          </a:effectLst>
        </p:spPr>
      </p:sp>
      <p:sp>
        <p:nvSpPr>
          <p:cNvPr id="18" name="Shape 16"/>
          <p:cNvSpPr/>
          <p:nvPr/>
        </p:nvSpPr>
        <p:spPr>
          <a:xfrm>
            <a:off x="4782312" y="822960"/>
            <a:ext cx="4297680" cy="64008"/>
          </a:xfrm>
          <a:prstGeom prst="rect">
            <a:avLst/>
          </a:prstGeom>
          <a:solidFill>
            <a:srgbClr val="FF7043"/>
          </a:solidFill>
          <a:ln w="12700">
            <a:solidFill>
              <a:srgbClr val="FF7043"/>
            </a:solidFill>
            <a:prstDash val="solid"/>
          </a:ln>
        </p:spPr>
      </p:sp>
      <p:sp>
        <p:nvSpPr>
          <p:cNvPr id="19" name="Shape 17"/>
          <p:cNvSpPr/>
          <p:nvPr/>
        </p:nvSpPr>
        <p:spPr>
          <a:xfrm>
            <a:off x="4892040" y="932688"/>
            <a:ext cx="384048" cy="384048"/>
          </a:xfrm>
          <a:prstGeom prst="ellipse">
            <a:avLst/>
          </a:prstGeom>
          <a:solidFill>
            <a:srgbClr val="FF7043"/>
          </a:solidFill>
          <a:ln w="12700">
            <a:solidFill>
              <a:srgbClr val="FF7043"/>
            </a:solidFill>
            <a:prstDash val="solid"/>
          </a:ln>
        </p:spPr>
      </p:sp>
      <p:sp>
        <p:nvSpPr>
          <p:cNvPr id="20" name="Text 18"/>
          <p:cNvSpPr/>
          <p:nvPr/>
        </p:nvSpPr>
        <p:spPr>
          <a:xfrm>
            <a:off x="4892040" y="9326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B</a:t>
            </a:r>
            <a:endParaRPr lang="en-US" sz="1500" dirty="0"/>
          </a:p>
        </p:txBody>
      </p:sp>
      <p:sp>
        <p:nvSpPr>
          <p:cNvPr id="21" name="Text 19"/>
          <p:cNvSpPr/>
          <p:nvPr/>
        </p:nvSpPr>
        <p:spPr>
          <a:xfrm>
            <a:off x="5376672" y="950976"/>
            <a:ext cx="3566160" cy="310896"/>
          </a:xfrm>
          <a:prstGeom prst="rect">
            <a:avLst/>
          </a:prstGeom>
          <a:noFill/>
          <a:ln/>
        </p:spPr>
        <p:txBody>
          <a:bodyPr wrap="square" rtlCol="0" anchor="ctr"/>
          <a:lstStyle/>
          <a:p>
            <a:pPr indent="0" marL="0">
              <a:buNone/>
            </a:pPr>
            <a:r>
              <a:rPr lang="en-US" sz="1350" b="1" dirty="0">
                <a:solidFill>
                  <a:srgbClr val="131A28"/>
                </a:solidFill>
              </a:rPr>
              <a:t>IQR Method</a:t>
            </a:r>
            <a:endParaRPr lang="en-US" sz="1350" dirty="0"/>
          </a:p>
        </p:txBody>
      </p:sp>
      <p:sp>
        <p:nvSpPr>
          <p:cNvPr id="22" name="Shape 20"/>
          <p:cNvSpPr/>
          <p:nvPr/>
        </p:nvSpPr>
        <p:spPr>
          <a:xfrm>
            <a:off x="4892040" y="1389888"/>
            <a:ext cx="2084832" cy="347472"/>
          </a:xfrm>
          <a:prstGeom prst="rect">
            <a:avLst/>
          </a:prstGeom>
          <a:solidFill>
            <a:srgbClr val="131A28"/>
          </a:solidFill>
          <a:ln w="12700">
            <a:solidFill>
              <a:srgbClr val="131A28"/>
            </a:solidFill>
            <a:prstDash val="solid"/>
          </a:ln>
        </p:spPr>
      </p:sp>
      <p:sp>
        <p:nvSpPr>
          <p:cNvPr id="23" name="Text 21"/>
          <p:cNvSpPr/>
          <p:nvPr/>
        </p:nvSpPr>
        <p:spPr>
          <a:xfrm>
            <a:off x="4892040" y="1389888"/>
            <a:ext cx="2084832" cy="347472"/>
          </a:xfrm>
          <a:prstGeom prst="rect">
            <a:avLst/>
          </a:prstGeom>
          <a:noFill/>
          <a:ln/>
        </p:spPr>
        <p:txBody>
          <a:bodyPr wrap="square" rtlCol="0" anchor="ctr"/>
          <a:lstStyle/>
          <a:p>
            <a:pPr algn="ctr" indent="0" marL="0">
              <a:buNone/>
            </a:pPr>
            <a:r>
              <a:rPr lang="en-US" sz="950" dirty="0">
                <a:solidFill>
                  <a:srgbClr val="FF7043"/>
                </a:solidFill>
                <a:latin typeface="Consolas" pitchFamily="34" charset="0"/>
                <a:ea typeface="Consolas" pitchFamily="34" charset="-122"/>
                <a:cs typeface="Consolas" pitchFamily="34" charset="-120"/>
              </a:rPr>
              <a:t>Lower: Q1 − 1.5×IQR</a:t>
            </a:r>
            <a:endParaRPr lang="en-US" sz="950" dirty="0"/>
          </a:p>
          <a:p>
            <a:pPr algn="ctr" indent="0" marL="0">
              <a:buNone/>
            </a:pPr>
            <a:r>
              <a:rPr lang="en-US" sz="950" dirty="0">
                <a:solidFill>
                  <a:srgbClr val="FF7043"/>
                </a:solidFill>
                <a:latin typeface="Consolas" pitchFamily="34" charset="0"/>
                <a:ea typeface="Consolas" pitchFamily="34" charset="-122"/>
                <a:cs typeface="Consolas" pitchFamily="34" charset="-120"/>
              </a:rPr>
              <a:t>Upper: Q3 + 1.5×IQR</a:t>
            </a:r>
            <a:endParaRPr lang="en-US" sz="950" dirty="0"/>
          </a:p>
        </p:txBody>
      </p:sp>
      <p:sp>
        <p:nvSpPr>
          <p:cNvPr id="24" name="Shape 22"/>
          <p:cNvSpPr/>
          <p:nvPr/>
        </p:nvSpPr>
        <p:spPr>
          <a:xfrm>
            <a:off x="7068312" y="1389888"/>
            <a:ext cx="1901952" cy="347472"/>
          </a:xfrm>
          <a:prstGeom prst="roundRect">
            <a:avLst>
              <a:gd name="adj" fmla="val 15789"/>
            </a:avLst>
          </a:prstGeom>
          <a:solidFill>
            <a:srgbClr val="FF7043">
              <a:alpha val="15000"/>
            </a:srgbClr>
          </a:solidFill>
          <a:ln w="12700">
            <a:solidFill>
              <a:srgbClr val="FF7043"/>
            </a:solidFill>
            <a:prstDash val="solid"/>
          </a:ln>
        </p:spPr>
      </p:sp>
      <p:sp>
        <p:nvSpPr>
          <p:cNvPr id="25" name="Text 23"/>
          <p:cNvSpPr/>
          <p:nvPr/>
        </p:nvSpPr>
        <p:spPr>
          <a:xfrm>
            <a:off x="7068312" y="1389888"/>
            <a:ext cx="1901952" cy="347472"/>
          </a:xfrm>
          <a:prstGeom prst="rect">
            <a:avLst/>
          </a:prstGeom>
          <a:noFill/>
          <a:ln/>
        </p:spPr>
        <p:txBody>
          <a:bodyPr wrap="square" rtlCol="0" anchor="ctr"/>
          <a:lstStyle/>
          <a:p>
            <a:pPr algn="ctr" indent="0" marL="0">
              <a:buNone/>
            </a:pPr>
            <a:r>
              <a:rPr lang="en-US" sz="900" b="1" dirty="0">
                <a:solidFill>
                  <a:srgbClr val="FF7043"/>
                </a:solidFill>
                <a:latin typeface="Consolas" pitchFamily="34" charset="0"/>
                <a:ea typeface="Consolas" pitchFamily="34" charset="-122"/>
                <a:cs typeface="Consolas" pitchFamily="34" charset="-120"/>
              </a:rPr>
              <a:t>x &lt; Lower  or  x &gt; Upper  →  Outlier</a:t>
            </a:r>
            <a:endParaRPr lang="en-US" sz="900" dirty="0"/>
          </a:p>
        </p:txBody>
      </p:sp>
      <p:sp>
        <p:nvSpPr>
          <p:cNvPr id="26" name="Text 24"/>
          <p:cNvSpPr/>
          <p:nvPr/>
        </p:nvSpPr>
        <p:spPr>
          <a:xfrm>
            <a:off x="4892040" y="1810512"/>
            <a:ext cx="4059936" cy="530352"/>
          </a:xfrm>
          <a:prstGeom prst="rect">
            <a:avLst/>
          </a:prstGeom>
          <a:noFill/>
          <a:ln/>
        </p:spPr>
        <p:txBody>
          <a:bodyPr wrap="square" rtlCol="0" anchor="ctr"/>
          <a:lstStyle/>
          <a:p>
            <a:pPr indent="0" marL="0">
              <a:buNone/>
            </a:pPr>
            <a:r>
              <a:rPr lang="en-US" sz="1100" dirty="0">
                <a:solidFill>
                  <a:srgbClr val="334455"/>
                </a:solidFill>
              </a:rPr>
              <a:t>Defines outliers as values below Q1 − 1.5×IQR or above Q3 + 1.5×IQR. Does NOT assume normal distribution — robust and widely used.</a:t>
            </a:r>
            <a:endParaRPr lang="en-US" sz="1100" dirty="0"/>
          </a:p>
        </p:txBody>
      </p:sp>
      <p:sp>
        <p:nvSpPr>
          <p:cNvPr id="27" name="Shape 25"/>
          <p:cNvSpPr/>
          <p:nvPr/>
        </p:nvSpPr>
        <p:spPr>
          <a:xfrm>
            <a:off x="4892040" y="2395728"/>
            <a:ext cx="146304" cy="146304"/>
          </a:xfrm>
          <a:prstGeom prst="ellipse">
            <a:avLst/>
          </a:prstGeom>
          <a:solidFill>
            <a:srgbClr val="FF7043"/>
          </a:solidFill>
          <a:ln w="12700">
            <a:solidFill>
              <a:srgbClr val="FF7043"/>
            </a:solidFill>
            <a:prstDash val="solid"/>
          </a:ln>
        </p:spPr>
      </p:sp>
      <p:sp>
        <p:nvSpPr>
          <p:cNvPr id="28" name="Text 26"/>
          <p:cNvSpPr/>
          <p:nvPr/>
        </p:nvSpPr>
        <p:spPr>
          <a:xfrm>
            <a:off x="5102352" y="2377440"/>
            <a:ext cx="3858768" cy="219456"/>
          </a:xfrm>
          <a:prstGeom prst="rect">
            <a:avLst/>
          </a:prstGeom>
          <a:noFill/>
          <a:ln/>
        </p:spPr>
        <p:txBody>
          <a:bodyPr wrap="square" rtlCol="0" anchor="ctr"/>
          <a:lstStyle/>
          <a:p>
            <a:pPr indent="0" marL="0">
              <a:buNone/>
            </a:pPr>
            <a:r>
              <a:rPr lang="en-US" sz="1050" b="1" dirty="0">
                <a:solidFill>
                  <a:srgbClr val="FF7043"/>
                </a:solidFill>
              </a:rPr>
              <a:t>Best for: Non-normal, real-world datasets</a:t>
            </a:r>
            <a:endParaRPr lang="en-US" sz="1050" dirty="0"/>
          </a:p>
        </p:txBody>
      </p:sp>
      <p:sp>
        <p:nvSpPr>
          <p:cNvPr id="29" name="Shape 27"/>
          <p:cNvSpPr/>
          <p:nvPr/>
        </p:nvSpPr>
        <p:spPr>
          <a:xfrm>
            <a:off x="320040" y="2944368"/>
            <a:ext cx="4297680" cy="1993392"/>
          </a:xfrm>
          <a:prstGeom prst="rect">
            <a:avLst/>
          </a:prstGeom>
          <a:solidFill>
            <a:srgbClr val="FFFFFF"/>
          </a:solidFill>
          <a:ln w="19050">
            <a:solidFill>
              <a:srgbClr val="00ACC1"/>
            </a:solidFill>
            <a:prstDash val="solid"/>
          </a:ln>
          <a:effectLst>
            <a:outerShdw sx="100000" sy="100000" kx="0" ky="0" algn="bl" rotWithShape="0" blurRad="127000" dist="38100" dir="8100000">
              <a:srgbClr val="000000">
                <a:alpha val="16000"/>
              </a:srgbClr>
            </a:outerShdw>
          </a:effectLst>
        </p:spPr>
      </p:sp>
      <p:sp>
        <p:nvSpPr>
          <p:cNvPr id="30" name="Shape 28"/>
          <p:cNvSpPr/>
          <p:nvPr/>
        </p:nvSpPr>
        <p:spPr>
          <a:xfrm>
            <a:off x="320040" y="2944368"/>
            <a:ext cx="4297680" cy="64008"/>
          </a:xfrm>
          <a:prstGeom prst="rect">
            <a:avLst/>
          </a:prstGeom>
          <a:solidFill>
            <a:srgbClr val="00ACC1"/>
          </a:solidFill>
          <a:ln w="12700">
            <a:solidFill>
              <a:srgbClr val="00ACC1"/>
            </a:solidFill>
            <a:prstDash val="solid"/>
          </a:ln>
        </p:spPr>
      </p:sp>
      <p:sp>
        <p:nvSpPr>
          <p:cNvPr id="31" name="Shape 29"/>
          <p:cNvSpPr/>
          <p:nvPr/>
        </p:nvSpPr>
        <p:spPr>
          <a:xfrm>
            <a:off x="429768" y="3054096"/>
            <a:ext cx="384048" cy="384048"/>
          </a:xfrm>
          <a:prstGeom prst="ellipse">
            <a:avLst/>
          </a:prstGeom>
          <a:solidFill>
            <a:srgbClr val="00ACC1"/>
          </a:solidFill>
          <a:ln w="12700">
            <a:solidFill>
              <a:srgbClr val="00ACC1"/>
            </a:solidFill>
            <a:prstDash val="solid"/>
          </a:ln>
        </p:spPr>
      </p:sp>
      <p:sp>
        <p:nvSpPr>
          <p:cNvPr id="32" name="Text 30"/>
          <p:cNvSpPr/>
          <p:nvPr/>
        </p:nvSpPr>
        <p:spPr>
          <a:xfrm>
            <a:off x="429768" y="30540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C</a:t>
            </a:r>
            <a:endParaRPr lang="en-US" sz="1500" dirty="0"/>
          </a:p>
        </p:txBody>
      </p:sp>
      <p:sp>
        <p:nvSpPr>
          <p:cNvPr id="33" name="Text 31"/>
          <p:cNvSpPr/>
          <p:nvPr/>
        </p:nvSpPr>
        <p:spPr>
          <a:xfrm>
            <a:off x="914400" y="3072384"/>
            <a:ext cx="3566160" cy="310896"/>
          </a:xfrm>
          <a:prstGeom prst="rect">
            <a:avLst/>
          </a:prstGeom>
          <a:noFill/>
          <a:ln/>
        </p:spPr>
        <p:txBody>
          <a:bodyPr wrap="square" rtlCol="0" anchor="ctr"/>
          <a:lstStyle/>
          <a:p>
            <a:pPr indent="0" marL="0">
              <a:buNone/>
            </a:pPr>
            <a:r>
              <a:rPr lang="en-US" sz="1350" b="1" dirty="0">
                <a:solidFill>
                  <a:srgbClr val="131A28"/>
                </a:solidFill>
              </a:rPr>
              <a:t>DBSCAN</a:t>
            </a:r>
            <a:endParaRPr lang="en-US" sz="1350" dirty="0"/>
          </a:p>
        </p:txBody>
      </p:sp>
      <p:sp>
        <p:nvSpPr>
          <p:cNvPr id="34" name="Shape 32"/>
          <p:cNvSpPr/>
          <p:nvPr/>
        </p:nvSpPr>
        <p:spPr>
          <a:xfrm>
            <a:off x="429768" y="3511296"/>
            <a:ext cx="2084832" cy="347472"/>
          </a:xfrm>
          <a:prstGeom prst="rect">
            <a:avLst/>
          </a:prstGeom>
          <a:solidFill>
            <a:srgbClr val="131A28"/>
          </a:solidFill>
          <a:ln w="12700">
            <a:solidFill>
              <a:srgbClr val="131A28"/>
            </a:solidFill>
            <a:prstDash val="solid"/>
          </a:ln>
        </p:spPr>
      </p:sp>
      <p:sp>
        <p:nvSpPr>
          <p:cNvPr id="35" name="Text 33"/>
          <p:cNvSpPr/>
          <p:nvPr/>
        </p:nvSpPr>
        <p:spPr>
          <a:xfrm>
            <a:off x="429768" y="3511296"/>
            <a:ext cx="2084832" cy="347472"/>
          </a:xfrm>
          <a:prstGeom prst="rect">
            <a:avLst/>
          </a:prstGeom>
          <a:noFill/>
          <a:ln/>
        </p:spPr>
        <p:txBody>
          <a:bodyPr wrap="square" rtlCol="0" anchor="ctr"/>
          <a:lstStyle/>
          <a:p>
            <a:pPr algn="ctr" indent="0" marL="0">
              <a:buNone/>
            </a:pPr>
            <a:r>
              <a:rPr lang="en-US" sz="950" dirty="0">
                <a:solidFill>
                  <a:srgbClr val="00ACC1"/>
                </a:solidFill>
                <a:latin typeface="Consolas" pitchFamily="34" charset="0"/>
                <a:ea typeface="Consolas" pitchFamily="34" charset="-122"/>
                <a:cs typeface="Consolas" pitchFamily="34" charset="-120"/>
              </a:rPr>
              <a:t>eps + minPts parameters</a:t>
            </a:r>
            <a:endParaRPr lang="en-US" sz="950" dirty="0"/>
          </a:p>
        </p:txBody>
      </p:sp>
      <p:sp>
        <p:nvSpPr>
          <p:cNvPr id="36" name="Shape 34"/>
          <p:cNvSpPr/>
          <p:nvPr/>
        </p:nvSpPr>
        <p:spPr>
          <a:xfrm>
            <a:off x="2606040" y="3511296"/>
            <a:ext cx="1901952" cy="347472"/>
          </a:xfrm>
          <a:prstGeom prst="roundRect">
            <a:avLst>
              <a:gd name="adj" fmla="val 15789"/>
            </a:avLst>
          </a:prstGeom>
          <a:solidFill>
            <a:srgbClr val="00ACC1">
              <a:alpha val="15000"/>
            </a:srgbClr>
          </a:solidFill>
          <a:ln w="12700">
            <a:solidFill>
              <a:srgbClr val="00ACC1"/>
            </a:solidFill>
            <a:prstDash val="solid"/>
          </a:ln>
        </p:spPr>
      </p:sp>
      <p:sp>
        <p:nvSpPr>
          <p:cNvPr id="37" name="Text 35"/>
          <p:cNvSpPr/>
          <p:nvPr/>
        </p:nvSpPr>
        <p:spPr>
          <a:xfrm>
            <a:off x="2606040" y="3511296"/>
            <a:ext cx="1901952" cy="347472"/>
          </a:xfrm>
          <a:prstGeom prst="rect">
            <a:avLst/>
          </a:prstGeom>
          <a:noFill/>
          <a:ln/>
        </p:spPr>
        <p:txBody>
          <a:bodyPr wrap="square" rtlCol="0" anchor="ctr"/>
          <a:lstStyle/>
          <a:p>
            <a:pPr algn="ctr" indent="0" marL="0">
              <a:buNone/>
            </a:pPr>
            <a:r>
              <a:rPr lang="en-US" sz="900" b="1" dirty="0">
                <a:solidFill>
                  <a:srgbClr val="00ACC1"/>
                </a:solidFill>
                <a:latin typeface="Consolas" pitchFamily="34" charset="0"/>
                <a:ea typeface="Consolas" pitchFamily="34" charset="-122"/>
                <a:cs typeface="Consolas" pitchFamily="34" charset="-120"/>
              </a:rPr>
              <a:t>Cluster = -1  →  Outlier (Noise)</a:t>
            </a:r>
            <a:endParaRPr lang="en-US" sz="900" dirty="0"/>
          </a:p>
        </p:txBody>
      </p:sp>
      <p:sp>
        <p:nvSpPr>
          <p:cNvPr id="38" name="Text 36"/>
          <p:cNvSpPr/>
          <p:nvPr/>
        </p:nvSpPr>
        <p:spPr>
          <a:xfrm>
            <a:off x="429768" y="3931920"/>
            <a:ext cx="4059936" cy="530352"/>
          </a:xfrm>
          <a:prstGeom prst="rect">
            <a:avLst/>
          </a:prstGeom>
          <a:noFill/>
          <a:ln/>
        </p:spPr>
        <p:txBody>
          <a:bodyPr wrap="square" rtlCol="0" anchor="ctr"/>
          <a:lstStyle/>
          <a:p>
            <a:pPr indent="0" marL="0">
              <a:buNone/>
            </a:pPr>
            <a:r>
              <a:rPr lang="en-US" sz="1100" dirty="0">
                <a:solidFill>
                  <a:srgbClr val="334455"/>
                </a:solidFill>
              </a:rPr>
              <a:t>Detects outliers by grouping dense regions and labeling points that do not belong to any cluster as noise. Effective for irregular shapes.</a:t>
            </a:r>
            <a:endParaRPr lang="en-US" sz="1100" dirty="0"/>
          </a:p>
        </p:txBody>
      </p:sp>
      <p:sp>
        <p:nvSpPr>
          <p:cNvPr id="39" name="Shape 37"/>
          <p:cNvSpPr/>
          <p:nvPr/>
        </p:nvSpPr>
        <p:spPr>
          <a:xfrm>
            <a:off x="429768" y="4517136"/>
            <a:ext cx="146304" cy="146304"/>
          </a:xfrm>
          <a:prstGeom prst="ellipse">
            <a:avLst/>
          </a:prstGeom>
          <a:solidFill>
            <a:srgbClr val="00ACC1"/>
          </a:solidFill>
          <a:ln w="12700">
            <a:solidFill>
              <a:srgbClr val="00ACC1"/>
            </a:solidFill>
            <a:prstDash val="solid"/>
          </a:ln>
        </p:spPr>
      </p:sp>
      <p:sp>
        <p:nvSpPr>
          <p:cNvPr id="40" name="Text 38"/>
          <p:cNvSpPr/>
          <p:nvPr/>
        </p:nvSpPr>
        <p:spPr>
          <a:xfrm>
            <a:off x="640080" y="4498848"/>
            <a:ext cx="3858768" cy="219456"/>
          </a:xfrm>
          <a:prstGeom prst="rect">
            <a:avLst/>
          </a:prstGeom>
          <a:noFill/>
          <a:ln/>
        </p:spPr>
        <p:txBody>
          <a:bodyPr wrap="square" rtlCol="0" anchor="ctr"/>
          <a:lstStyle/>
          <a:p>
            <a:pPr indent="0" marL="0">
              <a:buNone/>
            </a:pPr>
            <a:r>
              <a:rPr lang="en-US" sz="1050" b="1" dirty="0">
                <a:solidFill>
                  <a:srgbClr val="00ACC1"/>
                </a:solidFill>
              </a:rPr>
              <a:t>Best for: Datasets with irregular shapes/densities</a:t>
            </a:r>
            <a:endParaRPr lang="en-US" sz="1050" dirty="0"/>
          </a:p>
        </p:txBody>
      </p:sp>
      <p:sp>
        <p:nvSpPr>
          <p:cNvPr id="41" name="Shape 39"/>
          <p:cNvSpPr/>
          <p:nvPr/>
        </p:nvSpPr>
        <p:spPr>
          <a:xfrm>
            <a:off x="4782312" y="2944368"/>
            <a:ext cx="4297680" cy="1993392"/>
          </a:xfrm>
          <a:prstGeom prst="rect">
            <a:avLst/>
          </a:prstGeom>
          <a:solidFill>
            <a:srgbClr val="FFFFFF"/>
          </a:solidFill>
          <a:ln w="19050">
            <a:solidFill>
              <a:srgbClr val="43A047"/>
            </a:solidFill>
            <a:prstDash val="solid"/>
          </a:ln>
          <a:effectLst>
            <a:outerShdw sx="100000" sy="100000" kx="0" ky="0" algn="bl" rotWithShape="0" blurRad="127000" dist="38100" dir="8100000">
              <a:srgbClr val="000000">
                <a:alpha val="16000"/>
              </a:srgbClr>
            </a:outerShdw>
          </a:effectLst>
        </p:spPr>
      </p:sp>
      <p:sp>
        <p:nvSpPr>
          <p:cNvPr id="42" name="Shape 40"/>
          <p:cNvSpPr/>
          <p:nvPr/>
        </p:nvSpPr>
        <p:spPr>
          <a:xfrm>
            <a:off x="4782312" y="2944368"/>
            <a:ext cx="4297680" cy="64008"/>
          </a:xfrm>
          <a:prstGeom prst="rect">
            <a:avLst/>
          </a:prstGeom>
          <a:solidFill>
            <a:srgbClr val="43A047"/>
          </a:solidFill>
          <a:ln w="12700">
            <a:solidFill>
              <a:srgbClr val="43A047"/>
            </a:solidFill>
            <a:prstDash val="solid"/>
          </a:ln>
        </p:spPr>
      </p:sp>
      <p:sp>
        <p:nvSpPr>
          <p:cNvPr id="43" name="Shape 41"/>
          <p:cNvSpPr/>
          <p:nvPr/>
        </p:nvSpPr>
        <p:spPr>
          <a:xfrm>
            <a:off x="4892040" y="3054096"/>
            <a:ext cx="384048" cy="384048"/>
          </a:xfrm>
          <a:prstGeom prst="ellipse">
            <a:avLst/>
          </a:prstGeom>
          <a:solidFill>
            <a:srgbClr val="43A047"/>
          </a:solidFill>
          <a:ln w="12700">
            <a:solidFill>
              <a:srgbClr val="43A047"/>
            </a:solidFill>
            <a:prstDash val="solid"/>
          </a:ln>
        </p:spPr>
      </p:sp>
      <p:sp>
        <p:nvSpPr>
          <p:cNvPr id="44" name="Text 42"/>
          <p:cNvSpPr/>
          <p:nvPr/>
        </p:nvSpPr>
        <p:spPr>
          <a:xfrm>
            <a:off x="4892040" y="30540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D</a:t>
            </a:r>
            <a:endParaRPr lang="en-US" sz="1500" dirty="0"/>
          </a:p>
        </p:txBody>
      </p:sp>
      <p:sp>
        <p:nvSpPr>
          <p:cNvPr id="45" name="Text 43"/>
          <p:cNvSpPr/>
          <p:nvPr/>
        </p:nvSpPr>
        <p:spPr>
          <a:xfrm>
            <a:off x="5376672" y="3072384"/>
            <a:ext cx="3566160" cy="310896"/>
          </a:xfrm>
          <a:prstGeom prst="rect">
            <a:avLst/>
          </a:prstGeom>
          <a:noFill/>
          <a:ln/>
        </p:spPr>
        <p:txBody>
          <a:bodyPr wrap="square" rtlCol="0" anchor="ctr"/>
          <a:lstStyle/>
          <a:p>
            <a:pPr indent="0" marL="0">
              <a:buNone/>
            </a:pPr>
            <a:r>
              <a:rPr lang="en-US" sz="1350" b="1" dirty="0">
                <a:solidFill>
                  <a:srgbClr val="131A28"/>
                </a:solidFill>
              </a:rPr>
              <a:t>Isolation Forest</a:t>
            </a:r>
            <a:endParaRPr lang="en-US" sz="1350" dirty="0"/>
          </a:p>
        </p:txBody>
      </p:sp>
      <p:sp>
        <p:nvSpPr>
          <p:cNvPr id="46" name="Shape 44"/>
          <p:cNvSpPr/>
          <p:nvPr/>
        </p:nvSpPr>
        <p:spPr>
          <a:xfrm>
            <a:off x="4892040" y="3511296"/>
            <a:ext cx="2084832" cy="347472"/>
          </a:xfrm>
          <a:prstGeom prst="rect">
            <a:avLst/>
          </a:prstGeom>
          <a:solidFill>
            <a:srgbClr val="131A28"/>
          </a:solidFill>
          <a:ln w="12700">
            <a:solidFill>
              <a:srgbClr val="131A28"/>
            </a:solidFill>
            <a:prstDash val="solid"/>
          </a:ln>
        </p:spPr>
      </p:sp>
      <p:sp>
        <p:nvSpPr>
          <p:cNvPr id="47" name="Text 45"/>
          <p:cNvSpPr/>
          <p:nvPr/>
        </p:nvSpPr>
        <p:spPr>
          <a:xfrm>
            <a:off x="4892040" y="3511296"/>
            <a:ext cx="2084832" cy="347472"/>
          </a:xfrm>
          <a:prstGeom prst="rect">
            <a:avLst/>
          </a:prstGeom>
          <a:noFill/>
          <a:ln/>
        </p:spPr>
        <p:txBody>
          <a:bodyPr wrap="square" rtlCol="0" anchor="ctr"/>
          <a:lstStyle/>
          <a:p>
            <a:pPr algn="ctr" indent="0" marL="0">
              <a:buNone/>
            </a:pPr>
            <a:r>
              <a:rPr lang="en-US" sz="950" dirty="0">
                <a:solidFill>
                  <a:srgbClr val="43A047"/>
                </a:solidFill>
                <a:latin typeface="Consolas" pitchFamily="34" charset="0"/>
                <a:ea typeface="Consolas" pitchFamily="34" charset="-122"/>
                <a:cs typeface="Consolas" pitchFamily="34" charset="-120"/>
              </a:rPr>
              <a:t>contamination parameter</a:t>
            </a:r>
            <a:endParaRPr lang="en-US" sz="950" dirty="0"/>
          </a:p>
        </p:txBody>
      </p:sp>
      <p:sp>
        <p:nvSpPr>
          <p:cNvPr id="48" name="Shape 46"/>
          <p:cNvSpPr/>
          <p:nvPr/>
        </p:nvSpPr>
        <p:spPr>
          <a:xfrm>
            <a:off x="7068312" y="3511296"/>
            <a:ext cx="1901952" cy="347472"/>
          </a:xfrm>
          <a:prstGeom prst="roundRect">
            <a:avLst>
              <a:gd name="adj" fmla="val 15789"/>
            </a:avLst>
          </a:prstGeom>
          <a:solidFill>
            <a:srgbClr val="43A047">
              <a:alpha val="15000"/>
            </a:srgbClr>
          </a:solidFill>
          <a:ln w="12700">
            <a:solidFill>
              <a:srgbClr val="43A047"/>
            </a:solidFill>
            <a:prstDash val="solid"/>
          </a:ln>
        </p:spPr>
      </p:sp>
      <p:sp>
        <p:nvSpPr>
          <p:cNvPr id="49" name="Text 47"/>
          <p:cNvSpPr/>
          <p:nvPr/>
        </p:nvSpPr>
        <p:spPr>
          <a:xfrm>
            <a:off x="7068312" y="3511296"/>
            <a:ext cx="1901952" cy="347472"/>
          </a:xfrm>
          <a:prstGeom prst="rect">
            <a:avLst/>
          </a:prstGeom>
          <a:noFill/>
          <a:ln/>
        </p:spPr>
        <p:txBody>
          <a:bodyPr wrap="square" rtlCol="0" anchor="ctr"/>
          <a:lstStyle/>
          <a:p>
            <a:pPr algn="ctr" indent="0" marL="0">
              <a:buNone/>
            </a:pPr>
            <a:r>
              <a:rPr lang="en-US" sz="900" b="1" dirty="0">
                <a:solidFill>
                  <a:srgbClr val="43A047"/>
                </a:solidFill>
                <a:latin typeface="Consolas" pitchFamily="34" charset="0"/>
                <a:ea typeface="Consolas" pitchFamily="34" charset="-122"/>
                <a:cs typeface="Consolas" pitchFamily="34" charset="-120"/>
              </a:rPr>
              <a:t>Outlier = -1  →  Anomaly detected</a:t>
            </a:r>
            <a:endParaRPr lang="en-US" sz="900" dirty="0"/>
          </a:p>
        </p:txBody>
      </p:sp>
      <p:sp>
        <p:nvSpPr>
          <p:cNvPr id="50" name="Text 48"/>
          <p:cNvSpPr/>
          <p:nvPr/>
        </p:nvSpPr>
        <p:spPr>
          <a:xfrm>
            <a:off x="4892040" y="3931920"/>
            <a:ext cx="4059936" cy="530352"/>
          </a:xfrm>
          <a:prstGeom prst="rect">
            <a:avLst/>
          </a:prstGeom>
          <a:noFill/>
          <a:ln/>
        </p:spPr>
        <p:txBody>
          <a:bodyPr wrap="square" rtlCol="0" anchor="ctr"/>
          <a:lstStyle/>
          <a:p>
            <a:pPr indent="0" marL="0">
              <a:buNone/>
            </a:pPr>
            <a:r>
              <a:rPr lang="en-US" sz="1100" dirty="0">
                <a:solidFill>
                  <a:srgbClr val="334455"/>
                </a:solidFill>
              </a:rPr>
              <a:t>Detects outliers by isolating data points using random decision trees. Anomalies are separated with fewer splits — fast and scalable for high-dimensional data.</a:t>
            </a:r>
            <a:endParaRPr lang="en-US" sz="1100" dirty="0"/>
          </a:p>
        </p:txBody>
      </p:sp>
      <p:sp>
        <p:nvSpPr>
          <p:cNvPr id="51" name="Shape 49"/>
          <p:cNvSpPr/>
          <p:nvPr/>
        </p:nvSpPr>
        <p:spPr>
          <a:xfrm>
            <a:off x="4892040" y="4517136"/>
            <a:ext cx="146304" cy="146304"/>
          </a:xfrm>
          <a:prstGeom prst="ellipse">
            <a:avLst/>
          </a:prstGeom>
          <a:solidFill>
            <a:srgbClr val="43A047"/>
          </a:solidFill>
          <a:ln w="12700">
            <a:solidFill>
              <a:srgbClr val="43A047"/>
            </a:solidFill>
            <a:prstDash val="solid"/>
          </a:ln>
        </p:spPr>
      </p:sp>
      <p:sp>
        <p:nvSpPr>
          <p:cNvPr id="52" name="Text 50"/>
          <p:cNvSpPr/>
          <p:nvPr/>
        </p:nvSpPr>
        <p:spPr>
          <a:xfrm>
            <a:off x="5102352" y="4498848"/>
            <a:ext cx="3858768" cy="219456"/>
          </a:xfrm>
          <a:prstGeom prst="rect">
            <a:avLst/>
          </a:prstGeom>
          <a:noFill/>
          <a:ln/>
        </p:spPr>
        <p:txBody>
          <a:bodyPr wrap="square" rtlCol="0" anchor="ctr"/>
          <a:lstStyle/>
          <a:p>
            <a:pPr indent="0" marL="0">
              <a:buNone/>
            </a:pPr>
            <a:r>
              <a:rPr lang="en-US" sz="1050" b="1" dirty="0">
                <a:solidFill>
                  <a:srgbClr val="43A047"/>
                </a:solidFill>
              </a:rPr>
              <a:t>Best for: High-dimensional datasets, large data</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1A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43A047"/>
          </a:solidFill>
          <a:ln w="12700">
            <a:solidFill>
              <a:srgbClr val="43A047"/>
            </a:solidFill>
            <a:prstDash val="solid"/>
          </a:ln>
        </p:spPr>
      </p:sp>
      <p:sp>
        <p:nvSpPr>
          <p:cNvPr id="3" name="Text 1"/>
          <p:cNvSpPr/>
          <p:nvPr/>
        </p:nvSpPr>
        <p:spPr>
          <a:xfrm>
            <a:off x="457200" y="164592"/>
            <a:ext cx="8229600" cy="512064"/>
          </a:xfrm>
          <a:prstGeom prst="rect">
            <a:avLst/>
          </a:prstGeom>
          <a:noFill/>
          <a:ln/>
        </p:spPr>
        <p:txBody>
          <a:bodyPr wrap="square" rtlCol="0" anchor="ctr"/>
          <a:lstStyle/>
          <a:p>
            <a:pPr indent="0" marL="0">
              <a:buNone/>
            </a:pPr>
            <a:r>
              <a:rPr lang="en-US" sz="2900" b="1" dirty="0">
                <a:solidFill>
                  <a:srgbClr val="FFFFFF"/>
                </a:solidFill>
                <a:latin typeface="Calibri" pitchFamily="34" charset="0"/>
                <a:ea typeface="Calibri" pitchFamily="34" charset="-122"/>
                <a:cs typeface="Calibri" pitchFamily="34" charset="-120"/>
              </a:rPr>
              <a:t>How to Handle Outliers in Data</a:t>
            </a:r>
            <a:endParaRPr lang="en-US" sz="2900" dirty="0"/>
          </a:p>
        </p:txBody>
      </p:sp>
      <p:sp>
        <p:nvSpPr>
          <p:cNvPr id="4" name="Text 2"/>
          <p:cNvSpPr/>
          <p:nvPr/>
        </p:nvSpPr>
        <p:spPr>
          <a:xfrm>
            <a:off x="457200" y="658368"/>
            <a:ext cx="8229600" cy="274320"/>
          </a:xfrm>
          <a:prstGeom prst="rect">
            <a:avLst/>
          </a:prstGeom>
          <a:noFill/>
          <a:ln/>
        </p:spPr>
        <p:txBody>
          <a:bodyPr wrap="square" rtlCol="0" anchor="ctr"/>
          <a:lstStyle/>
          <a:p>
            <a:pPr indent="0" marL="0">
              <a:buNone/>
            </a:pPr>
            <a:r>
              <a:rPr lang="en-US" sz="1300" dirty="0">
                <a:solidFill>
                  <a:srgbClr val="90A4AE"/>
                </a:solidFill>
              </a:rPr>
              <a:t>Once detected, the approach depends on cause, dataset size, and analysis goals</a:t>
            </a:r>
            <a:endParaRPr lang="en-US" sz="1300" dirty="0"/>
          </a:p>
        </p:txBody>
      </p:sp>
      <p:sp>
        <p:nvSpPr>
          <p:cNvPr id="5" name="Shape 3"/>
          <p:cNvSpPr/>
          <p:nvPr/>
        </p:nvSpPr>
        <p:spPr>
          <a:xfrm>
            <a:off x="274320" y="969264"/>
            <a:ext cx="8595360" cy="896112"/>
          </a:xfrm>
          <a:prstGeom prst="rect">
            <a:avLst/>
          </a:prstGeom>
          <a:solidFill>
            <a:srgbClr val="22304A"/>
          </a:solidFill>
          <a:ln w="15240">
            <a:solidFill>
              <a:srgbClr val="E53935"/>
            </a:solidFill>
            <a:prstDash val="solid"/>
          </a:ln>
        </p:spPr>
      </p:sp>
      <p:sp>
        <p:nvSpPr>
          <p:cNvPr id="6" name="Shape 4"/>
          <p:cNvSpPr/>
          <p:nvPr/>
        </p:nvSpPr>
        <p:spPr>
          <a:xfrm>
            <a:off x="274320" y="969264"/>
            <a:ext cx="548640" cy="896112"/>
          </a:xfrm>
          <a:prstGeom prst="rect">
            <a:avLst/>
          </a:prstGeom>
          <a:solidFill>
            <a:srgbClr val="E53935"/>
          </a:solidFill>
          <a:ln w="12700">
            <a:solidFill>
              <a:srgbClr val="E53935"/>
            </a:solidFill>
            <a:prstDash val="solid"/>
          </a:ln>
        </p:spPr>
      </p:sp>
      <p:sp>
        <p:nvSpPr>
          <p:cNvPr id="7" name="Text 5"/>
          <p:cNvSpPr/>
          <p:nvPr/>
        </p:nvSpPr>
        <p:spPr>
          <a:xfrm>
            <a:off x="274320" y="969264"/>
            <a:ext cx="548640" cy="896112"/>
          </a:xfrm>
          <a:prstGeom prst="rect">
            <a:avLst/>
          </a:prstGeom>
          <a:noFill/>
          <a:ln/>
        </p:spPr>
        <p:txBody>
          <a:bodyPr wrap="square" lIns="0" tIns="0" rIns="0" bIns="0" rtlCol="0" anchor="ctr"/>
          <a:lstStyle/>
          <a:p>
            <a:pPr algn="ctr" indent="0" marL="0">
              <a:buNone/>
            </a:pPr>
            <a:r>
              <a:rPr lang="en-US" sz="1800" b="1" dirty="0">
                <a:solidFill>
                  <a:srgbClr val="131A28"/>
                </a:solidFill>
              </a:rPr>
              <a:t>1</a:t>
            </a:r>
            <a:endParaRPr lang="en-US" sz="1800" dirty="0"/>
          </a:p>
        </p:txBody>
      </p:sp>
      <p:sp>
        <p:nvSpPr>
          <p:cNvPr id="8" name="Text 6"/>
          <p:cNvSpPr/>
          <p:nvPr/>
        </p:nvSpPr>
        <p:spPr>
          <a:xfrm>
            <a:off x="932688" y="1042416"/>
            <a:ext cx="2286000" cy="292608"/>
          </a:xfrm>
          <a:prstGeom prst="rect">
            <a:avLst/>
          </a:prstGeom>
          <a:noFill/>
          <a:ln/>
        </p:spPr>
        <p:txBody>
          <a:bodyPr wrap="square" rtlCol="0" anchor="ctr"/>
          <a:lstStyle/>
          <a:p>
            <a:pPr indent="0" marL="0">
              <a:buNone/>
            </a:pPr>
            <a:r>
              <a:rPr lang="en-US" sz="1350" b="1" dirty="0">
                <a:solidFill>
                  <a:srgbClr val="FFFFFF"/>
                </a:solidFill>
              </a:rPr>
              <a:t>Removal (Trimming)</a:t>
            </a:r>
            <a:endParaRPr lang="en-US" sz="1350" dirty="0"/>
          </a:p>
        </p:txBody>
      </p:sp>
      <p:sp>
        <p:nvSpPr>
          <p:cNvPr id="9" name="Text 7"/>
          <p:cNvSpPr/>
          <p:nvPr/>
        </p:nvSpPr>
        <p:spPr>
          <a:xfrm>
            <a:off x="932688" y="1389888"/>
            <a:ext cx="2286000" cy="438912"/>
          </a:xfrm>
          <a:prstGeom prst="rect">
            <a:avLst/>
          </a:prstGeom>
          <a:noFill/>
          <a:ln/>
        </p:spPr>
        <p:txBody>
          <a:bodyPr wrap="square" rtlCol="0" anchor="ctr"/>
          <a:lstStyle/>
          <a:p>
            <a:pPr indent="0" marL="0">
              <a:buNone/>
            </a:pPr>
            <a:r>
              <a:rPr lang="en-US" sz="1100" dirty="0">
                <a:solidFill>
                  <a:srgbClr val="90A4AE"/>
                </a:solidFill>
              </a:rPr>
              <a:t>Outliers can be removed entirely if they are clearly errors or irrelevant to the analysis.</a:t>
            </a:r>
            <a:endParaRPr lang="en-US" sz="1100" dirty="0"/>
          </a:p>
        </p:txBody>
      </p:sp>
      <p:sp>
        <p:nvSpPr>
          <p:cNvPr id="10" name="Shape 8"/>
          <p:cNvSpPr/>
          <p:nvPr/>
        </p:nvSpPr>
        <p:spPr>
          <a:xfrm>
            <a:off x="3337560" y="1024128"/>
            <a:ext cx="2724912" cy="365760"/>
          </a:xfrm>
          <a:prstGeom prst="rect">
            <a:avLst/>
          </a:prstGeom>
          <a:solidFill>
            <a:srgbClr val="43A047">
              <a:alpha val="12000"/>
            </a:srgbClr>
          </a:solidFill>
          <a:ln w="10160">
            <a:solidFill>
              <a:srgbClr val="43A047"/>
            </a:solidFill>
            <a:prstDash val="solid"/>
          </a:ln>
        </p:spPr>
      </p:sp>
      <p:sp>
        <p:nvSpPr>
          <p:cNvPr id="11" name="Shape 9"/>
          <p:cNvSpPr/>
          <p:nvPr/>
        </p:nvSpPr>
        <p:spPr>
          <a:xfrm>
            <a:off x="3337560" y="1024128"/>
            <a:ext cx="45720" cy="365760"/>
          </a:xfrm>
          <a:prstGeom prst="rect">
            <a:avLst/>
          </a:prstGeom>
          <a:solidFill>
            <a:srgbClr val="43A047"/>
          </a:solidFill>
          <a:ln w="12700">
            <a:solidFill>
              <a:srgbClr val="43A047"/>
            </a:solidFill>
            <a:prstDash val="solid"/>
          </a:ln>
        </p:spPr>
      </p:sp>
      <p:sp>
        <p:nvSpPr>
          <p:cNvPr id="12" name="Text 10"/>
          <p:cNvSpPr/>
          <p:nvPr/>
        </p:nvSpPr>
        <p:spPr>
          <a:xfrm>
            <a:off x="3419856" y="1024128"/>
            <a:ext cx="2578608" cy="365760"/>
          </a:xfrm>
          <a:prstGeom prst="rect">
            <a:avLst/>
          </a:prstGeom>
          <a:noFill/>
          <a:ln/>
        </p:spPr>
        <p:txBody>
          <a:bodyPr wrap="square" rtlCol="0" anchor="ctr"/>
          <a:lstStyle/>
          <a:p>
            <a:pPr indent="0" marL="0">
              <a:buNone/>
            </a:pPr>
            <a:r>
              <a:rPr lang="en-US" sz="1000" dirty="0">
                <a:solidFill>
                  <a:srgbClr val="43A047"/>
                </a:solidFill>
              </a:rPr>
              <a:t>Best for: Large datasets where a small number of extreme values won't significantly affect overall results.</a:t>
            </a:r>
            <a:endParaRPr lang="en-US" sz="1000" dirty="0"/>
          </a:p>
        </p:txBody>
      </p:sp>
      <p:sp>
        <p:nvSpPr>
          <p:cNvPr id="13" name="Shape 11"/>
          <p:cNvSpPr/>
          <p:nvPr/>
        </p:nvSpPr>
        <p:spPr>
          <a:xfrm>
            <a:off x="3337560" y="1444752"/>
            <a:ext cx="2724912" cy="347472"/>
          </a:xfrm>
          <a:prstGeom prst="rect">
            <a:avLst/>
          </a:prstGeom>
          <a:solidFill>
            <a:srgbClr val="FFB300">
              <a:alpha val="12000"/>
            </a:srgbClr>
          </a:solidFill>
          <a:ln w="10160">
            <a:solidFill>
              <a:srgbClr val="FFB300"/>
            </a:solidFill>
            <a:prstDash val="solid"/>
          </a:ln>
        </p:spPr>
      </p:sp>
      <p:sp>
        <p:nvSpPr>
          <p:cNvPr id="14" name="Shape 12"/>
          <p:cNvSpPr/>
          <p:nvPr/>
        </p:nvSpPr>
        <p:spPr>
          <a:xfrm>
            <a:off x="3337560" y="1444752"/>
            <a:ext cx="45720" cy="347472"/>
          </a:xfrm>
          <a:prstGeom prst="rect">
            <a:avLst/>
          </a:prstGeom>
          <a:solidFill>
            <a:srgbClr val="FFB300"/>
          </a:solidFill>
          <a:ln w="12700">
            <a:solidFill>
              <a:srgbClr val="FFB300"/>
            </a:solidFill>
            <a:prstDash val="solid"/>
          </a:ln>
        </p:spPr>
      </p:sp>
      <p:sp>
        <p:nvSpPr>
          <p:cNvPr id="15" name="Text 13"/>
          <p:cNvSpPr/>
          <p:nvPr/>
        </p:nvSpPr>
        <p:spPr>
          <a:xfrm>
            <a:off x="3419856" y="1444752"/>
            <a:ext cx="2578608" cy="347472"/>
          </a:xfrm>
          <a:prstGeom prst="rect">
            <a:avLst/>
          </a:prstGeom>
          <a:noFill/>
          <a:ln/>
        </p:spPr>
        <p:txBody>
          <a:bodyPr wrap="square" rtlCol="0" anchor="ctr"/>
          <a:lstStyle/>
          <a:p>
            <a:pPr indent="0" marL="0">
              <a:buNone/>
            </a:pPr>
            <a:r>
              <a:rPr lang="en-US" sz="1000" dirty="0">
                <a:solidFill>
                  <a:srgbClr val="FFB300"/>
                </a:solidFill>
              </a:rPr>
              <a:t>Note: Removing too many points may distort the data distribution and reduce representativeness.</a:t>
            </a:r>
            <a:endParaRPr lang="en-US" sz="1000" dirty="0"/>
          </a:p>
        </p:txBody>
      </p:sp>
      <p:sp>
        <p:nvSpPr>
          <p:cNvPr id="16" name="Shape 14"/>
          <p:cNvSpPr/>
          <p:nvPr/>
        </p:nvSpPr>
        <p:spPr>
          <a:xfrm>
            <a:off x="6172200" y="1243584"/>
            <a:ext cx="2578608" cy="347472"/>
          </a:xfrm>
          <a:prstGeom prst="roundRect">
            <a:avLst>
              <a:gd name="adj" fmla="val 21053"/>
            </a:avLst>
          </a:prstGeom>
          <a:solidFill>
            <a:srgbClr val="E53935">
              <a:alpha val="75000"/>
            </a:srgbClr>
          </a:solidFill>
          <a:ln w="12700">
            <a:solidFill>
              <a:srgbClr val="E53935"/>
            </a:solidFill>
            <a:prstDash val="solid"/>
          </a:ln>
        </p:spPr>
      </p:sp>
      <p:sp>
        <p:nvSpPr>
          <p:cNvPr id="17" name="Text 15"/>
          <p:cNvSpPr/>
          <p:nvPr/>
        </p:nvSpPr>
        <p:spPr>
          <a:xfrm>
            <a:off x="6172200" y="1243584"/>
            <a:ext cx="2578608" cy="347472"/>
          </a:xfrm>
          <a:prstGeom prst="rect">
            <a:avLst/>
          </a:prstGeom>
          <a:noFill/>
          <a:ln/>
        </p:spPr>
        <p:txBody>
          <a:bodyPr wrap="square" lIns="0" tIns="0" rIns="0" bIns="0" rtlCol="0" anchor="ctr"/>
          <a:lstStyle/>
          <a:p>
            <a:pPr algn="ctr" indent="0" marL="0">
              <a:buNone/>
            </a:pPr>
            <a:r>
              <a:rPr lang="en-US" sz="1100" b="1" dirty="0">
                <a:solidFill>
                  <a:srgbClr val="FFFFFF"/>
                </a:solidFill>
              </a:rPr>
              <a:t>Removal (Trimming)</a:t>
            </a:r>
            <a:endParaRPr lang="en-US" sz="1100" dirty="0"/>
          </a:p>
        </p:txBody>
      </p:sp>
      <p:sp>
        <p:nvSpPr>
          <p:cNvPr id="18" name="Shape 16"/>
          <p:cNvSpPr/>
          <p:nvPr/>
        </p:nvSpPr>
        <p:spPr>
          <a:xfrm>
            <a:off x="274320" y="1993392"/>
            <a:ext cx="8595360" cy="896112"/>
          </a:xfrm>
          <a:prstGeom prst="rect">
            <a:avLst/>
          </a:prstGeom>
          <a:solidFill>
            <a:srgbClr val="22304A"/>
          </a:solidFill>
          <a:ln w="15240">
            <a:solidFill>
              <a:srgbClr val="FF7043"/>
            </a:solidFill>
            <a:prstDash val="solid"/>
          </a:ln>
        </p:spPr>
      </p:sp>
      <p:sp>
        <p:nvSpPr>
          <p:cNvPr id="19" name="Shape 17"/>
          <p:cNvSpPr/>
          <p:nvPr/>
        </p:nvSpPr>
        <p:spPr>
          <a:xfrm>
            <a:off x="274320" y="1993392"/>
            <a:ext cx="548640" cy="896112"/>
          </a:xfrm>
          <a:prstGeom prst="rect">
            <a:avLst/>
          </a:prstGeom>
          <a:solidFill>
            <a:srgbClr val="FF7043"/>
          </a:solidFill>
          <a:ln w="12700">
            <a:solidFill>
              <a:srgbClr val="FF7043"/>
            </a:solidFill>
            <a:prstDash val="solid"/>
          </a:ln>
        </p:spPr>
      </p:sp>
      <p:sp>
        <p:nvSpPr>
          <p:cNvPr id="20" name="Text 18"/>
          <p:cNvSpPr/>
          <p:nvPr/>
        </p:nvSpPr>
        <p:spPr>
          <a:xfrm>
            <a:off x="274320" y="1993392"/>
            <a:ext cx="548640" cy="896112"/>
          </a:xfrm>
          <a:prstGeom prst="rect">
            <a:avLst/>
          </a:prstGeom>
          <a:noFill/>
          <a:ln/>
        </p:spPr>
        <p:txBody>
          <a:bodyPr wrap="square" lIns="0" tIns="0" rIns="0" bIns="0" rtlCol="0" anchor="ctr"/>
          <a:lstStyle/>
          <a:p>
            <a:pPr algn="ctr" indent="0" marL="0">
              <a:buNone/>
            </a:pPr>
            <a:r>
              <a:rPr lang="en-US" sz="1800" b="1" dirty="0">
                <a:solidFill>
                  <a:srgbClr val="131A28"/>
                </a:solidFill>
              </a:rPr>
              <a:t>2</a:t>
            </a:r>
            <a:endParaRPr lang="en-US" sz="1800" dirty="0"/>
          </a:p>
        </p:txBody>
      </p:sp>
      <p:sp>
        <p:nvSpPr>
          <p:cNvPr id="21" name="Text 19"/>
          <p:cNvSpPr/>
          <p:nvPr/>
        </p:nvSpPr>
        <p:spPr>
          <a:xfrm>
            <a:off x="932688" y="2066544"/>
            <a:ext cx="2286000" cy="292608"/>
          </a:xfrm>
          <a:prstGeom prst="rect">
            <a:avLst/>
          </a:prstGeom>
          <a:noFill/>
          <a:ln/>
        </p:spPr>
        <p:txBody>
          <a:bodyPr wrap="square" rtlCol="0" anchor="ctr"/>
          <a:lstStyle/>
          <a:p>
            <a:pPr indent="0" marL="0">
              <a:buNone/>
            </a:pPr>
            <a:r>
              <a:rPr lang="en-US" sz="1350" b="1" dirty="0">
                <a:solidFill>
                  <a:srgbClr val="FFFFFF"/>
                </a:solidFill>
              </a:rPr>
              <a:t>Capping / Flooring</a:t>
            </a:r>
            <a:endParaRPr lang="en-US" sz="1350" dirty="0"/>
          </a:p>
        </p:txBody>
      </p:sp>
      <p:sp>
        <p:nvSpPr>
          <p:cNvPr id="22" name="Text 20"/>
          <p:cNvSpPr/>
          <p:nvPr/>
        </p:nvSpPr>
        <p:spPr>
          <a:xfrm>
            <a:off x="932688" y="2414016"/>
            <a:ext cx="2286000" cy="438912"/>
          </a:xfrm>
          <a:prstGeom prst="rect">
            <a:avLst/>
          </a:prstGeom>
          <a:noFill/>
          <a:ln/>
        </p:spPr>
        <p:txBody>
          <a:bodyPr wrap="square" rtlCol="0" anchor="ctr"/>
          <a:lstStyle/>
          <a:p>
            <a:pPr indent="0" marL="0">
              <a:buNone/>
            </a:pPr>
            <a:r>
              <a:rPr lang="en-US" sz="1100" dirty="0">
                <a:solidFill>
                  <a:srgbClr val="90A4AE"/>
                </a:solidFill>
              </a:rPr>
              <a:t>Outliers are replaced with upper and lower bound thresholds. Values above the upper bound are capped; below the lower bound are floored.</a:t>
            </a:r>
            <a:endParaRPr lang="en-US" sz="1100" dirty="0"/>
          </a:p>
        </p:txBody>
      </p:sp>
      <p:sp>
        <p:nvSpPr>
          <p:cNvPr id="23" name="Shape 21"/>
          <p:cNvSpPr/>
          <p:nvPr/>
        </p:nvSpPr>
        <p:spPr>
          <a:xfrm>
            <a:off x="3337560" y="2048256"/>
            <a:ext cx="2724912" cy="365760"/>
          </a:xfrm>
          <a:prstGeom prst="rect">
            <a:avLst/>
          </a:prstGeom>
          <a:solidFill>
            <a:srgbClr val="43A047">
              <a:alpha val="12000"/>
            </a:srgbClr>
          </a:solidFill>
          <a:ln w="10160">
            <a:solidFill>
              <a:srgbClr val="43A047"/>
            </a:solidFill>
            <a:prstDash val="solid"/>
          </a:ln>
        </p:spPr>
      </p:sp>
      <p:sp>
        <p:nvSpPr>
          <p:cNvPr id="24" name="Shape 22"/>
          <p:cNvSpPr/>
          <p:nvPr/>
        </p:nvSpPr>
        <p:spPr>
          <a:xfrm>
            <a:off x="3337560" y="2048256"/>
            <a:ext cx="45720" cy="365760"/>
          </a:xfrm>
          <a:prstGeom prst="rect">
            <a:avLst/>
          </a:prstGeom>
          <a:solidFill>
            <a:srgbClr val="43A047"/>
          </a:solidFill>
          <a:ln w="12700">
            <a:solidFill>
              <a:srgbClr val="43A047"/>
            </a:solidFill>
            <a:prstDash val="solid"/>
          </a:ln>
        </p:spPr>
      </p:sp>
      <p:sp>
        <p:nvSpPr>
          <p:cNvPr id="25" name="Text 23"/>
          <p:cNvSpPr/>
          <p:nvPr/>
        </p:nvSpPr>
        <p:spPr>
          <a:xfrm>
            <a:off x="3419856" y="2048256"/>
            <a:ext cx="2578608" cy="365760"/>
          </a:xfrm>
          <a:prstGeom prst="rect">
            <a:avLst/>
          </a:prstGeom>
          <a:noFill/>
          <a:ln/>
        </p:spPr>
        <p:txBody>
          <a:bodyPr wrap="square" rtlCol="0" anchor="ctr"/>
          <a:lstStyle/>
          <a:p>
            <a:pPr indent="0" marL="0">
              <a:buNone/>
            </a:pPr>
            <a:r>
              <a:rPr lang="en-US" sz="1000" dirty="0">
                <a:solidFill>
                  <a:srgbClr val="43A047"/>
                </a:solidFill>
              </a:rPr>
              <a:t>Best for: Numeric features with long-tailed distributions — all data points are preserved.</a:t>
            </a:r>
            <a:endParaRPr lang="en-US" sz="1000" dirty="0"/>
          </a:p>
        </p:txBody>
      </p:sp>
      <p:sp>
        <p:nvSpPr>
          <p:cNvPr id="26" name="Shape 24"/>
          <p:cNvSpPr/>
          <p:nvPr/>
        </p:nvSpPr>
        <p:spPr>
          <a:xfrm>
            <a:off x="3337560" y="2468880"/>
            <a:ext cx="2724912" cy="347472"/>
          </a:xfrm>
          <a:prstGeom prst="rect">
            <a:avLst/>
          </a:prstGeom>
          <a:solidFill>
            <a:srgbClr val="FFB300">
              <a:alpha val="12000"/>
            </a:srgbClr>
          </a:solidFill>
          <a:ln w="10160">
            <a:solidFill>
              <a:srgbClr val="FFB300"/>
            </a:solidFill>
            <a:prstDash val="solid"/>
          </a:ln>
        </p:spPr>
      </p:sp>
      <p:sp>
        <p:nvSpPr>
          <p:cNvPr id="27" name="Shape 25"/>
          <p:cNvSpPr/>
          <p:nvPr/>
        </p:nvSpPr>
        <p:spPr>
          <a:xfrm>
            <a:off x="3337560" y="2468880"/>
            <a:ext cx="45720" cy="347472"/>
          </a:xfrm>
          <a:prstGeom prst="rect">
            <a:avLst/>
          </a:prstGeom>
          <a:solidFill>
            <a:srgbClr val="FFB300"/>
          </a:solidFill>
          <a:ln w="12700">
            <a:solidFill>
              <a:srgbClr val="FFB300"/>
            </a:solidFill>
            <a:prstDash val="solid"/>
          </a:ln>
        </p:spPr>
      </p:sp>
      <p:sp>
        <p:nvSpPr>
          <p:cNvPr id="28" name="Text 26"/>
          <p:cNvSpPr/>
          <p:nvPr/>
        </p:nvSpPr>
        <p:spPr>
          <a:xfrm>
            <a:off x="3419856" y="2468880"/>
            <a:ext cx="2578608" cy="347472"/>
          </a:xfrm>
          <a:prstGeom prst="rect">
            <a:avLst/>
          </a:prstGeom>
          <a:noFill/>
          <a:ln/>
        </p:spPr>
        <p:txBody>
          <a:bodyPr wrap="square" rtlCol="0" anchor="ctr"/>
          <a:lstStyle/>
          <a:p>
            <a:pPr indent="0" marL="0">
              <a:buNone/>
            </a:pPr>
            <a:r>
              <a:rPr lang="en-US" sz="1000" dirty="0">
                <a:solidFill>
                  <a:srgbClr val="FFB300"/>
                </a:solidFill>
              </a:rPr>
              <a:t>Note: May mask real extreme signals in the data.</a:t>
            </a:r>
            <a:endParaRPr lang="en-US" sz="1000" dirty="0"/>
          </a:p>
        </p:txBody>
      </p:sp>
      <p:sp>
        <p:nvSpPr>
          <p:cNvPr id="29" name="Shape 27"/>
          <p:cNvSpPr/>
          <p:nvPr/>
        </p:nvSpPr>
        <p:spPr>
          <a:xfrm>
            <a:off x="6172200" y="2267712"/>
            <a:ext cx="2578608" cy="347472"/>
          </a:xfrm>
          <a:prstGeom prst="roundRect">
            <a:avLst>
              <a:gd name="adj" fmla="val 21053"/>
            </a:avLst>
          </a:prstGeom>
          <a:solidFill>
            <a:srgbClr val="FF7043">
              <a:alpha val="75000"/>
            </a:srgbClr>
          </a:solidFill>
          <a:ln w="12700">
            <a:solidFill>
              <a:srgbClr val="FF7043"/>
            </a:solidFill>
            <a:prstDash val="solid"/>
          </a:ln>
        </p:spPr>
      </p:sp>
      <p:sp>
        <p:nvSpPr>
          <p:cNvPr id="30" name="Text 28"/>
          <p:cNvSpPr/>
          <p:nvPr/>
        </p:nvSpPr>
        <p:spPr>
          <a:xfrm>
            <a:off x="6172200" y="2267712"/>
            <a:ext cx="2578608" cy="347472"/>
          </a:xfrm>
          <a:prstGeom prst="rect">
            <a:avLst/>
          </a:prstGeom>
          <a:noFill/>
          <a:ln/>
        </p:spPr>
        <p:txBody>
          <a:bodyPr wrap="square" lIns="0" tIns="0" rIns="0" bIns="0" rtlCol="0" anchor="ctr"/>
          <a:lstStyle/>
          <a:p>
            <a:pPr algn="ctr" indent="0" marL="0">
              <a:buNone/>
            </a:pPr>
            <a:r>
              <a:rPr lang="en-US" sz="1100" b="1" dirty="0">
                <a:solidFill>
                  <a:srgbClr val="FFFFFF"/>
                </a:solidFill>
              </a:rPr>
              <a:t>Capping / Flooring</a:t>
            </a:r>
            <a:endParaRPr lang="en-US" sz="1100" dirty="0"/>
          </a:p>
        </p:txBody>
      </p:sp>
      <p:sp>
        <p:nvSpPr>
          <p:cNvPr id="31" name="Shape 29"/>
          <p:cNvSpPr/>
          <p:nvPr/>
        </p:nvSpPr>
        <p:spPr>
          <a:xfrm>
            <a:off x="274320" y="3017520"/>
            <a:ext cx="8595360" cy="896112"/>
          </a:xfrm>
          <a:prstGeom prst="rect">
            <a:avLst/>
          </a:prstGeom>
          <a:solidFill>
            <a:srgbClr val="22304A"/>
          </a:solidFill>
          <a:ln w="15240">
            <a:solidFill>
              <a:srgbClr val="FFB300"/>
            </a:solidFill>
            <a:prstDash val="solid"/>
          </a:ln>
        </p:spPr>
      </p:sp>
      <p:sp>
        <p:nvSpPr>
          <p:cNvPr id="32" name="Shape 30"/>
          <p:cNvSpPr/>
          <p:nvPr/>
        </p:nvSpPr>
        <p:spPr>
          <a:xfrm>
            <a:off x="274320" y="3017520"/>
            <a:ext cx="548640" cy="896112"/>
          </a:xfrm>
          <a:prstGeom prst="rect">
            <a:avLst/>
          </a:prstGeom>
          <a:solidFill>
            <a:srgbClr val="FFB300"/>
          </a:solidFill>
          <a:ln w="12700">
            <a:solidFill>
              <a:srgbClr val="FFB300"/>
            </a:solidFill>
            <a:prstDash val="solid"/>
          </a:ln>
        </p:spPr>
      </p:sp>
      <p:sp>
        <p:nvSpPr>
          <p:cNvPr id="33" name="Text 31"/>
          <p:cNvSpPr/>
          <p:nvPr/>
        </p:nvSpPr>
        <p:spPr>
          <a:xfrm>
            <a:off x="274320" y="3017520"/>
            <a:ext cx="548640" cy="896112"/>
          </a:xfrm>
          <a:prstGeom prst="rect">
            <a:avLst/>
          </a:prstGeom>
          <a:noFill/>
          <a:ln/>
        </p:spPr>
        <p:txBody>
          <a:bodyPr wrap="square" lIns="0" tIns="0" rIns="0" bIns="0" rtlCol="0" anchor="ctr"/>
          <a:lstStyle/>
          <a:p>
            <a:pPr algn="ctr" indent="0" marL="0">
              <a:buNone/>
            </a:pPr>
            <a:r>
              <a:rPr lang="en-US" sz="1800" b="1" dirty="0">
                <a:solidFill>
                  <a:srgbClr val="131A28"/>
                </a:solidFill>
              </a:rPr>
              <a:t>3</a:t>
            </a:r>
            <a:endParaRPr lang="en-US" sz="1800" dirty="0"/>
          </a:p>
        </p:txBody>
      </p:sp>
      <p:sp>
        <p:nvSpPr>
          <p:cNvPr id="34" name="Text 32"/>
          <p:cNvSpPr/>
          <p:nvPr/>
        </p:nvSpPr>
        <p:spPr>
          <a:xfrm>
            <a:off x="932688" y="3090672"/>
            <a:ext cx="2286000" cy="292608"/>
          </a:xfrm>
          <a:prstGeom prst="rect">
            <a:avLst/>
          </a:prstGeom>
          <a:noFill/>
          <a:ln/>
        </p:spPr>
        <p:txBody>
          <a:bodyPr wrap="square" rtlCol="0" anchor="ctr"/>
          <a:lstStyle/>
          <a:p>
            <a:pPr indent="0" marL="0">
              <a:buNone/>
            </a:pPr>
            <a:r>
              <a:rPr lang="en-US" sz="1350" b="1" dirty="0">
                <a:solidFill>
                  <a:srgbClr val="FFFFFF"/>
                </a:solidFill>
              </a:rPr>
              <a:t>Mean / Median Imputation</a:t>
            </a:r>
            <a:endParaRPr lang="en-US" sz="1350" dirty="0"/>
          </a:p>
        </p:txBody>
      </p:sp>
      <p:sp>
        <p:nvSpPr>
          <p:cNvPr id="35" name="Text 33"/>
          <p:cNvSpPr/>
          <p:nvPr/>
        </p:nvSpPr>
        <p:spPr>
          <a:xfrm>
            <a:off x="932688" y="3438144"/>
            <a:ext cx="2286000" cy="438912"/>
          </a:xfrm>
          <a:prstGeom prst="rect">
            <a:avLst/>
          </a:prstGeom>
          <a:noFill/>
          <a:ln/>
        </p:spPr>
        <p:txBody>
          <a:bodyPr wrap="square" rtlCol="0" anchor="ctr"/>
          <a:lstStyle/>
          <a:p>
            <a:pPr indent="0" marL="0">
              <a:buNone/>
            </a:pPr>
            <a:r>
              <a:rPr lang="en-US" sz="1100" dirty="0">
                <a:solidFill>
                  <a:srgbClr val="90A4AE"/>
                </a:solidFill>
              </a:rPr>
              <a:t>Outliers are replaced with the mean or median of the data. Median imputation is preferred — less affected by extreme values.</a:t>
            </a:r>
            <a:endParaRPr lang="en-US" sz="1100" dirty="0"/>
          </a:p>
        </p:txBody>
      </p:sp>
      <p:sp>
        <p:nvSpPr>
          <p:cNvPr id="36" name="Shape 34"/>
          <p:cNvSpPr/>
          <p:nvPr/>
        </p:nvSpPr>
        <p:spPr>
          <a:xfrm>
            <a:off x="3337560" y="3072384"/>
            <a:ext cx="2724912" cy="365760"/>
          </a:xfrm>
          <a:prstGeom prst="rect">
            <a:avLst/>
          </a:prstGeom>
          <a:solidFill>
            <a:srgbClr val="43A047">
              <a:alpha val="12000"/>
            </a:srgbClr>
          </a:solidFill>
          <a:ln w="10160">
            <a:solidFill>
              <a:srgbClr val="43A047"/>
            </a:solidFill>
            <a:prstDash val="solid"/>
          </a:ln>
        </p:spPr>
      </p:sp>
      <p:sp>
        <p:nvSpPr>
          <p:cNvPr id="37" name="Shape 35"/>
          <p:cNvSpPr/>
          <p:nvPr/>
        </p:nvSpPr>
        <p:spPr>
          <a:xfrm>
            <a:off x="3337560" y="3072384"/>
            <a:ext cx="45720" cy="365760"/>
          </a:xfrm>
          <a:prstGeom prst="rect">
            <a:avLst/>
          </a:prstGeom>
          <a:solidFill>
            <a:srgbClr val="43A047"/>
          </a:solidFill>
          <a:ln w="12700">
            <a:solidFill>
              <a:srgbClr val="43A047"/>
            </a:solidFill>
            <a:prstDash val="solid"/>
          </a:ln>
        </p:spPr>
      </p:sp>
      <p:sp>
        <p:nvSpPr>
          <p:cNvPr id="38" name="Text 36"/>
          <p:cNvSpPr/>
          <p:nvPr/>
        </p:nvSpPr>
        <p:spPr>
          <a:xfrm>
            <a:off x="3419856" y="3072384"/>
            <a:ext cx="2578608" cy="365760"/>
          </a:xfrm>
          <a:prstGeom prst="rect">
            <a:avLst/>
          </a:prstGeom>
          <a:noFill/>
          <a:ln/>
        </p:spPr>
        <p:txBody>
          <a:bodyPr wrap="square" rtlCol="0" anchor="ctr"/>
          <a:lstStyle/>
          <a:p>
            <a:pPr indent="0" marL="0">
              <a:buNone/>
            </a:pPr>
            <a:r>
              <a:rPr lang="en-US" sz="1000" dirty="0">
                <a:solidFill>
                  <a:srgbClr val="43A047"/>
                </a:solidFill>
              </a:rPr>
              <a:t>Best for: Datasets where outliers are rare and likely due to errors.</a:t>
            </a:r>
            <a:endParaRPr lang="en-US" sz="1000" dirty="0"/>
          </a:p>
        </p:txBody>
      </p:sp>
      <p:sp>
        <p:nvSpPr>
          <p:cNvPr id="39" name="Shape 37"/>
          <p:cNvSpPr/>
          <p:nvPr/>
        </p:nvSpPr>
        <p:spPr>
          <a:xfrm>
            <a:off x="3337560" y="3493008"/>
            <a:ext cx="2724912" cy="347472"/>
          </a:xfrm>
          <a:prstGeom prst="rect">
            <a:avLst/>
          </a:prstGeom>
          <a:solidFill>
            <a:srgbClr val="FFB300">
              <a:alpha val="12000"/>
            </a:srgbClr>
          </a:solidFill>
          <a:ln w="10160">
            <a:solidFill>
              <a:srgbClr val="FFB300"/>
            </a:solidFill>
            <a:prstDash val="solid"/>
          </a:ln>
        </p:spPr>
      </p:sp>
      <p:sp>
        <p:nvSpPr>
          <p:cNvPr id="40" name="Shape 38"/>
          <p:cNvSpPr/>
          <p:nvPr/>
        </p:nvSpPr>
        <p:spPr>
          <a:xfrm>
            <a:off x="3337560" y="3493008"/>
            <a:ext cx="45720" cy="347472"/>
          </a:xfrm>
          <a:prstGeom prst="rect">
            <a:avLst/>
          </a:prstGeom>
          <a:solidFill>
            <a:srgbClr val="FFB300"/>
          </a:solidFill>
          <a:ln w="12700">
            <a:solidFill>
              <a:srgbClr val="FFB300"/>
            </a:solidFill>
            <a:prstDash val="solid"/>
          </a:ln>
        </p:spPr>
      </p:sp>
      <p:sp>
        <p:nvSpPr>
          <p:cNvPr id="41" name="Text 39"/>
          <p:cNvSpPr/>
          <p:nvPr/>
        </p:nvSpPr>
        <p:spPr>
          <a:xfrm>
            <a:off x="3419856" y="3493008"/>
            <a:ext cx="2578608" cy="347472"/>
          </a:xfrm>
          <a:prstGeom prst="rect">
            <a:avLst/>
          </a:prstGeom>
          <a:noFill/>
          <a:ln/>
        </p:spPr>
        <p:txBody>
          <a:bodyPr wrap="square" rtlCol="0" anchor="ctr"/>
          <a:lstStyle/>
          <a:p>
            <a:pPr indent="0" marL="0">
              <a:buNone/>
            </a:pPr>
            <a:r>
              <a:rPr lang="en-US" sz="1000" dirty="0">
                <a:solidFill>
                  <a:srgbClr val="FFB300"/>
                </a:solidFill>
              </a:rPr>
              <a:t>Note: Median is preferred over mean as mean itself is affected by outliers.</a:t>
            </a:r>
            <a:endParaRPr lang="en-US" sz="1000" dirty="0"/>
          </a:p>
        </p:txBody>
      </p:sp>
      <p:sp>
        <p:nvSpPr>
          <p:cNvPr id="42" name="Shape 40"/>
          <p:cNvSpPr/>
          <p:nvPr/>
        </p:nvSpPr>
        <p:spPr>
          <a:xfrm>
            <a:off x="6172200" y="3291840"/>
            <a:ext cx="2578608" cy="347472"/>
          </a:xfrm>
          <a:prstGeom prst="roundRect">
            <a:avLst>
              <a:gd name="adj" fmla="val 21053"/>
            </a:avLst>
          </a:prstGeom>
          <a:solidFill>
            <a:srgbClr val="FFB300">
              <a:alpha val="75000"/>
            </a:srgbClr>
          </a:solidFill>
          <a:ln w="12700">
            <a:solidFill>
              <a:srgbClr val="FFB300"/>
            </a:solidFill>
            <a:prstDash val="solid"/>
          </a:ln>
        </p:spPr>
      </p:sp>
      <p:sp>
        <p:nvSpPr>
          <p:cNvPr id="43" name="Text 41"/>
          <p:cNvSpPr/>
          <p:nvPr/>
        </p:nvSpPr>
        <p:spPr>
          <a:xfrm>
            <a:off x="6172200" y="3291840"/>
            <a:ext cx="2578608" cy="347472"/>
          </a:xfrm>
          <a:prstGeom prst="rect">
            <a:avLst/>
          </a:prstGeom>
          <a:noFill/>
          <a:ln/>
        </p:spPr>
        <p:txBody>
          <a:bodyPr wrap="square" lIns="0" tIns="0" rIns="0" bIns="0" rtlCol="0" anchor="ctr"/>
          <a:lstStyle/>
          <a:p>
            <a:pPr algn="ctr" indent="0" marL="0">
              <a:buNone/>
            </a:pPr>
            <a:r>
              <a:rPr lang="en-US" sz="1100" b="1" dirty="0">
                <a:solidFill>
                  <a:srgbClr val="FFFFFF"/>
                </a:solidFill>
              </a:rPr>
              <a:t>Mean / Median Imputation</a:t>
            </a:r>
            <a:endParaRPr lang="en-US" sz="1100" dirty="0"/>
          </a:p>
        </p:txBody>
      </p:sp>
      <p:sp>
        <p:nvSpPr>
          <p:cNvPr id="44" name="Shape 42"/>
          <p:cNvSpPr/>
          <p:nvPr/>
        </p:nvSpPr>
        <p:spPr>
          <a:xfrm>
            <a:off x="274320" y="4041648"/>
            <a:ext cx="8595360" cy="896112"/>
          </a:xfrm>
          <a:prstGeom prst="rect">
            <a:avLst/>
          </a:prstGeom>
          <a:solidFill>
            <a:srgbClr val="22304A"/>
          </a:solidFill>
          <a:ln w="15240">
            <a:solidFill>
              <a:srgbClr val="00ACC1"/>
            </a:solidFill>
            <a:prstDash val="solid"/>
          </a:ln>
        </p:spPr>
      </p:sp>
      <p:sp>
        <p:nvSpPr>
          <p:cNvPr id="45" name="Shape 43"/>
          <p:cNvSpPr/>
          <p:nvPr/>
        </p:nvSpPr>
        <p:spPr>
          <a:xfrm>
            <a:off x="274320" y="4041648"/>
            <a:ext cx="548640" cy="896112"/>
          </a:xfrm>
          <a:prstGeom prst="rect">
            <a:avLst/>
          </a:prstGeom>
          <a:solidFill>
            <a:srgbClr val="00ACC1"/>
          </a:solidFill>
          <a:ln w="12700">
            <a:solidFill>
              <a:srgbClr val="00ACC1"/>
            </a:solidFill>
            <a:prstDash val="solid"/>
          </a:ln>
        </p:spPr>
      </p:sp>
      <p:sp>
        <p:nvSpPr>
          <p:cNvPr id="46" name="Text 44"/>
          <p:cNvSpPr/>
          <p:nvPr/>
        </p:nvSpPr>
        <p:spPr>
          <a:xfrm>
            <a:off x="274320" y="4041648"/>
            <a:ext cx="548640" cy="896112"/>
          </a:xfrm>
          <a:prstGeom prst="rect">
            <a:avLst/>
          </a:prstGeom>
          <a:noFill/>
          <a:ln/>
        </p:spPr>
        <p:txBody>
          <a:bodyPr wrap="square" lIns="0" tIns="0" rIns="0" bIns="0" rtlCol="0" anchor="ctr"/>
          <a:lstStyle/>
          <a:p>
            <a:pPr algn="ctr" indent="0" marL="0">
              <a:buNone/>
            </a:pPr>
            <a:r>
              <a:rPr lang="en-US" sz="1800" b="1" dirty="0">
                <a:solidFill>
                  <a:srgbClr val="131A28"/>
                </a:solidFill>
              </a:rPr>
              <a:t>4</a:t>
            </a:r>
            <a:endParaRPr lang="en-US" sz="1800" dirty="0"/>
          </a:p>
        </p:txBody>
      </p:sp>
      <p:sp>
        <p:nvSpPr>
          <p:cNvPr id="47" name="Text 45"/>
          <p:cNvSpPr/>
          <p:nvPr/>
        </p:nvSpPr>
        <p:spPr>
          <a:xfrm>
            <a:off x="932688" y="4114800"/>
            <a:ext cx="2286000" cy="292608"/>
          </a:xfrm>
          <a:prstGeom prst="rect">
            <a:avLst/>
          </a:prstGeom>
          <a:noFill/>
          <a:ln/>
        </p:spPr>
        <p:txBody>
          <a:bodyPr wrap="square" rtlCol="0" anchor="ctr"/>
          <a:lstStyle/>
          <a:p>
            <a:pPr indent="0" marL="0">
              <a:buNone/>
            </a:pPr>
            <a:r>
              <a:rPr lang="en-US" sz="1350" b="1" dirty="0">
                <a:solidFill>
                  <a:srgbClr val="FFFFFF"/>
                </a:solidFill>
              </a:rPr>
              <a:t>Transformation</a:t>
            </a:r>
            <a:endParaRPr lang="en-US" sz="1350" dirty="0"/>
          </a:p>
        </p:txBody>
      </p:sp>
      <p:sp>
        <p:nvSpPr>
          <p:cNvPr id="48" name="Text 46"/>
          <p:cNvSpPr/>
          <p:nvPr/>
        </p:nvSpPr>
        <p:spPr>
          <a:xfrm>
            <a:off x="932688" y="4462272"/>
            <a:ext cx="2286000" cy="438912"/>
          </a:xfrm>
          <a:prstGeom prst="rect">
            <a:avLst/>
          </a:prstGeom>
          <a:noFill/>
          <a:ln/>
        </p:spPr>
        <p:txBody>
          <a:bodyPr wrap="square" rtlCol="0" anchor="ctr"/>
          <a:lstStyle/>
          <a:p>
            <a:pPr indent="0" marL="0">
              <a:buNone/>
            </a:pPr>
            <a:r>
              <a:rPr lang="en-US" sz="1100" dirty="0">
                <a:solidFill>
                  <a:srgbClr val="90A4AE"/>
                </a:solidFill>
              </a:rPr>
              <a:t>Applying logarithmic (log) or Box-Cox transformation compresses the scale — reducing the relative impact of extreme values.</a:t>
            </a:r>
            <a:endParaRPr lang="en-US" sz="1100" dirty="0"/>
          </a:p>
        </p:txBody>
      </p:sp>
      <p:sp>
        <p:nvSpPr>
          <p:cNvPr id="49" name="Shape 47"/>
          <p:cNvSpPr/>
          <p:nvPr/>
        </p:nvSpPr>
        <p:spPr>
          <a:xfrm>
            <a:off x="3337560" y="4096512"/>
            <a:ext cx="2724912" cy="365760"/>
          </a:xfrm>
          <a:prstGeom prst="rect">
            <a:avLst/>
          </a:prstGeom>
          <a:solidFill>
            <a:srgbClr val="43A047">
              <a:alpha val="12000"/>
            </a:srgbClr>
          </a:solidFill>
          <a:ln w="10160">
            <a:solidFill>
              <a:srgbClr val="43A047"/>
            </a:solidFill>
            <a:prstDash val="solid"/>
          </a:ln>
        </p:spPr>
      </p:sp>
      <p:sp>
        <p:nvSpPr>
          <p:cNvPr id="50" name="Shape 48"/>
          <p:cNvSpPr/>
          <p:nvPr/>
        </p:nvSpPr>
        <p:spPr>
          <a:xfrm>
            <a:off x="3337560" y="4096512"/>
            <a:ext cx="45720" cy="365760"/>
          </a:xfrm>
          <a:prstGeom prst="rect">
            <a:avLst/>
          </a:prstGeom>
          <a:solidFill>
            <a:srgbClr val="43A047"/>
          </a:solidFill>
          <a:ln w="12700">
            <a:solidFill>
              <a:srgbClr val="43A047"/>
            </a:solidFill>
            <a:prstDash val="solid"/>
          </a:ln>
        </p:spPr>
      </p:sp>
      <p:sp>
        <p:nvSpPr>
          <p:cNvPr id="51" name="Text 49"/>
          <p:cNvSpPr/>
          <p:nvPr/>
        </p:nvSpPr>
        <p:spPr>
          <a:xfrm>
            <a:off x="3419856" y="4096512"/>
            <a:ext cx="2578608" cy="365760"/>
          </a:xfrm>
          <a:prstGeom prst="rect">
            <a:avLst/>
          </a:prstGeom>
          <a:noFill/>
          <a:ln/>
        </p:spPr>
        <p:txBody>
          <a:bodyPr wrap="square" rtlCol="0" anchor="ctr"/>
          <a:lstStyle/>
          <a:p>
            <a:pPr indent="0" marL="0">
              <a:buNone/>
            </a:pPr>
            <a:r>
              <a:rPr lang="en-US" sz="1000" dirty="0">
                <a:solidFill>
                  <a:srgbClr val="43A047"/>
                </a:solidFill>
              </a:rPr>
              <a:t>Best for: When preserving all data points is important but their influence needs moderation.</a:t>
            </a:r>
            <a:endParaRPr lang="en-US" sz="1000" dirty="0"/>
          </a:p>
        </p:txBody>
      </p:sp>
      <p:sp>
        <p:nvSpPr>
          <p:cNvPr id="52" name="Shape 50"/>
          <p:cNvSpPr/>
          <p:nvPr/>
        </p:nvSpPr>
        <p:spPr>
          <a:xfrm>
            <a:off x="3337560" y="4517136"/>
            <a:ext cx="2724912" cy="347472"/>
          </a:xfrm>
          <a:prstGeom prst="rect">
            <a:avLst/>
          </a:prstGeom>
          <a:solidFill>
            <a:srgbClr val="FFB300">
              <a:alpha val="12000"/>
            </a:srgbClr>
          </a:solidFill>
          <a:ln w="10160">
            <a:solidFill>
              <a:srgbClr val="FFB300"/>
            </a:solidFill>
            <a:prstDash val="solid"/>
          </a:ln>
        </p:spPr>
      </p:sp>
      <p:sp>
        <p:nvSpPr>
          <p:cNvPr id="53" name="Shape 51"/>
          <p:cNvSpPr/>
          <p:nvPr/>
        </p:nvSpPr>
        <p:spPr>
          <a:xfrm>
            <a:off x="3337560" y="4517136"/>
            <a:ext cx="45720" cy="347472"/>
          </a:xfrm>
          <a:prstGeom prst="rect">
            <a:avLst/>
          </a:prstGeom>
          <a:solidFill>
            <a:srgbClr val="FFB300"/>
          </a:solidFill>
          <a:ln w="12700">
            <a:solidFill>
              <a:srgbClr val="FFB300"/>
            </a:solidFill>
            <a:prstDash val="solid"/>
          </a:ln>
        </p:spPr>
      </p:sp>
      <p:sp>
        <p:nvSpPr>
          <p:cNvPr id="54" name="Text 52"/>
          <p:cNvSpPr/>
          <p:nvPr/>
        </p:nvSpPr>
        <p:spPr>
          <a:xfrm>
            <a:off x="3419856" y="4517136"/>
            <a:ext cx="2578608" cy="347472"/>
          </a:xfrm>
          <a:prstGeom prst="rect">
            <a:avLst/>
          </a:prstGeom>
          <a:noFill/>
          <a:ln/>
        </p:spPr>
        <p:txBody>
          <a:bodyPr wrap="square" rtlCol="0" anchor="ctr"/>
          <a:lstStyle/>
          <a:p>
            <a:pPr indent="0" marL="0">
              <a:buNone/>
            </a:pPr>
            <a:r>
              <a:rPr lang="en-US" sz="1000" dirty="0">
                <a:solidFill>
                  <a:srgbClr val="FFB300"/>
                </a:solidFill>
              </a:rPr>
              <a:t>Note: Transformation changes data scale — models must be interpreted accordingly.</a:t>
            </a:r>
            <a:endParaRPr lang="en-US" sz="1000" dirty="0"/>
          </a:p>
        </p:txBody>
      </p:sp>
      <p:sp>
        <p:nvSpPr>
          <p:cNvPr id="55" name="Shape 53"/>
          <p:cNvSpPr/>
          <p:nvPr/>
        </p:nvSpPr>
        <p:spPr>
          <a:xfrm>
            <a:off x="6172200" y="4315968"/>
            <a:ext cx="2578608" cy="347472"/>
          </a:xfrm>
          <a:prstGeom prst="roundRect">
            <a:avLst>
              <a:gd name="adj" fmla="val 21053"/>
            </a:avLst>
          </a:prstGeom>
          <a:solidFill>
            <a:srgbClr val="00ACC1">
              <a:alpha val="75000"/>
            </a:srgbClr>
          </a:solidFill>
          <a:ln w="12700">
            <a:solidFill>
              <a:srgbClr val="00ACC1"/>
            </a:solidFill>
            <a:prstDash val="solid"/>
          </a:ln>
        </p:spPr>
      </p:sp>
      <p:sp>
        <p:nvSpPr>
          <p:cNvPr id="56" name="Text 54"/>
          <p:cNvSpPr/>
          <p:nvPr/>
        </p:nvSpPr>
        <p:spPr>
          <a:xfrm>
            <a:off x="6172200" y="4315968"/>
            <a:ext cx="2578608" cy="347472"/>
          </a:xfrm>
          <a:prstGeom prst="rect">
            <a:avLst/>
          </a:prstGeom>
          <a:noFill/>
          <a:ln/>
        </p:spPr>
        <p:txBody>
          <a:bodyPr wrap="square" lIns="0" tIns="0" rIns="0" bIns="0" rtlCol="0" anchor="ctr"/>
          <a:lstStyle/>
          <a:p>
            <a:pPr algn="ctr" indent="0" marL="0">
              <a:buNone/>
            </a:pPr>
            <a:r>
              <a:rPr lang="en-US" sz="1100" b="1" dirty="0">
                <a:solidFill>
                  <a:srgbClr val="FFFFFF"/>
                </a:solidFill>
              </a:rPr>
              <a:t>Transformation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31A28"/>
          </a:solidFill>
          <a:ln w="12700">
            <a:solidFill>
              <a:srgbClr val="131A28"/>
            </a:solidFill>
            <a:prstDash val="solid"/>
          </a:ln>
        </p:spPr>
      </p:sp>
      <p:sp>
        <p:nvSpPr>
          <p:cNvPr id="3" name="Shape 1"/>
          <p:cNvSpPr/>
          <p:nvPr/>
        </p:nvSpPr>
        <p:spPr>
          <a:xfrm>
            <a:off x="0" y="594360"/>
            <a:ext cx="4572000" cy="64008"/>
          </a:xfrm>
          <a:prstGeom prst="rect">
            <a:avLst/>
          </a:prstGeom>
          <a:solidFill>
            <a:srgbClr val="E53935"/>
          </a:solidFill>
          <a:ln w="12700">
            <a:solidFill>
              <a:srgbClr val="E53935"/>
            </a:solidFill>
            <a:prstDash val="solid"/>
          </a:ln>
        </p:spPr>
      </p:sp>
      <p:sp>
        <p:nvSpPr>
          <p:cNvPr id="4" name="Shape 2"/>
          <p:cNvSpPr/>
          <p:nvPr/>
        </p:nvSpPr>
        <p:spPr>
          <a:xfrm>
            <a:off x="4572000" y="594360"/>
            <a:ext cx="4572000" cy="64008"/>
          </a:xfrm>
          <a:prstGeom prst="rect">
            <a:avLst/>
          </a:prstGeom>
          <a:solidFill>
            <a:srgbClr val="43A047"/>
          </a:solidFill>
          <a:ln w="12700">
            <a:solidFill>
              <a:srgbClr val="43A047"/>
            </a:solidFill>
            <a:prstDash val="solid"/>
          </a:ln>
        </p:spPr>
      </p:sp>
      <p:sp>
        <p:nvSpPr>
          <p:cNvPr id="5" name="Text 3"/>
          <p:cNvSpPr/>
          <p:nvPr/>
        </p:nvSpPr>
        <p:spPr>
          <a:xfrm>
            <a:off x="457200" y="91440"/>
            <a:ext cx="8229600" cy="457200"/>
          </a:xfrm>
          <a:prstGeom prst="rect">
            <a:avLst/>
          </a:prstGeom>
          <a:noFill/>
          <a:ln/>
        </p:spPr>
        <p:txBody>
          <a:bodyPr wrap="square" rtlCol="0" anchor="ctr"/>
          <a:lstStyle/>
          <a:p>
            <a:pPr indent="0" marL="0">
              <a:buNone/>
            </a:pPr>
            <a:r>
              <a:rPr lang="en-US" sz="2300" b="1" dirty="0">
                <a:solidFill>
                  <a:srgbClr val="FFFFFF"/>
                </a:solidFill>
                <a:latin typeface="Calibri" pitchFamily="34" charset="0"/>
                <a:ea typeface="Calibri" pitchFamily="34" charset="-122"/>
                <a:cs typeface="Calibri" pitchFamily="34" charset="-120"/>
              </a:rPr>
              <a:t>When to Drop or Keep Outliers</a:t>
            </a:r>
            <a:endParaRPr lang="en-US" sz="2300" dirty="0"/>
          </a:p>
        </p:txBody>
      </p:sp>
      <p:sp>
        <p:nvSpPr>
          <p:cNvPr id="6" name="Shape 4"/>
          <p:cNvSpPr/>
          <p:nvPr/>
        </p:nvSpPr>
        <p:spPr>
          <a:xfrm>
            <a:off x="274320" y="804672"/>
            <a:ext cx="4069080" cy="4069080"/>
          </a:xfrm>
          <a:prstGeom prst="rect">
            <a:avLst/>
          </a:prstGeom>
          <a:solidFill>
            <a:srgbClr val="FFFFFF"/>
          </a:solidFill>
          <a:ln w="19050">
            <a:solidFill>
              <a:srgbClr val="E53935"/>
            </a:solidFill>
            <a:prstDash val="solid"/>
          </a:ln>
          <a:effectLst>
            <a:outerShdw sx="100000" sy="100000" kx="0" ky="0" algn="bl" rotWithShape="0" blurRad="127000" dist="38100" dir="8100000">
              <a:srgbClr val="000000">
                <a:alpha val="16000"/>
              </a:srgbClr>
            </a:outerShdw>
          </a:effectLst>
        </p:spPr>
      </p:sp>
      <p:sp>
        <p:nvSpPr>
          <p:cNvPr id="7" name="Shape 5"/>
          <p:cNvSpPr/>
          <p:nvPr/>
        </p:nvSpPr>
        <p:spPr>
          <a:xfrm>
            <a:off x="274320" y="804672"/>
            <a:ext cx="4069080" cy="475488"/>
          </a:xfrm>
          <a:prstGeom prst="rect">
            <a:avLst/>
          </a:prstGeom>
          <a:solidFill>
            <a:srgbClr val="E53935"/>
          </a:solidFill>
          <a:ln w="12700">
            <a:solidFill>
              <a:srgbClr val="E53935"/>
            </a:solidFill>
            <a:prstDash val="solid"/>
          </a:ln>
        </p:spPr>
      </p:sp>
      <p:sp>
        <p:nvSpPr>
          <p:cNvPr id="8" name="Text 6"/>
          <p:cNvSpPr/>
          <p:nvPr/>
        </p:nvSpPr>
        <p:spPr>
          <a:xfrm>
            <a:off x="384048" y="804672"/>
            <a:ext cx="3849624" cy="475488"/>
          </a:xfrm>
          <a:prstGeom prst="rect">
            <a:avLst/>
          </a:prstGeom>
          <a:noFill/>
          <a:ln/>
        </p:spPr>
        <p:txBody>
          <a:bodyPr wrap="square" rtlCol="0" anchor="ctr"/>
          <a:lstStyle/>
          <a:p>
            <a:pPr indent="0" marL="0">
              <a:buNone/>
            </a:pPr>
            <a:r>
              <a:rPr lang="en-US" sz="1350" b="1" dirty="0">
                <a:solidFill>
                  <a:srgbClr val="FFFFFF"/>
                </a:solidFill>
              </a:rPr>
              <a:t>When You SHOULD Drop Outliers</a:t>
            </a:r>
            <a:endParaRPr lang="en-US" sz="1350" dirty="0"/>
          </a:p>
        </p:txBody>
      </p:sp>
      <p:sp>
        <p:nvSpPr>
          <p:cNvPr id="9" name="Shape 7"/>
          <p:cNvSpPr/>
          <p:nvPr/>
        </p:nvSpPr>
        <p:spPr>
          <a:xfrm>
            <a:off x="347472" y="1408176"/>
            <a:ext cx="3904488" cy="1005840"/>
          </a:xfrm>
          <a:prstGeom prst="rect">
            <a:avLst/>
          </a:prstGeom>
          <a:solidFill>
            <a:srgbClr val="FFF1F2"/>
          </a:solidFill>
          <a:ln w="12700">
            <a:solidFill>
              <a:srgbClr val="FFCDD2"/>
            </a:solidFill>
            <a:prstDash val="solid"/>
          </a:ln>
        </p:spPr>
      </p:sp>
      <p:sp>
        <p:nvSpPr>
          <p:cNvPr id="10" name="Shape 8"/>
          <p:cNvSpPr/>
          <p:nvPr/>
        </p:nvSpPr>
        <p:spPr>
          <a:xfrm>
            <a:off x="347472" y="1408176"/>
            <a:ext cx="64008" cy="1005840"/>
          </a:xfrm>
          <a:prstGeom prst="rect">
            <a:avLst/>
          </a:prstGeom>
          <a:solidFill>
            <a:srgbClr val="E53935"/>
          </a:solidFill>
          <a:ln w="12700">
            <a:solidFill>
              <a:srgbClr val="E53935"/>
            </a:solidFill>
            <a:prstDash val="solid"/>
          </a:ln>
        </p:spPr>
      </p:sp>
      <p:sp>
        <p:nvSpPr>
          <p:cNvPr id="11" name="Shape 9"/>
          <p:cNvSpPr/>
          <p:nvPr/>
        </p:nvSpPr>
        <p:spPr>
          <a:xfrm>
            <a:off x="493776" y="1536192"/>
            <a:ext cx="329184" cy="329184"/>
          </a:xfrm>
          <a:prstGeom prst="ellipse">
            <a:avLst/>
          </a:prstGeom>
          <a:solidFill>
            <a:srgbClr val="E53935"/>
          </a:solidFill>
          <a:ln w="12700">
            <a:solidFill>
              <a:srgbClr val="E53935"/>
            </a:solidFill>
            <a:prstDash val="solid"/>
          </a:ln>
        </p:spPr>
      </p:sp>
      <p:sp>
        <p:nvSpPr>
          <p:cNvPr id="12" name="Text 10"/>
          <p:cNvSpPr/>
          <p:nvPr/>
        </p:nvSpPr>
        <p:spPr>
          <a:xfrm>
            <a:off x="493776" y="153619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X</a:t>
            </a:r>
            <a:endParaRPr lang="en-US" sz="1400" dirty="0"/>
          </a:p>
        </p:txBody>
      </p:sp>
      <p:sp>
        <p:nvSpPr>
          <p:cNvPr id="13" name="Text 11"/>
          <p:cNvSpPr/>
          <p:nvPr/>
        </p:nvSpPr>
        <p:spPr>
          <a:xfrm>
            <a:off x="932688" y="1481328"/>
            <a:ext cx="3200400" cy="274320"/>
          </a:xfrm>
          <a:prstGeom prst="rect">
            <a:avLst/>
          </a:prstGeom>
          <a:noFill/>
          <a:ln/>
        </p:spPr>
        <p:txBody>
          <a:bodyPr wrap="square" rtlCol="0" anchor="ctr"/>
          <a:lstStyle/>
          <a:p>
            <a:pPr indent="0" marL="0">
              <a:buNone/>
            </a:pPr>
            <a:r>
              <a:rPr lang="en-US" sz="1250" b="1" dirty="0">
                <a:solidFill>
                  <a:srgbClr val="131A28"/>
                </a:solidFill>
              </a:rPr>
              <a:t>Clearly incorrect value</a:t>
            </a:r>
            <a:endParaRPr lang="en-US" sz="1250" dirty="0"/>
          </a:p>
        </p:txBody>
      </p:sp>
      <p:sp>
        <p:nvSpPr>
          <p:cNvPr id="14" name="Text 12"/>
          <p:cNvSpPr/>
          <p:nvPr/>
        </p:nvSpPr>
        <p:spPr>
          <a:xfrm>
            <a:off x="932688" y="1810512"/>
            <a:ext cx="3200400" cy="530352"/>
          </a:xfrm>
          <a:prstGeom prst="rect">
            <a:avLst/>
          </a:prstGeom>
          <a:noFill/>
          <a:ln/>
        </p:spPr>
        <p:txBody>
          <a:bodyPr wrap="square" rtlCol="0" anchor="ctr"/>
          <a:lstStyle/>
          <a:p>
            <a:pPr indent="0" marL="0">
              <a:buNone/>
            </a:pPr>
            <a:r>
              <a:rPr lang="en-US" sz="1100" dirty="0">
                <a:solidFill>
                  <a:srgbClr val="331111"/>
                </a:solidFill>
              </a:rPr>
              <a:t>Domain knowledge confirms the value is impossible (e.g., human age of 200 years) — safely removed.</a:t>
            </a:r>
            <a:endParaRPr lang="en-US" sz="1100" dirty="0"/>
          </a:p>
        </p:txBody>
      </p:sp>
      <p:sp>
        <p:nvSpPr>
          <p:cNvPr id="15" name="Shape 13"/>
          <p:cNvSpPr/>
          <p:nvPr/>
        </p:nvSpPr>
        <p:spPr>
          <a:xfrm>
            <a:off x="347472" y="2523744"/>
            <a:ext cx="3904488" cy="1005840"/>
          </a:xfrm>
          <a:prstGeom prst="rect">
            <a:avLst/>
          </a:prstGeom>
          <a:solidFill>
            <a:srgbClr val="FFF1F2"/>
          </a:solidFill>
          <a:ln w="12700">
            <a:solidFill>
              <a:srgbClr val="FFCDD2"/>
            </a:solidFill>
            <a:prstDash val="solid"/>
          </a:ln>
        </p:spPr>
      </p:sp>
      <p:sp>
        <p:nvSpPr>
          <p:cNvPr id="16" name="Shape 14"/>
          <p:cNvSpPr/>
          <p:nvPr/>
        </p:nvSpPr>
        <p:spPr>
          <a:xfrm>
            <a:off x="347472" y="2523744"/>
            <a:ext cx="64008" cy="1005840"/>
          </a:xfrm>
          <a:prstGeom prst="rect">
            <a:avLst/>
          </a:prstGeom>
          <a:solidFill>
            <a:srgbClr val="E53935"/>
          </a:solidFill>
          <a:ln w="12700">
            <a:solidFill>
              <a:srgbClr val="E53935"/>
            </a:solidFill>
            <a:prstDash val="solid"/>
          </a:ln>
        </p:spPr>
      </p:sp>
      <p:sp>
        <p:nvSpPr>
          <p:cNvPr id="17" name="Shape 15"/>
          <p:cNvSpPr/>
          <p:nvPr/>
        </p:nvSpPr>
        <p:spPr>
          <a:xfrm>
            <a:off x="493776" y="2651760"/>
            <a:ext cx="329184" cy="329184"/>
          </a:xfrm>
          <a:prstGeom prst="ellipse">
            <a:avLst/>
          </a:prstGeom>
          <a:solidFill>
            <a:srgbClr val="E53935"/>
          </a:solidFill>
          <a:ln w="12700">
            <a:solidFill>
              <a:srgbClr val="E53935"/>
            </a:solidFill>
            <a:prstDash val="solid"/>
          </a:ln>
        </p:spPr>
      </p:sp>
      <p:sp>
        <p:nvSpPr>
          <p:cNvPr id="18" name="Text 16"/>
          <p:cNvSpPr/>
          <p:nvPr/>
        </p:nvSpPr>
        <p:spPr>
          <a:xfrm>
            <a:off x="493776" y="265176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X</a:t>
            </a:r>
            <a:endParaRPr lang="en-US" sz="1400" dirty="0"/>
          </a:p>
        </p:txBody>
      </p:sp>
      <p:sp>
        <p:nvSpPr>
          <p:cNvPr id="19" name="Text 17"/>
          <p:cNvSpPr/>
          <p:nvPr/>
        </p:nvSpPr>
        <p:spPr>
          <a:xfrm>
            <a:off x="932688" y="2596896"/>
            <a:ext cx="3200400" cy="274320"/>
          </a:xfrm>
          <a:prstGeom prst="rect">
            <a:avLst/>
          </a:prstGeom>
          <a:noFill/>
          <a:ln/>
        </p:spPr>
        <p:txBody>
          <a:bodyPr wrap="square" rtlCol="0" anchor="ctr"/>
          <a:lstStyle/>
          <a:p>
            <a:pPr indent="0" marL="0">
              <a:buNone/>
            </a:pPr>
            <a:r>
              <a:rPr lang="en-US" sz="1250" b="1" dirty="0">
                <a:solidFill>
                  <a:srgbClr val="131A28"/>
                </a:solidFill>
              </a:rPr>
              <a:t>You have a large dataset</a:t>
            </a:r>
            <a:endParaRPr lang="en-US" sz="1250" dirty="0"/>
          </a:p>
        </p:txBody>
      </p:sp>
      <p:sp>
        <p:nvSpPr>
          <p:cNvPr id="20" name="Text 18"/>
          <p:cNvSpPr/>
          <p:nvPr/>
        </p:nvSpPr>
        <p:spPr>
          <a:xfrm>
            <a:off x="932688" y="2926080"/>
            <a:ext cx="3200400" cy="530352"/>
          </a:xfrm>
          <a:prstGeom prst="rect">
            <a:avLst/>
          </a:prstGeom>
          <a:noFill/>
          <a:ln/>
        </p:spPr>
        <p:txBody>
          <a:bodyPr wrap="square" rtlCol="0" anchor="ctr"/>
          <a:lstStyle/>
          <a:p>
            <a:pPr indent="0" marL="0">
              <a:buNone/>
            </a:pPr>
            <a:r>
              <a:rPr lang="en-US" sz="1100" dirty="0">
                <a:solidFill>
                  <a:srgbClr val="331111"/>
                </a:solidFill>
              </a:rPr>
              <a:t>In large samples, removing a small number of questionable outliers usually does not distort the overall distribution.</a:t>
            </a:r>
            <a:endParaRPr lang="en-US" sz="1100" dirty="0"/>
          </a:p>
        </p:txBody>
      </p:sp>
      <p:sp>
        <p:nvSpPr>
          <p:cNvPr id="21" name="Shape 19"/>
          <p:cNvSpPr/>
          <p:nvPr/>
        </p:nvSpPr>
        <p:spPr>
          <a:xfrm>
            <a:off x="347472" y="3639312"/>
            <a:ext cx="3904488" cy="1005840"/>
          </a:xfrm>
          <a:prstGeom prst="rect">
            <a:avLst/>
          </a:prstGeom>
          <a:solidFill>
            <a:srgbClr val="FFF1F2"/>
          </a:solidFill>
          <a:ln w="12700">
            <a:solidFill>
              <a:srgbClr val="FFCDD2"/>
            </a:solidFill>
            <a:prstDash val="solid"/>
          </a:ln>
        </p:spPr>
      </p:sp>
      <p:sp>
        <p:nvSpPr>
          <p:cNvPr id="22" name="Shape 20"/>
          <p:cNvSpPr/>
          <p:nvPr/>
        </p:nvSpPr>
        <p:spPr>
          <a:xfrm>
            <a:off x="347472" y="3639312"/>
            <a:ext cx="64008" cy="1005840"/>
          </a:xfrm>
          <a:prstGeom prst="rect">
            <a:avLst/>
          </a:prstGeom>
          <a:solidFill>
            <a:srgbClr val="E53935"/>
          </a:solidFill>
          <a:ln w="12700">
            <a:solidFill>
              <a:srgbClr val="E53935"/>
            </a:solidFill>
            <a:prstDash val="solid"/>
          </a:ln>
        </p:spPr>
      </p:sp>
      <p:sp>
        <p:nvSpPr>
          <p:cNvPr id="23" name="Shape 21"/>
          <p:cNvSpPr/>
          <p:nvPr/>
        </p:nvSpPr>
        <p:spPr>
          <a:xfrm>
            <a:off x="493776" y="3767328"/>
            <a:ext cx="329184" cy="329184"/>
          </a:xfrm>
          <a:prstGeom prst="ellipse">
            <a:avLst/>
          </a:prstGeom>
          <a:solidFill>
            <a:srgbClr val="E53935"/>
          </a:solidFill>
          <a:ln w="12700">
            <a:solidFill>
              <a:srgbClr val="E53935"/>
            </a:solidFill>
            <a:prstDash val="solid"/>
          </a:ln>
        </p:spPr>
      </p:sp>
      <p:sp>
        <p:nvSpPr>
          <p:cNvPr id="24" name="Text 22"/>
          <p:cNvSpPr/>
          <p:nvPr/>
        </p:nvSpPr>
        <p:spPr>
          <a:xfrm>
            <a:off x="493776" y="37673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X</a:t>
            </a:r>
            <a:endParaRPr lang="en-US" sz="1400" dirty="0"/>
          </a:p>
        </p:txBody>
      </p:sp>
      <p:sp>
        <p:nvSpPr>
          <p:cNvPr id="25" name="Text 23"/>
          <p:cNvSpPr/>
          <p:nvPr/>
        </p:nvSpPr>
        <p:spPr>
          <a:xfrm>
            <a:off x="932688" y="3712464"/>
            <a:ext cx="3200400" cy="274320"/>
          </a:xfrm>
          <a:prstGeom prst="rect">
            <a:avLst/>
          </a:prstGeom>
          <a:noFill/>
          <a:ln/>
        </p:spPr>
        <p:txBody>
          <a:bodyPr wrap="square" rtlCol="0" anchor="ctr"/>
          <a:lstStyle/>
          <a:p>
            <a:pPr indent="0" marL="0">
              <a:buNone/>
            </a:pPr>
            <a:r>
              <a:rPr lang="en-US" sz="1250" b="1" dirty="0">
                <a:solidFill>
                  <a:srgbClr val="131A28"/>
                </a:solidFill>
              </a:rPr>
              <a:t>Error is verifiable</a:t>
            </a:r>
            <a:endParaRPr lang="en-US" sz="1250" dirty="0"/>
          </a:p>
        </p:txBody>
      </p:sp>
      <p:sp>
        <p:nvSpPr>
          <p:cNvPr id="26" name="Text 24"/>
          <p:cNvSpPr/>
          <p:nvPr/>
        </p:nvSpPr>
        <p:spPr>
          <a:xfrm>
            <a:off x="932688" y="4041648"/>
            <a:ext cx="3200400" cy="530352"/>
          </a:xfrm>
          <a:prstGeom prst="rect">
            <a:avLst/>
          </a:prstGeom>
          <a:noFill/>
          <a:ln/>
        </p:spPr>
        <p:txBody>
          <a:bodyPr wrap="square" rtlCol="0" anchor="ctr"/>
          <a:lstStyle/>
          <a:p>
            <a:pPr indent="0" marL="0">
              <a:buNone/>
            </a:pPr>
            <a:r>
              <a:rPr lang="en-US" sz="1100" dirty="0">
                <a:solidFill>
                  <a:srgbClr val="331111"/>
                </a:solidFill>
              </a:rPr>
              <a:t>You can revisit the data source and confirm the observation resulted from an error — removal is justified.</a:t>
            </a:r>
            <a:endParaRPr lang="en-US" sz="1100" dirty="0"/>
          </a:p>
        </p:txBody>
      </p:sp>
      <p:sp>
        <p:nvSpPr>
          <p:cNvPr id="27" name="Shape 25"/>
          <p:cNvSpPr/>
          <p:nvPr/>
        </p:nvSpPr>
        <p:spPr>
          <a:xfrm>
            <a:off x="4800600" y="804672"/>
            <a:ext cx="4069080" cy="4069080"/>
          </a:xfrm>
          <a:prstGeom prst="rect">
            <a:avLst/>
          </a:prstGeom>
          <a:solidFill>
            <a:srgbClr val="FFFFFF"/>
          </a:solidFill>
          <a:ln w="19050">
            <a:solidFill>
              <a:srgbClr val="43A047"/>
            </a:solidFill>
            <a:prstDash val="solid"/>
          </a:ln>
          <a:effectLst>
            <a:outerShdw sx="100000" sy="100000" kx="0" ky="0" algn="bl" rotWithShape="0" blurRad="127000" dist="38100" dir="8100000">
              <a:srgbClr val="000000">
                <a:alpha val="16000"/>
              </a:srgbClr>
            </a:outerShdw>
          </a:effectLst>
        </p:spPr>
      </p:sp>
      <p:sp>
        <p:nvSpPr>
          <p:cNvPr id="28" name="Shape 26"/>
          <p:cNvSpPr/>
          <p:nvPr/>
        </p:nvSpPr>
        <p:spPr>
          <a:xfrm>
            <a:off x="4800600" y="804672"/>
            <a:ext cx="4069080" cy="475488"/>
          </a:xfrm>
          <a:prstGeom prst="rect">
            <a:avLst/>
          </a:prstGeom>
          <a:solidFill>
            <a:srgbClr val="43A047"/>
          </a:solidFill>
          <a:ln w="12700">
            <a:solidFill>
              <a:srgbClr val="43A047"/>
            </a:solidFill>
            <a:prstDash val="solid"/>
          </a:ln>
        </p:spPr>
      </p:sp>
      <p:sp>
        <p:nvSpPr>
          <p:cNvPr id="29" name="Text 27"/>
          <p:cNvSpPr/>
          <p:nvPr/>
        </p:nvSpPr>
        <p:spPr>
          <a:xfrm>
            <a:off x="4910328" y="804672"/>
            <a:ext cx="3849624" cy="475488"/>
          </a:xfrm>
          <a:prstGeom prst="rect">
            <a:avLst/>
          </a:prstGeom>
          <a:noFill/>
          <a:ln/>
        </p:spPr>
        <p:txBody>
          <a:bodyPr wrap="square" rtlCol="0" anchor="ctr"/>
          <a:lstStyle/>
          <a:p>
            <a:pPr indent="0" marL="0">
              <a:buNone/>
            </a:pPr>
            <a:r>
              <a:rPr lang="en-US" sz="1300" b="1" dirty="0">
                <a:solidFill>
                  <a:srgbClr val="FFFFFF"/>
                </a:solidFill>
              </a:rPr>
              <a:t>When You Should NOT Drop Outliers</a:t>
            </a:r>
            <a:endParaRPr lang="en-US" sz="1300" dirty="0"/>
          </a:p>
        </p:txBody>
      </p:sp>
      <p:sp>
        <p:nvSpPr>
          <p:cNvPr id="30" name="Shape 28"/>
          <p:cNvSpPr/>
          <p:nvPr/>
        </p:nvSpPr>
        <p:spPr>
          <a:xfrm>
            <a:off x="4873752" y="1408176"/>
            <a:ext cx="3904488" cy="1005840"/>
          </a:xfrm>
          <a:prstGeom prst="rect">
            <a:avLst/>
          </a:prstGeom>
          <a:solidFill>
            <a:srgbClr val="F1FDF4"/>
          </a:solidFill>
          <a:ln w="12700">
            <a:solidFill>
              <a:srgbClr val="C8E6C9"/>
            </a:solidFill>
            <a:prstDash val="solid"/>
          </a:ln>
        </p:spPr>
      </p:sp>
      <p:sp>
        <p:nvSpPr>
          <p:cNvPr id="31" name="Shape 29"/>
          <p:cNvSpPr/>
          <p:nvPr/>
        </p:nvSpPr>
        <p:spPr>
          <a:xfrm>
            <a:off x="4873752" y="1408176"/>
            <a:ext cx="64008" cy="1005840"/>
          </a:xfrm>
          <a:prstGeom prst="rect">
            <a:avLst/>
          </a:prstGeom>
          <a:solidFill>
            <a:srgbClr val="43A047"/>
          </a:solidFill>
          <a:ln w="12700">
            <a:solidFill>
              <a:srgbClr val="43A047"/>
            </a:solidFill>
            <a:prstDash val="solid"/>
          </a:ln>
        </p:spPr>
      </p:sp>
      <p:sp>
        <p:nvSpPr>
          <p:cNvPr id="32" name="Shape 30"/>
          <p:cNvSpPr/>
          <p:nvPr/>
        </p:nvSpPr>
        <p:spPr>
          <a:xfrm>
            <a:off x="5020056" y="1536192"/>
            <a:ext cx="329184" cy="329184"/>
          </a:xfrm>
          <a:prstGeom prst="ellipse">
            <a:avLst/>
          </a:prstGeom>
          <a:solidFill>
            <a:srgbClr val="43A047"/>
          </a:solidFill>
          <a:ln w="12700">
            <a:solidFill>
              <a:srgbClr val="43A047"/>
            </a:solidFill>
            <a:prstDash val="solid"/>
          </a:ln>
        </p:spPr>
      </p:sp>
      <p:sp>
        <p:nvSpPr>
          <p:cNvPr id="33" name="Text 31"/>
          <p:cNvSpPr/>
          <p:nvPr/>
        </p:nvSpPr>
        <p:spPr>
          <a:xfrm>
            <a:off x="5020056" y="153619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V</a:t>
            </a:r>
            <a:endParaRPr lang="en-US" sz="1400" dirty="0"/>
          </a:p>
        </p:txBody>
      </p:sp>
      <p:sp>
        <p:nvSpPr>
          <p:cNvPr id="34" name="Text 32"/>
          <p:cNvSpPr/>
          <p:nvPr/>
        </p:nvSpPr>
        <p:spPr>
          <a:xfrm>
            <a:off x="5458968" y="1481328"/>
            <a:ext cx="3200400" cy="274320"/>
          </a:xfrm>
          <a:prstGeom prst="rect">
            <a:avLst/>
          </a:prstGeom>
          <a:noFill/>
          <a:ln/>
        </p:spPr>
        <p:txBody>
          <a:bodyPr wrap="square" rtlCol="0" anchor="ctr"/>
          <a:lstStyle/>
          <a:p>
            <a:pPr indent="0" marL="0">
              <a:buNone/>
            </a:pPr>
            <a:r>
              <a:rPr lang="en-US" sz="1250" b="1" dirty="0">
                <a:solidFill>
                  <a:srgbClr val="131A28"/>
                </a:solidFill>
              </a:rPr>
              <a:t>Critical or high-risk results</a:t>
            </a:r>
            <a:endParaRPr lang="en-US" sz="1250" dirty="0"/>
          </a:p>
        </p:txBody>
      </p:sp>
      <p:sp>
        <p:nvSpPr>
          <p:cNvPr id="35" name="Text 33"/>
          <p:cNvSpPr/>
          <p:nvPr/>
        </p:nvSpPr>
        <p:spPr>
          <a:xfrm>
            <a:off x="5458968" y="1810512"/>
            <a:ext cx="3200400" cy="530352"/>
          </a:xfrm>
          <a:prstGeom prst="rect">
            <a:avLst/>
          </a:prstGeom>
          <a:noFill/>
          <a:ln/>
        </p:spPr>
        <p:txBody>
          <a:bodyPr wrap="square" rtlCol="0" anchor="ctr"/>
          <a:lstStyle/>
          <a:p>
            <a:pPr indent="0" marL="0">
              <a:buNone/>
            </a:pPr>
            <a:r>
              <a:rPr lang="en-US" sz="1100" dirty="0">
                <a:solidFill>
                  <a:srgbClr val="113311"/>
                </a:solidFill>
              </a:rPr>
              <a:t>In safety-critical or scientific applications (e.g., aircraft failures, medical data) even extreme values carry crucial information.</a:t>
            </a:r>
            <a:endParaRPr lang="en-US" sz="1100" dirty="0"/>
          </a:p>
        </p:txBody>
      </p:sp>
      <p:sp>
        <p:nvSpPr>
          <p:cNvPr id="36" name="Shape 34"/>
          <p:cNvSpPr/>
          <p:nvPr/>
        </p:nvSpPr>
        <p:spPr>
          <a:xfrm>
            <a:off x="4873752" y="2523744"/>
            <a:ext cx="3904488" cy="1005840"/>
          </a:xfrm>
          <a:prstGeom prst="rect">
            <a:avLst/>
          </a:prstGeom>
          <a:solidFill>
            <a:srgbClr val="F1FDF4"/>
          </a:solidFill>
          <a:ln w="12700">
            <a:solidFill>
              <a:srgbClr val="C8E6C9"/>
            </a:solidFill>
            <a:prstDash val="solid"/>
          </a:ln>
        </p:spPr>
      </p:sp>
      <p:sp>
        <p:nvSpPr>
          <p:cNvPr id="37" name="Shape 35"/>
          <p:cNvSpPr/>
          <p:nvPr/>
        </p:nvSpPr>
        <p:spPr>
          <a:xfrm>
            <a:off x="4873752" y="2523744"/>
            <a:ext cx="64008" cy="1005840"/>
          </a:xfrm>
          <a:prstGeom prst="rect">
            <a:avLst/>
          </a:prstGeom>
          <a:solidFill>
            <a:srgbClr val="43A047"/>
          </a:solidFill>
          <a:ln w="12700">
            <a:solidFill>
              <a:srgbClr val="43A047"/>
            </a:solidFill>
            <a:prstDash val="solid"/>
          </a:ln>
        </p:spPr>
      </p:sp>
      <p:sp>
        <p:nvSpPr>
          <p:cNvPr id="38" name="Shape 36"/>
          <p:cNvSpPr/>
          <p:nvPr/>
        </p:nvSpPr>
        <p:spPr>
          <a:xfrm>
            <a:off x="5020056" y="2651760"/>
            <a:ext cx="329184" cy="329184"/>
          </a:xfrm>
          <a:prstGeom prst="ellipse">
            <a:avLst/>
          </a:prstGeom>
          <a:solidFill>
            <a:srgbClr val="43A047"/>
          </a:solidFill>
          <a:ln w="12700">
            <a:solidFill>
              <a:srgbClr val="43A047"/>
            </a:solidFill>
            <a:prstDash val="solid"/>
          </a:ln>
        </p:spPr>
      </p:sp>
      <p:sp>
        <p:nvSpPr>
          <p:cNvPr id="39" name="Text 37"/>
          <p:cNvSpPr/>
          <p:nvPr/>
        </p:nvSpPr>
        <p:spPr>
          <a:xfrm>
            <a:off x="5020056" y="265176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V</a:t>
            </a:r>
            <a:endParaRPr lang="en-US" sz="1400" dirty="0"/>
          </a:p>
        </p:txBody>
      </p:sp>
      <p:sp>
        <p:nvSpPr>
          <p:cNvPr id="40" name="Text 38"/>
          <p:cNvSpPr/>
          <p:nvPr/>
        </p:nvSpPr>
        <p:spPr>
          <a:xfrm>
            <a:off x="5458968" y="2596896"/>
            <a:ext cx="3200400" cy="274320"/>
          </a:xfrm>
          <a:prstGeom prst="rect">
            <a:avLst/>
          </a:prstGeom>
          <a:noFill/>
          <a:ln/>
        </p:spPr>
        <p:txBody>
          <a:bodyPr wrap="square" rtlCol="0" anchor="ctr"/>
          <a:lstStyle/>
          <a:p>
            <a:pPr indent="0" marL="0">
              <a:buNone/>
            </a:pPr>
            <a:r>
              <a:rPr lang="en-US" sz="1250" b="1" dirty="0">
                <a:solidFill>
                  <a:srgbClr val="131A28"/>
                </a:solidFill>
              </a:rPr>
              <a:t>Many outliers are present</a:t>
            </a:r>
            <a:endParaRPr lang="en-US" sz="1250" dirty="0"/>
          </a:p>
        </p:txBody>
      </p:sp>
      <p:sp>
        <p:nvSpPr>
          <p:cNvPr id="41" name="Text 39"/>
          <p:cNvSpPr/>
          <p:nvPr/>
        </p:nvSpPr>
        <p:spPr>
          <a:xfrm>
            <a:off x="5458968" y="2926080"/>
            <a:ext cx="3200400" cy="530352"/>
          </a:xfrm>
          <a:prstGeom prst="rect">
            <a:avLst/>
          </a:prstGeom>
          <a:noFill/>
          <a:ln/>
        </p:spPr>
        <p:txBody>
          <a:bodyPr wrap="square" rtlCol="0" anchor="ctr"/>
          <a:lstStyle/>
          <a:p>
            <a:pPr indent="0" marL="0">
              <a:buNone/>
            </a:pPr>
            <a:r>
              <a:rPr lang="en-US" sz="1100" dirty="0">
                <a:solidFill>
                  <a:srgbClr val="113311"/>
                </a:solidFill>
              </a:rPr>
              <a:t>If a large portion appears as outliers, it likely indicates a data pattern shift or segmentation issue — deeper analysis needed.</a:t>
            </a:r>
            <a:endParaRPr lang="en-US" sz="1100" dirty="0"/>
          </a:p>
        </p:txBody>
      </p:sp>
      <p:sp>
        <p:nvSpPr>
          <p:cNvPr id="42" name="Shape 40"/>
          <p:cNvSpPr/>
          <p:nvPr/>
        </p:nvSpPr>
        <p:spPr>
          <a:xfrm>
            <a:off x="4873752" y="3639312"/>
            <a:ext cx="3904488" cy="1005840"/>
          </a:xfrm>
          <a:prstGeom prst="rect">
            <a:avLst/>
          </a:prstGeom>
          <a:solidFill>
            <a:srgbClr val="F1FDF4"/>
          </a:solidFill>
          <a:ln w="12700">
            <a:solidFill>
              <a:srgbClr val="C8E6C9"/>
            </a:solidFill>
            <a:prstDash val="solid"/>
          </a:ln>
        </p:spPr>
      </p:sp>
      <p:sp>
        <p:nvSpPr>
          <p:cNvPr id="43" name="Shape 41"/>
          <p:cNvSpPr/>
          <p:nvPr/>
        </p:nvSpPr>
        <p:spPr>
          <a:xfrm>
            <a:off x="4873752" y="3639312"/>
            <a:ext cx="64008" cy="1005840"/>
          </a:xfrm>
          <a:prstGeom prst="rect">
            <a:avLst/>
          </a:prstGeom>
          <a:solidFill>
            <a:srgbClr val="43A047"/>
          </a:solidFill>
          <a:ln w="12700">
            <a:solidFill>
              <a:srgbClr val="43A047"/>
            </a:solidFill>
            <a:prstDash val="solid"/>
          </a:ln>
        </p:spPr>
      </p:sp>
      <p:sp>
        <p:nvSpPr>
          <p:cNvPr id="44" name="Shape 42"/>
          <p:cNvSpPr/>
          <p:nvPr/>
        </p:nvSpPr>
        <p:spPr>
          <a:xfrm>
            <a:off x="5020056" y="3767328"/>
            <a:ext cx="329184" cy="329184"/>
          </a:xfrm>
          <a:prstGeom prst="ellipse">
            <a:avLst/>
          </a:prstGeom>
          <a:solidFill>
            <a:srgbClr val="43A047"/>
          </a:solidFill>
          <a:ln w="12700">
            <a:solidFill>
              <a:srgbClr val="43A047"/>
            </a:solidFill>
            <a:prstDash val="solid"/>
          </a:ln>
        </p:spPr>
      </p:sp>
      <p:sp>
        <p:nvSpPr>
          <p:cNvPr id="45" name="Text 43"/>
          <p:cNvSpPr/>
          <p:nvPr/>
        </p:nvSpPr>
        <p:spPr>
          <a:xfrm>
            <a:off x="5020056" y="37673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rPr>
              <a:t>V</a:t>
            </a:r>
            <a:endParaRPr lang="en-US" sz="1400" dirty="0"/>
          </a:p>
        </p:txBody>
      </p:sp>
      <p:sp>
        <p:nvSpPr>
          <p:cNvPr id="46" name="Text 44"/>
          <p:cNvSpPr/>
          <p:nvPr/>
        </p:nvSpPr>
        <p:spPr>
          <a:xfrm>
            <a:off x="5458968" y="3712464"/>
            <a:ext cx="3200400" cy="274320"/>
          </a:xfrm>
          <a:prstGeom prst="rect">
            <a:avLst/>
          </a:prstGeom>
          <a:noFill/>
          <a:ln/>
        </p:spPr>
        <p:txBody>
          <a:bodyPr wrap="square" rtlCol="0" anchor="ctr"/>
          <a:lstStyle/>
          <a:p>
            <a:pPr indent="0" marL="0">
              <a:buNone/>
            </a:pPr>
            <a:r>
              <a:rPr lang="en-US" sz="1250" b="1" dirty="0">
                <a:solidFill>
                  <a:srgbClr val="131A28"/>
                </a:solidFill>
              </a:rPr>
              <a:t>Outliers represent real events</a:t>
            </a:r>
            <a:endParaRPr lang="en-US" sz="1250" dirty="0"/>
          </a:p>
        </p:txBody>
      </p:sp>
      <p:sp>
        <p:nvSpPr>
          <p:cNvPr id="47" name="Text 45"/>
          <p:cNvSpPr/>
          <p:nvPr/>
        </p:nvSpPr>
        <p:spPr>
          <a:xfrm>
            <a:off x="5458968" y="4041648"/>
            <a:ext cx="3200400" cy="530352"/>
          </a:xfrm>
          <a:prstGeom prst="rect">
            <a:avLst/>
          </a:prstGeom>
          <a:noFill/>
          <a:ln/>
        </p:spPr>
        <p:txBody>
          <a:bodyPr wrap="square" rtlCol="0" anchor="ctr"/>
          <a:lstStyle/>
          <a:p>
            <a:pPr indent="0" marL="0">
              <a:buNone/>
            </a:pPr>
            <a:r>
              <a:rPr lang="en-US" sz="1100" dirty="0">
                <a:solidFill>
                  <a:srgbClr val="113311"/>
                </a:solidFill>
              </a:rPr>
              <a:t>In fraud detection, anomaly detection or rare event modeling, outliers are often the PRIMARY FOCUS and must be retained.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1A28"/>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FFB300"/>
          </a:solidFill>
          <a:ln w="12700">
            <a:solidFill>
              <a:srgbClr val="FFB300"/>
            </a:solidFill>
            <a:prstDash val="solid"/>
          </a:ln>
        </p:spPr>
      </p:sp>
      <p:sp>
        <p:nvSpPr>
          <p:cNvPr id="3" name="Text 1"/>
          <p:cNvSpPr/>
          <p:nvPr/>
        </p:nvSpPr>
        <p:spPr>
          <a:xfrm>
            <a:off x="457200" y="164592"/>
            <a:ext cx="8229600" cy="512064"/>
          </a:xfrm>
          <a:prstGeom prst="rect">
            <a:avLst/>
          </a:prstGeom>
          <a:noFill/>
          <a:ln/>
        </p:spPr>
        <p:txBody>
          <a:bodyPr wrap="square" rtlCol="0" anchor="ctr"/>
          <a:lstStyle/>
          <a:p>
            <a:pPr indent="0" marL="0">
              <a:buNone/>
            </a:pPr>
            <a:r>
              <a:rPr lang="en-US" sz="2900" b="1" dirty="0">
                <a:solidFill>
                  <a:srgbClr val="FFFFFF"/>
                </a:solidFill>
                <a:latin typeface="Calibri" pitchFamily="34" charset="0"/>
                <a:ea typeface="Calibri" pitchFamily="34" charset="-122"/>
                <a:cs typeface="Calibri" pitchFamily="34" charset="-120"/>
              </a:rPr>
              <a:t>Detection Method Comparison</a:t>
            </a:r>
            <a:endParaRPr lang="en-US" sz="2900" dirty="0"/>
          </a:p>
        </p:txBody>
      </p:sp>
      <p:sp>
        <p:nvSpPr>
          <p:cNvPr id="4" name="Shape 2"/>
          <p:cNvSpPr/>
          <p:nvPr/>
        </p:nvSpPr>
        <p:spPr>
          <a:xfrm>
            <a:off x="2267712" y="804672"/>
            <a:ext cx="1664208" cy="475488"/>
          </a:xfrm>
          <a:prstGeom prst="rect">
            <a:avLst/>
          </a:prstGeom>
          <a:solidFill>
            <a:srgbClr val="E53935"/>
          </a:solidFill>
          <a:ln w="12700">
            <a:solidFill>
              <a:srgbClr val="E53935"/>
            </a:solidFill>
            <a:prstDash val="solid"/>
          </a:ln>
        </p:spPr>
      </p:sp>
      <p:sp>
        <p:nvSpPr>
          <p:cNvPr id="5" name="Text 3"/>
          <p:cNvSpPr/>
          <p:nvPr/>
        </p:nvSpPr>
        <p:spPr>
          <a:xfrm>
            <a:off x="2267712" y="804672"/>
            <a:ext cx="1664208" cy="475488"/>
          </a:xfrm>
          <a:prstGeom prst="rect">
            <a:avLst/>
          </a:prstGeom>
          <a:noFill/>
          <a:ln/>
        </p:spPr>
        <p:txBody>
          <a:bodyPr wrap="square" lIns="0" tIns="0" rIns="0" bIns="0" rtlCol="0" anchor="ctr"/>
          <a:lstStyle/>
          <a:p>
            <a:pPr algn="ctr" indent="0" marL="0">
              <a:buNone/>
            </a:pPr>
            <a:r>
              <a:rPr lang="en-US" sz="1250" b="1" dirty="0">
                <a:solidFill>
                  <a:srgbClr val="FFFFFF"/>
                </a:solidFill>
              </a:rPr>
              <a:t>Z-Score</a:t>
            </a:r>
            <a:endParaRPr lang="en-US" sz="1250" dirty="0"/>
          </a:p>
        </p:txBody>
      </p:sp>
      <p:sp>
        <p:nvSpPr>
          <p:cNvPr id="6" name="Shape 4"/>
          <p:cNvSpPr/>
          <p:nvPr/>
        </p:nvSpPr>
        <p:spPr>
          <a:xfrm>
            <a:off x="4005072" y="804672"/>
            <a:ext cx="1664208" cy="475488"/>
          </a:xfrm>
          <a:prstGeom prst="rect">
            <a:avLst/>
          </a:prstGeom>
          <a:solidFill>
            <a:srgbClr val="FF7043"/>
          </a:solidFill>
          <a:ln w="12700">
            <a:solidFill>
              <a:srgbClr val="FF7043"/>
            </a:solidFill>
            <a:prstDash val="solid"/>
          </a:ln>
        </p:spPr>
      </p:sp>
      <p:sp>
        <p:nvSpPr>
          <p:cNvPr id="7" name="Text 5"/>
          <p:cNvSpPr/>
          <p:nvPr/>
        </p:nvSpPr>
        <p:spPr>
          <a:xfrm>
            <a:off x="4005072" y="804672"/>
            <a:ext cx="1664208" cy="475488"/>
          </a:xfrm>
          <a:prstGeom prst="rect">
            <a:avLst/>
          </a:prstGeom>
          <a:noFill/>
          <a:ln/>
        </p:spPr>
        <p:txBody>
          <a:bodyPr wrap="square" lIns="0" tIns="0" rIns="0" bIns="0" rtlCol="0" anchor="ctr"/>
          <a:lstStyle/>
          <a:p>
            <a:pPr algn="ctr" indent="0" marL="0">
              <a:buNone/>
            </a:pPr>
            <a:r>
              <a:rPr lang="en-US" sz="1250" b="1" dirty="0">
                <a:solidFill>
                  <a:srgbClr val="FFFFFF"/>
                </a:solidFill>
              </a:rPr>
              <a:t>IQR Method</a:t>
            </a:r>
            <a:endParaRPr lang="en-US" sz="1250" dirty="0"/>
          </a:p>
        </p:txBody>
      </p:sp>
      <p:sp>
        <p:nvSpPr>
          <p:cNvPr id="8" name="Shape 6"/>
          <p:cNvSpPr/>
          <p:nvPr/>
        </p:nvSpPr>
        <p:spPr>
          <a:xfrm>
            <a:off x="5742432" y="804672"/>
            <a:ext cx="1664208" cy="475488"/>
          </a:xfrm>
          <a:prstGeom prst="rect">
            <a:avLst/>
          </a:prstGeom>
          <a:solidFill>
            <a:srgbClr val="00ACC1"/>
          </a:solidFill>
          <a:ln w="12700">
            <a:solidFill>
              <a:srgbClr val="00ACC1"/>
            </a:solidFill>
            <a:prstDash val="solid"/>
          </a:ln>
        </p:spPr>
      </p:sp>
      <p:sp>
        <p:nvSpPr>
          <p:cNvPr id="9" name="Text 7"/>
          <p:cNvSpPr/>
          <p:nvPr/>
        </p:nvSpPr>
        <p:spPr>
          <a:xfrm>
            <a:off x="5742432" y="804672"/>
            <a:ext cx="1664208" cy="475488"/>
          </a:xfrm>
          <a:prstGeom prst="rect">
            <a:avLst/>
          </a:prstGeom>
          <a:noFill/>
          <a:ln/>
        </p:spPr>
        <p:txBody>
          <a:bodyPr wrap="square" lIns="0" tIns="0" rIns="0" bIns="0" rtlCol="0" anchor="ctr"/>
          <a:lstStyle/>
          <a:p>
            <a:pPr algn="ctr" indent="0" marL="0">
              <a:buNone/>
            </a:pPr>
            <a:r>
              <a:rPr lang="en-US" sz="1250" b="1" dirty="0">
                <a:solidFill>
                  <a:srgbClr val="FFFFFF"/>
                </a:solidFill>
              </a:rPr>
              <a:t>DBSCAN</a:t>
            </a:r>
            <a:endParaRPr lang="en-US" sz="1250" dirty="0"/>
          </a:p>
        </p:txBody>
      </p:sp>
      <p:sp>
        <p:nvSpPr>
          <p:cNvPr id="10" name="Shape 8"/>
          <p:cNvSpPr/>
          <p:nvPr/>
        </p:nvSpPr>
        <p:spPr>
          <a:xfrm>
            <a:off x="7479792" y="804672"/>
            <a:ext cx="1664208" cy="475488"/>
          </a:xfrm>
          <a:prstGeom prst="rect">
            <a:avLst/>
          </a:prstGeom>
          <a:solidFill>
            <a:srgbClr val="43A047"/>
          </a:solidFill>
          <a:ln w="12700">
            <a:solidFill>
              <a:srgbClr val="43A047"/>
            </a:solidFill>
            <a:prstDash val="solid"/>
          </a:ln>
        </p:spPr>
      </p:sp>
      <p:sp>
        <p:nvSpPr>
          <p:cNvPr id="11" name="Text 9"/>
          <p:cNvSpPr/>
          <p:nvPr/>
        </p:nvSpPr>
        <p:spPr>
          <a:xfrm>
            <a:off x="7479792" y="804672"/>
            <a:ext cx="1664208" cy="475488"/>
          </a:xfrm>
          <a:prstGeom prst="rect">
            <a:avLst/>
          </a:prstGeom>
          <a:noFill/>
          <a:ln/>
        </p:spPr>
        <p:txBody>
          <a:bodyPr wrap="square" lIns="0" tIns="0" rIns="0" bIns="0" rtlCol="0" anchor="ctr"/>
          <a:lstStyle/>
          <a:p>
            <a:pPr algn="ctr" indent="0" marL="0">
              <a:buNone/>
            </a:pPr>
            <a:r>
              <a:rPr lang="en-US" sz="1250" b="1" dirty="0">
                <a:solidFill>
                  <a:srgbClr val="131A28"/>
                </a:solidFill>
              </a:rPr>
              <a:t>Isolation Forest</a:t>
            </a:r>
            <a:endParaRPr lang="en-US" sz="1250" dirty="0"/>
          </a:p>
        </p:txBody>
      </p:sp>
      <p:sp>
        <p:nvSpPr>
          <p:cNvPr id="12" name="Shape 10"/>
          <p:cNvSpPr/>
          <p:nvPr/>
        </p:nvSpPr>
        <p:spPr>
          <a:xfrm>
            <a:off x="274320" y="1389888"/>
            <a:ext cx="1947672" cy="438912"/>
          </a:xfrm>
          <a:prstGeom prst="rect">
            <a:avLst/>
          </a:prstGeom>
          <a:solidFill>
            <a:srgbClr val="22304A"/>
          </a:solidFill>
          <a:ln w="12700">
            <a:solidFill>
              <a:srgbClr val="1E3A4A"/>
            </a:solidFill>
            <a:prstDash val="solid"/>
          </a:ln>
        </p:spPr>
      </p:sp>
      <p:sp>
        <p:nvSpPr>
          <p:cNvPr id="13" name="Text 11"/>
          <p:cNvSpPr/>
          <p:nvPr/>
        </p:nvSpPr>
        <p:spPr>
          <a:xfrm>
            <a:off x="347472" y="1426464"/>
            <a:ext cx="1810512" cy="347472"/>
          </a:xfrm>
          <a:prstGeom prst="rect">
            <a:avLst/>
          </a:prstGeom>
          <a:noFill/>
          <a:ln/>
        </p:spPr>
        <p:txBody>
          <a:bodyPr wrap="square" rtlCol="0" anchor="ctr"/>
          <a:lstStyle/>
          <a:p>
            <a:pPr indent="0" marL="0">
              <a:buNone/>
            </a:pPr>
            <a:r>
              <a:rPr lang="en-US" sz="1100" b="1" dirty="0">
                <a:solidFill>
                  <a:srgbClr val="FFB300"/>
                </a:solidFill>
              </a:rPr>
              <a:t>Type</a:t>
            </a:r>
            <a:endParaRPr lang="en-US" sz="1100" dirty="0"/>
          </a:p>
        </p:txBody>
      </p:sp>
      <p:sp>
        <p:nvSpPr>
          <p:cNvPr id="14" name="Shape 12"/>
          <p:cNvSpPr/>
          <p:nvPr/>
        </p:nvSpPr>
        <p:spPr>
          <a:xfrm>
            <a:off x="2267712" y="1389888"/>
            <a:ext cx="1664208" cy="438912"/>
          </a:xfrm>
          <a:prstGeom prst="rect">
            <a:avLst/>
          </a:prstGeom>
          <a:solidFill>
            <a:srgbClr val="22304A"/>
          </a:solidFill>
          <a:ln w="12700">
            <a:solidFill>
              <a:srgbClr val="1E3A4A"/>
            </a:solidFill>
            <a:prstDash val="solid"/>
          </a:ln>
        </p:spPr>
      </p:sp>
      <p:sp>
        <p:nvSpPr>
          <p:cNvPr id="15" name="Text 13"/>
          <p:cNvSpPr/>
          <p:nvPr/>
        </p:nvSpPr>
        <p:spPr>
          <a:xfrm>
            <a:off x="2313432" y="1426464"/>
            <a:ext cx="1572768" cy="347472"/>
          </a:xfrm>
          <a:prstGeom prst="rect">
            <a:avLst/>
          </a:prstGeom>
          <a:noFill/>
          <a:ln/>
        </p:spPr>
        <p:txBody>
          <a:bodyPr wrap="square" rtlCol="0" anchor="ctr"/>
          <a:lstStyle/>
          <a:p>
            <a:pPr algn="ctr" indent="0" marL="0">
              <a:buNone/>
            </a:pPr>
            <a:r>
              <a:rPr lang="en-US" sz="1050" dirty="0">
                <a:solidFill>
                  <a:srgbClr val="90A4AE"/>
                </a:solidFill>
              </a:rPr>
              <a:t>Statistical</a:t>
            </a:r>
            <a:endParaRPr lang="en-US" sz="1050" dirty="0"/>
          </a:p>
        </p:txBody>
      </p:sp>
      <p:sp>
        <p:nvSpPr>
          <p:cNvPr id="16" name="Shape 14"/>
          <p:cNvSpPr/>
          <p:nvPr/>
        </p:nvSpPr>
        <p:spPr>
          <a:xfrm>
            <a:off x="4005072" y="1389888"/>
            <a:ext cx="1664208" cy="438912"/>
          </a:xfrm>
          <a:prstGeom prst="rect">
            <a:avLst/>
          </a:prstGeom>
          <a:solidFill>
            <a:srgbClr val="22304A"/>
          </a:solidFill>
          <a:ln w="12700">
            <a:solidFill>
              <a:srgbClr val="1E3A4A"/>
            </a:solidFill>
            <a:prstDash val="solid"/>
          </a:ln>
        </p:spPr>
      </p:sp>
      <p:sp>
        <p:nvSpPr>
          <p:cNvPr id="17" name="Text 15"/>
          <p:cNvSpPr/>
          <p:nvPr/>
        </p:nvSpPr>
        <p:spPr>
          <a:xfrm>
            <a:off x="4050792" y="1426464"/>
            <a:ext cx="1572768" cy="347472"/>
          </a:xfrm>
          <a:prstGeom prst="rect">
            <a:avLst/>
          </a:prstGeom>
          <a:noFill/>
          <a:ln/>
        </p:spPr>
        <p:txBody>
          <a:bodyPr wrap="square" rtlCol="0" anchor="ctr"/>
          <a:lstStyle/>
          <a:p>
            <a:pPr algn="ctr" indent="0" marL="0">
              <a:buNone/>
            </a:pPr>
            <a:r>
              <a:rPr lang="en-US" sz="1050" dirty="0">
                <a:solidFill>
                  <a:srgbClr val="90A4AE"/>
                </a:solidFill>
              </a:rPr>
              <a:t>Statistical</a:t>
            </a:r>
            <a:endParaRPr lang="en-US" sz="1050" dirty="0"/>
          </a:p>
        </p:txBody>
      </p:sp>
      <p:sp>
        <p:nvSpPr>
          <p:cNvPr id="18" name="Shape 16"/>
          <p:cNvSpPr/>
          <p:nvPr/>
        </p:nvSpPr>
        <p:spPr>
          <a:xfrm>
            <a:off x="5742432" y="1389888"/>
            <a:ext cx="1664208" cy="438912"/>
          </a:xfrm>
          <a:prstGeom prst="rect">
            <a:avLst/>
          </a:prstGeom>
          <a:solidFill>
            <a:srgbClr val="22304A"/>
          </a:solidFill>
          <a:ln w="12700">
            <a:solidFill>
              <a:srgbClr val="1E3A4A"/>
            </a:solidFill>
            <a:prstDash val="solid"/>
          </a:ln>
        </p:spPr>
      </p:sp>
      <p:sp>
        <p:nvSpPr>
          <p:cNvPr id="19" name="Text 17"/>
          <p:cNvSpPr/>
          <p:nvPr/>
        </p:nvSpPr>
        <p:spPr>
          <a:xfrm>
            <a:off x="5788152" y="1426464"/>
            <a:ext cx="1572768" cy="347472"/>
          </a:xfrm>
          <a:prstGeom prst="rect">
            <a:avLst/>
          </a:prstGeom>
          <a:noFill/>
          <a:ln/>
        </p:spPr>
        <p:txBody>
          <a:bodyPr wrap="square" rtlCol="0" anchor="ctr"/>
          <a:lstStyle/>
          <a:p>
            <a:pPr algn="ctr" indent="0" marL="0">
              <a:buNone/>
            </a:pPr>
            <a:r>
              <a:rPr lang="en-US" sz="1050" dirty="0">
                <a:solidFill>
                  <a:srgbClr val="90A4AE"/>
                </a:solidFill>
              </a:rPr>
              <a:t>ML-Based</a:t>
            </a:r>
            <a:endParaRPr lang="en-US" sz="1050" dirty="0"/>
          </a:p>
        </p:txBody>
      </p:sp>
      <p:sp>
        <p:nvSpPr>
          <p:cNvPr id="20" name="Shape 18"/>
          <p:cNvSpPr/>
          <p:nvPr/>
        </p:nvSpPr>
        <p:spPr>
          <a:xfrm>
            <a:off x="7479792" y="1389888"/>
            <a:ext cx="1664208" cy="438912"/>
          </a:xfrm>
          <a:prstGeom prst="rect">
            <a:avLst/>
          </a:prstGeom>
          <a:solidFill>
            <a:srgbClr val="22304A"/>
          </a:solidFill>
          <a:ln w="12700">
            <a:solidFill>
              <a:srgbClr val="1E3A4A"/>
            </a:solidFill>
            <a:prstDash val="solid"/>
          </a:ln>
        </p:spPr>
      </p:sp>
      <p:sp>
        <p:nvSpPr>
          <p:cNvPr id="21" name="Text 19"/>
          <p:cNvSpPr/>
          <p:nvPr/>
        </p:nvSpPr>
        <p:spPr>
          <a:xfrm>
            <a:off x="7525512" y="1426464"/>
            <a:ext cx="1572768" cy="347472"/>
          </a:xfrm>
          <a:prstGeom prst="rect">
            <a:avLst/>
          </a:prstGeom>
          <a:noFill/>
          <a:ln/>
        </p:spPr>
        <p:txBody>
          <a:bodyPr wrap="square" rtlCol="0" anchor="ctr"/>
          <a:lstStyle/>
          <a:p>
            <a:pPr algn="ctr" indent="0" marL="0">
              <a:buNone/>
            </a:pPr>
            <a:r>
              <a:rPr lang="en-US" sz="1050" dirty="0">
                <a:solidFill>
                  <a:srgbClr val="90A4AE"/>
                </a:solidFill>
              </a:rPr>
              <a:t>ML-Based</a:t>
            </a:r>
            <a:endParaRPr lang="en-US" sz="1050" dirty="0"/>
          </a:p>
        </p:txBody>
      </p:sp>
      <p:sp>
        <p:nvSpPr>
          <p:cNvPr id="22" name="Shape 20"/>
          <p:cNvSpPr/>
          <p:nvPr/>
        </p:nvSpPr>
        <p:spPr>
          <a:xfrm>
            <a:off x="274320" y="1901952"/>
            <a:ext cx="1947672" cy="438912"/>
          </a:xfrm>
          <a:prstGeom prst="rect">
            <a:avLst/>
          </a:prstGeom>
          <a:solidFill>
            <a:srgbClr val="1B2438"/>
          </a:solidFill>
          <a:ln w="12700">
            <a:solidFill>
              <a:srgbClr val="1E3A4A"/>
            </a:solidFill>
            <a:prstDash val="solid"/>
          </a:ln>
        </p:spPr>
      </p:sp>
      <p:sp>
        <p:nvSpPr>
          <p:cNvPr id="23" name="Text 21"/>
          <p:cNvSpPr/>
          <p:nvPr/>
        </p:nvSpPr>
        <p:spPr>
          <a:xfrm>
            <a:off x="347472" y="1938528"/>
            <a:ext cx="1810512" cy="347472"/>
          </a:xfrm>
          <a:prstGeom prst="rect">
            <a:avLst/>
          </a:prstGeom>
          <a:noFill/>
          <a:ln/>
        </p:spPr>
        <p:txBody>
          <a:bodyPr wrap="square" rtlCol="0" anchor="ctr"/>
          <a:lstStyle/>
          <a:p>
            <a:pPr indent="0" marL="0">
              <a:buNone/>
            </a:pPr>
            <a:r>
              <a:rPr lang="en-US" sz="1100" b="1" dirty="0">
                <a:solidFill>
                  <a:srgbClr val="FFB300"/>
                </a:solidFill>
              </a:rPr>
              <a:t>Assumes Normal</a:t>
            </a:r>
            <a:endParaRPr lang="en-US" sz="1100" dirty="0"/>
          </a:p>
        </p:txBody>
      </p:sp>
      <p:sp>
        <p:nvSpPr>
          <p:cNvPr id="24" name="Shape 22"/>
          <p:cNvSpPr/>
          <p:nvPr/>
        </p:nvSpPr>
        <p:spPr>
          <a:xfrm>
            <a:off x="2267712" y="1901952"/>
            <a:ext cx="1664208" cy="438912"/>
          </a:xfrm>
          <a:prstGeom prst="rect">
            <a:avLst/>
          </a:prstGeom>
          <a:solidFill>
            <a:srgbClr val="1B2438"/>
          </a:solidFill>
          <a:ln w="12700">
            <a:solidFill>
              <a:srgbClr val="1E3A4A"/>
            </a:solidFill>
            <a:prstDash val="solid"/>
          </a:ln>
        </p:spPr>
      </p:sp>
      <p:sp>
        <p:nvSpPr>
          <p:cNvPr id="25" name="Text 23"/>
          <p:cNvSpPr/>
          <p:nvPr/>
        </p:nvSpPr>
        <p:spPr>
          <a:xfrm>
            <a:off x="2313432" y="1938528"/>
            <a:ext cx="1572768" cy="347472"/>
          </a:xfrm>
          <a:prstGeom prst="rect">
            <a:avLst/>
          </a:prstGeom>
          <a:noFill/>
          <a:ln/>
        </p:spPr>
        <p:txBody>
          <a:bodyPr wrap="square" rtlCol="0" anchor="ctr"/>
          <a:lstStyle/>
          <a:p>
            <a:pPr algn="ctr" indent="0" marL="0">
              <a:buNone/>
            </a:pPr>
            <a:r>
              <a:rPr lang="en-US" sz="1050" b="1" dirty="0">
                <a:solidFill>
                  <a:srgbClr val="E53935"/>
                </a:solidFill>
              </a:rPr>
              <a:t>Yes — required</a:t>
            </a:r>
            <a:endParaRPr lang="en-US" sz="1050" dirty="0"/>
          </a:p>
        </p:txBody>
      </p:sp>
      <p:sp>
        <p:nvSpPr>
          <p:cNvPr id="26" name="Shape 24"/>
          <p:cNvSpPr/>
          <p:nvPr/>
        </p:nvSpPr>
        <p:spPr>
          <a:xfrm>
            <a:off x="4005072" y="1901952"/>
            <a:ext cx="1664208" cy="438912"/>
          </a:xfrm>
          <a:prstGeom prst="rect">
            <a:avLst/>
          </a:prstGeom>
          <a:solidFill>
            <a:srgbClr val="1B2438"/>
          </a:solidFill>
          <a:ln w="12700">
            <a:solidFill>
              <a:srgbClr val="1E3A4A"/>
            </a:solidFill>
            <a:prstDash val="solid"/>
          </a:ln>
        </p:spPr>
      </p:sp>
      <p:sp>
        <p:nvSpPr>
          <p:cNvPr id="27" name="Text 25"/>
          <p:cNvSpPr/>
          <p:nvPr/>
        </p:nvSpPr>
        <p:spPr>
          <a:xfrm>
            <a:off x="4050792" y="1938528"/>
            <a:ext cx="1572768" cy="347472"/>
          </a:xfrm>
          <a:prstGeom prst="rect">
            <a:avLst/>
          </a:prstGeom>
          <a:noFill/>
          <a:ln/>
        </p:spPr>
        <p:txBody>
          <a:bodyPr wrap="square" rtlCol="0" anchor="ctr"/>
          <a:lstStyle/>
          <a:p>
            <a:pPr algn="ctr" indent="0" marL="0">
              <a:buNone/>
            </a:pPr>
            <a:r>
              <a:rPr lang="en-US" sz="1050" b="1" dirty="0">
                <a:solidFill>
                  <a:srgbClr val="FF7043"/>
                </a:solidFill>
              </a:rPr>
              <a:t>No — robust</a:t>
            </a:r>
            <a:endParaRPr lang="en-US" sz="1050" dirty="0"/>
          </a:p>
        </p:txBody>
      </p:sp>
      <p:sp>
        <p:nvSpPr>
          <p:cNvPr id="28" name="Shape 26"/>
          <p:cNvSpPr/>
          <p:nvPr/>
        </p:nvSpPr>
        <p:spPr>
          <a:xfrm>
            <a:off x="5742432" y="1901952"/>
            <a:ext cx="1664208" cy="438912"/>
          </a:xfrm>
          <a:prstGeom prst="rect">
            <a:avLst/>
          </a:prstGeom>
          <a:solidFill>
            <a:srgbClr val="1B2438"/>
          </a:solidFill>
          <a:ln w="12700">
            <a:solidFill>
              <a:srgbClr val="1E3A4A"/>
            </a:solidFill>
            <a:prstDash val="solid"/>
          </a:ln>
        </p:spPr>
      </p:sp>
      <p:sp>
        <p:nvSpPr>
          <p:cNvPr id="29" name="Text 27"/>
          <p:cNvSpPr/>
          <p:nvPr/>
        </p:nvSpPr>
        <p:spPr>
          <a:xfrm>
            <a:off x="5788152" y="1938528"/>
            <a:ext cx="1572768" cy="347472"/>
          </a:xfrm>
          <a:prstGeom prst="rect">
            <a:avLst/>
          </a:prstGeom>
          <a:noFill/>
          <a:ln/>
        </p:spPr>
        <p:txBody>
          <a:bodyPr wrap="square" rtlCol="0" anchor="ctr"/>
          <a:lstStyle/>
          <a:p>
            <a:pPr algn="ctr" indent="0" marL="0">
              <a:buNone/>
            </a:pPr>
            <a:r>
              <a:rPr lang="en-US" sz="1050" dirty="0">
                <a:solidFill>
                  <a:srgbClr val="90A4AE"/>
                </a:solidFill>
              </a:rPr>
              <a:t>No</a:t>
            </a:r>
            <a:endParaRPr lang="en-US" sz="1050" dirty="0"/>
          </a:p>
        </p:txBody>
      </p:sp>
      <p:sp>
        <p:nvSpPr>
          <p:cNvPr id="30" name="Shape 28"/>
          <p:cNvSpPr/>
          <p:nvPr/>
        </p:nvSpPr>
        <p:spPr>
          <a:xfrm>
            <a:off x="7479792" y="1901952"/>
            <a:ext cx="1664208" cy="438912"/>
          </a:xfrm>
          <a:prstGeom prst="rect">
            <a:avLst/>
          </a:prstGeom>
          <a:solidFill>
            <a:srgbClr val="1B2438"/>
          </a:solidFill>
          <a:ln w="12700">
            <a:solidFill>
              <a:srgbClr val="1E3A4A"/>
            </a:solidFill>
            <a:prstDash val="solid"/>
          </a:ln>
        </p:spPr>
      </p:sp>
      <p:sp>
        <p:nvSpPr>
          <p:cNvPr id="31" name="Text 29"/>
          <p:cNvSpPr/>
          <p:nvPr/>
        </p:nvSpPr>
        <p:spPr>
          <a:xfrm>
            <a:off x="7525512" y="1938528"/>
            <a:ext cx="1572768" cy="347472"/>
          </a:xfrm>
          <a:prstGeom prst="rect">
            <a:avLst/>
          </a:prstGeom>
          <a:noFill/>
          <a:ln/>
        </p:spPr>
        <p:txBody>
          <a:bodyPr wrap="square" rtlCol="0" anchor="ctr"/>
          <a:lstStyle/>
          <a:p>
            <a:pPr algn="ctr" indent="0" marL="0">
              <a:buNone/>
            </a:pPr>
            <a:r>
              <a:rPr lang="en-US" sz="1050" dirty="0">
                <a:solidFill>
                  <a:srgbClr val="90A4AE"/>
                </a:solidFill>
              </a:rPr>
              <a:t>No</a:t>
            </a:r>
            <a:endParaRPr lang="en-US" sz="1050" dirty="0"/>
          </a:p>
        </p:txBody>
      </p:sp>
      <p:sp>
        <p:nvSpPr>
          <p:cNvPr id="32" name="Shape 30"/>
          <p:cNvSpPr/>
          <p:nvPr/>
        </p:nvSpPr>
        <p:spPr>
          <a:xfrm>
            <a:off x="274320" y="2414016"/>
            <a:ext cx="1947672" cy="438912"/>
          </a:xfrm>
          <a:prstGeom prst="rect">
            <a:avLst/>
          </a:prstGeom>
          <a:solidFill>
            <a:srgbClr val="22304A"/>
          </a:solidFill>
          <a:ln w="12700">
            <a:solidFill>
              <a:srgbClr val="1E3A4A"/>
            </a:solidFill>
            <a:prstDash val="solid"/>
          </a:ln>
        </p:spPr>
      </p:sp>
      <p:sp>
        <p:nvSpPr>
          <p:cNvPr id="33" name="Text 31"/>
          <p:cNvSpPr/>
          <p:nvPr/>
        </p:nvSpPr>
        <p:spPr>
          <a:xfrm>
            <a:off x="347472" y="2450592"/>
            <a:ext cx="1810512" cy="347472"/>
          </a:xfrm>
          <a:prstGeom prst="rect">
            <a:avLst/>
          </a:prstGeom>
          <a:noFill/>
          <a:ln/>
        </p:spPr>
        <p:txBody>
          <a:bodyPr wrap="square" rtlCol="0" anchor="ctr"/>
          <a:lstStyle/>
          <a:p>
            <a:pPr indent="0" marL="0">
              <a:buNone/>
            </a:pPr>
            <a:r>
              <a:rPr lang="en-US" sz="1100" b="1" dirty="0">
                <a:solidFill>
                  <a:srgbClr val="FFB300"/>
                </a:solidFill>
              </a:rPr>
              <a:t>Threshold</a:t>
            </a:r>
            <a:endParaRPr lang="en-US" sz="1100" dirty="0"/>
          </a:p>
        </p:txBody>
      </p:sp>
      <p:sp>
        <p:nvSpPr>
          <p:cNvPr id="34" name="Shape 32"/>
          <p:cNvSpPr/>
          <p:nvPr/>
        </p:nvSpPr>
        <p:spPr>
          <a:xfrm>
            <a:off x="2267712" y="2414016"/>
            <a:ext cx="1664208" cy="438912"/>
          </a:xfrm>
          <a:prstGeom prst="rect">
            <a:avLst/>
          </a:prstGeom>
          <a:solidFill>
            <a:srgbClr val="22304A"/>
          </a:solidFill>
          <a:ln w="12700">
            <a:solidFill>
              <a:srgbClr val="1E3A4A"/>
            </a:solidFill>
            <a:prstDash val="solid"/>
          </a:ln>
        </p:spPr>
      </p:sp>
      <p:sp>
        <p:nvSpPr>
          <p:cNvPr id="35" name="Text 33"/>
          <p:cNvSpPr/>
          <p:nvPr/>
        </p:nvSpPr>
        <p:spPr>
          <a:xfrm>
            <a:off x="2313432" y="2450592"/>
            <a:ext cx="1572768" cy="347472"/>
          </a:xfrm>
          <a:prstGeom prst="rect">
            <a:avLst/>
          </a:prstGeom>
          <a:noFill/>
          <a:ln/>
        </p:spPr>
        <p:txBody>
          <a:bodyPr wrap="square" rtlCol="0" anchor="ctr"/>
          <a:lstStyle/>
          <a:p>
            <a:pPr algn="ctr" indent="0" marL="0">
              <a:buNone/>
            </a:pPr>
            <a:r>
              <a:rPr lang="en-US" sz="1050" dirty="0">
                <a:solidFill>
                  <a:srgbClr val="90A4AE"/>
                </a:solidFill>
              </a:rPr>
              <a:t>|Z| &gt; 3</a:t>
            </a:r>
            <a:endParaRPr lang="en-US" sz="1050" dirty="0"/>
          </a:p>
        </p:txBody>
      </p:sp>
      <p:sp>
        <p:nvSpPr>
          <p:cNvPr id="36" name="Shape 34"/>
          <p:cNvSpPr/>
          <p:nvPr/>
        </p:nvSpPr>
        <p:spPr>
          <a:xfrm>
            <a:off x="4005072" y="2414016"/>
            <a:ext cx="1664208" cy="438912"/>
          </a:xfrm>
          <a:prstGeom prst="rect">
            <a:avLst/>
          </a:prstGeom>
          <a:solidFill>
            <a:srgbClr val="22304A"/>
          </a:solidFill>
          <a:ln w="12700">
            <a:solidFill>
              <a:srgbClr val="1E3A4A"/>
            </a:solidFill>
            <a:prstDash val="solid"/>
          </a:ln>
        </p:spPr>
      </p:sp>
      <p:sp>
        <p:nvSpPr>
          <p:cNvPr id="37" name="Text 35"/>
          <p:cNvSpPr/>
          <p:nvPr/>
        </p:nvSpPr>
        <p:spPr>
          <a:xfrm>
            <a:off x="4050792" y="2450592"/>
            <a:ext cx="1572768" cy="347472"/>
          </a:xfrm>
          <a:prstGeom prst="rect">
            <a:avLst/>
          </a:prstGeom>
          <a:noFill/>
          <a:ln/>
        </p:spPr>
        <p:txBody>
          <a:bodyPr wrap="square" rtlCol="0" anchor="ctr"/>
          <a:lstStyle/>
          <a:p>
            <a:pPr algn="ctr" indent="0" marL="0">
              <a:buNone/>
            </a:pPr>
            <a:r>
              <a:rPr lang="en-US" sz="1050" dirty="0">
                <a:solidFill>
                  <a:srgbClr val="90A4AE"/>
                </a:solidFill>
              </a:rPr>
              <a:t>1.5 × IQR</a:t>
            </a:r>
            <a:endParaRPr lang="en-US" sz="1050" dirty="0"/>
          </a:p>
        </p:txBody>
      </p:sp>
      <p:sp>
        <p:nvSpPr>
          <p:cNvPr id="38" name="Shape 36"/>
          <p:cNvSpPr/>
          <p:nvPr/>
        </p:nvSpPr>
        <p:spPr>
          <a:xfrm>
            <a:off x="5742432" y="2414016"/>
            <a:ext cx="1664208" cy="438912"/>
          </a:xfrm>
          <a:prstGeom prst="rect">
            <a:avLst/>
          </a:prstGeom>
          <a:solidFill>
            <a:srgbClr val="22304A"/>
          </a:solidFill>
          <a:ln w="12700">
            <a:solidFill>
              <a:srgbClr val="1E3A4A"/>
            </a:solidFill>
            <a:prstDash val="solid"/>
          </a:ln>
        </p:spPr>
      </p:sp>
      <p:sp>
        <p:nvSpPr>
          <p:cNvPr id="39" name="Text 37"/>
          <p:cNvSpPr/>
          <p:nvPr/>
        </p:nvSpPr>
        <p:spPr>
          <a:xfrm>
            <a:off x="5788152" y="2450592"/>
            <a:ext cx="1572768" cy="347472"/>
          </a:xfrm>
          <a:prstGeom prst="rect">
            <a:avLst/>
          </a:prstGeom>
          <a:noFill/>
          <a:ln/>
        </p:spPr>
        <p:txBody>
          <a:bodyPr wrap="square" rtlCol="0" anchor="ctr"/>
          <a:lstStyle/>
          <a:p>
            <a:pPr algn="ctr" indent="0" marL="0">
              <a:buNone/>
            </a:pPr>
            <a:r>
              <a:rPr lang="en-US" sz="1050" dirty="0">
                <a:solidFill>
                  <a:srgbClr val="90A4AE"/>
                </a:solidFill>
              </a:rPr>
              <a:t>Cluster = -1</a:t>
            </a:r>
            <a:endParaRPr lang="en-US" sz="1050" dirty="0"/>
          </a:p>
        </p:txBody>
      </p:sp>
      <p:sp>
        <p:nvSpPr>
          <p:cNvPr id="40" name="Shape 38"/>
          <p:cNvSpPr/>
          <p:nvPr/>
        </p:nvSpPr>
        <p:spPr>
          <a:xfrm>
            <a:off x="7479792" y="2414016"/>
            <a:ext cx="1664208" cy="438912"/>
          </a:xfrm>
          <a:prstGeom prst="rect">
            <a:avLst/>
          </a:prstGeom>
          <a:solidFill>
            <a:srgbClr val="22304A"/>
          </a:solidFill>
          <a:ln w="12700">
            <a:solidFill>
              <a:srgbClr val="1E3A4A"/>
            </a:solidFill>
            <a:prstDash val="solid"/>
          </a:ln>
        </p:spPr>
      </p:sp>
      <p:sp>
        <p:nvSpPr>
          <p:cNvPr id="41" name="Text 39"/>
          <p:cNvSpPr/>
          <p:nvPr/>
        </p:nvSpPr>
        <p:spPr>
          <a:xfrm>
            <a:off x="7525512" y="2450592"/>
            <a:ext cx="1572768" cy="347472"/>
          </a:xfrm>
          <a:prstGeom prst="rect">
            <a:avLst/>
          </a:prstGeom>
          <a:noFill/>
          <a:ln/>
        </p:spPr>
        <p:txBody>
          <a:bodyPr wrap="square" rtlCol="0" anchor="ctr"/>
          <a:lstStyle/>
          <a:p>
            <a:pPr algn="ctr" indent="0" marL="0">
              <a:buNone/>
            </a:pPr>
            <a:r>
              <a:rPr lang="en-US" sz="1050" dirty="0">
                <a:solidFill>
                  <a:srgbClr val="90A4AE"/>
                </a:solidFill>
              </a:rPr>
              <a:t>Score = -1</a:t>
            </a:r>
            <a:endParaRPr lang="en-US" sz="1050" dirty="0"/>
          </a:p>
        </p:txBody>
      </p:sp>
      <p:sp>
        <p:nvSpPr>
          <p:cNvPr id="42" name="Shape 40"/>
          <p:cNvSpPr/>
          <p:nvPr/>
        </p:nvSpPr>
        <p:spPr>
          <a:xfrm>
            <a:off x="274320" y="2926080"/>
            <a:ext cx="1947672" cy="438912"/>
          </a:xfrm>
          <a:prstGeom prst="rect">
            <a:avLst/>
          </a:prstGeom>
          <a:solidFill>
            <a:srgbClr val="1B2438"/>
          </a:solidFill>
          <a:ln w="12700">
            <a:solidFill>
              <a:srgbClr val="1E3A4A"/>
            </a:solidFill>
            <a:prstDash val="solid"/>
          </a:ln>
        </p:spPr>
      </p:sp>
      <p:sp>
        <p:nvSpPr>
          <p:cNvPr id="43" name="Text 41"/>
          <p:cNvSpPr/>
          <p:nvPr/>
        </p:nvSpPr>
        <p:spPr>
          <a:xfrm>
            <a:off x="347472" y="2962656"/>
            <a:ext cx="1810512" cy="347472"/>
          </a:xfrm>
          <a:prstGeom prst="rect">
            <a:avLst/>
          </a:prstGeom>
          <a:noFill/>
          <a:ln/>
        </p:spPr>
        <p:txBody>
          <a:bodyPr wrap="square" rtlCol="0" anchor="ctr"/>
          <a:lstStyle/>
          <a:p>
            <a:pPr indent="0" marL="0">
              <a:buNone/>
            </a:pPr>
            <a:r>
              <a:rPr lang="en-US" sz="1100" b="1" dirty="0">
                <a:solidFill>
                  <a:srgbClr val="FFB300"/>
                </a:solidFill>
              </a:rPr>
              <a:t>High-Dim Data</a:t>
            </a:r>
            <a:endParaRPr lang="en-US" sz="1100" dirty="0"/>
          </a:p>
        </p:txBody>
      </p:sp>
      <p:sp>
        <p:nvSpPr>
          <p:cNvPr id="44" name="Shape 42"/>
          <p:cNvSpPr/>
          <p:nvPr/>
        </p:nvSpPr>
        <p:spPr>
          <a:xfrm>
            <a:off x="2267712" y="2926080"/>
            <a:ext cx="1664208" cy="438912"/>
          </a:xfrm>
          <a:prstGeom prst="rect">
            <a:avLst/>
          </a:prstGeom>
          <a:solidFill>
            <a:srgbClr val="1B2438"/>
          </a:solidFill>
          <a:ln w="12700">
            <a:solidFill>
              <a:srgbClr val="1E3A4A"/>
            </a:solidFill>
            <a:prstDash val="solid"/>
          </a:ln>
        </p:spPr>
      </p:sp>
      <p:sp>
        <p:nvSpPr>
          <p:cNvPr id="45" name="Text 43"/>
          <p:cNvSpPr/>
          <p:nvPr/>
        </p:nvSpPr>
        <p:spPr>
          <a:xfrm>
            <a:off x="2313432" y="2962656"/>
            <a:ext cx="1572768" cy="347472"/>
          </a:xfrm>
          <a:prstGeom prst="rect">
            <a:avLst/>
          </a:prstGeom>
          <a:noFill/>
          <a:ln/>
        </p:spPr>
        <p:txBody>
          <a:bodyPr wrap="square" rtlCol="0" anchor="ctr"/>
          <a:lstStyle/>
          <a:p>
            <a:pPr algn="ctr" indent="0" marL="0">
              <a:buNone/>
            </a:pPr>
            <a:r>
              <a:rPr lang="en-US" sz="1050" dirty="0">
                <a:solidFill>
                  <a:srgbClr val="90A4AE"/>
                </a:solidFill>
              </a:rPr>
              <a:t>Poor</a:t>
            </a:r>
            <a:endParaRPr lang="en-US" sz="1050" dirty="0"/>
          </a:p>
        </p:txBody>
      </p:sp>
      <p:sp>
        <p:nvSpPr>
          <p:cNvPr id="46" name="Shape 44"/>
          <p:cNvSpPr/>
          <p:nvPr/>
        </p:nvSpPr>
        <p:spPr>
          <a:xfrm>
            <a:off x="4005072" y="2926080"/>
            <a:ext cx="1664208" cy="438912"/>
          </a:xfrm>
          <a:prstGeom prst="rect">
            <a:avLst/>
          </a:prstGeom>
          <a:solidFill>
            <a:srgbClr val="1B2438"/>
          </a:solidFill>
          <a:ln w="12700">
            <a:solidFill>
              <a:srgbClr val="1E3A4A"/>
            </a:solidFill>
            <a:prstDash val="solid"/>
          </a:ln>
        </p:spPr>
      </p:sp>
      <p:sp>
        <p:nvSpPr>
          <p:cNvPr id="47" name="Text 45"/>
          <p:cNvSpPr/>
          <p:nvPr/>
        </p:nvSpPr>
        <p:spPr>
          <a:xfrm>
            <a:off x="4050792" y="2962656"/>
            <a:ext cx="1572768" cy="347472"/>
          </a:xfrm>
          <a:prstGeom prst="rect">
            <a:avLst/>
          </a:prstGeom>
          <a:noFill/>
          <a:ln/>
        </p:spPr>
        <p:txBody>
          <a:bodyPr wrap="square" rtlCol="0" anchor="ctr"/>
          <a:lstStyle/>
          <a:p>
            <a:pPr algn="ctr" indent="0" marL="0">
              <a:buNone/>
            </a:pPr>
            <a:r>
              <a:rPr lang="en-US" sz="1050" dirty="0">
                <a:solidFill>
                  <a:srgbClr val="90A4AE"/>
                </a:solidFill>
              </a:rPr>
              <a:t>Poor</a:t>
            </a:r>
            <a:endParaRPr lang="en-US" sz="1050" dirty="0"/>
          </a:p>
        </p:txBody>
      </p:sp>
      <p:sp>
        <p:nvSpPr>
          <p:cNvPr id="48" name="Shape 46"/>
          <p:cNvSpPr/>
          <p:nvPr/>
        </p:nvSpPr>
        <p:spPr>
          <a:xfrm>
            <a:off x="5742432" y="2926080"/>
            <a:ext cx="1664208" cy="438912"/>
          </a:xfrm>
          <a:prstGeom prst="rect">
            <a:avLst/>
          </a:prstGeom>
          <a:solidFill>
            <a:srgbClr val="1B2438"/>
          </a:solidFill>
          <a:ln w="12700">
            <a:solidFill>
              <a:srgbClr val="1E3A4A"/>
            </a:solidFill>
            <a:prstDash val="solid"/>
          </a:ln>
        </p:spPr>
      </p:sp>
      <p:sp>
        <p:nvSpPr>
          <p:cNvPr id="49" name="Text 47"/>
          <p:cNvSpPr/>
          <p:nvPr/>
        </p:nvSpPr>
        <p:spPr>
          <a:xfrm>
            <a:off x="5788152" y="2962656"/>
            <a:ext cx="1572768" cy="347472"/>
          </a:xfrm>
          <a:prstGeom prst="rect">
            <a:avLst/>
          </a:prstGeom>
          <a:noFill/>
          <a:ln/>
        </p:spPr>
        <p:txBody>
          <a:bodyPr wrap="square" rtlCol="0" anchor="ctr"/>
          <a:lstStyle/>
          <a:p>
            <a:pPr algn="ctr" indent="0" marL="0">
              <a:buNone/>
            </a:pPr>
            <a:r>
              <a:rPr lang="en-US" sz="1050" dirty="0">
                <a:solidFill>
                  <a:srgbClr val="90A4AE"/>
                </a:solidFill>
              </a:rPr>
              <a:t>Moderate</a:t>
            </a:r>
            <a:endParaRPr lang="en-US" sz="1050" dirty="0"/>
          </a:p>
        </p:txBody>
      </p:sp>
      <p:sp>
        <p:nvSpPr>
          <p:cNvPr id="50" name="Shape 48"/>
          <p:cNvSpPr/>
          <p:nvPr/>
        </p:nvSpPr>
        <p:spPr>
          <a:xfrm>
            <a:off x="7479792" y="2926080"/>
            <a:ext cx="1664208" cy="438912"/>
          </a:xfrm>
          <a:prstGeom prst="rect">
            <a:avLst/>
          </a:prstGeom>
          <a:solidFill>
            <a:srgbClr val="1B2438"/>
          </a:solidFill>
          <a:ln w="12700">
            <a:solidFill>
              <a:srgbClr val="1E3A4A"/>
            </a:solidFill>
            <a:prstDash val="solid"/>
          </a:ln>
        </p:spPr>
      </p:sp>
      <p:sp>
        <p:nvSpPr>
          <p:cNvPr id="51" name="Text 49"/>
          <p:cNvSpPr/>
          <p:nvPr/>
        </p:nvSpPr>
        <p:spPr>
          <a:xfrm>
            <a:off x="7525512" y="2962656"/>
            <a:ext cx="1572768" cy="347472"/>
          </a:xfrm>
          <a:prstGeom prst="rect">
            <a:avLst/>
          </a:prstGeom>
          <a:noFill/>
          <a:ln/>
        </p:spPr>
        <p:txBody>
          <a:bodyPr wrap="square" rtlCol="0" anchor="ctr"/>
          <a:lstStyle/>
          <a:p>
            <a:pPr algn="ctr" indent="0" marL="0">
              <a:buNone/>
            </a:pPr>
            <a:r>
              <a:rPr lang="en-US" sz="1050" b="1" dirty="0">
                <a:solidFill>
                  <a:srgbClr val="43A047"/>
                </a:solidFill>
              </a:rPr>
              <a:t>Excellent</a:t>
            </a:r>
            <a:endParaRPr lang="en-US" sz="1050" dirty="0"/>
          </a:p>
        </p:txBody>
      </p:sp>
      <p:sp>
        <p:nvSpPr>
          <p:cNvPr id="52" name="Shape 50"/>
          <p:cNvSpPr/>
          <p:nvPr/>
        </p:nvSpPr>
        <p:spPr>
          <a:xfrm>
            <a:off x="274320" y="3438144"/>
            <a:ext cx="1947672" cy="438912"/>
          </a:xfrm>
          <a:prstGeom prst="rect">
            <a:avLst/>
          </a:prstGeom>
          <a:solidFill>
            <a:srgbClr val="22304A"/>
          </a:solidFill>
          <a:ln w="12700">
            <a:solidFill>
              <a:srgbClr val="1E3A4A"/>
            </a:solidFill>
            <a:prstDash val="solid"/>
          </a:ln>
        </p:spPr>
      </p:sp>
      <p:sp>
        <p:nvSpPr>
          <p:cNvPr id="53" name="Text 51"/>
          <p:cNvSpPr/>
          <p:nvPr/>
        </p:nvSpPr>
        <p:spPr>
          <a:xfrm>
            <a:off x="347472" y="3474720"/>
            <a:ext cx="1810512" cy="347472"/>
          </a:xfrm>
          <a:prstGeom prst="rect">
            <a:avLst/>
          </a:prstGeom>
          <a:noFill/>
          <a:ln/>
        </p:spPr>
        <p:txBody>
          <a:bodyPr wrap="square" rtlCol="0" anchor="ctr"/>
          <a:lstStyle/>
          <a:p>
            <a:pPr indent="0" marL="0">
              <a:buNone/>
            </a:pPr>
            <a:r>
              <a:rPr lang="en-US" sz="1100" b="1" dirty="0">
                <a:solidFill>
                  <a:srgbClr val="FFB300"/>
                </a:solidFill>
              </a:rPr>
              <a:t>Cluster Shapes</a:t>
            </a:r>
            <a:endParaRPr lang="en-US" sz="1100" dirty="0"/>
          </a:p>
        </p:txBody>
      </p:sp>
      <p:sp>
        <p:nvSpPr>
          <p:cNvPr id="54" name="Shape 52"/>
          <p:cNvSpPr/>
          <p:nvPr/>
        </p:nvSpPr>
        <p:spPr>
          <a:xfrm>
            <a:off x="2267712" y="3438144"/>
            <a:ext cx="1664208" cy="438912"/>
          </a:xfrm>
          <a:prstGeom prst="rect">
            <a:avLst/>
          </a:prstGeom>
          <a:solidFill>
            <a:srgbClr val="22304A"/>
          </a:solidFill>
          <a:ln w="12700">
            <a:solidFill>
              <a:srgbClr val="1E3A4A"/>
            </a:solidFill>
            <a:prstDash val="solid"/>
          </a:ln>
        </p:spPr>
      </p:sp>
      <p:sp>
        <p:nvSpPr>
          <p:cNvPr id="55" name="Text 53"/>
          <p:cNvSpPr/>
          <p:nvPr/>
        </p:nvSpPr>
        <p:spPr>
          <a:xfrm>
            <a:off x="2313432" y="3474720"/>
            <a:ext cx="1572768" cy="347472"/>
          </a:xfrm>
          <a:prstGeom prst="rect">
            <a:avLst/>
          </a:prstGeom>
          <a:noFill/>
          <a:ln/>
        </p:spPr>
        <p:txBody>
          <a:bodyPr wrap="square" rtlCol="0" anchor="ctr"/>
          <a:lstStyle/>
          <a:p>
            <a:pPr algn="ctr" indent="0" marL="0">
              <a:buNone/>
            </a:pPr>
            <a:r>
              <a:rPr lang="en-US" sz="1050" dirty="0">
                <a:solidFill>
                  <a:srgbClr val="90A4AE"/>
                </a:solidFill>
              </a:rPr>
              <a:t>N/A</a:t>
            </a:r>
            <a:endParaRPr lang="en-US" sz="1050" dirty="0"/>
          </a:p>
        </p:txBody>
      </p:sp>
      <p:sp>
        <p:nvSpPr>
          <p:cNvPr id="56" name="Shape 54"/>
          <p:cNvSpPr/>
          <p:nvPr/>
        </p:nvSpPr>
        <p:spPr>
          <a:xfrm>
            <a:off x="4005072" y="3438144"/>
            <a:ext cx="1664208" cy="438912"/>
          </a:xfrm>
          <a:prstGeom prst="rect">
            <a:avLst/>
          </a:prstGeom>
          <a:solidFill>
            <a:srgbClr val="22304A"/>
          </a:solidFill>
          <a:ln w="12700">
            <a:solidFill>
              <a:srgbClr val="1E3A4A"/>
            </a:solidFill>
            <a:prstDash val="solid"/>
          </a:ln>
        </p:spPr>
      </p:sp>
      <p:sp>
        <p:nvSpPr>
          <p:cNvPr id="57" name="Text 55"/>
          <p:cNvSpPr/>
          <p:nvPr/>
        </p:nvSpPr>
        <p:spPr>
          <a:xfrm>
            <a:off x="4050792" y="3474720"/>
            <a:ext cx="1572768" cy="347472"/>
          </a:xfrm>
          <a:prstGeom prst="rect">
            <a:avLst/>
          </a:prstGeom>
          <a:noFill/>
          <a:ln/>
        </p:spPr>
        <p:txBody>
          <a:bodyPr wrap="square" rtlCol="0" anchor="ctr"/>
          <a:lstStyle/>
          <a:p>
            <a:pPr algn="ctr" indent="0" marL="0">
              <a:buNone/>
            </a:pPr>
            <a:r>
              <a:rPr lang="en-US" sz="1050" dirty="0">
                <a:solidFill>
                  <a:srgbClr val="90A4AE"/>
                </a:solidFill>
              </a:rPr>
              <a:t>N/A</a:t>
            </a:r>
            <a:endParaRPr lang="en-US" sz="1050" dirty="0"/>
          </a:p>
        </p:txBody>
      </p:sp>
      <p:sp>
        <p:nvSpPr>
          <p:cNvPr id="58" name="Shape 56"/>
          <p:cNvSpPr/>
          <p:nvPr/>
        </p:nvSpPr>
        <p:spPr>
          <a:xfrm>
            <a:off x="5742432" y="3438144"/>
            <a:ext cx="1664208" cy="438912"/>
          </a:xfrm>
          <a:prstGeom prst="rect">
            <a:avLst/>
          </a:prstGeom>
          <a:solidFill>
            <a:srgbClr val="22304A"/>
          </a:solidFill>
          <a:ln w="12700">
            <a:solidFill>
              <a:srgbClr val="1E3A4A"/>
            </a:solidFill>
            <a:prstDash val="solid"/>
          </a:ln>
        </p:spPr>
      </p:sp>
      <p:sp>
        <p:nvSpPr>
          <p:cNvPr id="59" name="Text 57"/>
          <p:cNvSpPr/>
          <p:nvPr/>
        </p:nvSpPr>
        <p:spPr>
          <a:xfrm>
            <a:off x="5788152" y="3474720"/>
            <a:ext cx="1572768" cy="347472"/>
          </a:xfrm>
          <a:prstGeom prst="rect">
            <a:avLst/>
          </a:prstGeom>
          <a:noFill/>
          <a:ln/>
        </p:spPr>
        <p:txBody>
          <a:bodyPr wrap="square" rtlCol="0" anchor="ctr"/>
          <a:lstStyle/>
          <a:p>
            <a:pPr algn="ctr" indent="0" marL="0">
              <a:buNone/>
            </a:pPr>
            <a:r>
              <a:rPr lang="en-US" sz="1050" dirty="0">
                <a:solidFill>
                  <a:srgbClr val="90A4AE"/>
                </a:solidFill>
              </a:rPr>
              <a:t>Arbitrary</a:t>
            </a:r>
            <a:endParaRPr lang="en-US" sz="1050" dirty="0"/>
          </a:p>
        </p:txBody>
      </p:sp>
      <p:sp>
        <p:nvSpPr>
          <p:cNvPr id="60" name="Shape 58"/>
          <p:cNvSpPr/>
          <p:nvPr/>
        </p:nvSpPr>
        <p:spPr>
          <a:xfrm>
            <a:off x="7479792" y="3438144"/>
            <a:ext cx="1664208" cy="438912"/>
          </a:xfrm>
          <a:prstGeom prst="rect">
            <a:avLst/>
          </a:prstGeom>
          <a:solidFill>
            <a:srgbClr val="22304A"/>
          </a:solidFill>
          <a:ln w="12700">
            <a:solidFill>
              <a:srgbClr val="1E3A4A"/>
            </a:solidFill>
            <a:prstDash val="solid"/>
          </a:ln>
        </p:spPr>
      </p:sp>
      <p:sp>
        <p:nvSpPr>
          <p:cNvPr id="61" name="Text 59"/>
          <p:cNvSpPr/>
          <p:nvPr/>
        </p:nvSpPr>
        <p:spPr>
          <a:xfrm>
            <a:off x="7525512" y="3474720"/>
            <a:ext cx="1572768" cy="347472"/>
          </a:xfrm>
          <a:prstGeom prst="rect">
            <a:avLst/>
          </a:prstGeom>
          <a:noFill/>
          <a:ln/>
        </p:spPr>
        <p:txBody>
          <a:bodyPr wrap="square" rtlCol="0" anchor="ctr"/>
          <a:lstStyle/>
          <a:p>
            <a:pPr algn="ctr" indent="0" marL="0">
              <a:buNone/>
            </a:pPr>
            <a:r>
              <a:rPr lang="en-US" sz="1050" dirty="0">
                <a:solidFill>
                  <a:srgbClr val="90A4AE"/>
                </a:solidFill>
              </a:rPr>
              <a:t>Arbitrary</a:t>
            </a:r>
            <a:endParaRPr lang="en-US" sz="1050" dirty="0"/>
          </a:p>
        </p:txBody>
      </p:sp>
      <p:sp>
        <p:nvSpPr>
          <p:cNvPr id="62" name="Shape 60"/>
          <p:cNvSpPr/>
          <p:nvPr/>
        </p:nvSpPr>
        <p:spPr>
          <a:xfrm>
            <a:off x="274320" y="3950208"/>
            <a:ext cx="1947672" cy="438912"/>
          </a:xfrm>
          <a:prstGeom prst="rect">
            <a:avLst/>
          </a:prstGeom>
          <a:solidFill>
            <a:srgbClr val="1B2438"/>
          </a:solidFill>
          <a:ln w="12700">
            <a:solidFill>
              <a:srgbClr val="1E3A4A"/>
            </a:solidFill>
            <a:prstDash val="solid"/>
          </a:ln>
        </p:spPr>
      </p:sp>
      <p:sp>
        <p:nvSpPr>
          <p:cNvPr id="63" name="Text 61"/>
          <p:cNvSpPr/>
          <p:nvPr/>
        </p:nvSpPr>
        <p:spPr>
          <a:xfrm>
            <a:off x="347472" y="3986784"/>
            <a:ext cx="1810512" cy="347472"/>
          </a:xfrm>
          <a:prstGeom prst="rect">
            <a:avLst/>
          </a:prstGeom>
          <a:noFill/>
          <a:ln/>
        </p:spPr>
        <p:txBody>
          <a:bodyPr wrap="square" rtlCol="0" anchor="ctr"/>
          <a:lstStyle/>
          <a:p>
            <a:pPr indent="0" marL="0">
              <a:buNone/>
            </a:pPr>
            <a:r>
              <a:rPr lang="en-US" sz="1100" b="1" dirty="0">
                <a:solidFill>
                  <a:srgbClr val="FFB300"/>
                </a:solidFill>
              </a:rPr>
              <a:t>Speed</a:t>
            </a:r>
            <a:endParaRPr lang="en-US" sz="1100" dirty="0"/>
          </a:p>
        </p:txBody>
      </p:sp>
      <p:sp>
        <p:nvSpPr>
          <p:cNvPr id="64" name="Shape 62"/>
          <p:cNvSpPr/>
          <p:nvPr/>
        </p:nvSpPr>
        <p:spPr>
          <a:xfrm>
            <a:off x="2267712" y="3950208"/>
            <a:ext cx="1664208" cy="438912"/>
          </a:xfrm>
          <a:prstGeom prst="rect">
            <a:avLst/>
          </a:prstGeom>
          <a:solidFill>
            <a:srgbClr val="1B2438"/>
          </a:solidFill>
          <a:ln w="12700">
            <a:solidFill>
              <a:srgbClr val="1E3A4A"/>
            </a:solidFill>
            <a:prstDash val="solid"/>
          </a:ln>
        </p:spPr>
      </p:sp>
      <p:sp>
        <p:nvSpPr>
          <p:cNvPr id="65" name="Text 63"/>
          <p:cNvSpPr/>
          <p:nvPr/>
        </p:nvSpPr>
        <p:spPr>
          <a:xfrm>
            <a:off x="2313432" y="3986784"/>
            <a:ext cx="1572768" cy="347472"/>
          </a:xfrm>
          <a:prstGeom prst="rect">
            <a:avLst/>
          </a:prstGeom>
          <a:noFill/>
          <a:ln/>
        </p:spPr>
        <p:txBody>
          <a:bodyPr wrap="square" rtlCol="0" anchor="ctr"/>
          <a:lstStyle/>
          <a:p>
            <a:pPr algn="ctr" indent="0" marL="0">
              <a:buNone/>
            </a:pPr>
            <a:r>
              <a:rPr lang="en-US" sz="1050" b="1" dirty="0">
                <a:solidFill>
                  <a:srgbClr val="E53935"/>
                </a:solidFill>
              </a:rPr>
              <a:t>Very fast</a:t>
            </a:r>
            <a:endParaRPr lang="en-US" sz="1050" dirty="0"/>
          </a:p>
        </p:txBody>
      </p:sp>
      <p:sp>
        <p:nvSpPr>
          <p:cNvPr id="66" name="Shape 64"/>
          <p:cNvSpPr/>
          <p:nvPr/>
        </p:nvSpPr>
        <p:spPr>
          <a:xfrm>
            <a:off x="4005072" y="3950208"/>
            <a:ext cx="1664208" cy="438912"/>
          </a:xfrm>
          <a:prstGeom prst="rect">
            <a:avLst/>
          </a:prstGeom>
          <a:solidFill>
            <a:srgbClr val="1B2438"/>
          </a:solidFill>
          <a:ln w="12700">
            <a:solidFill>
              <a:srgbClr val="1E3A4A"/>
            </a:solidFill>
            <a:prstDash val="solid"/>
          </a:ln>
        </p:spPr>
      </p:sp>
      <p:sp>
        <p:nvSpPr>
          <p:cNvPr id="67" name="Text 65"/>
          <p:cNvSpPr/>
          <p:nvPr/>
        </p:nvSpPr>
        <p:spPr>
          <a:xfrm>
            <a:off x="4050792" y="3986784"/>
            <a:ext cx="1572768" cy="347472"/>
          </a:xfrm>
          <a:prstGeom prst="rect">
            <a:avLst/>
          </a:prstGeom>
          <a:noFill/>
          <a:ln/>
        </p:spPr>
        <p:txBody>
          <a:bodyPr wrap="square" rtlCol="0" anchor="ctr"/>
          <a:lstStyle/>
          <a:p>
            <a:pPr algn="ctr" indent="0" marL="0">
              <a:buNone/>
            </a:pPr>
            <a:r>
              <a:rPr lang="en-US" sz="1050" b="1" dirty="0">
                <a:solidFill>
                  <a:srgbClr val="FF7043"/>
                </a:solidFill>
              </a:rPr>
              <a:t>Very fast</a:t>
            </a:r>
            <a:endParaRPr lang="en-US" sz="1050" dirty="0"/>
          </a:p>
        </p:txBody>
      </p:sp>
      <p:sp>
        <p:nvSpPr>
          <p:cNvPr id="68" name="Shape 66"/>
          <p:cNvSpPr/>
          <p:nvPr/>
        </p:nvSpPr>
        <p:spPr>
          <a:xfrm>
            <a:off x="5742432" y="3950208"/>
            <a:ext cx="1664208" cy="438912"/>
          </a:xfrm>
          <a:prstGeom prst="rect">
            <a:avLst/>
          </a:prstGeom>
          <a:solidFill>
            <a:srgbClr val="1B2438"/>
          </a:solidFill>
          <a:ln w="12700">
            <a:solidFill>
              <a:srgbClr val="1E3A4A"/>
            </a:solidFill>
            <a:prstDash val="solid"/>
          </a:ln>
        </p:spPr>
      </p:sp>
      <p:sp>
        <p:nvSpPr>
          <p:cNvPr id="69" name="Text 67"/>
          <p:cNvSpPr/>
          <p:nvPr/>
        </p:nvSpPr>
        <p:spPr>
          <a:xfrm>
            <a:off x="5788152" y="3986784"/>
            <a:ext cx="1572768" cy="347472"/>
          </a:xfrm>
          <a:prstGeom prst="rect">
            <a:avLst/>
          </a:prstGeom>
          <a:noFill/>
          <a:ln/>
        </p:spPr>
        <p:txBody>
          <a:bodyPr wrap="square" rtlCol="0" anchor="ctr"/>
          <a:lstStyle/>
          <a:p>
            <a:pPr algn="ctr" indent="0" marL="0">
              <a:buNone/>
            </a:pPr>
            <a:r>
              <a:rPr lang="en-US" sz="1050" dirty="0">
                <a:solidFill>
                  <a:srgbClr val="90A4AE"/>
                </a:solidFill>
              </a:rPr>
              <a:t>Moderate</a:t>
            </a:r>
            <a:endParaRPr lang="en-US" sz="1050" dirty="0"/>
          </a:p>
        </p:txBody>
      </p:sp>
      <p:sp>
        <p:nvSpPr>
          <p:cNvPr id="70" name="Shape 68"/>
          <p:cNvSpPr/>
          <p:nvPr/>
        </p:nvSpPr>
        <p:spPr>
          <a:xfrm>
            <a:off x="7479792" y="3950208"/>
            <a:ext cx="1664208" cy="438912"/>
          </a:xfrm>
          <a:prstGeom prst="rect">
            <a:avLst/>
          </a:prstGeom>
          <a:solidFill>
            <a:srgbClr val="1B2438"/>
          </a:solidFill>
          <a:ln w="12700">
            <a:solidFill>
              <a:srgbClr val="1E3A4A"/>
            </a:solidFill>
            <a:prstDash val="solid"/>
          </a:ln>
        </p:spPr>
      </p:sp>
      <p:sp>
        <p:nvSpPr>
          <p:cNvPr id="71" name="Text 69"/>
          <p:cNvSpPr/>
          <p:nvPr/>
        </p:nvSpPr>
        <p:spPr>
          <a:xfrm>
            <a:off x="7525512" y="3986784"/>
            <a:ext cx="1572768" cy="347472"/>
          </a:xfrm>
          <a:prstGeom prst="rect">
            <a:avLst/>
          </a:prstGeom>
          <a:noFill/>
          <a:ln/>
        </p:spPr>
        <p:txBody>
          <a:bodyPr wrap="square" rtlCol="0" anchor="ctr"/>
          <a:lstStyle/>
          <a:p>
            <a:pPr algn="ctr" indent="0" marL="0">
              <a:buNone/>
            </a:pPr>
            <a:r>
              <a:rPr lang="en-US" sz="1050" b="1" dirty="0">
                <a:solidFill>
                  <a:srgbClr val="43A047"/>
                </a:solidFill>
              </a:rPr>
              <a:t>Fast — scalable</a:t>
            </a:r>
            <a:endParaRPr lang="en-US" sz="1050" dirty="0"/>
          </a:p>
        </p:txBody>
      </p:sp>
      <p:sp>
        <p:nvSpPr>
          <p:cNvPr id="72" name="Shape 70"/>
          <p:cNvSpPr/>
          <p:nvPr/>
        </p:nvSpPr>
        <p:spPr>
          <a:xfrm>
            <a:off x="274320" y="4462272"/>
            <a:ext cx="1947672" cy="438912"/>
          </a:xfrm>
          <a:prstGeom prst="rect">
            <a:avLst/>
          </a:prstGeom>
          <a:solidFill>
            <a:srgbClr val="22304A"/>
          </a:solidFill>
          <a:ln w="12700">
            <a:solidFill>
              <a:srgbClr val="1E3A4A"/>
            </a:solidFill>
            <a:prstDash val="solid"/>
          </a:ln>
        </p:spPr>
      </p:sp>
      <p:sp>
        <p:nvSpPr>
          <p:cNvPr id="73" name="Text 71"/>
          <p:cNvSpPr/>
          <p:nvPr/>
        </p:nvSpPr>
        <p:spPr>
          <a:xfrm>
            <a:off x="347472" y="4498848"/>
            <a:ext cx="1810512" cy="347472"/>
          </a:xfrm>
          <a:prstGeom prst="rect">
            <a:avLst/>
          </a:prstGeom>
          <a:noFill/>
          <a:ln/>
        </p:spPr>
        <p:txBody>
          <a:bodyPr wrap="square" rtlCol="0" anchor="ctr"/>
          <a:lstStyle/>
          <a:p>
            <a:pPr indent="0" marL="0">
              <a:buNone/>
            </a:pPr>
            <a:r>
              <a:rPr lang="en-US" sz="1100" b="1" dirty="0">
                <a:solidFill>
                  <a:srgbClr val="FFB300"/>
                </a:solidFill>
              </a:rPr>
              <a:t>Best Use Case</a:t>
            </a:r>
            <a:endParaRPr lang="en-US" sz="1100" dirty="0"/>
          </a:p>
        </p:txBody>
      </p:sp>
      <p:sp>
        <p:nvSpPr>
          <p:cNvPr id="74" name="Shape 72"/>
          <p:cNvSpPr/>
          <p:nvPr/>
        </p:nvSpPr>
        <p:spPr>
          <a:xfrm>
            <a:off x="2267712" y="4462272"/>
            <a:ext cx="1664208" cy="438912"/>
          </a:xfrm>
          <a:prstGeom prst="rect">
            <a:avLst/>
          </a:prstGeom>
          <a:solidFill>
            <a:srgbClr val="22304A"/>
          </a:solidFill>
          <a:ln w="12700">
            <a:solidFill>
              <a:srgbClr val="1E3A4A"/>
            </a:solidFill>
            <a:prstDash val="solid"/>
          </a:ln>
        </p:spPr>
      </p:sp>
      <p:sp>
        <p:nvSpPr>
          <p:cNvPr id="75" name="Text 73"/>
          <p:cNvSpPr/>
          <p:nvPr/>
        </p:nvSpPr>
        <p:spPr>
          <a:xfrm>
            <a:off x="2313432" y="4498848"/>
            <a:ext cx="1572768" cy="347472"/>
          </a:xfrm>
          <a:prstGeom prst="rect">
            <a:avLst/>
          </a:prstGeom>
          <a:noFill/>
          <a:ln/>
        </p:spPr>
        <p:txBody>
          <a:bodyPr wrap="square" rtlCol="0" anchor="ctr"/>
          <a:lstStyle/>
          <a:p>
            <a:pPr algn="ctr" indent="0" marL="0">
              <a:buNone/>
            </a:pPr>
            <a:r>
              <a:rPr lang="en-US" sz="1050" dirty="0">
                <a:solidFill>
                  <a:srgbClr val="90A4AE"/>
                </a:solidFill>
              </a:rPr>
              <a:t>Normal datasets</a:t>
            </a:r>
            <a:endParaRPr lang="en-US" sz="1050" dirty="0"/>
          </a:p>
        </p:txBody>
      </p:sp>
      <p:sp>
        <p:nvSpPr>
          <p:cNvPr id="76" name="Shape 74"/>
          <p:cNvSpPr/>
          <p:nvPr/>
        </p:nvSpPr>
        <p:spPr>
          <a:xfrm>
            <a:off x="4005072" y="4462272"/>
            <a:ext cx="1664208" cy="438912"/>
          </a:xfrm>
          <a:prstGeom prst="rect">
            <a:avLst/>
          </a:prstGeom>
          <a:solidFill>
            <a:srgbClr val="22304A"/>
          </a:solidFill>
          <a:ln w="12700">
            <a:solidFill>
              <a:srgbClr val="1E3A4A"/>
            </a:solidFill>
            <a:prstDash val="solid"/>
          </a:ln>
        </p:spPr>
      </p:sp>
      <p:sp>
        <p:nvSpPr>
          <p:cNvPr id="77" name="Text 75"/>
          <p:cNvSpPr/>
          <p:nvPr/>
        </p:nvSpPr>
        <p:spPr>
          <a:xfrm>
            <a:off x="4050792" y="4498848"/>
            <a:ext cx="1572768" cy="347472"/>
          </a:xfrm>
          <a:prstGeom prst="rect">
            <a:avLst/>
          </a:prstGeom>
          <a:noFill/>
          <a:ln/>
        </p:spPr>
        <p:txBody>
          <a:bodyPr wrap="square" rtlCol="0" anchor="ctr"/>
          <a:lstStyle/>
          <a:p>
            <a:pPr algn="ctr" indent="0" marL="0">
              <a:buNone/>
            </a:pPr>
            <a:r>
              <a:rPr lang="en-US" sz="1050" dirty="0">
                <a:solidFill>
                  <a:srgbClr val="90A4AE"/>
                </a:solidFill>
              </a:rPr>
              <a:t>Skewed data</a:t>
            </a:r>
            <a:endParaRPr lang="en-US" sz="1050" dirty="0"/>
          </a:p>
        </p:txBody>
      </p:sp>
      <p:sp>
        <p:nvSpPr>
          <p:cNvPr id="78" name="Shape 76"/>
          <p:cNvSpPr/>
          <p:nvPr/>
        </p:nvSpPr>
        <p:spPr>
          <a:xfrm>
            <a:off x="5742432" y="4462272"/>
            <a:ext cx="1664208" cy="438912"/>
          </a:xfrm>
          <a:prstGeom prst="rect">
            <a:avLst/>
          </a:prstGeom>
          <a:solidFill>
            <a:srgbClr val="22304A"/>
          </a:solidFill>
          <a:ln w="12700">
            <a:solidFill>
              <a:srgbClr val="1E3A4A"/>
            </a:solidFill>
            <a:prstDash val="solid"/>
          </a:ln>
        </p:spPr>
      </p:sp>
      <p:sp>
        <p:nvSpPr>
          <p:cNvPr id="79" name="Text 77"/>
          <p:cNvSpPr/>
          <p:nvPr/>
        </p:nvSpPr>
        <p:spPr>
          <a:xfrm>
            <a:off x="5788152" y="4498848"/>
            <a:ext cx="1572768" cy="347472"/>
          </a:xfrm>
          <a:prstGeom prst="rect">
            <a:avLst/>
          </a:prstGeom>
          <a:noFill/>
          <a:ln/>
        </p:spPr>
        <p:txBody>
          <a:bodyPr wrap="square" rtlCol="0" anchor="ctr"/>
          <a:lstStyle/>
          <a:p>
            <a:pPr algn="ctr" indent="0" marL="0">
              <a:buNone/>
            </a:pPr>
            <a:r>
              <a:rPr lang="en-US" sz="1050" dirty="0">
                <a:solidFill>
                  <a:srgbClr val="90A4AE"/>
                </a:solidFill>
              </a:rPr>
              <a:t>Spatial data</a:t>
            </a:r>
            <a:endParaRPr lang="en-US" sz="1050" dirty="0"/>
          </a:p>
        </p:txBody>
      </p:sp>
      <p:sp>
        <p:nvSpPr>
          <p:cNvPr id="80" name="Shape 78"/>
          <p:cNvSpPr/>
          <p:nvPr/>
        </p:nvSpPr>
        <p:spPr>
          <a:xfrm>
            <a:off x="7479792" y="4462272"/>
            <a:ext cx="1664208" cy="438912"/>
          </a:xfrm>
          <a:prstGeom prst="rect">
            <a:avLst/>
          </a:prstGeom>
          <a:solidFill>
            <a:srgbClr val="22304A"/>
          </a:solidFill>
          <a:ln w="12700">
            <a:solidFill>
              <a:srgbClr val="1E3A4A"/>
            </a:solidFill>
            <a:prstDash val="solid"/>
          </a:ln>
        </p:spPr>
      </p:sp>
      <p:sp>
        <p:nvSpPr>
          <p:cNvPr id="81" name="Text 79"/>
          <p:cNvSpPr/>
          <p:nvPr/>
        </p:nvSpPr>
        <p:spPr>
          <a:xfrm>
            <a:off x="7525512" y="4498848"/>
            <a:ext cx="1572768" cy="347472"/>
          </a:xfrm>
          <a:prstGeom prst="rect">
            <a:avLst/>
          </a:prstGeom>
          <a:noFill/>
          <a:ln/>
        </p:spPr>
        <p:txBody>
          <a:bodyPr wrap="square" rtlCol="0" anchor="ctr"/>
          <a:lstStyle/>
          <a:p>
            <a:pPr algn="ctr" indent="0" marL="0">
              <a:buNone/>
            </a:pPr>
            <a:r>
              <a:rPr lang="en-US" sz="1050" dirty="0">
                <a:solidFill>
                  <a:srgbClr val="90A4AE"/>
                </a:solidFill>
              </a:rPr>
              <a:t>Large / high-dim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A28"/>
        </a:solidFill>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rgbClr val="1B2438"/>
          </a:solidFill>
          <a:ln w="12700">
            <a:solidFill>
              <a:srgbClr val="1B2438"/>
            </a:solidFill>
            <a:prstDash val="solid"/>
          </a:ln>
        </p:spPr>
      </p:sp>
      <p:sp>
        <p:nvSpPr>
          <p:cNvPr id="3" name="Shape 1"/>
          <p:cNvSpPr/>
          <p:nvPr/>
        </p:nvSpPr>
        <p:spPr>
          <a:xfrm>
            <a:off x="8869680" y="0"/>
            <a:ext cx="274320" cy="5143500"/>
          </a:xfrm>
          <a:prstGeom prst="rect">
            <a:avLst/>
          </a:prstGeom>
          <a:solidFill>
            <a:srgbClr val="E53935"/>
          </a:solidFill>
          <a:ln w="12700">
            <a:solidFill>
              <a:srgbClr val="E53935"/>
            </a:solidFill>
            <a:prstDash val="solid"/>
          </a:ln>
        </p:spPr>
      </p:sp>
      <p:sp>
        <p:nvSpPr>
          <p:cNvPr id="4" name="Shape 2"/>
          <p:cNvSpPr/>
          <p:nvPr/>
        </p:nvSpPr>
        <p:spPr>
          <a:xfrm>
            <a:off x="7059168" y="1298448"/>
            <a:ext cx="146304" cy="146304"/>
          </a:xfrm>
          <a:prstGeom prst="ellipse">
            <a:avLst/>
          </a:prstGeom>
          <a:solidFill>
            <a:srgbClr val="1E88E5"/>
          </a:solidFill>
          <a:ln w="12700">
            <a:solidFill>
              <a:srgbClr val="1E88E5"/>
            </a:solidFill>
            <a:prstDash val="solid"/>
          </a:ln>
        </p:spPr>
      </p:sp>
      <p:sp>
        <p:nvSpPr>
          <p:cNvPr id="5" name="Shape 3"/>
          <p:cNvSpPr/>
          <p:nvPr/>
        </p:nvSpPr>
        <p:spPr>
          <a:xfrm>
            <a:off x="7333488" y="1188720"/>
            <a:ext cx="146304" cy="146304"/>
          </a:xfrm>
          <a:prstGeom prst="ellipse">
            <a:avLst/>
          </a:prstGeom>
          <a:solidFill>
            <a:srgbClr val="1E88E5"/>
          </a:solidFill>
          <a:ln w="12700">
            <a:solidFill>
              <a:srgbClr val="1E88E5"/>
            </a:solidFill>
            <a:prstDash val="solid"/>
          </a:ln>
        </p:spPr>
      </p:sp>
      <p:sp>
        <p:nvSpPr>
          <p:cNvPr id="6" name="Shape 4"/>
          <p:cNvSpPr/>
          <p:nvPr/>
        </p:nvSpPr>
        <p:spPr>
          <a:xfrm>
            <a:off x="7607808" y="1344168"/>
            <a:ext cx="146304" cy="146304"/>
          </a:xfrm>
          <a:prstGeom prst="ellipse">
            <a:avLst/>
          </a:prstGeom>
          <a:solidFill>
            <a:srgbClr val="1E88E5"/>
          </a:solidFill>
          <a:ln w="12700">
            <a:solidFill>
              <a:srgbClr val="1E88E5"/>
            </a:solidFill>
            <a:prstDash val="solid"/>
          </a:ln>
        </p:spPr>
      </p:sp>
      <p:sp>
        <p:nvSpPr>
          <p:cNvPr id="7" name="Shape 5"/>
          <p:cNvSpPr/>
          <p:nvPr/>
        </p:nvSpPr>
        <p:spPr>
          <a:xfrm>
            <a:off x="7882128" y="1225296"/>
            <a:ext cx="146304" cy="146304"/>
          </a:xfrm>
          <a:prstGeom prst="ellipse">
            <a:avLst/>
          </a:prstGeom>
          <a:solidFill>
            <a:srgbClr val="1E88E5"/>
          </a:solidFill>
          <a:ln w="12700">
            <a:solidFill>
              <a:srgbClr val="1E88E5"/>
            </a:solidFill>
            <a:prstDash val="solid"/>
          </a:ln>
        </p:spPr>
      </p:sp>
      <p:sp>
        <p:nvSpPr>
          <p:cNvPr id="8" name="Shape 6"/>
          <p:cNvSpPr/>
          <p:nvPr/>
        </p:nvSpPr>
        <p:spPr>
          <a:xfrm>
            <a:off x="7287768" y="1499616"/>
            <a:ext cx="146304" cy="146304"/>
          </a:xfrm>
          <a:prstGeom prst="ellipse">
            <a:avLst/>
          </a:prstGeom>
          <a:solidFill>
            <a:srgbClr val="1E88E5"/>
          </a:solidFill>
          <a:ln w="12700">
            <a:solidFill>
              <a:srgbClr val="1E88E5"/>
            </a:solidFill>
            <a:prstDash val="solid"/>
          </a:ln>
        </p:spPr>
      </p:sp>
      <p:sp>
        <p:nvSpPr>
          <p:cNvPr id="9" name="Shape 7"/>
          <p:cNvSpPr/>
          <p:nvPr/>
        </p:nvSpPr>
        <p:spPr>
          <a:xfrm>
            <a:off x="7562088" y="1591056"/>
            <a:ext cx="146304" cy="146304"/>
          </a:xfrm>
          <a:prstGeom prst="ellipse">
            <a:avLst/>
          </a:prstGeom>
          <a:solidFill>
            <a:srgbClr val="1E88E5"/>
          </a:solidFill>
          <a:ln w="12700">
            <a:solidFill>
              <a:srgbClr val="1E88E5"/>
            </a:solidFill>
            <a:prstDash val="solid"/>
          </a:ln>
        </p:spPr>
      </p:sp>
      <p:sp>
        <p:nvSpPr>
          <p:cNvPr id="10" name="Shape 8"/>
          <p:cNvSpPr/>
          <p:nvPr/>
        </p:nvSpPr>
        <p:spPr>
          <a:xfrm>
            <a:off x="7168896" y="1709928"/>
            <a:ext cx="146304" cy="146304"/>
          </a:xfrm>
          <a:prstGeom prst="ellipse">
            <a:avLst/>
          </a:prstGeom>
          <a:solidFill>
            <a:srgbClr val="1E88E5"/>
          </a:solidFill>
          <a:ln w="12700">
            <a:solidFill>
              <a:srgbClr val="1E88E5"/>
            </a:solidFill>
            <a:prstDash val="solid"/>
          </a:ln>
        </p:spPr>
      </p:sp>
      <p:sp>
        <p:nvSpPr>
          <p:cNvPr id="11" name="Shape 9"/>
          <p:cNvSpPr/>
          <p:nvPr/>
        </p:nvSpPr>
        <p:spPr>
          <a:xfrm>
            <a:off x="7424928" y="1828800"/>
            <a:ext cx="146304" cy="146304"/>
          </a:xfrm>
          <a:prstGeom prst="ellipse">
            <a:avLst/>
          </a:prstGeom>
          <a:solidFill>
            <a:srgbClr val="1E88E5"/>
          </a:solidFill>
          <a:ln w="12700">
            <a:solidFill>
              <a:srgbClr val="1E88E5"/>
            </a:solidFill>
            <a:prstDash val="solid"/>
          </a:ln>
        </p:spPr>
      </p:sp>
      <p:sp>
        <p:nvSpPr>
          <p:cNvPr id="12" name="Shape 10"/>
          <p:cNvSpPr/>
          <p:nvPr/>
        </p:nvSpPr>
        <p:spPr>
          <a:xfrm>
            <a:off x="7744968" y="1709928"/>
            <a:ext cx="146304" cy="146304"/>
          </a:xfrm>
          <a:prstGeom prst="ellipse">
            <a:avLst/>
          </a:prstGeom>
          <a:solidFill>
            <a:srgbClr val="1E88E5"/>
          </a:solidFill>
          <a:ln w="12700">
            <a:solidFill>
              <a:srgbClr val="1E88E5"/>
            </a:solidFill>
            <a:prstDash val="solid"/>
          </a:ln>
        </p:spPr>
      </p:sp>
      <p:sp>
        <p:nvSpPr>
          <p:cNvPr id="13" name="Shape 11"/>
          <p:cNvSpPr/>
          <p:nvPr/>
        </p:nvSpPr>
        <p:spPr>
          <a:xfrm>
            <a:off x="6894576" y="3072384"/>
            <a:ext cx="256032" cy="256032"/>
          </a:xfrm>
          <a:prstGeom prst="ellipse">
            <a:avLst/>
          </a:prstGeom>
          <a:solidFill>
            <a:srgbClr val="E53935"/>
          </a:solidFill>
          <a:ln w="12700">
            <a:solidFill>
              <a:srgbClr val="E53935"/>
            </a:solidFill>
            <a:prstDash val="solid"/>
          </a:ln>
        </p:spPr>
      </p:sp>
      <p:sp>
        <p:nvSpPr>
          <p:cNvPr id="14" name="Text 12"/>
          <p:cNvSpPr/>
          <p:nvPr/>
        </p:nvSpPr>
        <p:spPr>
          <a:xfrm>
            <a:off x="6784848" y="3364992"/>
            <a:ext cx="822960" cy="201168"/>
          </a:xfrm>
          <a:prstGeom prst="rect">
            <a:avLst/>
          </a:prstGeom>
          <a:noFill/>
          <a:ln/>
        </p:spPr>
        <p:txBody>
          <a:bodyPr wrap="square" rtlCol="0" anchor="ctr"/>
          <a:lstStyle/>
          <a:p>
            <a:pPr algn="ctr" indent="0" marL="0">
              <a:buNone/>
            </a:pPr>
            <a:r>
              <a:rPr lang="en-US" sz="900" dirty="0">
                <a:solidFill>
                  <a:srgbClr val="E53935"/>
                </a:solidFill>
              </a:rPr>
              <a:t>Outlier</a:t>
            </a:r>
            <a:endParaRPr lang="en-US" sz="900" dirty="0"/>
          </a:p>
        </p:txBody>
      </p:sp>
      <p:sp>
        <p:nvSpPr>
          <p:cNvPr id="15" name="Shape 13"/>
          <p:cNvSpPr/>
          <p:nvPr/>
        </p:nvSpPr>
        <p:spPr>
          <a:xfrm>
            <a:off x="7059168" y="3858768"/>
            <a:ext cx="1536192" cy="640080"/>
          </a:xfrm>
          <a:prstGeom prst="rect">
            <a:avLst/>
          </a:prstGeom>
          <a:solidFill>
            <a:srgbClr val="1E88E5">
              <a:alpha val="20000"/>
            </a:srgbClr>
          </a:solidFill>
          <a:ln w="12700">
            <a:solidFill>
              <a:srgbClr val="1E88E5"/>
            </a:solidFill>
            <a:prstDash val="solid"/>
          </a:ln>
        </p:spPr>
      </p:sp>
      <p:sp>
        <p:nvSpPr>
          <p:cNvPr id="16" name="Shape 14"/>
          <p:cNvSpPr/>
          <p:nvPr/>
        </p:nvSpPr>
        <p:spPr>
          <a:xfrm>
            <a:off x="7662672" y="3858768"/>
            <a:ext cx="0" cy="640080"/>
          </a:xfrm>
          <a:prstGeom prst="line">
            <a:avLst/>
          </a:prstGeom>
          <a:noFill/>
          <a:ln w="19050">
            <a:solidFill>
              <a:srgbClr val="FFB300"/>
            </a:solidFill>
            <a:prstDash val="solid"/>
          </a:ln>
        </p:spPr>
      </p:sp>
      <p:sp>
        <p:nvSpPr>
          <p:cNvPr id="17" name="Shape 15"/>
          <p:cNvSpPr/>
          <p:nvPr/>
        </p:nvSpPr>
        <p:spPr>
          <a:xfrm>
            <a:off x="8394192" y="4023360"/>
            <a:ext cx="182880" cy="182880"/>
          </a:xfrm>
          <a:prstGeom prst="ellipse">
            <a:avLst/>
          </a:prstGeom>
          <a:solidFill>
            <a:srgbClr val="E53935"/>
          </a:solidFill>
          <a:ln w="12700">
            <a:solidFill>
              <a:srgbClr val="E53935"/>
            </a:solidFill>
            <a:prstDash val="solid"/>
          </a:ln>
        </p:spPr>
      </p:sp>
      <p:sp>
        <p:nvSpPr>
          <p:cNvPr id="18" name="Text 16"/>
          <p:cNvSpPr/>
          <p:nvPr/>
        </p:nvSpPr>
        <p:spPr>
          <a:xfrm>
            <a:off x="7059168" y="4517136"/>
            <a:ext cx="1536192" cy="201168"/>
          </a:xfrm>
          <a:prstGeom prst="rect">
            <a:avLst/>
          </a:prstGeom>
          <a:noFill/>
          <a:ln/>
        </p:spPr>
        <p:txBody>
          <a:bodyPr wrap="square" rtlCol="0" anchor="ctr"/>
          <a:lstStyle/>
          <a:p>
            <a:pPr algn="ctr" indent="0" marL="0">
              <a:buNone/>
            </a:pPr>
            <a:r>
              <a:rPr lang="en-US" sz="850" dirty="0">
                <a:solidFill>
                  <a:srgbClr val="1E88E5"/>
                </a:solidFill>
              </a:rPr>
              <a:t>Box Plot</a:t>
            </a:r>
            <a:endParaRPr lang="en-US" sz="850" dirty="0"/>
          </a:p>
        </p:txBody>
      </p:sp>
      <p:sp>
        <p:nvSpPr>
          <p:cNvPr id="19" name="Shape 17"/>
          <p:cNvSpPr/>
          <p:nvPr/>
        </p:nvSpPr>
        <p:spPr>
          <a:xfrm>
            <a:off x="0" y="0"/>
            <a:ext cx="9144000" cy="64008"/>
          </a:xfrm>
          <a:prstGeom prst="rect">
            <a:avLst/>
          </a:prstGeom>
          <a:solidFill>
            <a:srgbClr val="E53935"/>
          </a:solidFill>
          <a:ln w="12700">
            <a:solidFill>
              <a:srgbClr val="E53935"/>
            </a:solidFill>
            <a:prstDash val="solid"/>
          </a:ln>
        </p:spPr>
      </p:sp>
      <p:sp>
        <p:nvSpPr>
          <p:cNvPr id="20" name="Shape 18"/>
          <p:cNvSpPr/>
          <p:nvPr/>
        </p:nvSpPr>
        <p:spPr>
          <a:xfrm>
            <a:off x="0" y="5070348"/>
            <a:ext cx="9144000" cy="73152"/>
          </a:xfrm>
          <a:prstGeom prst="rect">
            <a:avLst/>
          </a:prstGeom>
          <a:solidFill>
            <a:srgbClr val="E53935"/>
          </a:solidFill>
          <a:ln w="12700">
            <a:solidFill>
              <a:srgbClr val="E53935"/>
            </a:solidFill>
            <a:prstDash val="solid"/>
          </a:ln>
        </p:spPr>
      </p:sp>
      <p:sp>
        <p:nvSpPr>
          <p:cNvPr id="21" name="Text 19"/>
          <p:cNvSpPr/>
          <p:nvPr/>
        </p:nvSpPr>
        <p:spPr>
          <a:xfrm>
            <a:off x="457200" y="164592"/>
            <a:ext cx="6126480" cy="566928"/>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Key Takeaways</a:t>
            </a:r>
            <a:endParaRPr lang="en-US" sz="3200" dirty="0"/>
          </a:p>
        </p:txBody>
      </p:sp>
      <p:sp>
        <p:nvSpPr>
          <p:cNvPr id="22" name="Shape 20"/>
          <p:cNvSpPr/>
          <p:nvPr/>
        </p:nvSpPr>
        <p:spPr>
          <a:xfrm>
            <a:off x="411480" y="960120"/>
            <a:ext cx="6217920" cy="676656"/>
          </a:xfrm>
          <a:prstGeom prst="rect">
            <a:avLst/>
          </a:prstGeom>
          <a:solidFill>
            <a:srgbClr val="22304A"/>
          </a:solidFill>
          <a:ln w="12700">
            <a:solidFill>
              <a:srgbClr val="E53935"/>
            </a:solidFill>
            <a:prstDash val="solid"/>
          </a:ln>
        </p:spPr>
      </p:sp>
      <p:sp>
        <p:nvSpPr>
          <p:cNvPr id="23" name="Shape 21"/>
          <p:cNvSpPr/>
          <p:nvPr/>
        </p:nvSpPr>
        <p:spPr>
          <a:xfrm>
            <a:off x="411480" y="960120"/>
            <a:ext cx="658368" cy="676656"/>
          </a:xfrm>
          <a:prstGeom prst="rect">
            <a:avLst/>
          </a:prstGeom>
          <a:solidFill>
            <a:srgbClr val="E53935"/>
          </a:solidFill>
          <a:ln w="12700">
            <a:solidFill>
              <a:srgbClr val="E53935"/>
            </a:solidFill>
            <a:prstDash val="solid"/>
          </a:ln>
        </p:spPr>
      </p:sp>
      <p:sp>
        <p:nvSpPr>
          <p:cNvPr id="24" name="Text 22"/>
          <p:cNvSpPr/>
          <p:nvPr/>
        </p:nvSpPr>
        <p:spPr>
          <a:xfrm>
            <a:off x="411480" y="960120"/>
            <a:ext cx="658368" cy="676656"/>
          </a:xfrm>
          <a:prstGeom prst="rect">
            <a:avLst/>
          </a:prstGeom>
          <a:noFill/>
          <a:ln/>
        </p:spPr>
        <p:txBody>
          <a:bodyPr wrap="square" lIns="0" tIns="0" rIns="0" bIns="0" rtlCol="0" anchor="ctr"/>
          <a:lstStyle/>
          <a:p>
            <a:pPr algn="ctr" indent="0" marL="0">
              <a:buNone/>
            </a:pPr>
            <a:r>
              <a:rPr lang="en-US" sz="1400" b="1" dirty="0">
                <a:solidFill>
                  <a:srgbClr val="131A28"/>
                </a:solidFill>
              </a:rPr>
              <a:t>01</a:t>
            </a:r>
            <a:endParaRPr lang="en-US" sz="1400" dirty="0"/>
          </a:p>
        </p:txBody>
      </p:sp>
      <p:sp>
        <p:nvSpPr>
          <p:cNvPr id="25" name="Text 23"/>
          <p:cNvSpPr/>
          <p:nvPr/>
        </p:nvSpPr>
        <p:spPr>
          <a:xfrm>
            <a:off x="1170432" y="1078992"/>
            <a:ext cx="5358384" cy="438912"/>
          </a:xfrm>
          <a:prstGeom prst="rect">
            <a:avLst/>
          </a:prstGeom>
          <a:noFill/>
          <a:ln/>
        </p:spPr>
        <p:txBody>
          <a:bodyPr wrap="square" rtlCol="0" anchor="ctr"/>
          <a:lstStyle/>
          <a:p>
            <a:pPr indent="0" marL="0">
              <a:buNone/>
            </a:pPr>
            <a:r>
              <a:rPr lang="en-US" sz="1250" dirty="0">
                <a:solidFill>
                  <a:srgbClr val="90A4AE"/>
                </a:solidFill>
              </a:rPr>
              <a:t>Outliers are data points that differ significantly from the rest and do not follow the general pattern — from errors, rare events, or natural variability.</a:t>
            </a:r>
            <a:endParaRPr lang="en-US" sz="1250" dirty="0"/>
          </a:p>
        </p:txBody>
      </p:sp>
      <p:sp>
        <p:nvSpPr>
          <p:cNvPr id="26" name="Shape 24"/>
          <p:cNvSpPr/>
          <p:nvPr/>
        </p:nvSpPr>
        <p:spPr>
          <a:xfrm>
            <a:off x="411480" y="1755648"/>
            <a:ext cx="6217920" cy="676656"/>
          </a:xfrm>
          <a:prstGeom prst="rect">
            <a:avLst/>
          </a:prstGeom>
          <a:solidFill>
            <a:srgbClr val="22304A"/>
          </a:solidFill>
          <a:ln w="12700">
            <a:solidFill>
              <a:srgbClr val="FF7043"/>
            </a:solidFill>
            <a:prstDash val="solid"/>
          </a:ln>
        </p:spPr>
      </p:sp>
      <p:sp>
        <p:nvSpPr>
          <p:cNvPr id="27" name="Shape 25"/>
          <p:cNvSpPr/>
          <p:nvPr/>
        </p:nvSpPr>
        <p:spPr>
          <a:xfrm>
            <a:off x="411480" y="1755648"/>
            <a:ext cx="658368" cy="676656"/>
          </a:xfrm>
          <a:prstGeom prst="rect">
            <a:avLst/>
          </a:prstGeom>
          <a:solidFill>
            <a:srgbClr val="FF7043"/>
          </a:solidFill>
          <a:ln w="12700">
            <a:solidFill>
              <a:srgbClr val="FF7043"/>
            </a:solidFill>
            <a:prstDash val="solid"/>
          </a:ln>
        </p:spPr>
      </p:sp>
      <p:sp>
        <p:nvSpPr>
          <p:cNvPr id="28" name="Text 26"/>
          <p:cNvSpPr/>
          <p:nvPr/>
        </p:nvSpPr>
        <p:spPr>
          <a:xfrm>
            <a:off x="411480" y="1755648"/>
            <a:ext cx="658368" cy="676656"/>
          </a:xfrm>
          <a:prstGeom prst="rect">
            <a:avLst/>
          </a:prstGeom>
          <a:noFill/>
          <a:ln/>
        </p:spPr>
        <p:txBody>
          <a:bodyPr wrap="square" lIns="0" tIns="0" rIns="0" bIns="0" rtlCol="0" anchor="ctr"/>
          <a:lstStyle/>
          <a:p>
            <a:pPr algn="ctr" indent="0" marL="0">
              <a:buNone/>
            </a:pPr>
            <a:r>
              <a:rPr lang="en-US" sz="1400" b="1" dirty="0">
                <a:solidFill>
                  <a:srgbClr val="131A28"/>
                </a:solidFill>
              </a:rPr>
              <a:t>02</a:t>
            </a:r>
            <a:endParaRPr lang="en-US" sz="1400" dirty="0"/>
          </a:p>
        </p:txBody>
      </p:sp>
      <p:sp>
        <p:nvSpPr>
          <p:cNvPr id="29" name="Text 27"/>
          <p:cNvSpPr/>
          <p:nvPr/>
        </p:nvSpPr>
        <p:spPr>
          <a:xfrm>
            <a:off x="1170432" y="1874520"/>
            <a:ext cx="5358384" cy="438912"/>
          </a:xfrm>
          <a:prstGeom prst="rect">
            <a:avLst/>
          </a:prstGeom>
          <a:noFill/>
          <a:ln/>
        </p:spPr>
        <p:txBody>
          <a:bodyPr wrap="square" rtlCol="0" anchor="ctr"/>
          <a:lstStyle/>
          <a:p>
            <a:pPr indent="0" marL="0">
              <a:buNone/>
            </a:pPr>
            <a:r>
              <a:rPr lang="en-US" sz="1250" dirty="0">
                <a:solidFill>
                  <a:srgbClr val="90A4AE"/>
                </a:solidFill>
              </a:rPr>
              <a:t>Five types: Univariate, Multivariate, Point (Global), Contextual (Conditional), and Collective — each requires different detection approaches.</a:t>
            </a:r>
            <a:endParaRPr lang="en-US" sz="1250" dirty="0"/>
          </a:p>
        </p:txBody>
      </p:sp>
      <p:sp>
        <p:nvSpPr>
          <p:cNvPr id="30" name="Shape 28"/>
          <p:cNvSpPr/>
          <p:nvPr/>
        </p:nvSpPr>
        <p:spPr>
          <a:xfrm>
            <a:off x="411480" y="2551176"/>
            <a:ext cx="6217920" cy="676656"/>
          </a:xfrm>
          <a:prstGeom prst="rect">
            <a:avLst/>
          </a:prstGeom>
          <a:solidFill>
            <a:srgbClr val="22304A"/>
          </a:solidFill>
          <a:ln w="12700">
            <a:solidFill>
              <a:srgbClr val="1E88E5"/>
            </a:solidFill>
            <a:prstDash val="solid"/>
          </a:ln>
        </p:spPr>
      </p:sp>
      <p:sp>
        <p:nvSpPr>
          <p:cNvPr id="31" name="Shape 29"/>
          <p:cNvSpPr/>
          <p:nvPr/>
        </p:nvSpPr>
        <p:spPr>
          <a:xfrm>
            <a:off x="411480" y="2551176"/>
            <a:ext cx="658368" cy="676656"/>
          </a:xfrm>
          <a:prstGeom prst="rect">
            <a:avLst/>
          </a:prstGeom>
          <a:solidFill>
            <a:srgbClr val="1E88E5"/>
          </a:solidFill>
          <a:ln w="12700">
            <a:solidFill>
              <a:srgbClr val="1E88E5"/>
            </a:solidFill>
            <a:prstDash val="solid"/>
          </a:ln>
        </p:spPr>
      </p:sp>
      <p:sp>
        <p:nvSpPr>
          <p:cNvPr id="32" name="Text 30"/>
          <p:cNvSpPr/>
          <p:nvPr/>
        </p:nvSpPr>
        <p:spPr>
          <a:xfrm>
            <a:off x="411480" y="2551176"/>
            <a:ext cx="658368" cy="676656"/>
          </a:xfrm>
          <a:prstGeom prst="rect">
            <a:avLst/>
          </a:prstGeom>
          <a:noFill/>
          <a:ln/>
        </p:spPr>
        <p:txBody>
          <a:bodyPr wrap="square" lIns="0" tIns="0" rIns="0" bIns="0" rtlCol="0" anchor="ctr"/>
          <a:lstStyle/>
          <a:p>
            <a:pPr algn="ctr" indent="0" marL="0">
              <a:buNone/>
            </a:pPr>
            <a:r>
              <a:rPr lang="en-US" sz="1400" b="1" dirty="0">
                <a:solidFill>
                  <a:srgbClr val="131A28"/>
                </a:solidFill>
              </a:rPr>
              <a:t>03</a:t>
            </a:r>
            <a:endParaRPr lang="en-US" sz="1400" dirty="0"/>
          </a:p>
        </p:txBody>
      </p:sp>
      <p:sp>
        <p:nvSpPr>
          <p:cNvPr id="33" name="Text 31"/>
          <p:cNvSpPr/>
          <p:nvPr/>
        </p:nvSpPr>
        <p:spPr>
          <a:xfrm>
            <a:off x="1170432" y="2670048"/>
            <a:ext cx="5358384" cy="438912"/>
          </a:xfrm>
          <a:prstGeom prst="rect">
            <a:avLst/>
          </a:prstGeom>
          <a:noFill/>
          <a:ln/>
        </p:spPr>
        <p:txBody>
          <a:bodyPr wrap="square" rtlCol="0" anchor="ctr"/>
          <a:lstStyle/>
          <a:p>
            <a:pPr indent="0" marL="0">
              <a:buNone/>
            </a:pPr>
            <a:r>
              <a:rPr lang="en-US" sz="1250" dirty="0">
                <a:solidFill>
                  <a:srgbClr val="90A4AE"/>
                </a:solidFill>
              </a:rPr>
              <a:t>Detection methods: Box Plot &amp; Scatter (visual), Z-Score &amp; IQR (statistical), DBSCAN &amp; Isolation Forest (ML-based density/tree methods).</a:t>
            </a:r>
            <a:endParaRPr lang="en-US" sz="1250" dirty="0"/>
          </a:p>
        </p:txBody>
      </p:sp>
      <p:sp>
        <p:nvSpPr>
          <p:cNvPr id="34" name="Shape 32"/>
          <p:cNvSpPr/>
          <p:nvPr/>
        </p:nvSpPr>
        <p:spPr>
          <a:xfrm>
            <a:off x="411480" y="3346704"/>
            <a:ext cx="6217920" cy="676656"/>
          </a:xfrm>
          <a:prstGeom prst="rect">
            <a:avLst/>
          </a:prstGeom>
          <a:solidFill>
            <a:srgbClr val="22304A"/>
          </a:solidFill>
          <a:ln w="12700">
            <a:solidFill>
              <a:srgbClr val="43A047"/>
            </a:solidFill>
            <a:prstDash val="solid"/>
          </a:ln>
        </p:spPr>
      </p:sp>
      <p:sp>
        <p:nvSpPr>
          <p:cNvPr id="35" name="Shape 33"/>
          <p:cNvSpPr/>
          <p:nvPr/>
        </p:nvSpPr>
        <p:spPr>
          <a:xfrm>
            <a:off x="411480" y="3346704"/>
            <a:ext cx="658368" cy="676656"/>
          </a:xfrm>
          <a:prstGeom prst="rect">
            <a:avLst/>
          </a:prstGeom>
          <a:solidFill>
            <a:srgbClr val="43A047"/>
          </a:solidFill>
          <a:ln w="12700">
            <a:solidFill>
              <a:srgbClr val="43A047"/>
            </a:solidFill>
            <a:prstDash val="solid"/>
          </a:ln>
        </p:spPr>
      </p:sp>
      <p:sp>
        <p:nvSpPr>
          <p:cNvPr id="36" name="Text 34"/>
          <p:cNvSpPr/>
          <p:nvPr/>
        </p:nvSpPr>
        <p:spPr>
          <a:xfrm>
            <a:off x="411480" y="3346704"/>
            <a:ext cx="658368" cy="676656"/>
          </a:xfrm>
          <a:prstGeom prst="rect">
            <a:avLst/>
          </a:prstGeom>
          <a:noFill/>
          <a:ln/>
        </p:spPr>
        <p:txBody>
          <a:bodyPr wrap="square" lIns="0" tIns="0" rIns="0" bIns="0" rtlCol="0" anchor="ctr"/>
          <a:lstStyle/>
          <a:p>
            <a:pPr algn="ctr" indent="0" marL="0">
              <a:buNone/>
            </a:pPr>
            <a:r>
              <a:rPr lang="en-US" sz="1400" b="1" dirty="0">
                <a:solidFill>
                  <a:srgbClr val="131A28"/>
                </a:solidFill>
              </a:rPr>
              <a:t>04</a:t>
            </a:r>
            <a:endParaRPr lang="en-US" sz="1400" dirty="0"/>
          </a:p>
        </p:txBody>
      </p:sp>
      <p:sp>
        <p:nvSpPr>
          <p:cNvPr id="37" name="Text 35"/>
          <p:cNvSpPr/>
          <p:nvPr/>
        </p:nvSpPr>
        <p:spPr>
          <a:xfrm>
            <a:off x="1170432" y="3465576"/>
            <a:ext cx="5358384" cy="438912"/>
          </a:xfrm>
          <a:prstGeom prst="rect">
            <a:avLst/>
          </a:prstGeom>
          <a:noFill/>
          <a:ln/>
        </p:spPr>
        <p:txBody>
          <a:bodyPr wrap="square" rtlCol="0" anchor="ctr"/>
          <a:lstStyle/>
          <a:p>
            <a:pPr indent="0" marL="0">
              <a:buNone/>
            </a:pPr>
            <a:r>
              <a:rPr lang="en-US" sz="1250" dirty="0">
                <a:solidFill>
                  <a:srgbClr val="90A4AE"/>
                </a:solidFill>
              </a:rPr>
              <a:t>Handling strategies: Removal, Capping/Flooring, Mean/Median Imputation, and Data Transformation — chosen based on cause and dataset size.</a:t>
            </a:r>
            <a:endParaRPr lang="en-US" sz="1250" dirty="0"/>
          </a:p>
        </p:txBody>
      </p:sp>
      <p:sp>
        <p:nvSpPr>
          <p:cNvPr id="38" name="Shape 36"/>
          <p:cNvSpPr/>
          <p:nvPr/>
        </p:nvSpPr>
        <p:spPr>
          <a:xfrm>
            <a:off x="411480" y="4142232"/>
            <a:ext cx="6217920" cy="676656"/>
          </a:xfrm>
          <a:prstGeom prst="rect">
            <a:avLst/>
          </a:prstGeom>
          <a:solidFill>
            <a:srgbClr val="22304A"/>
          </a:solidFill>
          <a:ln w="12700">
            <a:solidFill>
              <a:srgbClr val="FFB300"/>
            </a:solidFill>
            <a:prstDash val="solid"/>
          </a:ln>
        </p:spPr>
      </p:sp>
      <p:sp>
        <p:nvSpPr>
          <p:cNvPr id="39" name="Shape 37"/>
          <p:cNvSpPr/>
          <p:nvPr/>
        </p:nvSpPr>
        <p:spPr>
          <a:xfrm>
            <a:off x="411480" y="4142232"/>
            <a:ext cx="658368" cy="676656"/>
          </a:xfrm>
          <a:prstGeom prst="rect">
            <a:avLst/>
          </a:prstGeom>
          <a:solidFill>
            <a:srgbClr val="FFB300"/>
          </a:solidFill>
          <a:ln w="12700">
            <a:solidFill>
              <a:srgbClr val="FFB300"/>
            </a:solidFill>
            <a:prstDash val="solid"/>
          </a:ln>
        </p:spPr>
      </p:sp>
      <p:sp>
        <p:nvSpPr>
          <p:cNvPr id="40" name="Text 38"/>
          <p:cNvSpPr/>
          <p:nvPr/>
        </p:nvSpPr>
        <p:spPr>
          <a:xfrm>
            <a:off x="411480" y="4142232"/>
            <a:ext cx="658368" cy="676656"/>
          </a:xfrm>
          <a:prstGeom prst="rect">
            <a:avLst/>
          </a:prstGeom>
          <a:noFill/>
          <a:ln/>
        </p:spPr>
        <p:txBody>
          <a:bodyPr wrap="square" lIns="0" tIns="0" rIns="0" bIns="0" rtlCol="0" anchor="ctr"/>
          <a:lstStyle/>
          <a:p>
            <a:pPr algn="ctr" indent="0" marL="0">
              <a:buNone/>
            </a:pPr>
            <a:r>
              <a:rPr lang="en-US" sz="1400" b="1" dirty="0">
                <a:solidFill>
                  <a:srgbClr val="131A28"/>
                </a:solidFill>
              </a:rPr>
              <a:t>05</a:t>
            </a:r>
            <a:endParaRPr lang="en-US" sz="1400" dirty="0"/>
          </a:p>
        </p:txBody>
      </p:sp>
      <p:sp>
        <p:nvSpPr>
          <p:cNvPr id="41" name="Text 39"/>
          <p:cNvSpPr/>
          <p:nvPr/>
        </p:nvSpPr>
        <p:spPr>
          <a:xfrm>
            <a:off x="1170432" y="4261104"/>
            <a:ext cx="5358384" cy="438912"/>
          </a:xfrm>
          <a:prstGeom prst="rect">
            <a:avLst/>
          </a:prstGeom>
          <a:noFill/>
          <a:ln/>
        </p:spPr>
        <p:txBody>
          <a:bodyPr wrap="square" rtlCol="0" anchor="ctr"/>
          <a:lstStyle/>
          <a:p>
            <a:pPr indent="0" marL="0">
              <a:buNone/>
            </a:pPr>
            <a:r>
              <a:rPr lang="en-US" sz="1250" dirty="0">
                <a:solidFill>
                  <a:srgbClr val="90A4AE"/>
                </a:solidFill>
              </a:rPr>
              <a:t>Drop outliers only when clearly incorrect or verifiable errors. Retain them in fraud detection, anomaly detection, and safety-critical domains.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Outliers in Data – Types, Detection &amp; Handling</dc:title>
  <dc:subject>PptxGenJS Presentation</dc:subject>
  <dc:creator>PptxGenJS</dc:creator>
  <cp:lastModifiedBy>PptxGenJS</cp:lastModifiedBy>
  <cp:revision>1</cp:revision>
  <dcterms:created xsi:type="dcterms:W3CDTF">2026-04-06T11:04:46Z</dcterms:created>
  <dcterms:modified xsi:type="dcterms:W3CDTF">2026-04-06T11:04:46Z</dcterms:modified>
</cp:coreProperties>
</file>