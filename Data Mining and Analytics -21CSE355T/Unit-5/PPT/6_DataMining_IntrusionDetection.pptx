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2.xml" ContentType="application/vnd.openxmlformats-officedocument.theme+xml"/>
  <Override PartName="/ppt/slideLayouts/_rels/slideLayout1.xml.rels" ContentType="application/vnd.openxmlformats-package.relationships+xml"/>
  <Override PartName="/ppt/slideLayouts/slideLayout1.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9.xml.rels" ContentType="application/vnd.openxmlformats-package.relationships+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5.xml.rels" ContentType="application/vnd.openxmlformats-package.relationships+xml"/>
  <Override PartName="/ppt/slides/_rels/slide4.xml.rels" ContentType="application/vnd.openxmlformats-package.relationships+xml"/>
  <Override PartName="/ppt/slides/_rels/slide3.xml.rels" ContentType="application/vnd.openxmlformats-package.relationships+xml"/>
  <Override PartName="/ppt/slides/_rels/slide2.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_rels/notesSlide9.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6.xml.rels" ContentType="application/vnd.openxmlformats-package.relationships+xml"/>
  <Override PartName="/ppt/notesSlides/_rels/notesSlide5.xml.rels" ContentType="application/vnd.openxmlformats-package.relationships+xml"/>
  <Override PartName="/ppt/notesSlides/_rels/notesSlide4.xml.rels" ContentType="application/vnd.openxmlformats-package.relationships+xml"/>
  <Override PartName="/ppt/notesSlides/_rels/notesSlide3.xml.rels" ContentType="application/vnd.openxmlformats-package.relationships+xml"/>
  <Override PartName="/ppt/notesSlides/_rels/notesSlide2.xml.rels" ContentType="application/vnd.openxmlformats-package.relationships+xml"/>
  <Override PartName="/ppt/notesSlides/_rels/notesSlide1.xml.rels" ContentType="application/vnd.openxmlformats-package.relationships+xml"/>
  <Override PartName="/ppt/notesSlides/notesSlide9.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Lst>
  <p:sldSz cx="9144000" cy="5143500"/>
  <p:notesSz cx="51435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pc="-1" strike="noStrike">
                <a:solidFill>
                  <a:schemeClr val="dk1"/>
                </a:solidFill>
                <a:latin typeface="Calibri"/>
              </a:rPr>
              <a:t>Click to move </a:t>
            </a:r>
            <a:r>
              <a:rPr b="0" lang="en-US" sz="1800" spc="-1" strike="noStrike">
                <a:solidFill>
                  <a:schemeClr val="dk1"/>
                </a:solidFill>
                <a:latin typeface="Calibri"/>
              </a:rPr>
              <a:t>the slide</a:t>
            </a:r>
            <a:endParaRPr b="0" lang="en-US" sz="1800" spc="-1" strike="noStrike">
              <a:solidFill>
                <a:schemeClr val="dk1"/>
              </a:solidFill>
              <a:latin typeface="Calibri"/>
            </a:endParaRP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marL="216000" indent="-216000">
              <a:buNone/>
            </a:pPr>
            <a:r>
              <a:rPr b="0" lang="en-US" sz="2000" spc="-1" strike="noStrike">
                <a:solidFill>
                  <a:srgbClr val="000000"/>
                </a:solidFill>
                <a:latin typeface="Arial"/>
              </a:rPr>
              <a:t>Click to edit the </a:t>
            </a:r>
            <a:r>
              <a:rPr b="0" lang="en-US" sz="2000" spc="-1" strike="noStrike">
                <a:solidFill>
                  <a:srgbClr val="000000"/>
                </a:solidFill>
                <a:latin typeface="Arial"/>
              </a:rPr>
              <a:t>notes format</a:t>
            </a:r>
            <a:endParaRPr b="0" lang="en-US" sz="2000" spc="-1" strike="noStrike">
              <a:solidFill>
                <a:srgbClr val="000000"/>
              </a:solidFill>
              <a:latin typeface="Arial"/>
            </a:endParaRPr>
          </a:p>
        </p:txBody>
      </p:sp>
      <p:sp>
        <p:nvSpPr>
          <p:cNvPr id="4"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US" sz="1400" spc="-1" strike="noStrike">
                <a:solidFill>
                  <a:srgbClr val="000000"/>
                </a:solidFill>
                <a:latin typeface="Times New Roman"/>
              </a:rPr>
              <a:t>&lt;header&gt;</a:t>
            </a:r>
            <a:endParaRPr b="0" lang="en-US" sz="1400" spc="-1" strike="noStrike">
              <a:solidFill>
                <a:srgbClr val="000000"/>
              </a:solidFill>
              <a:latin typeface="Times New Roman"/>
            </a:endParaRPr>
          </a:p>
        </p:txBody>
      </p:sp>
      <p:sp>
        <p:nvSpPr>
          <p:cNvPr id="5"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b="0" lang="en-US" sz="1400" spc="-1" strike="noStrike">
                <a:solidFill>
                  <a:srgbClr val="000000"/>
                </a:solidFill>
                <a:latin typeface="Times New Roman"/>
              </a:defRPr>
            </a:lvl1pPr>
          </a:lstStyle>
          <a:p>
            <a:pPr indent="0" algn="r">
              <a:buNone/>
            </a:pPr>
            <a:r>
              <a:rPr b="0" lang="en-US" sz="1400" spc="-1" strike="noStrike">
                <a:solidFill>
                  <a:srgbClr val="000000"/>
                </a:solidFill>
                <a:latin typeface="Times New Roman"/>
              </a:rPr>
              <a:t>&lt;date/time&gt;</a:t>
            </a:r>
            <a:endParaRPr b="0" lang="en-US" sz="1400" spc="-1" strike="noStrike">
              <a:solidFill>
                <a:srgbClr val="000000"/>
              </a:solidFill>
              <a:latin typeface="Times New Roman"/>
            </a:endParaRP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b="0" lang="en-US" sz="1400" spc="-1" strike="noStrike">
                <a:solidFill>
                  <a:srgbClr val="000000"/>
                </a:solidFill>
                <a:latin typeface="Times New Roman"/>
              </a:defRPr>
            </a:lvl1pPr>
          </a:lstStyle>
          <a:p>
            <a:pPr indent="0">
              <a:buNone/>
            </a:pPr>
            <a:r>
              <a:rPr b="0" lang="en-US" sz="1400" spc="-1" strike="noStrike">
                <a:solidFill>
                  <a:srgbClr val="000000"/>
                </a:solidFill>
                <a:latin typeface="Times New Roman"/>
              </a:rPr>
              <a:t>&lt;footer&gt;</a:t>
            </a:r>
            <a:endParaRPr b="0" lang="en-US" sz="1400" spc="-1" strike="noStrike">
              <a:solidFill>
                <a:srgbClr val="000000"/>
              </a:solidFill>
              <a:latin typeface="Times New Roman"/>
            </a:endParaRP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b="0" lang="en-US" sz="1400" spc="-1" strike="noStrike">
                <a:solidFill>
                  <a:srgbClr val="000000"/>
                </a:solidFill>
                <a:latin typeface="Times New Roman"/>
              </a:defRPr>
            </a:lvl1pPr>
          </a:lstStyle>
          <a:p>
            <a:pPr indent="0" algn="r">
              <a:buNone/>
            </a:pPr>
            <a:fld id="{937D504B-7BAA-4492-94A8-52DA19A9C123}" type="slidenum">
              <a:rPr b="0" lang="en-US" sz="1400" spc="-1" strike="noStrike">
                <a:solidFill>
                  <a:srgbClr val="000000"/>
                </a:solidFill>
                <a:latin typeface="Times New Roman"/>
              </a:rPr>
              <a:t>&lt;number&gt;</a:t>
            </a:fld>
            <a:endParaRPr b="0" lang="en-US" sz="1400" spc="-1" strike="noStrike">
              <a:solidFill>
                <a:srgbClr val="000000"/>
              </a:solidFill>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9" name="PlaceHolder 1"/>
          <p:cNvSpPr>
            <a:spLocks noGrp="1"/>
          </p:cNvSpPr>
          <p:nvPr>
            <p:ph type="sldImg"/>
          </p:nvPr>
        </p:nvSpPr>
        <p:spPr>
          <a:xfrm>
            <a:off x="685800" y="1143000"/>
            <a:ext cx="5486040" cy="3085920"/>
          </a:xfrm>
          <a:prstGeom prst="rect">
            <a:avLst/>
          </a:prstGeom>
          <a:ln w="0">
            <a:noFill/>
          </a:ln>
        </p:spPr>
      </p:sp>
      <p:sp>
        <p:nvSpPr>
          <p:cNvPr id="41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1" name="PlaceHolder 3"/>
          <p:cNvSpPr>
            <a:spLocks noGrp="1"/>
          </p:cNvSpPr>
          <p:nvPr>
            <p:ph type="sldNum" idx="4"/>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29B37FF4-4337-495B-86B1-8469970D879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PlaceHolder 1"/>
          <p:cNvSpPr>
            <a:spLocks noGrp="1"/>
          </p:cNvSpPr>
          <p:nvPr>
            <p:ph type="sldImg"/>
          </p:nvPr>
        </p:nvSpPr>
        <p:spPr>
          <a:xfrm>
            <a:off x="685800" y="1143000"/>
            <a:ext cx="5486040" cy="3085920"/>
          </a:xfrm>
          <a:prstGeom prst="rect">
            <a:avLst/>
          </a:prstGeom>
          <a:ln w="0">
            <a:noFill/>
          </a:ln>
        </p:spPr>
      </p:sp>
      <p:sp>
        <p:nvSpPr>
          <p:cNvPr id="41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4" name="PlaceHolder 3"/>
          <p:cNvSpPr>
            <a:spLocks noGrp="1"/>
          </p:cNvSpPr>
          <p:nvPr>
            <p:ph type="sldNum" idx="5"/>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F70EA7C1-E42B-4CD1-8503-2E9C737A47DE}"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PlaceHolder 1"/>
          <p:cNvSpPr>
            <a:spLocks noGrp="1"/>
          </p:cNvSpPr>
          <p:nvPr>
            <p:ph type="sldImg"/>
          </p:nvPr>
        </p:nvSpPr>
        <p:spPr>
          <a:xfrm>
            <a:off x="685800" y="1143000"/>
            <a:ext cx="5486040" cy="3085920"/>
          </a:xfrm>
          <a:prstGeom prst="rect">
            <a:avLst/>
          </a:prstGeom>
          <a:ln w="0">
            <a:noFill/>
          </a:ln>
        </p:spPr>
      </p:sp>
      <p:sp>
        <p:nvSpPr>
          <p:cNvPr id="41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1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7430955-1F22-450D-BB47-CC684048B89C}"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8" name="PlaceHolder 1"/>
          <p:cNvSpPr>
            <a:spLocks noGrp="1"/>
          </p:cNvSpPr>
          <p:nvPr>
            <p:ph type="sldImg"/>
          </p:nvPr>
        </p:nvSpPr>
        <p:spPr>
          <a:xfrm>
            <a:off x="685800" y="1143000"/>
            <a:ext cx="5486040" cy="3085920"/>
          </a:xfrm>
          <a:prstGeom prst="rect">
            <a:avLst/>
          </a:prstGeom>
          <a:ln w="0">
            <a:noFill/>
          </a:ln>
        </p:spPr>
      </p:sp>
      <p:sp>
        <p:nvSpPr>
          <p:cNvPr id="41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0" name="PlaceHolder 3"/>
          <p:cNvSpPr>
            <a:spLocks noGrp="1"/>
          </p:cNvSpPr>
          <p:nvPr>
            <p:ph type="sldNum" idx="7"/>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EDDE063C-D002-4C85-89F5-88FE3F726DC4}"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PlaceHolder 1"/>
          <p:cNvSpPr>
            <a:spLocks noGrp="1"/>
          </p:cNvSpPr>
          <p:nvPr>
            <p:ph type="sldImg"/>
          </p:nvPr>
        </p:nvSpPr>
        <p:spPr>
          <a:xfrm>
            <a:off x="685800" y="1143000"/>
            <a:ext cx="5486040" cy="3085920"/>
          </a:xfrm>
          <a:prstGeom prst="rect">
            <a:avLst/>
          </a:prstGeom>
          <a:ln w="0">
            <a:noFill/>
          </a:ln>
        </p:spPr>
      </p:sp>
      <p:sp>
        <p:nvSpPr>
          <p:cNvPr id="42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3" name="PlaceHolder 3"/>
          <p:cNvSpPr>
            <a:spLocks noGrp="1"/>
          </p:cNvSpPr>
          <p:nvPr>
            <p:ph type="sldNum" idx="8"/>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9380CE4F-A6F4-41E0-B070-730CE75E320D}"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4" name="PlaceHolder 1"/>
          <p:cNvSpPr>
            <a:spLocks noGrp="1"/>
          </p:cNvSpPr>
          <p:nvPr>
            <p:ph type="sldImg"/>
          </p:nvPr>
        </p:nvSpPr>
        <p:spPr>
          <a:xfrm>
            <a:off x="685800" y="1143000"/>
            <a:ext cx="5486040" cy="3085920"/>
          </a:xfrm>
          <a:prstGeom prst="rect">
            <a:avLst/>
          </a:prstGeom>
          <a:ln w="0">
            <a:noFill/>
          </a:ln>
        </p:spPr>
      </p:sp>
      <p:sp>
        <p:nvSpPr>
          <p:cNvPr id="42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1F7C7EC3-54B8-4772-B684-BC06F46FFAF0}"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7" name="PlaceHolder 1"/>
          <p:cNvSpPr>
            <a:spLocks noGrp="1"/>
          </p:cNvSpPr>
          <p:nvPr>
            <p:ph type="sldImg"/>
          </p:nvPr>
        </p:nvSpPr>
        <p:spPr>
          <a:xfrm>
            <a:off x="685800" y="1143000"/>
            <a:ext cx="5486040" cy="3085920"/>
          </a:xfrm>
          <a:prstGeom prst="rect">
            <a:avLst/>
          </a:prstGeom>
          <a:ln w="0">
            <a:noFill/>
          </a:ln>
        </p:spPr>
      </p:sp>
      <p:sp>
        <p:nvSpPr>
          <p:cNvPr id="42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29" name="PlaceHolder 3"/>
          <p:cNvSpPr>
            <a:spLocks noGrp="1"/>
          </p:cNvSpPr>
          <p:nvPr>
            <p:ph type="sldNum" idx="10"/>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5534F468-4305-4D61-8A76-FB401EDE7379}"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0" name="PlaceHolder 1"/>
          <p:cNvSpPr>
            <a:spLocks noGrp="1"/>
          </p:cNvSpPr>
          <p:nvPr>
            <p:ph type="sldImg"/>
          </p:nvPr>
        </p:nvSpPr>
        <p:spPr>
          <a:xfrm>
            <a:off x="685800" y="1143000"/>
            <a:ext cx="5486040" cy="3085920"/>
          </a:xfrm>
          <a:prstGeom prst="rect">
            <a:avLst/>
          </a:prstGeom>
          <a:ln w="0">
            <a:noFill/>
          </a:ln>
        </p:spPr>
      </p:sp>
      <p:sp>
        <p:nvSpPr>
          <p:cNvPr id="4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2" name="PlaceHolder 3"/>
          <p:cNvSpPr>
            <a:spLocks noGrp="1"/>
          </p:cNvSpPr>
          <p:nvPr>
            <p:ph type="sldNum" idx="11"/>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0BEFC54E-4B39-48B7-93AB-C4B9907EA83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3" name="PlaceHolder 1"/>
          <p:cNvSpPr>
            <a:spLocks noGrp="1"/>
          </p:cNvSpPr>
          <p:nvPr>
            <p:ph type="sldImg"/>
          </p:nvPr>
        </p:nvSpPr>
        <p:spPr>
          <a:xfrm>
            <a:off x="685800" y="1143000"/>
            <a:ext cx="5486040" cy="3085920"/>
          </a:xfrm>
          <a:prstGeom prst="rect">
            <a:avLst/>
          </a:prstGeom>
          <a:ln w="0">
            <a:noFill/>
          </a:ln>
        </p:spPr>
      </p:sp>
      <p:sp>
        <p:nvSpPr>
          <p:cNvPr id="4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marL="216000" indent="-216000">
              <a:buNone/>
            </a:pPr>
            <a:endParaRPr b="0" lang="en-US" sz="1800" spc="-1" strike="noStrike">
              <a:solidFill>
                <a:srgbClr val="000000"/>
              </a:solidFill>
              <a:latin typeface="Arial"/>
            </a:endParaRPr>
          </a:p>
        </p:txBody>
      </p:sp>
      <p:sp>
        <p:nvSpPr>
          <p:cNvPr id="435" name="PlaceHolder 3"/>
          <p:cNvSpPr>
            <a:spLocks noGrp="1"/>
          </p:cNvSpPr>
          <p:nvPr>
            <p:ph type="sldNum" idx="12"/>
          </p:nvPr>
        </p:nvSpPr>
        <p:spPr>
          <a:xfrm>
            <a:off x="3884760" y="8685360"/>
            <a:ext cx="2971440" cy="458280"/>
          </a:xfrm>
          <a:prstGeom prst="rect">
            <a:avLst/>
          </a:prstGeom>
          <a:noFill/>
          <a:ln w="0">
            <a:noFill/>
          </a:ln>
        </p:spPr>
        <p:txBody>
          <a:bodyPr lIns="91440" rIns="91440" tIns="45720" bIns="45720" anchor="b">
            <a:noAutofit/>
          </a:bodyPr>
          <a:lstStyle>
            <a:lvl1pPr indent="0" algn="r" defTabSz="914400">
              <a:lnSpc>
                <a:spcPct val="100000"/>
              </a:lnSpc>
              <a:buNone/>
              <a:defRPr b="0" lang="en-US" sz="1200" spc="-1" strike="noStrike">
                <a:solidFill>
                  <a:schemeClr val="dk1"/>
                </a:solidFill>
                <a:latin typeface="+mn-lt"/>
                <a:ea typeface="+mn-ea"/>
              </a:defRPr>
            </a:lvl1pPr>
          </a:lstStyle>
          <a:p>
            <a:pPr indent="0" algn="r" defTabSz="914400">
              <a:lnSpc>
                <a:spcPct val="100000"/>
              </a:lnSpc>
              <a:buNone/>
            </a:pPr>
            <a:fld id="{CF223C9D-A48A-4BB1-9C0B-F3FAE4FC8472}" type="slidenum">
              <a:rPr b="0" lang="en-US" sz="1200" spc="-1" strike="noStrike">
                <a:solidFill>
                  <a:schemeClr val="dk1"/>
                </a:solidFill>
                <a:latin typeface="+mn-lt"/>
                <a:ea typeface="+mn-ea"/>
              </a:rPr>
              <a:t>&lt;number&gt;</a:t>
            </a:fld>
            <a:endParaRPr b="0" lang="en-US" sz="1200" spc="-1" strike="noStrike">
              <a:solidFill>
                <a:srgbClr val="000000"/>
              </a:solidFill>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b="0" lang="en-US" sz="1800" spc="-1" strike="noStrike">
                <a:solidFill>
                  <a:schemeClr val="dk1"/>
                </a:solidFill>
                <a:latin typeface="Calibri"/>
              </a:rPr>
              <a:t>Click to edit the </a:t>
            </a:r>
            <a:r>
              <a:rPr b="0" lang="en-US" sz="1800" spc="-1" strike="noStrike">
                <a:solidFill>
                  <a:schemeClr val="dk1"/>
                </a:solidFill>
                <a:latin typeface="Calibri"/>
              </a:rPr>
              <a:t>title text format</a:t>
            </a:r>
            <a:endParaRPr b="0" lang="en-US" sz="1800" spc="-1" strike="noStrike">
              <a:solidFill>
                <a:schemeClr val="dk1"/>
              </a:solidFill>
              <a:latin typeface="Calibri"/>
            </a:endParaRPr>
          </a:p>
        </p:txBody>
      </p:sp>
      <p:sp>
        <p:nvSpPr>
          <p:cNvPr id="1"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fontScale="95303"/>
          </a:bodyPr>
          <a:p>
            <a:pPr marL="432000" indent="-324000">
              <a:spcBef>
                <a:spcPts val="1417"/>
              </a:spcBef>
              <a:buClr>
                <a:srgbClr val="000000"/>
              </a:buClr>
              <a:buSzPct val="45000"/>
              <a:buFont typeface="Wingdings" charset="2"/>
              <a:buChar char=""/>
            </a:pPr>
            <a:r>
              <a:rPr b="0" lang="en-US" sz="3200" spc="-1" strike="noStrike">
                <a:solidFill>
                  <a:schemeClr val="dk1"/>
                </a:solidFill>
                <a:latin typeface="Calibri"/>
              </a:rPr>
              <a:t>Click to edit the outline text format</a:t>
            </a:r>
            <a:endParaRPr b="0" lang="en-US" sz="3200" spc="-1" strike="noStrike">
              <a:solidFill>
                <a:schemeClr val="dk1"/>
              </a:solidFill>
              <a:latin typeface="Calibri"/>
            </a:endParaRPr>
          </a:p>
          <a:p>
            <a:pPr lvl="1" marL="864000" indent="-324000">
              <a:spcBef>
                <a:spcPts val="1134"/>
              </a:spcBef>
              <a:buClr>
                <a:srgbClr val="000000"/>
              </a:buClr>
              <a:buSzPct val="75000"/>
              <a:buFont typeface="Symbol" charset="2"/>
              <a:buChar char=""/>
            </a:pPr>
            <a:r>
              <a:rPr b="0" lang="en-US" sz="2400" spc="-1" strike="noStrike">
                <a:solidFill>
                  <a:schemeClr val="dk1"/>
                </a:solidFill>
                <a:latin typeface="Calibri"/>
              </a:rPr>
              <a:t>Second Outline Level</a:t>
            </a:r>
            <a:endParaRPr b="0" lang="en-US" sz="2400" spc="-1" strike="noStrike">
              <a:solidFill>
                <a:schemeClr val="dk1"/>
              </a:solidFill>
              <a:latin typeface="Calibri"/>
            </a:endParaRPr>
          </a:p>
          <a:p>
            <a:pPr lvl="2" marL="1296000" indent="-288000">
              <a:spcBef>
                <a:spcPts val="850"/>
              </a:spcBef>
              <a:buClr>
                <a:srgbClr val="000000"/>
              </a:buClr>
              <a:buSzPct val="45000"/>
              <a:buFont typeface="Wingdings" charset="2"/>
              <a:buChar char=""/>
            </a:pPr>
            <a:r>
              <a:rPr b="0" lang="en-US" sz="2000" spc="-1" strike="noStrike">
                <a:solidFill>
                  <a:schemeClr val="dk1"/>
                </a:solidFill>
                <a:latin typeface="Calibri"/>
              </a:rPr>
              <a:t>Third Outline Level</a:t>
            </a:r>
            <a:endParaRPr b="0" lang="en-US" sz="2000" spc="-1" strike="noStrike">
              <a:solidFill>
                <a:schemeClr val="dk1"/>
              </a:solidFill>
              <a:latin typeface="Calibri"/>
            </a:endParaRPr>
          </a:p>
          <a:p>
            <a:pPr lvl="3" marL="1728000" indent="-216000">
              <a:spcBef>
                <a:spcPts val="567"/>
              </a:spcBef>
              <a:buClr>
                <a:srgbClr val="000000"/>
              </a:buClr>
              <a:buSzPct val="75000"/>
              <a:buFont typeface="Symbol" charset="2"/>
              <a:buChar char=""/>
            </a:pPr>
            <a:r>
              <a:rPr b="0" lang="en-US" sz="2000" spc="-1" strike="noStrike">
                <a:solidFill>
                  <a:schemeClr val="dk1"/>
                </a:solidFill>
                <a:latin typeface="Calibri"/>
              </a:rPr>
              <a:t>Fourth Outline Level</a:t>
            </a:r>
            <a:endParaRPr b="0" lang="en-US" sz="2000" spc="-1" strike="noStrike">
              <a:solidFill>
                <a:schemeClr val="dk1"/>
              </a:solidFill>
              <a:latin typeface="Calibri"/>
            </a:endParaRPr>
          </a:p>
          <a:p>
            <a:pPr lvl="4" marL="2160000" indent="-216000">
              <a:spcBef>
                <a:spcPts val="283"/>
              </a:spcBef>
              <a:buClr>
                <a:srgbClr val="000000"/>
              </a:buClr>
              <a:buSzPct val="45000"/>
              <a:buFont typeface="Wingdings" charset="2"/>
              <a:buChar char=""/>
            </a:pPr>
            <a:r>
              <a:rPr b="0" lang="en-US" sz="2000" spc="-1" strike="noStrike">
                <a:solidFill>
                  <a:schemeClr val="dk1"/>
                </a:solidFill>
                <a:latin typeface="Calibri"/>
              </a:rPr>
              <a:t>Fifth Outline Level</a:t>
            </a:r>
            <a:endParaRPr b="0" lang="en-US" sz="2000" spc="-1" strike="noStrike">
              <a:solidFill>
                <a:schemeClr val="dk1"/>
              </a:solidFill>
              <a:latin typeface="Calibri"/>
            </a:endParaRPr>
          </a:p>
          <a:p>
            <a:pPr lvl="5" marL="2592000" indent="-216000">
              <a:spcBef>
                <a:spcPts val="283"/>
              </a:spcBef>
              <a:buClr>
                <a:srgbClr val="000000"/>
              </a:buClr>
              <a:buSzPct val="45000"/>
              <a:buFont typeface="Wingdings" charset="2"/>
              <a:buChar char=""/>
            </a:pPr>
            <a:r>
              <a:rPr b="0" lang="en-US" sz="2000" spc="-1" strike="noStrike">
                <a:solidFill>
                  <a:schemeClr val="dk1"/>
                </a:solidFill>
                <a:latin typeface="Calibri"/>
              </a:rPr>
              <a:t>Sixth Outline Level</a:t>
            </a:r>
            <a:endParaRPr b="0" lang="en-US" sz="2000" spc="-1" strike="noStrike">
              <a:solidFill>
                <a:schemeClr val="dk1"/>
              </a:solidFill>
              <a:latin typeface="Calibri"/>
            </a:endParaRPr>
          </a:p>
          <a:p>
            <a:pPr lvl="6" marL="3024000" indent="-216000">
              <a:spcBef>
                <a:spcPts val="283"/>
              </a:spcBef>
              <a:buClr>
                <a:srgbClr val="000000"/>
              </a:buClr>
              <a:buSzPct val="45000"/>
              <a:buFont typeface="Wingdings" charset="2"/>
              <a:buChar char=""/>
            </a:pPr>
            <a:r>
              <a:rPr b="0" lang="en-US" sz="2000" spc="-1" strike="noStrike">
                <a:solidFill>
                  <a:schemeClr val="dk1"/>
                </a:solidFill>
                <a:latin typeface="Calibri"/>
              </a:rPr>
              <a:t>Seventh Outline Level</a:t>
            </a:r>
            <a:endParaRPr b="0" lang="en-US" sz="2000" spc="-1" strike="noStrike">
              <a:solidFill>
                <a:schemeClr val="dk1"/>
              </a:solidFill>
              <a:latin typeface="Calibri"/>
            </a:endParaRPr>
          </a:p>
        </p:txBody>
      </p:sp>
    </p:spTree>
  </p:cSld>
  <p:clrMap bg1="lt1" bg2="lt2" tx1="dk1" tx2="dk2" accent1="accent1" accent2="accent2" accent3="accent3" accent4="accent4" accent5="accent5" accent6="accent6" hlink="hlink" folHlink="folHlink"/>
  <p:sldLayoutIdLst>
    <p:sldLayoutId id="2147483649" r:id="rId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f0d"/>
        </a:solidFill>
      </p:bgPr>
    </p:bg>
    <p:spTree>
      <p:nvGrpSpPr>
        <p:cNvPr id="1" name=""/>
        <p:cNvGrpSpPr/>
        <p:nvPr/>
      </p:nvGrpSpPr>
      <p:grpSpPr>
        <a:xfrm>
          <a:off x="0" y="0"/>
          <a:ext cx="0" cy="0"/>
          <a:chOff x="0" y="0"/>
          <a:chExt cx="0" cy="0"/>
        </a:xfrm>
      </p:grpSpPr>
      <p:sp>
        <p:nvSpPr>
          <p:cNvPr id="8" name="Shape 0"/>
          <p:cNvSpPr/>
          <p:nvPr/>
        </p:nvSpPr>
        <p:spPr>
          <a:xfrm>
            <a:off x="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 name="Shape 1"/>
          <p:cNvSpPr/>
          <p:nvPr/>
        </p:nvSpPr>
        <p:spPr>
          <a:xfrm>
            <a:off x="4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 name="Shape 2"/>
          <p:cNvSpPr/>
          <p:nvPr/>
        </p:nvSpPr>
        <p:spPr>
          <a:xfrm>
            <a:off x="9691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1" name="Shape 3"/>
          <p:cNvSpPr/>
          <p:nvPr/>
        </p:nvSpPr>
        <p:spPr>
          <a:xfrm>
            <a:off x="14536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2" name="Shape 4"/>
          <p:cNvSpPr/>
          <p:nvPr/>
        </p:nvSpPr>
        <p:spPr>
          <a:xfrm>
            <a:off x="19382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3" name="Shape 5"/>
          <p:cNvSpPr/>
          <p:nvPr/>
        </p:nvSpPr>
        <p:spPr>
          <a:xfrm>
            <a:off x="24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4" name="Shape 6"/>
          <p:cNvSpPr/>
          <p:nvPr/>
        </p:nvSpPr>
        <p:spPr>
          <a:xfrm>
            <a:off x="29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5" name="Shape 7"/>
          <p:cNvSpPr/>
          <p:nvPr/>
        </p:nvSpPr>
        <p:spPr>
          <a:xfrm>
            <a:off x="33922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6" name="Shape 8"/>
          <p:cNvSpPr/>
          <p:nvPr/>
        </p:nvSpPr>
        <p:spPr>
          <a:xfrm>
            <a:off x="38768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 name="Shape 9"/>
          <p:cNvSpPr/>
          <p:nvPr/>
        </p:nvSpPr>
        <p:spPr>
          <a:xfrm>
            <a:off x="43614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 name="Shape 10"/>
          <p:cNvSpPr/>
          <p:nvPr/>
        </p:nvSpPr>
        <p:spPr>
          <a:xfrm>
            <a:off x="48463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9" name="Shape 11"/>
          <p:cNvSpPr/>
          <p:nvPr/>
        </p:nvSpPr>
        <p:spPr>
          <a:xfrm>
            <a:off x="53308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0" name="Shape 12"/>
          <p:cNvSpPr/>
          <p:nvPr/>
        </p:nvSpPr>
        <p:spPr>
          <a:xfrm>
            <a:off x="58154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1" name="Shape 13"/>
          <p:cNvSpPr/>
          <p:nvPr/>
        </p:nvSpPr>
        <p:spPr>
          <a:xfrm>
            <a:off x="63000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2" name="Shape 14"/>
          <p:cNvSpPr/>
          <p:nvPr/>
        </p:nvSpPr>
        <p:spPr>
          <a:xfrm>
            <a:off x="67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3" name="Shape 15"/>
          <p:cNvSpPr/>
          <p:nvPr/>
        </p:nvSpPr>
        <p:spPr>
          <a:xfrm>
            <a:off x="72694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 name="Shape 16"/>
          <p:cNvSpPr/>
          <p:nvPr/>
        </p:nvSpPr>
        <p:spPr>
          <a:xfrm>
            <a:off x="77540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 name="Shape 17"/>
          <p:cNvSpPr/>
          <p:nvPr/>
        </p:nvSpPr>
        <p:spPr>
          <a:xfrm>
            <a:off x="82386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 name="Shape 18"/>
          <p:cNvSpPr/>
          <p:nvPr/>
        </p:nvSpPr>
        <p:spPr>
          <a:xfrm>
            <a:off x="87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7" name="Shape 19"/>
          <p:cNvSpPr/>
          <p:nvPr/>
        </p:nvSpPr>
        <p:spPr>
          <a:xfrm>
            <a:off x="92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8" name="Shape 20"/>
          <p:cNvSpPr/>
          <p:nvPr/>
        </p:nvSpPr>
        <p:spPr>
          <a:xfrm>
            <a:off x="0" y="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9" name="Shape 21"/>
          <p:cNvSpPr/>
          <p:nvPr/>
        </p:nvSpPr>
        <p:spPr>
          <a:xfrm>
            <a:off x="0" y="5119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0" name="Shape 22"/>
          <p:cNvSpPr/>
          <p:nvPr/>
        </p:nvSpPr>
        <p:spPr>
          <a:xfrm>
            <a:off x="0" y="10238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1" name="Shape 23"/>
          <p:cNvSpPr/>
          <p:nvPr/>
        </p:nvSpPr>
        <p:spPr>
          <a:xfrm>
            <a:off x="0" y="15361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2" name="Shape 24"/>
          <p:cNvSpPr/>
          <p:nvPr/>
        </p:nvSpPr>
        <p:spPr>
          <a:xfrm>
            <a:off x="0" y="20480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3" name="Shape 25"/>
          <p:cNvSpPr/>
          <p:nvPr/>
        </p:nvSpPr>
        <p:spPr>
          <a:xfrm>
            <a:off x="0" y="25603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4" name="Shape 26"/>
          <p:cNvSpPr/>
          <p:nvPr/>
        </p:nvSpPr>
        <p:spPr>
          <a:xfrm>
            <a:off x="0" y="30722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5" name="Shape 27"/>
          <p:cNvSpPr/>
          <p:nvPr/>
        </p:nvSpPr>
        <p:spPr>
          <a:xfrm>
            <a:off x="0" y="35841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6" name="Shape 28"/>
          <p:cNvSpPr/>
          <p:nvPr/>
        </p:nvSpPr>
        <p:spPr>
          <a:xfrm>
            <a:off x="0" y="40964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 name="Shape 29"/>
          <p:cNvSpPr/>
          <p:nvPr/>
        </p:nvSpPr>
        <p:spPr>
          <a:xfrm>
            <a:off x="0" y="46083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 name="Shape 30"/>
          <p:cNvSpPr/>
          <p:nvPr/>
        </p:nvSpPr>
        <p:spPr>
          <a:xfrm>
            <a:off x="0" y="51206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9" name="Shape 31"/>
          <p:cNvSpPr/>
          <p:nvPr/>
        </p:nvSpPr>
        <p:spPr>
          <a:xfrm>
            <a:off x="6217920" y="-1645920"/>
            <a:ext cx="5486040" cy="5486040"/>
          </a:xfrm>
          <a:prstGeom prst="ellipse">
            <a:avLst/>
          </a:prstGeom>
          <a:solidFill>
            <a:srgbClr val="0d2818"/>
          </a:solidFill>
          <a:ln w="12700">
            <a:solidFill>
              <a:srgbClr val="0d281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 name="Shape 32"/>
          <p:cNvSpPr/>
          <p:nvPr/>
        </p:nvSpPr>
        <p:spPr>
          <a:xfrm>
            <a:off x="7498080" y="457200"/>
            <a:ext cx="2377080" cy="2377080"/>
          </a:xfrm>
          <a:prstGeom prst="ellipse">
            <a:avLst/>
          </a:prstGeom>
          <a:solidFill>
            <a:srgbClr val="16a34a">
              <a:alpha val="30000"/>
            </a:srgbClr>
          </a:solidFill>
          <a:ln w="12700">
            <a:solidFill>
              <a:srgbClr val="16a34a">
                <a:alpha val="32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1" name="Shape 33"/>
          <p:cNvSpPr/>
          <p:nvPr/>
        </p:nvSpPr>
        <p:spPr>
          <a:xfrm>
            <a:off x="-1371600" y="3474720"/>
            <a:ext cx="3657240" cy="3657240"/>
          </a:xfrm>
          <a:prstGeom prst="ellipse">
            <a:avLst/>
          </a:prstGeom>
          <a:solidFill>
            <a:srgbClr val="dc2626">
              <a:alpha val="12000"/>
            </a:srgbClr>
          </a:solidFill>
          <a:ln w="12700">
            <a:solidFill>
              <a:srgbClr val="dc2626">
                <a:alpha val="1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2" name="Shape 34"/>
          <p:cNvSpPr/>
          <p:nvPr/>
        </p:nvSpPr>
        <p:spPr>
          <a:xfrm>
            <a:off x="4206240" y="347400"/>
            <a:ext cx="255600" cy="255600"/>
          </a:xfrm>
          <a:prstGeom prst="ellipse">
            <a:avLst/>
          </a:prstGeom>
          <a:solidFill>
            <a:srgbClr val="4ade80"/>
          </a:solidFill>
          <a:ln w="12700">
            <a:solidFill>
              <a:srgbClr val="4ade8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3" name="Shape 35"/>
          <p:cNvSpPr/>
          <p:nvPr/>
        </p:nvSpPr>
        <p:spPr>
          <a:xfrm>
            <a:off x="4846320" y="658440"/>
            <a:ext cx="164160" cy="164160"/>
          </a:xfrm>
          <a:prstGeom prst="ellipse">
            <a:avLst/>
          </a:prstGeom>
          <a:solidFill>
            <a:srgbClr val="f87171"/>
          </a:solidFill>
          <a:ln w="12700">
            <a:solidFill>
              <a:srgbClr val="f8717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4" name="Shape 36"/>
          <p:cNvSpPr/>
          <p:nvPr/>
        </p:nvSpPr>
        <p:spPr>
          <a:xfrm>
            <a:off x="3657600" y="749880"/>
            <a:ext cx="127800" cy="127800"/>
          </a:xfrm>
          <a:prstGeom prst="ellipse">
            <a:avLst/>
          </a:prstGeom>
          <a:solidFill>
            <a:srgbClr val="fcd34d"/>
          </a:solidFill>
          <a:ln w="12700">
            <a:solidFill>
              <a:srgbClr val="fcd34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5" name="Shape 37"/>
          <p:cNvSpPr/>
          <p:nvPr/>
        </p:nvSpPr>
        <p:spPr>
          <a:xfrm>
            <a:off x="0" y="0"/>
            <a:ext cx="200880" cy="5143320"/>
          </a:xfrm>
          <a:prstGeom prst="rect">
            <a:avLst/>
          </a:prstGeom>
          <a:solidFill>
            <a:srgbClr val="4ade80"/>
          </a:solidFill>
          <a:ln w="12700">
            <a:solidFill>
              <a:srgbClr val="4ade8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6" name="Shape 38"/>
          <p:cNvSpPr/>
          <p:nvPr/>
        </p:nvSpPr>
        <p:spPr>
          <a:xfrm>
            <a:off x="457200" y="658440"/>
            <a:ext cx="2742840" cy="38376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7" name="Text 39"/>
          <p:cNvSpPr/>
          <p:nvPr/>
        </p:nvSpPr>
        <p:spPr>
          <a:xfrm>
            <a:off x="457200" y="658440"/>
            <a:ext cx="2742840" cy="3837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950" spc="148" strike="noStrike">
                <a:solidFill>
                  <a:srgbClr val="0a0f0d"/>
                </a:solidFill>
                <a:latin typeface="Calibri"/>
              </a:rPr>
              <a:t>CYBERSECURITY  ·  DATA MINING</a:t>
            </a:r>
            <a:endParaRPr b="0" lang="en-US" sz="950" spc="-1" strike="noStrike">
              <a:solidFill>
                <a:srgbClr val="ffffff"/>
              </a:solidFill>
              <a:latin typeface="Arial"/>
            </a:endParaRPr>
          </a:p>
        </p:txBody>
      </p:sp>
      <p:sp>
        <p:nvSpPr>
          <p:cNvPr id="48" name="Text 40"/>
          <p:cNvSpPr/>
          <p:nvPr/>
        </p:nvSpPr>
        <p:spPr>
          <a:xfrm>
            <a:off x="457200" y="1170360"/>
            <a:ext cx="8229240" cy="7768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600" spc="-1" strike="noStrike">
                <a:solidFill>
                  <a:srgbClr val="f0fdf4"/>
                </a:solidFill>
                <a:latin typeface="Calibri"/>
                <a:ea typeface="Calibri"/>
              </a:rPr>
              <a:t>Data Mining for</a:t>
            </a:r>
            <a:endParaRPr b="0" lang="en-US" sz="4600" spc="-1" strike="noStrike">
              <a:solidFill>
                <a:srgbClr val="ffffff"/>
              </a:solidFill>
              <a:latin typeface="Arial"/>
            </a:endParaRPr>
          </a:p>
        </p:txBody>
      </p:sp>
      <p:sp>
        <p:nvSpPr>
          <p:cNvPr id="49" name="Text 41"/>
          <p:cNvSpPr/>
          <p:nvPr/>
        </p:nvSpPr>
        <p:spPr>
          <a:xfrm>
            <a:off x="457200" y="1901880"/>
            <a:ext cx="8229240" cy="822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800" spc="-1" strike="noStrike">
                <a:solidFill>
                  <a:srgbClr val="4ade80"/>
                </a:solidFill>
                <a:latin typeface="Calibri"/>
                <a:ea typeface="Calibri"/>
              </a:rPr>
              <a:t>Intrusion Detection</a:t>
            </a:r>
            <a:endParaRPr b="0" lang="en-US" sz="4800" spc="-1" strike="noStrike">
              <a:solidFill>
                <a:srgbClr val="ffffff"/>
              </a:solidFill>
              <a:latin typeface="Arial"/>
            </a:endParaRPr>
          </a:p>
        </p:txBody>
      </p:sp>
      <p:sp>
        <p:nvSpPr>
          <p:cNvPr id="50" name="Text 42"/>
          <p:cNvSpPr/>
          <p:nvPr/>
        </p:nvSpPr>
        <p:spPr>
          <a:xfrm>
            <a:off x="457200" y="2679120"/>
            <a:ext cx="6400440" cy="685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4000" spc="-1" strike="noStrike">
                <a:solidFill>
                  <a:srgbClr val="f87171"/>
                </a:solidFill>
                <a:latin typeface="Calibri"/>
                <a:ea typeface="Calibri"/>
              </a:rPr>
              <a:t>&amp; Prevention</a:t>
            </a:r>
            <a:endParaRPr b="0" lang="en-US" sz="4000" spc="-1" strike="noStrike">
              <a:solidFill>
                <a:srgbClr val="ffffff"/>
              </a:solidFill>
              <a:latin typeface="Arial"/>
            </a:endParaRPr>
          </a:p>
        </p:txBody>
      </p:sp>
      <p:sp>
        <p:nvSpPr>
          <p:cNvPr id="51" name="Text 43"/>
          <p:cNvSpPr/>
          <p:nvPr/>
        </p:nvSpPr>
        <p:spPr>
          <a:xfrm>
            <a:off x="457200" y="3456360"/>
            <a:ext cx="77720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350" spc="-1" strike="noStrike">
                <a:solidFill>
                  <a:srgbClr val="bbf7d0"/>
                </a:solidFill>
                <a:latin typeface="Calibri"/>
                <a:ea typeface="Calibri"/>
              </a:rPr>
              <a:t>How advanced data mining shields networks from modern cyber threats</a:t>
            </a:r>
            <a:endParaRPr b="0" lang="en-US" sz="1350" spc="-1" strike="noStrike">
              <a:solidFill>
                <a:srgbClr val="ffffff"/>
              </a:solidFill>
              <a:latin typeface="Arial"/>
            </a:endParaRPr>
          </a:p>
        </p:txBody>
      </p:sp>
      <p:sp>
        <p:nvSpPr>
          <p:cNvPr id="52" name="Shape 44"/>
          <p:cNvSpPr/>
          <p:nvPr/>
        </p:nvSpPr>
        <p:spPr>
          <a:xfrm>
            <a:off x="457200" y="3950280"/>
            <a:ext cx="1992960" cy="91404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3" name="Text 45"/>
          <p:cNvSpPr/>
          <p:nvPr/>
        </p:nvSpPr>
        <p:spPr>
          <a:xfrm>
            <a:off x="457200" y="396864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pc="-1" strike="noStrike">
                <a:solidFill>
                  <a:srgbClr val="4ade80"/>
                </a:solidFill>
                <a:latin typeface="Calibri"/>
                <a:ea typeface="Calibri"/>
              </a:rPr>
              <a:t>2</a:t>
            </a:r>
            <a:endParaRPr b="0" lang="en-US" sz="2800" spc="-1" strike="noStrike">
              <a:solidFill>
                <a:srgbClr val="ffffff"/>
              </a:solidFill>
              <a:latin typeface="Arial"/>
            </a:endParaRPr>
          </a:p>
        </p:txBody>
      </p:sp>
      <p:sp>
        <p:nvSpPr>
          <p:cNvPr id="54" name="Text 46"/>
          <p:cNvSpPr/>
          <p:nvPr/>
        </p:nvSpPr>
        <p:spPr>
          <a:xfrm>
            <a:off x="457200" y="444384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bf7d0"/>
                </a:solidFill>
                <a:latin typeface="Calibri"/>
                <a:ea typeface="Calibri"/>
              </a:rPr>
              <a:t>Intruder</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bf7d0"/>
                </a:solidFill>
                <a:latin typeface="Calibri"/>
                <a:ea typeface="Calibri"/>
              </a:rPr>
              <a:t>Types</a:t>
            </a:r>
            <a:endParaRPr b="0" lang="en-US" sz="950" spc="-1" strike="noStrike">
              <a:solidFill>
                <a:srgbClr val="ffffff"/>
              </a:solidFill>
              <a:latin typeface="Arial"/>
            </a:endParaRPr>
          </a:p>
        </p:txBody>
      </p:sp>
      <p:sp>
        <p:nvSpPr>
          <p:cNvPr id="55" name="Shape 47"/>
          <p:cNvSpPr/>
          <p:nvPr/>
        </p:nvSpPr>
        <p:spPr>
          <a:xfrm>
            <a:off x="2624400" y="3950280"/>
            <a:ext cx="1992960" cy="91404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6" name="Text 48"/>
          <p:cNvSpPr/>
          <p:nvPr/>
        </p:nvSpPr>
        <p:spPr>
          <a:xfrm>
            <a:off x="2624400" y="396864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pc="-1" strike="noStrike">
                <a:solidFill>
                  <a:srgbClr val="4ade80"/>
                </a:solidFill>
                <a:latin typeface="Calibri"/>
                <a:ea typeface="Calibri"/>
              </a:rPr>
              <a:t>3</a:t>
            </a:r>
            <a:endParaRPr b="0" lang="en-US" sz="2800" spc="-1" strike="noStrike">
              <a:solidFill>
                <a:srgbClr val="ffffff"/>
              </a:solidFill>
              <a:latin typeface="Arial"/>
            </a:endParaRPr>
          </a:p>
        </p:txBody>
      </p:sp>
      <p:sp>
        <p:nvSpPr>
          <p:cNvPr id="57" name="Text 49"/>
          <p:cNvSpPr/>
          <p:nvPr/>
        </p:nvSpPr>
        <p:spPr>
          <a:xfrm>
            <a:off x="2624400" y="444384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bf7d0"/>
                </a:solidFill>
                <a:latin typeface="Calibri"/>
                <a:ea typeface="Calibri"/>
              </a:rPr>
              <a:t>Attack</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bf7d0"/>
                </a:solidFill>
                <a:latin typeface="Calibri"/>
                <a:ea typeface="Calibri"/>
              </a:rPr>
              <a:t>Categories</a:t>
            </a:r>
            <a:endParaRPr b="0" lang="en-US" sz="950" spc="-1" strike="noStrike">
              <a:solidFill>
                <a:srgbClr val="ffffff"/>
              </a:solidFill>
              <a:latin typeface="Arial"/>
            </a:endParaRPr>
          </a:p>
        </p:txBody>
      </p:sp>
      <p:sp>
        <p:nvSpPr>
          <p:cNvPr id="58" name="Shape 50"/>
          <p:cNvSpPr/>
          <p:nvPr/>
        </p:nvSpPr>
        <p:spPr>
          <a:xfrm>
            <a:off x="4791600" y="3950280"/>
            <a:ext cx="1992960" cy="91404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59" name="Text 51"/>
          <p:cNvSpPr/>
          <p:nvPr/>
        </p:nvSpPr>
        <p:spPr>
          <a:xfrm>
            <a:off x="4791600" y="396864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pc="-1" strike="noStrike">
                <a:solidFill>
                  <a:srgbClr val="4ade80"/>
                </a:solidFill>
                <a:latin typeface="Calibri"/>
                <a:ea typeface="Calibri"/>
              </a:rPr>
              <a:t>2</a:t>
            </a:r>
            <a:endParaRPr b="0" lang="en-US" sz="2800" spc="-1" strike="noStrike">
              <a:solidFill>
                <a:srgbClr val="ffffff"/>
              </a:solidFill>
              <a:latin typeface="Arial"/>
            </a:endParaRPr>
          </a:p>
        </p:txBody>
      </p:sp>
      <p:sp>
        <p:nvSpPr>
          <p:cNvPr id="60" name="Text 52"/>
          <p:cNvSpPr/>
          <p:nvPr/>
        </p:nvSpPr>
        <p:spPr>
          <a:xfrm>
            <a:off x="4791600" y="444384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bf7d0"/>
                </a:solidFill>
                <a:latin typeface="Calibri"/>
                <a:ea typeface="Calibri"/>
              </a:rPr>
              <a:t>Detection</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bf7d0"/>
                </a:solidFill>
                <a:latin typeface="Calibri"/>
                <a:ea typeface="Calibri"/>
              </a:rPr>
              <a:t>Methods</a:t>
            </a:r>
            <a:endParaRPr b="0" lang="en-US" sz="950" spc="-1" strike="noStrike">
              <a:solidFill>
                <a:srgbClr val="ffffff"/>
              </a:solidFill>
              <a:latin typeface="Arial"/>
            </a:endParaRPr>
          </a:p>
        </p:txBody>
      </p:sp>
      <p:sp>
        <p:nvSpPr>
          <p:cNvPr id="61" name="Shape 53"/>
          <p:cNvSpPr/>
          <p:nvPr/>
        </p:nvSpPr>
        <p:spPr>
          <a:xfrm>
            <a:off x="6958440" y="3950280"/>
            <a:ext cx="1992960" cy="91404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2" name="Text 54"/>
          <p:cNvSpPr/>
          <p:nvPr/>
        </p:nvSpPr>
        <p:spPr>
          <a:xfrm>
            <a:off x="6958440" y="3968640"/>
            <a:ext cx="199296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2800" spc="-1" strike="noStrike">
                <a:solidFill>
                  <a:srgbClr val="4ade80"/>
                </a:solidFill>
                <a:latin typeface="Calibri"/>
                <a:ea typeface="Calibri"/>
              </a:rPr>
              <a:t>4</a:t>
            </a:r>
            <a:endParaRPr b="0" lang="en-US" sz="2800" spc="-1" strike="noStrike">
              <a:solidFill>
                <a:srgbClr val="ffffff"/>
              </a:solidFill>
              <a:latin typeface="Arial"/>
            </a:endParaRPr>
          </a:p>
        </p:txBody>
      </p:sp>
      <p:sp>
        <p:nvSpPr>
          <p:cNvPr id="63" name="Text 55"/>
          <p:cNvSpPr/>
          <p:nvPr/>
        </p:nvSpPr>
        <p:spPr>
          <a:xfrm>
            <a:off x="6958440" y="4443840"/>
            <a:ext cx="199296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950" spc="-1" strike="noStrike">
                <a:solidFill>
                  <a:srgbClr val="bbf7d0"/>
                </a:solidFill>
                <a:latin typeface="Calibri"/>
                <a:ea typeface="Calibri"/>
              </a:rPr>
              <a:t>DM</a:t>
            </a:r>
            <a:endParaRPr b="0" lang="en-US" sz="950" spc="-1" strike="noStrike">
              <a:solidFill>
                <a:srgbClr val="ffffff"/>
              </a:solidFill>
              <a:latin typeface="Arial"/>
            </a:endParaRPr>
          </a:p>
          <a:p>
            <a:pPr algn="ctr" defTabSz="914400">
              <a:lnSpc>
                <a:spcPct val="100000"/>
              </a:lnSpc>
              <a:tabLst>
                <a:tab algn="l" pos="0"/>
              </a:tabLst>
            </a:pPr>
            <a:r>
              <a:rPr b="0" lang="en-US" sz="950" spc="-1" strike="noStrike">
                <a:solidFill>
                  <a:srgbClr val="bbf7d0"/>
                </a:solidFill>
                <a:latin typeface="Calibri"/>
                <a:ea typeface="Calibri"/>
              </a:rPr>
              <a:t>Applications</a:t>
            </a:r>
            <a:endParaRPr b="0" lang="en-US" sz="95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ff4"/>
        </a:solidFill>
      </p:bgPr>
    </p:bg>
    <p:spTree>
      <p:nvGrpSpPr>
        <p:cNvPr id="1" name=""/>
        <p:cNvGrpSpPr/>
        <p:nvPr/>
      </p:nvGrpSpPr>
      <p:grpSpPr>
        <a:xfrm>
          <a:off x="0" y="0"/>
          <a:ext cx="0" cy="0"/>
          <a:chOff x="0" y="0"/>
          <a:chExt cx="0" cy="0"/>
        </a:xfrm>
      </p:grpSpPr>
      <p:sp>
        <p:nvSpPr>
          <p:cNvPr id="64" name="Shape 0"/>
          <p:cNvSpPr/>
          <p:nvPr/>
        </p:nvSpPr>
        <p:spPr>
          <a:xfrm>
            <a:off x="0" y="0"/>
            <a:ext cx="9143640" cy="959760"/>
          </a:xfrm>
          <a:prstGeom prst="rect">
            <a:avLst/>
          </a:prstGeom>
          <a:solidFill>
            <a:srgbClr val="0a0f0d"/>
          </a:solidFill>
          <a:ln w="12700">
            <a:solidFill>
              <a:srgbClr val="0a0f0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5" name="Shape 1"/>
          <p:cNvSpPr/>
          <p:nvPr/>
        </p:nvSpPr>
        <p:spPr>
          <a:xfrm>
            <a:off x="0" y="960120"/>
            <a:ext cx="9143640" cy="63720"/>
          </a:xfrm>
          <a:prstGeom prst="rect">
            <a:avLst/>
          </a:prstGeom>
          <a:solidFill>
            <a:srgbClr val="4ade80"/>
          </a:solidFill>
          <a:ln w="12700">
            <a:solidFill>
              <a:srgbClr val="4ade8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66"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4ade80"/>
                </a:solidFill>
                <a:latin typeface="Calibri"/>
                <a:ea typeface="Calibri"/>
              </a:rPr>
              <a:t>The Threat Landscape: Intrusion Explained</a:t>
            </a:r>
            <a:endParaRPr b="0" lang="en-US" sz="3000" spc="-1" strike="noStrike">
              <a:solidFill>
                <a:srgbClr val="000000"/>
              </a:solidFill>
              <a:latin typeface="Arial"/>
            </a:endParaRPr>
          </a:p>
        </p:txBody>
      </p:sp>
      <p:sp>
        <p:nvSpPr>
          <p:cNvPr id="67" name="Shape 3"/>
          <p:cNvSpPr/>
          <p:nvPr/>
        </p:nvSpPr>
        <p:spPr>
          <a:xfrm>
            <a:off x="365760" y="1170360"/>
            <a:ext cx="8412120" cy="895680"/>
          </a:xfrm>
          <a:prstGeom prst="rect">
            <a:avLst/>
          </a:prstGeom>
          <a:solidFill>
            <a:srgbClr val="111b17"/>
          </a:solidFill>
          <a:ln w="19050">
            <a:solidFill>
              <a:srgbClr val="4ade80"/>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68" name="Text 4"/>
          <p:cNvSpPr/>
          <p:nvPr/>
        </p:nvSpPr>
        <p:spPr>
          <a:xfrm>
            <a:off x="530280" y="1188720"/>
            <a:ext cx="8092080" cy="840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4ade80"/>
                </a:solidFill>
                <a:latin typeface="Calibri"/>
                <a:ea typeface="Calibri"/>
              </a:rPr>
              <a:t>Intrusion </a:t>
            </a:r>
            <a:r>
              <a:rPr b="0" lang="en-US" sz="1250" spc="-1" strike="noStrike">
                <a:solidFill>
                  <a:srgbClr val="f0fdf4"/>
                </a:solidFill>
                <a:latin typeface="Calibri"/>
                <a:ea typeface="Calibri"/>
              </a:rPr>
              <a:t>involves unauthorized access by an entity attempting to steal or misuse valuable resources — including worms, viruses, and targeted attacks. As systems grow more complex, </a:t>
            </a:r>
            <a:r>
              <a:rPr b="1" lang="en-US" sz="1250" spc="-1" strike="noStrike">
                <a:solidFill>
                  <a:srgbClr val="f87171"/>
                </a:solidFill>
                <a:latin typeface="Calibri"/>
                <a:ea typeface="Calibri"/>
              </a:rPr>
              <a:t>multiple layers of security controls</a:t>
            </a:r>
            <a:r>
              <a:rPr b="0" lang="en-US" sz="1250" spc="-1" strike="noStrike">
                <a:solidFill>
                  <a:srgbClr val="f0fdf4"/>
                </a:solidFill>
                <a:latin typeface="Calibri"/>
                <a:ea typeface="Calibri"/>
              </a:rPr>
              <a:t> are essential beyond basic authentication and encryption.</a:t>
            </a:r>
            <a:endParaRPr b="0" lang="en-US" sz="1250" spc="-1" strike="noStrike">
              <a:solidFill>
                <a:srgbClr val="000000"/>
              </a:solidFill>
              <a:latin typeface="Arial"/>
            </a:endParaRPr>
          </a:p>
        </p:txBody>
      </p:sp>
      <p:sp>
        <p:nvSpPr>
          <p:cNvPr id="69" name="Shape 5"/>
          <p:cNvSpPr/>
          <p:nvPr/>
        </p:nvSpPr>
        <p:spPr>
          <a:xfrm>
            <a:off x="365760" y="2212920"/>
            <a:ext cx="4224240" cy="2697120"/>
          </a:xfrm>
          <a:prstGeom prst="rect">
            <a:avLst/>
          </a:prstGeom>
          <a:solidFill>
            <a:srgbClr val="111b17"/>
          </a:solidFill>
          <a:ln w="25400">
            <a:solidFill>
              <a:srgbClr val="dc262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0" name="Shape 6"/>
          <p:cNvSpPr/>
          <p:nvPr/>
        </p:nvSpPr>
        <p:spPr>
          <a:xfrm>
            <a:off x="365760" y="2212920"/>
            <a:ext cx="4224240" cy="51156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1" name="Text 7"/>
          <p:cNvSpPr/>
          <p:nvPr/>
        </p:nvSpPr>
        <p:spPr>
          <a:xfrm>
            <a:off x="475560" y="2212920"/>
            <a:ext cx="40046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f0fdf4"/>
                </a:solidFill>
                <a:latin typeface="Calibri"/>
                <a:ea typeface="Calibri"/>
              </a:rPr>
              <a:t>👤  </a:t>
            </a:r>
            <a:r>
              <a:rPr b="1" lang="en-US" sz="1400" spc="-1" strike="noStrike">
                <a:solidFill>
                  <a:srgbClr val="f0fdf4"/>
                </a:solidFill>
                <a:latin typeface="Calibri"/>
                <a:ea typeface="Calibri"/>
              </a:rPr>
              <a:t>Masquerader</a:t>
            </a:r>
            <a:endParaRPr b="0" lang="en-US" sz="1400" spc="-1" strike="noStrike">
              <a:solidFill>
                <a:srgbClr val="000000"/>
              </a:solidFill>
              <a:latin typeface="Arial"/>
            </a:endParaRPr>
          </a:p>
        </p:txBody>
      </p:sp>
      <p:sp>
        <p:nvSpPr>
          <p:cNvPr id="72" name="Text 8"/>
          <p:cNvSpPr/>
          <p:nvPr/>
        </p:nvSpPr>
        <p:spPr>
          <a:xfrm>
            <a:off x="475560" y="2779920"/>
            <a:ext cx="4004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rgbClr val="f87171"/>
                </a:solidFill>
                <a:latin typeface="Calibri"/>
                <a:ea typeface="Calibri"/>
              </a:rPr>
              <a:t>Outside Intruder</a:t>
            </a:r>
            <a:endParaRPr b="0" lang="en-US" sz="1050" spc="-1" strike="noStrike">
              <a:solidFill>
                <a:srgbClr val="000000"/>
              </a:solidFill>
              <a:latin typeface="Arial"/>
            </a:endParaRPr>
          </a:p>
        </p:txBody>
      </p:sp>
      <p:sp>
        <p:nvSpPr>
          <p:cNvPr id="73" name="Text 9"/>
          <p:cNvSpPr/>
          <p:nvPr/>
        </p:nvSpPr>
        <p:spPr>
          <a:xfrm>
            <a:off x="493920" y="307224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87171"/>
                </a:solidFill>
                <a:latin typeface="Calibri"/>
                <a:ea typeface="Calibri"/>
              </a:rPr>
              <a:t>›  </a:t>
            </a:r>
            <a:r>
              <a:rPr b="0" lang="en-US" sz="1050" spc="-1" strike="noStrike">
                <a:solidFill>
                  <a:srgbClr val="bbf7d0"/>
                </a:solidFill>
                <a:latin typeface="Calibri"/>
                <a:ea typeface="Calibri"/>
              </a:rPr>
              <a:t>No authority to use the network or system</a:t>
            </a:r>
            <a:endParaRPr b="0" lang="en-US" sz="1050" spc="-1" strike="noStrike">
              <a:solidFill>
                <a:srgbClr val="000000"/>
              </a:solidFill>
              <a:latin typeface="Arial"/>
            </a:endParaRPr>
          </a:p>
        </p:txBody>
      </p:sp>
      <p:sp>
        <p:nvSpPr>
          <p:cNvPr id="74" name="Text 10"/>
          <p:cNvSpPr/>
          <p:nvPr/>
        </p:nvSpPr>
        <p:spPr>
          <a:xfrm>
            <a:off x="493920" y="351144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87171"/>
                </a:solidFill>
                <a:latin typeface="Calibri"/>
                <a:ea typeface="Calibri"/>
              </a:rPr>
              <a:t>›  </a:t>
            </a:r>
            <a:r>
              <a:rPr b="0" lang="en-US" sz="1050" spc="-1" strike="noStrike">
                <a:solidFill>
                  <a:srgbClr val="bbf7d0"/>
                </a:solidFill>
                <a:latin typeface="Calibri"/>
                <a:ea typeface="Calibri"/>
              </a:rPr>
              <a:t>Typically an external attacker impersonating a legitimate user</a:t>
            </a:r>
            <a:endParaRPr b="0" lang="en-US" sz="1050" spc="-1" strike="noStrike">
              <a:solidFill>
                <a:srgbClr val="000000"/>
              </a:solidFill>
              <a:latin typeface="Arial"/>
            </a:endParaRPr>
          </a:p>
        </p:txBody>
      </p:sp>
      <p:sp>
        <p:nvSpPr>
          <p:cNvPr id="75" name="Text 11"/>
          <p:cNvSpPr/>
          <p:nvPr/>
        </p:nvSpPr>
        <p:spPr>
          <a:xfrm>
            <a:off x="493920" y="395028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87171"/>
                </a:solidFill>
                <a:latin typeface="Calibri"/>
                <a:ea typeface="Calibri"/>
              </a:rPr>
              <a:t>›  </a:t>
            </a:r>
            <a:r>
              <a:rPr b="0" lang="en-US" sz="1050" spc="-1" strike="noStrike">
                <a:solidFill>
                  <a:srgbClr val="bbf7d0"/>
                </a:solidFill>
                <a:latin typeface="Calibri"/>
                <a:ea typeface="Calibri"/>
              </a:rPr>
              <a:t>Gains access via stolen credentials, phishing, or exploits</a:t>
            </a:r>
            <a:endParaRPr b="0" lang="en-US" sz="1050" spc="-1" strike="noStrike">
              <a:solidFill>
                <a:srgbClr val="000000"/>
              </a:solidFill>
              <a:latin typeface="Arial"/>
            </a:endParaRPr>
          </a:p>
        </p:txBody>
      </p:sp>
      <p:sp>
        <p:nvSpPr>
          <p:cNvPr id="76" name="Text 12"/>
          <p:cNvSpPr/>
          <p:nvPr/>
        </p:nvSpPr>
        <p:spPr>
          <a:xfrm>
            <a:off x="493920" y="438912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87171"/>
                </a:solidFill>
                <a:latin typeface="Calibri"/>
                <a:ea typeface="Calibri"/>
              </a:rPr>
              <a:t>›  </a:t>
            </a:r>
            <a:r>
              <a:rPr b="0" lang="en-US" sz="1050" spc="-1" strike="noStrike">
                <a:solidFill>
                  <a:srgbClr val="bbf7d0"/>
                </a:solidFill>
                <a:latin typeface="Calibri"/>
                <a:ea typeface="Calibri"/>
              </a:rPr>
              <a:t>Goal: steal data, disrupt services, or plant malware</a:t>
            </a:r>
            <a:endParaRPr b="0" lang="en-US" sz="1050" spc="-1" strike="noStrike">
              <a:solidFill>
                <a:srgbClr val="000000"/>
              </a:solidFill>
              <a:latin typeface="Arial"/>
            </a:endParaRPr>
          </a:p>
        </p:txBody>
      </p:sp>
      <p:sp>
        <p:nvSpPr>
          <p:cNvPr id="77" name="Shape 13"/>
          <p:cNvSpPr/>
          <p:nvPr/>
        </p:nvSpPr>
        <p:spPr>
          <a:xfrm>
            <a:off x="4773240" y="2212920"/>
            <a:ext cx="4224240" cy="2697120"/>
          </a:xfrm>
          <a:prstGeom prst="rect">
            <a:avLst/>
          </a:prstGeom>
          <a:solidFill>
            <a:srgbClr val="111b17"/>
          </a:solidFill>
          <a:ln w="2540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8" name="Shape 14"/>
          <p:cNvSpPr/>
          <p:nvPr/>
        </p:nvSpPr>
        <p:spPr>
          <a:xfrm>
            <a:off x="4773240" y="2212920"/>
            <a:ext cx="4224240" cy="51156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79" name="Text 15"/>
          <p:cNvSpPr/>
          <p:nvPr/>
        </p:nvSpPr>
        <p:spPr>
          <a:xfrm>
            <a:off x="4883040" y="2212920"/>
            <a:ext cx="4004640" cy="511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400" spc="-1" strike="noStrike">
                <a:solidFill>
                  <a:srgbClr val="f0fdf4"/>
                </a:solidFill>
                <a:latin typeface="Calibri"/>
                <a:ea typeface="Calibri"/>
              </a:rPr>
              <a:t>🔓  </a:t>
            </a:r>
            <a:r>
              <a:rPr b="1" lang="en-US" sz="1400" spc="-1" strike="noStrike">
                <a:solidFill>
                  <a:srgbClr val="f0fdf4"/>
                </a:solidFill>
                <a:latin typeface="Calibri"/>
                <a:ea typeface="Calibri"/>
              </a:rPr>
              <a:t>Misfeasor</a:t>
            </a:r>
            <a:endParaRPr b="0" lang="en-US" sz="1400" spc="-1" strike="noStrike">
              <a:solidFill>
                <a:srgbClr val="000000"/>
              </a:solidFill>
              <a:latin typeface="Arial"/>
            </a:endParaRPr>
          </a:p>
        </p:txBody>
      </p:sp>
      <p:sp>
        <p:nvSpPr>
          <p:cNvPr id="80" name="Text 16"/>
          <p:cNvSpPr/>
          <p:nvPr/>
        </p:nvSpPr>
        <p:spPr>
          <a:xfrm>
            <a:off x="4883040" y="2779920"/>
            <a:ext cx="4004640" cy="2556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050" spc="-1" strike="noStrike">
                <a:solidFill>
                  <a:srgbClr val="fcd34d"/>
                </a:solidFill>
                <a:latin typeface="Calibri"/>
                <a:ea typeface="Calibri"/>
              </a:rPr>
              <a:t>Inside Intruder</a:t>
            </a:r>
            <a:endParaRPr b="0" lang="en-US" sz="1050" spc="-1" strike="noStrike">
              <a:solidFill>
                <a:srgbClr val="000000"/>
              </a:solidFill>
              <a:latin typeface="Arial"/>
            </a:endParaRPr>
          </a:p>
        </p:txBody>
      </p:sp>
      <p:sp>
        <p:nvSpPr>
          <p:cNvPr id="81" name="Text 17"/>
          <p:cNvSpPr/>
          <p:nvPr/>
        </p:nvSpPr>
        <p:spPr>
          <a:xfrm>
            <a:off x="4901040" y="307224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cd34d"/>
                </a:solidFill>
                <a:latin typeface="Calibri"/>
                <a:ea typeface="Calibri"/>
              </a:rPr>
              <a:t>›  </a:t>
            </a:r>
            <a:r>
              <a:rPr b="0" lang="en-US" sz="1050" spc="-1" strike="noStrike">
                <a:solidFill>
                  <a:srgbClr val="bbf7d0"/>
                </a:solidFill>
                <a:latin typeface="Calibri"/>
                <a:ea typeface="Calibri"/>
              </a:rPr>
              <a:t>Has authorised access to limited applications only</a:t>
            </a:r>
            <a:endParaRPr b="0" lang="en-US" sz="1050" spc="-1" strike="noStrike">
              <a:solidFill>
                <a:srgbClr val="000000"/>
              </a:solidFill>
              <a:latin typeface="Arial"/>
            </a:endParaRPr>
          </a:p>
        </p:txBody>
      </p:sp>
      <p:sp>
        <p:nvSpPr>
          <p:cNvPr id="82" name="Text 18"/>
          <p:cNvSpPr/>
          <p:nvPr/>
        </p:nvSpPr>
        <p:spPr>
          <a:xfrm>
            <a:off x="4901040" y="351144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cd34d"/>
                </a:solidFill>
                <a:latin typeface="Calibri"/>
                <a:ea typeface="Calibri"/>
              </a:rPr>
              <a:t>›  </a:t>
            </a:r>
            <a:r>
              <a:rPr b="0" lang="en-US" sz="1050" spc="-1" strike="noStrike">
                <a:solidFill>
                  <a:srgbClr val="bbf7d0"/>
                </a:solidFill>
                <a:latin typeface="Calibri"/>
                <a:ea typeface="Calibri"/>
              </a:rPr>
              <a:t>Abuses legitimate privileges to exceed authorised scope</a:t>
            </a:r>
            <a:endParaRPr b="0" lang="en-US" sz="1050" spc="-1" strike="noStrike">
              <a:solidFill>
                <a:srgbClr val="000000"/>
              </a:solidFill>
              <a:latin typeface="Arial"/>
            </a:endParaRPr>
          </a:p>
        </p:txBody>
      </p:sp>
      <p:sp>
        <p:nvSpPr>
          <p:cNvPr id="83" name="Text 19"/>
          <p:cNvSpPr/>
          <p:nvPr/>
        </p:nvSpPr>
        <p:spPr>
          <a:xfrm>
            <a:off x="4901040" y="395028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cd34d"/>
                </a:solidFill>
                <a:latin typeface="Calibri"/>
                <a:ea typeface="Calibri"/>
              </a:rPr>
              <a:t>›  </a:t>
            </a:r>
            <a:r>
              <a:rPr b="0" lang="en-US" sz="1050" spc="-1" strike="noStrike">
                <a:solidFill>
                  <a:srgbClr val="bbf7d0"/>
                </a:solidFill>
                <a:latin typeface="Calibri"/>
                <a:ea typeface="Calibri"/>
              </a:rPr>
              <a:t>Harder to detect — appears as normal system activity</a:t>
            </a:r>
            <a:endParaRPr b="0" lang="en-US" sz="1050" spc="-1" strike="noStrike">
              <a:solidFill>
                <a:srgbClr val="000000"/>
              </a:solidFill>
              <a:latin typeface="Arial"/>
            </a:endParaRPr>
          </a:p>
        </p:txBody>
      </p:sp>
      <p:sp>
        <p:nvSpPr>
          <p:cNvPr id="84" name="Text 20"/>
          <p:cNvSpPr/>
          <p:nvPr/>
        </p:nvSpPr>
        <p:spPr>
          <a:xfrm>
            <a:off x="4901040" y="4389120"/>
            <a:ext cx="3968280" cy="402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50" spc="-1" strike="noStrike">
                <a:solidFill>
                  <a:srgbClr val="fcd34d"/>
                </a:solidFill>
                <a:latin typeface="Calibri"/>
                <a:ea typeface="Calibri"/>
              </a:rPr>
              <a:t>›  </a:t>
            </a:r>
            <a:r>
              <a:rPr b="0" lang="en-US" sz="1050" spc="-1" strike="noStrike">
                <a:solidFill>
                  <a:srgbClr val="bbf7d0"/>
                </a:solidFill>
                <a:latin typeface="Calibri"/>
                <a:ea typeface="Calibri"/>
              </a:rPr>
              <a:t>Goal: access restricted data, sabotage, or corporate espionage</a:t>
            </a:r>
            <a:endParaRPr b="0" lang="en-US" sz="10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f0d"/>
        </a:solidFill>
      </p:bgPr>
    </p:bg>
    <p:spTree>
      <p:nvGrpSpPr>
        <p:cNvPr id="1" name=""/>
        <p:cNvGrpSpPr/>
        <p:nvPr/>
      </p:nvGrpSpPr>
      <p:grpSpPr>
        <a:xfrm>
          <a:off x="0" y="0"/>
          <a:ext cx="0" cy="0"/>
          <a:chOff x="0" y="0"/>
          <a:chExt cx="0" cy="0"/>
        </a:xfrm>
      </p:grpSpPr>
      <p:sp>
        <p:nvSpPr>
          <p:cNvPr id="85" name="Shape 0"/>
          <p:cNvSpPr/>
          <p:nvPr/>
        </p:nvSpPr>
        <p:spPr>
          <a:xfrm>
            <a:off x="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6" name="Shape 1"/>
          <p:cNvSpPr/>
          <p:nvPr/>
        </p:nvSpPr>
        <p:spPr>
          <a:xfrm>
            <a:off x="4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7" name="Shape 2"/>
          <p:cNvSpPr/>
          <p:nvPr/>
        </p:nvSpPr>
        <p:spPr>
          <a:xfrm>
            <a:off x="9691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8" name="Shape 3"/>
          <p:cNvSpPr/>
          <p:nvPr/>
        </p:nvSpPr>
        <p:spPr>
          <a:xfrm>
            <a:off x="14536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89" name="Shape 4"/>
          <p:cNvSpPr/>
          <p:nvPr/>
        </p:nvSpPr>
        <p:spPr>
          <a:xfrm>
            <a:off x="19382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0" name="Shape 5"/>
          <p:cNvSpPr/>
          <p:nvPr/>
        </p:nvSpPr>
        <p:spPr>
          <a:xfrm>
            <a:off x="24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1" name="Shape 6"/>
          <p:cNvSpPr/>
          <p:nvPr/>
        </p:nvSpPr>
        <p:spPr>
          <a:xfrm>
            <a:off x="29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2" name="Shape 7"/>
          <p:cNvSpPr/>
          <p:nvPr/>
        </p:nvSpPr>
        <p:spPr>
          <a:xfrm>
            <a:off x="33922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3" name="Shape 8"/>
          <p:cNvSpPr/>
          <p:nvPr/>
        </p:nvSpPr>
        <p:spPr>
          <a:xfrm>
            <a:off x="38768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4" name="Shape 9"/>
          <p:cNvSpPr/>
          <p:nvPr/>
        </p:nvSpPr>
        <p:spPr>
          <a:xfrm>
            <a:off x="43614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5" name="Shape 10"/>
          <p:cNvSpPr/>
          <p:nvPr/>
        </p:nvSpPr>
        <p:spPr>
          <a:xfrm>
            <a:off x="48463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6" name="Shape 11"/>
          <p:cNvSpPr/>
          <p:nvPr/>
        </p:nvSpPr>
        <p:spPr>
          <a:xfrm>
            <a:off x="53308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7" name="Shape 12"/>
          <p:cNvSpPr/>
          <p:nvPr/>
        </p:nvSpPr>
        <p:spPr>
          <a:xfrm>
            <a:off x="58154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8" name="Shape 13"/>
          <p:cNvSpPr/>
          <p:nvPr/>
        </p:nvSpPr>
        <p:spPr>
          <a:xfrm>
            <a:off x="63000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99" name="Shape 14"/>
          <p:cNvSpPr/>
          <p:nvPr/>
        </p:nvSpPr>
        <p:spPr>
          <a:xfrm>
            <a:off x="67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0" name="Shape 15"/>
          <p:cNvSpPr/>
          <p:nvPr/>
        </p:nvSpPr>
        <p:spPr>
          <a:xfrm>
            <a:off x="72694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1" name="Shape 16"/>
          <p:cNvSpPr/>
          <p:nvPr/>
        </p:nvSpPr>
        <p:spPr>
          <a:xfrm>
            <a:off x="77540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2" name="Shape 17"/>
          <p:cNvSpPr/>
          <p:nvPr/>
        </p:nvSpPr>
        <p:spPr>
          <a:xfrm>
            <a:off x="82386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3" name="Shape 18"/>
          <p:cNvSpPr/>
          <p:nvPr/>
        </p:nvSpPr>
        <p:spPr>
          <a:xfrm>
            <a:off x="87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4" name="Shape 19"/>
          <p:cNvSpPr/>
          <p:nvPr/>
        </p:nvSpPr>
        <p:spPr>
          <a:xfrm>
            <a:off x="92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05" name="Shape 20"/>
          <p:cNvSpPr/>
          <p:nvPr/>
        </p:nvSpPr>
        <p:spPr>
          <a:xfrm>
            <a:off x="0" y="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6" name="Shape 21"/>
          <p:cNvSpPr/>
          <p:nvPr/>
        </p:nvSpPr>
        <p:spPr>
          <a:xfrm>
            <a:off x="0" y="5119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7" name="Shape 22"/>
          <p:cNvSpPr/>
          <p:nvPr/>
        </p:nvSpPr>
        <p:spPr>
          <a:xfrm>
            <a:off x="0" y="10238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8" name="Shape 23"/>
          <p:cNvSpPr/>
          <p:nvPr/>
        </p:nvSpPr>
        <p:spPr>
          <a:xfrm>
            <a:off x="0" y="15361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09" name="Shape 24"/>
          <p:cNvSpPr/>
          <p:nvPr/>
        </p:nvSpPr>
        <p:spPr>
          <a:xfrm>
            <a:off x="0" y="20480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0" name="Shape 25"/>
          <p:cNvSpPr/>
          <p:nvPr/>
        </p:nvSpPr>
        <p:spPr>
          <a:xfrm>
            <a:off x="0" y="25603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1" name="Shape 26"/>
          <p:cNvSpPr/>
          <p:nvPr/>
        </p:nvSpPr>
        <p:spPr>
          <a:xfrm>
            <a:off x="0" y="30722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2" name="Shape 27"/>
          <p:cNvSpPr/>
          <p:nvPr/>
        </p:nvSpPr>
        <p:spPr>
          <a:xfrm>
            <a:off x="0" y="35841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3" name="Shape 28"/>
          <p:cNvSpPr/>
          <p:nvPr/>
        </p:nvSpPr>
        <p:spPr>
          <a:xfrm>
            <a:off x="0" y="40964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4" name="Shape 29"/>
          <p:cNvSpPr/>
          <p:nvPr/>
        </p:nvSpPr>
        <p:spPr>
          <a:xfrm>
            <a:off x="0" y="46083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5" name="Shape 30"/>
          <p:cNvSpPr/>
          <p:nvPr/>
        </p:nvSpPr>
        <p:spPr>
          <a:xfrm>
            <a:off x="0" y="51206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16" name="Shape 31"/>
          <p:cNvSpPr/>
          <p:nvPr/>
        </p:nvSpPr>
        <p:spPr>
          <a:xfrm>
            <a:off x="0" y="0"/>
            <a:ext cx="9143640" cy="914040"/>
          </a:xfrm>
          <a:prstGeom prst="rect">
            <a:avLst/>
          </a:prstGeom>
          <a:solidFill>
            <a:srgbClr val="0d2818"/>
          </a:solidFill>
          <a:ln w="12700">
            <a:solidFill>
              <a:srgbClr val="0d281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17" name="Shape 32"/>
          <p:cNvSpPr/>
          <p:nvPr/>
        </p:nvSpPr>
        <p:spPr>
          <a:xfrm>
            <a:off x="0" y="914400"/>
            <a:ext cx="9143640" cy="54360"/>
          </a:xfrm>
          <a:prstGeom prst="rect">
            <a:avLst/>
          </a:prstGeom>
          <a:solidFill>
            <a:srgbClr val="4ade80"/>
          </a:solidFill>
          <a:ln w="12700">
            <a:solidFill>
              <a:srgbClr val="4ade80"/>
            </a:solidFill>
            <a:round/>
          </a:ln>
        </p:spPr>
        <p:style>
          <a:lnRef idx="0"/>
          <a:fillRef idx="0"/>
          <a:effectRef idx="0"/>
          <a:fontRef idx="minor"/>
        </p:style>
        <p:txBody>
          <a:bodyPr lIns="90000" rIns="90000" tIns="9720" bIns="9720" anchor="t">
            <a:noAutofit/>
          </a:bodyPr>
          <a:p>
            <a:endParaRPr b="0" lang="en-US" sz="1800" spc="-1" strike="noStrike">
              <a:solidFill>
                <a:srgbClr val="000000"/>
              </a:solidFill>
              <a:latin typeface="Arial"/>
            </a:endParaRPr>
          </a:p>
        </p:txBody>
      </p:sp>
      <p:sp>
        <p:nvSpPr>
          <p:cNvPr id="118" name="Text 33"/>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000" spc="-1" strike="noStrike">
                <a:solidFill>
                  <a:srgbClr val="4ade80"/>
                </a:solidFill>
                <a:latin typeface="Calibri"/>
                <a:ea typeface="Calibri"/>
              </a:rPr>
              <a:t>Intrusion Detection System (IDS)</a:t>
            </a:r>
            <a:endParaRPr b="0" lang="en-US" sz="3000" spc="-1" strike="noStrike">
              <a:solidFill>
                <a:srgbClr val="ffffff"/>
              </a:solidFill>
              <a:latin typeface="Arial"/>
            </a:endParaRPr>
          </a:p>
        </p:txBody>
      </p:sp>
      <p:sp>
        <p:nvSpPr>
          <p:cNvPr id="119" name="Shape 34"/>
          <p:cNvSpPr/>
          <p:nvPr/>
        </p:nvSpPr>
        <p:spPr>
          <a:xfrm>
            <a:off x="320040" y="1078920"/>
            <a:ext cx="8503560" cy="914040"/>
          </a:xfrm>
          <a:prstGeom prst="rect">
            <a:avLst/>
          </a:prstGeom>
          <a:solidFill>
            <a:srgbClr val="0f3d20"/>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0" name="Text 35"/>
          <p:cNvSpPr/>
          <p:nvPr/>
        </p:nvSpPr>
        <p:spPr>
          <a:xfrm>
            <a:off x="475560" y="1097280"/>
            <a:ext cx="8229240" cy="8593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4ade80"/>
                </a:solidFill>
                <a:latin typeface="Calibri"/>
                <a:ea typeface="Calibri"/>
              </a:rPr>
              <a:t>IDS </a:t>
            </a:r>
            <a:r>
              <a:rPr b="0" lang="en-US" sz="1200" spc="-1" strike="noStrike">
                <a:solidFill>
                  <a:srgbClr val="f0fdf4"/>
                </a:solidFill>
                <a:latin typeface="Calibri"/>
                <a:ea typeface="Calibri"/>
              </a:rPr>
              <a:t>is a device or application that monitors network traffic, detects unusual activity, and reports to an administrator. It </a:t>
            </a:r>
            <a:r>
              <a:rPr b="1" lang="en-US" sz="1200" spc="-1" strike="noStrike">
                <a:solidFill>
                  <a:srgbClr val="f87171"/>
                </a:solidFill>
                <a:latin typeface="Calibri"/>
                <a:ea typeface="Calibri"/>
              </a:rPr>
              <a:t>cannot take preventive action</a:t>
            </a:r>
            <a:r>
              <a:rPr b="0" lang="en-US" sz="1200" spc="-1" strike="noStrike">
                <a:solidFill>
                  <a:srgbClr val="f0fdf4"/>
                </a:solidFill>
                <a:latin typeface="Calibri"/>
                <a:ea typeface="Calibri"/>
              </a:rPr>
              <a:t> — only monitor and alert. It protects the confidentiality, integrity, and availability of data against internet attacks.</a:t>
            </a:r>
            <a:endParaRPr b="0" lang="en-US" sz="1200" spc="-1" strike="noStrike">
              <a:solidFill>
                <a:srgbClr val="ffffff"/>
              </a:solidFill>
              <a:latin typeface="Arial"/>
            </a:endParaRPr>
          </a:p>
        </p:txBody>
      </p:sp>
      <p:sp>
        <p:nvSpPr>
          <p:cNvPr id="121" name="Shape 36"/>
          <p:cNvSpPr/>
          <p:nvPr/>
        </p:nvSpPr>
        <p:spPr>
          <a:xfrm>
            <a:off x="320040" y="2148840"/>
            <a:ext cx="2761200" cy="1481040"/>
          </a:xfrm>
          <a:prstGeom prst="rect">
            <a:avLst/>
          </a:prstGeom>
          <a:solidFill>
            <a:srgbClr val="111b17"/>
          </a:solidFill>
          <a:ln w="22860">
            <a:solidFill>
              <a:srgbClr val="16a34a"/>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2" name="Shape 37"/>
          <p:cNvSpPr/>
          <p:nvPr/>
        </p:nvSpPr>
        <p:spPr>
          <a:xfrm>
            <a:off x="1417320" y="2030040"/>
            <a:ext cx="529920" cy="529920"/>
          </a:xfrm>
          <a:prstGeom prst="ellipse">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3" name="Text 38"/>
          <p:cNvSpPr/>
          <p:nvPr/>
        </p:nvSpPr>
        <p:spPr>
          <a:xfrm>
            <a:off x="1417320" y="2030040"/>
            <a:ext cx="529920" cy="529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ffffff"/>
              </a:solidFill>
              <a:latin typeface="Arial"/>
            </a:endParaRPr>
          </a:p>
        </p:txBody>
      </p:sp>
      <p:sp>
        <p:nvSpPr>
          <p:cNvPr id="124" name="Text 39"/>
          <p:cNvSpPr/>
          <p:nvPr/>
        </p:nvSpPr>
        <p:spPr>
          <a:xfrm>
            <a:off x="411480" y="2651760"/>
            <a:ext cx="257832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4ade80"/>
                </a:solidFill>
                <a:latin typeface="Calibri"/>
                <a:ea typeface="Calibri"/>
              </a:rPr>
              <a:t>Scanning Attacks</a:t>
            </a:r>
            <a:endParaRPr b="0" lang="en-US" sz="1250" spc="-1" strike="noStrike">
              <a:solidFill>
                <a:srgbClr val="ffffff"/>
              </a:solidFill>
              <a:latin typeface="Arial"/>
            </a:endParaRPr>
          </a:p>
        </p:txBody>
      </p:sp>
      <p:sp>
        <p:nvSpPr>
          <p:cNvPr id="125" name="Text 40"/>
          <p:cNvSpPr/>
          <p:nvPr/>
        </p:nvSpPr>
        <p:spPr>
          <a:xfrm>
            <a:off x="429840" y="2999160"/>
            <a:ext cx="254160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bbf7d0"/>
                </a:solidFill>
                <a:latin typeface="Calibri"/>
                <a:ea typeface="Calibri"/>
              </a:rPr>
              <a:t>Probing the network to map hosts, open ports, and services — reconnaissance before a full attack.</a:t>
            </a:r>
            <a:endParaRPr b="0" lang="en-US" sz="1000" spc="-1" strike="noStrike">
              <a:solidFill>
                <a:srgbClr val="ffffff"/>
              </a:solidFill>
              <a:latin typeface="Arial"/>
            </a:endParaRPr>
          </a:p>
        </p:txBody>
      </p:sp>
      <p:sp>
        <p:nvSpPr>
          <p:cNvPr id="126" name="Shape 41"/>
          <p:cNvSpPr/>
          <p:nvPr/>
        </p:nvSpPr>
        <p:spPr>
          <a:xfrm>
            <a:off x="3227760" y="2148840"/>
            <a:ext cx="2761200" cy="1481040"/>
          </a:xfrm>
          <a:prstGeom prst="rect">
            <a:avLst/>
          </a:prstGeom>
          <a:solidFill>
            <a:srgbClr val="111b17"/>
          </a:solidFill>
          <a:ln w="22860">
            <a:solidFill>
              <a:srgbClr val="dc262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7" name="Shape 42"/>
          <p:cNvSpPr/>
          <p:nvPr/>
        </p:nvSpPr>
        <p:spPr>
          <a:xfrm>
            <a:off x="4325040" y="2030040"/>
            <a:ext cx="529920" cy="529920"/>
          </a:xfrm>
          <a:prstGeom prst="ellipse">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28" name="Text 43"/>
          <p:cNvSpPr/>
          <p:nvPr/>
        </p:nvSpPr>
        <p:spPr>
          <a:xfrm>
            <a:off x="4325040" y="2030040"/>
            <a:ext cx="529920" cy="529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ffffff"/>
              </a:solidFill>
              <a:latin typeface="Arial"/>
            </a:endParaRPr>
          </a:p>
        </p:txBody>
      </p:sp>
      <p:sp>
        <p:nvSpPr>
          <p:cNvPr id="129" name="Text 44"/>
          <p:cNvSpPr/>
          <p:nvPr/>
        </p:nvSpPr>
        <p:spPr>
          <a:xfrm>
            <a:off x="3319200" y="2651760"/>
            <a:ext cx="257832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f87171"/>
                </a:solidFill>
                <a:latin typeface="Calibri"/>
                <a:ea typeface="Calibri"/>
              </a:rPr>
              <a:t>Denial of Service (DoS)</a:t>
            </a:r>
            <a:endParaRPr b="0" lang="en-US" sz="1250" spc="-1" strike="noStrike">
              <a:solidFill>
                <a:srgbClr val="ffffff"/>
              </a:solidFill>
              <a:latin typeface="Arial"/>
            </a:endParaRPr>
          </a:p>
        </p:txBody>
      </p:sp>
      <p:sp>
        <p:nvSpPr>
          <p:cNvPr id="130" name="Text 45"/>
          <p:cNvSpPr/>
          <p:nvPr/>
        </p:nvSpPr>
        <p:spPr>
          <a:xfrm>
            <a:off x="3337560" y="2999160"/>
            <a:ext cx="254160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bbf7d0"/>
                </a:solidFill>
                <a:latin typeface="Calibri"/>
                <a:ea typeface="Calibri"/>
              </a:rPr>
              <a:t>Flooding the target with traffic to exhaust resources, crashing services and denying legitimate access.</a:t>
            </a:r>
            <a:endParaRPr b="0" lang="en-US" sz="1000" spc="-1" strike="noStrike">
              <a:solidFill>
                <a:srgbClr val="ffffff"/>
              </a:solidFill>
              <a:latin typeface="Arial"/>
            </a:endParaRPr>
          </a:p>
        </p:txBody>
      </p:sp>
      <p:sp>
        <p:nvSpPr>
          <p:cNvPr id="131" name="Shape 46"/>
          <p:cNvSpPr/>
          <p:nvPr/>
        </p:nvSpPr>
        <p:spPr>
          <a:xfrm>
            <a:off x="6135480" y="2148840"/>
            <a:ext cx="2761200" cy="1481040"/>
          </a:xfrm>
          <a:prstGeom prst="rect">
            <a:avLst/>
          </a:prstGeom>
          <a:solidFill>
            <a:srgbClr val="111b17"/>
          </a:solidFill>
          <a:ln w="2286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2" name="Shape 47"/>
          <p:cNvSpPr/>
          <p:nvPr/>
        </p:nvSpPr>
        <p:spPr>
          <a:xfrm>
            <a:off x="7232760" y="2030040"/>
            <a:ext cx="529920" cy="529920"/>
          </a:xfrm>
          <a:prstGeom prst="ellipse">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3" name="Text 48"/>
          <p:cNvSpPr/>
          <p:nvPr/>
        </p:nvSpPr>
        <p:spPr>
          <a:xfrm>
            <a:off x="7232760" y="2030040"/>
            <a:ext cx="529920" cy="5299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ffffff"/>
              </a:solidFill>
              <a:latin typeface="Arial"/>
            </a:endParaRPr>
          </a:p>
        </p:txBody>
      </p:sp>
      <p:sp>
        <p:nvSpPr>
          <p:cNvPr id="134" name="Text 49"/>
          <p:cNvSpPr/>
          <p:nvPr/>
        </p:nvSpPr>
        <p:spPr>
          <a:xfrm>
            <a:off x="6226920" y="2651760"/>
            <a:ext cx="257832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50" spc="-1" strike="noStrike">
                <a:solidFill>
                  <a:srgbClr val="fcd34d"/>
                </a:solidFill>
                <a:latin typeface="Calibri"/>
                <a:ea typeface="Calibri"/>
              </a:rPr>
              <a:t>Penetration Attacks</a:t>
            </a:r>
            <a:endParaRPr b="0" lang="en-US" sz="1250" spc="-1" strike="noStrike">
              <a:solidFill>
                <a:srgbClr val="ffffff"/>
              </a:solidFill>
              <a:latin typeface="Arial"/>
            </a:endParaRPr>
          </a:p>
        </p:txBody>
      </p:sp>
      <p:sp>
        <p:nvSpPr>
          <p:cNvPr id="135" name="Text 50"/>
          <p:cNvSpPr/>
          <p:nvPr/>
        </p:nvSpPr>
        <p:spPr>
          <a:xfrm>
            <a:off x="6245280" y="2999160"/>
            <a:ext cx="254160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00" spc="-1" strike="noStrike">
                <a:solidFill>
                  <a:srgbClr val="bbf7d0"/>
                </a:solidFill>
                <a:latin typeface="Calibri"/>
                <a:ea typeface="Calibri"/>
              </a:rPr>
              <a:t>Exploiting vulnerabilities to gain unauthorised access to systems, steal data or escalate privileges.</a:t>
            </a:r>
            <a:endParaRPr b="0" lang="en-US" sz="1000" spc="-1" strike="noStrike">
              <a:solidFill>
                <a:srgbClr val="ffffff"/>
              </a:solidFill>
              <a:latin typeface="Arial"/>
            </a:endParaRPr>
          </a:p>
        </p:txBody>
      </p:sp>
      <p:sp>
        <p:nvSpPr>
          <p:cNvPr id="136" name="Shape 51"/>
          <p:cNvSpPr/>
          <p:nvPr/>
        </p:nvSpPr>
        <p:spPr>
          <a:xfrm>
            <a:off x="320040" y="3767400"/>
            <a:ext cx="8503560" cy="456840"/>
          </a:xfrm>
          <a:prstGeom prst="rect">
            <a:avLst/>
          </a:prstGeom>
          <a:solidFill>
            <a:srgbClr val="0f3d20"/>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7" name="Text 52"/>
          <p:cNvSpPr/>
          <p:nvPr/>
        </p:nvSpPr>
        <p:spPr>
          <a:xfrm>
            <a:off x="457200" y="3785760"/>
            <a:ext cx="137124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4ade80"/>
                </a:solidFill>
                <a:latin typeface="Calibri"/>
                <a:ea typeface="Calibri"/>
              </a:rPr>
              <a:t>IDS Protects:</a:t>
            </a:r>
            <a:endParaRPr b="0" lang="en-US" sz="1200" spc="-1" strike="noStrike">
              <a:solidFill>
                <a:srgbClr val="ffffff"/>
              </a:solidFill>
              <a:latin typeface="Arial"/>
            </a:endParaRPr>
          </a:p>
        </p:txBody>
      </p:sp>
      <p:sp>
        <p:nvSpPr>
          <p:cNvPr id="138" name="Shape 53"/>
          <p:cNvSpPr/>
          <p:nvPr/>
        </p:nvSpPr>
        <p:spPr>
          <a:xfrm>
            <a:off x="1920240" y="3822120"/>
            <a:ext cx="2057040" cy="32868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39" name="Text 54"/>
          <p:cNvSpPr/>
          <p:nvPr/>
        </p:nvSpPr>
        <p:spPr>
          <a:xfrm>
            <a:off x="1920240" y="3822120"/>
            <a:ext cx="205704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ea typeface="Calibri"/>
              </a:rPr>
              <a:t>Confidentiality</a:t>
            </a:r>
            <a:endParaRPr b="0" lang="en-US" sz="1100" spc="-1" strike="noStrike">
              <a:solidFill>
                <a:srgbClr val="ffffff"/>
              </a:solidFill>
              <a:latin typeface="Arial"/>
            </a:endParaRPr>
          </a:p>
        </p:txBody>
      </p:sp>
      <p:sp>
        <p:nvSpPr>
          <p:cNvPr id="140" name="Shape 55"/>
          <p:cNvSpPr/>
          <p:nvPr/>
        </p:nvSpPr>
        <p:spPr>
          <a:xfrm>
            <a:off x="4206240" y="3822120"/>
            <a:ext cx="2057040" cy="32868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1" name="Text 56"/>
          <p:cNvSpPr/>
          <p:nvPr/>
        </p:nvSpPr>
        <p:spPr>
          <a:xfrm>
            <a:off x="4206240" y="3822120"/>
            <a:ext cx="205704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ea typeface="Calibri"/>
              </a:rPr>
              <a:t>Integrity</a:t>
            </a:r>
            <a:endParaRPr b="0" lang="en-US" sz="1100" spc="-1" strike="noStrike">
              <a:solidFill>
                <a:srgbClr val="ffffff"/>
              </a:solidFill>
              <a:latin typeface="Arial"/>
            </a:endParaRPr>
          </a:p>
        </p:txBody>
      </p:sp>
      <p:sp>
        <p:nvSpPr>
          <p:cNvPr id="142" name="Shape 57"/>
          <p:cNvSpPr/>
          <p:nvPr/>
        </p:nvSpPr>
        <p:spPr>
          <a:xfrm>
            <a:off x="6492240" y="3822120"/>
            <a:ext cx="2057040" cy="32868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3" name="Text 58"/>
          <p:cNvSpPr/>
          <p:nvPr/>
        </p:nvSpPr>
        <p:spPr>
          <a:xfrm>
            <a:off x="6492240" y="3822120"/>
            <a:ext cx="205704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ea typeface="Calibri"/>
              </a:rPr>
              <a:t>Availability</a:t>
            </a:r>
            <a:endParaRPr b="0" lang="en-US" sz="1100" spc="-1" strike="noStrike">
              <a:solidFill>
                <a:srgbClr val="ffffff"/>
              </a:solidFill>
              <a:latin typeface="Arial"/>
            </a:endParaRPr>
          </a:p>
        </p:txBody>
      </p:sp>
      <p:sp>
        <p:nvSpPr>
          <p:cNvPr id="144" name="Shape 59"/>
          <p:cNvSpPr/>
          <p:nvPr/>
        </p:nvSpPr>
        <p:spPr>
          <a:xfrm>
            <a:off x="320040" y="4352400"/>
            <a:ext cx="8503560" cy="566640"/>
          </a:xfrm>
          <a:prstGeom prst="rect">
            <a:avLst/>
          </a:prstGeom>
          <a:solidFill>
            <a:srgbClr val="111b17"/>
          </a:solidFill>
          <a:ln w="12700">
            <a:solidFill>
              <a:srgbClr val="1a2e22"/>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5" name="Text 60"/>
          <p:cNvSpPr/>
          <p:nvPr/>
        </p:nvSpPr>
        <p:spPr>
          <a:xfrm>
            <a:off x="457200" y="4370760"/>
            <a:ext cx="8229240" cy="5299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100" spc="-1" strike="noStrike">
                <a:solidFill>
                  <a:srgbClr val="f87171"/>
                </a:solidFill>
                <a:latin typeface="Calibri"/>
                <a:ea typeface="Calibri"/>
              </a:rPr>
              <a:t>⚠  </a:t>
            </a:r>
            <a:r>
              <a:rPr b="1" lang="en-US" sz="1100" spc="-1" strike="noStrike">
                <a:solidFill>
                  <a:srgbClr val="f87171"/>
                </a:solidFill>
                <a:latin typeface="Calibri"/>
                <a:ea typeface="Calibri"/>
              </a:rPr>
              <a:t>Note: </a:t>
            </a:r>
            <a:r>
              <a:rPr b="0" lang="en-US" sz="1100" spc="-1" strike="noStrike">
                <a:solidFill>
                  <a:srgbClr val="bbf7d0"/>
                </a:solidFill>
                <a:latin typeface="Calibri"/>
                <a:ea typeface="Calibri"/>
              </a:rPr>
              <a:t>As networks expand dynamically, the risks of malicious intrusions also increase — making IDS a continuously evolving necessity.</a:t>
            </a:r>
            <a:endParaRPr b="0" lang="en-US" sz="11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ff4"/>
        </a:solidFill>
      </p:bgPr>
    </p:bg>
    <p:spTree>
      <p:nvGrpSpPr>
        <p:cNvPr id="1" name=""/>
        <p:cNvGrpSpPr/>
        <p:nvPr/>
      </p:nvGrpSpPr>
      <p:grpSpPr>
        <a:xfrm>
          <a:off x="0" y="0"/>
          <a:ext cx="0" cy="0"/>
          <a:chOff x="0" y="0"/>
          <a:chExt cx="0" cy="0"/>
        </a:xfrm>
      </p:grpSpPr>
      <p:sp>
        <p:nvSpPr>
          <p:cNvPr id="146" name="Shape 0"/>
          <p:cNvSpPr/>
          <p:nvPr/>
        </p:nvSpPr>
        <p:spPr>
          <a:xfrm>
            <a:off x="0" y="0"/>
            <a:ext cx="9143640" cy="959760"/>
          </a:xfrm>
          <a:prstGeom prst="rect">
            <a:avLst/>
          </a:prstGeom>
          <a:solidFill>
            <a:srgbClr val="0a0f0d"/>
          </a:solidFill>
          <a:ln w="12700">
            <a:solidFill>
              <a:srgbClr val="0a0f0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47" name="Shape 1"/>
          <p:cNvSpPr/>
          <p:nvPr/>
        </p:nvSpPr>
        <p:spPr>
          <a:xfrm>
            <a:off x="0" y="960120"/>
            <a:ext cx="9143640" cy="63720"/>
          </a:xfrm>
          <a:prstGeom prst="rect">
            <a:avLst/>
          </a:prstGeom>
          <a:solidFill>
            <a:srgbClr val="f87171"/>
          </a:solidFill>
          <a:ln w="12700">
            <a:solidFill>
              <a:srgbClr val="f87171"/>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148"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600" spc="-1" strike="noStrike">
                <a:solidFill>
                  <a:srgbClr val="f87171"/>
                </a:solidFill>
                <a:latin typeface="Calibri"/>
                <a:ea typeface="Calibri"/>
              </a:rPr>
              <a:t>Intrusion Prevention System (IPS) &amp; Detection Methods</a:t>
            </a:r>
            <a:endParaRPr b="0" lang="en-US" sz="2600" spc="-1" strike="noStrike">
              <a:solidFill>
                <a:srgbClr val="000000"/>
              </a:solidFill>
              <a:latin typeface="Arial"/>
            </a:endParaRPr>
          </a:p>
        </p:txBody>
      </p:sp>
      <p:sp>
        <p:nvSpPr>
          <p:cNvPr id="149" name="Shape 3"/>
          <p:cNvSpPr/>
          <p:nvPr/>
        </p:nvSpPr>
        <p:spPr>
          <a:xfrm>
            <a:off x="365760" y="1170360"/>
            <a:ext cx="8412120" cy="749520"/>
          </a:xfrm>
          <a:prstGeom prst="rect">
            <a:avLst/>
          </a:prstGeom>
          <a:solidFill>
            <a:srgbClr val="111b17"/>
          </a:solidFill>
          <a:ln w="19050">
            <a:solidFill>
              <a:srgbClr val="f87171"/>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0" name="Text 4"/>
          <p:cNvSpPr/>
          <p:nvPr/>
        </p:nvSpPr>
        <p:spPr>
          <a:xfrm>
            <a:off x="511920" y="1188720"/>
            <a:ext cx="8137800" cy="7128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00" spc="-1" strike="noStrike">
                <a:solidFill>
                  <a:srgbClr val="f87171"/>
                </a:solidFill>
                <a:latin typeface="Calibri"/>
                <a:ea typeface="Calibri"/>
              </a:rPr>
              <a:t>IPS </a:t>
            </a:r>
            <a:r>
              <a:rPr b="0" lang="en-US" sz="1200" spc="-1" strike="noStrike">
                <a:solidFill>
                  <a:srgbClr val="f0fdf4"/>
                </a:solidFill>
                <a:latin typeface="Calibri"/>
                <a:ea typeface="Calibri"/>
              </a:rPr>
              <a:t>extends IDS by </a:t>
            </a:r>
            <a:r>
              <a:rPr b="1" lang="en-US" sz="1200" spc="-1" strike="noStrike">
                <a:solidFill>
                  <a:srgbClr val="4ade80"/>
                </a:solidFill>
                <a:latin typeface="Calibri"/>
                <a:ea typeface="Calibri"/>
              </a:rPr>
              <a:t>actively taking action</a:t>
            </a:r>
            <a:r>
              <a:rPr b="0" lang="en-US" sz="1200" spc="-1" strike="noStrike">
                <a:solidFill>
                  <a:srgbClr val="f0fdf4"/>
                </a:solidFill>
                <a:latin typeface="Calibri"/>
                <a:ea typeface="Calibri"/>
              </a:rPr>
              <a:t> against suspicious activity — closing access points, modifying firewall rules, blocking IPs, and deactivating compromised accounts. It shields the system from viruses, threats, and unauthorised access.</a:t>
            </a:r>
            <a:endParaRPr b="0" lang="en-US" sz="1200" spc="-1" strike="noStrike">
              <a:solidFill>
                <a:srgbClr val="000000"/>
              </a:solidFill>
              <a:latin typeface="Arial"/>
            </a:endParaRPr>
          </a:p>
        </p:txBody>
      </p:sp>
      <p:sp>
        <p:nvSpPr>
          <p:cNvPr id="151" name="Shape 5"/>
          <p:cNvSpPr/>
          <p:nvPr/>
        </p:nvSpPr>
        <p:spPr>
          <a:xfrm>
            <a:off x="365760" y="2048400"/>
            <a:ext cx="4224240" cy="42012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2" name="Text 6"/>
          <p:cNvSpPr/>
          <p:nvPr/>
        </p:nvSpPr>
        <p:spPr>
          <a:xfrm>
            <a:off x="457200" y="2048400"/>
            <a:ext cx="402300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a0f0d"/>
                </a:solidFill>
                <a:latin typeface="Calibri"/>
                <a:ea typeface="Calibri"/>
              </a:rPr>
              <a:t>👁️  </a:t>
            </a:r>
            <a:r>
              <a:rPr b="1" lang="en-US" sz="1350" spc="-1" strike="noStrike">
                <a:solidFill>
                  <a:srgbClr val="0a0f0d"/>
                </a:solidFill>
                <a:latin typeface="Calibri"/>
                <a:ea typeface="Calibri"/>
              </a:rPr>
              <a:t>IDS — Monitors &amp; Alerts</a:t>
            </a:r>
            <a:endParaRPr b="0" lang="en-US" sz="1350" spc="-1" strike="noStrike">
              <a:solidFill>
                <a:srgbClr val="000000"/>
              </a:solidFill>
              <a:latin typeface="Arial"/>
            </a:endParaRPr>
          </a:p>
        </p:txBody>
      </p:sp>
      <p:sp>
        <p:nvSpPr>
          <p:cNvPr id="153" name="Shape 7"/>
          <p:cNvSpPr/>
          <p:nvPr/>
        </p:nvSpPr>
        <p:spPr>
          <a:xfrm>
            <a:off x="365760" y="2468880"/>
            <a:ext cx="4224240" cy="639720"/>
          </a:xfrm>
          <a:prstGeom prst="rect">
            <a:avLst/>
          </a:prstGeom>
          <a:solidFill>
            <a:srgbClr val="111b17"/>
          </a:solidFill>
          <a:ln w="1016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4" name="Text 8"/>
          <p:cNvSpPr/>
          <p:nvPr/>
        </p:nvSpPr>
        <p:spPr>
          <a:xfrm>
            <a:off x="493920" y="2505600"/>
            <a:ext cx="400464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bf7d0"/>
                </a:solidFill>
                <a:latin typeface="Calibri"/>
                <a:ea typeface="Calibri"/>
              </a:rPr>
              <a:t>✔  </a:t>
            </a:r>
            <a:r>
              <a:rPr b="0" lang="en-US" sz="1050" spc="-1" strike="noStrike">
                <a:solidFill>
                  <a:srgbClr val="bbf7d0"/>
                </a:solidFill>
                <a:latin typeface="Calibri"/>
                <a:ea typeface="Calibri"/>
              </a:rPr>
              <a:t>Cannot act on threats</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bbf7d0"/>
                </a:solidFill>
                <a:latin typeface="Calibri"/>
                <a:ea typeface="Calibri"/>
              </a:rPr>
              <a:t>✔  </a:t>
            </a:r>
            <a:r>
              <a:rPr b="0" lang="en-US" sz="1050" spc="-1" strike="noStrike">
                <a:solidFill>
                  <a:srgbClr val="bbf7d0"/>
                </a:solidFill>
                <a:latin typeface="Calibri"/>
                <a:ea typeface="Calibri"/>
              </a:rPr>
              <a:t>Sends alert to admin when anomaly detected</a:t>
            </a:r>
            <a:endParaRPr b="0" lang="en-US" sz="1050" spc="-1" strike="noStrike">
              <a:solidFill>
                <a:srgbClr val="000000"/>
              </a:solidFill>
              <a:latin typeface="Arial"/>
            </a:endParaRPr>
          </a:p>
        </p:txBody>
      </p:sp>
      <p:sp>
        <p:nvSpPr>
          <p:cNvPr id="155" name="Shape 9"/>
          <p:cNvSpPr/>
          <p:nvPr/>
        </p:nvSpPr>
        <p:spPr>
          <a:xfrm>
            <a:off x="4773240" y="2048400"/>
            <a:ext cx="4224240" cy="42012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6" name="Text 10"/>
          <p:cNvSpPr/>
          <p:nvPr/>
        </p:nvSpPr>
        <p:spPr>
          <a:xfrm>
            <a:off x="4864680" y="2048400"/>
            <a:ext cx="4023000" cy="4201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50" spc="-1" strike="noStrike">
                <a:solidFill>
                  <a:srgbClr val="0a0f0d"/>
                </a:solidFill>
                <a:latin typeface="Calibri"/>
                <a:ea typeface="Calibri"/>
              </a:rPr>
              <a:t>🛡️  </a:t>
            </a:r>
            <a:r>
              <a:rPr b="1" lang="en-US" sz="1350" spc="-1" strike="noStrike">
                <a:solidFill>
                  <a:srgbClr val="0a0f0d"/>
                </a:solidFill>
                <a:latin typeface="Calibri"/>
                <a:ea typeface="Calibri"/>
              </a:rPr>
              <a:t>IPS — Detects &amp; Acts</a:t>
            </a:r>
            <a:endParaRPr b="0" lang="en-US" sz="1350" spc="-1" strike="noStrike">
              <a:solidFill>
                <a:srgbClr val="000000"/>
              </a:solidFill>
              <a:latin typeface="Arial"/>
            </a:endParaRPr>
          </a:p>
        </p:txBody>
      </p:sp>
      <p:sp>
        <p:nvSpPr>
          <p:cNvPr id="157" name="Shape 11"/>
          <p:cNvSpPr/>
          <p:nvPr/>
        </p:nvSpPr>
        <p:spPr>
          <a:xfrm>
            <a:off x="4773240" y="2468880"/>
            <a:ext cx="4224240" cy="639720"/>
          </a:xfrm>
          <a:prstGeom prst="rect">
            <a:avLst/>
          </a:prstGeom>
          <a:solidFill>
            <a:srgbClr val="111b17"/>
          </a:solidFill>
          <a:ln w="1016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58" name="Text 12"/>
          <p:cNvSpPr/>
          <p:nvPr/>
        </p:nvSpPr>
        <p:spPr>
          <a:xfrm>
            <a:off x="4901040" y="2505600"/>
            <a:ext cx="4004640" cy="566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050" spc="-1" strike="noStrike">
                <a:solidFill>
                  <a:srgbClr val="bbf7d0"/>
                </a:solidFill>
                <a:latin typeface="Calibri"/>
                <a:ea typeface="Calibri"/>
              </a:rPr>
              <a:t>✔  </a:t>
            </a:r>
            <a:r>
              <a:rPr b="0" lang="en-US" sz="1050" spc="-1" strike="noStrike">
                <a:solidFill>
                  <a:srgbClr val="bbf7d0"/>
                </a:solidFill>
                <a:latin typeface="Calibri"/>
                <a:ea typeface="Calibri"/>
              </a:rPr>
              <a:t>Blocks threats in real-time</a:t>
            </a:r>
            <a:endParaRPr b="0" lang="en-US" sz="1050" spc="-1" strike="noStrike">
              <a:solidFill>
                <a:srgbClr val="000000"/>
              </a:solidFill>
              <a:latin typeface="Arial"/>
            </a:endParaRPr>
          </a:p>
          <a:p>
            <a:pPr defTabSz="914400">
              <a:lnSpc>
                <a:spcPct val="100000"/>
              </a:lnSpc>
              <a:tabLst>
                <a:tab algn="l" pos="0"/>
              </a:tabLst>
            </a:pPr>
            <a:r>
              <a:rPr b="0" lang="en-US" sz="1050" spc="-1" strike="noStrike">
                <a:solidFill>
                  <a:srgbClr val="bbf7d0"/>
                </a:solidFill>
                <a:latin typeface="Calibri"/>
                <a:ea typeface="Calibri"/>
              </a:rPr>
              <a:t>✔  </a:t>
            </a:r>
            <a:r>
              <a:rPr b="0" lang="en-US" sz="1050" spc="-1" strike="noStrike">
                <a:solidFill>
                  <a:srgbClr val="bbf7d0"/>
                </a:solidFill>
                <a:latin typeface="Calibri"/>
                <a:ea typeface="Calibri"/>
              </a:rPr>
              <a:t>Closes access point, blocks IP, modifies firewall</a:t>
            </a:r>
            <a:endParaRPr b="0" lang="en-US" sz="1050" spc="-1" strike="noStrike">
              <a:solidFill>
                <a:srgbClr val="000000"/>
              </a:solidFill>
              <a:latin typeface="Arial"/>
            </a:endParaRPr>
          </a:p>
        </p:txBody>
      </p:sp>
      <p:sp>
        <p:nvSpPr>
          <p:cNvPr id="159" name="Shape 13"/>
          <p:cNvSpPr/>
          <p:nvPr/>
        </p:nvSpPr>
        <p:spPr>
          <a:xfrm>
            <a:off x="365760" y="3246120"/>
            <a:ext cx="4224240" cy="1718640"/>
          </a:xfrm>
          <a:prstGeom prst="rect">
            <a:avLst/>
          </a:prstGeom>
          <a:solidFill>
            <a:srgbClr val="111b17"/>
          </a:solidFill>
          <a:ln w="22860">
            <a:solidFill>
              <a:srgbClr val="16a34a"/>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0" name="Shape 14"/>
          <p:cNvSpPr/>
          <p:nvPr/>
        </p:nvSpPr>
        <p:spPr>
          <a:xfrm>
            <a:off x="365760" y="3246120"/>
            <a:ext cx="4224240" cy="43848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1" name="Text 15"/>
          <p:cNvSpPr/>
          <p:nvPr/>
        </p:nvSpPr>
        <p:spPr>
          <a:xfrm>
            <a:off x="457200" y="3246120"/>
            <a:ext cx="402300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0a0f0d"/>
                </a:solidFill>
                <a:latin typeface="Calibri"/>
                <a:ea typeface="Calibri"/>
              </a:rPr>
              <a:t>📋  </a:t>
            </a:r>
            <a:r>
              <a:rPr b="1" lang="en-US" sz="1250" spc="-1" strike="noStrike">
                <a:solidFill>
                  <a:srgbClr val="0a0f0d"/>
                </a:solidFill>
                <a:latin typeface="Calibri"/>
                <a:ea typeface="Calibri"/>
              </a:rPr>
              <a:t>01  Signature-Based Detection</a:t>
            </a:r>
            <a:endParaRPr b="0" lang="en-US" sz="1250" spc="-1" strike="noStrike">
              <a:solidFill>
                <a:srgbClr val="000000"/>
              </a:solidFill>
              <a:latin typeface="Arial"/>
            </a:endParaRPr>
          </a:p>
        </p:txBody>
      </p:sp>
      <p:sp>
        <p:nvSpPr>
          <p:cNvPr id="162" name="Text 16"/>
          <p:cNvSpPr/>
          <p:nvPr/>
        </p:nvSpPr>
        <p:spPr>
          <a:xfrm>
            <a:off x="475560" y="3721680"/>
            <a:ext cx="4004640" cy="529920"/>
          </a:xfrm>
          <a:prstGeom prst="rect">
            <a:avLst/>
          </a:prstGeom>
          <a:noFill/>
          <a:ln w="0">
            <a:noFill/>
          </a:ln>
        </p:spPr>
        <p:style>
          <a:lnRef idx="0"/>
          <a:fillRef idx="0"/>
          <a:effectRef idx="0"/>
          <a:fontRef idx="minor"/>
        </p:style>
        <p:txBody>
          <a:bodyPr lIns="90000" rIns="90000" tIns="45000" bIns="45000" anchor="ctr">
            <a:noAutofit/>
          </a:bodyPr>
          <a:p>
            <a:r>
              <a:rPr b="1" lang="en-US" sz="1000" spc="-1" strike="noStrike">
                <a:solidFill>
                  <a:srgbClr val="4ade80"/>
                </a:solidFill>
                <a:latin typeface="Calibri"/>
                <a:ea typeface="Calibri"/>
              </a:rPr>
              <a:t>How: </a:t>
            </a:r>
            <a:r>
              <a:rPr b="0" lang="en-US" sz="1000" spc="-1" strike="noStrike">
                <a:solidFill>
                  <a:srgbClr val="bbf7d0"/>
                </a:solidFill>
                <a:latin typeface="Calibri"/>
                <a:ea typeface="Calibri"/>
              </a:rPr>
              <a:t>Maintains a library of known attack signatures. Compares network packets against the database — if a match is found, the system detects and blocks the intrusion.</a:t>
            </a:r>
            <a:endParaRPr b="0" lang="en-US" sz="1000" spc="-1" strike="noStrike">
              <a:solidFill>
                <a:srgbClr val="000000"/>
              </a:solidFill>
              <a:latin typeface="Arial"/>
            </a:endParaRPr>
          </a:p>
          <a:p>
            <a:pPr defTabSz="914400">
              <a:lnSpc>
                <a:spcPct val="100000"/>
              </a:lnSpc>
              <a:tabLst>
                <a:tab algn="l" pos="0"/>
              </a:tabLst>
            </a:pPr>
            <a:endParaRPr b="0" lang="en-US" sz="1000" spc="-1" strike="noStrike">
              <a:solidFill>
                <a:srgbClr val="000000"/>
              </a:solidFill>
              <a:latin typeface="Arial"/>
            </a:endParaRPr>
          </a:p>
        </p:txBody>
      </p:sp>
      <p:sp>
        <p:nvSpPr>
          <p:cNvPr id="163" name="Text 17"/>
          <p:cNvSpPr/>
          <p:nvPr/>
        </p:nvSpPr>
        <p:spPr>
          <a:xfrm>
            <a:off x="475560" y="4288680"/>
            <a:ext cx="40046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4ade80"/>
                </a:solidFill>
                <a:latin typeface="Calibri"/>
                <a:ea typeface="Calibri"/>
              </a:rPr>
              <a:t>✔ </a:t>
            </a:r>
            <a:r>
              <a:rPr b="0" lang="en-US" sz="950" spc="-1" strike="noStrike">
                <a:solidFill>
                  <a:srgbClr val="bbf7d0"/>
                </a:solidFill>
                <a:latin typeface="Calibri"/>
                <a:ea typeface="Calibri"/>
              </a:rPr>
              <a:t>Highly accurate for known attacks — low false positive rate.   </a:t>
            </a:r>
            <a:r>
              <a:rPr b="0" lang="en-US" sz="950" spc="-1" strike="noStrike">
                <a:solidFill>
                  <a:srgbClr val="f87171"/>
                </a:solidFill>
                <a:latin typeface="Calibri"/>
                <a:ea typeface="Calibri"/>
              </a:rPr>
              <a:t>✘ </a:t>
            </a:r>
            <a:r>
              <a:rPr b="0" lang="en-US" sz="950" spc="-1" strike="noStrike">
                <a:solidFill>
                  <a:srgbClr val="bbf7d0"/>
                </a:solidFill>
                <a:latin typeface="Calibri"/>
                <a:ea typeface="Calibri"/>
              </a:rPr>
              <a:t>Cannot identify new or unknown (zero-day) attacks. Requires regular signature updates.</a:t>
            </a:r>
            <a:endParaRPr b="0" lang="en-US" sz="950" spc="-1" strike="noStrike">
              <a:solidFill>
                <a:srgbClr val="000000"/>
              </a:solidFill>
              <a:latin typeface="Arial"/>
            </a:endParaRPr>
          </a:p>
        </p:txBody>
      </p:sp>
      <p:sp>
        <p:nvSpPr>
          <p:cNvPr id="164" name="Shape 18"/>
          <p:cNvSpPr/>
          <p:nvPr/>
        </p:nvSpPr>
        <p:spPr>
          <a:xfrm>
            <a:off x="4773240" y="3246120"/>
            <a:ext cx="4224240" cy="1718640"/>
          </a:xfrm>
          <a:prstGeom prst="rect">
            <a:avLst/>
          </a:prstGeom>
          <a:solidFill>
            <a:srgbClr val="111b17"/>
          </a:solidFill>
          <a:ln w="2286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5" name="Shape 19"/>
          <p:cNvSpPr/>
          <p:nvPr/>
        </p:nvSpPr>
        <p:spPr>
          <a:xfrm>
            <a:off x="4773240" y="3246120"/>
            <a:ext cx="4224240" cy="43848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166" name="Text 20"/>
          <p:cNvSpPr/>
          <p:nvPr/>
        </p:nvSpPr>
        <p:spPr>
          <a:xfrm>
            <a:off x="4864680" y="3246120"/>
            <a:ext cx="4023000" cy="4384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0a0f0d"/>
                </a:solidFill>
                <a:latin typeface="Calibri"/>
                <a:ea typeface="Calibri"/>
              </a:rPr>
              <a:t>📊  </a:t>
            </a:r>
            <a:r>
              <a:rPr b="1" lang="en-US" sz="1250" spc="-1" strike="noStrike">
                <a:solidFill>
                  <a:srgbClr val="0a0f0d"/>
                </a:solidFill>
                <a:latin typeface="Calibri"/>
                <a:ea typeface="Calibri"/>
              </a:rPr>
              <a:t>02  Anomaly-Based Detection</a:t>
            </a:r>
            <a:endParaRPr b="0" lang="en-US" sz="1250" spc="-1" strike="noStrike">
              <a:solidFill>
                <a:srgbClr val="000000"/>
              </a:solidFill>
              <a:latin typeface="Arial"/>
            </a:endParaRPr>
          </a:p>
        </p:txBody>
      </p:sp>
      <p:sp>
        <p:nvSpPr>
          <p:cNvPr id="167" name="Text 21"/>
          <p:cNvSpPr/>
          <p:nvPr/>
        </p:nvSpPr>
        <p:spPr>
          <a:xfrm>
            <a:off x="4883040" y="3721680"/>
            <a:ext cx="4004640" cy="529920"/>
          </a:xfrm>
          <a:prstGeom prst="rect">
            <a:avLst/>
          </a:prstGeom>
          <a:noFill/>
          <a:ln w="0">
            <a:noFill/>
          </a:ln>
        </p:spPr>
        <p:style>
          <a:lnRef idx="0"/>
          <a:fillRef idx="0"/>
          <a:effectRef idx="0"/>
          <a:fontRef idx="minor"/>
        </p:style>
        <p:txBody>
          <a:bodyPr lIns="90000" rIns="90000" tIns="45000" bIns="45000" anchor="ctr">
            <a:noAutofit/>
          </a:bodyPr>
          <a:p>
            <a:r>
              <a:rPr b="1" lang="en-US" sz="1000" spc="-1" strike="noStrike">
                <a:solidFill>
                  <a:srgbClr val="fcd34d"/>
                </a:solidFill>
                <a:latin typeface="Calibri"/>
                <a:ea typeface="Calibri"/>
              </a:rPr>
              <a:t>How: </a:t>
            </a:r>
            <a:r>
              <a:rPr b="0" lang="en-US" sz="1000" spc="-1" strike="noStrike">
                <a:solidFill>
                  <a:srgbClr val="bbf7d0"/>
                </a:solidFill>
                <a:latin typeface="Calibri"/>
                <a:ea typeface="Calibri"/>
              </a:rPr>
              <a:t>Trains on a baseline of normal behaviour. Any activity deviating from that baseline is flagged as suspicious and an alert is immediately triggered to the administrator.</a:t>
            </a:r>
            <a:endParaRPr b="0" lang="en-US" sz="1000" spc="-1" strike="noStrike">
              <a:solidFill>
                <a:srgbClr val="000000"/>
              </a:solidFill>
              <a:latin typeface="Arial"/>
            </a:endParaRPr>
          </a:p>
          <a:p>
            <a:pPr defTabSz="914400">
              <a:lnSpc>
                <a:spcPct val="100000"/>
              </a:lnSpc>
              <a:tabLst>
                <a:tab algn="l" pos="0"/>
              </a:tabLst>
            </a:pPr>
            <a:endParaRPr b="0" lang="en-US" sz="1000" spc="-1" strike="noStrike">
              <a:solidFill>
                <a:srgbClr val="000000"/>
              </a:solidFill>
              <a:latin typeface="Arial"/>
            </a:endParaRPr>
          </a:p>
        </p:txBody>
      </p:sp>
      <p:sp>
        <p:nvSpPr>
          <p:cNvPr id="168" name="Text 22"/>
          <p:cNvSpPr/>
          <p:nvPr/>
        </p:nvSpPr>
        <p:spPr>
          <a:xfrm>
            <a:off x="4883040" y="4288680"/>
            <a:ext cx="4004640" cy="6213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4ade80"/>
                </a:solidFill>
                <a:latin typeface="Calibri"/>
                <a:ea typeface="Calibri"/>
              </a:rPr>
              <a:t>✔ </a:t>
            </a:r>
            <a:r>
              <a:rPr b="0" lang="en-US" sz="950" spc="-1" strike="noStrike">
                <a:solidFill>
                  <a:srgbClr val="bbf7d0"/>
                </a:solidFill>
                <a:latin typeface="Calibri"/>
                <a:ea typeface="Calibri"/>
              </a:rPr>
              <a:t>Can detect unknown and zero-day attacks — not limited to known signatures.   </a:t>
            </a:r>
            <a:r>
              <a:rPr b="0" lang="en-US" sz="950" spc="-1" strike="noStrike">
                <a:solidFill>
                  <a:srgbClr val="f87171"/>
                </a:solidFill>
                <a:latin typeface="Calibri"/>
                <a:ea typeface="Calibri"/>
              </a:rPr>
              <a:t>✘ </a:t>
            </a:r>
            <a:r>
              <a:rPr b="0" lang="en-US" sz="950" spc="-1" strike="noStrike">
                <a:solidFill>
                  <a:srgbClr val="bbf7d0"/>
                </a:solidFill>
                <a:latin typeface="Calibri"/>
                <a:ea typeface="Calibri"/>
              </a:rPr>
              <a:t>Higher complexity — more prone to false alarms. Difficult to tune baselines.</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f0d"/>
        </a:solidFill>
      </p:bgPr>
    </p:bg>
    <p:spTree>
      <p:nvGrpSpPr>
        <p:cNvPr id="1" name=""/>
        <p:cNvGrpSpPr/>
        <p:nvPr/>
      </p:nvGrpSpPr>
      <p:grpSpPr>
        <a:xfrm>
          <a:off x="0" y="0"/>
          <a:ext cx="0" cy="0"/>
          <a:chOff x="0" y="0"/>
          <a:chExt cx="0" cy="0"/>
        </a:xfrm>
      </p:grpSpPr>
      <p:sp>
        <p:nvSpPr>
          <p:cNvPr id="169" name="Shape 0"/>
          <p:cNvSpPr/>
          <p:nvPr/>
        </p:nvSpPr>
        <p:spPr>
          <a:xfrm>
            <a:off x="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0" name="Shape 1"/>
          <p:cNvSpPr/>
          <p:nvPr/>
        </p:nvSpPr>
        <p:spPr>
          <a:xfrm>
            <a:off x="4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1" name="Shape 2"/>
          <p:cNvSpPr/>
          <p:nvPr/>
        </p:nvSpPr>
        <p:spPr>
          <a:xfrm>
            <a:off x="9691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2" name="Shape 3"/>
          <p:cNvSpPr/>
          <p:nvPr/>
        </p:nvSpPr>
        <p:spPr>
          <a:xfrm>
            <a:off x="14536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3" name="Shape 4"/>
          <p:cNvSpPr/>
          <p:nvPr/>
        </p:nvSpPr>
        <p:spPr>
          <a:xfrm>
            <a:off x="19382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4" name="Shape 5"/>
          <p:cNvSpPr/>
          <p:nvPr/>
        </p:nvSpPr>
        <p:spPr>
          <a:xfrm>
            <a:off x="24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5" name="Shape 6"/>
          <p:cNvSpPr/>
          <p:nvPr/>
        </p:nvSpPr>
        <p:spPr>
          <a:xfrm>
            <a:off x="29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6" name="Shape 7"/>
          <p:cNvSpPr/>
          <p:nvPr/>
        </p:nvSpPr>
        <p:spPr>
          <a:xfrm>
            <a:off x="33922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7" name="Shape 8"/>
          <p:cNvSpPr/>
          <p:nvPr/>
        </p:nvSpPr>
        <p:spPr>
          <a:xfrm>
            <a:off x="38768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8" name="Shape 9"/>
          <p:cNvSpPr/>
          <p:nvPr/>
        </p:nvSpPr>
        <p:spPr>
          <a:xfrm>
            <a:off x="43614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79" name="Shape 10"/>
          <p:cNvSpPr/>
          <p:nvPr/>
        </p:nvSpPr>
        <p:spPr>
          <a:xfrm>
            <a:off x="48463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0" name="Shape 11"/>
          <p:cNvSpPr/>
          <p:nvPr/>
        </p:nvSpPr>
        <p:spPr>
          <a:xfrm>
            <a:off x="53308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1" name="Shape 12"/>
          <p:cNvSpPr/>
          <p:nvPr/>
        </p:nvSpPr>
        <p:spPr>
          <a:xfrm>
            <a:off x="58154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2" name="Shape 13"/>
          <p:cNvSpPr/>
          <p:nvPr/>
        </p:nvSpPr>
        <p:spPr>
          <a:xfrm>
            <a:off x="63000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3" name="Shape 14"/>
          <p:cNvSpPr/>
          <p:nvPr/>
        </p:nvSpPr>
        <p:spPr>
          <a:xfrm>
            <a:off x="67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4" name="Shape 15"/>
          <p:cNvSpPr/>
          <p:nvPr/>
        </p:nvSpPr>
        <p:spPr>
          <a:xfrm>
            <a:off x="72694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5" name="Shape 16"/>
          <p:cNvSpPr/>
          <p:nvPr/>
        </p:nvSpPr>
        <p:spPr>
          <a:xfrm>
            <a:off x="77540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6" name="Shape 17"/>
          <p:cNvSpPr/>
          <p:nvPr/>
        </p:nvSpPr>
        <p:spPr>
          <a:xfrm>
            <a:off x="82386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7" name="Shape 18"/>
          <p:cNvSpPr/>
          <p:nvPr/>
        </p:nvSpPr>
        <p:spPr>
          <a:xfrm>
            <a:off x="87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8" name="Shape 19"/>
          <p:cNvSpPr/>
          <p:nvPr/>
        </p:nvSpPr>
        <p:spPr>
          <a:xfrm>
            <a:off x="92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189" name="Shape 20"/>
          <p:cNvSpPr/>
          <p:nvPr/>
        </p:nvSpPr>
        <p:spPr>
          <a:xfrm>
            <a:off x="0" y="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0" name="Shape 21"/>
          <p:cNvSpPr/>
          <p:nvPr/>
        </p:nvSpPr>
        <p:spPr>
          <a:xfrm>
            <a:off x="0" y="5119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1" name="Shape 22"/>
          <p:cNvSpPr/>
          <p:nvPr/>
        </p:nvSpPr>
        <p:spPr>
          <a:xfrm>
            <a:off x="0" y="10238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2" name="Shape 23"/>
          <p:cNvSpPr/>
          <p:nvPr/>
        </p:nvSpPr>
        <p:spPr>
          <a:xfrm>
            <a:off x="0" y="15361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3" name="Shape 24"/>
          <p:cNvSpPr/>
          <p:nvPr/>
        </p:nvSpPr>
        <p:spPr>
          <a:xfrm>
            <a:off x="0" y="20480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4" name="Shape 25"/>
          <p:cNvSpPr/>
          <p:nvPr/>
        </p:nvSpPr>
        <p:spPr>
          <a:xfrm>
            <a:off x="0" y="25603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5" name="Shape 26"/>
          <p:cNvSpPr/>
          <p:nvPr/>
        </p:nvSpPr>
        <p:spPr>
          <a:xfrm>
            <a:off x="0" y="30722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6" name="Shape 27"/>
          <p:cNvSpPr/>
          <p:nvPr/>
        </p:nvSpPr>
        <p:spPr>
          <a:xfrm>
            <a:off x="0" y="35841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7" name="Shape 28"/>
          <p:cNvSpPr/>
          <p:nvPr/>
        </p:nvSpPr>
        <p:spPr>
          <a:xfrm>
            <a:off x="0" y="40964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8" name="Shape 29"/>
          <p:cNvSpPr/>
          <p:nvPr/>
        </p:nvSpPr>
        <p:spPr>
          <a:xfrm>
            <a:off x="0" y="46083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199" name="Shape 30"/>
          <p:cNvSpPr/>
          <p:nvPr/>
        </p:nvSpPr>
        <p:spPr>
          <a:xfrm>
            <a:off x="0" y="51206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00" name="Shape 31"/>
          <p:cNvSpPr/>
          <p:nvPr/>
        </p:nvSpPr>
        <p:spPr>
          <a:xfrm>
            <a:off x="0" y="0"/>
            <a:ext cx="9143640" cy="914040"/>
          </a:xfrm>
          <a:prstGeom prst="rect">
            <a:avLst/>
          </a:prstGeom>
          <a:solidFill>
            <a:srgbClr val="0f3d20"/>
          </a:solidFill>
          <a:ln w="12700">
            <a:solidFill>
              <a:srgbClr val="0f3d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1" name="Shape 32"/>
          <p:cNvSpPr/>
          <p:nvPr/>
        </p:nvSpPr>
        <p:spPr>
          <a:xfrm>
            <a:off x="0" y="914400"/>
            <a:ext cx="9143640" cy="54360"/>
          </a:xfrm>
          <a:prstGeom prst="rect">
            <a:avLst/>
          </a:prstGeom>
          <a:solidFill>
            <a:srgbClr val="f87171"/>
          </a:solidFill>
          <a:ln w="12700">
            <a:solidFill>
              <a:srgbClr val="f87171"/>
            </a:solidFill>
            <a:round/>
          </a:ln>
        </p:spPr>
        <p:style>
          <a:lnRef idx="0"/>
          <a:fillRef idx="0"/>
          <a:effectRef idx="0"/>
          <a:fontRef idx="minor"/>
        </p:style>
        <p:txBody>
          <a:bodyPr lIns="90000" rIns="90000" tIns="9720" bIns="9720" anchor="t">
            <a:noAutofit/>
          </a:bodyPr>
          <a:p>
            <a:endParaRPr b="0" lang="en-US" sz="1800" spc="-1" strike="noStrike">
              <a:solidFill>
                <a:srgbClr val="ffffff"/>
              </a:solidFill>
              <a:latin typeface="Arial"/>
            </a:endParaRPr>
          </a:p>
        </p:txBody>
      </p:sp>
      <p:sp>
        <p:nvSpPr>
          <p:cNvPr id="202" name="Text 33"/>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700" spc="-1" strike="noStrike">
                <a:solidFill>
                  <a:srgbClr val="f0fdf4"/>
                </a:solidFill>
                <a:latin typeface="Calibri"/>
                <a:ea typeface="Calibri"/>
              </a:rPr>
              <a:t>Signature-Based vs Anomaly-Based: Comparison</a:t>
            </a:r>
            <a:endParaRPr b="0" lang="en-US" sz="2700" spc="-1" strike="noStrike">
              <a:solidFill>
                <a:srgbClr val="ffffff"/>
              </a:solidFill>
              <a:latin typeface="Arial"/>
            </a:endParaRPr>
          </a:p>
        </p:txBody>
      </p:sp>
      <p:graphicFrame>
        <p:nvGraphicFramePr>
          <p:cNvPr id="203" name="Table 0"/>
          <p:cNvGraphicFramePr/>
          <p:nvPr/>
        </p:nvGraphicFramePr>
        <p:xfrm>
          <a:off x="320040" y="1042560"/>
          <a:ext cx="8503560" cy="3931560"/>
        </p:xfrm>
        <a:graphic>
          <a:graphicData uri="http://schemas.openxmlformats.org/drawingml/2006/table">
            <a:tbl>
              <a:tblPr/>
              <a:tblGrid>
                <a:gridCol w="2011680"/>
                <a:gridCol w="3246120"/>
                <a:gridCol w="3246120"/>
              </a:tblGrid>
              <a:tr h="491400">
                <a:tc>
                  <a:txBody>
                    <a:bodyPr anchor="t">
                      <a:noAutofit/>
                    </a:bodyPr>
                    <a:p>
                      <a:pPr defTabSz="914400">
                        <a:lnSpc>
                          <a:spcPct val="100000"/>
                        </a:lnSpc>
                        <a:tabLst>
                          <a:tab algn="l" pos="0"/>
                        </a:tabLst>
                      </a:pPr>
                      <a:r>
                        <a:rPr b="1" lang="en-US" sz="1200" spc="-1" strike="noStrike">
                          <a:solidFill>
                            <a:srgbClr val="4ade80"/>
                          </a:solidFill>
                          <a:latin typeface="Calibri"/>
                        </a:rPr>
                        <a:t>Attribute</a:t>
                      </a:r>
                      <a:endParaRPr b="0" lang="en-US" sz="12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d2818"/>
                    </a:solidFill>
                  </a:tcPr>
                </a:tc>
                <a:tc>
                  <a:txBody>
                    <a:bodyPr anchor="t">
                      <a:noAutofit/>
                    </a:bodyPr>
                    <a:p>
                      <a:pPr defTabSz="914400">
                        <a:lnSpc>
                          <a:spcPct val="100000"/>
                        </a:lnSpc>
                        <a:tabLst>
                          <a:tab algn="l" pos="0"/>
                        </a:tabLst>
                      </a:pPr>
                      <a:r>
                        <a:rPr b="1" lang="en-US" sz="1200" spc="-1" strike="noStrike">
                          <a:solidFill>
                            <a:srgbClr val="0a0f0d"/>
                          </a:solidFill>
                          <a:latin typeface="Calibri"/>
                        </a:rPr>
                        <a:t>Signature-Based</a:t>
                      </a:r>
                      <a:endParaRPr b="0" lang="en-US" sz="12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16a34a"/>
                    </a:solidFill>
                  </a:tcPr>
                </a:tc>
                <a:tc>
                  <a:txBody>
                    <a:bodyPr anchor="t">
                      <a:noAutofit/>
                    </a:bodyPr>
                    <a:p>
                      <a:pPr defTabSz="914400">
                        <a:lnSpc>
                          <a:spcPct val="100000"/>
                        </a:lnSpc>
                        <a:tabLst>
                          <a:tab algn="l" pos="0"/>
                        </a:tabLst>
                      </a:pPr>
                      <a:r>
                        <a:rPr b="1" lang="en-US" sz="1200" spc="-1" strike="noStrike">
                          <a:solidFill>
                            <a:srgbClr val="0a0f0d"/>
                          </a:solidFill>
                          <a:latin typeface="Calibri"/>
                        </a:rPr>
                        <a:t>Anomaly-Based</a:t>
                      </a:r>
                      <a:endParaRPr b="0" lang="en-US" sz="12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d97706"/>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Approach</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Pattern matching against known attack library</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Deviation from learned normal baseline</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Known Attacks</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Highly effective — direct match</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Also effective — baseline captures normal</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Unknown Attacks</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Fails completely — signature doesn't exist</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Can detect — any deviation is flagged</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False Alarms</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Very low — pattern must exactly match</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Higher — legitimate anomalies may trigger</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Maintenance</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Regular signature DB updates required</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Baseline must be retrained periodically</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50e08"/>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Complexity</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Low — straightforward pattern lookup</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High — requires ML model training</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a1a10"/>
                    </a:solidFill>
                  </a:tcPr>
                </a:tc>
              </a:tr>
              <a:tr h="491400">
                <a:tc>
                  <a:txBody>
                    <a:bodyPr anchor="t">
                      <a:noAutofit/>
                    </a:bodyPr>
                    <a:p>
                      <a:pPr defTabSz="914400">
                        <a:lnSpc>
                          <a:spcPct val="100000"/>
                        </a:lnSpc>
                        <a:tabLst>
                          <a:tab algn="l" pos="0"/>
                        </a:tabLst>
                      </a:pPr>
                      <a:r>
                        <a:rPr b="1" lang="en-US" sz="1100" spc="-1" strike="noStrike">
                          <a:solidFill>
                            <a:srgbClr val="94a3b8"/>
                          </a:solidFill>
                          <a:latin typeface="Calibri"/>
                          <a:ea typeface="Calibri"/>
                        </a:rPr>
                        <a:t>Example Systems</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00000"/>
                    </a:solidFill>
                  </a:tcPr>
                </a:tc>
                <a:tc>
                  <a:txBody>
                    <a:bodyPr anchor="t">
                      <a:noAutofit/>
                    </a:bodyPr>
                    <a:p>
                      <a:pPr defTabSz="914400">
                        <a:lnSpc>
                          <a:spcPct val="100000"/>
                        </a:lnSpc>
                        <a:tabLst>
                          <a:tab algn="l" pos="0"/>
                        </a:tabLst>
                      </a:pPr>
                      <a:r>
                        <a:rPr b="0" lang="en-US" sz="1100" spc="-1" strike="noStrike">
                          <a:solidFill>
                            <a:srgbClr val="4ade80"/>
                          </a:solidFill>
                          <a:latin typeface="Calibri"/>
                          <a:ea typeface="Calibri"/>
                        </a:rPr>
                        <a:t>Antivirus, Snort (rule-based IDS)</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00000"/>
                    </a:solidFill>
                  </a:tcPr>
                </a:tc>
                <a:tc>
                  <a:txBody>
                    <a:bodyPr anchor="t">
                      <a:noAutofit/>
                    </a:bodyPr>
                    <a:p>
                      <a:pPr defTabSz="914400">
                        <a:lnSpc>
                          <a:spcPct val="100000"/>
                        </a:lnSpc>
                        <a:tabLst>
                          <a:tab algn="l" pos="0"/>
                        </a:tabLst>
                      </a:pPr>
                      <a:r>
                        <a:rPr b="0" lang="en-US" sz="1100" spc="-1" strike="noStrike">
                          <a:solidFill>
                            <a:srgbClr val="fcd34d"/>
                          </a:solidFill>
                          <a:latin typeface="Calibri"/>
                          <a:ea typeface="Calibri"/>
                        </a:rPr>
                        <a:t>Statistical IDS, ML-based IDS, UEBA</a:t>
                      </a:r>
                      <a:endParaRPr b="0" lang="en-US" sz="1100" spc="-1" strike="noStrike">
                        <a:solidFill>
                          <a:srgbClr val="ffffff"/>
                        </a:solidFill>
                        <a:latin typeface="Arial"/>
                      </a:endParaRPr>
                    </a:p>
                  </a:txBody>
                  <a:tcPr anchor="t" marL="91440" marR="91440">
                    <a:lnL w="6480">
                      <a:solidFill>
                        <a:srgbClr val="1a2e22"/>
                      </a:solidFill>
                      <a:prstDash val="solid"/>
                    </a:lnL>
                    <a:lnR w="6480">
                      <a:solidFill>
                        <a:srgbClr val="1a2e22"/>
                      </a:solidFill>
                      <a:prstDash val="solid"/>
                    </a:lnR>
                    <a:lnT w="6480">
                      <a:solidFill>
                        <a:srgbClr val="1a2e22"/>
                      </a:solidFill>
                      <a:prstDash val="solid"/>
                    </a:lnT>
                    <a:lnB w="6480">
                      <a:solidFill>
                        <a:srgbClr val="1a2e22"/>
                      </a:solidFill>
                      <a:prstDash val="solid"/>
                    </a:lnB>
                    <a:solidFill>
                      <a:srgbClr val="000000"/>
                    </a:solidFill>
                  </a:tcPr>
                </a:tc>
              </a:tr>
            </a:tbl>
          </a:graphicData>
        </a:graphic>
      </p:graphicFrame>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ff4"/>
        </a:solidFill>
      </p:bgPr>
    </p:bg>
    <p:spTree>
      <p:nvGrpSpPr>
        <p:cNvPr id="1" name=""/>
        <p:cNvGrpSpPr/>
        <p:nvPr/>
      </p:nvGrpSpPr>
      <p:grpSpPr>
        <a:xfrm>
          <a:off x="0" y="0"/>
          <a:ext cx="0" cy="0"/>
          <a:chOff x="0" y="0"/>
          <a:chExt cx="0" cy="0"/>
        </a:xfrm>
      </p:grpSpPr>
      <p:sp>
        <p:nvSpPr>
          <p:cNvPr id="204" name="Shape 0"/>
          <p:cNvSpPr/>
          <p:nvPr/>
        </p:nvSpPr>
        <p:spPr>
          <a:xfrm>
            <a:off x="0" y="0"/>
            <a:ext cx="9143640" cy="959760"/>
          </a:xfrm>
          <a:prstGeom prst="rect">
            <a:avLst/>
          </a:prstGeom>
          <a:solidFill>
            <a:srgbClr val="0a0f0d"/>
          </a:solidFill>
          <a:ln w="12700">
            <a:solidFill>
              <a:srgbClr val="0a0f0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5" name="Shape 1"/>
          <p:cNvSpPr/>
          <p:nvPr/>
        </p:nvSpPr>
        <p:spPr>
          <a:xfrm>
            <a:off x="0" y="960120"/>
            <a:ext cx="9143640" cy="63720"/>
          </a:xfrm>
          <a:prstGeom prst="rect">
            <a:avLst/>
          </a:prstGeom>
          <a:solidFill>
            <a:srgbClr val="4ade80"/>
          </a:solidFill>
          <a:ln w="12700">
            <a:solidFill>
              <a:srgbClr val="4ade80"/>
            </a:solidFill>
            <a:round/>
          </a:ln>
        </p:spPr>
        <p:style>
          <a:lnRef idx="0"/>
          <a:fillRef idx="0"/>
          <a:effectRef idx="0"/>
          <a:fontRef idx="minor"/>
        </p:style>
        <p:txBody>
          <a:bodyPr lIns="90000" rIns="90000" tIns="19080" bIns="19080" anchor="t">
            <a:noAutofit/>
          </a:bodyPr>
          <a:p>
            <a:endParaRPr b="0" lang="en-US" sz="1800" spc="-1" strike="noStrike">
              <a:solidFill>
                <a:srgbClr val="000000"/>
              </a:solidFill>
              <a:latin typeface="Arial"/>
            </a:endParaRPr>
          </a:p>
        </p:txBody>
      </p:sp>
      <p:sp>
        <p:nvSpPr>
          <p:cNvPr id="206"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4ade80"/>
                </a:solidFill>
                <a:latin typeface="Calibri"/>
                <a:ea typeface="Calibri"/>
              </a:rPr>
              <a:t>How Data Mining Powers Intrusion Detection</a:t>
            </a:r>
            <a:endParaRPr b="0" lang="en-US" sz="2800" spc="-1" strike="noStrike">
              <a:solidFill>
                <a:srgbClr val="000000"/>
              </a:solidFill>
              <a:latin typeface="Arial"/>
            </a:endParaRPr>
          </a:p>
        </p:txBody>
      </p:sp>
      <p:sp>
        <p:nvSpPr>
          <p:cNvPr id="207" name="Shape 3"/>
          <p:cNvSpPr/>
          <p:nvPr/>
        </p:nvSpPr>
        <p:spPr>
          <a:xfrm>
            <a:off x="365760" y="1170360"/>
            <a:ext cx="8412120" cy="80424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08" name="Text 4"/>
          <p:cNvSpPr/>
          <p:nvPr/>
        </p:nvSpPr>
        <p:spPr>
          <a:xfrm>
            <a:off x="511920" y="1188720"/>
            <a:ext cx="8137800" cy="749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200" spc="-1" strike="noStrike">
                <a:solidFill>
                  <a:srgbClr val="f0fdf4"/>
                </a:solidFill>
                <a:latin typeface="Calibri"/>
                <a:ea typeface="Calibri"/>
              </a:rPr>
              <a:t>Data mining extracts appropriate features from large volumes of network data and supports supervised and unsupervised learning. Since intrusion detection is inherently data-centric, </a:t>
            </a:r>
            <a:r>
              <a:rPr b="1" lang="en-US" sz="1200" spc="-1" strike="noStrike">
                <a:solidFill>
                  <a:srgbClr val="4ade80"/>
                </a:solidFill>
                <a:latin typeface="Calibri"/>
                <a:ea typeface="Calibri"/>
              </a:rPr>
              <a:t>IDS systems powered by data mining learn from past intrusions</a:t>
            </a:r>
            <a:r>
              <a:rPr b="0" lang="en-US" sz="1200" spc="-1" strike="noStrike">
                <a:solidFill>
                  <a:srgbClr val="f0fdf4"/>
                </a:solidFill>
                <a:latin typeface="Calibri"/>
                <a:ea typeface="Calibri"/>
              </a:rPr>
              <a:t>, improve with experience, and detect unusual activities far more effectively than rule-based systems.</a:t>
            </a:r>
            <a:endParaRPr b="0" lang="en-US" sz="1200" spc="-1" strike="noStrike">
              <a:solidFill>
                <a:srgbClr val="000000"/>
              </a:solidFill>
              <a:latin typeface="Arial"/>
            </a:endParaRPr>
          </a:p>
        </p:txBody>
      </p:sp>
      <p:sp>
        <p:nvSpPr>
          <p:cNvPr id="209" name="Shape 5"/>
          <p:cNvSpPr/>
          <p:nvPr/>
        </p:nvSpPr>
        <p:spPr>
          <a:xfrm>
            <a:off x="320040" y="2103120"/>
            <a:ext cx="1627200" cy="100548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0" name="Text 6"/>
          <p:cNvSpPr/>
          <p:nvPr/>
        </p:nvSpPr>
        <p:spPr>
          <a:xfrm>
            <a:off x="320040" y="2121480"/>
            <a:ext cx="1627200" cy="420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pc="-1" strike="noStrike">
                <a:solidFill>
                  <a:srgbClr val="000000"/>
                </a:solidFill>
                <a:latin typeface="Calibri"/>
              </a:rPr>
              <a:t>🎭</a:t>
            </a:r>
            <a:endParaRPr b="0" lang="en-US" sz="2000" spc="-1" strike="noStrike">
              <a:solidFill>
                <a:srgbClr val="000000"/>
              </a:solidFill>
              <a:latin typeface="Arial"/>
            </a:endParaRPr>
          </a:p>
        </p:txBody>
      </p:sp>
      <p:sp>
        <p:nvSpPr>
          <p:cNvPr id="211" name="Text 7"/>
          <p:cNvSpPr/>
          <p:nvPr/>
        </p:nvSpPr>
        <p:spPr>
          <a:xfrm>
            <a:off x="320040" y="2560320"/>
            <a:ext cx="1627200" cy="511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4ade80"/>
                </a:solidFill>
                <a:latin typeface="Calibri"/>
                <a:ea typeface="Calibri"/>
              </a:rPr>
              <a:t>Detect</a:t>
            </a:r>
            <a:endParaRPr b="0" lang="en-US" sz="950" spc="-1" strike="noStrike">
              <a:solidFill>
                <a:srgbClr val="000000"/>
              </a:solidFill>
              <a:latin typeface="Arial"/>
            </a:endParaRPr>
          </a:p>
          <a:p>
            <a:pPr algn="ctr" defTabSz="914400">
              <a:lnSpc>
                <a:spcPct val="100000"/>
              </a:lnSpc>
              <a:tabLst>
                <a:tab algn="l" pos="0"/>
              </a:tabLst>
            </a:pPr>
            <a:r>
              <a:rPr b="1" lang="en-US" sz="950" spc="-1" strike="noStrike">
                <a:solidFill>
                  <a:srgbClr val="4ade80"/>
                </a:solidFill>
                <a:latin typeface="Calibri"/>
                <a:ea typeface="Calibri"/>
              </a:rPr>
              <a:t>Anomalous Behaviour</a:t>
            </a:r>
            <a:endParaRPr b="0" lang="en-US" sz="950" spc="-1" strike="noStrike">
              <a:solidFill>
                <a:srgbClr val="000000"/>
              </a:solidFill>
              <a:latin typeface="Arial"/>
            </a:endParaRPr>
          </a:p>
        </p:txBody>
      </p:sp>
      <p:sp>
        <p:nvSpPr>
          <p:cNvPr id="212" name="Shape 8"/>
          <p:cNvSpPr/>
          <p:nvPr/>
        </p:nvSpPr>
        <p:spPr>
          <a:xfrm>
            <a:off x="2057400" y="2103120"/>
            <a:ext cx="1627200" cy="1005480"/>
          </a:xfrm>
          <a:prstGeom prst="rect">
            <a:avLst/>
          </a:prstGeom>
          <a:solidFill>
            <a:srgbClr val="111b17"/>
          </a:solidFill>
          <a:ln w="1524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3" name="Text 9"/>
          <p:cNvSpPr/>
          <p:nvPr/>
        </p:nvSpPr>
        <p:spPr>
          <a:xfrm>
            <a:off x="2057400" y="2121480"/>
            <a:ext cx="1627200" cy="420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pc="-1" strike="noStrike">
                <a:solidFill>
                  <a:srgbClr val="000000"/>
                </a:solidFill>
                <a:latin typeface="Calibri"/>
              </a:rPr>
              <a:t>💳</a:t>
            </a:r>
            <a:endParaRPr b="0" lang="en-US" sz="2000" spc="-1" strike="noStrike">
              <a:solidFill>
                <a:srgbClr val="000000"/>
              </a:solidFill>
              <a:latin typeface="Arial"/>
            </a:endParaRPr>
          </a:p>
        </p:txBody>
      </p:sp>
      <p:sp>
        <p:nvSpPr>
          <p:cNvPr id="214" name="Text 10"/>
          <p:cNvSpPr/>
          <p:nvPr/>
        </p:nvSpPr>
        <p:spPr>
          <a:xfrm>
            <a:off x="2057400" y="2560320"/>
            <a:ext cx="1627200" cy="511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f87171"/>
                </a:solidFill>
                <a:latin typeface="Calibri"/>
                <a:ea typeface="Calibri"/>
              </a:rPr>
              <a:t>Detect Fraud</a:t>
            </a:r>
            <a:endParaRPr b="0" lang="en-US" sz="950" spc="-1" strike="noStrike">
              <a:solidFill>
                <a:srgbClr val="000000"/>
              </a:solidFill>
              <a:latin typeface="Arial"/>
            </a:endParaRPr>
          </a:p>
          <a:p>
            <a:pPr algn="ctr" defTabSz="914400">
              <a:lnSpc>
                <a:spcPct val="100000"/>
              </a:lnSpc>
              <a:tabLst>
                <a:tab algn="l" pos="0"/>
              </a:tabLst>
            </a:pPr>
            <a:r>
              <a:rPr b="1" lang="en-US" sz="950" spc="-1" strike="noStrike">
                <a:solidFill>
                  <a:srgbClr val="f87171"/>
                </a:solidFill>
                <a:latin typeface="Calibri"/>
                <a:ea typeface="Calibri"/>
              </a:rPr>
              <a:t>&amp; Abuse</a:t>
            </a:r>
            <a:endParaRPr b="0" lang="en-US" sz="950" spc="-1" strike="noStrike">
              <a:solidFill>
                <a:srgbClr val="000000"/>
              </a:solidFill>
              <a:latin typeface="Arial"/>
            </a:endParaRPr>
          </a:p>
        </p:txBody>
      </p:sp>
      <p:sp>
        <p:nvSpPr>
          <p:cNvPr id="215" name="Shape 11"/>
          <p:cNvSpPr/>
          <p:nvPr/>
        </p:nvSpPr>
        <p:spPr>
          <a:xfrm>
            <a:off x="3794760" y="2103120"/>
            <a:ext cx="1627200" cy="100548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6" name="Text 12"/>
          <p:cNvSpPr/>
          <p:nvPr/>
        </p:nvSpPr>
        <p:spPr>
          <a:xfrm>
            <a:off x="3794760" y="2121480"/>
            <a:ext cx="1627200" cy="420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pc="-1" strike="noStrike">
                <a:solidFill>
                  <a:srgbClr val="000000"/>
                </a:solidFill>
                <a:latin typeface="Calibri"/>
              </a:rPr>
              <a:t>💣</a:t>
            </a:r>
            <a:endParaRPr b="0" lang="en-US" sz="2000" spc="-1" strike="noStrike">
              <a:solidFill>
                <a:srgbClr val="000000"/>
              </a:solidFill>
              <a:latin typeface="Arial"/>
            </a:endParaRPr>
          </a:p>
        </p:txBody>
      </p:sp>
      <p:sp>
        <p:nvSpPr>
          <p:cNvPr id="217" name="Text 13"/>
          <p:cNvSpPr/>
          <p:nvPr/>
        </p:nvSpPr>
        <p:spPr>
          <a:xfrm>
            <a:off x="3794760" y="2560320"/>
            <a:ext cx="1627200" cy="511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4ade80"/>
                </a:solidFill>
                <a:latin typeface="Calibri"/>
                <a:ea typeface="Calibri"/>
              </a:rPr>
              <a:t>Track Terrorist</a:t>
            </a:r>
            <a:endParaRPr b="0" lang="en-US" sz="950" spc="-1" strike="noStrike">
              <a:solidFill>
                <a:srgbClr val="000000"/>
              </a:solidFill>
              <a:latin typeface="Arial"/>
            </a:endParaRPr>
          </a:p>
          <a:p>
            <a:pPr algn="ctr" defTabSz="914400">
              <a:lnSpc>
                <a:spcPct val="100000"/>
              </a:lnSpc>
              <a:tabLst>
                <a:tab algn="l" pos="0"/>
              </a:tabLst>
            </a:pPr>
            <a:r>
              <a:rPr b="1" lang="en-US" sz="950" spc="-1" strike="noStrike">
                <a:solidFill>
                  <a:srgbClr val="4ade80"/>
                </a:solidFill>
                <a:latin typeface="Calibri"/>
                <a:ea typeface="Calibri"/>
              </a:rPr>
              <a:t>Activities</a:t>
            </a:r>
            <a:endParaRPr b="0" lang="en-US" sz="950" spc="-1" strike="noStrike">
              <a:solidFill>
                <a:srgbClr val="000000"/>
              </a:solidFill>
              <a:latin typeface="Arial"/>
            </a:endParaRPr>
          </a:p>
        </p:txBody>
      </p:sp>
      <p:sp>
        <p:nvSpPr>
          <p:cNvPr id="218" name="Shape 14"/>
          <p:cNvSpPr/>
          <p:nvPr/>
        </p:nvSpPr>
        <p:spPr>
          <a:xfrm>
            <a:off x="5532120" y="2103120"/>
            <a:ext cx="1627200" cy="1005480"/>
          </a:xfrm>
          <a:prstGeom prst="rect">
            <a:avLst/>
          </a:prstGeom>
          <a:solidFill>
            <a:srgbClr val="111b17"/>
          </a:solidFill>
          <a:ln w="1524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19" name="Text 15"/>
          <p:cNvSpPr/>
          <p:nvPr/>
        </p:nvSpPr>
        <p:spPr>
          <a:xfrm>
            <a:off x="5532120" y="2121480"/>
            <a:ext cx="1627200" cy="420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pc="-1" strike="noStrike">
                <a:solidFill>
                  <a:srgbClr val="000000"/>
                </a:solidFill>
                <a:latin typeface="Calibri"/>
              </a:rPr>
              <a:t>🔍</a:t>
            </a:r>
            <a:endParaRPr b="0" lang="en-US" sz="2000" spc="-1" strike="noStrike">
              <a:solidFill>
                <a:srgbClr val="000000"/>
              </a:solidFill>
              <a:latin typeface="Arial"/>
            </a:endParaRPr>
          </a:p>
        </p:txBody>
      </p:sp>
      <p:sp>
        <p:nvSpPr>
          <p:cNvPr id="220" name="Text 16"/>
          <p:cNvSpPr/>
          <p:nvPr/>
        </p:nvSpPr>
        <p:spPr>
          <a:xfrm>
            <a:off x="5532120" y="2560320"/>
            <a:ext cx="1627200" cy="511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f87171"/>
                </a:solidFill>
                <a:latin typeface="Calibri"/>
                <a:ea typeface="Calibri"/>
              </a:rPr>
              <a:t>Investigate Crimes</a:t>
            </a:r>
            <a:endParaRPr b="0" lang="en-US" sz="950" spc="-1" strike="noStrike">
              <a:solidFill>
                <a:srgbClr val="000000"/>
              </a:solidFill>
              <a:latin typeface="Arial"/>
            </a:endParaRPr>
          </a:p>
          <a:p>
            <a:pPr algn="ctr" defTabSz="914400">
              <a:lnSpc>
                <a:spcPct val="100000"/>
              </a:lnSpc>
              <a:tabLst>
                <a:tab algn="l" pos="0"/>
              </a:tabLst>
            </a:pPr>
            <a:r>
              <a:rPr b="1" lang="en-US" sz="950" spc="-1" strike="noStrike">
                <a:solidFill>
                  <a:srgbClr val="f87171"/>
                </a:solidFill>
                <a:latin typeface="Calibri"/>
                <a:ea typeface="Calibri"/>
              </a:rPr>
              <a:t>(Lie Detection)</a:t>
            </a:r>
            <a:endParaRPr b="0" lang="en-US" sz="950" spc="-1" strike="noStrike">
              <a:solidFill>
                <a:srgbClr val="000000"/>
              </a:solidFill>
              <a:latin typeface="Arial"/>
            </a:endParaRPr>
          </a:p>
        </p:txBody>
      </p:sp>
      <p:sp>
        <p:nvSpPr>
          <p:cNvPr id="221" name="Shape 17"/>
          <p:cNvSpPr/>
          <p:nvPr/>
        </p:nvSpPr>
        <p:spPr>
          <a:xfrm>
            <a:off x="7269480" y="2103120"/>
            <a:ext cx="1627200" cy="1005480"/>
          </a:xfrm>
          <a:prstGeom prst="rect">
            <a:avLst/>
          </a:prstGeom>
          <a:solidFill>
            <a:srgbClr val="111b17"/>
          </a:solidFill>
          <a:ln w="1524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2" name="Text 18"/>
          <p:cNvSpPr/>
          <p:nvPr/>
        </p:nvSpPr>
        <p:spPr>
          <a:xfrm>
            <a:off x="7269480" y="2121480"/>
            <a:ext cx="1627200" cy="420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2000" spc="-1" strike="noStrike">
                <a:solidFill>
                  <a:srgbClr val="000000"/>
                </a:solidFill>
                <a:latin typeface="Calibri"/>
              </a:rPr>
              <a:t>📈</a:t>
            </a:r>
            <a:endParaRPr b="0" lang="en-US" sz="2000" spc="-1" strike="noStrike">
              <a:solidFill>
                <a:srgbClr val="000000"/>
              </a:solidFill>
              <a:latin typeface="Arial"/>
            </a:endParaRPr>
          </a:p>
        </p:txBody>
      </p:sp>
      <p:sp>
        <p:nvSpPr>
          <p:cNvPr id="223" name="Text 19"/>
          <p:cNvSpPr/>
          <p:nvPr/>
        </p:nvSpPr>
        <p:spPr>
          <a:xfrm>
            <a:off x="7269480" y="2560320"/>
            <a:ext cx="1627200" cy="5115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4ade80"/>
                </a:solidFill>
                <a:latin typeface="Calibri"/>
                <a:ea typeface="Calibri"/>
              </a:rPr>
              <a:t>Improve IDS</a:t>
            </a:r>
            <a:endParaRPr b="0" lang="en-US" sz="950" spc="-1" strike="noStrike">
              <a:solidFill>
                <a:srgbClr val="000000"/>
              </a:solidFill>
              <a:latin typeface="Arial"/>
            </a:endParaRPr>
          </a:p>
          <a:p>
            <a:pPr algn="ctr" defTabSz="914400">
              <a:lnSpc>
                <a:spcPct val="100000"/>
              </a:lnSpc>
              <a:tabLst>
                <a:tab algn="l" pos="0"/>
              </a:tabLst>
            </a:pPr>
            <a:r>
              <a:rPr b="1" lang="en-US" sz="950" spc="-1" strike="noStrike">
                <a:solidFill>
                  <a:srgbClr val="4ade80"/>
                </a:solidFill>
                <a:latin typeface="Calibri"/>
                <a:ea typeface="Calibri"/>
              </a:rPr>
              <a:t>Performance</a:t>
            </a:r>
            <a:endParaRPr b="0" lang="en-US" sz="950" spc="-1" strike="noStrike">
              <a:solidFill>
                <a:srgbClr val="000000"/>
              </a:solidFill>
              <a:latin typeface="Arial"/>
            </a:endParaRPr>
          </a:p>
        </p:txBody>
      </p:sp>
      <p:sp>
        <p:nvSpPr>
          <p:cNvPr id="224" name="Text 20"/>
          <p:cNvSpPr/>
          <p:nvPr/>
        </p:nvSpPr>
        <p:spPr>
          <a:xfrm>
            <a:off x="365760" y="3255120"/>
            <a:ext cx="425160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4ade80"/>
                </a:solidFill>
                <a:latin typeface="Calibri"/>
                <a:ea typeface="Calibri"/>
              </a:rPr>
              <a:t>DM Techniques for Signature-Based Detection</a:t>
            </a:r>
            <a:endParaRPr b="0" lang="en-US" sz="1250" spc="-1" strike="noStrike">
              <a:solidFill>
                <a:srgbClr val="000000"/>
              </a:solidFill>
              <a:latin typeface="Arial"/>
            </a:endParaRPr>
          </a:p>
        </p:txBody>
      </p:sp>
      <p:sp>
        <p:nvSpPr>
          <p:cNvPr id="225" name="Shape 21"/>
          <p:cNvSpPr/>
          <p:nvPr/>
        </p:nvSpPr>
        <p:spPr>
          <a:xfrm>
            <a:off x="365760" y="3657600"/>
            <a:ext cx="4224240" cy="365400"/>
          </a:xfrm>
          <a:prstGeom prst="rect">
            <a:avLst/>
          </a:prstGeom>
          <a:solidFill>
            <a:srgbClr val="111b17"/>
          </a:solidFill>
          <a:ln w="9525">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6" name="Shape 22"/>
          <p:cNvSpPr/>
          <p:nvPr/>
        </p:nvSpPr>
        <p:spPr>
          <a:xfrm>
            <a:off x="365760" y="3657600"/>
            <a:ext cx="91080" cy="36540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7" name="Text 23"/>
          <p:cNvSpPr/>
          <p:nvPr/>
        </p:nvSpPr>
        <p:spPr>
          <a:xfrm>
            <a:off x="548640" y="367596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4ade80"/>
                </a:solidFill>
                <a:latin typeface="Calibri"/>
                <a:ea typeface="Calibri"/>
              </a:rPr>
              <a:t>Classification Algorithms: </a:t>
            </a:r>
            <a:endParaRPr b="0" lang="en-US" sz="1000" spc="-1" strike="noStrike">
              <a:solidFill>
                <a:srgbClr val="000000"/>
              </a:solidFill>
              <a:latin typeface="Arial"/>
            </a:endParaRPr>
          </a:p>
        </p:txBody>
      </p:sp>
      <p:sp>
        <p:nvSpPr>
          <p:cNvPr id="228" name="Shape 24"/>
          <p:cNvSpPr/>
          <p:nvPr/>
        </p:nvSpPr>
        <p:spPr>
          <a:xfrm>
            <a:off x="365760" y="4078080"/>
            <a:ext cx="4224240" cy="365400"/>
          </a:xfrm>
          <a:prstGeom prst="rect">
            <a:avLst/>
          </a:prstGeom>
          <a:solidFill>
            <a:srgbClr val="111b17"/>
          </a:solidFill>
          <a:ln w="9525">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29" name="Shape 25"/>
          <p:cNvSpPr/>
          <p:nvPr/>
        </p:nvSpPr>
        <p:spPr>
          <a:xfrm>
            <a:off x="365760" y="4078080"/>
            <a:ext cx="91080" cy="36540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0" name="Text 26"/>
          <p:cNvSpPr/>
          <p:nvPr/>
        </p:nvSpPr>
        <p:spPr>
          <a:xfrm>
            <a:off x="548640" y="409644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4ade80"/>
                </a:solidFill>
                <a:latin typeface="Calibri"/>
                <a:ea typeface="Calibri"/>
              </a:rPr>
              <a:t>Association Rule Mining: </a:t>
            </a:r>
            <a:endParaRPr b="0" lang="en-US" sz="1000" spc="-1" strike="noStrike">
              <a:solidFill>
                <a:srgbClr val="000000"/>
              </a:solidFill>
              <a:latin typeface="Arial"/>
            </a:endParaRPr>
          </a:p>
        </p:txBody>
      </p:sp>
      <p:sp>
        <p:nvSpPr>
          <p:cNvPr id="231" name="Shape 27"/>
          <p:cNvSpPr/>
          <p:nvPr/>
        </p:nvSpPr>
        <p:spPr>
          <a:xfrm>
            <a:off x="365760" y="4498920"/>
            <a:ext cx="4224240" cy="365400"/>
          </a:xfrm>
          <a:prstGeom prst="rect">
            <a:avLst/>
          </a:prstGeom>
          <a:solidFill>
            <a:srgbClr val="111b17"/>
          </a:solidFill>
          <a:ln w="9525">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2" name="Shape 28"/>
          <p:cNvSpPr/>
          <p:nvPr/>
        </p:nvSpPr>
        <p:spPr>
          <a:xfrm>
            <a:off x="365760" y="4498920"/>
            <a:ext cx="91080" cy="36540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3" name="Text 29"/>
          <p:cNvSpPr/>
          <p:nvPr/>
        </p:nvSpPr>
        <p:spPr>
          <a:xfrm>
            <a:off x="548640" y="451728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4ade80"/>
                </a:solidFill>
                <a:latin typeface="Calibri"/>
                <a:ea typeface="Calibri"/>
              </a:rPr>
              <a:t>Cost-Sensitive Modelling: </a:t>
            </a:r>
            <a:endParaRPr b="0" lang="en-US" sz="1000" spc="-1" strike="noStrike">
              <a:solidFill>
                <a:srgbClr val="000000"/>
              </a:solidFill>
              <a:latin typeface="Arial"/>
            </a:endParaRPr>
          </a:p>
        </p:txBody>
      </p:sp>
      <p:sp>
        <p:nvSpPr>
          <p:cNvPr id="234" name="Text 30"/>
          <p:cNvSpPr/>
          <p:nvPr/>
        </p:nvSpPr>
        <p:spPr>
          <a:xfrm>
            <a:off x="4736520" y="3255120"/>
            <a:ext cx="425160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cd34d"/>
                </a:solidFill>
                <a:latin typeface="Calibri"/>
                <a:ea typeface="Calibri"/>
              </a:rPr>
              <a:t>DM Techniques for Anomaly-Based Detection</a:t>
            </a:r>
            <a:endParaRPr b="0" lang="en-US" sz="1250" spc="-1" strike="noStrike">
              <a:solidFill>
                <a:srgbClr val="000000"/>
              </a:solidFill>
              <a:latin typeface="Arial"/>
            </a:endParaRPr>
          </a:p>
        </p:txBody>
      </p:sp>
      <p:sp>
        <p:nvSpPr>
          <p:cNvPr id="235" name="Shape 31"/>
          <p:cNvSpPr/>
          <p:nvPr/>
        </p:nvSpPr>
        <p:spPr>
          <a:xfrm>
            <a:off x="4736520" y="3657600"/>
            <a:ext cx="4224240" cy="365400"/>
          </a:xfrm>
          <a:prstGeom prst="rect">
            <a:avLst/>
          </a:prstGeom>
          <a:solidFill>
            <a:srgbClr val="111b17"/>
          </a:solidFill>
          <a:ln w="9525">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6" name="Shape 32"/>
          <p:cNvSpPr/>
          <p:nvPr/>
        </p:nvSpPr>
        <p:spPr>
          <a:xfrm>
            <a:off x="4736520" y="3657600"/>
            <a:ext cx="91080" cy="36540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7" name="Text 33"/>
          <p:cNvSpPr/>
          <p:nvPr/>
        </p:nvSpPr>
        <p:spPr>
          <a:xfrm>
            <a:off x="4919400" y="367596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fcd34d"/>
                </a:solidFill>
                <a:latin typeface="Calibri"/>
                <a:ea typeface="Calibri"/>
              </a:rPr>
              <a:t>Clustering: </a:t>
            </a:r>
            <a:endParaRPr b="0" lang="en-US" sz="1000" spc="-1" strike="noStrike">
              <a:solidFill>
                <a:srgbClr val="000000"/>
              </a:solidFill>
              <a:latin typeface="Arial"/>
            </a:endParaRPr>
          </a:p>
        </p:txBody>
      </p:sp>
      <p:sp>
        <p:nvSpPr>
          <p:cNvPr id="238" name="Shape 34"/>
          <p:cNvSpPr/>
          <p:nvPr/>
        </p:nvSpPr>
        <p:spPr>
          <a:xfrm>
            <a:off x="4736520" y="4078080"/>
            <a:ext cx="4224240" cy="365400"/>
          </a:xfrm>
          <a:prstGeom prst="rect">
            <a:avLst/>
          </a:prstGeom>
          <a:solidFill>
            <a:srgbClr val="111b17"/>
          </a:solidFill>
          <a:ln w="9525">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39" name="Shape 35"/>
          <p:cNvSpPr/>
          <p:nvPr/>
        </p:nvSpPr>
        <p:spPr>
          <a:xfrm>
            <a:off x="4736520" y="4078080"/>
            <a:ext cx="91080" cy="36540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0" name="Text 36"/>
          <p:cNvSpPr/>
          <p:nvPr/>
        </p:nvSpPr>
        <p:spPr>
          <a:xfrm>
            <a:off x="4919400" y="409644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fcd34d"/>
                </a:solidFill>
                <a:latin typeface="Calibri"/>
                <a:ea typeface="Calibri"/>
              </a:rPr>
              <a:t>Outlier Analysis: </a:t>
            </a:r>
            <a:endParaRPr b="0" lang="en-US" sz="1000" spc="-1" strike="noStrike">
              <a:solidFill>
                <a:srgbClr val="000000"/>
              </a:solidFill>
              <a:latin typeface="Arial"/>
            </a:endParaRPr>
          </a:p>
        </p:txBody>
      </p:sp>
      <p:sp>
        <p:nvSpPr>
          <p:cNvPr id="241" name="Shape 37"/>
          <p:cNvSpPr/>
          <p:nvPr/>
        </p:nvSpPr>
        <p:spPr>
          <a:xfrm>
            <a:off x="4736520" y="4498920"/>
            <a:ext cx="4224240" cy="365400"/>
          </a:xfrm>
          <a:prstGeom prst="rect">
            <a:avLst/>
          </a:prstGeom>
          <a:solidFill>
            <a:srgbClr val="111b17"/>
          </a:solidFill>
          <a:ln w="9525">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2" name="Shape 38"/>
          <p:cNvSpPr/>
          <p:nvPr/>
        </p:nvSpPr>
        <p:spPr>
          <a:xfrm>
            <a:off x="4736520" y="4498920"/>
            <a:ext cx="91080" cy="36540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43" name="Text 39"/>
          <p:cNvSpPr/>
          <p:nvPr/>
        </p:nvSpPr>
        <p:spPr>
          <a:xfrm>
            <a:off x="4919400" y="4517280"/>
            <a:ext cx="3840120" cy="328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000" spc="-1" strike="noStrike">
                <a:solidFill>
                  <a:srgbClr val="fcd34d"/>
                </a:solidFill>
                <a:latin typeface="Calibri"/>
                <a:ea typeface="Calibri"/>
              </a:rPr>
              <a:t>Statistical Approaches: </a:t>
            </a:r>
            <a:endParaRPr b="0" lang="en-US" sz="1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f0d"/>
        </a:solidFill>
      </p:bgPr>
    </p:bg>
    <p:spTree>
      <p:nvGrpSpPr>
        <p:cNvPr id="1" name=""/>
        <p:cNvGrpSpPr/>
        <p:nvPr/>
      </p:nvGrpSpPr>
      <p:grpSpPr>
        <a:xfrm>
          <a:off x="0" y="0"/>
          <a:ext cx="0" cy="0"/>
          <a:chOff x="0" y="0"/>
          <a:chExt cx="0" cy="0"/>
        </a:xfrm>
      </p:grpSpPr>
      <p:sp>
        <p:nvSpPr>
          <p:cNvPr id="244" name="Shape 0"/>
          <p:cNvSpPr/>
          <p:nvPr/>
        </p:nvSpPr>
        <p:spPr>
          <a:xfrm>
            <a:off x="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5" name="Shape 1"/>
          <p:cNvSpPr/>
          <p:nvPr/>
        </p:nvSpPr>
        <p:spPr>
          <a:xfrm>
            <a:off x="4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6" name="Shape 2"/>
          <p:cNvSpPr/>
          <p:nvPr/>
        </p:nvSpPr>
        <p:spPr>
          <a:xfrm>
            <a:off x="9691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7" name="Shape 3"/>
          <p:cNvSpPr/>
          <p:nvPr/>
        </p:nvSpPr>
        <p:spPr>
          <a:xfrm>
            <a:off x="14536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8" name="Shape 4"/>
          <p:cNvSpPr/>
          <p:nvPr/>
        </p:nvSpPr>
        <p:spPr>
          <a:xfrm>
            <a:off x="19382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49" name="Shape 5"/>
          <p:cNvSpPr/>
          <p:nvPr/>
        </p:nvSpPr>
        <p:spPr>
          <a:xfrm>
            <a:off x="24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0" name="Shape 6"/>
          <p:cNvSpPr/>
          <p:nvPr/>
        </p:nvSpPr>
        <p:spPr>
          <a:xfrm>
            <a:off x="29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1" name="Shape 7"/>
          <p:cNvSpPr/>
          <p:nvPr/>
        </p:nvSpPr>
        <p:spPr>
          <a:xfrm>
            <a:off x="33922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2" name="Shape 8"/>
          <p:cNvSpPr/>
          <p:nvPr/>
        </p:nvSpPr>
        <p:spPr>
          <a:xfrm>
            <a:off x="38768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3" name="Shape 9"/>
          <p:cNvSpPr/>
          <p:nvPr/>
        </p:nvSpPr>
        <p:spPr>
          <a:xfrm>
            <a:off x="43614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4" name="Shape 10"/>
          <p:cNvSpPr/>
          <p:nvPr/>
        </p:nvSpPr>
        <p:spPr>
          <a:xfrm>
            <a:off x="48463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5" name="Shape 11"/>
          <p:cNvSpPr/>
          <p:nvPr/>
        </p:nvSpPr>
        <p:spPr>
          <a:xfrm>
            <a:off x="53308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6" name="Shape 12"/>
          <p:cNvSpPr/>
          <p:nvPr/>
        </p:nvSpPr>
        <p:spPr>
          <a:xfrm>
            <a:off x="58154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7" name="Shape 13"/>
          <p:cNvSpPr/>
          <p:nvPr/>
        </p:nvSpPr>
        <p:spPr>
          <a:xfrm>
            <a:off x="63000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8" name="Shape 14"/>
          <p:cNvSpPr/>
          <p:nvPr/>
        </p:nvSpPr>
        <p:spPr>
          <a:xfrm>
            <a:off x="67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59" name="Shape 15"/>
          <p:cNvSpPr/>
          <p:nvPr/>
        </p:nvSpPr>
        <p:spPr>
          <a:xfrm>
            <a:off x="72694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0" name="Shape 16"/>
          <p:cNvSpPr/>
          <p:nvPr/>
        </p:nvSpPr>
        <p:spPr>
          <a:xfrm>
            <a:off x="77540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1" name="Shape 17"/>
          <p:cNvSpPr/>
          <p:nvPr/>
        </p:nvSpPr>
        <p:spPr>
          <a:xfrm>
            <a:off x="82386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2" name="Shape 18"/>
          <p:cNvSpPr/>
          <p:nvPr/>
        </p:nvSpPr>
        <p:spPr>
          <a:xfrm>
            <a:off x="87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3" name="Shape 19"/>
          <p:cNvSpPr/>
          <p:nvPr/>
        </p:nvSpPr>
        <p:spPr>
          <a:xfrm>
            <a:off x="92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264" name="Shape 20"/>
          <p:cNvSpPr/>
          <p:nvPr/>
        </p:nvSpPr>
        <p:spPr>
          <a:xfrm>
            <a:off x="0" y="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5" name="Shape 21"/>
          <p:cNvSpPr/>
          <p:nvPr/>
        </p:nvSpPr>
        <p:spPr>
          <a:xfrm>
            <a:off x="0" y="5119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6" name="Shape 22"/>
          <p:cNvSpPr/>
          <p:nvPr/>
        </p:nvSpPr>
        <p:spPr>
          <a:xfrm>
            <a:off x="0" y="10238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7" name="Shape 23"/>
          <p:cNvSpPr/>
          <p:nvPr/>
        </p:nvSpPr>
        <p:spPr>
          <a:xfrm>
            <a:off x="0" y="15361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8" name="Shape 24"/>
          <p:cNvSpPr/>
          <p:nvPr/>
        </p:nvSpPr>
        <p:spPr>
          <a:xfrm>
            <a:off x="0" y="20480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69" name="Shape 25"/>
          <p:cNvSpPr/>
          <p:nvPr/>
        </p:nvSpPr>
        <p:spPr>
          <a:xfrm>
            <a:off x="0" y="25603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0" name="Shape 26"/>
          <p:cNvSpPr/>
          <p:nvPr/>
        </p:nvSpPr>
        <p:spPr>
          <a:xfrm>
            <a:off x="0" y="30722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1" name="Shape 27"/>
          <p:cNvSpPr/>
          <p:nvPr/>
        </p:nvSpPr>
        <p:spPr>
          <a:xfrm>
            <a:off x="0" y="35841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2" name="Shape 28"/>
          <p:cNvSpPr/>
          <p:nvPr/>
        </p:nvSpPr>
        <p:spPr>
          <a:xfrm>
            <a:off x="0" y="40964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3" name="Shape 29"/>
          <p:cNvSpPr/>
          <p:nvPr/>
        </p:nvSpPr>
        <p:spPr>
          <a:xfrm>
            <a:off x="0" y="46083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4" name="Shape 30"/>
          <p:cNvSpPr/>
          <p:nvPr/>
        </p:nvSpPr>
        <p:spPr>
          <a:xfrm>
            <a:off x="0" y="51206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275" name="Shape 31"/>
          <p:cNvSpPr/>
          <p:nvPr/>
        </p:nvSpPr>
        <p:spPr>
          <a:xfrm>
            <a:off x="0" y="0"/>
            <a:ext cx="9143640" cy="914040"/>
          </a:xfrm>
          <a:prstGeom prst="rect">
            <a:avLst/>
          </a:prstGeom>
          <a:solidFill>
            <a:srgbClr val="111b17"/>
          </a:solidFill>
          <a:ln w="12700">
            <a:solidFill>
              <a:srgbClr val="111b17"/>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6" name="Shape 32"/>
          <p:cNvSpPr/>
          <p:nvPr/>
        </p:nvSpPr>
        <p:spPr>
          <a:xfrm>
            <a:off x="0" y="914400"/>
            <a:ext cx="9143640" cy="54360"/>
          </a:xfrm>
          <a:prstGeom prst="rect">
            <a:avLst/>
          </a:prstGeom>
          <a:solidFill>
            <a:srgbClr val="4ade80"/>
          </a:solidFill>
          <a:ln w="12700">
            <a:solidFill>
              <a:srgbClr val="4ade80"/>
            </a:solidFill>
            <a:round/>
          </a:ln>
        </p:spPr>
        <p:style>
          <a:lnRef idx="0"/>
          <a:fillRef idx="0"/>
          <a:effectRef idx="0"/>
          <a:fontRef idx="minor"/>
        </p:style>
        <p:txBody>
          <a:bodyPr lIns="90000" rIns="90000" tIns="9720" bIns="9720" anchor="t">
            <a:noAutofit/>
          </a:bodyPr>
          <a:p>
            <a:endParaRPr b="0" lang="en-US" sz="1800" spc="-1" strike="noStrike">
              <a:solidFill>
                <a:srgbClr val="000000"/>
              </a:solidFill>
              <a:latin typeface="Arial"/>
            </a:endParaRPr>
          </a:p>
        </p:txBody>
      </p:sp>
      <p:sp>
        <p:nvSpPr>
          <p:cNvPr id="277" name="Text 33"/>
          <p:cNvSpPr/>
          <p:nvPr/>
        </p:nvSpPr>
        <p:spPr>
          <a:xfrm>
            <a:off x="411480" y="0"/>
            <a:ext cx="8320680" cy="914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f0fdf4"/>
                </a:solidFill>
                <a:latin typeface="Calibri"/>
                <a:ea typeface="Calibri"/>
              </a:rPr>
              <a:t>4 Key Data Mining Applications in IDS/IPS</a:t>
            </a:r>
            <a:endParaRPr b="0" lang="en-US" sz="2800" spc="-1" strike="noStrike">
              <a:solidFill>
                <a:srgbClr val="ffffff"/>
              </a:solidFill>
              <a:latin typeface="Arial"/>
            </a:endParaRPr>
          </a:p>
        </p:txBody>
      </p:sp>
      <p:sp>
        <p:nvSpPr>
          <p:cNvPr id="278" name="Shape 34"/>
          <p:cNvSpPr/>
          <p:nvPr/>
        </p:nvSpPr>
        <p:spPr>
          <a:xfrm>
            <a:off x="274320" y="1060560"/>
            <a:ext cx="4260600" cy="1810080"/>
          </a:xfrm>
          <a:prstGeom prst="rect">
            <a:avLst/>
          </a:prstGeom>
          <a:solidFill>
            <a:srgbClr val="111b17"/>
          </a:solidFill>
          <a:ln w="22860">
            <a:solidFill>
              <a:srgbClr val="16a34a"/>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79" name="Shape 35"/>
          <p:cNvSpPr/>
          <p:nvPr/>
        </p:nvSpPr>
        <p:spPr>
          <a:xfrm>
            <a:off x="274320" y="1060560"/>
            <a:ext cx="4260600" cy="475200"/>
          </a:xfrm>
          <a:prstGeom prst="rect">
            <a:avLst/>
          </a:prstGeom>
          <a:solidFill>
            <a:srgbClr val="0f3d20"/>
          </a:solidFill>
          <a:ln w="12700">
            <a:solidFill>
              <a:srgbClr val="0f3d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0" name="Shape 36"/>
          <p:cNvSpPr/>
          <p:nvPr/>
        </p:nvSpPr>
        <p:spPr>
          <a:xfrm>
            <a:off x="384120" y="1152000"/>
            <a:ext cx="347040" cy="347040"/>
          </a:xfrm>
          <a:prstGeom prst="ellipse">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1" name="Text 37"/>
          <p:cNvSpPr/>
          <p:nvPr/>
        </p:nvSpPr>
        <p:spPr>
          <a:xfrm>
            <a:off x="384120" y="115200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rPr>
              <a:t>01</a:t>
            </a:r>
            <a:endParaRPr b="0" lang="en-US" sz="1100" spc="-1" strike="noStrike">
              <a:solidFill>
                <a:srgbClr val="ffffff"/>
              </a:solidFill>
              <a:latin typeface="Arial"/>
            </a:endParaRPr>
          </a:p>
        </p:txBody>
      </p:sp>
      <p:sp>
        <p:nvSpPr>
          <p:cNvPr id="282" name="Text 38"/>
          <p:cNvSpPr/>
          <p:nvPr/>
        </p:nvSpPr>
        <p:spPr>
          <a:xfrm>
            <a:off x="822960" y="1152000"/>
            <a:ext cx="36115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0fdf4"/>
                </a:solidFill>
                <a:latin typeface="Calibri"/>
                <a:ea typeface="Calibri"/>
              </a:rPr>
              <a:t>🧠  </a:t>
            </a:r>
            <a:r>
              <a:rPr b="1" lang="en-US" sz="1250" spc="-1" strike="noStrike">
                <a:solidFill>
                  <a:srgbClr val="f0fdf4"/>
                </a:solidFill>
                <a:latin typeface="Calibri"/>
                <a:ea typeface="Calibri"/>
              </a:rPr>
              <a:t>New IDS Model Development</a:t>
            </a:r>
            <a:endParaRPr b="0" lang="en-US" sz="1250" spc="-1" strike="noStrike">
              <a:solidFill>
                <a:srgbClr val="ffffff"/>
              </a:solidFill>
              <a:latin typeface="Arial"/>
            </a:endParaRPr>
          </a:p>
        </p:txBody>
      </p:sp>
      <p:sp>
        <p:nvSpPr>
          <p:cNvPr id="283" name="Text 39"/>
          <p:cNvSpPr/>
          <p:nvPr/>
        </p:nvSpPr>
        <p:spPr>
          <a:xfrm>
            <a:off x="384120" y="1572840"/>
            <a:ext cx="4041360" cy="1243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80" spc="-1" strike="noStrike">
                <a:solidFill>
                  <a:srgbClr val="bbf7d0"/>
                </a:solidFill>
                <a:latin typeface="Calibri"/>
                <a:ea typeface="Calibri"/>
              </a:rPr>
              <a:t>Data mining algorithms build IDS models with higher efficiency and lower false alarm rates. Both signature-based (classification + association rule mining) and anomaly-based methods (clustering, outlier analysis) are used. Strategies must be efficient, scalable, and handle high-volume, high-dimensional, heterogeneous network data.</a:t>
            </a:r>
            <a:endParaRPr b="0" lang="en-US" sz="980" spc="-1" strike="noStrike">
              <a:solidFill>
                <a:srgbClr val="ffffff"/>
              </a:solidFill>
              <a:latin typeface="Arial"/>
            </a:endParaRPr>
          </a:p>
        </p:txBody>
      </p:sp>
      <p:sp>
        <p:nvSpPr>
          <p:cNvPr id="284" name="Shape 40"/>
          <p:cNvSpPr/>
          <p:nvPr/>
        </p:nvSpPr>
        <p:spPr>
          <a:xfrm>
            <a:off x="4736520" y="1060560"/>
            <a:ext cx="4260600" cy="1810080"/>
          </a:xfrm>
          <a:prstGeom prst="rect">
            <a:avLst/>
          </a:prstGeom>
          <a:solidFill>
            <a:srgbClr val="111b17"/>
          </a:solidFill>
          <a:ln w="22860">
            <a:solidFill>
              <a:srgbClr val="dc262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5" name="Shape 41"/>
          <p:cNvSpPr/>
          <p:nvPr/>
        </p:nvSpPr>
        <p:spPr>
          <a:xfrm>
            <a:off x="4736520" y="1060560"/>
            <a:ext cx="4260600" cy="475200"/>
          </a:xfrm>
          <a:prstGeom prst="rect">
            <a:avLst/>
          </a:prstGeom>
          <a:solidFill>
            <a:srgbClr val="7f1d1d"/>
          </a:solidFill>
          <a:ln w="12700">
            <a:solidFill>
              <a:srgbClr val="7f1d1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6" name="Shape 42"/>
          <p:cNvSpPr/>
          <p:nvPr/>
        </p:nvSpPr>
        <p:spPr>
          <a:xfrm>
            <a:off x="4846320" y="1152000"/>
            <a:ext cx="347040" cy="347040"/>
          </a:xfrm>
          <a:prstGeom prst="ellipse">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87" name="Text 43"/>
          <p:cNvSpPr/>
          <p:nvPr/>
        </p:nvSpPr>
        <p:spPr>
          <a:xfrm>
            <a:off x="4846320" y="115200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rPr>
              <a:t>02</a:t>
            </a:r>
            <a:endParaRPr b="0" lang="en-US" sz="1100" spc="-1" strike="noStrike">
              <a:solidFill>
                <a:srgbClr val="ffffff"/>
              </a:solidFill>
              <a:latin typeface="Arial"/>
            </a:endParaRPr>
          </a:p>
        </p:txBody>
      </p:sp>
      <p:sp>
        <p:nvSpPr>
          <p:cNvPr id="288" name="Text 44"/>
          <p:cNvSpPr/>
          <p:nvPr/>
        </p:nvSpPr>
        <p:spPr>
          <a:xfrm>
            <a:off x="5285160" y="1152000"/>
            <a:ext cx="36115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0fdf4"/>
                </a:solidFill>
                <a:latin typeface="Calibri"/>
                <a:ea typeface="Calibri"/>
              </a:rPr>
              <a:t>🌊  </a:t>
            </a:r>
            <a:r>
              <a:rPr b="1" lang="en-US" sz="1250" spc="-1" strike="noStrike">
                <a:solidFill>
                  <a:srgbClr val="f0fdf4"/>
                </a:solidFill>
                <a:latin typeface="Calibri"/>
                <a:ea typeface="Calibri"/>
              </a:rPr>
              <a:t>Stream Data Analysis</a:t>
            </a:r>
            <a:endParaRPr b="0" lang="en-US" sz="1250" spc="-1" strike="noStrike">
              <a:solidFill>
                <a:srgbClr val="ffffff"/>
              </a:solidFill>
              <a:latin typeface="Arial"/>
            </a:endParaRPr>
          </a:p>
        </p:txBody>
      </p:sp>
      <p:sp>
        <p:nvSpPr>
          <p:cNvPr id="289" name="Text 45"/>
          <p:cNvSpPr/>
          <p:nvPr/>
        </p:nvSpPr>
        <p:spPr>
          <a:xfrm>
            <a:off x="4846320" y="1572840"/>
            <a:ext cx="4041360" cy="1243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80" spc="-1" strike="noStrike">
                <a:solidFill>
                  <a:srgbClr val="bbf7d0"/>
                </a:solidFill>
                <a:latin typeface="Calibri"/>
                <a:ea typeface="Calibri"/>
              </a:rPr>
              <a:t>Intrusions are dynamic — data mining algorithms must operate on live data streams, not just static datasets. Events may be individually normal but malicious in sequence, so sequential pattern mining and evolving cluster models are essential for real-time detection. Dynamic classification models adapt to shifting attack patterns.</a:t>
            </a:r>
            <a:endParaRPr b="0" lang="en-US" sz="980" spc="-1" strike="noStrike">
              <a:solidFill>
                <a:srgbClr val="ffffff"/>
              </a:solidFill>
              <a:latin typeface="Arial"/>
            </a:endParaRPr>
          </a:p>
        </p:txBody>
      </p:sp>
      <p:sp>
        <p:nvSpPr>
          <p:cNvPr id="290" name="Shape 46"/>
          <p:cNvSpPr/>
          <p:nvPr/>
        </p:nvSpPr>
        <p:spPr>
          <a:xfrm>
            <a:off x="274320" y="3017520"/>
            <a:ext cx="4260600" cy="1810080"/>
          </a:xfrm>
          <a:prstGeom prst="rect">
            <a:avLst/>
          </a:prstGeom>
          <a:solidFill>
            <a:srgbClr val="111b17"/>
          </a:solidFill>
          <a:ln w="2286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1" name="Shape 47"/>
          <p:cNvSpPr/>
          <p:nvPr/>
        </p:nvSpPr>
        <p:spPr>
          <a:xfrm>
            <a:off x="274320" y="3017520"/>
            <a:ext cx="4260600" cy="475200"/>
          </a:xfrm>
          <a:prstGeom prst="rect">
            <a:avLst/>
          </a:prstGeom>
          <a:solidFill>
            <a:srgbClr val="78350f"/>
          </a:solidFill>
          <a:ln w="12700">
            <a:solidFill>
              <a:srgbClr val="78350f"/>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2" name="Shape 48"/>
          <p:cNvSpPr/>
          <p:nvPr/>
        </p:nvSpPr>
        <p:spPr>
          <a:xfrm>
            <a:off x="384120" y="3108960"/>
            <a:ext cx="347040" cy="347040"/>
          </a:xfrm>
          <a:prstGeom prst="ellipse">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3" name="Text 49"/>
          <p:cNvSpPr/>
          <p:nvPr/>
        </p:nvSpPr>
        <p:spPr>
          <a:xfrm>
            <a:off x="384120" y="3108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rPr>
              <a:t>03</a:t>
            </a:r>
            <a:endParaRPr b="0" lang="en-US" sz="1100" spc="-1" strike="noStrike">
              <a:solidFill>
                <a:srgbClr val="ffffff"/>
              </a:solidFill>
              <a:latin typeface="Arial"/>
            </a:endParaRPr>
          </a:p>
        </p:txBody>
      </p:sp>
      <p:sp>
        <p:nvSpPr>
          <p:cNvPr id="294" name="Text 50"/>
          <p:cNvSpPr/>
          <p:nvPr/>
        </p:nvSpPr>
        <p:spPr>
          <a:xfrm>
            <a:off x="822960" y="3108960"/>
            <a:ext cx="36115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f0fdf4"/>
                </a:solidFill>
                <a:latin typeface="Calibri"/>
                <a:ea typeface="Calibri"/>
              </a:rPr>
              <a:t>🌐  </a:t>
            </a:r>
            <a:r>
              <a:rPr b="1" lang="en-US" sz="1250" spc="-1" strike="noStrike">
                <a:solidFill>
                  <a:srgbClr val="f0fdf4"/>
                </a:solidFill>
                <a:latin typeface="Calibri"/>
                <a:ea typeface="Calibri"/>
              </a:rPr>
              <a:t>Distributed Data Mining</a:t>
            </a:r>
            <a:endParaRPr b="0" lang="en-US" sz="1250" spc="-1" strike="noStrike">
              <a:solidFill>
                <a:srgbClr val="ffffff"/>
              </a:solidFill>
              <a:latin typeface="Arial"/>
            </a:endParaRPr>
          </a:p>
        </p:txBody>
      </p:sp>
      <p:sp>
        <p:nvSpPr>
          <p:cNvPr id="295" name="Text 51"/>
          <p:cNvSpPr/>
          <p:nvPr/>
        </p:nvSpPr>
        <p:spPr>
          <a:xfrm>
            <a:off x="384120" y="3529440"/>
            <a:ext cx="4041360" cy="1243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80" spc="-1" strike="noStrike">
                <a:solidFill>
                  <a:srgbClr val="bbf7d0"/>
                </a:solidFill>
                <a:latin typeface="Calibri"/>
                <a:ea typeface="Calibri"/>
              </a:rPr>
              <a:t>Intrusions can be launched from multiple locations targeting many destinations. Distributed data mining analyses network data from numerous sites simultaneously, detecting coordinated distributed attacks that would be invisible from a single vantage point. Data is inherently distributed across databases requiring parallel processing.</a:t>
            </a:r>
            <a:endParaRPr b="0" lang="en-US" sz="980" spc="-1" strike="noStrike">
              <a:solidFill>
                <a:srgbClr val="ffffff"/>
              </a:solidFill>
              <a:latin typeface="Arial"/>
            </a:endParaRPr>
          </a:p>
        </p:txBody>
      </p:sp>
      <p:sp>
        <p:nvSpPr>
          <p:cNvPr id="296" name="Shape 52"/>
          <p:cNvSpPr/>
          <p:nvPr/>
        </p:nvSpPr>
        <p:spPr>
          <a:xfrm>
            <a:off x="4736520" y="3017520"/>
            <a:ext cx="4260600" cy="1810080"/>
          </a:xfrm>
          <a:prstGeom prst="rect">
            <a:avLst/>
          </a:prstGeom>
          <a:solidFill>
            <a:srgbClr val="111b17"/>
          </a:solidFill>
          <a:ln w="22860">
            <a:solidFill>
              <a:srgbClr val="4ade80"/>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7" name="Shape 53"/>
          <p:cNvSpPr/>
          <p:nvPr/>
        </p:nvSpPr>
        <p:spPr>
          <a:xfrm>
            <a:off x="4736520" y="3017520"/>
            <a:ext cx="4260600" cy="475200"/>
          </a:xfrm>
          <a:prstGeom prst="rect">
            <a:avLst/>
          </a:prstGeom>
          <a:solidFill>
            <a:srgbClr val="0f3d20"/>
          </a:solidFill>
          <a:ln w="12700">
            <a:solidFill>
              <a:srgbClr val="0f3d20"/>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298" name="Shape 54"/>
          <p:cNvSpPr/>
          <p:nvPr/>
        </p:nvSpPr>
        <p:spPr>
          <a:xfrm>
            <a:off x="4846320" y="3108960"/>
            <a:ext cx="347040" cy="347040"/>
          </a:xfrm>
          <a:prstGeom prst="ellipse">
            <a:avLst/>
          </a:prstGeom>
          <a:solidFill>
            <a:srgbClr val="4ade80"/>
          </a:solidFill>
          <a:ln w="12700">
            <a:solidFill>
              <a:srgbClr val="4ade8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299" name="Text 55"/>
          <p:cNvSpPr/>
          <p:nvPr/>
        </p:nvSpPr>
        <p:spPr>
          <a:xfrm>
            <a:off x="4846320" y="3108960"/>
            <a:ext cx="347040" cy="3470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00" spc="-1" strike="noStrike">
                <a:solidFill>
                  <a:srgbClr val="0a0f0d"/>
                </a:solidFill>
                <a:latin typeface="Calibri"/>
              </a:rPr>
              <a:t>04</a:t>
            </a:r>
            <a:endParaRPr b="0" lang="en-US" sz="1100" spc="-1" strike="noStrike">
              <a:solidFill>
                <a:srgbClr val="ffffff"/>
              </a:solidFill>
              <a:latin typeface="Arial"/>
            </a:endParaRPr>
          </a:p>
        </p:txBody>
      </p:sp>
      <p:sp>
        <p:nvSpPr>
          <p:cNvPr id="300" name="Text 56"/>
          <p:cNvSpPr/>
          <p:nvPr/>
        </p:nvSpPr>
        <p:spPr>
          <a:xfrm>
            <a:off x="5285160" y="3108960"/>
            <a:ext cx="3611520" cy="3470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250" spc="-1" strike="noStrike">
                <a:solidFill>
                  <a:srgbClr val="0a0f0d"/>
                </a:solidFill>
                <a:latin typeface="Calibri"/>
                <a:ea typeface="Calibri"/>
              </a:rPr>
              <a:t>📊  </a:t>
            </a:r>
            <a:r>
              <a:rPr b="1" lang="en-US" sz="1250" spc="-1" strike="noStrike">
                <a:solidFill>
                  <a:srgbClr val="0a0f0d"/>
                </a:solidFill>
                <a:latin typeface="Calibri"/>
                <a:ea typeface="Calibri"/>
              </a:rPr>
              <a:t>Visualization Tools</a:t>
            </a:r>
            <a:endParaRPr b="0" lang="en-US" sz="1250" spc="-1" strike="noStrike">
              <a:solidFill>
                <a:srgbClr val="ffffff"/>
              </a:solidFill>
              <a:latin typeface="Arial"/>
            </a:endParaRPr>
          </a:p>
        </p:txBody>
      </p:sp>
      <p:sp>
        <p:nvSpPr>
          <p:cNvPr id="301" name="Text 57"/>
          <p:cNvSpPr/>
          <p:nvPr/>
        </p:nvSpPr>
        <p:spPr>
          <a:xfrm>
            <a:off x="4846320" y="3529440"/>
            <a:ext cx="4041360" cy="12430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80" spc="-1" strike="noStrike">
                <a:solidFill>
                  <a:srgbClr val="bbf7d0"/>
                </a:solidFill>
                <a:latin typeface="Calibri"/>
                <a:ea typeface="Calibri"/>
              </a:rPr>
              <a:t>Visual tools represent anomalous data as graphs, association maps, cluster plots, and outlier charts. Security analysts use graphical interfaces to query network data and inspect detection results. Capabilities include viewing associations, discriminative patterns, clusters, and outliers — making complex patterns human-interpretable.</a:t>
            </a:r>
            <a:endParaRPr b="0" lang="en-US" sz="98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0fff4"/>
        </a:solidFill>
      </p:bgPr>
    </p:bg>
    <p:spTree>
      <p:nvGrpSpPr>
        <p:cNvPr id="1" name=""/>
        <p:cNvGrpSpPr/>
        <p:nvPr/>
      </p:nvGrpSpPr>
      <p:grpSpPr>
        <a:xfrm>
          <a:off x="0" y="0"/>
          <a:ext cx="0" cy="0"/>
          <a:chOff x="0" y="0"/>
          <a:chExt cx="0" cy="0"/>
        </a:xfrm>
      </p:grpSpPr>
      <p:sp>
        <p:nvSpPr>
          <p:cNvPr id="302" name="Shape 0"/>
          <p:cNvSpPr/>
          <p:nvPr/>
        </p:nvSpPr>
        <p:spPr>
          <a:xfrm>
            <a:off x="0" y="0"/>
            <a:ext cx="9143640" cy="959760"/>
          </a:xfrm>
          <a:prstGeom prst="rect">
            <a:avLst/>
          </a:prstGeom>
          <a:solidFill>
            <a:srgbClr val="0a0f0d"/>
          </a:solidFill>
          <a:ln w="12700">
            <a:solidFill>
              <a:srgbClr val="0a0f0d"/>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3" name="Shape 1"/>
          <p:cNvSpPr/>
          <p:nvPr/>
        </p:nvSpPr>
        <p:spPr>
          <a:xfrm>
            <a:off x="0" y="960120"/>
            <a:ext cx="9143640" cy="63720"/>
          </a:xfrm>
          <a:prstGeom prst="rect">
            <a:avLst/>
          </a:prstGeom>
          <a:solidFill>
            <a:srgbClr val="f87171"/>
          </a:solidFill>
          <a:ln w="12700">
            <a:solidFill>
              <a:srgbClr val="f87171"/>
            </a:solidFill>
            <a:round/>
          </a:ln>
        </p:spPr>
        <p:style>
          <a:lnRef idx="0"/>
          <a:fillRef idx="0"/>
          <a:effectRef idx="0"/>
          <a:fontRef idx="minor"/>
        </p:style>
        <p:txBody>
          <a:bodyPr lIns="90000" rIns="90000" tIns="19080" bIns="19080" anchor="t">
            <a:noAutofit/>
          </a:bodyPr>
          <a:p>
            <a:endParaRPr b="0" lang="en-US" sz="1800" spc="-1" strike="noStrike">
              <a:solidFill>
                <a:srgbClr val="ffffff"/>
              </a:solidFill>
              <a:latin typeface="Arial"/>
            </a:endParaRPr>
          </a:p>
        </p:txBody>
      </p:sp>
      <p:sp>
        <p:nvSpPr>
          <p:cNvPr id="304" name="Text 2"/>
          <p:cNvSpPr/>
          <p:nvPr/>
        </p:nvSpPr>
        <p:spPr>
          <a:xfrm>
            <a:off x="411480" y="0"/>
            <a:ext cx="8320680" cy="9597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2800" spc="-1" strike="noStrike">
                <a:solidFill>
                  <a:srgbClr val="f87171"/>
                </a:solidFill>
                <a:latin typeface="Calibri"/>
                <a:ea typeface="Calibri"/>
              </a:rPr>
              <a:t>Data Mining Pipeline for Intrusion Detection</a:t>
            </a:r>
            <a:endParaRPr b="0" lang="en-US" sz="2800" spc="-1" strike="noStrike">
              <a:solidFill>
                <a:srgbClr val="000000"/>
              </a:solidFill>
              <a:latin typeface="Arial"/>
            </a:endParaRPr>
          </a:p>
        </p:txBody>
      </p:sp>
      <p:sp>
        <p:nvSpPr>
          <p:cNvPr id="305" name="Shape 3"/>
          <p:cNvSpPr/>
          <p:nvPr/>
        </p:nvSpPr>
        <p:spPr>
          <a:xfrm>
            <a:off x="255960" y="1170360"/>
            <a:ext cx="1627200" cy="2697120"/>
          </a:xfrm>
          <a:prstGeom prst="rect">
            <a:avLst/>
          </a:prstGeom>
          <a:solidFill>
            <a:srgbClr val="111b17"/>
          </a:solidFill>
          <a:ln w="22860">
            <a:solidFill>
              <a:srgbClr val="16a34a"/>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6" name="Shape 4"/>
          <p:cNvSpPr/>
          <p:nvPr/>
        </p:nvSpPr>
        <p:spPr>
          <a:xfrm>
            <a:off x="255960" y="1170360"/>
            <a:ext cx="1627200" cy="45684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07" name="Text 5"/>
          <p:cNvSpPr/>
          <p:nvPr/>
        </p:nvSpPr>
        <p:spPr>
          <a:xfrm>
            <a:off x="255960" y="1170360"/>
            <a:ext cx="4111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a0f0d"/>
                </a:solidFill>
                <a:latin typeface="Calibri"/>
              </a:rPr>
              <a:t>1</a:t>
            </a:r>
            <a:endParaRPr b="0" lang="en-US" sz="1400" spc="-1" strike="noStrike">
              <a:solidFill>
                <a:srgbClr val="000000"/>
              </a:solidFill>
              <a:latin typeface="Arial"/>
            </a:endParaRPr>
          </a:p>
        </p:txBody>
      </p:sp>
      <p:sp>
        <p:nvSpPr>
          <p:cNvPr id="308" name="Text 6"/>
          <p:cNvSpPr/>
          <p:nvPr/>
        </p:nvSpPr>
        <p:spPr>
          <a:xfrm>
            <a:off x="667440" y="117036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309" name="Text 7"/>
          <p:cNvSpPr/>
          <p:nvPr/>
        </p:nvSpPr>
        <p:spPr>
          <a:xfrm>
            <a:off x="329040" y="1664280"/>
            <a:ext cx="1481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4ade80"/>
                </a:solidFill>
                <a:latin typeface="Calibri"/>
                <a:ea typeface="Calibri"/>
              </a:rPr>
              <a:t>Network</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4ade80"/>
                </a:solidFill>
                <a:latin typeface="Calibri"/>
                <a:ea typeface="Calibri"/>
              </a:rPr>
              <a:t>Data Capture</a:t>
            </a:r>
            <a:endParaRPr b="0" lang="en-US" sz="1150" spc="-1" strike="noStrike">
              <a:solidFill>
                <a:srgbClr val="000000"/>
              </a:solidFill>
              <a:latin typeface="Arial"/>
            </a:endParaRPr>
          </a:p>
        </p:txBody>
      </p:sp>
      <p:sp>
        <p:nvSpPr>
          <p:cNvPr id="310" name="Text 8"/>
          <p:cNvSpPr/>
          <p:nvPr/>
        </p:nvSpPr>
        <p:spPr>
          <a:xfrm>
            <a:off x="347400" y="2157840"/>
            <a:ext cx="1444320" cy="162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bbf7d0"/>
                </a:solidFill>
                <a:latin typeface="Calibri"/>
                <a:ea typeface="Calibri"/>
              </a:rPr>
              <a:t>Packets, logs, events captured from routers, switches, firewalls across the network infrastructure.</a:t>
            </a:r>
            <a:endParaRPr b="0" lang="en-US" sz="950" spc="-1" strike="noStrike">
              <a:solidFill>
                <a:srgbClr val="000000"/>
              </a:solidFill>
              <a:latin typeface="Arial"/>
            </a:endParaRPr>
          </a:p>
        </p:txBody>
      </p:sp>
      <p:sp>
        <p:nvSpPr>
          <p:cNvPr id="311" name="Shape 9"/>
          <p:cNvSpPr/>
          <p:nvPr/>
        </p:nvSpPr>
        <p:spPr>
          <a:xfrm>
            <a:off x="1883520" y="1554480"/>
            <a:ext cx="109440" cy="292320"/>
          </a:xfrm>
          <a:prstGeom prst="rect">
            <a:avLst/>
          </a:prstGeom>
          <a:solidFill>
            <a:srgbClr val="94a3b8"/>
          </a:solidFill>
          <a:ln w="12700">
            <a:solidFill>
              <a:srgbClr val="94a3b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2" name="Shape 10"/>
          <p:cNvSpPr/>
          <p:nvPr/>
        </p:nvSpPr>
        <p:spPr>
          <a:xfrm>
            <a:off x="1993320" y="1170360"/>
            <a:ext cx="1627200" cy="2697120"/>
          </a:xfrm>
          <a:prstGeom prst="rect">
            <a:avLst/>
          </a:prstGeom>
          <a:solidFill>
            <a:srgbClr val="111b17"/>
          </a:solidFill>
          <a:ln w="2286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3" name="Shape 11"/>
          <p:cNvSpPr/>
          <p:nvPr/>
        </p:nvSpPr>
        <p:spPr>
          <a:xfrm>
            <a:off x="1993320" y="1170360"/>
            <a:ext cx="1627200" cy="45684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14" name="Text 12"/>
          <p:cNvSpPr/>
          <p:nvPr/>
        </p:nvSpPr>
        <p:spPr>
          <a:xfrm>
            <a:off x="1993320" y="1170360"/>
            <a:ext cx="4111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a0f0d"/>
                </a:solidFill>
                <a:latin typeface="Calibri"/>
              </a:rPr>
              <a:t>2</a:t>
            </a:r>
            <a:endParaRPr b="0" lang="en-US" sz="1400" spc="-1" strike="noStrike">
              <a:solidFill>
                <a:srgbClr val="000000"/>
              </a:solidFill>
              <a:latin typeface="Arial"/>
            </a:endParaRPr>
          </a:p>
        </p:txBody>
      </p:sp>
      <p:sp>
        <p:nvSpPr>
          <p:cNvPr id="315" name="Text 13"/>
          <p:cNvSpPr/>
          <p:nvPr/>
        </p:nvSpPr>
        <p:spPr>
          <a:xfrm>
            <a:off x="2404800" y="117036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316" name="Text 14"/>
          <p:cNvSpPr/>
          <p:nvPr/>
        </p:nvSpPr>
        <p:spPr>
          <a:xfrm>
            <a:off x="2066400" y="1664280"/>
            <a:ext cx="1481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fcd34d"/>
                </a:solidFill>
                <a:latin typeface="Calibri"/>
                <a:ea typeface="Calibri"/>
              </a:rPr>
              <a:t>Feature</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fcd34d"/>
                </a:solidFill>
                <a:latin typeface="Calibri"/>
                <a:ea typeface="Calibri"/>
              </a:rPr>
              <a:t>Extraction</a:t>
            </a:r>
            <a:endParaRPr b="0" lang="en-US" sz="1150" spc="-1" strike="noStrike">
              <a:solidFill>
                <a:srgbClr val="000000"/>
              </a:solidFill>
              <a:latin typeface="Arial"/>
            </a:endParaRPr>
          </a:p>
        </p:txBody>
      </p:sp>
      <p:sp>
        <p:nvSpPr>
          <p:cNvPr id="317" name="Text 15"/>
          <p:cNvSpPr/>
          <p:nvPr/>
        </p:nvSpPr>
        <p:spPr>
          <a:xfrm>
            <a:off x="2084760" y="2157840"/>
            <a:ext cx="1444320" cy="162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bbf7d0"/>
                </a:solidFill>
                <a:latin typeface="Calibri"/>
                <a:ea typeface="Calibri"/>
              </a:rPr>
              <a:t>Data mining identifies relevant features from raw traffic — payload size, timing, port patterns, protocol anomalies.</a:t>
            </a:r>
            <a:endParaRPr b="0" lang="en-US" sz="950" spc="-1" strike="noStrike">
              <a:solidFill>
                <a:srgbClr val="000000"/>
              </a:solidFill>
              <a:latin typeface="Arial"/>
            </a:endParaRPr>
          </a:p>
        </p:txBody>
      </p:sp>
      <p:sp>
        <p:nvSpPr>
          <p:cNvPr id="318" name="Shape 16"/>
          <p:cNvSpPr/>
          <p:nvPr/>
        </p:nvSpPr>
        <p:spPr>
          <a:xfrm>
            <a:off x="3620880" y="1554480"/>
            <a:ext cx="109440" cy="292320"/>
          </a:xfrm>
          <a:prstGeom prst="rect">
            <a:avLst/>
          </a:prstGeom>
          <a:solidFill>
            <a:srgbClr val="94a3b8"/>
          </a:solidFill>
          <a:ln w="12700">
            <a:solidFill>
              <a:srgbClr val="94a3b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19" name="Shape 17"/>
          <p:cNvSpPr/>
          <p:nvPr/>
        </p:nvSpPr>
        <p:spPr>
          <a:xfrm>
            <a:off x="3730680" y="1170360"/>
            <a:ext cx="1627200" cy="2697120"/>
          </a:xfrm>
          <a:prstGeom prst="rect">
            <a:avLst/>
          </a:prstGeom>
          <a:solidFill>
            <a:srgbClr val="111b17"/>
          </a:solidFill>
          <a:ln w="22860">
            <a:solidFill>
              <a:srgbClr val="16a34a"/>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0" name="Shape 18"/>
          <p:cNvSpPr/>
          <p:nvPr/>
        </p:nvSpPr>
        <p:spPr>
          <a:xfrm>
            <a:off x="3730680" y="1170360"/>
            <a:ext cx="1627200" cy="45684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1" name="Text 19"/>
          <p:cNvSpPr/>
          <p:nvPr/>
        </p:nvSpPr>
        <p:spPr>
          <a:xfrm>
            <a:off x="3730680" y="1170360"/>
            <a:ext cx="4111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a0f0d"/>
                </a:solidFill>
                <a:latin typeface="Calibri"/>
              </a:rPr>
              <a:t>3</a:t>
            </a:r>
            <a:endParaRPr b="0" lang="en-US" sz="1400" spc="-1" strike="noStrike">
              <a:solidFill>
                <a:srgbClr val="000000"/>
              </a:solidFill>
              <a:latin typeface="Arial"/>
            </a:endParaRPr>
          </a:p>
        </p:txBody>
      </p:sp>
      <p:sp>
        <p:nvSpPr>
          <p:cNvPr id="322" name="Text 20"/>
          <p:cNvSpPr/>
          <p:nvPr/>
        </p:nvSpPr>
        <p:spPr>
          <a:xfrm>
            <a:off x="4142160" y="117036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323" name="Text 21"/>
          <p:cNvSpPr/>
          <p:nvPr/>
        </p:nvSpPr>
        <p:spPr>
          <a:xfrm>
            <a:off x="3803760" y="1664280"/>
            <a:ext cx="1481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4ade80"/>
                </a:solidFill>
                <a:latin typeface="Calibri"/>
                <a:ea typeface="Calibri"/>
              </a:rPr>
              <a:t>Algorithm</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4ade80"/>
                </a:solidFill>
                <a:latin typeface="Calibri"/>
                <a:ea typeface="Calibri"/>
              </a:rPr>
              <a:t>Application</a:t>
            </a:r>
            <a:endParaRPr b="0" lang="en-US" sz="1150" spc="-1" strike="noStrike">
              <a:solidFill>
                <a:srgbClr val="000000"/>
              </a:solidFill>
              <a:latin typeface="Arial"/>
            </a:endParaRPr>
          </a:p>
        </p:txBody>
      </p:sp>
      <p:sp>
        <p:nvSpPr>
          <p:cNvPr id="324" name="Text 22"/>
          <p:cNvSpPr/>
          <p:nvPr/>
        </p:nvSpPr>
        <p:spPr>
          <a:xfrm>
            <a:off x="3822120" y="2157840"/>
            <a:ext cx="1444320" cy="162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bbf7d0"/>
                </a:solidFill>
                <a:latin typeface="Calibri"/>
                <a:ea typeface="Calibri"/>
              </a:rPr>
              <a:t>Classification, clustering, outlier analysis, association rules, or statistical models applied to extracted features.</a:t>
            </a:r>
            <a:endParaRPr b="0" lang="en-US" sz="950" spc="-1" strike="noStrike">
              <a:solidFill>
                <a:srgbClr val="000000"/>
              </a:solidFill>
              <a:latin typeface="Arial"/>
            </a:endParaRPr>
          </a:p>
        </p:txBody>
      </p:sp>
      <p:sp>
        <p:nvSpPr>
          <p:cNvPr id="325" name="Shape 23"/>
          <p:cNvSpPr/>
          <p:nvPr/>
        </p:nvSpPr>
        <p:spPr>
          <a:xfrm>
            <a:off x="5358240" y="1554480"/>
            <a:ext cx="109440" cy="292320"/>
          </a:xfrm>
          <a:prstGeom prst="rect">
            <a:avLst/>
          </a:prstGeom>
          <a:solidFill>
            <a:srgbClr val="94a3b8"/>
          </a:solidFill>
          <a:ln w="12700">
            <a:solidFill>
              <a:srgbClr val="94a3b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26" name="Shape 24"/>
          <p:cNvSpPr/>
          <p:nvPr/>
        </p:nvSpPr>
        <p:spPr>
          <a:xfrm>
            <a:off x="5468040" y="1170360"/>
            <a:ext cx="1627200" cy="2697120"/>
          </a:xfrm>
          <a:prstGeom prst="rect">
            <a:avLst/>
          </a:prstGeom>
          <a:solidFill>
            <a:srgbClr val="111b17"/>
          </a:solidFill>
          <a:ln w="22860">
            <a:solidFill>
              <a:srgbClr val="d9770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7" name="Shape 25"/>
          <p:cNvSpPr/>
          <p:nvPr/>
        </p:nvSpPr>
        <p:spPr>
          <a:xfrm>
            <a:off x="5468040" y="1170360"/>
            <a:ext cx="1627200" cy="45684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28" name="Text 26"/>
          <p:cNvSpPr/>
          <p:nvPr/>
        </p:nvSpPr>
        <p:spPr>
          <a:xfrm>
            <a:off x="5468040" y="1170360"/>
            <a:ext cx="4111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a0f0d"/>
                </a:solidFill>
                <a:latin typeface="Calibri"/>
              </a:rPr>
              <a:t>4</a:t>
            </a:r>
            <a:endParaRPr b="0" lang="en-US" sz="1400" spc="-1" strike="noStrike">
              <a:solidFill>
                <a:srgbClr val="000000"/>
              </a:solidFill>
              <a:latin typeface="Arial"/>
            </a:endParaRPr>
          </a:p>
        </p:txBody>
      </p:sp>
      <p:sp>
        <p:nvSpPr>
          <p:cNvPr id="329" name="Text 27"/>
          <p:cNvSpPr/>
          <p:nvPr/>
        </p:nvSpPr>
        <p:spPr>
          <a:xfrm>
            <a:off x="5879520" y="117036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330" name="Text 28"/>
          <p:cNvSpPr/>
          <p:nvPr/>
        </p:nvSpPr>
        <p:spPr>
          <a:xfrm>
            <a:off x="5541120" y="1664280"/>
            <a:ext cx="1481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fcd34d"/>
                </a:solidFill>
                <a:latin typeface="Calibri"/>
                <a:ea typeface="Calibri"/>
              </a:rPr>
              <a:t>Pattern</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fcd34d"/>
                </a:solidFill>
                <a:latin typeface="Calibri"/>
                <a:ea typeface="Calibri"/>
              </a:rPr>
              <a:t>Detection</a:t>
            </a:r>
            <a:endParaRPr b="0" lang="en-US" sz="1150" spc="-1" strike="noStrike">
              <a:solidFill>
                <a:srgbClr val="000000"/>
              </a:solidFill>
              <a:latin typeface="Arial"/>
            </a:endParaRPr>
          </a:p>
        </p:txBody>
      </p:sp>
      <p:sp>
        <p:nvSpPr>
          <p:cNvPr id="331" name="Text 29"/>
          <p:cNvSpPr/>
          <p:nvPr/>
        </p:nvSpPr>
        <p:spPr>
          <a:xfrm>
            <a:off x="5559480" y="2157840"/>
            <a:ext cx="1444320" cy="162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bbf7d0"/>
                </a:solidFill>
                <a:latin typeface="Calibri"/>
                <a:ea typeface="Calibri"/>
              </a:rPr>
              <a:t>Comparison against signatures or learned baselines — matched patterns indicate known or anomalous intrusion.</a:t>
            </a:r>
            <a:endParaRPr b="0" lang="en-US" sz="950" spc="-1" strike="noStrike">
              <a:solidFill>
                <a:srgbClr val="000000"/>
              </a:solidFill>
              <a:latin typeface="Arial"/>
            </a:endParaRPr>
          </a:p>
        </p:txBody>
      </p:sp>
      <p:sp>
        <p:nvSpPr>
          <p:cNvPr id="332" name="Shape 30"/>
          <p:cNvSpPr/>
          <p:nvPr/>
        </p:nvSpPr>
        <p:spPr>
          <a:xfrm>
            <a:off x="7095600" y="1554480"/>
            <a:ext cx="109440" cy="292320"/>
          </a:xfrm>
          <a:prstGeom prst="rect">
            <a:avLst/>
          </a:prstGeom>
          <a:solidFill>
            <a:srgbClr val="94a3b8"/>
          </a:solidFill>
          <a:ln w="12700">
            <a:solidFill>
              <a:srgbClr val="94a3b8"/>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33" name="Shape 31"/>
          <p:cNvSpPr/>
          <p:nvPr/>
        </p:nvSpPr>
        <p:spPr>
          <a:xfrm>
            <a:off x="7205400" y="1170360"/>
            <a:ext cx="1627200" cy="2697120"/>
          </a:xfrm>
          <a:prstGeom prst="rect">
            <a:avLst/>
          </a:prstGeom>
          <a:solidFill>
            <a:srgbClr val="111b17"/>
          </a:solidFill>
          <a:ln w="22860">
            <a:solidFill>
              <a:srgbClr val="dc2626"/>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4" name="Shape 32"/>
          <p:cNvSpPr/>
          <p:nvPr/>
        </p:nvSpPr>
        <p:spPr>
          <a:xfrm>
            <a:off x="7205400" y="1170360"/>
            <a:ext cx="1627200" cy="45684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35" name="Text 33"/>
          <p:cNvSpPr/>
          <p:nvPr/>
        </p:nvSpPr>
        <p:spPr>
          <a:xfrm>
            <a:off x="7205400" y="1170360"/>
            <a:ext cx="41112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400" spc="-1" strike="noStrike">
                <a:solidFill>
                  <a:srgbClr val="0a0f0d"/>
                </a:solidFill>
                <a:latin typeface="Calibri"/>
              </a:rPr>
              <a:t>5</a:t>
            </a:r>
            <a:endParaRPr b="0" lang="en-US" sz="1400" spc="-1" strike="noStrike">
              <a:solidFill>
                <a:srgbClr val="000000"/>
              </a:solidFill>
              <a:latin typeface="Arial"/>
            </a:endParaRPr>
          </a:p>
        </p:txBody>
      </p:sp>
      <p:sp>
        <p:nvSpPr>
          <p:cNvPr id="336" name="Text 34"/>
          <p:cNvSpPr/>
          <p:nvPr/>
        </p:nvSpPr>
        <p:spPr>
          <a:xfrm>
            <a:off x="7616880" y="117036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0" lang="en-US" sz="1800" spc="-1" strike="noStrike">
                <a:solidFill>
                  <a:srgbClr val="000000"/>
                </a:solidFill>
                <a:latin typeface="Calibri"/>
              </a:rPr>
              <a:t>🚨</a:t>
            </a:r>
            <a:endParaRPr b="0" lang="en-US" sz="1800" spc="-1" strike="noStrike">
              <a:solidFill>
                <a:srgbClr val="000000"/>
              </a:solidFill>
              <a:latin typeface="Arial"/>
            </a:endParaRPr>
          </a:p>
        </p:txBody>
      </p:sp>
      <p:sp>
        <p:nvSpPr>
          <p:cNvPr id="337" name="Text 35"/>
          <p:cNvSpPr/>
          <p:nvPr/>
        </p:nvSpPr>
        <p:spPr>
          <a:xfrm>
            <a:off x="7278480" y="1664280"/>
            <a:ext cx="1481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150" spc="-1" strike="noStrike">
                <a:solidFill>
                  <a:srgbClr val="f87171"/>
                </a:solidFill>
                <a:latin typeface="Calibri"/>
                <a:ea typeface="Calibri"/>
              </a:rPr>
              <a:t>Alert &amp;</a:t>
            </a:r>
            <a:endParaRPr b="0" lang="en-US" sz="1150" spc="-1" strike="noStrike">
              <a:solidFill>
                <a:srgbClr val="000000"/>
              </a:solidFill>
              <a:latin typeface="Arial"/>
            </a:endParaRPr>
          </a:p>
          <a:p>
            <a:pPr algn="ctr" defTabSz="914400">
              <a:lnSpc>
                <a:spcPct val="100000"/>
              </a:lnSpc>
              <a:tabLst>
                <a:tab algn="l" pos="0"/>
              </a:tabLst>
            </a:pPr>
            <a:r>
              <a:rPr b="1" lang="en-US" sz="1150" spc="-1" strike="noStrike">
                <a:solidFill>
                  <a:srgbClr val="f87171"/>
                </a:solidFill>
                <a:latin typeface="Calibri"/>
                <a:ea typeface="Calibri"/>
              </a:rPr>
              <a:t>Response</a:t>
            </a:r>
            <a:endParaRPr b="0" lang="en-US" sz="1150" spc="-1" strike="noStrike">
              <a:solidFill>
                <a:srgbClr val="000000"/>
              </a:solidFill>
              <a:latin typeface="Arial"/>
            </a:endParaRPr>
          </a:p>
        </p:txBody>
      </p:sp>
      <p:sp>
        <p:nvSpPr>
          <p:cNvPr id="338" name="Text 36"/>
          <p:cNvSpPr/>
          <p:nvPr/>
        </p:nvSpPr>
        <p:spPr>
          <a:xfrm>
            <a:off x="7296840" y="2157840"/>
            <a:ext cx="1444320" cy="1627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950" spc="-1" strike="noStrike">
                <a:solidFill>
                  <a:srgbClr val="bbf7d0"/>
                </a:solidFill>
                <a:latin typeface="Calibri"/>
                <a:ea typeface="Calibri"/>
              </a:rPr>
              <a:t>IDS sends alert to admin. IPS also closes access points, blocks IPs, modifies firewalls, deactivates accounts.</a:t>
            </a:r>
            <a:endParaRPr b="0" lang="en-US" sz="950" spc="-1" strike="noStrike">
              <a:solidFill>
                <a:srgbClr val="000000"/>
              </a:solidFill>
              <a:latin typeface="Arial"/>
            </a:endParaRPr>
          </a:p>
        </p:txBody>
      </p:sp>
      <p:sp>
        <p:nvSpPr>
          <p:cNvPr id="339" name="Shape 37"/>
          <p:cNvSpPr/>
          <p:nvPr/>
        </p:nvSpPr>
        <p:spPr>
          <a:xfrm>
            <a:off x="255960" y="3986640"/>
            <a:ext cx="8631720" cy="1005480"/>
          </a:xfrm>
          <a:prstGeom prst="rect">
            <a:avLst/>
          </a:prstGeom>
          <a:solidFill>
            <a:srgbClr val="111b17"/>
          </a:solidFill>
          <a:ln w="12700">
            <a:solidFill>
              <a:srgbClr val="1a2e22"/>
            </a:solidFill>
            <a:round/>
          </a:ln>
          <a:effectLst>
            <a:outerShdw algn="bl" blurRad="114480" dir="8100000" dist="37674" kx="0" ky="0" rotWithShape="0" sx="100000" sy="100000">
              <a:srgbClr val="000000">
                <a:alpha val="28000"/>
              </a:srgbClr>
            </a:outerShdw>
          </a:effectLst>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0" name="Text 38"/>
          <p:cNvSpPr/>
          <p:nvPr/>
        </p:nvSpPr>
        <p:spPr>
          <a:xfrm>
            <a:off x="384120" y="4005000"/>
            <a:ext cx="8229240" cy="310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1300" spc="-1" strike="noStrike">
                <a:solidFill>
                  <a:srgbClr val="4ade80"/>
                </a:solidFill>
                <a:latin typeface="Calibri"/>
                <a:ea typeface="Calibri"/>
              </a:rPr>
              <a:t>Critical Requirements for DM-Powered IDS</a:t>
            </a:r>
            <a:endParaRPr b="0" lang="en-US" sz="1300" spc="-1" strike="noStrike">
              <a:solidFill>
                <a:srgbClr val="000000"/>
              </a:solidFill>
              <a:latin typeface="Arial"/>
            </a:endParaRPr>
          </a:p>
        </p:txBody>
      </p:sp>
      <p:sp>
        <p:nvSpPr>
          <p:cNvPr id="341" name="Shape 39"/>
          <p:cNvSpPr/>
          <p:nvPr/>
        </p:nvSpPr>
        <p:spPr>
          <a:xfrm>
            <a:off x="347400" y="4370760"/>
            <a:ext cx="1316520" cy="47520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2" name="Text 40"/>
          <p:cNvSpPr/>
          <p:nvPr/>
        </p:nvSpPr>
        <p:spPr>
          <a:xfrm>
            <a:off x="34740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Efficient</a:t>
            </a:r>
            <a:endParaRPr b="0" lang="en-US" sz="950" spc="-1" strike="noStrike">
              <a:solidFill>
                <a:srgbClr val="000000"/>
              </a:solidFill>
              <a:latin typeface="Arial"/>
            </a:endParaRPr>
          </a:p>
        </p:txBody>
      </p:sp>
      <p:sp>
        <p:nvSpPr>
          <p:cNvPr id="343" name="Shape 41"/>
          <p:cNvSpPr/>
          <p:nvPr/>
        </p:nvSpPr>
        <p:spPr>
          <a:xfrm>
            <a:off x="1783080" y="4370760"/>
            <a:ext cx="1316520" cy="47520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4" name="Text 42"/>
          <p:cNvSpPr/>
          <p:nvPr/>
        </p:nvSpPr>
        <p:spPr>
          <a:xfrm>
            <a:off x="178308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Scalable</a:t>
            </a:r>
            <a:endParaRPr b="0" lang="en-US" sz="950" spc="-1" strike="noStrike">
              <a:solidFill>
                <a:srgbClr val="000000"/>
              </a:solidFill>
              <a:latin typeface="Arial"/>
            </a:endParaRPr>
          </a:p>
        </p:txBody>
      </p:sp>
      <p:sp>
        <p:nvSpPr>
          <p:cNvPr id="345" name="Shape 43"/>
          <p:cNvSpPr/>
          <p:nvPr/>
        </p:nvSpPr>
        <p:spPr>
          <a:xfrm>
            <a:off x="3218760" y="4370760"/>
            <a:ext cx="1316520" cy="47520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6" name="Text 44"/>
          <p:cNvSpPr/>
          <p:nvPr/>
        </p:nvSpPr>
        <p:spPr>
          <a:xfrm>
            <a:off x="321876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High-Volume Capable</a:t>
            </a:r>
            <a:endParaRPr b="0" lang="en-US" sz="950" spc="-1" strike="noStrike">
              <a:solidFill>
                <a:srgbClr val="000000"/>
              </a:solidFill>
              <a:latin typeface="Arial"/>
            </a:endParaRPr>
          </a:p>
        </p:txBody>
      </p:sp>
      <p:sp>
        <p:nvSpPr>
          <p:cNvPr id="347" name="Shape 45"/>
          <p:cNvSpPr/>
          <p:nvPr/>
        </p:nvSpPr>
        <p:spPr>
          <a:xfrm>
            <a:off x="4654440" y="4370760"/>
            <a:ext cx="1316520" cy="475200"/>
          </a:xfrm>
          <a:prstGeom prst="rect">
            <a:avLst/>
          </a:prstGeom>
          <a:solidFill>
            <a:srgbClr val="d97706"/>
          </a:solidFill>
          <a:ln w="12700">
            <a:solidFill>
              <a:srgbClr val="d9770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48" name="Text 46"/>
          <p:cNvSpPr/>
          <p:nvPr/>
        </p:nvSpPr>
        <p:spPr>
          <a:xfrm>
            <a:off x="465444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High-Dimensional</a:t>
            </a:r>
            <a:endParaRPr b="0" lang="en-US" sz="950" spc="-1" strike="noStrike">
              <a:solidFill>
                <a:srgbClr val="000000"/>
              </a:solidFill>
              <a:latin typeface="Arial"/>
            </a:endParaRPr>
          </a:p>
        </p:txBody>
      </p:sp>
      <p:sp>
        <p:nvSpPr>
          <p:cNvPr id="349" name="Shape 47"/>
          <p:cNvSpPr/>
          <p:nvPr/>
        </p:nvSpPr>
        <p:spPr>
          <a:xfrm>
            <a:off x="6089760" y="4370760"/>
            <a:ext cx="1316520" cy="47520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0" name="Text 48"/>
          <p:cNvSpPr/>
          <p:nvPr/>
        </p:nvSpPr>
        <p:spPr>
          <a:xfrm>
            <a:off x="608976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Heterogeneous Data</a:t>
            </a:r>
            <a:endParaRPr b="0" lang="en-US" sz="950" spc="-1" strike="noStrike">
              <a:solidFill>
                <a:srgbClr val="000000"/>
              </a:solidFill>
              <a:latin typeface="Arial"/>
            </a:endParaRPr>
          </a:p>
        </p:txBody>
      </p:sp>
      <p:sp>
        <p:nvSpPr>
          <p:cNvPr id="351" name="Shape 49"/>
          <p:cNvSpPr/>
          <p:nvPr/>
        </p:nvSpPr>
        <p:spPr>
          <a:xfrm>
            <a:off x="7525440" y="4370760"/>
            <a:ext cx="1316520" cy="475200"/>
          </a:xfrm>
          <a:prstGeom prst="rect">
            <a:avLst/>
          </a:prstGeom>
          <a:solidFill>
            <a:srgbClr val="dc2626"/>
          </a:solidFill>
          <a:ln w="12700">
            <a:solidFill>
              <a:srgbClr val="dc2626"/>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52" name="Text 50"/>
          <p:cNvSpPr/>
          <p:nvPr/>
        </p:nvSpPr>
        <p:spPr>
          <a:xfrm>
            <a:off x="7525440" y="4370760"/>
            <a:ext cx="1316520" cy="4752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950" spc="-1" strike="noStrike">
                <a:solidFill>
                  <a:srgbClr val="0a0f0d"/>
                </a:solidFill>
                <a:latin typeface="Calibri"/>
                <a:ea typeface="Calibri"/>
              </a:rPr>
              <a:t>Real-Time Processing</a:t>
            </a:r>
            <a:endParaRPr b="0" lang="en-US" sz="95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0f0d"/>
        </a:solidFill>
      </p:bgPr>
    </p:bg>
    <p:spTree>
      <p:nvGrpSpPr>
        <p:cNvPr id="1" name=""/>
        <p:cNvGrpSpPr/>
        <p:nvPr/>
      </p:nvGrpSpPr>
      <p:grpSpPr>
        <a:xfrm>
          <a:off x="0" y="0"/>
          <a:ext cx="0" cy="0"/>
          <a:chOff x="0" y="0"/>
          <a:chExt cx="0" cy="0"/>
        </a:xfrm>
      </p:grpSpPr>
      <p:sp>
        <p:nvSpPr>
          <p:cNvPr id="353" name="Shape 0"/>
          <p:cNvSpPr/>
          <p:nvPr/>
        </p:nvSpPr>
        <p:spPr>
          <a:xfrm>
            <a:off x="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4" name="Shape 1"/>
          <p:cNvSpPr/>
          <p:nvPr/>
        </p:nvSpPr>
        <p:spPr>
          <a:xfrm>
            <a:off x="4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5" name="Shape 2"/>
          <p:cNvSpPr/>
          <p:nvPr/>
        </p:nvSpPr>
        <p:spPr>
          <a:xfrm>
            <a:off x="9691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6" name="Shape 3"/>
          <p:cNvSpPr/>
          <p:nvPr/>
        </p:nvSpPr>
        <p:spPr>
          <a:xfrm>
            <a:off x="14536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7" name="Shape 4"/>
          <p:cNvSpPr/>
          <p:nvPr/>
        </p:nvSpPr>
        <p:spPr>
          <a:xfrm>
            <a:off x="19382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8" name="Shape 5"/>
          <p:cNvSpPr/>
          <p:nvPr/>
        </p:nvSpPr>
        <p:spPr>
          <a:xfrm>
            <a:off x="24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59" name="Shape 6"/>
          <p:cNvSpPr/>
          <p:nvPr/>
        </p:nvSpPr>
        <p:spPr>
          <a:xfrm>
            <a:off x="29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0" name="Shape 7"/>
          <p:cNvSpPr/>
          <p:nvPr/>
        </p:nvSpPr>
        <p:spPr>
          <a:xfrm>
            <a:off x="33922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1" name="Shape 8"/>
          <p:cNvSpPr/>
          <p:nvPr/>
        </p:nvSpPr>
        <p:spPr>
          <a:xfrm>
            <a:off x="38768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2" name="Shape 9"/>
          <p:cNvSpPr/>
          <p:nvPr/>
        </p:nvSpPr>
        <p:spPr>
          <a:xfrm>
            <a:off x="43614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3" name="Shape 10"/>
          <p:cNvSpPr/>
          <p:nvPr/>
        </p:nvSpPr>
        <p:spPr>
          <a:xfrm>
            <a:off x="48463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4" name="Shape 11"/>
          <p:cNvSpPr/>
          <p:nvPr/>
        </p:nvSpPr>
        <p:spPr>
          <a:xfrm>
            <a:off x="53308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5" name="Shape 12"/>
          <p:cNvSpPr/>
          <p:nvPr/>
        </p:nvSpPr>
        <p:spPr>
          <a:xfrm>
            <a:off x="58154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6" name="Shape 13"/>
          <p:cNvSpPr/>
          <p:nvPr/>
        </p:nvSpPr>
        <p:spPr>
          <a:xfrm>
            <a:off x="63000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7" name="Shape 14"/>
          <p:cNvSpPr/>
          <p:nvPr/>
        </p:nvSpPr>
        <p:spPr>
          <a:xfrm>
            <a:off x="67845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8" name="Shape 15"/>
          <p:cNvSpPr/>
          <p:nvPr/>
        </p:nvSpPr>
        <p:spPr>
          <a:xfrm>
            <a:off x="726948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69" name="Shape 16"/>
          <p:cNvSpPr/>
          <p:nvPr/>
        </p:nvSpPr>
        <p:spPr>
          <a:xfrm>
            <a:off x="775404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70" name="Shape 17"/>
          <p:cNvSpPr/>
          <p:nvPr/>
        </p:nvSpPr>
        <p:spPr>
          <a:xfrm>
            <a:off x="823860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71" name="Shape 18"/>
          <p:cNvSpPr/>
          <p:nvPr/>
        </p:nvSpPr>
        <p:spPr>
          <a:xfrm>
            <a:off x="872316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72" name="Shape 19"/>
          <p:cNvSpPr/>
          <p:nvPr/>
        </p:nvSpPr>
        <p:spPr>
          <a:xfrm>
            <a:off x="9207720" y="0"/>
            <a:ext cx="360" cy="5143320"/>
          </a:xfrm>
          <a:prstGeom prst="line">
            <a:avLst/>
          </a:prstGeom>
          <a:ln w="3810">
            <a:solidFill>
              <a:srgbClr val="1a2e22"/>
            </a:solidFill>
            <a:round/>
          </a:ln>
        </p:spPr>
        <p:style>
          <a:lnRef idx="0"/>
          <a:fillRef idx="0"/>
          <a:effectRef idx="0"/>
          <a:fontRef idx="minor"/>
        </p:style>
        <p:txBody>
          <a:bodyPr lIns="90000" rIns="90000" tIns="45000" bIns="45000" anchor="t" anchorCtr="1">
            <a:noAutofit/>
          </a:bodyPr>
          <a:p>
            <a:endParaRPr b="0" lang="en-US" sz="1800" spc="-1" strike="noStrike">
              <a:solidFill>
                <a:srgbClr val="ffffff"/>
              </a:solidFill>
              <a:latin typeface="Arial"/>
            </a:endParaRPr>
          </a:p>
        </p:txBody>
      </p:sp>
      <p:sp>
        <p:nvSpPr>
          <p:cNvPr id="373" name="Shape 20"/>
          <p:cNvSpPr/>
          <p:nvPr/>
        </p:nvSpPr>
        <p:spPr>
          <a:xfrm>
            <a:off x="0" y="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4" name="Shape 21"/>
          <p:cNvSpPr/>
          <p:nvPr/>
        </p:nvSpPr>
        <p:spPr>
          <a:xfrm>
            <a:off x="0" y="5119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5" name="Shape 22"/>
          <p:cNvSpPr/>
          <p:nvPr/>
        </p:nvSpPr>
        <p:spPr>
          <a:xfrm>
            <a:off x="0" y="10238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6" name="Shape 23"/>
          <p:cNvSpPr/>
          <p:nvPr/>
        </p:nvSpPr>
        <p:spPr>
          <a:xfrm>
            <a:off x="0" y="15361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7" name="Shape 24"/>
          <p:cNvSpPr/>
          <p:nvPr/>
        </p:nvSpPr>
        <p:spPr>
          <a:xfrm>
            <a:off x="0" y="20480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8" name="Shape 25"/>
          <p:cNvSpPr/>
          <p:nvPr/>
        </p:nvSpPr>
        <p:spPr>
          <a:xfrm>
            <a:off x="0" y="256032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79" name="Shape 26"/>
          <p:cNvSpPr/>
          <p:nvPr/>
        </p:nvSpPr>
        <p:spPr>
          <a:xfrm>
            <a:off x="0" y="30722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0" name="Shape 27"/>
          <p:cNvSpPr/>
          <p:nvPr/>
        </p:nvSpPr>
        <p:spPr>
          <a:xfrm>
            <a:off x="0" y="35841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1" name="Shape 28"/>
          <p:cNvSpPr/>
          <p:nvPr/>
        </p:nvSpPr>
        <p:spPr>
          <a:xfrm>
            <a:off x="0" y="40964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2" name="Shape 29"/>
          <p:cNvSpPr/>
          <p:nvPr/>
        </p:nvSpPr>
        <p:spPr>
          <a:xfrm>
            <a:off x="0" y="460836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3" name="Shape 30"/>
          <p:cNvSpPr/>
          <p:nvPr/>
        </p:nvSpPr>
        <p:spPr>
          <a:xfrm>
            <a:off x="0" y="5120640"/>
            <a:ext cx="9144000" cy="360"/>
          </a:xfrm>
          <a:prstGeom prst="line">
            <a:avLst/>
          </a:prstGeom>
          <a:ln w="3810">
            <a:solidFill>
              <a:srgbClr val="1a2e22"/>
            </a:solidFill>
            <a:round/>
          </a:ln>
        </p:spPr>
        <p:style>
          <a:lnRef idx="0"/>
          <a:fillRef idx="0"/>
          <a:effectRef idx="0"/>
          <a:fontRef idx="minor"/>
        </p:style>
        <p:txBody>
          <a:bodyPr lIns="90000" rIns="90000" tIns="-44640" bIns="-44640" anchor="t" anchorCtr="1">
            <a:noAutofit/>
          </a:bodyPr>
          <a:p>
            <a:endParaRPr b="0" lang="en-US" sz="1800" spc="-1" strike="noStrike">
              <a:solidFill>
                <a:srgbClr val="ffffff"/>
              </a:solidFill>
              <a:latin typeface="Arial"/>
            </a:endParaRPr>
          </a:p>
        </p:txBody>
      </p:sp>
      <p:sp>
        <p:nvSpPr>
          <p:cNvPr id="384" name="Shape 31"/>
          <p:cNvSpPr/>
          <p:nvPr/>
        </p:nvSpPr>
        <p:spPr>
          <a:xfrm>
            <a:off x="6217920" y="-1280160"/>
            <a:ext cx="5028840" cy="5028840"/>
          </a:xfrm>
          <a:prstGeom prst="ellipse">
            <a:avLst/>
          </a:prstGeom>
          <a:solidFill>
            <a:srgbClr val="0d2818"/>
          </a:solidFill>
          <a:ln w="12700">
            <a:solidFill>
              <a:srgbClr val="0d2818"/>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5" name="Shape 32"/>
          <p:cNvSpPr/>
          <p:nvPr/>
        </p:nvSpPr>
        <p:spPr>
          <a:xfrm>
            <a:off x="-1371600" y="3200400"/>
            <a:ext cx="4114440" cy="4114440"/>
          </a:xfrm>
          <a:prstGeom prst="ellipse">
            <a:avLst/>
          </a:prstGeom>
          <a:solidFill>
            <a:srgbClr val="dc2626">
              <a:alpha val="12000"/>
            </a:srgbClr>
          </a:solidFill>
          <a:ln w="12700">
            <a:solidFill>
              <a:srgbClr val="dc2626">
                <a:alpha val="15000"/>
              </a:srgbClr>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86" name="Shape 33"/>
          <p:cNvSpPr/>
          <p:nvPr/>
        </p:nvSpPr>
        <p:spPr>
          <a:xfrm>
            <a:off x="0" y="0"/>
            <a:ext cx="200880" cy="5143320"/>
          </a:xfrm>
          <a:prstGeom prst="rect">
            <a:avLst/>
          </a:prstGeom>
          <a:solidFill>
            <a:srgbClr val="4ade80"/>
          </a:solidFill>
          <a:ln w="12700">
            <a:solidFill>
              <a:srgbClr val="4ade80"/>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387" name="Text 34"/>
          <p:cNvSpPr/>
          <p:nvPr/>
        </p:nvSpPr>
        <p:spPr>
          <a:xfrm>
            <a:off x="457200" y="274320"/>
            <a:ext cx="8229240" cy="5940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1" lang="en-US" sz="3800" spc="-1" strike="noStrike">
                <a:solidFill>
                  <a:srgbClr val="4ade80"/>
                </a:solidFill>
                <a:latin typeface="Calibri"/>
                <a:ea typeface="Calibri"/>
              </a:rPr>
              <a:t>Key Takeaways</a:t>
            </a:r>
            <a:endParaRPr b="0" lang="en-US" sz="3800" spc="-1" strike="noStrike">
              <a:solidFill>
                <a:srgbClr val="ffffff"/>
              </a:solidFill>
              <a:latin typeface="Arial"/>
            </a:endParaRPr>
          </a:p>
        </p:txBody>
      </p:sp>
      <p:sp>
        <p:nvSpPr>
          <p:cNvPr id="388" name="Text 35"/>
          <p:cNvSpPr/>
          <p:nvPr/>
        </p:nvSpPr>
        <p:spPr>
          <a:xfrm>
            <a:off x="457200" y="877680"/>
            <a:ext cx="64004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i="1" lang="en-US" sz="1100" spc="-1" strike="noStrike">
                <a:solidFill>
                  <a:srgbClr val="94a3b8"/>
                </a:solidFill>
                <a:latin typeface="Calibri"/>
              </a:rPr>
              <a:t>Data Mining for Intrusion Detection &amp; Prevention</a:t>
            </a:r>
            <a:endParaRPr b="0" lang="en-US" sz="1100" spc="-1" strike="noStrike">
              <a:solidFill>
                <a:srgbClr val="ffffff"/>
              </a:solidFill>
              <a:latin typeface="Arial"/>
            </a:endParaRPr>
          </a:p>
        </p:txBody>
      </p:sp>
      <p:sp>
        <p:nvSpPr>
          <p:cNvPr id="389" name="Shape 36"/>
          <p:cNvSpPr/>
          <p:nvPr/>
        </p:nvSpPr>
        <p:spPr>
          <a:xfrm>
            <a:off x="457200" y="1353240"/>
            <a:ext cx="328680" cy="328680"/>
          </a:xfrm>
          <a:prstGeom prst="ellipse">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0" name="Text 37"/>
          <p:cNvSpPr/>
          <p:nvPr/>
        </p:nvSpPr>
        <p:spPr>
          <a:xfrm>
            <a:off x="457200" y="135324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391" name="Text 38"/>
          <p:cNvSpPr/>
          <p:nvPr/>
        </p:nvSpPr>
        <p:spPr>
          <a:xfrm>
            <a:off x="932760" y="128016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Computer systems face continual security threats — intruders (masqueraders &amp; misfeasors) exploit vulnerabilities to steal, corrupt, or misuse data and network resources.</a:t>
            </a:r>
            <a:endParaRPr b="0" lang="en-US" sz="1100" spc="-1" strike="noStrike">
              <a:solidFill>
                <a:srgbClr val="ffffff"/>
              </a:solidFill>
              <a:latin typeface="Arial"/>
            </a:endParaRPr>
          </a:p>
        </p:txBody>
      </p:sp>
      <p:sp>
        <p:nvSpPr>
          <p:cNvPr id="392" name="Shape 39"/>
          <p:cNvSpPr/>
          <p:nvPr/>
        </p:nvSpPr>
        <p:spPr>
          <a:xfrm>
            <a:off x="457200" y="1920240"/>
            <a:ext cx="328680" cy="328680"/>
          </a:xfrm>
          <a:prstGeom prst="ellipse">
            <a:avLst/>
          </a:prstGeom>
          <a:solidFill>
            <a:srgbClr val="f87171"/>
          </a:solidFill>
          <a:ln w="12700">
            <a:solidFill>
              <a:srgbClr val="f8717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3" name="Text 40"/>
          <p:cNvSpPr/>
          <p:nvPr/>
        </p:nvSpPr>
        <p:spPr>
          <a:xfrm>
            <a:off x="457200" y="192024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394" name="Text 41"/>
          <p:cNvSpPr/>
          <p:nvPr/>
        </p:nvSpPr>
        <p:spPr>
          <a:xfrm>
            <a:off x="932760" y="184716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IDS monitors and alerts; IPS extends this by actively blocking threats — closing access points, modifying firewalls, and deactivating compromised accounts.</a:t>
            </a:r>
            <a:endParaRPr b="0" lang="en-US" sz="1100" spc="-1" strike="noStrike">
              <a:solidFill>
                <a:srgbClr val="ffffff"/>
              </a:solidFill>
              <a:latin typeface="Arial"/>
            </a:endParaRPr>
          </a:p>
        </p:txBody>
      </p:sp>
      <p:sp>
        <p:nvSpPr>
          <p:cNvPr id="395" name="Shape 42"/>
          <p:cNvSpPr/>
          <p:nvPr/>
        </p:nvSpPr>
        <p:spPr>
          <a:xfrm>
            <a:off x="457200" y="2487240"/>
            <a:ext cx="328680" cy="328680"/>
          </a:xfrm>
          <a:prstGeom prst="ellipse">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6" name="Text 43"/>
          <p:cNvSpPr/>
          <p:nvPr/>
        </p:nvSpPr>
        <p:spPr>
          <a:xfrm>
            <a:off x="457200" y="248724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397" name="Text 44"/>
          <p:cNvSpPr/>
          <p:nvPr/>
        </p:nvSpPr>
        <p:spPr>
          <a:xfrm>
            <a:off x="932760" y="241416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Two detection paradigms: Signature-based (pattern matching, effective for known attacks) and Anomaly-based (baseline deviation, detects unknown threats but higher false alarms).</a:t>
            </a:r>
            <a:endParaRPr b="0" lang="en-US" sz="1100" spc="-1" strike="noStrike">
              <a:solidFill>
                <a:srgbClr val="ffffff"/>
              </a:solidFill>
              <a:latin typeface="Arial"/>
            </a:endParaRPr>
          </a:p>
        </p:txBody>
      </p:sp>
      <p:sp>
        <p:nvSpPr>
          <p:cNvPr id="398" name="Shape 45"/>
          <p:cNvSpPr/>
          <p:nvPr/>
        </p:nvSpPr>
        <p:spPr>
          <a:xfrm>
            <a:off x="457200" y="3054240"/>
            <a:ext cx="328680" cy="328680"/>
          </a:xfrm>
          <a:prstGeom prst="ellipse">
            <a:avLst/>
          </a:prstGeom>
          <a:solidFill>
            <a:srgbClr val="f87171"/>
          </a:solidFill>
          <a:ln w="12700">
            <a:solidFill>
              <a:srgbClr val="f87171"/>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399" name="Text 46"/>
          <p:cNvSpPr/>
          <p:nvPr/>
        </p:nvSpPr>
        <p:spPr>
          <a:xfrm>
            <a:off x="457200" y="305424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400" name="Text 47"/>
          <p:cNvSpPr/>
          <p:nvPr/>
        </p:nvSpPr>
        <p:spPr>
          <a:xfrm>
            <a:off x="932760" y="298080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Data mining enables IDS to learn from past intrusions, improve continuously, and detect unusual activities across high-volume, high-dimensional network data.</a:t>
            </a:r>
            <a:endParaRPr b="0" lang="en-US" sz="1100" spc="-1" strike="noStrike">
              <a:solidFill>
                <a:srgbClr val="ffffff"/>
              </a:solidFill>
              <a:latin typeface="Arial"/>
            </a:endParaRPr>
          </a:p>
        </p:txBody>
      </p:sp>
      <p:sp>
        <p:nvSpPr>
          <p:cNvPr id="401" name="Shape 48"/>
          <p:cNvSpPr/>
          <p:nvPr/>
        </p:nvSpPr>
        <p:spPr>
          <a:xfrm>
            <a:off x="457200" y="3620880"/>
            <a:ext cx="328680" cy="328680"/>
          </a:xfrm>
          <a:prstGeom prst="ellipse">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2" name="Text 49"/>
          <p:cNvSpPr/>
          <p:nvPr/>
        </p:nvSpPr>
        <p:spPr>
          <a:xfrm>
            <a:off x="457200" y="362088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403" name="Text 50"/>
          <p:cNvSpPr/>
          <p:nvPr/>
        </p:nvSpPr>
        <p:spPr>
          <a:xfrm>
            <a:off x="932760" y="354780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The four key DM applications in IDS: new model development, stream data analysis, distributed data mining, and visualization tools for security analysts.</a:t>
            </a:r>
            <a:endParaRPr b="0" lang="en-US" sz="1100" spc="-1" strike="noStrike">
              <a:solidFill>
                <a:srgbClr val="ffffff"/>
              </a:solidFill>
              <a:latin typeface="Arial"/>
            </a:endParaRPr>
          </a:p>
        </p:txBody>
      </p:sp>
      <p:sp>
        <p:nvSpPr>
          <p:cNvPr id="404" name="Shape 51"/>
          <p:cNvSpPr/>
          <p:nvPr/>
        </p:nvSpPr>
        <p:spPr>
          <a:xfrm>
            <a:off x="457200" y="4187880"/>
            <a:ext cx="328680" cy="328680"/>
          </a:xfrm>
          <a:prstGeom prst="ellipse">
            <a:avLst/>
          </a:prstGeom>
          <a:solidFill>
            <a:srgbClr val="fcd34d"/>
          </a:solidFill>
          <a:ln w="12700">
            <a:solidFill>
              <a:srgbClr val="fcd34d"/>
            </a:solidFill>
            <a:round/>
          </a:ln>
        </p:spPr>
        <p:style>
          <a:lnRef idx="0"/>
          <a:fillRef idx="0"/>
          <a:effectRef idx="0"/>
          <a:fontRef idx="minor"/>
        </p:style>
        <p:txBody>
          <a:bodyPr lIns="90000" rIns="90000" tIns="45000" bIns="45000" anchor="t">
            <a:noAutofit/>
          </a:bodyPr>
          <a:p>
            <a:endParaRPr b="0" lang="en-US" sz="1800" spc="-1" strike="noStrike">
              <a:solidFill>
                <a:srgbClr val="000000"/>
              </a:solidFill>
              <a:latin typeface="Arial"/>
            </a:endParaRPr>
          </a:p>
        </p:txBody>
      </p:sp>
      <p:sp>
        <p:nvSpPr>
          <p:cNvPr id="405" name="Text 52"/>
          <p:cNvSpPr/>
          <p:nvPr/>
        </p:nvSpPr>
        <p:spPr>
          <a:xfrm>
            <a:off x="457200" y="4187880"/>
            <a:ext cx="328680" cy="328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000" spc="-1" strike="noStrike">
                <a:solidFill>
                  <a:srgbClr val="0a0f0d"/>
                </a:solidFill>
                <a:latin typeface="Calibri"/>
              </a:rPr>
              <a:t>✦</a:t>
            </a:r>
            <a:endParaRPr b="0" lang="en-US" sz="1000" spc="-1" strike="noStrike">
              <a:solidFill>
                <a:srgbClr val="ffffff"/>
              </a:solidFill>
              <a:latin typeface="Arial"/>
            </a:endParaRPr>
          </a:p>
        </p:txBody>
      </p:sp>
      <p:sp>
        <p:nvSpPr>
          <p:cNvPr id="406" name="Text 53"/>
          <p:cNvSpPr/>
          <p:nvPr/>
        </p:nvSpPr>
        <p:spPr>
          <a:xfrm>
            <a:off x="932760" y="4114800"/>
            <a:ext cx="7817760" cy="502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b="0" lang="en-US" sz="1100" spc="-1" strike="noStrike">
                <a:solidFill>
                  <a:srgbClr val="bbf7d0"/>
                </a:solidFill>
                <a:latin typeface="Calibri"/>
                <a:ea typeface="Calibri"/>
              </a:rPr>
              <a:t>DM-powered IDS must be efficient, scalable, and capable of handling heterogeneous, real-time data streams — particularly for detecting distributed and sequential attacks.</a:t>
            </a:r>
            <a:endParaRPr b="0" lang="en-US" sz="1100" spc="-1" strike="noStrike">
              <a:solidFill>
                <a:srgbClr val="ffffff"/>
              </a:solidFill>
              <a:latin typeface="Arial"/>
            </a:endParaRPr>
          </a:p>
        </p:txBody>
      </p:sp>
      <p:sp>
        <p:nvSpPr>
          <p:cNvPr id="407" name="Shape 54"/>
          <p:cNvSpPr/>
          <p:nvPr/>
        </p:nvSpPr>
        <p:spPr>
          <a:xfrm>
            <a:off x="457200" y="4663440"/>
            <a:ext cx="8320680" cy="383760"/>
          </a:xfrm>
          <a:prstGeom prst="rect">
            <a:avLst/>
          </a:prstGeom>
          <a:solidFill>
            <a:srgbClr val="16a34a"/>
          </a:solidFill>
          <a:ln w="12700">
            <a:solidFill>
              <a:srgbClr val="16a34a"/>
            </a:solidFill>
            <a:round/>
          </a:ln>
        </p:spPr>
        <p:style>
          <a:lnRef idx="0"/>
          <a:fillRef idx="0"/>
          <a:effectRef idx="0"/>
          <a:fontRef idx="minor"/>
        </p:style>
        <p:txBody>
          <a:bodyPr lIns="90000" rIns="90000" tIns="45000" bIns="45000" anchor="t">
            <a:noAutofit/>
          </a:bodyPr>
          <a:p>
            <a:endParaRPr b="0" lang="en-US" sz="1800" spc="-1" strike="noStrike">
              <a:solidFill>
                <a:srgbClr val="ffffff"/>
              </a:solidFill>
              <a:latin typeface="Arial"/>
            </a:endParaRPr>
          </a:p>
        </p:txBody>
      </p:sp>
      <p:sp>
        <p:nvSpPr>
          <p:cNvPr id="408" name="Text 55"/>
          <p:cNvSpPr/>
          <p:nvPr/>
        </p:nvSpPr>
        <p:spPr>
          <a:xfrm>
            <a:off x="457200" y="4663440"/>
            <a:ext cx="8320680" cy="383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b="1" lang="en-US" sz="1200" spc="-1" strike="noStrike">
                <a:solidFill>
                  <a:srgbClr val="0a0f0d"/>
                </a:solidFill>
                <a:latin typeface="Calibri"/>
                <a:ea typeface="Calibri"/>
              </a:rPr>
              <a:t>Data mining transforms IDS from reactive rule-checkers into intelligent, self-improving cyber defences</a:t>
            </a:r>
            <a:endParaRPr b="0" lang="en-US" sz="1200" spc="-1" strike="noStrike">
              <a:solidFill>
                <a:srgbClr val="ffffff"/>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LibreOffice/24.2.7.2$Linux_X86_64 LibreOffice_project/420$Build-2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2026-04-09T03:29:37Z</dcterms:created>
  <dc:creator>PptxGenJS</dc:creator>
  <dc:description/>
  <dc:language>en-US</dc:language>
  <cp:lastModifiedBy>PptxGenJS</cp:lastModifiedBy>
  <dcterms:modified xsi:type="dcterms:W3CDTF">2026-04-09T03:29:37Z</dcterms:modified>
  <cp:revision>1</cp:revision>
  <dc:subject>PptxGenJS Presentation</dc:subject>
  <dc:title>Data Mining for Intrusion Detection and Prevention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9</vt:i4>
  </property>
  <property fmtid="{D5CDD505-2E9C-101B-9397-08002B2CF9AE}" pid="3" name="PresentationFormat">
    <vt:lpwstr>On-screen Show (16:9)</vt:lpwstr>
  </property>
  <property fmtid="{D5CDD505-2E9C-101B-9397-08002B2CF9AE}" pid="4" name="Slides">
    <vt:i4>9</vt:i4>
  </property>
</Properties>
</file>