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4D95172-9FA6-488C-A117-4706BBEE6D3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DE2FE-60E6-4977-88F1-B00B0CD84C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1FB266-F9AD-43C0-93F8-D1AF5F3CD4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BF8293-EEFD-4567-B78D-3D50EA411E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06DD62-757D-4769-A752-9DA5D68271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167FA9-6DE9-493F-8236-C9A75F0E94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10AC6-A2CB-430B-9F24-08660002C7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6D4C4B-CF16-4013-AAE5-82149A7B0F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35933-86D3-4286-8B4D-6D7FD1DD1E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583680" y="-1097280"/>
            <a:ext cx="4114440" cy="4114440"/>
          </a:xfrm>
          <a:prstGeom prst="ellipse">
            <a:avLst/>
          </a:prstGeom>
          <a:solidFill>
            <a:srgbClr val="312e81"/>
          </a:solidFill>
          <a:ln w="12700">
            <a:solidFill>
              <a:srgbClr val="312e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680960" y="548640"/>
            <a:ext cx="2011320" cy="2011320"/>
          </a:xfrm>
          <a:prstGeom prst="ellipse">
            <a:avLst/>
          </a:prstGeom>
          <a:solidFill>
            <a:srgbClr val="6d28d9">
              <a:alpha val="45000"/>
            </a:srgbClr>
          </a:solidFill>
          <a:ln w="12700">
            <a:solidFill>
              <a:srgbClr val="6d28d9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731520" y="3474720"/>
            <a:ext cx="2742840" cy="27428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57200" y="822960"/>
            <a:ext cx="237708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8229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8fafc"/>
                </a:solidFill>
                <a:latin typeface="Calibri"/>
              </a:rPr>
              <a:t>DATA MINING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1371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rgbClr val="c7d2fe"/>
                </a:solidFill>
                <a:latin typeface="Calibri"/>
                <a:ea typeface="Calibri"/>
              </a:rPr>
              <a:t>Methods of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2011680"/>
            <a:ext cx="7772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59e0b"/>
                </a:solidFill>
                <a:latin typeface="Calibri"/>
                <a:ea typeface="Calibri"/>
              </a:rPr>
              <a:t>Outlier Detection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7200" y="3200400"/>
            <a:ext cx="2559960" cy="475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3200400"/>
            <a:ext cx="2559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Supervised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337560" y="3200400"/>
            <a:ext cx="2559960" cy="475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337560" y="3200400"/>
            <a:ext cx="2559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Unsupervised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217920" y="3200400"/>
            <a:ext cx="2559960" cy="475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217920" y="3200400"/>
            <a:ext cx="2559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Semi-Supervised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" y="38862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Calibri"/>
                <a:ea typeface="Calibri"/>
              </a:rPr>
              <a:t>A comprehensive overview of classification-based approaches to detecting anomalies in data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5720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Overview: Outlier Detection Methods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457200" y="1143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1b4b"/>
                </a:solidFill>
                <a:latin typeface="Calibri"/>
                <a:ea typeface="Calibri"/>
              </a:rPr>
              <a:t>Outlier detection methods are broadly classified into three categories based on the availability of labeled data: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255960" y="1783080"/>
            <a:ext cx="2742840" cy="3062880"/>
          </a:xfrm>
          <a:prstGeom prst="rect">
            <a:avLst/>
          </a:prstGeom>
          <a:solidFill>
            <a:srgbClr val="1e1b4b"/>
          </a:solidFill>
          <a:ln w="254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255960" y="1783080"/>
            <a:ext cx="2742840" cy="4384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347400" y="17830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01  Supervised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393120" y="2331720"/>
            <a:ext cx="2468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7d2fe"/>
                </a:solidFill>
                <a:latin typeface="Calibri"/>
                <a:ea typeface="Calibri"/>
              </a:rPr>
              <a:t>Uses labeled training data (normal + anomalous) to build a classification model that identifies outliers.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3163680" y="1783080"/>
            <a:ext cx="2742840" cy="3062880"/>
          </a:xfrm>
          <a:prstGeom prst="rect">
            <a:avLst/>
          </a:prstGeom>
          <a:solidFill>
            <a:srgbClr val="1e1b4b"/>
          </a:solidFill>
          <a:ln w="254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3163680" y="1783080"/>
            <a:ext cx="2742840" cy="438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3255120" y="17830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02  Unsupervised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3300840" y="2331720"/>
            <a:ext cx="2468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7d2fe"/>
                </a:solidFill>
                <a:latin typeface="Calibri"/>
                <a:ea typeface="Calibri"/>
              </a:rPr>
              <a:t>Requires no labels. Assumes normal objects cluster together; isolated points are flagged as outliers.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6071760" y="1783080"/>
            <a:ext cx="2742840" cy="3062880"/>
          </a:xfrm>
          <a:prstGeom prst="rect">
            <a:avLst/>
          </a:prstGeom>
          <a:solidFill>
            <a:srgbClr val="1e1b4b"/>
          </a:solidFill>
          <a:ln w="25400">
            <a:solidFill>
              <a:srgbClr val="6d28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6071760" y="1783080"/>
            <a:ext cx="2742840" cy="438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6163200" y="17830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03  Semi-Supervised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6208920" y="2331720"/>
            <a:ext cx="2468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7d2fe"/>
                </a:solidFill>
                <a:latin typeface="Calibri"/>
                <a:ea typeface="Calibri"/>
              </a:rPr>
              <a:t>Leverages a small set of labeled data together with a large pool of unlabeled data to detect anomalies.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274320" y="4663440"/>
            <a:ext cx="8595000" cy="347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365760" y="46634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Choice of method depends on the availability and quality of labeled data in the application domain.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3108600" cy="51433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3108960" y="0"/>
            <a:ext cx="54360" cy="514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182880" y="274320"/>
            <a:ext cx="548280" cy="548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182880" y="274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1b4b"/>
                </a:solidFill>
                <a:latin typeface="Calibri"/>
              </a:rPr>
              <a:t>01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137160" y="1005840"/>
            <a:ext cx="2834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8fafc"/>
                </a:solidFill>
                <a:latin typeface="Calibri"/>
                <a:ea typeface="Calibri"/>
              </a:rPr>
              <a:t>Supervised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8fafc"/>
                </a:solidFill>
                <a:latin typeface="Calibri"/>
                <a:ea typeface="Calibri"/>
              </a:rPr>
              <a:t>Methods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182880" y="21945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Key Concept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182880" y="251460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Outlier detection is modeled as a classification problem using domain-labeled training data.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182880" y="3566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Requirement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182880" y="38404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Domain experts label normal &amp; abnormal samples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3337560" y="22860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338ca"/>
                </a:solidFill>
                <a:latin typeface="Calibri"/>
                <a:ea typeface="Calibri"/>
              </a:rPr>
              <a:t>How It Works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3337560" y="777240"/>
            <a:ext cx="475200" cy="475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3337560" y="777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3913560" y="77724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1b4b"/>
                </a:solidFill>
                <a:latin typeface="Calibri"/>
                <a:ea typeface="Calibri"/>
              </a:rPr>
              <a:t>Label the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3913560" y="10515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Domain professionals examine and label a sample of the base data as 'normal' or 'outlier'.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3547800" y="1252440"/>
            <a:ext cx="360" cy="576360"/>
          </a:xfrm>
          <a:prstGeom prst="line">
            <a:avLst/>
          </a:prstGeom>
          <a:ln w="19050">
            <a:solidFill>
              <a:srgbClr val="4338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3337560" y="1828800"/>
            <a:ext cx="475200" cy="475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3337560" y="18288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3913560" y="18288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1b4b"/>
                </a:solidFill>
                <a:latin typeface="Calibri"/>
                <a:ea typeface="Calibri"/>
              </a:rPr>
              <a:t>Train a Classifier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3913560" y="210312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The labeled sample is used to train a classifier model capable of distinguishing outliers from normal data.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9"/>
          <p:cNvSpPr/>
          <p:nvPr/>
        </p:nvSpPr>
        <p:spPr>
          <a:xfrm>
            <a:off x="3547800" y="2304000"/>
            <a:ext cx="360" cy="576360"/>
          </a:xfrm>
          <a:prstGeom prst="line">
            <a:avLst/>
          </a:prstGeom>
          <a:ln w="19050">
            <a:solidFill>
              <a:srgbClr val="4338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0"/>
          <p:cNvSpPr/>
          <p:nvPr/>
        </p:nvSpPr>
        <p:spPr>
          <a:xfrm>
            <a:off x="3337560" y="2880360"/>
            <a:ext cx="475200" cy="475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3337560" y="28803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3913560" y="28803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1b4b"/>
                </a:solidFill>
                <a:latin typeface="Calibri"/>
                <a:ea typeface="Calibri"/>
              </a:rPr>
              <a:t>Test &amp; Validate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3913560" y="315468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The trained model is tested on holdout data to validate its accuracy and generalization ability.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4"/>
          <p:cNvSpPr/>
          <p:nvPr/>
        </p:nvSpPr>
        <p:spPr>
          <a:xfrm>
            <a:off x="3547800" y="3355560"/>
            <a:ext cx="360" cy="576360"/>
          </a:xfrm>
          <a:prstGeom prst="line">
            <a:avLst/>
          </a:prstGeom>
          <a:ln w="19050">
            <a:solidFill>
              <a:srgbClr val="4338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5"/>
          <p:cNvSpPr/>
          <p:nvPr/>
        </p:nvSpPr>
        <p:spPr>
          <a:xfrm>
            <a:off x="3337560" y="3931920"/>
            <a:ext cx="475200" cy="475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3337560" y="39319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7"/>
          <p:cNvSpPr/>
          <p:nvPr/>
        </p:nvSpPr>
        <p:spPr>
          <a:xfrm>
            <a:off x="3913560" y="39319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1b4b"/>
                </a:solidFill>
                <a:latin typeface="Calibri"/>
                <a:ea typeface="Calibri"/>
              </a:rPr>
              <a:t>Apply to New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8"/>
          <p:cNvSpPr/>
          <p:nvPr/>
        </p:nvSpPr>
        <p:spPr>
          <a:xfrm>
            <a:off x="3913560" y="420624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The validated classifier is deployed to identify outliers in new, unseen data points.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9"/>
          <p:cNvSpPr/>
          <p:nvPr/>
        </p:nvSpPr>
        <p:spPr>
          <a:xfrm>
            <a:off x="3337560" y="4663440"/>
            <a:ext cx="5577480" cy="347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0"/>
          <p:cNvSpPr/>
          <p:nvPr/>
        </p:nvSpPr>
        <p:spPr>
          <a:xfrm>
            <a:off x="3429000" y="466344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97706"/>
                </a:solidFill>
                <a:latin typeface="Calibri"/>
                <a:ea typeface="Calibri"/>
              </a:rPr>
              <a:t>⚠  </a:t>
            </a:r>
            <a:r>
              <a:rPr b="0" lang="en-US" sz="1050" spc="-1" strike="noStrike">
                <a:solidFill>
                  <a:srgbClr val="d97706"/>
                </a:solidFill>
                <a:latin typeface="Calibri"/>
                <a:ea typeface="Calibri"/>
              </a:rPr>
              <a:t>Variant: Some methods label only normal objects; anything not matching the model = outlier.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0e2a"/>
                </a:solidFill>
                <a:latin typeface="Calibri"/>
                <a:ea typeface="Calibri"/>
              </a:rPr>
              <a:t>02  Unsupervised Methods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274320" y="1097280"/>
            <a:ext cx="8595000" cy="822600"/>
          </a:xfrm>
          <a:prstGeom prst="rect">
            <a:avLst/>
          </a:prstGeom>
          <a:solidFill>
            <a:srgbClr val="0f3d3a"/>
          </a:solidFill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457200" y="109728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eead4"/>
                </a:solidFill>
                <a:latin typeface="Calibri"/>
                <a:ea typeface="Calibri"/>
              </a:rPr>
              <a:t>Core Assumption: </a:t>
            </a:r>
            <a:r>
              <a:rPr b="0" lang="en-US" sz="1250" spc="-1" strike="noStrike">
                <a:solidFill>
                  <a:srgbClr val="c7d2fe"/>
                </a:solidFill>
                <a:latin typeface="Calibri"/>
                <a:ea typeface="Calibri"/>
              </a:rPr>
              <a:t>Normal objects follow patterns far more commonly than outliers. They may form multiple groups with different features — but they cluster.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274320" y="2103120"/>
            <a:ext cx="2742840" cy="2559960"/>
          </a:xfrm>
          <a:prstGeom prst="rect">
            <a:avLst/>
          </a:prstGeom>
          <a:solidFill>
            <a:srgbClr val="312e81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1371600" y="2030040"/>
            <a:ext cx="548280" cy="5482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371600" y="20300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0e2a"/>
                </a:solidFill>
                <a:latin typeface="Calibri"/>
              </a:rPr>
              <a:t>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365760" y="26974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No Labels Needed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411480" y="3108960"/>
            <a:ext cx="24685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Works without any pre-labeled data. Objects labeled 'normal' or 'outlier' are not required — making it broadly applicable.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3182040" y="2103120"/>
            <a:ext cx="2742840" cy="2559960"/>
          </a:xfrm>
          <a:prstGeom prst="rect">
            <a:avLst/>
          </a:prstGeom>
          <a:solidFill>
            <a:srgbClr val="312e81"/>
          </a:solidFill>
          <a:ln w="1905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4279320" y="2030040"/>
            <a:ext cx="548280" cy="548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4279320" y="20300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0e2a"/>
                </a:solidFill>
                <a:latin typeface="Calibri"/>
              </a:rPr>
              <a:t>◎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3273480" y="26974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Cluster-Based Logic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3319200" y="3108960"/>
            <a:ext cx="24685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Clusters are discovered first. Data objects not belonging to any cluster are identified as potential outliers.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6089760" y="2103120"/>
            <a:ext cx="2742840" cy="2559960"/>
          </a:xfrm>
          <a:prstGeom prst="rect">
            <a:avLst/>
          </a:prstGeom>
          <a:solidFill>
            <a:srgbClr val="312e81"/>
          </a:solidFill>
          <a:ln w="19050">
            <a:solidFill>
              <a:srgbClr val="d9770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7187040" y="2030040"/>
            <a:ext cx="548280" cy="548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7187040" y="20300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0e2a"/>
                </a:solidFill>
                <a:latin typeface="Calibri"/>
              </a:rPr>
              <a:t>⚡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6181200" y="26974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Known Limitations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6226920" y="3108960"/>
            <a:ext cx="24685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Cluster-first approach is expensive. Non-cluster objects may be noise, not outliers. Fails when normals are uniformly distributed.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0"/>
          <p:cNvSpPr/>
          <p:nvPr/>
        </p:nvSpPr>
        <p:spPr>
          <a:xfrm>
            <a:off x="274320" y="4663440"/>
            <a:ext cx="8595000" cy="319680"/>
          </a:xfrm>
          <a:prstGeom prst="rect">
            <a:avLst/>
          </a:prstGeom>
          <a:solidFill>
            <a:srgbClr val="1e1b4b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411480" y="466344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7d2fe"/>
                </a:solidFill>
                <a:latin typeface="Calibri"/>
                <a:ea typeface="Calibri"/>
              </a:rPr>
              <a:t>Application example: Intrusion detection &amp; computer virus detection — where normal activities are highly distinct.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03  Semi-Supervised Methods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365760" y="109728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d28d9"/>
                </a:solidFill>
                <a:latin typeface="Calibri"/>
                <a:ea typeface="Calibri"/>
              </a:rPr>
              <a:t>The Middle Ground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65760" y="1554480"/>
            <a:ext cx="4114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1b4b"/>
                </a:solidFill>
                <a:latin typeface="Calibri"/>
                <a:ea typeface="Calibri"/>
              </a:rPr>
              <a:t>Semi-supervised methods are designed for real-world scenarios where obtaining a complete set of labeled data is impractical. A small group of labeled instances is combined with a large pool of unlabeled data.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365760" y="2880360"/>
            <a:ext cx="1096920" cy="502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365760" y="340164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Labeled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(small)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1554480" y="2880360"/>
            <a:ext cx="274284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1554480" y="34016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Unlabeled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(large)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365760" y="39502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← </a:t>
            </a: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Training data composition 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4754880" y="1051560"/>
            <a:ext cx="4114440" cy="1828440"/>
          </a:xfrm>
          <a:prstGeom prst="rect">
            <a:avLst/>
          </a:prstGeom>
          <a:solidFill>
            <a:srgbClr val="1e1b4b"/>
          </a:solidFill>
          <a:ln w="19050">
            <a:solidFill>
              <a:srgbClr val="6d28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4754880" y="1051560"/>
            <a:ext cx="4114440" cy="383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4846320" y="105156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Case A — Labeled Normals Only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4846320" y="1508760"/>
            <a:ext cx="3885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When only normal objects are labeled, these are combined with nearby unlabeled data to train a model of normality. Anything deviating from this model is flagged as an outlier.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4754880" y="3017520"/>
            <a:ext cx="4114440" cy="1828440"/>
          </a:xfrm>
          <a:prstGeom prst="rect">
            <a:avLst/>
          </a:prstGeom>
          <a:solidFill>
            <a:srgbClr val="1e1b4b"/>
          </a:solidFill>
          <a:ln w="1905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4754880" y="3017520"/>
            <a:ext cx="4114440" cy="383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4846320" y="301752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0e2a"/>
                </a:solidFill>
                <a:latin typeface="Calibri"/>
                <a:ea typeface="Calibri"/>
              </a:rPr>
              <a:t>Case B — Labeled Normals &amp; Outliers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4846320" y="3474720"/>
            <a:ext cx="3885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2fe"/>
                </a:solidFill>
                <a:latin typeface="Calibri"/>
                <a:ea typeface="Calibri"/>
              </a:rPr>
              <a:t>When both normal and outlier instances are partially labeled, semi-supervised learning leverages both to create a richer, more accurate detection model alongside the unlabeled data.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0" y="4818960"/>
            <a:ext cx="9143640" cy="32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365760" y="4818960"/>
            <a:ext cx="8412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7d2fe"/>
                </a:solidFill>
                <a:latin typeface="Calibri"/>
                <a:ea typeface="Calibri"/>
              </a:rPr>
              <a:t>Semi-supervised methods can be seen as applications of semisupervised learning approaches adapted for anomaly detection.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0" y="86868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365760" y="0"/>
            <a:ext cx="8412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8fafc"/>
                </a:solidFill>
                <a:latin typeface="Calibri"/>
                <a:ea typeface="Calibri"/>
              </a:rPr>
              <a:t>Methods at a Glance —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8" name="Table 0"/>
          <p:cNvGraphicFramePr/>
          <p:nvPr/>
        </p:nvGraphicFramePr>
        <p:xfrm>
          <a:off x="274320" y="1005840"/>
          <a:ext cx="8595000" cy="393156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2194560"/>
              </a:tblGrid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Attribute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8fafc"/>
                          </a:solidFill>
                          <a:latin typeface="Calibri"/>
                        </a:rPr>
                        <a:t>Supervised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f0e2a"/>
                          </a:solidFill>
                          <a:latin typeface="Calibri"/>
                        </a:rPr>
                        <a:t>Unsupervised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8fafc"/>
                          </a:solidFill>
                          <a:latin typeface="Calibri"/>
                        </a:rPr>
                        <a:t>Semi-Supervised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6d28d9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Labeled Data Required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c7d2fe"/>
                          </a:solidFill>
                          <a:latin typeface="Calibri"/>
                          <a:ea typeface="Calibri"/>
                        </a:rPr>
                        <a:t>Yes (both classes)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5eead4"/>
                          </a:solidFill>
                          <a:latin typeface="Calibri"/>
                          <a:ea typeface="Calibri"/>
                        </a:rPr>
                        <a:t>No labels needed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</a:rPr>
                        <a:t>Partial labels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Domain Expert Needed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c7d2fe"/>
                          </a:solidFill>
                          <a:latin typeface="Calibri"/>
                          <a:ea typeface="Calibri"/>
                        </a:rPr>
                        <a:t>Strongly needed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5eead4"/>
                          </a:solidFill>
                          <a:latin typeface="Calibri"/>
                          <a:ea typeface="Calibri"/>
                        </a:rPr>
                        <a:t>Not required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</a:rPr>
                        <a:t>Helpful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Handles New Data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c7d2fe"/>
                          </a:solidFill>
                          <a:latin typeface="Calibri"/>
                          <a:ea typeface="Calibri"/>
                        </a:rPr>
                        <a:t>Yes — via classifier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5eead4"/>
                          </a:solidFill>
                          <a:latin typeface="Calibri"/>
                          <a:ea typeface="Calibri"/>
                        </a:rPr>
                        <a:t>Cluster recalculation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</a:rPr>
                        <a:t>Model-based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Scalability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c7d2fe"/>
                          </a:solidFill>
                          <a:latin typeface="Calibri"/>
                          <a:ea typeface="Calibri"/>
                        </a:rPr>
                        <a:t>Moderate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5eead4"/>
                          </a:solidFill>
                          <a:latin typeface="Calibri"/>
                          <a:ea typeface="Calibri"/>
                        </a:rPr>
                        <a:t>Expensive (clustering)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</a:rPr>
                        <a:t>Moderate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Best For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c7d2fe"/>
                          </a:solidFill>
                          <a:latin typeface="Calibri"/>
                          <a:ea typeface="Calibri"/>
                        </a:rPr>
                        <a:t>Well-labeled datasets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5eead4"/>
                          </a:solidFill>
                          <a:latin typeface="Calibri"/>
                          <a:ea typeface="Calibri"/>
                        </a:rPr>
                        <a:t>Exploratory analysis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</a:rPr>
                        <a:t>Limited-label scenarios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a1830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Key Risk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c7d2fe"/>
                          </a:solidFill>
                          <a:latin typeface="Calibri"/>
                          <a:ea typeface="Calibri"/>
                        </a:rPr>
                        <a:t>Labeling bias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5eead4"/>
                          </a:solidFill>
                          <a:latin typeface="Calibri"/>
                          <a:ea typeface="Calibri"/>
                        </a:rPr>
                        <a:t>Noise vs. outlier confusion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</a:rPr>
                        <a:t>Label quality dependency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2d2b55"/>
                      </a:solidFill>
                      <a:prstDash val="solid"/>
                    </a:lnL>
                    <a:lnR w="6480">
                      <a:solidFill>
                        <a:srgbClr val="2d2b55"/>
                      </a:solidFill>
                      <a:prstDash val="solid"/>
                    </a:lnR>
                    <a:lnT w="6480">
                      <a:solidFill>
                        <a:srgbClr val="2d2b55"/>
                      </a:solidFill>
                      <a:prstDash val="solid"/>
                    </a:lnT>
                    <a:lnB w="6480">
                      <a:solidFill>
                        <a:srgbClr val="2d2b55"/>
                      </a:solidFill>
                      <a:prstDash val="solid"/>
                    </a:lnB>
                    <a:solidFill>
                      <a:srgbClr val="14122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9e0b"/>
                </a:solidFill>
                <a:latin typeface="Calibri"/>
                <a:ea typeface="Calibri"/>
              </a:rPr>
              <a:t>When to Use Which Method?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3200400" y="1097280"/>
            <a:ext cx="2742840" cy="5940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3200400" y="1097280"/>
            <a:ext cx="274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Do you have labeled data?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274320" y="2377440"/>
            <a:ext cx="2651400" cy="594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274320" y="237744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Fully labeled?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(normal + outlier)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7"/>
          <p:cNvSpPr/>
          <p:nvPr/>
        </p:nvSpPr>
        <p:spPr>
          <a:xfrm>
            <a:off x="6217920" y="2377440"/>
            <a:ext cx="2651400" cy="59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6217920" y="237744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f0e2a"/>
                </a:solidFill>
                <a:latin typeface="Calibri"/>
                <a:ea typeface="Calibri"/>
              </a:rPr>
              <a:t>No labels at all?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3200400" y="2377440"/>
            <a:ext cx="2651400" cy="594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200400" y="237744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Calibri"/>
                <a:ea typeface="Calibri"/>
              </a:rPr>
              <a:t>Partially labeled?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274320" y="3703320"/>
            <a:ext cx="2651400" cy="7768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274320" y="3703320"/>
            <a:ext cx="265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✔ </a:t>
            </a: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Use Supervised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Methods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3200400" y="3703320"/>
            <a:ext cx="2651400" cy="776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3200400" y="3703320"/>
            <a:ext cx="265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✔ </a:t>
            </a: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Use Semi-Supervised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Calibri"/>
                <a:ea typeface="Calibri"/>
              </a:rPr>
              <a:t>Methods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5"/>
          <p:cNvSpPr/>
          <p:nvPr/>
        </p:nvSpPr>
        <p:spPr>
          <a:xfrm>
            <a:off x="6217920" y="3703320"/>
            <a:ext cx="2651400" cy="776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6217920" y="3703320"/>
            <a:ext cx="265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✔ </a:t>
            </a: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Use Unsupervised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Methods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3566160" y="1691640"/>
            <a:ext cx="360" cy="685800"/>
          </a:xfrm>
          <a:prstGeom prst="line">
            <a:avLst/>
          </a:prstGeom>
          <a:ln w="1905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8"/>
          <p:cNvSpPr/>
          <p:nvPr/>
        </p:nvSpPr>
        <p:spPr>
          <a:xfrm>
            <a:off x="1600200" y="1828800"/>
            <a:ext cx="2011680" cy="566640"/>
          </a:xfrm>
          <a:prstGeom prst="line">
            <a:avLst/>
          </a:prstGeom>
          <a:ln w="12700">
            <a:solidFill>
              <a:srgbClr val="4338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9"/>
          <p:cNvSpPr/>
          <p:nvPr/>
        </p:nvSpPr>
        <p:spPr>
          <a:xfrm flipH="1">
            <a:off x="5532120" y="1828800"/>
            <a:ext cx="2011680" cy="566640"/>
          </a:xfrm>
          <a:prstGeom prst="line">
            <a:avLst/>
          </a:prstGeom>
          <a:ln w="12700">
            <a:solidFill>
              <a:srgbClr val="0d948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0"/>
          <p:cNvSpPr/>
          <p:nvPr/>
        </p:nvSpPr>
        <p:spPr>
          <a:xfrm>
            <a:off x="4572000" y="1691640"/>
            <a:ext cx="360" cy="685800"/>
          </a:xfrm>
          <a:prstGeom prst="line">
            <a:avLst/>
          </a:prstGeom>
          <a:ln w="1905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1"/>
          <p:cNvSpPr/>
          <p:nvPr/>
        </p:nvSpPr>
        <p:spPr>
          <a:xfrm>
            <a:off x="1600200" y="2971800"/>
            <a:ext cx="360" cy="73152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2"/>
          <p:cNvSpPr/>
          <p:nvPr/>
        </p:nvSpPr>
        <p:spPr>
          <a:xfrm>
            <a:off x="4572000" y="2971800"/>
            <a:ext cx="360" cy="73152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3"/>
          <p:cNvSpPr/>
          <p:nvPr/>
        </p:nvSpPr>
        <p:spPr>
          <a:xfrm>
            <a:off x="7543800" y="2971800"/>
            <a:ext cx="360" cy="73152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4"/>
          <p:cNvSpPr/>
          <p:nvPr/>
        </p:nvSpPr>
        <p:spPr>
          <a:xfrm>
            <a:off x="274320" y="1920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338ca"/>
                </a:solidFill>
                <a:latin typeface="Calibri"/>
              </a:rPr>
              <a:t>YES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6263640" y="1920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9488"/>
                </a:solidFill>
                <a:latin typeface="Calibri"/>
              </a:rPr>
              <a:t>YES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6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7"/>
          <p:cNvSpPr/>
          <p:nvPr/>
        </p:nvSpPr>
        <p:spPr>
          <a:xfrm>
            <a:off x="365760" y="4663440"/>
            <a:ext cx="84121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There is no universally 'best' method — the right choice depends on your data, domain expertise, and computational budget.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5943600" y="-731520"/>
            <a:ext cx="4114440" cy="4114440"/>
          </a:xfrm>
          <a:prstGeom prst="ellipse">
            <a:avLst/>
          </a:prstGeom>
          <a:solidFill>
            <a:srgbClr val="312e81"/>
          </a:solidFill>
          <a:ln w="12700">
            <a:solidFill>
              <a:srgbClr val="312e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-914400" y="3200400"/>
            <a:ext cx="3200040" cy="3200040"/>
          </a:xfrm>
          <a:prstGeom prst="ellipse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6d28d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59e0b"/>
                </a:solidFill>
                <a:latin typeface="Calibri"/>
                <a:ea typeface="Calibri"/>
              </a:rPr>
              <a:t>Key Takeaways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457200" y="1097280"/>
            <a:ext cx="456840" cy="4568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457200" y="109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①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1051560" y="10972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7d2fe"/>
                </a:solidFill>
                <a:latin typeface="Calibri"/>
                <a:ea typeface="Calibri"/>
              </a:rPr>
              <a:t>Supervised methods offer highest accuracy but require expensive expert labeling of both normal and anomalous instances.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457200" y="2011680"/>
            <a:ext cx="456840" cy="456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457200" y="2011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②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1051560" y="20116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7d2fe"/>
                </a:solidFill>
                <a:latin typeface="Calibri"/>
                <a:ea typeface="Calibri"/>
              </a:rPr>
              <a:t>Unsupervised methods are broadly applicable and require no labels, but struggle with noise and uniformly distributed normals.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457200" y="2926080"/>
            <a:ext cx="456840" cy="4568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457200" y="2926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</a:rPr>
              <a:t>③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1051560" y="29260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7d2fe"/>
                </a:solidFill>
                <a:latin typeface="Calibri"/>
                <a:ea typeface="Calibri"/>
              </a:rPr>
              <a:t>Semi-supervised methods bridge the gap — ideal when some labeled data exists but full labeling is impractical.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457200" y="3840480"/>
            <a:ext cx="456840" cy="456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45720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0e2a"/>
                </a:solidFill>
                <a:latin typeface="Calibri"/>
              </a:rPr>
              <a:t>④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1051560" y="38404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7d2fe"/>
                </a:solidFill>
                <a:latin typeface="Calibri"/>
                <a:ea typeface="Calibri"/>
              </a:rPr>
              <a:t>Clustering-based unsupervised detection is powerful but computationally expensive; non-cluster points may be noise.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457200" y="4572000"/>
            <a:ext cx="8229240" cy="502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457200" y="4572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0e2a"/>
                </a:solidFill>
                <a:latin typeface="Calibri"/>
                <a:ea typeface="Calibri"/>
              </a:rPr>
              <a:t>Effective outlier detection = choosing the right method for your data's labeling reality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2026-04-08T03:53:37Z</dcterms:created>
  <dc:creator>PptxGenJS</dc:creator>
  <dc:description/>
  <dc:language>en-US</dc:language>
  <cp:lastModifiedBy/>
  <dcterms:modified xsi:type="dcterms:W3CDTF">2026-04-08T09:36:50Z</dcterms:modified>
  <cp:revision>3</cp:revision>
  <dc:subject>PptxGenJS Presentation</dc:subject>
  <dc:title>Methods of Outlier Detection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