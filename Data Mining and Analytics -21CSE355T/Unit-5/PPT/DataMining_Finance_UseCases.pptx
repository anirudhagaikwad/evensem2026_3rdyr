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slideLayouts/_rels/slideLayout1.xml.rels" ContentType="application/vnd.openxmlformats-package.relationships+xml"/>
  <Override PartName="/ppt/slideLayouts/slideLayout1.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1.xml" ContentType="application/vnd.openxmlformats-officedocument.presentationml.slide+xml"/>
  <Override PartName="/ppt/slides/_rels/slide9.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_rels/notesSlide9.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6.xml.rels" ContentType="application/vnd.openxmlformats-package.relationships+xml"/>
  <Override PartName="/ppt/notesSlides/_rels/notesSlide5.xml.rels" ContentType="application/vnd.openxmlformats-package.relationships+xml"/>
  <Override PartName="/ppt/notesSlides/_rels/notesSlide4.xml.rels" ContentType="application/vnd.openxmlformats-package.relationships+xml"/>
  <Override PartName="/ppt/notesSlides/_rels/notesSlide3.xml.rels" ContentType="application/vnd.openxmlformats-package.relationships+xml"/>
  <Override PartName="/ppt/notesSlides/_rels/notesSlide2.xml.rels" ContentType="application/vnd.openxmlformats-package.relationships+xml"/>
  <Override PartName="/ppt/notesSlides/_rels/notesSlide1.xml.rels" ContentType="application/vnd.openxmlformats-package.relationships+xml"/>
  <Override PartName="/ppt/notesSlides/notesSlide9.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Lst>
  <p:sldSz cx="9144000" cy="5143500"/>
  <p:notesSz cx="51435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n-US" sz="1800" spc="-1" strike="noStrike">
                <a:solidFill>
                  <a:schemeClr val="dk1"/>
                </a:solidFill>
                <a:latin typeface="Calibri"/>
              </a:rPr>
              <a:t>Click to move the slide</a:t>
            </a:r>
            <a:endParaRPr b="0" lang="en-US" sz="1800" spc="-1" strike="noStrike">
              <a:solidFill>
                <a:schemeClr val="dk1"/>
              </a:solidFill>
              <a:latin typeface="Calibri"/>
            </a:endParaRPr>
          </a:p>
        </p:txBody>
      </p:sp>
      <p:sp>
        <p:nvSpPr>
          <p:cNvPr id="3"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4"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5"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6"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A8B6802A-C3E6-4883-845A-CF8CD6847EB1}"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9" name="PlaceHolder 1"/>
          <p:cNvSpPr>
            <a:spLocks noGrp="1"/>
          </p:cNvSpPr>
          <p:nvPr>
            <p:ph type="sldImg"/>
          </p:nvPr>
        </p:nvSpPr>
        <p:spPr>
          <a:xfrm>
            <a:off x="685800" y="1143000"/>
            <a:ext cx="5486040" cy="3085920"/>
          </a:xfrm>
          <a:prstGeom prst="rect">
            <a:avLst/>
          </a:prstGeom>
          <a:ln w="0">
            <a:noFill/>
          </a:ln>
        </p:spPr>
      </p:sp>
      <p:sp>
        <p:nvSpPr>
          <p:cNvPr id="27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71" name="PlaceHolder 3"/>
          <p:cNvSpPr>
            <a:spLocks noGrp="1"/>
          </p:cNvSpPr>
          <p:nvPr>
            <p:ph type="sldNum" idx="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541E71A1-F105-4B4B-9DB0-3C6BDA348E0E}"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2" name="PlaceHolder 1"/>
          <p:cNvSpPr>
            <a:spLocks noGrp="1"/>
          </p:cNvSpPr>
          <p:nvPr>
            <p:ph type="sldImg"/>
          </p:nvPr>
        </p:nvSpPr>
        <p:spPr>
          <a:xfrm>
            <a:off x="685800" y="1143000"/>
            <a:ext cx="5486040" cy="3085920"/>
          </a:xfrm>
          <a:prstGeom prst="rect">
            <a:avLst/>
          </a:prstGeom>
          <a:ln w="0">
            <a:noFill/>
          </a:ln>
        </p:spPr>
      </p:sp>
      <p:sp>
        <p:nvSpPr>
          <p:cNvPr id="27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74" name="PlaceHolder 3"/>
          <p:cNvSpPr>
            <a:spLocks noGrp="1"/>
          </p:cNvSpPr>
          <p:nvPr>
            <p:ph type="sldNum" idx="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C1C0A5A7-7441-412F-869D-3EA39DE6076F}"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5" name="PlaceHolder 1"/>
          <p:cNvSpPr>
            <a:spLocks noGrp="1"/>
          </p:cNvSpPr>
          <p:nvPr>
            <p:ph type="sldImg"/>
          </p:nvPr>
        </p:nvSpPr>
        <p:spPr>
          <a:xfrm>
            <a:off x="685800" y="1143000"/>
            <a:ext cx="5486040" cy="3085920"/>
          </a:xfrm>
          <a:prstGeom prst="rect">
            <a:avLst/>
          </a:prstGeom>
          <a:ln w="0">
            <a:noFill/>
          </a:ln>
        </p:spPr>
      </p:sp>
      <p:sp>
        <p:nvSpPr>
          <p:cNvPr id="27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77" name="PlaceHolder 3"/>
          <p:cNvSpPr>
            <a:spLocks noGrp="1"/>
          </p:cNvSpPr>
          <p:nvPr>
            <p:ph type="sldNum" idx="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24C9BBDD-32FB-4EA3-BA82-FA40BF88C06A}"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8" name="PlaceHolder 1"/>
          <p:cNvSpPr>
            <a:spLocks noGrp="1"/>
          </p:cNvSpPr>
          <p:nvPr>
            <p:ph type="sldImg"/>
          </p:nvPr>
        </p:nvSpPr>
        <p:spPr>
          <a:xfrm>
            <a:off x="685800" y="1143000"/>
            <a:ext cx="5486040" cy="3085920"/>
          </a:xfrm>
          <a:prstGeom prst="rect">
            <a:avLst/>
          </a:prstGeom>
          <a:ln w="0">
            <a:noFill/>
          </a:ln>
        </p:spPr>
      </p:sp>
      <p:sp>
        <p:nvSpPr>
          <p:cNvPr id="27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80" name="PlaceHolder 3"/>
          <p:cNvSpPr>
            <a:spLocks noGrp="1"/>
          </p:cNvSpPr>
          <p:nvPr>
            <p:ph type="sldNum" idx="7"/>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2C8160B7-ABBB-4EB8-9E62-6CFD9A583613}"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1" name="PlaceHolder 1"/>
          <p:cNvSpPr>
            <a:spLocks noGrp="1"/>
          </p:cNvSpPr>
          <p:nvPr>
            <p:ph type="sldImg"/>
          </p:nvPr>
        </p:nvSpPr>
        <p:spPr>
          <a:xfrm>
            <a:off x="685800" y="1143000"/>
            <a:ext cx="5486040" cy="3085920"/>
          </a:xfrm>
          <a:prstGeom prst="rect">
            <a:avLst/>
          </a:prstGeom>
          <a:ln w="0">
            <a:noFill/>
          </a:ln>
        </p:spPr>
      </p:sp>
      <p:sp>
        <p:nvSpPr>
          <p:cNvPr id="28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83" name="PlaceHolder 3"/>
          <p:cNvSpPr>
            <a:spLocks noGrp="1"/>
          </p:cNvSpPr>
          <p:nvPr>
            <p:ph type="sldNum" idx="8"/>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8A3097E9-A7ED-4C4C-99BB-040C3F081F45}"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4" name="PlaceHolder 1"/>
          <p:cNvSpPr>
            <a:spLocks noGrp="1"/>
          </p:cNvSpPr>
          <p:nvPr>
            <p:ph type="sldImg"/>
          </p:nvPr>
        </p:nvSpPr>
        <p:spPr>
          <a:xfrm>
            <a:off x="685800" y="1143000"/>
            <a:ext cx="5486040" cy="3085920"/>
          </a:xfrm>
          <a:prstGeom prst="rect">
            <a:avLst/>
          </a:prstGeom>
          <a:ln w="0">
            <a:noFill/>
          </a:ln>
        </p:spPr>
      </p:sp>
      <p:sp>
        <p:nvSpPr>
          <p:cNvPr id="28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86" name="PlaceHolder 3"/>
          <p:cNvSpPr>
            <a:spLocks noGrp="1"/>
          </p:cNvSpPr>
          <p:nvPr>
            <p:ph type="sldNum" idx="9"/>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D725D022-6EE6-41FA-B556-599C25966243}"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7" name="PlaceHolder 1"/>
          <p:cNvSpPr>
            <a:spLocks noGrp="1"/>
          </p:cNvSpPr>
          <p:nvPr>
            <p:ph type="sldImg"/>
          </p:nvPr>
        </p:nvSpPr>
        <p:spPr>
          <a:xfrm>
            <a:off x="685800" y="1143000"/>
            <a:ext cx="5486040" cy="3085920"/>
          </a:xfrm>
          <a:prstGeom prst="rect">
            <a:avLst/>
          </a:prstGeom>
          <a:ln w="0">
            <a:noFill/>
          </a:ln>
        </p:spPr>
      </p:sp>
      <p:sp>
        <p:nvSpPr>
          <p:cNvPr id="28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89" name="PlaceHolder 3"/>
          <p:cNvSpPr>
            <a:spLocks noGrp="1"/>
          </p:cNvSpPr>
          <p:nvPr>
            <p:ph type="sldNum" idx="10"/>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A8A89AFE-08C6-49FB-ADBE-B92390221B19}"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0" name="PlaceHolder 1"/>
          <p:cNvSpPr>
            <a:spLocks noGrp="1"/>
          </p:cNvSpPr>
          <p:nvPr>
            <p:ph type="sldImg"/>
          </p:nvPr>
        </p:nvSpPr>
        <p:spPr>
          <a:xfrm>
            <a:off x="685800" y="1143000"/>
            <a:ext cx="5486040" cy="3085920"/>
          </a:xfrm>
          <a:prstGeom prst="rect">
            <a:avLst/>
          </a:prstGeom>
          <a:ln w="0">
            <a:noFill/>
          </a:ln>
        </p:spPr>
      </p:sp>
      <p:sp>
        <p:nvSpPr>
          <p:cNvPr id="29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92" name="PlaceHolder 3"/>
          <p:cNvSpPr>
            <a:spLocks noGrp="1"/>
          </p:cNvSpPr>
          <p:nvPr>
            <p:ph type="sldNum" idx="11"/>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0331AFD7-404C-42DF-AE73-1FFEEBD964BA}"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3" name="PlaceHolder 1"/>
          <p:cNvSpPr>
            <a:spLocks noGrp="1"/>
          </p:cNvSpPr>
          <p:nvPr>
            <p:ph type="sldImg"/>
          </p:nvPr>
        </p:nvSpPr>
        <p:spPr>
          <a:xfrm>
            <a:off x="685800" y="1143000"/>
            <a:ext cx="5486040" cy="3085920"/>
          </a:xfrm>
          <a:prstGeom prst="rect">
            <a:avLst/>
          </a:prstGeom>
          <a:ln w="0">
            <a:noFill/>
          </a:ln>
        </p:spPr>
      </p:sp>
      <p:sp>
        <p:nvSpPr>
          <p:cNvPr id="29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95" name="PlaceHolder 3"/>
          <p:cNvSpPr>
            <a:spLocks noGrp="1"/>
          </p:cNvSpPr>
          <p:nvPr>
            <p:ph type="sldNum" idx="12"/>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07DD4B0A-C446-4ECE-9C31-6569A21C5CD7}"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buNone/>
            </a:pPr>
            <a:r>
              <a:rPr b="0" lang="en-US" sz="1800" spc="-1" strike="noStrike">
                <a:solidFill>
                  <a:schemeClr val="dk1"/>
                </a:solidFill>
                <a:latin typeface="Calibri"/>
              </a:rPr>
              <a:t>Click to edit the title text format</a:t>
            </a:r>
            <a:endParaRPr b="0" lang="en-US" sz="1800" spc="-1" strike="noStrike">
              <a:solidFill>
                <a:schemeClr val="dk1"/>
              </a:solidFill>
              <a:latin typeface="Calibri"/>
            </a:endParaRPr>
          </a:p>
        </p:txBody>
      </p:sp>
      <p:sp>
        <p:nvSpPr>
          <p:cNvPr id="1"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fontScale="95303"/>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f3a"/>
        </a:solidFill>
      </p:bgPr>
    </p:bg>
    <p:spTree>
      <p:nvGrpSpPr>
        <p:cNvPr id="1" name=""/>
        <p:cNvGrpSpPr/>
        <p:nvPr/>
      </p:nvGrpSpPr>
      <p:grpSpPr>
        <a:xfrm>
          <a:off x="0" y="0"/>
          <a:ext cx="0" cy="0"/>
          <a:chOff x="0" y="0"/>
          <a:chExt cx="0" cy="0"/>
        </a:xfrm>
      </p:grpSpPr>
      <p:sp>
        <p:nvSpPr>
          <p:cNvPr id="8" name="Shape 0"/>
          <p:cNvSpPr/>
          <p:nvPr/>
        </p:nvSpPr>
        <p:spPr>
          <a:xfrm>
            <a:off x="6126480" y="-1645920"/>
            <a:ext cx="5303160" cy="5303160"/>
          </a:xfrm>
          <a:prstGeom prst="ellipse">
            <a:avLst/>
          </a:prstGeom>
          <a:solidFill>
            <a:srgbClr val="112d52"/>
          </a:solidFill>
          <a:ln w="12700">
            <a:solidFill>
              <a:srgbClr val="112d52"/>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9" name="Shape 1"/>
          <p:cNvSpPr/>
          <p:nvPr/>
        </p:nvSpPr>
        <p:spPr>
          <a:xfrm>
            <a:off x="7315200" y="548640"/>
            <a:ext cx="2377080" cy="2377080"/>
          </a:xfrm>
          <a:prstGeom prst="ellipse">
            <a:avLst/>
          </a:prstGeom>
          <a:solidFill>
            <a:srgbClr val="c8960b">
              <a:alpha val="30000"/>
            </a:srgbClr>
          </a:solidFill>
          <a:ln w="12700">
            <a:solidFill>
              <a:srgbClr val="c8960b">
                <a:alpha val="32000"/>
              </a:srgbClr>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0" name="Shape 2"/>
          <p:cNvSpPr/>
          <p:nvPr/>
        </p:nvSpPr>
        <p:spPr>
          <a:xfrm>
            <a:off x="-1280160" y="3474720"/>
            <a:ext cx="3657240" cy="3657240"/>
          </a:xfrm>
          <a:prstGeom prst="ellipse">
            <a:avLst/>
          </a:prstGeom>
          <a:solidFill>
            <a:srgbClr val="0d7c7c">
              <a:alpha val="15000"/>
            </a:srgbClr>
          </a:solidFill>
          <a:ln w="12700">
            <a:solidFill>
              <a:srgbClr val="0d7c7c">
                <a:alpha val="17000"/>
              </a:srgbClr>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 name="Shape 3"/>
          <p:cNvSpPr/>
          <p:nvPr/>
        </p:nvSpPr>
        <p:spPr>
          <a:xfrm>
            <a:off x="4572000" y="384120"/>
            <a:ext cx="255600" cy="255600"/>
          </a:xfrm>
          <a:prstGeom prst="ellipse">
            <a:avLst/>
          </a:prstGeom>
          <a:solidFill>
            <a:srgbClr val="f5c842"/>
          </a:solidFill>
          <a:ln w="12700">
            <a:solidFill>
              <a:srgbClr val="f5c84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2" name="Shape 4"/>
          <p:cNvSpPr/>
          <p:nvPr/>
        </p:nvSpPr>
        <p:spPr>
          <a:xfrm>
            <a:off x="5166360" y="786240"/>
            <a:ext cx="164160" cy="164160"/>
          </a:xfrm>
          <a:prstGeom prst="ellipse">
            <a:avLst/>
          </a:prstGeom>
          <a:solidFill>
            <a:srgbClr val="14b8a6"/>
          </a:solidFill>
          <a:ln w="12700">
            <a:solidFill>
              <a:srgbClr val="14b8a6"/>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3" name="Shape 5"/>
          <p:cNvSpPr/>
          <p:nvPr/>
        </p:nvSpPr>
        <p:spPr>
          <a:xfrm>
            <a:off x="4114800" y="841320"/>
            <a:ext cx="127800" cy="127800"/>
          </a:xfrm>
          <a:prstGeom prst="ellipse">
            <a:avLst/>
          </a:prstGeom>
          <a:solidFill>
            <a:srgbClr val="f8faff"/>
          </a:solidFill>
          <a:ln w="12700">
            <a:solidFill>
              <a:srgbClr val="f8faff"/>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4" name="Shape 6"/>
          <p:cNvSpPr/>
          <p:nvPr/>
        </p:nvSpPr>
        <p:spPr>
          <a:xfrm>
            <a:off x="0" y="0"/>
            <a:ext cx="200880" cy="5143320"/>
          </a:xfrm>
          <a:prstGeom prst="rect">
            <a:avLst/>
          </a:prstGeom>
          <a:solidFill>
            <a:srgbClr val="e6b020"/>
          </a:solidFill>
          <a:ln w="12700">
            <a:solidFill>
              <a:srgbClr val="e6b020"/>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5" name="Shape 7"/>
          <p:cNvSpPr/>
          <p:nvPr/>
        </p:nvSpPr>
        <p:spPr>
          <a:xfrm>
            <a:off x="457200" y="658440"/>
            <a:ext cx="2559960" cy="365400"/>
          </a:xfrm>
          <a:prstGeom prst="rect">
            <a:avLst/>
          </a:prstGeom>
          <a:solidFill>
            <a:srgbClr val="e6b020"/>
          </a:solidFill>
          <a:ln w="12700">
            <a:solidFill>
              <a:srgbClr val="e6b020"/>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6" name="Text 8"/>
          <p:cNvSpPr/>
          <p:nvPr/>
        </p:nvSpPr>
        <p:spPr>
          <a:xfrm>
            <a:off x="457200" y="658440"/>
            <a:ext cx="2559960" cy="365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950" spc="180" strike="noStrike">
                <a:solidFill>
                  <a:srgbClr val="0b1f3a"/>
                </a:solidFill>
                <a:latin typeface="Calibri"/>
              </a:rPr>
              <a:t>FINANCE  ·  DATA MINING</a:t>
            </a:r>
            <a:endParaRPr b="0" lang="en-US" sz="950" spc="-1" strike="noStrike">
              <a:solidFill>
                <a:srgbClr val="ffffff"/>
              </a:solidFill>
              <a:latin typeface="Arial"/>
            </a:endParaRPr>
          </a:p>
        </p:txBody>
      </p:sp>
      <p:sp>
        <p:nvSpPr>
          <p:cNvPr id="17" name="Text 9"/>
          <p:cNvSpPr/>
          <p:nvPr/>
        </p:nvSpPr>
        <p:spPr>
          <a:xfrm>
            <a:off x="457200" y="1170360"/>
            <a:ext cx="8229240" cy="731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4200" spc="-1" strike="noStrike">
                <a:solidFill>
                  <a:srgbClr val="f8faff"/>
                </a:solidFill>
                <a:latin typeface="Calibri"/>
                <a:ea typeface="Calibri"/>
              </a:rPr>
              <a:t>12 Use Cases of</a:t>
            </a:r>
            <a:endParaRPr b="0" lang="en-US" sz="4200" spc="-1" strike="noStrike">
              <a:solidFill>
                <a:srgbClr val="ffffff"/>
              </a:solidFill>
              <a:latin typeface="Arial"/>
            </a:endParaRPr>
          </a:p>
        </p:txBody>
      </p:sp>
      <p:sp>
        <p:nvSpPr>
          <p:cNvPr id="18" name="Text 10"/>
          <p:cNvSpPr/>
          <p:nvPr/>
        </p:nvSpPr>
        <p:spPr>
          <a:xfrm>
            <a:off x="457200" y="1865520"/>
            <a:ext cx="8229240" cy="804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5200" spc="-1" strike="noStrike">
                <a:solidFill>
                  <a:srgbClr val="f5c842"/>
                </a:solidFill>
                <a:latin typeface="Calibri"/>
                <a:ea typeface="Calibri"/>
              </a:rPr>
              <a:t>Data Mining</a:t>
            </a:r>
            <a:endParaRPr b="0" lang="en-US" sz="5200" spc="-1" strike="noStrike">
              <a:solidFill>
                <a:srgbClr val="ffffff"/>
              </a:solidFill>
              <a:latin typeface="Arial"/>
            </a:endParaRPr>
          </a:p>
        </p:txBody>
      </p:sp>
      <p:sp>
        <p:nvSpPr>
          <p:cNvPr id="19" name="Text 11"/>
          <p:cNvSpPr/>
          <p:nvPr/>
        </p:nvSpPr>
        <p:spPr>
          <a:xfrm>
            <a:off x="457200" y="2633400"/>
            <a:ext cx="7772040" cy="6397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3200" spc="-1" strike="noStrike">
                <a:solidFill>
                  <a:srgbClr val="14b8a6"/>
                </a:solidFill>
                <a:latin typeface="Calibri"/>
                <a:ea typeface="Calibri"/>
              </a:rPr>
              <a:t>in the Finance Industry</a:t>
            </a:r>
            <a:endParaRPr b="0" lang="en-US" sz="3200" spc="-1" strike="noStrike">
              <a:solidFill>
                <a:srgbClr val="ffffff"/>
              </a:solidFill>
              <a:latin typeface="Arial"/>
            </a:endParaRPr>
          </a:p>
        </p:txBody>
      </p:sp>
      <p:sp>
        <p:nvSpPr>
          <p:cNvPr id="20" name="Text 12"/>
          <p:cNvSpPr/>
          <p:nvPr/>
        </p:nvSpPr>
        <p:spPr>
          <a:xfrm>
            <a:off x="457200" y="3364920"/>
            <a:ext cx="7772040" cy="3654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i="1" lang="en-US" sz="1300" spc="-1" strike="noStrike">
                <a:solidFill>
                  <a:srgbClr val="b8c8dc"/>
                </a:solidFill>
                <a:latin typeface="Calibri"/>
                <a:ea typeface="Calibri"/>
              </a:rPr>
              <a:t>Transforming raw financial data into actionable competitive intelligence</a:t>
            </a:r>
            <a:endParaRPr b="0" lang="en-US" sz="1300" spc="-1" strike="noStrike">
              <a:solidFill>
                <a:srgbClr val="ffffff"/>
              </a:solidFill>
              <a:latin typeface="Arial"/>
            </a:endParaRPr>
          </a:p>
        </p:txBody>
      </p:sp>
      <p:sp>
        <p:nvSpPr>
          <p:cNvPr id="21" name="Shape 13"/>
          <p:cNvSpPr/>
          <p:nvPr/>
        </p:nvSpPr>
        <p:spPr>
          <a:xfrm>
            <a:off x="457200" y="3877200"/>
            <a:ext cx="1992960" cy="914040"/>
          </a:xfrm>
          <a:prstGeom prst="rect">
            <a:avLst/>
          </a:prstGeom>
          <a:solidFill>
            <a:srgbClr val="112d52"/>
          </a:solidFill>
          <a:ln w="15240">
            <a:solidFill>
              <a:srgbClr val="e6b020"/>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2" name="Text 14"/>
          <p:cNvSpPr/>
          <p:nvPr/>
        </p:nvSpPr>
        <p:spPr>
          <a:xfrm>
            <a:off x="457200" y="3895200"/>
            <a:ext cx="1992960" cy="4752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2600" spc="-1" strike="noStrike">
                <a:solidFill>
                  <a:srgbClr val="f5c842"/>
                </a:solidFill>
                <a:latin typeface="Calibri"/>
                <a:ea typeface="Calibri"/>
              </a:rPr>
              <a:t>12</a:t>
            </a:r>
            <a:endParaRPr b="0" lang="en-US" sz="2600" spc="-1" strike="noStrike">
              <a:solidFill>
                <a:srgbClr val="ffffff"/>
              </a:solidFill>
              <a:latin typeface="Arial"/>
            </a:endParaRPr>
          </a:p>
        </p:txBody>
      </p:sp>
      <p:sp>
        <p:nvSpPr>
          <p:cNvPr id="23" name="Text 15"/>
          <p:cNvSpPr/>
          <p:nvPr/>
        </p:nvSpPr>
        <p:spPr>
          <a:xfrm>
            <a:off x="457200" y="4370760"/>
            <a:ext cx="1992960" cy="3837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950" spc="-1" strike="noStrike">
                <a:solidFill>
                  <a:srgbClr val="b8c8dc"/>
                </a:solidFill>
                <a:latin typeface="Calibri"/>
                <a:ea typeface="Calibri"/>
              </a:rPr>
              <a:t>Use</a:t>
            </a:r>
            <a:endParaRPr b="0" lang="en-US" sz="950" spc="-1" strike="noStrike">
              <a:solidFill>
                <a:srgbClr val="ffffff"/>
              </a:solidFill>
              <a:latin typeface="Arial"/>
            </a:endParaRPr>
          </a:p>
          <a:p>
            <a:pPr algn="ctr" defTabSz="914400">
              <a:lnSpc>
                <a:spcPct val="100000"/>
              </a:lnSpc>
              <a:tabLst>
                <a:tab algn="l" pos="0"/>
              </a:tabLst>
            </a:pPr>
            <a:r>
              <a:rPr b="0" lang="en-US" sz="950" spc="-1" strike="noStrike">
                <a:solidFill>
                  <a:srgbClr val="b8c8dc"/>
                </a:solidFill>
                <a:latin typeface="Calibri"/>
                <a:ea typeface="Calibri"/>
              </a:rPr>
              <a:t>Cases</a:t>
            </a:r>
            <a:endParaRPr b="0" lang="en-US" sz="950" spc="-1" strike="noStrike">
              <a:solidFill>
                <a:srgbClr val="ffffff"/>
              </a:solidFill>
              <a:latin typeface="Arial"/>
            </a:endParaRPr>
          </a:p>
        </p:txBody>
      </p:sp>
      <p:sp>
        <p:nvSpPr>
          <p:cNvPr id="24" name="Shape 16"/>
          <p:cNvSpPr/>
          <p:nvPr/>
        </p:nvSpPr>
        <p:spPr>
          <a:xfrm>
            <a:off x="2624400" y="3877200"/>
            <a:ext cx="1992960" cy="914040"/>
          </a:xfrm>
          <a:prstGeom prst="rect">
            <a:avLst/>
          </a:prstGeom>
          <a:solidFill>
            <a:srgbClr val="112d52"/>
          </a:solidFill>
          <a:ln w="15240">
            <a:solidFill>
              <a:srgbClr val="e6b020"/>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5" name="Text 17"/>
          <p:cNvSpPr/>
          <p:nvPr/>
        </p:nvSpPr>
        <p:spPr>
          <a:xfrm>
            <a:off x="2624400" y="3895200"/>
            <a:ext cx="1992960" cy="4752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2600" spc="-1" strike="noStrike">
                <a:solidFill>
                  <a:srgbClr val="f5c842"/>
                </a:solidFill>
                <a:latin typeface="Calibri"/>
                <a:ea typeface="Calibri"/>
              </a:rPr>
              <a:t>3+</a:t>
            </a:r>
            <a:endParaRPr b="0" lang="en-US" sz="2600" spc="-1" strike="noStrike">
              <a:solidFill>
                <a:srgbClr val="ffffff"/>
              </a:solidFill>
              <a:latin typeface="Arial"/>
            </a:endParaRPr>
          </a:p>
        </p:txBody>
      </p:sp>
      <p:sp>
        <p:nvSpPr>
          <p:cNvPr id="26" name="Text 18"/>
          <p:cNvSpPr/>
          <p:nvPr/>
        </p:nvSpPr>
        <p:spPr>
          <a:xfrm>
            <a:off x="2624400" y="4370760"/>
            <a:ext cx="1992960" cy="3837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950" spc="-1" strike="noStrike">
                <a:solidFill>
                  <a:srgbClr val="b8c8dc"/>
                </a:solidFill>
                <a:latin typeface="Calibri"/>
                <a:ea typeface="Calibri"/>
              </a:rPr>
              <a:t>Industry</a:t>
            </a:r>
            <a:endParaRPr b="0" lang="en-US" sz="950" spc="-1" strike="noStrike">
              <a:solidFill>
                <a:srgbClr val="ffffff"/>
              </a:solidFill>
              <a:latin typeface="Arial"/>
            </a:endParaRPr>
          </a:p>
          <a:p>
            <a:pPr algn="ctr" defTabSz="914400">
              <a:lnSpc>
                <a:spcPct val="100000"/>
              </a:lnSpc>
              <a:tabLst>
                <a:tab algn="l" pos="0"/>
              </a:tabLst>
            </a:pPr>
            <a:r>
              <a:rPr b="0" lang="en-US" sz="950" spc="-1" strike="noStrike">
                <a:solidFill>
                  <a:srgbClr val="b8c8dc"/>
                </a:solidFill>
                <a:latin typeface="Calibri"/>
                <a:ea typeface="Calibri"/>
              </a:rPr>
              <a:t>Segments</a:t>
            </a:r>
            <a:endParaRPr b="0" lang="en-US" sz="950" spc="-1" strike="noStrike">
              <a:solidFill>
                <a:srgbClr val="ffffff"/>
              </a:solidFill>
              <a:latin typeface="Arial"/>
            </a:endParaRPr>
          </a:p>
        </p:txBody>
      </p:sp>
      <p:sp>
        <p:nvSpPr>
          <p:cNvPr id="27" name="Shape 19"/>
          <p:cNvSpPr/>
          <p:nvPr/>
        </p:nvSpPr>
        <p:spPr>
          <a:xfrm>
            <a:off x="4791600" y="3877200"/>
            <a:ext cx="1992960" cy="914040"/>
          </a:xfrm>
          <a:prstGeom prst="rect">
            <a:avLst/>
          </a:prstGeom>
          <a:solidFill>
            <a:srgbClr val="112d52"/>
          </a:solidFill>
          <a:ln w="15240">
            <a:solidFill>
              <a:srgbClr val="e6b020"/>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8" name="Text 20"/>
          <p:cNvSpPr/>
          <p:nvPr/>
        </p:nvSpPr>
        <p:spPr>
          <a:xfrm>
            <a:off x="4791600" y="3895200"/>
            <a:ext cx="1992960" cy="4752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2600" spc="-1" strike="noStrike">
                <a:solidFill>
                  <a:srgbClr val="f5c842"/>
                </a:solidFill>
                <a:latin typeface="Calibri"/>
                <a:ea typeface="Calibri"/>
              </a:rPr>
              <a:t>360°</a:t>
            </a:r>
            <a:endParaRPr b="0" lang="en-US" sz="2600" spc="-1" strike="noStrike">
              <a:solidFill>
                <a:srgbClr val="ffffff"/>
              </a:solidFill>
              <a:latin typeface="Arial"/>
            </a:endParaRPr>
          </a:p>
        </p:txBody>
      </p:sp>
      <p:sp>
        <p:nvSpPr>
          <p:cNvPr id="29" name="Text 21"/>
          <p:cNvSpPr/>
          <p:nvPr/>
        </p:nvSpPr>
        <p:spPr>
          <a:xfrm>
            <a:off x="4791600" y="4370760"/>
            <a:ext cx="1992960" cy="3837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950" spc="-1" strike="noStrike">
                <a:solidFill>
                  <a:srgbClr val="b8c8dc"/>
                </a:solidFill>
                <a:latin typeface="Calibri"/>
                <a:ea typeface="Calibri"/>
              </a:rPr>
              <a:t>Customer</a:t>
            </a:r>
            <a:endParaRPr b="0" lang="en-US" sz="950" spc="-1" strike="noStrike">
              <a:solidFill>
                <a:srgbClr val="ffffff"/>
              </a:solidFill>
              <a:latin typeface="Arial"/>
            </a:endParaRPr>
          </a:p>
          <a:p>
            <a:pPr algn="ctr" defTabSz="914400">
              <a:lnSpc>
                <a:spcPct val="100000"/>
              </a:lnSpc>
              <a:tabLst>
                <a:tab algn="l" pos="0"/>
              </a:tabLst>
            </a:pPr>
            <a:r>
              <a:rPr b="0" lang="en-US" sz="950" spc="-1" strike="noStrike">
                <a:solidFill>
                  <a:srgbClr val="b8c8dc"/>
                </a:solidFill>
                <a:latin typeface="Calibri"/>
                <a:ea typeface="Calibri"/>
              </a:rPr>
              <a:t>View</a:t>
            </a:r>
            <a:endParaRPr b="0" lang="en-US" sz="950" spc="-1" strike="noStrike">
              <a:solidFill>
                <a:srgbClr val="ffffff"/>
              </a:solidFill>
              <a:latin typeface="Arial"/>
            </a:endParaRPr>
          </a:p>
        </p:txBody>
      </p:sp>
      <p:sp>
        <p:nvSpPr>
          <p:cNvPr id="30" name="Shape 22"/>
          <p:cNvSpPr/>
          <p:nvPr/>
        </p:nvSpPr>
        <p:spPr>
          <a:xfrm>
            <a:off x="6958440" y="3877200"/>
            <a:ext cx="1992960" cy="914040"/>
          </a:xfrm>
          <a:prstGeom prst="rect">
            <a:avLst/>
          </a:prstGeom>
          <a:solidFill>
            <a:srgbClr val="112d52"/>
          </a:solidFill>
          <a:ln w="15240">
            <a:solidFill>
              <a:srgbClr val="e6b020"/>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1" name="Text 23"/>
          <p:cNvSpPr/>
          <p:nvPr/>
        </p:nvSpPr>
        <p:spPr>
          <a:xfrm>
            <a:off x="6958440" y="3895200"/>
            <a:ext cx="1992960" cy="4752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2600" spc="-1" strike="noStrike">
                <a:solidFill>
                  <a:srgbClr val="f5c842"/>
                </a:solidFill>
                <a:latin typeface="Calibri"/>
                <a:ea typeface="Calibri"/>
              </a:rPr>
              <a:t>∞</a:t>
            </a:r>
            <a:endParaRPr b="0" lang="en-US" sz="2600" spc="-1" strike="noStrike">
              <a:solidFill>
                <a:srgbClr val="ffffff"/>
              </a:solidFill>
              <a:latin typeface="Arial"/>
            </a:endParaRPr>
          </a:p>
        </p:txBody>
      </p:sp>
      <p:sp>
        <p:nvSpPr>
          <p:cNvPr id="32" name="Text 24"/>
          <p:cNvSpPr/>
          <p:nvPr/>
        </p:nvSpPr>
        <p:spPr>
          <a:xfrm>
            <a:off x="6958440" y="4370760"/>
            <a:ext cx="1992960" cy="3837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950" spc="-1" strike="noStrike">
                <a:solidFill>
                  <a:srgbClr val="b8c8dc"/>
                </a:solidFill>
                <a:latin typeface="Calibri"/>
                <a:ea typeface="Calibri"/>
              </a:rPr>
              <a:t>Revenue</a:t>
            </a:r>
            <a:endParaRPr b="0" lang="en-US" sz="950" spc="-1" strike="noStrike">
              <a:solidFill>
                <a:srgbClr val="ffffff"/>
              </a:solidFill>
              <a:latin typeface="Arial"/>
            </a:endParaRPr>
          </a:p>
          <a:p>
            <a:pPr algn="ctr" defTabSz="914400">
              <a:lnSpc>
                <a:spcPct val="100000"/>
              </a:lnSpc>
              <a:tabLst>
                <a:tab algn="l" pos="0"/>
              </a:tabLst>
            </a:pPr>
            <a:r>
              <a:rPr b="0" lang="en-US" sz="950" spc="-1" strike="noStrike">
                <a:solidFill>
                  <a:srgbClr val="b8c8dc"/>
                </a:solidFill>
                <a:latin typeface="Calibri"/>
                <a:ea typeface="Calibri"/>
              </a:rPr>
              <a:t>Opportunity</a:t>
            </a:r>
            <a:endParaRPr b="0" lang="en-US" sz="9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2f9"/>
        </a:solidFill>
      </p:bgPr>
    </p:bg>
    <p:spTree>
      <p:nvGrpSpPr>
        <p:cNvPr id="1" name=""/>
        <p:cNvGrpSpPr/>
        <p:nvPr/>
      </p:nvGrpSpPr>
      <p:grpSpPr>
        <a:xfrm>
          <a:off x="0" y="0"/>
          <a:ext cx="0" cy="0"/>
          <a:chOff x="0" y="0"/>
          <a:chExt cx="0" cy="0"/>
        </a:xfrm>
      </p:grpSpPr>
      <p:sp>
        <p:nvSpPr>
          <p:cNvPr id="33" name="Shape 0"/>
          <p:cNvSpPr/>
          <p:nvPr/>
        </p:nvSpPr>
        <p:spPr>
          <a:xfrm>
            <a:off x="0" y="0"/>
            <a:ext cx="9143640" cy="959760"/>
          </a:xfrm>
          <a:prstGeom prst="rect">
            <a:avLst/>
          </a:prstGeom>
          <a:solidFill>
            <a:srgbClr val="0b1f3a"/>
          </a:solidFill>
          <a:ln w="12700">
            <a:solidFill>
              <a:srgbClr val="0b1f3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4" name="Shape 1"/>
          <p:cNvSpPr/>
          <p:nvPr/>
        </p:nvSpPr>
        <p:spPr>
          <a:xfrm>
            <a:off x="0" y="960120"/>
            <a:ext cx="9143640" cy="63720"/>
          </a:xfrm>
          <a:prstGeom prst="rect">
            <a:avLst/>
          </a:prstGeom>
          <a:solidFill>
            <a:srgbClr val="e6b020"/>
          </a:solidFill>
          <a:ln w="12700">
            <a:solidFill>
              <a:srgbClr val="e6b020"/>
            </a:solidFill>
            <a:round/>
          </a:ln>
        </p:spPr>
        <p:style>
          <a:lnRef idx="0"/>
          <a:fillRef idx="0"/>
          <a:effectRef idx="0"/>
          <a:fontRef idx="minor"/>
        </p:style>
        <p:txBody>
          <a:bodyPr lIns="90000" rIns="90000" tIns="19080" bIns="19080" anchor="t">
            <a:noAutofit/>
          </a:bodyPr>
          <a:p>
            <a:endParaRPr b="0" lang="en-US" sz="1800" spc="-1" strike="noStrike">
              <a:solidFill>
                <a:srgbClr val="000000"/>
              </a:solidFill>
              <a:latin typeface="Arial"/>
            </a:endParaRPr>
          </a:p>
        </p:txBody>
      </p:sp>
      <p:sp>
        <p:nvSpPr>
          <p:cNvPr id="35" name="Text 2"/>
          <p:cNvSpPr/>
          <p:nvPr/>
        </p:nvSpPr>
        <p:spPr>
          <a:xfrm>
            <a:off x="411480" y="0"/>
            <a:ext cx="8320680" cy="9597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200" spc="-1" strike="noStrike">
                <a:solidFill>
                  <a:srgbClr val="f5c842"/>
                </a:solidFill>
                <a:latin typeface="Calibri"/>
                <a:ea typeface="Calibri"/>
              </a:rPr>
              <a:t>Why Data Mining in Finance?</a:t>
            </a:r>
            <a:endParaRPr b="0" lang="en-US" sz="3200" spc="-1" strike="noStrike">
              <a:solidFill>
                <a:srgbClr val="000000"/>
              </a:solidFill>
              <a:latin typeface="Arial"/>
            </a:endParaRPr>
          </a:p>
        </p:txBody>
      </p:sp>
      <p:sp>
        <p:nvSpPr>
          <p:cNvPr id="36" name="Shape 3"/>
          <p:cNvSpPr/>
          <p:nvPr/>
        </p:nvSpPr>
        <p:spPr>
          <a:xfrm>
            <a:off x="365760" y="1170360"/>
            <a:ext cx="8412120" cy="959760"/>
          </a:xfrm>
          <a:prstGeom prst="rect">
            <a:avLst/>
          </a:prstGeom>
          <a:solidFill>
            <a:srgbClr val="112d52"/>
          </a:solidFill>
          <a:ln w="19050">
            <a:solidFill>
              <a:srgbClr val="e6b020"/>
            </a:solidFill>
            <a:round/>
          </a:ln>
          <a:effectLst>
            <a:outerShdw algn="bl" blurRad="101520" dir="8100000" dist="37674" kx="0" ky="0" rotWithShape="0" sx="100000" sy="100000">
              <a:srgbClr val="000000">
                <a:alpha val="20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7" name="Text 4"/>
          <p:cNvSpPr/>
          <p:nvPr/>
        </p:nvSpPr>
        <p:spPr>
          <a:xfrm>
            <a:off x="530280" y="1188720"/>
            <a:ext cx="8092080" cy="895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50" spc="-1" strike="noStrike">
                <a:solidFill>
                  <a:srgbClr val="f5c842"/>
                </a:solidFill>
                <a:latin typeface="Calibri"/>
                <a:ea typeface="Calibri"/>
              </a:rPr>
              <a:t>Data mining in financial services </a:t>
            </a:r>
            <a:r>
              <a:rPr b="0" lang="en-US" sz="1250" spc="-1" strike="noStrike">
                <a:solidFill>
                  <a:srgbClr val="f8faff"/>
                </a:solidFill>
                <a:latin typeface="Calibri"/>
                <a:ea typeface="Calibri"/>
              </a:rPr>
              <a:t>enables institutions to transform raw data — customer demographics, transaction records, and market trends — into </a:t>
            </a:r>
            <a:r>
              <a:rPr b="1" lang="en-US" sz="1250" spc="-1" strike="noStrike">
                <a:solidFill>
                  <a:srgbClr val="14b8a6"/>
                </a:solidFill>
                <a:latin typeface="Calibri"/>
                <a:ea typeface="Calibri"/>
              </a:rPr>
              <a:t>actionable intelligence</a:t>
            </a:r>
            <a:r>
              <a:rPr b="0" lang="en-US" sz="1250" spc="-1" strike="noStrike">
                <a:solidFill>
                  <a:srgbClr val="f8faff"/>
                </a:solidFill>
                <a:latin typeface="Calibri"/>
                <a:ea typeface="Calibri"/>
              </a:rPr>
              <a:t> that helps them carve a unique niche in fiercely competitive, volatile markets.</a:t>
            </a:r>
            <a:endParaRPr b="0" lang="en-US" sz="1250" spc="-1" strike="noStrike">
              <a:solidFill>
                <a:srgbClr val="000000"/>
              </a:solidFill>
              <a:latin typeface="Arial"/>
            </a:endParaRPr>
          </a:p>
        </p:txBody>
      </p:sp>
      <p:sp>
        <p:nvSpPr>
          <p:cNvPr id="38" name="Text 5"/>
          <p:cNvSpPr/>
          <p:nvPr/>
        </p:nvSpPr>
        <p:spPr>
          <a:xfrm>
            <a:off x="365760" y="2267640"/>
            <a:ext cx="2285640" cy="292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 strike="noStrike">
                <a:solidFill>
                  <a:srgbClr val="0b1f3a"/>
                </a:solidFill>
                <a:latin typeface="Calibri"/>
                <a:ea typeface="Calibri"/>
              </a:rPr>
              <a:t>The Challenge:</a:t>
            </a:r>
            <a:endParaRPr b="0" lang="en-US" sz="1300" spc="-1" strike="noStrike">
              <a:solidFill>
                <a:srgbClr val="000000"/>
              </a:solidFill>
              <a:latin typeface="Arial"/>
            </a:endParaRPr>
          </a:p>
        </p:txBody>
      </p:sp>
      <p:sp>
        <p:nvSpPr>
          <p:cNvPr id="39" name="Text 6"/>
          <p:cNvSpPr/>
          <p:nvPr/>
        </p:nvSpPr>
        <p:spPr>
          <a:xfrm>
            <a:off x="365760" y="2578680"/>
            <a:ext cx="8412120" cy="475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50" spc="-1" strike="noStrike">
                <a:solidFill>
                  <a:srgbClr val="5b7a9a"/>
                </a:solidFill>
                <a:latin typeface="Calibri"/>
                <a:ea typeface="Calibri"/>
              </a:rPr>
              <a:t>Financial institutions, banks, insurance companies, and investment firms operate in an intense marketplace where nurturing existing customers and acquiring new ones while managing operational costs is extremely challenging.</a:t>
            </a:r>
            <a:endParaRPr b="0" lang="en-US" sz="1150" spc="-1" strike="noStrike">
              <a:solidFill>
                <a:srgbClr val="000000"/>
              </a:solidFill>
              <a:latin typeface="Arial"/>
            </a:endParaRPr>
          </a:p>
        </p:txBody>
      </p:sp>
      <p:sp>
        <p:nvSpPr>
          <p:cNvPr id="40" name="Shape 7"/>
          <p:cNvSpPr/>
          <p:nvPr/>
        </p:nvSpPr>
        <p:spPr>
          <a:xfrm>
            <a:off x="365760" y="3200400"/>
            <a:ext cx="2029680" cy="1663920"/>
          </a:xfrm>
          <a:prstGeom prst="rect">
            <a:avLst/>
          </a:prstGeom>
          <a:solidFill>
            <a:srgbClr val="0b1f3a"/>
          </a:solidFill>
          <a:ln w="19050">
            <a:solidFill>
              <a:srgbClr val="1d5fa6"/>
            </a:solidFill>
            <a:round/>
          </a:ln>
          <a:effectLst>
            <a:outerShdw algn="bl" blurRad="101520" dir="8100000" dist="37674" kx="0" ky="0" rotWithShape="0" sx="100000" sy="100000">
              <a:srgbClr val="000000">
                <a:alpha val="20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1" name="Shape 8"/>
          <p:cNvSpPr/>
          <p:nvPr/>
        </p:nvSpPr>
        <p:spPr>
          <a:xfrm>
            <a:off x="365760" y="3200400"/>
            <a:ext cx="2029680" cy="456840"/>
          </a:xfrm>
          <a:prstGeom prst="rect">
            <a:avLst/>
          </a:prstGeom>
          <a:solidFill>
            <a:srgbClr val="1d5fa6"/>
          </a:solidFill>
          <a:ln w="12700">
            <a:solidFill>
              <a:srgbClr val="1d5fa6"/>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2" name="Text 9"/>
          <p:cNvSpPr/>
          <p:nvPr/>
        </p:nvSpPr>
        <p:spPr>
          <a:xfrm>
            <a:off x="365760" y="3200400"/>
            <a:ext cx="202968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800" spc="-1" strike="noStrike">
                <a:solidFill>
                  <a:srgbClr val="000000"/>
                </a:solidFill>
                <a:latin typeface="Calibri"/>
              </a:rPr>
              <a:t>👤</a:t>
            </a:r>
            <a:endParaRPr b="0" lang="en-US" sz="1800" spc="-1" strike="noStrike">
              <a:solidFill>
                <a:srgbClr val="000000"/>
              </a:solidFill>
              <a:latin typeface="Arial"/>
            </a:endParaRPr>
          </a:p>
        </p:txBody>
      </p:sp>
      <p:sp>
        <p:nvSpPr>
          <p:cNvPr id="43" name="Text 10"/>
          <p:cNvSpPr/>
          <p:nvPr/>
        </p:nvSpPr>
        <p:spPr>
          <a:xfrm>
            <a:off x="457200" y="3730680"/>
            <a:ext cx="184680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150" spc="-1" strike="noStrike">
                <a:solidFill>
                  <a:srgbClr val="bad7f5"/>
                </a:solidFill>
                <a:latin typeface="Calibri"/>
                <a:ea typeface="Calibri"/>
              </a:rPr>
              <a:t>Customer Demographics</a:t>
            </a:r>
            <a:endParaRPr b="0" lang="en-US" sz="1150" spc="-1" strike="noStrike">
              <a:solidFill>
                <a:srgbClr val="000000"/>
              </a:solidFill>
              <a:latin typeface="Arial"/>
            </a:endParaRPr>
          </a:p>
        </p:txBody>
      </p:sp>
      <p:sp>
        <p:nvSpPr>
          <p:cNvPr id="44" name="Text 11"/>
          <p:cNvSpPr/>
          <p:nvPr/>
        </p:nvSpPr>
        <p:spPr>
          <a:xfrm>
            <a:off x="457200" y="4224600"/>
            <a:ext cx="1846800" cy="5850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i="1" lang="en-US" sz="950" spc="-1" strike="noStrike">
                <a:solidFill>
                  <a:srgbClr val="b8c8dc"/>
                </a:solidFill>
                <a:latin typeface="Calibri"/>
                <a:ea typeface="Calibri"/>
              </a:rPr>
              <a:t>Key data source</a:t>
            </a:r>
            <a:endParaRPr b="0" lang="en-US" sz="950" spc="-1" strike="noStrike">
              <a:solidFill>
                <a:srgbClr val="000000"/>
              </a:solidFill>
              <a:latin typeface="Arial"/>
            </a:endParaRPr>
          </a:p>
        </p:txBody>
      </p:sp>
      <p:sp>
        <p:nvSpPr>
          <p:cNvPr id="45" name="Shape 12"/>
          <p:cNvSpPr/>
          <p:nvPr/>
        </p:nvSpPr>
        <p:spPr>
          <a:xfrm>
            <a:off x="2532960" y="3200400"/>
            <a:ext cx="2029680" cy="1663920"/>
          </a:xfrm>
          <a:prstGeom prst="rect">
            <a:avLst/>
          </a:prstGeom>
          <a:solidFill>
            <a:srgbClr val="0b1f3a"/>
          </a:solidFill>
          <a:ln w="19050">
            <a:solidFill>
              <a:srgbClr val="0d7c7c"/>
            </a:solidFill>
            <a:round/>
          </a:ln>
          <a:effectLst>
            <a:outerShdw algn="bl" blurRad="101520" dir="8100000" dist="37674" kx="0" ky="0" rotWithShape="0" sx="100000" sy="100000">
              <a:srgbClr val="000000">
                <a:alpha val="20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6" name="Shape 13"/>
          <p:cNvSpPr/>
          <p:nvPr/>
        </p:nvSpPr>
        <p:spPr>
          <a:xfrm>
            <a:off x="2532960" y="3200400"/>
            <a:ext cx="2029680" cy="456840"/>
          </a:xfrm>
          <a:prstGeom prst="rect">
            <a:avLst/>
          </a:prstGeom>
          <a:solidFill>
            <a:srgbClr val="0d7c7c"/>
          </a:solidFill>
          <a:ln w="12700">
            <a:solidFill>
              <a:srgbClr val="0d7c7c"/>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7" name="Text 14"/>
          <p:cNvSpPr/>
          <p:nvPr/>
        </p:nvSpPr>
        <p:spPr>
          <a:xfrm>
            <a:off x="2532960" y="3200400"/>
            <a:ext cx="202968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800" spc="-1" strike="noStrike">
                <a:solidFill>
                  <a:srgbClr val="000000"/>
                </a:solidFill>
                <a:latin typeface="Calibri"/>
              </a:rPr>
              <a:t>💳</a:t>
            </a:r>
            <a:endParaRPr b="0" lang="en-US" sz="1800" spc="-1" strike="noStrike">
              <a:solidFill>
                <a:srgbClr val="000000"/>
              </a:solidFill>
              <a:latin typeface="Arial"/>
            </a:endParaRPr>
          </a:p>
        </p:txBody>
      </p:sp>
      <p:sp>
        <p:nvSpPr>
          <p:cNvPr id="48" name="Text 15"/>
          <p:cNvSpPr/>
          <p:nvPr/>
        </p:nvSpPr>
        <p:spPr>
          <a:xfrm>
            <a:off x="2624400" y="3730680"/>
            <a:ext cx="184680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150" spc="-1" strike="noStrike">
                <a:solidFill>
                  <a:srgbClr val="14b8a6"/>
                </a:solidFill>
                <a:latin typeface="Calibri"/>
                <a:ea typeface="Calibri"/>
              </a:rPr>
              <a:t>Transaction Records</a:t>
            </a:r>
            <a:endParaRPr b="0" lang="en-US" sz="1150" spc="-1" strike="noStrike">
              <a:solidFill>
                <a:srgbClr val="000000"/>
              </a:solidFill>
              <a:latin typeface="Arial"/>
            </a:endParaRPr>
          </a:p>
        </p:txBody>
      </p:sp>
      <p:sp>
        <p:nvSpPr>
          <p:cNvPr id="49" name="Text 16"/>
          <p:cNvSpPr/>
          <p:nvPr/>
        </p:nvSpPr>
        <p:spPr>
          <a:xfrm>
            <a:off x="2624400" y="4224600"/>
            <a:ext cx="1846800" cy="5850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i="1" lang="en-US" sz="950" spc="-1" strike="noStrike">
                <a:solidFill>
                  <a:srgbClr val="b8c8dc"/>
                </a:solidFill>
                <a:latin typeface="Calibri"/>
                <a:ea typeface="Calibri"/>
              </a:rPr>
              <a:t>Key data source</a:t>
            </a:r>
            <a:endParaRPr b="0" lang="en-US" sz="950" spc="-1" strike="noStrike">
              <a:solidFill>
                <a:srgbClr val="000000"/>
              </a:solidFill>
              <a:latin typeface="Arial"/>
            </a:endParaRPr>
          </a:p>
        </p:txBody>
      </p:sp>
      <p:sp>
        <p:nvSpPr>
          <p:cNvPr id="50" name="Shape 17"/>
          <p:cNvSpPr/>
          <p:nvPr/>
        </p:nvSpPr>
        <p:spPr>
          <a:xfrm>
            <a:off x="4700160" y="3200400"/>
            <a:ext cx="2029680" cy="1663920"/>
          </a:xfrm>
          <a:prstGeom prst="rect">
            <a:avLst/>
          </a:prstGeom>
          <a:solidFill>
            <a:srgbClr val="0b1f3a"/>
          </a:solidFill>
          <a:ln w="19050">
            <a:solidFill>
              <a:srgbClr val="c8960b"/>
            </a:solidFill>
            <a:round/>
          </a:ln>
          <a:effectLst>
            <a:outerShdw algn="bl" blurRad="101520" dir="8100000" dist="37674" kx="0" ky="0" rotWithShape="0" sx="100000" sy="100000">
              <a:srgbClr val="000000">
                <a:alpha val="20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1" name="Shape 18"/>
          <p:cNvSpPr/>
          <p:nvPr/>
        </p:nvSpPr>
        <p:spPr>
          <a:xfrm>
            <a:off x="4700160" y="3200400"/>
            <a:ext cx="2029680" cy="456840"/>
          </a:xfrm>
          <a:prstGeom prst="rect">
            <a:avLst/>
          </a:prstGeom>
          <a:solidFill>
            <a:srgbClr val="c8960b"/>
          </a:solidFill>
          <a:ln w="12700">
            <a:solidFill>
              <a:srgbClr val="c8960b"/>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2" name="Text 19"/>
          <p:cNvSpPr/>
          <p:nvPr/>
        </p:nvSpPr>
        <p:spPr>
          <a:xfrm>
            <a:off x="4700160" y="3200400"/>
            <a:ext cx="202968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800" spc="-1" strike="noStrike">
                <a:solidFill>
                  <a:srgbClr val="000000"/>
                </a:solidFill>
                <a:latin typeface="Calibri"/>
              </a:rPr>
              <a:t>📊</a:t>
            </a:r>
            <a:endParaRPr b="0" lang="en-US" sz="1800" spc="-1" strike="noStrike">
              <a:solidFill>
                <a:srgbClr val="000000"/>
              </a:solidFill>
              <a:latin typeface="Arial"/>
            </a:endParaRPr>
          </a:p>
        </p:txBody>
      </p:sp>
      <p:sp>
        <p:nvSpPr>
          <p:cNvPr id="53" name="Text 20"/>
          <p:cNvSpPr/>
          <p:nvPr/>
        </p:nvSpPr>
        <p:spPr>
          <a:xfrm>
            <a:off x="4791600" y="3730680"/>
            <a:ext cx="184680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150" spc="-1" strike="noStrike">
                <a:solidFill>
                  <a:srgbClr val="f5c842"/>
                </a:solidFill>
                <a:latin typeface="Calibri"/>
                <a:ea typeface="Calibri"/>
              </a:rPr>
              <a:t>Market Trends</a:t>
            </a:r>
            <a:endParaRPr b="0" lang="en-US" sz="1150" spc="-1" strike="noStrike">
              <a:solidFill>
                <a:srgbClr val="000000"/>
              </a:solidFill>
              <a:latin typeface="Arial"/>
            </a:endParaRPr>
          </a:p>
        </p:txBody>
      </p:sp>
      <p:sp>
        <p:nvSpPr>
          <p:cNvPr id="54" name="Text 21"/>
          <p:cNvSpPr/>
          <p:nvPr/>
        </p:nvSpPr>
        <p:spPr>
          <a:xfrm>
            <a:off x="4791600" y="4224600"/>
            <a:ext cx="1846800" cy="5850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i="1" lang="en-US" sz="950" spc="-1" strike="noStrike">
                <a:solidFill>
                  <a:srgbClr val="b8c8dc"/>
                </a:solidFill>
                <a:latin typeface="Calibri"/>
                <a:ea typeface="Calibri"/>
              </a:rPr>
              <a:t>Key data source</a:t>
            </a:r>
            <a:endParaRPr b="0" lang="en-US" sz="950" spc="-1" strike="noStrike">
              <a:solidFill>
                <a:srgbClr val="000000"/>
              </a:solidFill>
              <a:latin typeface="Arial"/>
            </a:endParaRPr>
          </a:p>
        </p:txBody>
      </p:sp>
      <p:sp>
        <p:nvSpPr>
          <p:cNvPr id="55" name="Shape 22"/>
          <p:cNvSpPr/>
          <p:nvPr/>
        </p:nvSpPr>
        <p:spPr>
          <a:xfrm>
            <a:off x="6867000" y="3200400"/>
            <a:ext cx="2029680" cy="1663920"/>
          </a:xfrm>
          <a:prstGeom prst="rect">
            <a:avLst/>
          </a:prstGeom>
          <a:solidFill>
            <a:srgbClr val="0b1f3a"/>
          </a:solidFill>
          <a:ln w="19050">
            <a:solidFill>
              <a:srgbClr val="1d5fa6"/>
            </a:solidFill>
            <a:round/>
          </a:ln>
          <a:effectLst>
            <a:outerShdw algn="bl" blurRad="101520" dir="8100000" dist="37674" kx="0" ky="0" rotWithShape="0" sx="100000" sy="100000">
              <a:srgbClr val="000000">
                <a:alpha val="20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6" name="Shape 23"/>
          <p:cNvSpPr/>
          <p:nvPr/>
        </p:nvSpPr>
        <p:spPr>
          <a:xfrm>
            <a:off x="6867000" y="3200400"/>
            <a:ext cx="2029680" cy="456840"/>
          </a:xfrm>
          <a:prstGeom prst="rect">
            <a:avLst/>
          </a:prstGeom>
          <a:solidFill>
            <a:srgbClr val="1d5fa6"/>
          </a:solidFill>
          <a:ln w="12700">
            <a:solidFill>
              <a:srgbClr val="1d5fa6"/>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7" name="Text 24"/>
          <p:cNvSpPr/>
          <p:nvPr/>
        </p:nvSpPr>
        <p:spPr>
          <a:xfrm>
            <a:off x="6867000" y="3200400"/>
            <a:ext cx="202968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800" spc="-1" strike="noStrike">
                <a:solidFill>
                  <a:srgbClr val="000000"/>
                </a:solidFill>
                <a:latin typeface="Calibri"/>
              </a:rPr>
              <a:t>🌐</a:t>
            </a:r>
            <a:endParaRPr b="0" lang="en-US" sz="1800" spc="-1" strike="noStrike">
              <a:solidFill>
                <a:srgbClr val="000000"/>
              </a:solidFill>
              <a:latin typeface="Arial"/>
            </a:endParaRPr>
          </a:p>
        </p:txBody>
      </p:sp>
      <p:sp>
        <p:nvSpPr>
          <p:cNvPr id="58" name="Text 25"/>
          <p:cNvSpPr/>
          <p:nvPr/>
        </p:nvSpPr>
        <p:spPr>
          <a:xfrm>
            <a:off x="6958440" y="3730680"/>
            <a:ext cx="184680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150" spc="-1" strike="noStrike">
                <a:solidFill>
                  <a:srgbClr val="bad7f5"/>
                </a:solidFill>
                <a:latin typeface="Calibri"/>
                <a:ea typeface="Calibri"/>
              </a:rPr>
              <a:t>Social Media Behaviour</a:t>
            </a:r>
            <a:endParaRPr b="0" lang="en-US" sz="1150" spc="-1" strike="noStrike">
              <a:solidFill>
                <a:srgbClr val="000000"/>
              </a:solidFill>
              <a:latin typeface="Arial"/>
            </a:endParaRPr>
          </a:p>
        </p:txBody>
      </p:sp>
      <p:sp>
        <p:nvSpPr>
          <p:cNvPr id="59" name="Text 26"/>
          <p:cNvSpPr/>
          <p:nvPr/>
        </p:nvSpPr>
        <p:spPr>
          <a:xfrm>
            <a:off x="6958440" y="4224600"/>
            <a:ext cx="1846800" cy="5850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i="1" lang="en-US" sz="950" spc="-1" strike="noStrike">
                <a:solidFill>
                  <a:srgbClr val="b8c8dc"/>
                </a:solidFill>
                <a:latin typeface="Calibri"/>
                <a:ea typeface="Calibri"/>
              </a:rPr>
              <a:t>Key data source</a:t>
            </a:r>
            <a:endParaRPr b="0" lang="en-US" sz="950" spc="-1" strike="noStrike">
              <a:solidFill>
                <a:srgbClr val="000000"/>
              </a:solidFill>
              <a:latin typeface="Arial"/>
            </a:endParaRPr>
          </a:p>
        </p:txBody>
      </p:sp>
      <p:sp>
        <p:nvSpPr>
          <p:cNvPr id="60" name="Text 27"/>
          <p:cNvSpPr/>
          <p:nvPr/>
        </p:nvSpPr>
        <p:spPr>
          <a:xfrm>
            <a:off x="365760" y="4901040"/>
            <a:ext cx="8412120" cy="182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i="1" lang="en-US" sz="1000" spc="-1" strike="noStrike">
                <a:solidFill>
                  <a:srgbClr val="5b7a9a"/>
                </a:solidFill>
                <a:latin typeface="Calibri"/>
                <a:ea typeface="Calibri"/>
              </a:rPr>
              <a:t>→  </a:t>
            </a:r>
            <a:r>
              <a:rPr b="0" i="1" lang="en-US" sz="1000" spc="-1" strike="noStrike">
                <a:solidFill>
                  <a:srgbClr val="5b7a9a"/>
                </a:solidFill>
                <a:latin typeface="Calibri"/>
                <a:ea typeface="Calibri"/>
              </a:rPr>
              <a:t>All 12 use cases on the following slides transform these inputs into strategic financial outcomes.</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f3a"/>
        </a:solidFill>
      </p:bgPr>
    </p:bg>
    <p:spTree>
      <p:nvGrpSpPr>
        <p:cNvPr id="1" name=""/>
        <p:cNvGrpSpPr/>
        <p:nvPr/>
      </p:nvGrpSpPr>
      <p:grpSpPr>
        <a:xfrm>
          <a:off x="0" y="0"/>
          <a:ext cx="0" cy="0"/>
          <a:chOff x="0" y="0"/>
          <a:chExt cx="0" cy="0"/>
        </a:xfrm>
      </p:grpSpPr>
      <p:sp>
        <p:nvSpPr>
          <p:cNvPr id="61" name="Shape 0"/>
          <p:cNvSpPr/>
          <p:nvPr/>
        </p:nvSpPr>
        <p:spPr>
          <a:xfrm>
            <a:off x="0" y="0"/>
            <a:ext cx="9143640" cy="914040"/>
          </a:xfrm>
          <a:prstGeom prst="rect">
            <a:avLst/>
          </a:prstGeom>
          <a:solidFill>
            <a:srgbClr val="112d52"/>
          </a:solidFill>
          <a:ln w="12700">
            <a:solidFill>
              <a:srgbClr val="112d52"/>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2" name="Shape 1"/>
          <p:cNvSpPr/>
          <p:nvPr/>
        </p:nvSpPr>
        <p:spPr>
          <a:xfrm>
            <a:off x="0" y="914400"/>
            <a:ext cx="9143640" cy="54360"/>
          </a:xfrm>
          <a:prstGeom prst="rect">
            <a:avLst/>
          </a:prstGeom>
          <a:solidFill>
            <a:srgbClr val="e6b020"/>
          </a:solidFill>
          <a:ln w="12700">
            <a:solidFill>
              <a:srgbClr val="e6b020"/>
            </a:solidFill>
            <a:round/>
          </a:ln>
        </p:spPr>
        <p:style>
          <a:lnRef idx="0"/>
          <a:fillRef idx="0"/>
          <a:effectRef idx="0"/>
          <a:fontRef idx="minor"/>
        </p:style>
        <p:txBody>
          <a:bodyPr lIns="90000" rIns="90000" tIns="9720" bIns="9720" anchor="t">
            <a:noAutofit/>
          </a:bodyPr>
          <a:p>
            <a:endParaRPr b="0" lang="en-US" sz="1800" spc="-1" strike="noStrike">
              <a:solidFill>
                <a:srgbClr val="000000"/>
              </a:solidFill>
              <a:latin typeface="Arial"/>
            </a:endParaRPr>
          </a:p>
        </p:txBody>
      </p:sp>
      <p:sp>
        <p:nvSpPr>
          <p:cNvPr id="63" name="Text 2"/>
          <p:cNvSpPr/>
          <p:nvPr/>
        </p:nvSpPr>
        <p:spPr>
          <a:xfrm>
            <a:off x="411480" y="0"/>
            <a:ext cx="8320680" cy="914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600" spc="-1" strike="noStrike">
                <a:solidFill>
                  <a:srgbClr val="f5c842"/>
                </a:solidFill>
                <a:latin typeface="Calibri"/>
                <a:ea typeface="Calibri"/>
              </a:rPr>
              <a:t>Use Cases 01–03: Risk Management &amp; Fraud</a:t>
            </a:r>
            <a:endParaRPr b="0" lang="en-US" sz="2600" spc="-1" strike="noStrike">
              <a:solidFill>
                <a:srgbClr val="ffffff"/>
              </a:solidFill>
              <a:latin typeface="Arial"/>
            </a:endParaRPr>
          </a:p>
        </p:txBody>
      </p:sp>
      <p:sp>
        <p:nvSpPr>
          <p:cNvPr id="64" name="Shape 3"/>
          <p:cNvSpPr/>
          <p:nvPr/>
        </p:nvSpPr>
        <p:spPr>
          <a:xfrm>
            <a:off x="320040" y="1042560"/>
            <a:ext cx="8503560" cy="1225080"/>
          </a:xfrm>
          <a:prstGeom prst="rect">
            <a:avLst/>
          </a:prstGeom>
          <a:solidFill>
            <a:srgbClr val="112d52"/>
          </a:solidFill>
          <a:ln w="22860">
            <a:solidFill>
              <a:srgbClr val="1d5fa6"/>
            </a:solidFill>
            <a:round/>
          </a:ln>
          <a:effectLst>
            <a:outerShdw algn="bl" blurRad="101520" dir="8100000" dist="37674" kx="0" ky="0" rotWithShape="0" sx="100000" sy="100000">
              <a:srgbClr val="000000">
                <a:alpha val="20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5" name="Shape 4"/>
          <p:cNvSpPr/>
          <p:nvPr/>
        </p:nvSpPr>
        <p:spPr>
          <a:xfrm>
            <a:off x="320040" y="1042560"/>
            <a:ext cx="109440" cy="1225080"/>
          </a:xfrm>
          <a:prstGeom prst="rect">
            <a:avLst/>
          </a:prstGeom>
          <a:solidFill>
            <a:srgbClr val="1d5fa6"/>
          </a:solidFill>
          <a:ln w="12700">
            <a:solidFill>
              <a:srgbClr val="1d5fa6"/>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6" name="Shape 5"/>
          <p:cNvSpPr/>
          <p:nvPr/>
        </p:nvSpPr>
        <p:spPr>
          <a:xfrm>
            <a:off x="502920" y="1261800"/>
            <a:ext cx="438480" cy="438480"/>
          </a:xfrm>
          <a:prstGeom prst="ellipse">
            <a:avLst/>
          </a:prstGeom>
          <a:solidFill>
            <a:srgbClr val="1d5fa6"/>
          </a:solidFill>
          <a:ln w="12700">
            <a:solidFill>
              <a:srgbClr val="1d5fa6"/>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7" name="Text 6"/>
          <p:cNvSpPr/>
          <p:nvPr/>
        </p:nvSpPr>
        <p:spPr>
          <a:xfrm>
            <a:off x="502920" y="1261800"/>
            <a:ext cx="438480" cy="4384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200" spc="-1" strike="noStrike">
                <a:solidFill>
                  <a:srgbClr val="0b1f3a"/>
                </a:solidFill>
                <a:latin typeface="Calibri"/>
              </a:rPr>
              <a:t>01</a:t>
            </a:r>
            <a:endParaRPr b="0" lang="en-US" sz="1200" spc="-1" strike="noStrike">
              <a:solidFill>
                <a:srgbClr val="ffffff"/>
              </a:solidFill>
              <a:latin typeface="Arial"/>
            </a:endParaRPr>
          </a:p>
        </p:txBody>
      </p:sp>
      <p:sp>
        <p:nvSpPr>
          <p:cNvPr id="68" name="Text 7"/>
          <p:cNvSpPr/>
          <p:nvPr/>
        </p:nvSpPr>
        <p:spPr>
          <a:xfrm>
            <a:off x="1051560" y="1115640"/>
            <a:ext cx="4114440" cy="347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50" spc="-1" strike="noStrike">
                <a:solidFill>
                  <a:srgbClr val="bad7f5"/>
                </a:solidFill>
                <a:latin typeface="Calibri"/>
                <a:ea typeface="Calibri"/>
              </a:rPr>
              <a:t>💳  </a:t>
            </a:r>
            <a:r>
              <a:rPr b="1" lang="en-US" sz="1350" spc="-1" strike="noStrike">
                <a:solidFill>
                  <a:srgbClr val="bad7f5"/>
                </a:solidFill>
                <a:latin typeface="Calibri"/>
                <a:ea typeface="Calibri"/>
              </a:rPr>
              <a:t>Credit Scoring &amp; Risk Assessment</a:t>
            </a:r>
            <a:endParaRPr b="0" lang="en-US" sz="1350" spc="-1" strike="noStrike">
              <a:solidFill>
                <a:srgbClr val="ffffff"/>
              </a:solidFill>
              <a:latin typeface="Arial"/>
            </a:endParaRPr>
          </a:p>
        </p:txBody>
      </p:sp>
      <p:sp>
        <p:nvSpPr>
          <p:cNvPr id="69" name="Text 8"/>
          <p:cNvSpPr/>
          <p:nvPr/>
        </p:nvSpPr>
        <p:spPr>
          <a:xfrm>
            <a:off x="1051560" y="1481400"/>
            <a:ext cx="7680600" cy="731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50" spc="-1" strike="noStrike">
                <a:solidFill>
                  <a:srgbClr val="b8c8dc"/>
                </a:solidFill>
                <a:latin typeface="Calibri"/>
                <a:ea typeface="Calibri"/>
              </a:rPr>
              <a:t>Traditional scoring models no longer capture the complexity of customer profiles. Data mining evaluates alternative credit sources, social media behaviour, unconventional income, and community engagement to build accurate borrower risk profiles — minimizing bad debts, reducing defaults, and improving portfolio health.</a:t>
            </a:r>
            <a:endParaRPr b="0" lang="en-US" sz="1050" spc="-1" strike="noStrike">
              <a:solidFill>
                <a:srgbClr val="ffffff"/>
              </a:solidFill>
              <a:latin typeface="Arial"/>
            </a:endParaRPr>
          </a:p>
        </p:txBody>
      </p:sp>
      <p:sp>
        <p:nvSpPr>
          <p:cNvPr id="70" name="Shape 9"/>
          <p:cNvSpPr/>
          <p:nvPr/>
        </p:nvSpPr>
        <p:spPr>
          <a:xfrm>
            <a:off x="320040" y="2395800"/>
            <a:ext cx="8503560" cy="1225080"/>
          </a:xfrm>
          <a:prstGeom prst="rect">
            <a:avLst/>
          </a:prstGeom>
          <a:solidFill>
            <a:srgbClr val="112d52"/>
          </a:solidFill>
          <a:ln w="22860">
            <a:solidFill>
              <a:srgbClr val="e74c3c"/>
            </a:solidFill>
            <a:round/>
          </a:ln>
          <a:effectLst>
            <a:outerShdw algn="bl" blurRad="101520" dir="8100000" dist="37674" kx="0" ky="0" rotWithShape="0" sx="100000" sy="100000">
              <a:srgbClr val="000000">
                <a:alpha val="20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1" name="Shape 10"/>
          <p:cNvSpPr/>
          <p:nvPr/>
        </p:nvSpPr>
        <p:spPr>
          <a:xfrm>
            <a:off x="320040" y="2395800"/>
            <a:ext cx="109440" cy="1225080"/>
          </a:xfrm>
          <a:prstGeom prst="rect">
            <a:avLst/>
          </a:prstGeom>
          <a:solidFill>
            <a:srgbClr val="e74c3c"/>
          </a:solidFill>
          <a:ln w="12700">
            <a:solidFill>
              <a:srgbClr val="e74c3c"/>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2" name="Shape 11"/>
          <p:cNvSpPr/>
          <p:nvPr/>
        </p:nvSpPr>
        <p:spPr>
          <a:xfrm>
            <a:off x="502920" y="2615040"/>
            <a:ext cx="438480" cy="438480"/>
          </a:xfrm>
          <a:prstGeom prst="ellipse">
            <a:avLst/>
          </a:prstGeom>
          <a:solidFill>
            <a:srgbClr val="e74c3c"/>
          </a:solidFill>
          <a:ln w="12700">
            <a:solidFill>
              <a:srgbClr val="e74c3c"/>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3" name="Text 12"/>
          <p:cNvSpPr/>
          <p:nvPr/>
        </p:nvSpPr>
        <p:spPr>
          <a:xfrm>
            <a:off x="502920" y="2615040"/>
            <a:ext cx="438480" cy="4384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200" spc="-1" strike="noStrike">
                <a:solidFill>
                  <a:srgbClr val="0b1f3a"/>
                </a:solidFill>
                <a:latin typeface="Calibri"/>
              </a:rPr>
              <a:t>02</a:t>
            </a:r>
            <a:endParaRPr b="0" lang="en-US" sz="1200" spc="-1" strike="noStrike">
              <a:solidFill>
                <a:srgbClr val="ffffff"/>
              </a:solidFill>
              <a:latin typeface="Arial"/>
            </a:endParaRPr>
          </a:p>
        </p:txBody>
      </p:sp>
      <p:sp>
        <p:nvSpPr>
          <p:cNvPr id="74" name="Text 13"/>
          <p:cNvSpPr/>
          <p:nvPr/>
        </p:nvSpPr>
        <p:spPr>
          <a:xfrm>
            <a:off x="1051560" y="2468880"/>
            <a:ext cx="4114440" cy="347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50" spc="-1" strike="noStrike">
                <a:solidFill>
                  <a:srgbClr val="e74c3c"/>
                </a:solidFill>
                <a:latin typeface="Calibri"/>
                <a:ea typeface="Calibri"/>
              </a:rPr>
              <a:t>🔍  </a:t>
            </a:r>
            <a:r>
              <a:rPr b="1" lang="en-US" sz="1350" spc="-1" strike="noStrike">
                <a:solidFill>
                  <a:srgbClr val="e74c3c"/>
                </a:solidFill>
                <a:latin typeface="Calibri"/>
                <a:ea typeface="Calibri"/>
              </a:rPr>
              <a:t>Fraud Detection &amp; Prevention</a:t>
            </a:r>
            <a:endParaRPr b="0" lang="en-US" sz="1350" spc="-1" strike="noStrike">
              <a:solidFill>
                <a:srgbClr val="ffffff"/>
              </a:solidFill>
              <a:latin typeface="Arial"/>
            </a:endParaRPr>
          </a:p>
        </p:txBody>
      </p:sp>
      <p:sp>
        <p:nvSpPr>
          <p:cNvPr id="75" name="Text 14"/>
          <p:cNvSpPr/>
          <p:nvPr/>
        </p:nvSpPr>
        <p:spPr>
          <a:xfrm>
            <a:off x="1051560" y="2834640"/>
            <a:ext cx="7680600" cy="731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50" spc="-1" strike="noStrike">
                <a:solidFill>
                  <a:srgbClr val="b8c8dc"/>
                </a:solidFill>
                <a:latin typeface="Calibri"/>
                <a:ea typeface="Calibri"/>
              </a:rPr>
              <a:t>ML algorithms analyse transaction patterns in real time to flag anomalies before they cause damage. By recognizing deviations from normal behaviour instantly, financial institutions protect customer trust and maintain stability against economic uncertainty and market volatility.</a:t>
            </a:r>
            <a:endParaRPr b="0" lang="en-US" sz="1050" spc="-1" strike="noStrike">
              <a:solidFill>
                <a:srgbClr val="ffffff"/>
              </a:solidFill>
              <a:latin typeface="Arial"/>
            </a:endParaRPr>
          </a:p>
        </p:txBody>
      </p:sp>
      <p:sp>
        <p:nvSpPr>
          <p:cNvPr id="76" name="Shape 15"/>
          <p:cNvSpPr/>
          <p:nvPr/>
        </p:nvSpPr>
        <p:spPr>
          <a:xfrm>
            <a:off x="320040" y="3749040"/>
            <a:ext cx="8503560" cy="1225080"/>
          </a:xfrm>
          <a:prstGeom prst="rect">
            <a:avLst/>
          </a:prstGeom>
          <a:solidFill>
            <a:srgbClr val="112d52"/>
          </a:solidFill>
          <a:ln w="22860">
            <a:solidFill>
              <a:srgbClr val="0d7c7c"/>
            </a:solidFill>
            <a:round/>
          </a:ln>
          <a:effectLst>
            <a:outerShdw algn="bl" blurRad="101520" dir="8100000" dist="37674" kx="0" ky="0" rotWithShape="0" sx="100000" sy="100000">
              <a:srgbClr val="000000">
                <a:alpha val="20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7" name="Shape 16"/>
          <p:cNvSpPr/>
          <p:nvPr/>
        </p:nvSpPr>
        <p:spPr>
          <a:xfrm>
            <a:off x="320040" y="3749040"/>
            <a:ext cx="109440" cy="1225080"/>
          </a:xfrm>
          <a:prstGeom prst="rect">
            <a:avLst/>
          </a:prstGeom>
          <a:solidFill>
            <a:srgbClr val="0d7c7c"/>
          </a:solidFill>
          <a:ln w="12700">
            <a:solidFill>
              <a:srgbClr val="0d7c7c"/>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8" name="Shape 17"/>
          <p:cNvSpPr/>
          <p:nvPr/>
        </p:nvSpPr>
        <p:spPr>
          <a:xfrm>
            <a:off x="502920" y="3968640"/>
            <a:ext cx="438480" cy="438480"/>
          </a:xfrm>
          <a:prstGeom prst="ellipse">
            <a:avLst/>
          </a:prstGeom>
          <a:solidFill>
            <a:srgbClr val="0d7c7c"/>
          </a:solidFill>
          <a:ln w="12700">
            <a:solidFill>
              <a:srgbClr val="0d7c7c"/>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9" name="Text 18"/>
          <p:cNvSpPr/>
          <p:nvPr/>
        </p:nvSpPr>
        <p:spPr>
          <a:xfrm>
            <a:off x="502920" y="3968640"/>
            <a:ext cx="438480" cy="4384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200" spc="-1" strike="noStrike">
                <a:solidFill>
                  <a:srgbClr val="0b1f3a"/>
                </a:solidFill>
                <a:latin typeface="Calibri"/>
              </a:rPr>
              <a:t>03</a:t>
            </a:r>
            <a:endParaRPr b="0" lang="en-US" sz="1200" spc="-1" strike="noStrike">
              <a:solidFill>
                <a:srgbClr val="ffffff"/>
              </a:solidFill>
              <a:latin typeface="Arial"/>
            </a:endParaRPr>
          </a:p>
        </p:txBody>
      </p:sp>
      <p:sp>
        <p:nvSpPr>
          <p:cNvPr id="80" name="Text 19"/>
          <p:cNvSpPr/>
          <p:nvPr/>
        </p:nvSpPr>
        <p:spPr>
          <a:xfrm>
            <a:off x="1051560" y="3822120"/>
            <a:ext cx="4114440" cy="347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50" spc="-1" strike="noStrike">
                <a:solidFill>
                  <a:srgbClr val="14b8a6"/>
                </a:solidFill>
                <a:latin typeface="Calibri"/>
                <a:ea typeface="Calibri"/>
              </a:rPr>
              <a:t>📋  </a:t>
            </a:r>
            <a:r>
              <a:rPr b="1" lang="en-US" sz="1350" spc="-1" strike="noStrike">
                <a:solidFill>
                  <a:srgbClr val="14b8a6"/>
                </a:solidFill>
                <a:latin typeface="Calibri"/>
                <a:ea typeface="Calibri"/>
              </a:rPr>
              <a:t>Insurance Underwriting &amp; Claims Analysis</a:t>
            </a:r>
            <a:endParaRPr b="0" lang="en-US" sz="1350" spc="-1" strike="noStrike">
              <a:solidFill>
                <a:srgbClr val="ffffff"/>
              </a:solidFill>
              <a:latin typeface="Arial"/>
            </a:endParaRPr>
          </a:p>
        </p:txBody>
      </p:sp>
      <p:sp>
        <p:nvSpPr>
          <p:cNvPr id="81" name="Text 20"/>
          <p:cNvSpPr/>
          <p:nvPr/>
        </p:nvSpPr>
        <p:spPr>
          <a:xfrm>
            <a:off x="1051560" y="4187880"/>
            <a:ext cx="7680600" cy="731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50" spc="-1" strike="noStrike">
                <a:solidFill>
                  <a:srgbClr val="b8c8dc"/>
                </a:solidFill>
                <a:latin typeface="Calibri"/>
                <a:ea typeface="Calibri"/>
              </a:rPr>
              <a:t>Insurers analyse data from credit histories to social media activity to create comprehensive customer profiles for accurate underwriting. Claims data mining identifies fraud indicators, establishes benchmarks for legitimate claims, and ensures only genuine claims are processed — building policyholder trust.</a:t>
            </a:r>
            <a:endParaRPr b="0" lang="en-US" sz="10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2f9"/>
        </a:solidFill>
      </p:bgPr>
    </p:bg>
    <p:spTree>
      <p:nvGrpSpPr>
        <p:cNvPr id="1" name=""/>
        <p:cNvGrpSpPr/>
        <p:nvPr/>
      </p:nvGrpSpPr>
      <p:grpSpPr>
        <a:xfrm>
          <a:off x="0" y="0"/>
          <a:ext cx="0" cy="0"/>
          <a:chOff x="0" y="0"/>
          <a:chExt cx="0" cy="0"/>
        </a:xfrm>
      </p:grpSpPr>
      <p:sp>
        <p:nvSpPr>
          <p:cNvPr id="82" name="Shape 0"/>
          <p:cNvSpPr/>
          <p:nvPr/>
        </p:nvSpPr>
        <p:spPr>
          <a:xfrm>
            <a:off x="0" y="0"/>
            <a:ext cx="9143640" cy="959760"/>
          </a:xfrm>
          <a:prstGeom prst="rect">
            <a:avLst/>
          </a:prstGeom>
          <a:solidFill>
            <a:srgbClr val="0b1f3a"/>
          </a:solidFill>
          <a:ln w="12700">
            <a:solidFill>
              <a:srgbClr val="0b1f3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83" name="Shape 1"/>
          <p:cNvSpPr/>
          <p:nvPr/>
        </p:nvSpPr>
        <p:spPr>
          <a:xfrm>
            <a:off x="0" y="960120"/>
            <a:ext cx="9143640" cy="63720"/>
          </a:xfrm>
          <a:prstGeom prst="rect">
            <a:avLst/>
          </a:prstGeom>
          <a:solidFill>
            <a:srgbClr val="14b8a6"/>
          </a:solidFill>
          <a:ln w="12700">
            <a:solidFill>
              <a:srgbClr val="14b8a6"/>
            </a:solidFill>
            <a:round/>
          </a:ln>
        </p:spPr>
        <p:style>
          <a:lnRef idx="0"/>
          <a:fillRef idx="0"/>
          <a:effectRef idx="0"/>
          <a:fontRef idx="minor"/>
        </p:style>
        <p:txBody>
          <a:bodyPr lIns="90000" rIns="90000" tIns="19080" bIns="19080" anchor="t">
            <a:noAutofit/>
          </a:bodyPr>
          <a:p>
            <a:endParaRPr b="0" lang="en-US" sz="1800" spc="-1" strike="noStrike">
              <a:solidFill>
                <a:srgbClr val="ffffff"/>
              </a:solidFill>
              <a:latin typeface="Arial"/>
            </a:endParaRPr>
          </a:p>
        </p:txBody>
      </p:sp>
      <p:sp>
        <p:nvSpPr>
          <p:cNvPr id="84" name="Text 2"/>
          <p:cNvSpPr/>
          <p:nvPr/>
        </p:nvSpPr>
        <p:spPr>
          <a:xfrm>
            <a:off x="411480" y="0"/>
            <a:ext cx="8320680" cy="9597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600" spc="-1" strike="noStrike">
                <a:solidFill>
                  <a:srgbClr val="14b8a6"/>
                </a:solidFill>
                <a:latin typeface="Calibri"/>
                <a:ea typeface="Calibri"/>
              </a:rPr>
              <a:t>Use Cases 04–06: Customer Growth &amp; Market Edge</a:t>
            </a:r>
            <a:endParaRPr b="0" lang="en-US" sz="2600" spc="-1" strike="noStrike">
              <a:solidFill>
                <a:srgbClr val="000000"/>
              </a:solidFill>
              <a:latin typeface="Arial"/>
            </a:endParaRPr>
          </a:p>
        </p:txBody>
      </p:sp>
      <p:sp>
        <p:nvSpPr>
          <p:cNvPr id="85" name="Shape 3"/>
          <p:cNvSpPr/>
          <p:nvPr/>
        </p:nvSpPr>
        <p:spPr>
          <a:xfrm>
            <a:off x="320040" y="1170360"/>
            <a:ext cx="2797560" cy="3748680"/>
          </a:xfrm>
          <a:prstGeom prst="rect">
            <a:avLst/>
          </a:prstGeom>
          <a:solidFill>
            <a:srgbClr val="0b1f3a"/>
          </a:solidFill>
          <a:ln w="22860">
            <a:solidFill>
              <a:srgbClr val="0d7c7c"/>
            </a:solidFill>
            <a:round/>
          </a:ln>
          <a:effectLst>
            <a:outerShdw algn="bl" blurRad="101520" dir="8100000" dist="37674" kx="0" ky="0" rotWithShape="0" sx="100000" sy="100000">
              <a:srgbClr val="000000">
                <a:alpha val="20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86" name="Shape 4"/>
          <p:cNvSpPr/>
          <p:nvPr/>
        </p:nvSpPr>
        <p:spPr>
          <a:xfrm>
            <a:off x="320040" y="1170360"/>
            <a:ext cx="2797560" cy="475200"/>
          </a:xfrm>
          <a:prstGeom prst="rect">
            <a:avLst/>
          </a:prstGeom>
          <a:solidFill>
            <a:srgbClr val="0d7c7c"/>
          </a:solidFill>
          <a:ln w="12700">
            <a:solidFill>
              <a:srgbClr val="0d7c7c"/>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87" name="Shape 5"/>
          <p:cNvSpPr/>
          <p:nvPr/>
        </p:nvSpPr>
        <p:spPr>
          <a:xfrm>
            <a:off x="429840" y="1261800"/>
            <a:ext cx="328680" cy="328680"/>
          </a:xfrm>
          <a:prstGeom prst="ellipse">
            <a:avLst/>
          </a:prstGeom>
          <a:solidFill>
            <a:srgbClr val="0b1f3a"/>
          </a:solidFill>
          <a:ln w="12700">
            <a:solidFill>
              <a:srgbClr val="0b1f3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88" name="Text 6"/>
          <p:cNvSpPr/>
          <p:nvPr/>
        </p:nvSpPr>
        <p:spPr>
          <a:xfrm>
            <a:off x="429840" y="1261800"/>
            <a:ext cx="328680" cy="328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000" spc="-1" strike="noStrike">
                <a:solidFill>
                  <a:srgbClr val="0d7c7c"/>
                </a:solidFill>
                <a:latin typeface="Calibri"/>
              </a:rPr>
              <a:t>04</a:t>
            </a:r>
            <a:endParaRPr b="0" lang="en-US" sz="1000" spc="-1" strike="noStrike">
              <a:solidFill>
                <a:srgbClr val="000000"/>
              </a:solidFill>
              <a:latin typeface="Arial"/>
            </a:endParaRPr>
          </a:p>
        </p:txBody>
      </p:sp>
      <p:sp>
        <p:nvSpPr>
          <p:cNvPr id="89" name="Text 7"/>
          <p:cNvSpPr/>
          <p:nvPr/>
        </p:nvSpPr>
        <p:spPr>
          <a:xfrm>
            <a:off x="831960" y="1170360"/>
            <a:ext cx="2230920" cy="475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0b1f3a"/>
                </a:solidFill>
                <a:latin typeface="Calibri"/>
                <a:ea typeface="Calibri"/>
              </a:rPr>
              <a:t>📉  </a:t>
            </a:r>
            <a:r>
              <a:rPr b="1" lang="en-US" sz="1150" spc="-1" strike="noStrike">
                <a:solidFill>
                  <a:srgbClr val="0b1f3a"/>
                </a:solidFill>
                <a:latin typeface="Calibri"/>
                <a:ea typeface="Calibri"/>
              </a:rPr>
              <a:t>Churn Prediction &amp; Customer Retention</a:t>
            </a:r>
            <a:endParaRPr b="0" lang="en-US" sz="1150" spc="-1" strike="noStrike">
              <a:solidFill>
                <a:srgbClr val="000000"/>
              </a:solidFill>
              <a:latin typeface="Arial"/>
            </a:endParaRPr>
          </a:p>
        </p:txBody>
      </p:sp>
      <p:sp>
        <p:nvSpPr>
          <p:cNvPr id="90" name="Text 8"/>
          <p:cNvSpPr/>
          <p:nvPr/>
        </p:nvSpPr>
        <p:spPr>
          <a:xfrm>
            <a:off x="429840" y="1700640"/>
            <a:ext cx="2578320" cy="3126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50" spc="-1" strike="noStrike">
                <a:solidFill>
                  <a:srgbClr val="b8c8dc"/>
                </a:solidFill>
                <a:latin typeface="Calibri"/>
                <a:ea typeface="Calibri"/>
              </a:rPr>
              <a:t>Analysing engagement patterns identifies at-risk customers early. Proactive intervention through personalised retention programs and tailored offers maximises customer lifetime value — demonstrating the FI's genuine commitment to individual customer needs.</a:t>
            </a:r>
            <a:endParaRPr b="0" lang="en-US" sz="1050" spc="-1" strike="noStrike">
              <a:solidFill>
                <a:srgbClr val="000000"/>
              </a:solidFill>
              <a:latin typeface="Arial"/>
            </a:endParaRPr>
          </a:p>
        </p:txBody>
      </p:sp>
      <p:sp>
        <p:nvSpPr>
          <p:cNvPr id="91" name="Shape 9"/>
          <p:cNvSpPr/>
          <p:nvPr/>
        </p:nvSpPr>
        <p:spPr>
          <a:xfrm>
            <a:off x="3264480" y="1170360"/>
            <a:ext cx="2797560" cy="3748680"/>
          </a:xfrm>
          <a:prstGeom prst="rect">
            <a:avLst/>
          </a:prstGeom>
          <a:solidFill>
            <a:srgbClr val="0b1f3a"/>
          </a:solidFill>
          <a:ln w="22860">
            <a:solidFill>
              <a:srgbClr val="c8960b"/>
            </a:solidFill>
            <a:round/>
          </a:ln>
          <a:effectLst>
            <a:outerShdw algn="bl" blurRad="101520" dir="8100000" dist="37674" kx="0" ky="0" rotWithShape="0" sx="100000" sy="100000">
              <a:srgbClr val="000000">
                <a:alpha val="20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92" name="Shape 10"/>
          <p:cNvSpPr/>
          <p:nvPr/>
        </p:nvSpPr>
        <p:spPr>
          <a:xfrm>
            <a:off x="3264480" y="1170360"/>
            <a:ext cx="2797560" cy="475200"/>
          </a:xfrm>
          <a:prstGeom prst="rect">
            <a:avLst/>
          </a:prstGeom>
          <a:solidFill>
            <a:srgbClr val="c8960b"/>
          </a:solidFill>
          <a:ln w="12700">
            <a:solidFill>
              <a:srgbClr val="c8960b"/>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93" name="Shape 11"/>
          <p:cNvSpPr/>
          <p:nvPr/>
        </p:nvSpPr>
        <p:spPr>
          <a:xfrm>
            <a:off x="3374280" y="1261800"/>
            <a:ext cx="328680" cy="328680"/>
          </a:xfrm>
          <a:prstGeom prst="ellipse">
            <a:avLst/>
          </a:prstGeom>
          <a:solidFill>
            <a:srgbClr val="0b1f3a"/>
          </a:solidFill>
          <a:ln w="12700">
            <a:solidFill>
              <a:srgbClr val="0b1f3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94" name="Text 12"/>
          <p:cNvSpPr/>
          <p:nvPr/>
        </p:nvSpPr>
        <p:spPr>
          <a:xfrm>
            <a:off x="3374280" y="1261800"/>
            <a:ext cx="328680" cy="328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000" spc="-1" strike="noStrike">
                <a:solidFill>
                  <a:srgbClr val="c8960b"/>
                </a:solidFill>
                <a:latin typeface="Calibri"/>
              </a:rPr>
              <a:t>05</a:t>
            </a:r>
            <a:endParaRPr b="0" lang="en-US" sz="1000" spc="-1" strike="noStrike">
              <a:solidFill>
                <a:srgbClr val="000000"/>
              </a:solidFill>
              <a:latin typeface="Arial"/>
            </a:endParaRPr>
          </a:p>
        </p:txBody>
      </p:sp>
      <p:sp>
        <p:nvSpPr>
          <p:cNvPr id="95" name="Text 13"/>
          <p:cNvSpPr/>
          <p:nvPr/>
        </p:nvSpPr>
        <p:spPr>
          <a:xfrm>
            <a:off x="3776400" y="1170360"/>
            <a:ext cx="2230920" cy="475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0b1f3a"/>
                </a:solidFill>
                <a:latin typeface="Calibri"/>
                <a:ea typeface="Calibri"/>
              </a:rPr>
              <a:t>📈  </a:t>
            </a:r>
            <a:r>
              <a:rPr b="1" lang="en-US" sz="1150" spc="-1" strike="noStrike">
                <a:solidFill>
                  <a:srgbClr val="0b1f3a"/>
                </a:solidFill>
                <a:latin typeface="Calibri"/>
                <a:ea typeface="Calibri"/>
              </a:rPr>
              <a:t>Market Trend Analysis &amp; Investment Strategies</a:t>
            </a:r>
            <a:endParaRPr b="0" lang="en-US" sz="1150" spc="-1" strike="noStrike">
              <a:solidFill>
                <a:srgbClr val="000000"/>
              </a:solidFill>
              <a:latin typeface="Arial"/>
            </a:endParaRPr>
          </a:p>
        </p:txBody>
      </p:sp>
      <p:sp>
        <p:nvSpPr>
          <p:cNvPr id="96" name="Text 14"/>
          <p:cNvSpPr/>
          <p:nvPr/>
        </p:nvSpPr>
        <p:spPr>
          <a:xfrm>
            <a:off x="3374280" y="1700640"/>
            <a:ext cx="2578320" cy="3126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50" spc="-1" strike="noStrike">
                <a:solidFill>
                  <a:srgbClr val="b8c8dc"/>
                </a:solidFill>
                <a:latin typeface="Calibri"/>
                <a:ea typeface="Calibri"/>
              </a:rPr>
              <a:t>Data mining transforms traditional analytics into predictive precision. Assessing news sentiment, social media trends, and historical patterns enables accurate market movement predictions. Combined with customer insights, FIs develop strategies aligned to client risk appetites and return expectations.</a:t>
            </a:r>
            <a:endParaRPr b="0" lang="en-US" sz="1050" spc="-1" strike="noStrike">
              <a:solidFill>
                <a:srgbClr val="000000"/>
              </a:solidFill>
              <a:latin typeface="Arial"/>
            </a:endParaRPr>
          </a:p>
        </p:txBody>
      </p:sp>
      <p:sp>
        <p:nvSpPr>
          <p:cNvPr id="97" name="Shape 15"/>
          <p:cNvSpPr/>
          <p:nvPr/>
        </p:nvSpPr>
        <p:spPr>
          <a:xfrm>
            <a:off x="6208920" y="1170360"/>
            <a:ext cx="2797560" cy="3748680"/>
          </a:xfrm>
          <a:prstGeom prst="rect">
            <a:avLst/>
          </a:prstGeom>
          <a:solidFill>
            <a:srgbClr val="0b1f3a"/>
          </a:solidFill>
          <a:ln w="22860">
            <a:solidFill>
              <a:srgbClr val="1d5fa6"/>
            </a:solidFill>
            <a:round/>
          </a:ln>
          <a:effectLst>
            <a:outerShdw algn="bl" blurRad="101520" dir="8100000" dist="37674" kx="0" ky="0" rotWithShape="0" sx="100000" sy="100000">
              <a:srgbClr val="000000">
                <a:alpha val="20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98" name="Shape 16"/>
          <p:cNvSpPr/>
          <p:nvPr/>
        </p:nvSpPr>
        <p:spPr>
          <a:xfrm>
            <a:off x="6208920" y="1170360"/>
            <a:ext cx="2797560" cy="475200"/>
          </a:xfrm>
          <a:prstGeom prst="rect">
            <a:avLst/>
          </a:prstGeom>
          <a:solidFill>
            <a:srgbClr val="1d5fa6"/>
          </a:solidFill>
          <a:ln w="12700">
            <a:solidFill>
              <a:srgbClr val="1d5fa6"/>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99" name="Shape 17"/>
          <p:cNvSpPr/>
          <p:nvPr/>
        </p:nvSpPr>
        <p:spPr>
          <a:xfrm>
            <a:off x="6318360" y="1261800"/>
            <a:ext cx="328680" cy="328680"/>
          </a:xfrm>
          <a:prstGeom prst="ellipse">
            <a:avLst/>
          </a:prstGeom>
          <a:solidFill>
            <a:srgbClr val="0b1f3a"/>
          </a:solidFill>
          <a:ln w="12700">
            <a:solidFill>
              <a:srgbClr val="0b1f3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00" name="Text 18"/>
          <p:cNvSpPr/>
          <p:nvPr/>
        </p:nvSpPr>
        <p:spPr>
          <a:xfrm>
            <a:off x="6318360" y="1261800"/>
            <a:ext cx="328680" cy="328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000" spc="-1" strike="noStrike">
                <a:solidFill>
                  <a:srgbClr val="1d5fa6"/>
                </a:solidFill>
                <a:latin typeface="Calibri"/>
              </a:rPr>
              <a:t>06</a:t>
            </a:r>
            <a:endParaRPr b="0" lang="en-US" sz="1000" spc="-1" strike="noStrike">
              <a:solidFill>
                <a:srgbClr val="000000"/>
              </a:solidFill>
              <a:latin typeface="Arial"/>
            </a:endParaRPr>
          </a:p>
        </p:txBody>
      </p:sp>
      <p:sp>
        <p:nvSpPr>
          <p:cNvPr id="101" name="Text 19"/>
          <p:cNvSpPr/>
          <p:nvPr/>
        </p:nvSpPr>
        <p:spPr>
          <a:xfrm>
            <a:off x="6720840" y="1170360"/>
            <a:ext cx="2230920" cy="475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0b1f3a"/>
                </a:solidFill>
                <a:latin typeface="Calibri"/>
                <a:ea typeface="Calibri"/>
              </a:rPr>
              <a:t>💲  </a:t>
            </a:r>
            <a:r>
              <a:rPr b="1" lang="en-US" sz="1150" spc="-1" strike="noStrike">
                <a:solidFill>
                  <a:srgbClr val="0b1f3a"/>
                </a:solidFill>
                <a:latin typeface="Calibri"/>
                <a:ea typeface="Calibri"/>
              </a:rPr>
              <a:t>Dynamic Pricing, Product Optimisation &amp; Development</a:t>
            </a:r>
            <a:endParaRPr b="0" lang="en-US" sz="1150" spc="-1" strike="noStrike">
              <a:solidFill>
                <a:srgbClr val="000000"/>
              </a:solidFill>
              <a:latin typeface="Arial"/>
            </a:endParaRPr>
          </a:p>
        </p:txBody>
      </p:sp>
      <p:sp>
        <p:nvSpPr>
          <p:cNvPr id="102" name="Text 20"/>
          <p:cNvSpPr/>
          <p:nvPr/>
        </p:nvSpPr>
        <p:spPr>
          <a:xfrm>
            <a:off x="6318360" y="1700640"/>
            <a:ext cx="2578320" cy="3126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50" spc="-1" strike="noStrike">
                <a:solidFill>
                  <a:srgbClr val="b8c8dc"/>
                </a:solidFill>
                <a:latin typeface="Calibri"/>
                <a:ea typeface="Calibri"/>
              </a:rPr>
              <a:t>Real-time analysis of customer preferences, competition, and market dynamics enables agile pricing adjustments and responsive product optimisation. Customer feedback and transaction data also fuel development of innovative products that address unmet needs — driving sustainable growth.</a:t>
            </a:r>
            <a:endParaRPr b="0" lang="en-US" sz="10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f3a"/>
        </a:solidFill>
      </p:bgPr>
    </p:bg>
    <p:spTree>
      <p:nvGrpSpPr>
        <p:cNvPr id="1" name=""/>
        <p:cNvGrpSpPr/>
        <p:nvPr/>
      </p:nvGrpSpPr>
      <p:grpSpPr>
        <a:xfrm>
          <a:off x="0" y="0"/>
          <a:ext cx="0" cy="0"/>
          <a:chOff x="0" y="0"/>
          <a:chExt cx="0" cy="0"/>
        </a:xfrm>
      </p:grpSpPr>
      <p:sp>
        <p:nvSpPr>
          <p:cNvPr id="103" name="Shape 0"/>
          <p:cNvSpPr/>
          <p:nvPr/>
        </p:nvSpPr>
        <p:spPr>
          <a:xfrm>
            <a:off x="0" y="0"/>
            <a:ext cx="9143640" cy="914040"/>
          </a:xfrm>
          <a:prstGeom prst="rect">
            <a:avLst/>
          </a:prstGeom>
          <a:solidFill>
            <a:srgbClr val="1a3f6f"/>
          </a:solidFill>
          <a:ln w="12700">
            <a:solidFill>
              <a:srgbClr val="1a3f6f"/>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04" name="Shape 1"/>
          <p:cNvSpPr/>
          <p:nvPr/>
        </p:nvSpPr>
        <p:spPr>
          <a:xfrm>
            <a:off x="0" y="914400"/>
            <a:ext cx="9143640" cy="54360"/>
          </a:xfrm>
          <a:prstGeom prst="rect">
            <a:avLst/>
          </a:prstGeom>
          <a:solidFill>
            <a:srgbClr val="e6b020"/>
          </a:solidFill>
          <a:ln w="12700">
            <a:solidFill>
              <a:srgbClr val="e6b020"/>
            </a:solidFill>
            <a:round/>
          </a:ln>
        </p:spPr>
        <p:style>
          <a:lnRef idx="0"/>
          <a:fillRef idx="0"/>
          <a:effectRef idx="0"/>
          <a:fontRef idx="minor"/>
        </p:style>
        <p:txBody>
          <a:bodyPr lIns="90000" rIns="90000" tIns="9720" bIns="9720" anchor="t">
            <a:noAutofit/>
          </a:bodyPr>
          <a:p>
            <a:endParaRPr b="0" lang="en-US" sz="1800" spc="-1" strike="noStrike">
              <a:solidFill>
                <a:srgbClr val="000000"/>
              </a:solidFill>
              <a:latin typeface="Arial"/>
            </a:endParaRPr>
          </a:p>
        </p:txBody>
      </p:sp>
      <p:sp>
        <p:nvSpPr>
          <p:cNvPr id="105" name="Text 2"/>
          <p:cNvSpPr/>
          <p:nvPr/>
        </p:nvSpPr>
        <p:spPr>
          <a:xfrm>
            <a:off x="411480" y="0"/>
            <a:ext cx="8320680" cy="914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400" spc="-1" strike="noStrike">
                <a:solidFill>
                  <a:srgbClr val="f5c842"/>
                </a:solidFill>
                <a:latin typeface="Calibri"/>
                <a:ea typeface="Calibri"/>
              </a:rPr>
              <a:t>Use Cases 07–09: Compliance, Marketing &amp; Asset Intelligence</a:t>
            </a:r>
            <a:endParaRPr b="0" lang="en-US" sz="2400" spc="-1" strike="noStrike">
              <a:solidFill>
                <a:srgbClr val="ffffff"/>
              </a:solidFill>
              <a:latin typeface="Arial"/>
            </a:endParaRPr>
          </a:p>
        </p:txBody>
      </p:sp>
      <p:sp>
        <p:nvSpPr>
          <p:cNvPr id="106" name="Shape 3"/>
          <p:cNvSpPr/>
          <p:nvPr/>
        </p:nvSpPr>
        <p:spPr>
          <a:xfrm>
            <a:off x="320040" y="1042560"/>
            <a:ext cx="8503560" cy="1225080"/>
          </a:xfrm>
          <a:prstGeom prst="rect">
            <a:avLst/>
          </a:prstGeom>
          <a:solidFill>
            <a:srgbClr val="112d52"/>
          </a:solidFill>
          <a:ln w="22860">
            <a:solidFill>
              <a:srgbClr val="c8960b"/>
            </a:solidFill>
            <a:round/>
          </a:ln>
          <a:effectLst>
            <a:outerShdw algn="bl" blurRad="101520" dir="8100000" dist="37674" kx="0" ky="0" rotWithShape="0" sx="100000" sy="100000">
              <a:srgbClr val="000000">
                <a:alpha val="20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07" name="Shape 4"/>
          <p:cNvSpPr/>
          <p:nvPr/>
        </p:nvSpPr>
        <p:spPr>
          <a:xfrm>
            <a:off x="320040" y="1042560"/>
            <a:ext cx="109440" cy="1225080"/>
          </a:xfrm>
          <a:prstGeom prst="rect">
            <a:avLst/>
          </a:prstGeom>
          <a:solidFill>
            <a:srgbClr val="c8960b"/>
          </a:solidFill>
          <a:ln w="12700">
            <a:solidFill>
              <a:srgbClr val="c8960b"/>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08" name="Shape 5"/>
          <p:cNvSpPr/>
          <p:nvPr/>
        </p:nvSpPr>
        <p:spPr>
          <a:xfrm>
            <a:off x="502920" y="1261800"/>
            <a:ext cx="438480" cy="438480"/>
          </a:xfrm>
          <a:prstGeom prst="ellipse">
            <a:avLst/>
          </a:prstGeom>
          <a:solidFill>
            <a:srgbClr val="c8960b"/>
          </a:solidFill>
          <a:ln w="12700">
            <a:solidFill>
              <a:srgbClr val="c8960b"/>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09" name="Text 6"/>
          <p:cNvSpPr/>
          <p:nvPr/>
        </p:nvSpPr>
        <p:spPr>
          <a:xfrm>
            <a:off x="502920" y="1261800"/>
            <a:ext cx="438480" cy="4384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200" spc="-1" strike="noStrike">
                <a:solidFill>
                  <a:srgbClr val="0b1f3a"/>
                </a:solidFill>
                <a:latin typeface="Calibri"/>
              </a:rPr>
              <a:t>07</a:t>
            </a:r>
            <a:endParaRPr b="0" lang="en-US" sz="1200" spc="-1" strike="noStrike">
              <a:solidFill>
                <a:srgbClr val="ffffff"/>
              </a:solidFill>
              <a:latin typeface="Arial"/>
            </a:endParaRPr>
          </a:p>
        </p:txBody>
      </p:sp>
      <p:sp>
        <p:nvSpPr>
          <p:cNvPr id="110" name="Text 7"/>
          <p:cNvSpPr/>
          <p:nvPr/>
        </p:nvSpPr>
        <p:spPr>
          <a:xfrm>
            <a:off x="1051560" y="1115640"/>
            <a:ext cx="4114440" cy="347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50" spc="-1" strike="noStrike">
                <a:solidFill>
                  <a:srgbClr val="f5c842"/>
                </a:solidFill>
                <a:latin typeface="Calibri"/>
                <a:ea typeface="Calibri"/>
              </a:rPr>
              <a:t>⚖️  </a:t>
            </a:r>
            <a:r>
              <a:rPr b="1" lang="en-US" sz="1350" spc="-1" strike="noStrike">
                <a:solidFill>
                  <a:srgbClr val="f5c842"/>
                </a:solidFill>
                <a:latin typeface="Calibri"/>
                <a:ea typeface="Calibri"/>
              </a:rPr>
              <a:t>Automated Regulatory Compliance &amp; Reporting</a:t>
            </a:r>
            <a:endParaRPr b="0" lang="en-US" sz="1350" spc="-1" strike="noStrike">
              <a:solidFill>
                <a:srgbClr val="ffffff"/>
              </a:solidFill>
              <a:latin typeface="Arial"/>
            </a:endParaRPr>
          </a:p>
        </p:txBody>
      </p:sp>
      <p:sp>
        <p:nvSpPr>
          <p:cNvPr id="111" name="Text 8"/>
          <p:cNvSpPr/>
          <p:nvPr/>
        </p:nvSpPr>
        <p:spPr>
          <a:xfrm>
            <a:off x="1051560" y="1481400"/>
            <a:ext cx="7680600" cy="731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50" spc="-1" strike="noStrike">
                <a:solidFill>
                  <a:srgbClr val="b8c8dc"/>
                </a:solidFill>
                <a:latin typeface="Calibri"/>
                <a:ea typeface="Calibri"/>
              </a:rPr>
              <a:t>Continuous real-time monitoring of vast datasets identifies patterns signalling non-compliance before they escalate. Data mining automates adaptation to regulatory changes — updating monitoring parameters, creating audit trails, and ensuring compliance frameworks remain current and effective.</a:t>
            </a:r>
            <a:endParaRPr b="0" lang="en-US" sz="1050" spc="-1" strike="noStrike">
              <a:solidFill>
                <a:srgbClr val="ffffff"/>
              </a:solidFill>
              <a:latin typeface="Arial"/>
            </a:endParaRPr>
          </a:p>
        </p:txBody>
      </p:sp>
      <p:sp>
        <p:nvSpPr>
          <p:cNvPr id="112" name="Shape 9"/>
          <p:cNvSpPr/>
          <p:nvPr/>
        </p:nvSpPr>
        <p:spPr>
          <a:xfrm>
            <a:off x="320040" y="2395800"/>
            <a:ext cx="8503560" cy="1225080"/>
          </a:xfrm>
          <a:prstGeom prst="rect">
            <a:avLst/>
          </a:prstGeom>
          <a:solidFill>
            <a:srgbClr val="112d52"/>
          </a:solidFill>
          <a:ln w="22860">
            <a:solidFill>
              <a:srgbClr val="0d7c7c"/>
            </a:solidFill>
            <a:round/>
          </a:ln>
          <a:effectLst>
            <a:outerShdw algn="bl" blurRad="101520" dir="8100000" dist="37674" kx="0" ky="0" rotWithShape="0" sx="100000" sy="100000">
              <a:srgbClr val="000000">
                <a:alpha val="20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3" name="Shape 10"/>
          <p:cNvSpPr/>
          <p:nvPr/>
        </p:nvSpPr>
        <p:spPr>
          <a:xfrm>
            <a:off x="320040" y="2395800"/>
            <a:ext cx="109440" cy="1225080"/>
          </a:xfrm>
          <a:prstGeom prst="rect">
            <a:avLst/>
          </a:prstGeom>
          <a:solidFill>
            <a:srgbClr val="0d7c7c"/>
          </a:solidFill>
          <a:ln w="12700">
            <a:solidFill>
              <a:srgbClr val="0d7c7c"/>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4" name="Shape 11"/>
          <p:cNvSpPr/>
          <p:nvPr/>
        </p:nvSpPr>
        <p:spPr>
          <a:xfrm>
            <a:off x="502920" y="2615040"/>
            <a:ext cx="438480" cy="438480"/>
          </a:xfrm>
          <a:prstGeom prst="ellipse">
            <a:avLst/>
          </a:prstGeom>
          <a:solidFill>
            <a:srgbClr val="0d7c7c"/>
          </a:solidFill>
          <a:ln w="12700">
            <a:solidFill>
              <a:srgbClr val="0d7c7c"/>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5" name="Text 12"/>
          <p:cNvSpPr/>
          <p:nvPr/>
        </p:nvSpPr>
        <p:spPr>
          <a:xfrm>
            <a:off x="502920" y="2615040"/>
            <a:ext cx="438480" cy="4384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200" spc="-1" strike="noStrike">
                <a:solidFill>
                  <a:srgbClr val="0b1f3a"/>
                </a:solidFill>
                <a:latin typeface="Calibri"/>
              </a:rPr>
              <a:t>08</a:t>
            </a:r>
            <a:endParaRPr b="0" lang="en-US" sz="1200" spc="-1" strike="noStrike">
              <a:solidFill>
                <a:srgbClr val="ffffff"/>
              </a:solidFill>
              <a:latin typeface="Arial"/>
            </a:endParaRPr>
          </a:p>
        </p:txBody>
      </p:sp>
      <p:sp>
        <p:nvSpPr>
          <p:cNvPr id="116" name="Text 13"/>
          <p:cNvSpPr/>
          <p:nvPr/>
        </p:nvSpPr>
        <p:spPr>
          <a:xfrm>
            <a:off x="1051560" y="2468880"/>
            <a:ext cx="4114440" cy="347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50" spc="-1" strike="noStrike">
                <a:solidFill>
                  <a:srgbClr val="14b8a6"/>
                </a:solidFill>
                <a:latin typeface="Calibri"/>
                <a:ea typeface="Calibri"/>
              </a:rPr>
              <a:t>🎯  </a:t>
            </a:r>
            <a:r>
              <a:rPr b="1" lang="en-US" sz="1350" spc="-1" strike="noStrike">
                <a:solidFill>
                  <a:srgbClr val="14b8a6"/>
                </a:solidFill>
                <a:latin typeface="Calibri"/>
                <a:ea typeface="Calibri"/>
              </a:rPr>
              <a:t>Customer Segmentation for Targeted Marketing</a:t>
            </a:r>
            <a:endParaRPr b="0" lang="en-US" sz="1350" spc="-1" strike="noStrike">
              <a:solidFill>
                <a:srgbClr val="ffffff"/>
              </a:solidFill>
              <a:latin typeface="Arial"/>
            </a:endParaRPr>
          </a:p>
        </p:txBody>
      </p:sp>
      <p:sp>
        <p:nvSpPr>
          <p:cNvPr id="117" name="Text 14"/>
          <p:cNvSpPr/>
          <p:nvPr/>
        </p:nvSpPr>
        <p:spPr>
          <a:xfrm>
            <a:off x="1051560" y="2834640"/>
            <a:ext cx="7680600" cy="731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50" spc="-1" strike="noStrike">
                <a:solidFill>
                  <a:srgbClr val="b8c8dc"/>
                </a:solidFill>
                <a:latin typeface="Calibri"/>
                <a:ea typeface="Calibri"/>
              </a:rPr>
              <a:t>Segmenting customers by behaviour, demographics, and preferences through transaction histories and engagement patterns enables FIs to deliver the right content to the right customer through their preferred channel — fostering highly effective and engaging campaigns.</a:t>
            </a:r>
            <a:endParaRPr b="0" lang="en-US" sz="1050" spc="-1" strike="noStrike">
              <a:solidFill>
                <a:srgbClr val="ffffff"/>
              </a:solidFill>
              <a:latin typeface="Arial"/>
            </a:endParaRPr>
          </a:p>
        </p:txBody>
      </p:sp>
      <p:sp>
        <p:nvSpPr>
          <p:cNvPr id="118" name="Shape 15"/>
          <p:cNvSpPr/>
          <p:nvPr/>
        </p:nvSpPr>
        <p:spPr>
          <a:xfrm>
            <a:off x="320040" y="3749040"/>
            <a:ext cx="8503560" cy="1225080"/>
          </a:xfrm>
          <a:prstGeom prst="rect">
            <a:avLst/>
          </a:prstGeom>
          <a:solidFill>
            <a:srgbClr val="112d52"/>
          </a:solidFill>
          <a:ln w="22860">
            <a:solidFill>
              <a:srgbClr val="1d5fa6"/>
            </a:solidFill>
            <a:round/>
          </a:ln>
          <a:effectLst>
            <a:outerShdw algn="bl" blurRad="101520" dir="8100000" dist="37674" kx="0" ky="0" rotWithShape="0" sx="100000" sy="100000">
              <a:srgbClr val="000000">
                <a:alpha val="20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9" name="Shape 16"/>
          <p:cNvSpPr/>
          <p:nvPr/>
        </p:nvSpPr>
        <p:spPr>
          <a:xfrm>
            <a:off x="320040" y="3749040"/>
            <a:ext cx="109440" cy="1225080"/>
          </a:xfrm>
          <a:prstGeom prst="rect">
            <a:avLst/>
          </a:prstGeom>
          <a:solidFill>
            <a:srgbClr val="1d5fa6"/>
          </a:solidFill>
          <a:ln w="12700">
            <a:solidFill>
              <a:srgbClr val="1d5fa6"/>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0" name="Shape 17"/>
          <p:cNvSpPr/>
          <p:nvPr/>
        </p:nvSpPr>
        <p:spPr>
          <a:xfrm>
            <a:off x="502920" y="3968640"/>
            <a:ext cx="438480" cy="438480"/>
          </a:xfrm>
          <a:prstGeom prst="ellipse">
            <a:avLst/>
          </a:prstGeom>
          <a:solidFill>
            <a:srgbClr val="1d5fa6"/>
          </a:solidFill>
          <a:ln w="12700">
            <a:solidFill>
              <a:srgbClr val="1d5fa6"/>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1" name="Text 18"/>
          <p:cNvSpPr/>
          <p:nvPr/>
        </p:nvSpPr>
        <p:spPr>
          <a:xfrm>
            <a:off x="502920" y="3968640"/>
            <a:ext cx="438480" cy="4384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200" spc="-1" strike="noStrike">
                <a:solidFill>
                  <a:srgbClr val="0b1f3a"/>
                </a:solidFill>
                <a:latin typeface="Calibri"/>
              </a:rPr>
              <a:t>09</a:t>
            </a:r>
            <a:endParaRPr b="0" lang="en-US" sz="1200" spc="-1" strike="noStrike">
              <a:solidFill>
                <a:srgbClr val="ffffff"/>
              </a:solidFill>
              <a:latin typeface="Arial"/>
            </a:endParaRPr>
          </a:p>
        </p:txBody>
      </p:sp>
      <p:sp>
        <p:nvSpPr>
          <p:cNvPr id="122" name="Text 19"/>
          <p:cNvSpPr/>
          <p:nvPr/>
        </p:nvSpPr>
        <p:spPr>
          <a:xfrm>
            <a:off x="1051560" y="3822120"/>
            <a:ext cx="4114440" cy="347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50" spc="-1" strike="noStrike">
                <a:solidFill>
                  <a:srgbClr val="bad7f5"/>
                </a:solidFill>
                <a:latin typeface="Calibri"/>
                <a:ea typeface="Calibri"/>
              </a:rPr>
              <a:t>📁  </a:t>
            </a:r>
            <a:r>
              <a:rPr b="1" lang="en-US" sz="1350" spc="-1" strike="noStrike">
                <a:solidFill>
                  <a:srgbClr val="bad7f5"/>
                </a:solidFill>
                <a:latin typeface="Calibri"/>
                <a:ea typeface="Calibri"/>
              </a:rPr>
              <a:t>Predictive Analytics for Asset Management</a:t>
            </a:r>
            <a:endParaRPr b="0" lang="en-US" sz="1350" spc="-1" strike="noStrike">
              <a:solidFill>
                <a:srgbClr val="ffffff"/>
              </a:solidFill>
              <a:latin typeface="Arial"/>
            </a:endParaRPr>
          </a:p>
        </p:txBody>
      </p:sp>
      <p:sp>
        <p:nvSpPr>
          <p:cNvPr id="123" name="Text 20"/>
          <p:cNvSpPr/>
          <p:nvPr/>
        </p:nvSpPr>
        <p:spPr>
          <a:xfrm>
            <a:off x="1051560" y="4187880"/>
            <a:ext cx="7680600" cy="731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50" spc="-1" strike="noStrike">
                <a:solidFill>
                  <a:srgbClr val="b8c8dc"/>
                </a:solidFill>
                <a:latin typeface="Calibri"/>
                <a:ea typeface="Calibri"/>
              </a:rPr>
              <a:t>Predictive modelling on historical market data unveils asset performance patterns. Real-time data analysis enables dynamic portfolio adjustments aligned to current market opportunities — helping asset managers navigate financial complexity with agility and precision.</a:t>
            </a:r>
            <a:endParaRPr b="0" lang="en-US" sz="10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2f9"/>
        </a:solidFill>
      </p:bgPr>
    </p:bg>
    <p:spTree>
      <p:nvGrpSpPr>
        <p:cNvPr id="1" name=""/>
        <p:cNvGrpSpPr/>
        <p:nvPr/>
      </p:nvGrpSpPr>
      <p:grpSpPr>
        <a:xfrm>
          <a:off x="0" y="0"/>
          <a:ext cx="0" cy="0"/>
          <a:chOff x="0" y="0"/>
          <a:chExt cx="0" cy="0"/>
        </a:xfrm>
      </p:grpSpPr>
      <p:sp>
        <p:nvSpPr>
          <p:cNvPr id="124" name="Shape 0"/>
          <p:cNvSpPr/>
          <p:nvPr/>
        </p:nvSpPr>
        <p:spPr>
          <a:xfrm>
            <a:off x="0" y="0"/>
            <a:ext cx="9143640" cy="959760"/>
          </a:xfrm>
          <a:prstGeom prst="rect">
            <a:avLst/>
          </a:prstGeom>
          <a:solidFill>
            <a:srgbClr val="0b1f3a"/>
          </a:solidFill>
          <a:ln w="12700">
            <a:solidFill>
              <a:srgbClr val="0b1f3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5" name="Shape 1"/>
          <p:cNvSpPr/>
          <p:nvPr/>
        </p:nvSpPr>
        <p:spPr>
          <a:xfrm>
            <a:off x="0" y="960120"/>
            <a:ext cx="9143640" cy="63720"/>
          </a:xfrm>
          <a:prstGeom prst="rect">
            <a:avLst/>
          </a:prstGeom>
          <a:solidFill>
            <a:srgbClr val="14b8a6"/>
          </a:solidFill>
          <a:ln w="12700">
            <a:solidFill>
              <a:srgbClr val="14b8a6"/>
            </a:solidFill>
            <a:round/>
          </a:ln>
        </p:spPr>
        <p:style>
          <a:lnRef idx="0"/>
          <a:fillRef idx="0"/>
          <a:effectRef idx="0"/>
          <a:fontRef idx="minor"/>
        </p:style>
        <p:txBody>
          <a:bodyPr lIns="90000" rIns="90000" tIns="19080" bIns="19080" anchor="t">
            <a:noAutofit/>
          </a:bodyPr>
          <a:p>
            <a:endParaRPr b="0" lang="en-US" sz="1800" spc="-1" strike="noStrike">
              <a:solidFill>
                <a:srgbClr val="ffffff"/>
              </a:solidFill>
              <a:latin typeface="Arial"/>
            </a:endParaRPr>
          </a:p>
        </p:txBody>
      </p:sp>
      <p:sp>
        <p:nvSpPr>
          <p:cNvPr id="126" name="Text 2"/>
          <p:cNvSpPr/>
          <p:nvPr/>
        </p:nvSpPr>
        <p:spPr>
          <a:xfrm>
            <a:off x="411480" y="0"/>
            <a:ext cx="8320680" cy="9597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600" spc="-1" strike="noStrike">
                <a:solidFill>
                  <a:srgbClr val="f8faff"/>
                </a:solidFill>
                <a:latin typeface="Calibri"/>
                <a:ea typeface="Calibri"/>
              </a:rPr>
              <a:t>Use Cases 10–12: Personalisation, Efficiency &amp; Insights</a:t>
            </a:r>
            <a:endParaRPr b="0" lang="en-US" sz="2600" spc="-1" strike="noStrike">
              <a:solidFill>
                <a:srgbClr val="000000"/>
              </a:solidFill>
              <a:latin typeface="Arial"/>
            </a:endParaRPr>
          </a:p>
        </p:txBody>
      </p:sp>
      <p:sp>
        <p:nvSpPr>
          <p:cNvPr id="127" name="Shape 3"/>
          <p:cNvSpPr/>
          <p:nvPr/>
        </p:nvSpPr>
        <p:spPr>
          <a:xfrm>
            <a:off x="320040" y="1170360"/>
            <a:ext cx="2797560" cy="3748680"/>
          </a:xfrm>
          <a:prstGeom prst="rect">
            <a:avLst/>
          </a:prstGeom>
          <a:solidFill>
            <a:srgbClr val="0b1f3a"/>
          </a:solidFill>
          <a:ln w="22860">
            <a:solidFill>
              <a:srgbClr val="0d7c7c"/>
            </a:solidFill>
            <a:round/>
          </a:ln>
          <a:effectLst>
            <a:outerShdw algn="bl" blurRad="101520" dir="8100000" dist="37674" kx="0" ky="0" rotWithShape="0" sx="100000" sy="100000">
              <a:srgbClr val="000000">
                <a:alpha val="20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8" name="Shape 4"/>
          <p:cNvSpPr/>
          <p:nvPr/>
        </p:nvSpPr>
        <p:spPr>
          <a:xfrm>
            <a:off x="320040" y="1170360"/>
            <a:ext cx="2797560" cy="475200"/>
          </a:xfrm>
          <a:prstGeom prst="rect">
            <a:avLst/>
          </a:prstGeom>
          <a:solidFill>
            <a:srgbClr val="0d7c7c"/>
          </a:solidFill>
          <a:ln w="12700">
            <a:solidFill>
              <a:srgbClr val="0d7c7c"/>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9" name="Shape 5"/>
          <p:cNvSpPr/>
          <p:nvPr/>
        </p:nvSpPr>
        <p:spPr>
          <a:xfrm>
            <a:off x="429840" y="1261800"/>
            <a:ext cx="328680" cy="328680"/>
          </a:xfrm>
          <a:prstGeom prst="ellipse">
            <a:avLst/>
          </a:prstGeom>
          <a:solidFill>
            <a:srgbClr val="0b1f3a"/>
          </a:solidFill>
          <a:ln w="12700">
            <a:solidFill>
              <a:srgbClr val="0b1f3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30" name="Text 6"/>
          <p:cNvSpPr/>
          <p:nvPr/>
        </p:nvSpPr>
        <p:spPr>
          <a:xfrm>
            <a:off x="429840" y="1261800"/>
            <a:ext cx="328680" cy="328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000" spc="-1" strike="noStrike">
                <a:solidFill>
                  <a:srgbClr val="0d7c7c"/>
                </a:solidFill>
                <a:latin typeface="Calibri"/>
              </a:rPr>
              <a:t>10</a:t>
            </a:r>
            <a:endParaRPr b="0" lang="en-US" sz="1000" spc="-1" strike="noStrike">
              <a:solidFill>
                <a:srgbClr val="000000"/>
              </a:solidFill>
              <a:latin typeface="Arial"/>
            </a:endParaRPr>
          </a:p>
        </p:txBody>
      </p:sp>
      <p:sp>
        <p:nvSpPr>
          <p:cNvPr id="131" name="Text 7"/>
          <p:cNvSpPr/>
          <p:nvPr/>
        </p:nvSpPr>
        <p:spPr>
          <a:xfrm>
            <a:off x="831960" y="1170360"/>
            <a:ext cx="2230920" cy="475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0b1f3a"/>
                </a:solidFill>
                <a:latin typeface="Calibri"/>
                <a:ea typeface="Calibri"/>
              </a:rPr>
              <a:t>👤  </a:t>
            </a:r>
            <a:r>
              <a:rPr b="1" lang="en-US" sz="1150" spc="-1" strike="noStrike">
                <a:solidFill>
                  <a:srgbClr val="0b1f3a"/>
                </a:solidFill>
                <a:latin typeface="Calibri"/>
                <a:ea typeface="Calibri"/>
              </a:rPr>
              <a:t>Personalised Financial Planning &amp; Advisory</a:t>
            </a:r>
            <a:endParaRPr b="0" lang="en-US" sz="1150" spc="-1" strike="noStrike">
              <a:solidFill>
                <a:srgbClr val="000000"/>
              </a:solidFill>
              <a:latin typeface="Arial"/>
            </a:endParaRPr>
          </a:p>
        </p:txBody>
      </p:sp>
      <p:sp>
        <p:nvSpPr>
          <p:cNvPr id="132" name="Text 8"/>
          <p:cNvSpPr/>
          <p:nvPr/>
        </p:nvSpPr>
        <p:spPr>
          <a:xfrm>
            <a:off x="429840" y="1700640"/>
            <a:ext cx="2578320" cy="3126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50" spc="-1" strike="noStrike">
                <a:solidFill>
                  <a:srgbClr val="b8c8dc"/>
                </a:solidFill>
                <a:latin typeface="Calibri"/>
                <a:ea typeface="Calibri"/>
              </a:rPr>
              <a:t>In-depth insights into customer behaviour and preferences enable tailored financial planning advice and investment recommendations. Identifying preferred investment vehicles, risk tolerance, and individual financial goals aligns every recommendation with the customer's unique profile.</a:t>
            </a:r>
            <a:endParaRPr b="0" lang="en-US" sz="1050" spc="-1" strike="noStrike">
              <a:solidFill>
                <a:srgbClr val="000000"/>
              </a:solidFill>
              <a:latin typeface="Arial"/>
            </a:endParaRPr>
          </a:p>
        </p:txBody>
      </p:sp>
      <p:sp>
        <p:nvSpPr>
          <p:cNvPr id="133" name="Shape 9"/>
          <p:cNvSpPr/>
          <p:nvPr/>
        </p:nvSpPr>
        <p:spPr>
          <a:xfrm>
            <a:off x="3264480" y="1170360"/>
            <a:ext cx="2797560" cy="3748680"/>
          </a:xfrm>
          <a:prstGeom prst="rect">
            <a:avLst/>
          </a:prstGeom>
          <a:solidFill>
            <a:srgbClr val="0b1f3a"/>
          </a:solidFill>
          <a:ln w="22860">
            <a:solidFill>
              <a:srgbClr val="c8960b"/>
            </a:solidFill>
            <a:round/>
          </a:ln>
          <a:effectLst>
            <a:outerShdw algn="bl" blurRad="101520" dir="8100000" dist="37674" kx="0" ky="0" rotWithShape="0" sx="100000" sy="100000">
              <a:srgbClr val="000000">
                <a:alpha val="20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34" name="Shape 10"/>
          <p:cNvSpPr/>
          <p:nvPr/>
        </p:nvSpPr>
        <p:spPr>
          <a:xfrm>
            <a:off x="3264480" y="1170360"/>
            <a:ext cx="2797560" cy="475200"/>
          </a:xfrm>
          <a:prstGeom prst="rect">
            <a:avLst/>
          </a:prstGeom>
          <a:solidFill>
            <a:srgbClr val="c8960b"/>
          </a:solidFill>
          <a:ln w="12700">
            <a:solidFill>
              <a:srgbClr val="c8960b"/>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35" name="Shape 11"/>
          <p:cNvSpPr/>
          <p:nvPr/>
        </p:nvSpPr>
        <p:spPr>
          <a:xfrm>
            <a:off x="3374280" y="1261800"/>
            <a:ext cx="328680" cy="328680"/>
          </a:xfrm>
          <a:prstGeom prst="ellipse">
            <a:avLst/>
          </a:prstGeom>
          <a:solidFill>
            <a:srgbClr val="0b1f3a"/>
          </a:solidFill>
          <a:ln w="12700">
            <a:solidFill>
              <a:srgbClr val="0b1f3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36" name="Text 12"/>
          <p:cNvSpPr/>
          <p:nvPr/>
        </p:nvSpPr>
        <p:spPr>
          <a:xfrm>
            <a:off x="3374280" y="1261800"/>
            <a:ext cx="328680" cy="328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000" spc="-1" strike="noStrike">
                <a:solidFill>
                  <a:srgbClr val="c8960b"/>
                </a:solidFill>
                <a:latin typeface="Calibri"/>
              </a:rPr>
              <a:t>11</a:t>
            </a:r>
            <a:endParaRPr b="0" lang="en-US" sz="1000" spc="-1" strike="noStrike">
              <a:solidFill>
                <a:srgbClr val="000000"/>
              </a:solidFill>
              <a:latin typeface="Arial"/>
            </a:endParaRPr>
          </a:p>
        </p:txBody>
      </p:sp>
      <p:sp>
        <p:nvSpPr>
          <p:cNvPr id="137" name="Text 13"/>
          <p:cNvSpPr/>
          <p:nvPr/>
        </p:nvSpPr>
        <p:spPr>
          <a:xfrm>
            <a:off x="3776400" y="1170360"/>
            <a:ext cx="2230920" cy="475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0b1f3a"/>
                </a:solidFill>
                <a:latin typeface="Calibri"/>
                <a:ea typeface="Calibri"/>
              </a:rPr>
              <a:t>⚡  </a:t>
            </a:r>
            <a:r>
              <a:rPr b="1" lang="en-US" sz="1150" spc="-1" strike="noStrike">
                <a:solidFill>
                  <a:srgbClr val="0b1f3a"/>
                </a:solidFill>
                <a:latin typeface="Calibri"/>
                <a:ea typeface="Calibri"/>
              </a:rPr>
              <a:t>Operational Efficiency &amp; Cost Reduction</a:t>
            </a:r>
            <a:endParaRPr b="0" lang="en-US" sz="1150" spc="-1" strike="noStrike">
              <a:solidFill>
                <a:srgbClr val="000000"/>
              </a:solidFill>
              <a:latin typeface="Arial"/>
            </a:endParaRPr>
          </a:p>
        </p:txBody>
      </p:sp>
      <p:sp>
        <p:nvSpPr>
          <p:cNvPr id="138" name="Text 14"/>
          <p:cNvSpPr/>
          <p:nvPr/>
        </p:nvSpPr>
        <p:spPr>
          <a:xfrm>
            <a:off x="3374280" y="1700640"/>
            <a:ext cx="2578320" cy="3126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50" spc="-1" strike="noStrike">
                <a:solidFill>
                  <a:srgbClr val="b8c8dc"/>
                </a:solidFill>
                <a:latin typeface="Calibri"/>
                <a:ea typeface="Calibri"/>
              </a:rPr>
              <a:t>Identifying inefficiencies in operational processes, discovering cost optimisation opportunities, and automating routine tasks collectively enhance bottom-line efficiency. Continuous improvement in workflows positions FIs for sustained operational excellence in an evolving landscape.</a:t>
            </a:r>
            <a:endParaRPr b="0" lang="en-US" sz="1050" spc="-1" strike="noStrike">
              <a:solidFill>
                <a:srgbClr val="000000"/>
              </a:solidFill>
              <a:latin typeface="Arial"/>
            </a:endParaRPr>
          </a:p>
        </p:txBody>
      </p:sp>
      <p:sp>
        <p:nvSpPr>
          <p:cNvPr id="139" name="Shape 15"/>
          <p:cNvSpPr/>
          <p:nvPr/>
        </p:nvSpPr>
        <p:spPr>
          <a:xfrm>
            <a:off x="6208920" y="1170360"/>
            <a:ext cx="2797560" cy="3748680"/>
          </a:xfrm>
          <a:prstGeom prst="rect">
            <a:avLst/>
          </a:prstGeom>
          <a:solidFill>
            <a:srgbClr val="0b1f3a"/>
          </a:solidFill>
          <a:ln w="22860">
            <a:solidFill>
              <a:srgbClr val="1d5fa6"/>
            </a:solidFill>
            <a:round/>
          </a:ln>
          <a:effectLst>
            <a:outerShdw algn="bl" blurRad="101520" dir="8100000" dist="37674" kx="0" ky="0" rotWithShape="0" sx="100000" sy="100000">
              <a:srgbClr val="000000">
                <a:alpha val="20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0" name="Shape 16"/>
          <p:cNvSpPr/>
          <p:nvPr/>
        </p:nvSpPr>
        <p:spPr>
          <a:xfrm>
            <a:off x="6208920" y="1170360"/>
            <a:ext cx="2797560" cy="475200"/>
          </a:xfrm>
          <a:prstGeom prst="rect">
            <a:avLst/>
          </a:prstGeom>
          <a:solidFill>
            <a:srgbClr val="1d5fa6"/>
          </a:solidFill>
          <a:ln w="12700">
            <a:solidFill>
              <a:srgbClr val="1d5fa6"/>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1" name="Shape 17"/>
          <p:cNvSpPr/>
          <p:nvPr/>
        </p:nvSpPr>
        <p:spPr>
          <a:xfrm>
            <a:off x="6318360" y="1261800"/>
            <a:ext cx="328680" cy="328680"/>
          </a:xfrm>
          <a:prstGeom prst="ellipse">
            <a:avLst/>
          </a:prstGeom>
          <a:solidFill>
            <a:srgbClr val="0b1f3a"/>
          </a:solidFill>
          <a:ln w="12700">
            <a:solidFill>
              <a:srgbClr val="0b1f3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2" name="Text 18"/>
          <p:cNvSpPr/>
          <p:nvPr/>
        </p:nvSpPr>
        <p:spPr>
          <a:xfrm>
            <a:off x="6318360" y="1261800"/>
            <a:ext cx="328680" cy="328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000" spc="-1" strike="noStrike">
                <a:solidFill>
                  <a:srgbClr val="1d5fa6"/>
                </a:solidFill>
                <a:latin typeface="Calibri"/>
              </a:rPr>
              <a:t>12</a:t>
            </a:r>
            <a:endParaRPr b="0" lang="en-US" sz="1000" spc="-1" strike="noStrike">
              <a:solidFill>
                <a:srgbClr val="000000"/>
              </a:solidFill>
              <a:latin typeface="Arial"/>
            </a:endParaRPr>
          </a:p>
        </p:txBody>
      </p:sp>
      <p:sp>
        <p:nvSpPr>
          <p:cNvPr id="143" name="Text 19"/>
          <p:cNvSpPr/>
          <p:nvPr/>
        </p:nvSpPr>
        <p:spPr>
          <a:xfrm>
            <a:off x="6720840" y="1170360"/>
            <a:ext cx="2230920" cy="475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0b1f3a"/>
                </a:solidFill>
                <a:latin typeface="Calibri"/>
                <a:ea typeface="Calibri"/>
              </a:rPr>
              <a:t>💬  </a:t>
            </a:r>
            <a:r>
              <a:rPr b="1" lang="en-US" sz="1150" spc="-1" strike="noStrike">
                <a:solidFill>
                  <a:srgbClr val="0b1f3a"/>
                </a:solidFill>
                <a:latin typeface="Calibri"/>
                <a:ea typeface="Calibri"/>
              </a:rPr>
              <a:t>Sentiment Analysis for Customer Feedback</a:t>
            </a:r>
            <a:endParaRPr b="0" lang="en-US" sz="1150" spc="-1" strike="noStrike">
              <a:solidFill>
                <a:srgbClr val="000000"/>
              </a:solidFill>
              <a:latin typeface="Arial"/>
            </a:endParaRPr>
          </a:p>
        </p:txBody>
      </p:sp>
      <p:sp>
        <p:nvSpPr>
          <p:cNvPr id="144" name="Text 20"/>
          <p:cNvSpPr/>
          <p:nvPr/>
        </p:nvSpPr>
        <p:spPr>
          <a:xfrm>
            <a:off x="6318360" y="1700640"/>
            <a:ext cx="2578320" cy="3126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50" spc="-1" strike="noStrike">
                <a:solidFill>
                  <a:srgbClr val="b8c8dc"/>
                </a:solidFill>
                <a:latin typeface="Calibri"/>
                <a:ea typeface="Calibri"/>
              </a:rPr>
              <a:t>Analysing vast datasets of customer opinions reveals satisfaction trends and areas of concern. This data-driven approach gauges the overall customer experience, identifies specific improvement areas, and enables proactive responses to evolving expectations — fortifying market position.</a:t>
            </a:r>
            <a:endParaRPr b="0" lang="en-US" sz="10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f3a"/>
        </a:solidFill>
      </p:bgPr>
    </p:bg>
    <p:spTree>
      <p:nvGrpSpPr>
        <p:cNvPr id="1" name=""/>
        <p:cNvGrpSpPr/>
        <p:nvPr/>
      </p:nvGrpSpPr>
      <p:grpSpPr>
        <a:xfrm>
          <a:off x="0" y="0"/>
          <a:ext cx="0" cy="0"/>
          <a:chOff x="0" y="0"/>
          <a:chExt cx="0" cy="0"/>
        </a:xfrm>
      </p:grpSpPr>
      <p:sp>
        <p:nvSpPr>
          <p:cNvPr id="145" name="Shape 0"/>
          <p:cNvSpPr/>
          <p:nvPr/>
        </p:nvSpPr>
        <p:spPr>
          <a:xfrm>
            <a:off x="0" y="0"/>
            <a:ext cx="9143640" cy="914040"/>
          </a:xfrm>
          <a:prstGeom prst="rect">
            <a:avLst/>
          </a:prstGeom>
          <a:solidFill>
            <a:srgbClr val="e6b020"/>
          </a:solidFill>
          <a:ln w="12700">
            <a:solidFill>
              <a:srgbClr val="e6b020"/>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46" name="Shape 1"/>
          <p:cNvSpPr/>
          <p:nvPr/>
        </p:nvSpPr>
        <p:spPr>
          <a:xfrm>
            <a:off x="0" y="914400"/>
            <a:ext cx="9143640" cy="54360"/>
          </a:xfrm>
          <a:prstGeom prst="rect">
            <a:avLst/>
          </a:prstGeom>
          <a:solidFill>
            <a:srgbClr val="14b8a6"/>
          </a:solidFill>
          <a:ln w="12700">
            <a:solidFill>
              <a:srgbClr val="14b8a6"/>
            </a:solidFill>
            <a:round/>
          </a:ln>
        </p:spPr>
        <p:style>
          <a:lnRef idx="0"/>
          <a:fillRef idx="0"/>
          <a:effectRef idx="0"/>
          <a:fontRef idx="minor"/>
        </p:style>
        <p:txBody>
          <a:bodyPr lIns="90000" rIns="90000" tIns="9720" bIns="9720" anchor="t">
            <a:noAutofit/>
          </a:bodyPr>
          <a:p>
            <a:endParaRPr b="0" lang="en-US" sz="1800" spc="-1" strike="noStrike">
              <a:solidFill>
                <a:srgbClr val="ffffff"/>
              </a:solidFill>
              <a:latin typeface="Arial"/>
            </a:endParaRPr>
          </a:p>
        </p:txBody>
      </p:sp>
      <p:sp>
        <p:nvSpPr>
          <p:cNvPr id="147" name="Text 2"/>
          <p:cNvSpPr/>
          <p:nvPr/>
        </p:nvSpPr>
        <p:spPr>
          <a:xfrm>
            <a:off x="411480" y="0"/>
            <a:ext cx="8320680" cy="914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0b1f3a"/>
                </a:solidFill>
                <a:latin typeface="Calibri"/>
                <a:ea typeface="Calibri"/>
              </a:rPr>
              <a:t>All 12 Use Cases at a Glance</a:t>
            </a:r>
            <a:endParaRPr b="0" lang="en-US" sz="2800" spc="-1" strike="noStrike">
              <a:solidFill>
                <a:srgbClr val="ffffff"/>
              </a:solidFill>
              <a:latin typeface="Arial"/>
            </a:endParaRPr>
          </a:p>
        </p:txBody>
      </p:sp>
      <p:sp>
        <p:nvSpPr>
          <p:cNvPr id="148" name="Shape 3"/>
          <p:cNvSpPr/>
          <p:nvPr/>
        </p:nvSpPr>
        <p:spPr>
          <a:xfrm>
            <a:off x="255960" y="1051560"/>
            <a:ext cx="2048040" cy="1170000"/>
          </a:xfrm>
          <a:prstGeom prst="rect">
            <a:avLst/>
          </a:prstGeom>
          <a:solidFill>
            <a:srgbClr val="112d52"/>
          </a:solidFill>
          <a:ln w="19050">
            <a:solidFill>
              <a:srgbClr val="1d5fa6"/>
            </a:solidFill>
            <a:round/>
          </a:ln>
          <a:effectLst>
            <a:outerShdw algn="bl" blurRad="101520" dir="8100000" dist="37674" kx="0" ky="0" rotWithShape="0" sx="100000" sy="100000">
              <a:srgbClr val="000000">
                <a:alpha val="20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9" name="Shape 4"/>
          <p:cNvSpPr/>
          <p:nvPr/>
        </p:nvSpPr>
        <p:spPr>
          <a:xfrm>
            <a:off x="255960" y="1051560"/>
            <a:ext cx="2048040" cy="91080"/>
          </a:xfrm>
          <a:prstGeom prst="rect">
            <a:avLst/>
          </a:prstGeom>
          <a:solidFill>
            <a:srgbClr val="1d5fa6"/>
          </a:solidFill>
          <a:ln w="12700">
            <a:solidFill>
              <a:srgbClr val="1d5fa6"/>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50" name="Shape 5"/>
          <p:cNvSpPr/>
          <p:nvPr/>
        </p:nvSpPr>
        <p:spPr>
          <a:xfrm>
            <a:off x="365760" y="1216080"/>
            <a:ext cx="347040" cy="347040"/>
          </a:xfrm>
          <a:prstGeom prst="ellipse">
            <a:avLst/>
          </a:prstGeom>
          <a:solidFill>
            <a:srgbClr val="1d5fa6"/>
          </a:solidFill>
          <a:ln w="12700">
            <a:solidFill>
              <a:srgbClr val="1d5fa6"/>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51" name="Text 6"/>
          <p:cNvSpPr/>
          <p:nvPr/>
        </p:nvSpPr>
        <p:spPr>
          <a:xfrm>
            <a:off x="365760" y="1216080"/>
            <a:ext cx="347040" cy="347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000" spc="-1" strike="noStrike">
                <a:solidFill>
                  <a:srgbClr val="0b1f3a"/>
                </a:solidFill>
                <a:latin typeface="Calibri"/>
              </a:rPr>
              <a:t>01</a:t>
            </a:r>
            <a:endParaRPr b="0" lang="en-US" sz="1000" spc="-1" strike="noStrike">
              <a:solidFill>
                <a:srgbClr val="ffffff"/>
              </a:solidFill>
              <a:latin typeface="Arial"/>
            </a:endParaRPr>
          </a:p>
        </p:txBody>
      </p:sp>
      <p:sp>
        <p:nvSpPr>
          <p:cNvPr id="152" name="Text 7"/>
          <p:cNvSpPr/>
          <p:nvPr/>
        </p:nvSpPr>
        <p:spPr>
          <a:xfrm>
            <a:off x="768240" y="1216080"/>
            <a:ext cx="456840" cy="347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600" spc="-1" strike="noStrike">
                <a:solidFill>
                  <a:srgbClr val="000000"/>
                </a:solidFill>
                <a:latin typeface="Calibri"/>
              </a:rPr>
              <a:t>💳</a:t>
            </a:r>
            <a:endParaRPr b="0" lang="en-US" sz="1600" spc="-1" strike="noStrike">
              <a:solidFill>
                <a:srgbClr val="ffffff"/>
              </a:solidFill>
              <a:latin typeface="Arial"/>
            </a:endParaRPr>
          </a:p>
        </p:txBody>
      </p:sp>
      <p:sp>
        <p:nvSpPr>
          <p:cNvPr id="153" name="Text 8"/>
          <p:cNvSpPr/>
          <p:nvPr/>
        </p:nvSpPr>
        <p:spPr>
          <a:xfrm>
            <a:off x="365760" y="1636920"/>
            <a:ext cx="1828440" cy="511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950" spc="-1" strike="noStrike">
                <a:solidFill>
                  <a:srgbClr val="bad7f5"/>
                </a:solidFill>
                <a:latin typeface="Calibri"/>
                <a:ea typeface="Calibri"/>
              </a:rPr>
              <a:t>Credit Scoring &amp; Risk Assessment</a:t>
            </a:r>
            <a:endParaRPr b="0" lang="en-US" sz="950" spc="-1" strike="noStrike">
              <a:solidFill>
                <a:srgbClr val="ffffff"/>
              </a:solidFill>
              <a:latin typeface="Arial"/>
            </a:endParaRPr>
          </a:p>
        </p:txBody>
      </p:sp>
      <p:sp>
        <p:nvSpPr>
          <p:cNvPr id="154" name="Shape 9"/>
          <p:cNvSpPr/>
          <p:nvPr/>
        </p:nvSpPr>
        <p:spPr>
          <a:xfrm>
            <a:off x="2432160" y="1051560"/>
            <a:ext cx="2048040" cy="1170000"/>
          </a:xfrm>
          <a:prstGeom prst="rect">
            <a:avLst/>
          </a:prstGeom>
          <a:solidFill>
            <a:srgbClr val="112d52"/>
          </a:solidFill>
          <a:ln w="19050">
            <a:solidFill>
              <a:srgbClr val="e74c3c"/>
            </a:solidFill>
            <a:round/>
          </a:ln>
          <a:effectLst>
            <a:outerShdw algn="bl" blurRad="101520" dir="8100000" dist="37674" kx="0" ky="0" rotWithShape="0" sx="100000" sy="100000">
              <a:srgbClr val="000000">
                <a:alpha val="20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55" name="Shape 10"/>
          <p:cNvSpPr/>
          <p:nvPr/>
        </p:nvSpPr>
        <p:spPr>
          <a:xfrm>
            <a:off x="2432160" y="1051560"/>
            <a:ext cx="2048040" cy="91080"/>
          </a:xfrm>
          <a:prstGeom prst="rect">
            <a:avLst/>
          </a:prstGeom>
          <a:solidFill>
            <a:srgbClr val="e74c3c"/>
          </a:solidFill>
          <a:ln w="12700">
            <a:solidFill>
              <a:srgbClr val="e74c3c"/>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56" name="Shape 11"/>
          <p:cNvSpPr/>
          <p:nvPr/>
        </p:nvSpPr>
        <p:spPr>
          <a:xfrm>
            <a:off x="2541960" y="1216080"/>
            <a:ext cx="347040" cy="347040"/>
          </a:xfrm>
          <a:prstGeom prst="ellipse">
            <a:avLst/>
          </a:prstGeom>
          <a:solidFill>
            <a:srgbClr val="e74c3c"/>
          </a:solidFill>
          <a:ln w="12700">
            <a:solidFill>
              <a:srgbClr val="e74c3c"/>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57" name="Text 12"/>
          <p:cNvSpPr/>
          <p:nvPr/>
        </p:nvSpPr>
        <p:spPr>
          <a:xfrm>
            <a:off x="2541960" y="1216080"/>
            <a:ext cx="347040" cy="347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000" spc="-1" strike="noStrike">
                <a:solidFill>
                  <a:srgbClr val="0b1f3a"/>
                </a:solidFill>
                <a:latin typeface="Calibri"/>
              </a:rPr>
              <a:t>02</a:t>
            </a:r>
            <a:endParaRPr b="0" lang="en-US" sz="1000" spc="-1" strike="noStrike">
              <a:solidFill>
                <a:srgbClr val="ffffff"/>
              </a:solidFill>
              <a:latin typeface="Arial"/>
            </a:endParaRPr>
          </a:p>
        </p:txBody>
      </p:sp>
      <p:sp>
        <p:nvSpPr>
          <p:cNvPr id="158" name="Text 13"/>
          <p:cNvSpPr/>
          <p:nvPr/>
        </p:nvSpPr>
        <p:spPr>
          <a:xfrm>
            <a:off x="2944440" y="1216080"/>
            <a:ext cx="456840" cy="347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600" spc="-1" strike="noStrike">
                <a:solidFill>
                  <a:srgbClr val="000000"/>
                </a:solidFill>
                <a:latin typeface="Calibri"/>
              </a:rPr>
              <a:t>🔍</a:t>
            </a:r>
            <a:endParaRPr b="0" lang="en-US" sz="1600" spc="-1" strike="noStrike">
              <a:solidFill>
                <a:srgbClr val="ffffff"/>
              </a:solidFill>
              <a:latin typeface="Arial"/>
            </a:endParaRPr>
          </a:p>
        </p:txBody>
      </p:sp>
      <p:sp>
        <p:nvSpPr>
          <p:cNvPr id="159" name="Text 14"/>
          <p:cNvSpPr/>
          <p:nvPr/>
        </p:nvSpPr>
        <p:spPr>
          <a:xfrm>
            <a:off x="2541960" y="1636920"/>
            <a:ext cx="1828440" cy="511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950" spc="-1" strike="noStrike">
                <a:solidFill>
                  <a:srgbClr val="e74c3c"/>
                </a:solidFill>
                <a:latin typeface="Calibri"/>
                <a:ea typeface="Calibri"/>
              </a:rPr>
              <a:t>Fraud Detection &amp; Prevention</a:t>
            </a:r>
            <a:endParaRPr b="0" lang="en-US" sz="950" spc="-1" strike="noStrike">
              <a:solidFill>
                <a:srgbClr val="ffffff"/>
              </a:solidFill>
              <a:latin typeface="Arial"/>
            </a:endParaRPr>
          </a:p>
        </p:txBody>
      </p:sp>
      <p:sp>
        <p:nvSpPr>
          <p:cNvPr id="160" name="Shape 15"/>
          <p:cNvSpPr/>
          <p:nvPr/>
        </p:nvSpPr>
        <p:spPr>
          <a:xfrm>
            <a:off x="4608720" y="1051560"/>
            <a:ext cx="2048040" cy="1170000"/>
          </a:xfrm>
          <a:prstGeom prst="rect">
            <a:avLst/>
          </a:prstGeom>
          <a:solidFill>
            <a:srgbClr val="112d52"/>
          </a:solidFill>
          <a:ln w="19050">
            <a:solidFill>
              <a:srgbClr val="0d7c7c"/>
            </a:solidFill>
            <a:round/>
          </a:ln>
          <a:effectLst>
            <a:outerShdw algn="bl" blurRad="101520" dir="8100000" dist="37674" kx="0" ky="0" rotWithShape="0" sx="100000" sy="100000">
              <a:srgbClr val="000000">
                <a:alpha val="20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61" name="Shape 16"/>
          <p:cNvSpPr/>
          <p:nvPr/>
        </p:nvSpPr>
        <p:spPr>
          <a:xfrm>
            <a:off x="4608720" y="1051560"/>
            <a:ext cx="2048040" cy="91080"/>
          </a:xfrm>
          <a:prstGeom prst="rect">
            <a:avLst/>
          </a:prstGeom>
          <a:solidFill>
            <a:srgbClr val="0d7c7c"/>
          </a:solidFill>
          <a:ln w="12700">
            <a:solidFill>
              <a:srgbClr val="0d7c7c"/>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62" name="Shape 17"/>
          <p:cNvSpPr/>
          <p:nvPr/>
        </p:nvSpPr>
        <p:spPr>
          <a:xfrm>
            <a:off x="4718160" y="1216080"/>
            <a:ext cx="347040" cy="347040"/>
          </a:xfrm>
          <a:prstGeom prst="ellipse">
            <a:avLst/>
          </a:prstGeom>
          <a:solidFill>
            <a:srgbClr val="0d7c7c"/>
          </a:solidFill>
          <a:ln w="12700">
            <a:solidFill>
              <a:srgbClr val="0d7c7c"/>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63" name="Text 18"/>
          <p:cNvSpPr/>
          <p:nvPr/>
        </p:nvSpPr>
        <p:spPr>
          <a:xfrm>
            <a:off x="4718160" y="1216080"/>
            <a:ext cx="347040" cy="347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000" spc="-1" strike="noStrike">
                <a:solidFill>
                  <a:srgbClr val="0b1f3a"/>
                </a:solidFill>
                <a:latin typeface="Calibri"/>
              </a:rPr>
              <a:t>03</a:t>
            </a:r>
            <a:endParaRPr b="0" lang="en-US" sz="1000" spc="-1" strike="noStrike">
              <a:solidFill>
                <a:srgbClr val="ffffff"/>
              </a:solidFill>
              <a:latin typeface="Arial"/>
            </a:endParaRPr>
          </a:p>
        </p:txBody>
      </p:sp>
      <p:sp>
        <p:nvSpPr>
          <p:cNvPr id="164" name="Text 19"/>
          <p:cNvSpPr/>
          <p:nvPr/>
        </p:nvSpPr>
        <p:spPr>
          <a:xfrm>
            <a:off x="5120640" y="1216080"/>
            <a:ext cx="456840" cy="347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600" spc="-1" strike="noStrike">
                <a:solidFill>
                  <a:srgbClr val="000000"/>
                </a:solidFill>
                <a:latin typeface="Calibri"/>
              </a:rPr>
              <a:t>📋</a:t>
            </a:r>
            <a:endParaRPr b="0" lang="en-US" sz="1600" spc="-1" strike="noStrike">
              <a:solidFill>
                <a:srgbClr val="ffffff"/>
              </a:solidFill>
              <a:latin typeface="Arial"/>
            </a:endParaRPr>
          </a:p>
        </p:txBody>
      </p:sp>
      <p:sp>
        <p:nvSpPr>
          <p:cNvPr id="165" name="Text 20"/>
          <p:cNvSpPr/>
          <p:nvPr/>
        </p:nvSpPr>
        <p:spPr>
          <a:xfrm>
            <a:off x="4718160" y="1636920"/>
            <a:ext cx="1828440" cy="511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950" spc="-1" strike="noStrike">
                <a:solidFill>
                  <a:srgbClr val="14b8a6"/>
                </a:solidFill>
                <a:latin typeface="Calibri"/>
                <a:ea typeface="Calibri"/>
              </a:rPr>
              <a:t>Insurance Underwriting &amp; Claims</a:t>
            </a:r>
            <a:endParaRPr b="0" lang="en-US" sz="950" spc="-1" strike="noStrike">
              <a:solidFill>
                <a:srgbClr val="ffffff"/>
              </a:solidFill>
              <a:latin typeface="Arial"/>
            </a:endParaRPr>
          </a:p>
        </p:txBody>
      </p:sp>
      <p:sp>
        <p:nvSpPr>
          <p:cNvPr id="166" name="Shape 21"/>
          <p:cNvSpPr/>
          <p:nvPr/>
        </p:nvSpPr>
        <p:spPr>
          <a:xfrm>
            <a:off x="6784920" y="1051560"/>
            <a:ext cx="2048040" cy="1170000"/>
          </a:xfrm>
          <a:prstGeom prst="rect">
            <a:avLst/>
          </a:prstGeom>
          <a:solidFill>
            <a:srgbClr val="112d52"/>
          </a:solidFill>
          <a:ln w="19050">
            <a:solidFill>
              <a:srgbClr val="0d7c7c"/>
            </a:solidFill>
            <a:round/>
          </a:ln>
          <a:effectLst>
            <a:outerShdw algn="bl" blurRad="101520" dir="8100000" dist="37674" kx="0" ky="0" rotWithShape="0" sx="100000" sy="100000">
              <a:srgbClr val="000000">
                <a:alpha val="20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67" name="Shape 22"/>
          <p:cNvSpPr/>
          <p:nvPr/>
        </p:nvSpPr>
        <p:spPr>
          <a:xfrm>
            <a:off x="6784920" y="1051560"/>
            <a:ext cx="2048040" cy="91080"/>
          </a:xfrm>
          <a:prstGeom prst="rect">
            <a:avLst/>
          </a:prstGeom>
          <a:solidFill>
            <a:srgbClr val="0d7c7c"/>
          </a:solidFill>
          <a:ln w="12700">
            <a:solidFill>
              <a:srgbClr val="0d7c7c"/>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68" name="Shape 23"/>
          <p:cNvSpPr/>
          <p:nvPr/>
        </p:nvSpPr>
        <p:spPr>
          <a:xfrm>
            <a:off x="6894720" y="1216080"/>
            <a:ext cx="347040" cy="347040"/>
          </a:xfrm>
          <a:prstGeom prst="ellipse">
            <a:avLst/>
          </a:prstGeom>
          <a:solidFill>
            <a:srgbClr val="0d7c7c"/>
          </a:solidFill>
          <a:ln w="12700">
            <a:solidFill>
              <a:srgbClr val="0d7c7c"/>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69" name="Text 24"/>
          <p:cNvSpPr/>
          <p:nvPr/>
        </p:nvSpPr>
        <p:spPr>
          <a:xfrm>
            <a:off x="6894720" y="1216080"/>
            <a:ext cx="347040" cy="347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000" spc="-1" strike="noStrike">
                <a:solidFill>
                  <a:srgbClr val="0b1f3a"/>
                </a:solidFill>
                <a:latin typeface="Calibri"/>
              </a:rPr>
              <a:t>04</a:t>
            </a:r>
            <a:endParaRPr b="0" lang="en-US" sz="1000" spc="-1" strike="noStrike">
              <a:solidFill>
                <a:srgbClr val="ffffff"/>
              </a:solidFill>
              <a:latin typeface="Arial"/>
            </a:endParaRPr>
          </a:p>
        </p:txBody>
      </p:sp>
      <p:sp>
        <p:nvSpPr>
          <p:cNvPr id="170" name="Text 25"/>
          <p:cNvSpPr/>
          <p:nvPr/>
        </p:nvSpPr>
        <p:spPr>
          <a:xfrm>
            <a:off x="7296840" y="1216080"/>
            <a:ext cx="456840" cy="347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600" spc="-1" strike="noStrike">
                <a:solidFill>
                  <a:srgbClr val="000000"/>
                </a:solidFill>
                <a:latin typeface="Calibri"/>
              </a:rPr>
              <a:t>📉</a:t>
            </a:r>
            <a:endParaRPr b="0" lang="en-US" sz="1600" spc="-1" strike="noStrike">
              <a:solidFill>
                <a:srgbClr val="ffffff"/>
              </a:solidFill>
              <a:latin typeface="Arial"/>
            </a:endParaRPr>
          </a:p>
        </p:txBody>
      </p:sp>
      <p:sp>
        <p:nvSpPr>
          <p:cNvPr id="171" name="Text 26"/>
          <p:cNvSpPr/>
          <p:nvPr/>
        </p:nvSpPr>
        <p:spPr>
          <a:xfrm>
            <a:off x="6894720" y="1636920"/>
            <a:ext cx="1828440" cy="511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950" spc="-1" strike="noStrike">
                <a:solidFill>
                  <a:srgbClr val="14b8a6"/>
                </a:solidFill>
                <a:latin typeface="Calibri"/>
                <a:ea typeface="Calibri"/>
              </a:rPr>
              <a:t>Churn Prediction &amp; Retention</a:t>
            </a:r>
            <a:endParaRPr b="0" lang="en-US" sz="950" spc="-1" strike="noStrike">
              <a:solidFill>
                <a:srgbClr val="ffffff"/>
              </a:solidFill>
              <a:latin typeface="Arial"/>
            </a:endParaRPr>
          </a:p>
        </p:txBody>
      </p:sp>
      <p:sp>
        <p:nvSpPr>
          <p:cNvPr id="172" name="Shape 27"/>
          <p:cNvSpPr/>
          <p:nvPr/>
        </p:nvSpPr>
        <p:spPr>
          <a:xfrm>
            <a:off x="255960" y="2368440"/>
            <a:ext cx="2048040" cy="1170000"/>
          </a:xfrm>
          <a:prstGeom prst="rect">
            <a:avLst/>
          </a:prstGeom>
          <a:solidFill>
            <a:srgbClr val="112d52"/>
          </a:solidFill>
          <a:ln w="19050">
            <a:solidFill>
              <a:srgbClr val="c8960b"/>
            </a:solidFill>
            <a:round/>
          </a:ln>
          <a:effectLst>
            <a:outerShdw algn="bl" blurRad="101520" dir="8100000" dist="37674" kx="0" ky="0" rotWithShape="0" sx="100000" sy="100000">
              <a:srgbClr val="000000">
                <a:alpha val="20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73" name="Shape 28"/>
          <p:cNvSpPr/>
          <p:nvPr/>
        </p:nvSpPr>
        <p:spPr>
          <a:xfrm>
            <a:off x="255960" y="2368440"/>
            <a:ext cx="2048040" cy="91080"/>
          </a:xfrm>
          <a:prstGeom prst="rect">
            <a:avLst/>
          </a:prstGeom>
          <a:solidFill>
            <a:srgbClr val="c8960b"/>
          </a:solidFill>
          <a:ln w="12700">
            <a:solidFill>
              <a:srgbClr val="c8960b"/>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74" name="Shape 29"/>
          <p:cNvSpPr/>
          <p:nvPr/>
        </p:nvSpPr>
        <p:spPr>
          <a:xfrm>
            <a:off x="365760" y="2532960"/>
            <a:ext cx="347040" cy="347040"/>
          </a:xfrm>
          <a:prstGeom prst="ellipse">
            <a:avLst/>
          </a:prstGeom>
          <a:solidFill>
            <a:srgbClr val="c8960b"/>
          </a:solidFill>
          <a:ln w="12700">
            <a:solidFill>
              <a:srgbClr val="c8960b"/>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75" name="Text 30"/>
          <p:cNvSpPr/>
          <p:nvPr/>
        </p:nvSpPr>
        <p:spPr>
          <a:xfrm>
            <a:off x="365760" y="2532960"/>
            <a:ext cx="347040" cy="347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000" spc="-1" strike="noStrike">
                <a:solidFill>
                  <a:srgbClr val="0b1f3a"/>
                </a:solidFill>
                <a:latin typeface="Calibri"/>
              </a:rPr>
              <a:t>05</a:t>
            </a:r>
            <a:endParaRPr b="0" lang="en-US" sz="1000" spc="-1" strike="noStrike">
              <a:solidFill>
                <a:srgbClr val="ffffff"/>
              </a:solidFill>
              <a:latin typeface="Arial"/>
            </a:endParaRPr>
          </a:p>
        </p:txBody>
      </p:sp>
      <p:sp>
        <p:nvSpPr>
          <p:cNvPr id="176" name="Text 31"/>
          <p:cNvSpPr/>
          <p:nvPr/>
        </p:nvSpPr>
        <p:spPr>
          <a:xfrm>
            <a:off x="768240" y="2532960"/>
            <a:ext cx="456840" cy="347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600" spc="-1" strike="noStrike">
                <a:solidFill>
                  <a:srgbClr val="000000"/>
                </a:solidFill>
                <a:latin typeface="Calibri"/>
              </a:rPr>
              <a:t>📈</a:t>
            </a:r>
            <a:endParaRPr b="0" lang="en-US" sz="1600" spc="-1" strike="noStrike">
              <a:solidFill>
                <a:srgbClr val="ffffff"/>
              </a:solidFill>
              <a:latin typeface="Arial"/>
            </a:endParaRPr>
          </a:p>
        </p:txBody>
      </p:sp>
      <p:sp>
        <p:nvSpPr>
          <p:cNvPr id="177" name="Text 32"/>
          <p:cNvSpPr/>
          <p:nvPr/>
        </p:nvSpPr>
        <p:spPr>
          <a:xfrm>
            <a:off x="365760" y="2953440"/>
            <a:ext cx="1828440" cy="511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950" spc="-1" strike="noStrike">
                <a:solidFill>
                  <a:srgbClr val="f5c842"/>
                </a:solidFill>
                <a:latin typeface="Calibri"/>
                <a:ea typeface="Calibri"/>
              </a:rPr>
              <a:t>Market Trend &amp; Investment Analysis</a:t>
            </a:r>
            <a:endParaRPr b="0" lang="en-US" sz="950" spc="-1" strike="noStrike">
              <a:solidFill>
                <a:srgbClr val="ffffff"/>
              </a:solidFill>
              <a:latin typeface="Arial"/>
            </a:endParaRPr>
          </a:p>
        </p:txBody>
      </p:sp>
      <p:sp>
        <p:nvSpPr>
          <p:cNvPr id="178" name="Shape 33"/>
          <p:cNvSpPr/>
          <p:nvPr/>
        </p:nvSpPr>
        <p:spPr>
          <a:xfrm>
            <a:off x="2432160" y="2368440"/>
            <a:ext cx="2048040" cy="1170000"/>
          </a:xfrm>
          <a:prstGeom prst="rect">
            <a:avLst/>
          </a:prstGeom>
          <a:solidFill>
            <a:srgbClr val="112d52"/>
          </a:solidFill>
          <a:ln w="19050">
            <a:solidFill>
              <a:srgbClr val="1d5fa6"/>
            </a:solidFill>
            <a:round/>
          </a:ln>
          <a:effectLst>
            <a:outerShdw algn="bl" blurRad="101520" dir="8100000" dist="37674" kx="0" ky="0" rotWithShape="0" sx="100000" sy="100000">
              <a:srgbClr val="000000">
                <a:alpha val="20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79" name="Shape 34"/>
          <p:cNvSpPr/>
          <p:nvPr/>
        </p:nvSpPr>
        <p:spPr>
          <a:xfrm>
            <a:off x="2432160" y="2368440"/>
            <a:ext cx="2048040" cy="91080"/>
          </a:xfrm>
          <a:prstGeom prst="rect">
            <a:avLst/>
          </a:prstGeom>
          <a:solidFill>
            <a:srgbClr val="1d5fa6"/>
          </a:solidFill>
          <a:ln w="12700">
            <a:solidFill>
              <a:srgbClr val="1d5fa6"/>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80" name="Shape 35"/>
          <p:cNvSpPr/>
          <p:nvPr/>
        </p:nvSpPr>
        <p:spPr>
          <a:xfrm>
            <a:off x="2541960" y="2532960"/>
            <a:ext cx="347040" cy="347040"/>
          </a:xfrm>
          <a:prstGeom prst="ellipse">
            <a:avLst/>
          </a:prstGeom>
          <a:solidFill>
            <a:srgbClr val="1d5fa6"/>
          </a:solidFill>
          <a:ln w="12700">
            <a:solidFill>
              <a:srgbClr val="1d5fa6"/>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81" name="Text 36"/>
          <p:cNvSpPr/>
          <p:nvPr/>
        </p:nvSpPr>
        <p:spPr>
          <a:xfrm>
            <a:off x="2541960" y="2532960"/>
            <a:ext cx="347040" cy="347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000" spc="-1" strike="noStrike">
                <a:solidFill>
                  <a:srgbClr val="0b1f3a"/>
                </a:solidFill>
                <a:latin typeface="Calibri"/>
              </a:rPr>
              <a:t>06</a:t>
            </a:r>
            <a:endParaRPr b="0" lang="en-US" sz="1000" spc="-1" strike="noStrike">
              <a:solidFill>
                <a:srgbClr val="ffffff"/>
              </a:solidFill>
              <a:latin typeface="Arial"/>
            </a:endParaRPr>
          </a:p>
        </p:txBody>
      </p:sp>
      <p:sp>
        <p:nvSpPr>
          <p:cNvPr id="182" name="Text 37"/>
          <p:cNvSpPr/>
          <p:nvPr/>
        </p:nvSpPr>
        <p:spPr>
          <a:xfrm>
            <a:off x="2944440" y="2532960"/>
            <a:ext cx="456840" cy="347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600" spc="-1" strike="noStrike">
                <a:solidFill>
                  <a:srgbClr val="000000"/>
                </a:solidFill>
                <a:latin typeface="Calibri"/>
              </a:rPr>
              <a:t>💲</a:t>
            </a:r>
            <a:endParaRPr b="0" lang="en-US" sz="1600" spc="-1" strike="noStrike">
              <a:solidFill>
                <a:srgbClr val="ffffff"/>
              </a:solidFill>
              <a:latin typeface="Arial"/>
            </a:endParaRPr>
          </a:p>
        </p:txBody>
      </p:sp>
      <p:sp>
        <p:nvSpPr>
          <p:cNvPr id="183" name="Text 38"/>
          <p:cNvSpPr/>
          <p:nvPr/>
        </p:nvSpPr>
        <p:spPr>
          <a:xfrm>
            <a:off x="2541960" y="2953440"/>
            <a:ext cx="1828440" cy="511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950" spc="-1" strike="noStrike">
                <a:solidFill>
                  <a:srgbClr val="bad7f5"/>
                </a:solidFill>
                <a:latin typeface="Calibri"/>
                <a:ea typeface="Calibri"/>
              </a:rPr>
              <a:t>Dynamic Pricing &amp; Product Dev</a:t>
            </a:r>
            <a:endParaRPr b="0" lang="en-US" sz="950" spc="-1" strike="noStrike">
              <a:solidFill>
                <a:srgbClr val="ffffff"/>
              </a:solidFill>
              <a:latin typeface="Arial"/>
            </a:endParaRPr>
          </a:p>
        </p:txBody>
      </p:sp>
      <p:sp>
        <p:nvSpPr>
          <p:cNvPr id="184" name="Shape 39"/>
          <p:cNvSpPr/>
          <p:nvPr/>
        </p:nvSpPr>
        <p:spPr>
          <a:xfrm>
            <a:off x="4608720" y="2368440"/>
            <a:ext cx="2048040" cy="1170000"/>
          </a:xfrm>
          <a:prstGeom prst="rect">
            <a:avLst/>
          </a:prstGeom>
          <a:solidFill>
            <a:srgbClr val="112d52"/>
          </a:solidFill>
          <a:ln w="19050">
            <a:solidFill>
              <a:srgbClr val="c8960b"/>
            </a:solidFill>
            <a:round/>
          </a:ln>
          <a:effectLst>
            <a:outerShdw algn="bl" blurRad="101520" dir="8100000" dist="37674" kx="0" ky="0" rotWithShape="0" sx="100000" sy="100000">
              <a:srgbClr val="000000">
                <a:alpha val="20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85" name="Shape 40"/>
          <p:cNvSpPr/>
          <p:nvPr/>
        </p:nvSpPr>
        <p:spPr>
          <a:xfrm>
            <a:off x="4608720" y="2368440"/>
            <a:ext cx="2048040" cy="91080"/>
          </a:xfrm>
          <a:prstGeom prst="rect">
            <a:avLst/>
          </a:prstGeom>
          <a:solidFill>
            <a:srgbClr val="c8960b"/>
          </a:solidFill>
          <a:ln w="12700">
            <a:solidFill>
              <a:srgbClr val="c8960b"/>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86" name="Shape 41"/>
          <p:cNvSpPr/>
          <p:nvPr/>
        </p:nvSpPr>
        <p:spPr>
          <a:xfrm>
            <a:off x="4718160" y="2532960"/>
            <a:ext cx="347040" cy="347040"/>
          </a:xfrm>
          <a:prstGeom prst="ellipse">
            <a:avLst/>
          </a:prstGeom>
          <a:solidFill>
            <a:srgbClr val="c8960b"/>
          </a:solidFill>
          <a:ln w="12700">
            <a:solidFill>
              <a:srgbClr val="c8960b"/>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87" name="Text 42"/>
          <p:cNvSpPr/>
          <p:nvPr/>
        </p:nvSpPr>
        <p:spPr>
          <a:xfrm>
            <a:off x="4718160" y="2532960"/>
            <a:ext cx="347040" cy="347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000" spc="-1" strike="noStrike">
                <a:solidFill>
                  <a:srgbClr val="0b1f3a"/>
                </a:solidFill>
                <a:latin typeface="Calibri"/>
              </a:rPr>
              <a:t>07</a:t>
            </a:r>
            <a:endParaRPr b="0" lang="en-US" sz="1000" spc="-1" strike="noStrike">
              <a:solidFill>
                <a:srgbClr val="ffffff"/>
              </a:solidFill>
              <a:latin typeface="Arial"/>
            </a:endParaRPr>
          </a:p>
        </p:txBody>
      </p:sp>
      <p:sp>
        <p:nvSpPr>
          <p:cNvPr id="188" name="Text 43"/>
          <p:cNvSpPr/>
          <p:nvPr/>
        </p:nvSpPr>
        <p:spPr>
          <a:xfrm>
            <a:off x="5120640" y="2532960"/>
            <a:ext cx="456840" cy="347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600" spc="-1" strike="noStrike">
                <a:solidFill>
                  <a:srgbClr val="000000"/>
                </a:solidFill>
                <a:latin typeface="Calibri"/>
              </a:rPr>
              <a:t>⚖️</a:t>
            </a:r>
            <a:endParaRPr b="0" lang="en-US" sz="1600" spc="-1" strike="noStrike">
              <a:solidFill>
                <a:srgbClr val="ffffff"/>
              </a:solidFill>
              <a:latin typeface="Arial"/>
            </a:endParaRPr>
          </a:p>
        </p:txBody>
      </p:sp>
      <p:sp>
        <p:nvSpPr>
          <p:cNvPr id="189" name="Text 44"/>
          <p:cNvSpPr/>
          <p:nvPr/>
        </p:nvSpPr>
        <p:spPr>
          <a:xfrm>
            <a:off x="4718160" y="2953440"/>
            <a:ext cx="1828440" cy="511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950" spc="-1" strike="noStrike">
                <a:solidFill>
                  <a:srgbClr val="f5c842"/>
                </a:solidFill>
                <a:latin typeface="Calibri"/>
                <a:ea typeface="Calibri"/>
              </a:rPr>
              <a:t>Automated Regulatory Compliance</a:t>
            </a:r>
            <a:endParaRPr b="0" lang="en-US" sz="950" spc="-1" strike="noStrike">
              <a:solidFill>
                <a:srgbClr val="ffffff"/>
              </a:solidFill>
              <a:latin typeface="Arial"/>
            </a:endParaRPr>
          </a:p>
        </p:txBody>
      </p:sp>
      <p:sp>
        <p:nvSpPr>
          <p:cNvPr id="190" name="Shape 45"/>
          <p:cNvSpPr/>
          <p:nvPr/>
        </p:nvSpPr>
        <p:spPr>
          <a:xfrm>
            <a:off x="6784920" y="2368440"/>
            <a:ext cx="2048040" cy="1170000"/>
          </a:xfrm>
          <a:prstGeom prst="rect">
            <a:avLst/>
          </a:prstGeom>
          <a:solidFill>
            <a:srgbClr val="112d52"/>
          </a:solidFill>
          <a:ln w="19050">
            <a:solidFill>
              <a:srgbClr val="0d7c7c"/>
            </a:solidFill>
            <a:round/>
          </a:ln>
          <a:effectLst>
            <a:outerShdw algn="bl" blurRad="101520" dir="8100000" dist="37674" kx="0" ky="0" rotWithShape="0" sx="100000" sy="100000">
              <a:srgbClr val="000000">
                <a:alpha val="20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91" name="Shape 46"/>
          <p:cNvSpPr/>
          <p:nvPr/>
        </p:nvSpPr>
        <p:spPr>
          <a:xfrm>
            <a:off x="6784920" y="2368440"/>
            <a:ext cx="2048040" cy="91080"/>
          </a:xfrm>
          <a:prstGeom prst="rect">
            <a:avLst/>
          </a:prstGeom>
          <a:solidFill>
            <a:srgbClr val="0d7c7c"/>
          </a:solidFill>
          <a:ln w="12700">
            <a:solidFill>
              <a:srgbClr val="0d7c7c"/>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92" name="Shape 47"/>
          <p:cNvSpPr/>
          <p:nvPr/>
        </p:nvSpPr>
        <p:spPr>
          <a:xfrm>
            <a:off x="6894720" y="2532960"/>
            <a:ext cx="347040" cy="347040"/>
          </a:xfrm>
          <a:prstGeom prst="ellipse">
            <a:avLst/>
          </a:prstGeom>
          <a:solidFill>
            <a:srgbClr val="0d7c7c"/>
          </a:solidFill>
          <a:ln w="12700">
            <a:solidFill>
              <a:srgbClr val="0d7c7c"/>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93" name="Text 48"/>
          <p:cNvSpPr/>
          <p:nvPr/>
        </p:nvSpPr>
        <p:spPr>
          <a:xfrm>
            <a:off x="6894720" y="2532960"/>
            <a:ext cx="347040" cy="347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000" spc="-1" strike="noStrike">
                <a:solidFill>
                  <a:srgbClr val="0b1f3a"/>
                </a:solidFill>
                <a:latin typeface="Calibri"/>
              </a:rPr>
              <a:t>08</a:t>
            </a:r>
            <a:endParaRPr b="0" lang="en-US" sz="1000" spc="-1" strike="noStrike">
              <a:solidFill>
                <a:srgbClr val="ffffff"/>
              </a:solidFill>
              <a:latin typeface="Arial"/>
            </a:endParaRPr>
          </a:p>
        </p:txBody>
      </p:sp>
      <p:sp>
        <p:nvSpPr>
          <p:cNvPr id="194" name="Text 49"/>
          <p:cNvSpPr/>
          <p:nvPr/>
        </p:nvSpPr>
        <p:spPr>
          <a:xfrm>
            <a:off x="7296840" y="2532960"/>
            <a:ext cx="456840" cy="347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600" spc="-1" strike="noStrike">
                <a:solidFill>
                  <a:srgbClr val="000000"/>
                </a:solidFill>
                <a:latin typeface="Calibri"/>
              </a:rPr>
              <a:t>🎯</a:t>
            </a:r>
            <a:endParaRPr b="0" lang="en-US" sz="1600" spc="-1" strike="noStrike">
              <a:solidFill>
                <a:srgbClr val="ffffff"/>
              </a:solidFill>
              <a:latin typeface="Arial"/>
            </a:endParaRPr>
          </a:p>
        </p:txBody>
      </p:sp>
      <p:sp>
        <p:nvSpPr>
          <p:cNvPr id="195" name="Text 50"/>
          <p:cNvSpPr/>
          <p:nvPr/>
        </p:nvSpPr>
        <p:spPr>
          <a:xfrm>
            <a:off x="6894720" y="2953440"/>
            <a:ext cx="1828440" cy="511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950" spc="-1" strike="noStrike">
                <a:solidFill>
                  <a:srgbClr val="14b8a6"/>
                </a:solidFill>
                <a:latin typeface="Calibri"/>
                <a:ea typeface="Calibri"/>
              </a:rPr>
              <a:t>Customer Segmentation &amp; Marketing</a:t>
            </a:r>
            <a:endParaRPr b="0" lang="en-US" sz="950" spc="-1" strike="noStrike">
              <a:solidFill>
                <a:srgbClr val="ffffff"/>
              </a:solidFill>
              <a:latin typeface="Arial"/>
            </a:endParaRPr>
          </a:p>
        </p:txBody>
      </p:sp>
      <p:sp>
        <p:nvSpPr>
          <p:cNvPr id="196" name="Shape 51"/>
          <p:cNvSpPr/>
          <p:nvPr/>
        </p:nvSpPr>
        <p:spPr>
          <a:xfrm>
            <a:off x="255960" y="3684960"/>
            <a:ext cx="2048040" cy="1170000"/>
          </a:xfrm>
          <a:prstGeom prst="rect">
            <a:avLst/>
          </a:prstGeom>
          <a:solidFill>
            <a:srgbClr val="112d52"/>
          </a:solidFill>
          <a:ln w="19050">
            <a:solidFill>
              <a:srgbClr val="1d5fa6"/>
            </a:solidFill>
            <a:round/>
          </a:ln>
          <a:effectLst>
            <a:outerShdw algn="bl" blurRad="101520" dir="8100000" dist="37674" kx="0" ky="0" rotWithShape="0" sx="100000" sy="100000">
              <a:srgbClr val="000000">
                <a:alpha val="20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97" name="Shape 52"/>
          <p:cNvSpPr/>
          <p:nvPr/>
        </p:nvSpPr>
        <p:spPr>
          <a:xfrm>
            <a:off x="255960" y="3684960"/>
            <a:ext cx="2048040" cy="91080"/>
          </a:xfrm>
          <a:prstGeom prst="rect">
            <a:avLst/>
          </a:prstGeom>
          <a:solidFill>
            <a:srgbClr val="1d5fa6"/>
          </a:solidFill>
          <a:ln w="12700">
            <a:solidFill>
              <a:srgbClr val="1d5fa6"/>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98" name="Shape 53"/>
          <p:cNvSpPr/>
          <p:nvPr/>
        </p:nvSpPr>
        <p:spPr>
          <a:xfrm>
            <a:off x="365760" y="3849480"/>
            <a:ext cx="347040" cy="347040"/>
          </a:xfrm>
          <a:prstGeom prst="ellipse">
            <a:avLst/>
          </a:prstGeom>
          <a:solidFill>
            <a:srgbClr val="1d5fa6"/>
          </a:solidFill>
          <a:ln w="12700">
            <a:solidFill>
              <a:srgbClr val="1d5fa6"/>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99" name="Text 54"/>
          <p:cNvSpPr/>
          <p:nvPr/>
        </p:nvSpPr>
        <p:spPr>
          <a:xfrm>
            <a:off x="365760" y="3849480"/>
            <a:ext cx="347040" cy="347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000" spc="-1" strike="noStrike">
                <a:solidFill>
                  <a:srgbClr val="0b1f3a"/>
                </a:solidFill>
                <a:latin typeface="Calibri"/>
              </a:rPr>
              <a:t>09</a:t>
            </a:r>
            <a:endParaRPr b="0" lang="en-US" sz="1000" spc="-1" strike="noStrike">
              <a:solidFill>
                <a:srgbClr val="ffffff"/>
              </a:solidFill>
              <a:latin typeface="Arial"/>
            </a:endParaRPr>
          </a:p>
        </p:txBody>
      </p:sp>
      <p:sp>
        <p:nvSpPr>
          <p:cNvPr id="200" name="Text 55"/>
          <p:cNvSpPr/>
          <p:nvPr/>
        </p:nvSpPr>
        <p:spPr>
          <a:xfrm>
            <a:off x="768240" y="3849480"/>
            <a:ext cx="456840" cy="347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600" spc="-1" strike="noStrike">
                <a:solidFill>
                  <a:srgbClr val="000000"/>
                </a:solidFill>
                <a:latin typeface="Calibri"/>
              </a:rPr>
              <a:t>📁</a:t>
            </a:r>
            <a:endParaRPr b="0" lang="en-US" sz="1600" spc="-1" strike="noStrike">
              <a:solidFill>
                <a:srgbClr val="ffffff"/>
              </a:solidFill>
              <a:latin typeface="Arial"/>
            </a:endParaRPr>
          </a:p>
        </p:txBody>
      </p:sp>
      <p:sp>
        <p:nvSpPr>
          <p:cNvPr id="201" name="Text 56"/>
          <p:cNvSpPr/>
          <p:nvPr/>
        </p:nvSpPr>
        <p:spPr>
          <a:xfrm>
            <a:off x="365760" y="4270320"/>
            <a:ext cx="1828440" cy="511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950" spc="-1" strike="noStrike">
                <a:solidFill>
                  <a:srgbClr val="bad7f5"/>
                </a:solidFill>
                <a:latin typeface="Calibri"/>
                <a:ea typeface="Calibri"/>
              </a:rPr>
              <a:t>Predictive Analytics for Asset Mgmt</a:t>
            </a:r>
            <a:endParaRPr b="0" lang="en-US" sz="950" spc="-1" strike="noStrike">
              <a:solidFill>
                <a:srgbClr val="ffffff"/>
              </a:solidFill>
              <a:latin typeface="Arial"/>
            </a:endParaRPr>
          </a:p>
        </p:txBody>
      </p:sp>
      <p:sp>
        <p:nvSpPr>
          <p:cNvPr id="202" name="Shape 57"/>
          <p:cNvSpPr/>
          <p:nvPr/>
        </p:nvSpPr>
        <p:spPr>
          <a:xfrm>
            <a:off x="2432160" y="3684960"/>
            <a:ext cx="2048040" cy="1170000"/>
          </a:xfrm>
          <a:prstGeom prst="rect">
            <a:avLst/>
          </a:prstGeom>
          <a:solidFill>
            <a:srgbClr val="112d52"/>
          </a:solidFill>
          <a:ln w="19050">
            <a:solidFill>
              <a:srgbClr val="0d7c7c"/>
            </a:solidFill>
            <a:round/>
          </a:ln>
          <a:effectLst>
            <a:outerShdw algn="bl" blurRad="101520" dir="8100000" dist="37674" kx="0" ky="0" rotWithShape="0" sx="100000" sy="100000">
              <a:srgbClr val="000000">
                <a:alpha val="20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03" name="Shape 58"/>
          <p:cNvSpPr/>
          <p:nvPr/>
        </p:nvSpPr>
        <p:spPr>
          <a:xfrm>
            <a:off x="2432160" y="3684960"/>
            <a:ext cx="2048040" cy="91080"/>
          </a:xfrm>
          <a:prstGeom prst="rect">
            <a:avLst/>
          </a:prstGeom>
          <a:solidFill>
            <a:srgbClr val="0d7c7c"/>
          </a:solidFill>
          <a:ln w="12700">
            <a:solidFill>
              <a:srgbClr val="0d7c7c"/>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04" name="Shape 59"/>
          <p:cNvSpPr/>
          <p:nvPr/>
        </p:nvSpPr>
        <p:spPr>
          <a:xfrm>
            <a:off x="2541960" y="3849480"/>
            <a:ext cx="347040" cy="347040"/>
          </a:xfrm>
          <a:prstGeom prst="ellipse">
            <a:avLst/>
          </a:prstGeom>
          <a:solidFill>
            <a:srgbClr val="0d7c7c"/>
          </a:solidFill>
          <a:ln w="12700">
            <a:solidFill>
              <a:srgbClr val="0d7c7c"/>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05" name="Text 60"/>
          <p:cNvSpPr/>
          <p:nvPr/>
        </p:nvSpPr>
        <p:spPr>
          <a:xfrm>
            <a:off x="2541960" y="3849480"/>
            <a:ext cx="347040" cy="347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000" spc="-1" strike="noStrike">
                <a:solidFill>
                  <a:srgbClr val="0b1f3a"/>
                </a:solidFill>
                <a:latin typeface="Calibri"/>
              </a:rPr>
              <a:t>10</a:t>
            </a:r>
            <a:endParaRPr b="0" lang="en-US" sz="1000" spc="-1" strike="noStrike">
              <a:solidFill>
                <a:srgbClr val="ffffff"/>
              </a:solidFill>
              <a:latin typeface="Arial"/>
            </a:endParaRPr>
          </a:p>
        </p:txBody>
      </p:sp>
      <p:sp>
        <p:nvSpPr>
          <p:cNvPr id="206" name="Text 61"/>
          <p:cNvSpPr/>
          <p:nvPr/>
        </p:nvSpPr>
        <p:spPr>
          <a:xfrm>
            <a:off x="2944440" y="3849480"/>
            <a:ext cx="456840" cy="347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600" spc="-1" strike="noStrike">
                <a:solidFill>
                  <a:srgbClr val="000000"/>
                </a:solidFill>
                <a:latin typeface="Calibri"/>
              </a:rPr>
              <a:t>👤</a:t>
            </a:r>
            <a:endParaRPr b="0" lang="en-US" sz="1600" spc="-1" strike="noStrike">
              <a:solidFill>
                <a:srgbClr val="ffffff"/>
              </a:solidFill>
              <a:latin typeface="Arial"/>
            </a:endParaRPr>
          </a:p>
        </p:txBody>
      </p:sp>
      <p:sp>
        <p:nvSpPr>
          <p:cNvPr id="207" name="Text 62"/>
          <p:cNvSpPr/>
          <p:nvPr/>
        </p:nvSpPr>
        <p:spPr>
          <a:xfrm>
            <a:off x="2541960" y="4270320"/>
            <a:ext cx="1828440" cy="511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950" spc="-1" strike="noStrike">
                <a:solidFill>
                  <a:srgbClr val="14b8a6"/>
                </a:solidFill>
                <a:latin typeface="Calibri"/>
                <a:ea typeface="Calibri"/>
              </a:rPr>
              <a:t>Personalised Financial Planning</a:t>
            </a:r>
            <a:endParaRPr b="0" lang="en-US" sz="950" spc="-1" strike="noStrike">
              <a:solidFill>
                <a:srgbClr val="ffffff"/>
              </a:solidFill>
              <a:latin typeface="Arial"/>
            </a:endParaRPr>
          </a:p>
        </p:txBody>
      </p:sp>
      <p:sp>
        <p:nvSpPr>
          <p:cNvPr id="208" name="Shape 63"/>
          <p:cNvSpPr/>
          <p:nvPr/>
        </p:nvSpPr>
        <p:spPr>
          <a:xfrm>
            <a:off x="4608720" y="3684960"/>
            <a:ext cx="2048040" cy="1170000"/>
          </a:xfrm>
          <a:prstGeom prst="rect">
            <a:avLst/>
          </a:prstGeom>
          <a:solidFill>
            <a:srgbClr val="112d52"/>
          </a:solidFill>
          <a:ln w="19050">
            <a:solidFill>
              <a:srgbClr val="c8960b"/>
            </a:solidFill>
            <a:round/>
          </a:ln>
          <a:effectLst>
            <a:outerShdw algn="bl" blurRad="101520" dir="8100000" dist="37674" kx="0" ky="0" rotWithShape="0" sx="100000" sy="100000">
              <a:srgbClr val="000000">
                <a:alpha val="20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09" name="Shape 64"/>
          <p:cNvSpPr/>
          <p:nvPr/>
        </p:nvSpPr>
        <p:spPr>
          <a:xfrm>
            <a:off x="4608720" y="3684960"/>
            <a:ext cx="2048040" cy="91080"/>
          </a:xfrm>
          <a:prstGeom prst="rect">
            <a:avLst/>
          </a:prstGeom>
          <a:solidFill>
            <a:srgbClr val="c8960b"/>
          </a:solidFill>
          <a:ln w="12700">
            <a:solidFill>
              <a:srgbClr val="c8960b"/>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0" name="Shape 65"/>
          <p:cNvSpPr/>
          <p:nvPr/>
        </p:nvSpPr>
        <p:spPr>
          <a:xfrm>
            <a:off x="4718160" y="3849480"/>
            <a:ext cx="347040" cy="347040"/>
          </a:xfrm>
          <a:prstGeom prst="ellipse">
            <a:avLst/>
          </a:prstGeom>
          <a:solidFill>
            <a:srgbClr val="c8960b"/>
          </a:solidFill>
          <a:ln w="12700">
            <a:solidFill>
              <a:srgbClr val="c8960b"/>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1" name="Text 66"/>
          <p:cNvSpPr/>
          <p:nvPr/>
        </p:nvSpPr>
        <p:spPr>
          <a:xfrm>
            <a:off x="4718160" y="3849480"/>
            <a:ext cx="347040" cy="347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000" spc="-1" strike="noStrike">
                <a:solidFill>
                  <a:srgbClr val="0b1f3a"/>
                </a:solidFill>
                <a:latin typeface="Calibri"/>
              </a:rPr>
              <a:t>11</a:t>
            </a:r>
            <a:endParaRPr b="0" lang="en-US" sz="1000" spc="-1" strike="noStrike">
              <a:solidFill>
                <a:srgbClr val="ffffff"/>
              </a:solidFill>
              <a:latin typeface="Arial"/>
            </a:endParaRPr>
          </a:p>
        </p:txBody>
      </p:sp>
      <p:sp>
        <p:nvSpPr>
          <p:cNvPr id="212" name="Text 67"/>
          <p:cNvSpPr/>
          <p:nvPr/>
        </p:nvSpPr>
        <p:spPr>
          <a:xfrm>
            <a:off x="5120640" y="3849480"/>
            <a:ext cx="456840" cy="347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600" spc="-1" strike="noStrike">
                <a:solidFill>
                  <a:srgbClr val="000000"/>
                </a:solidFill>
                <a:latin typeface="Calibri"/>
              </a:rPr>
              <a:t>⚡</a:t>
            </a:r>
            <a:endParaRPr b="0" lang="en-US" sz="1600" spc="-1" strike="noStrike">
              <a:solidFill>
                <a:srgbClr val="ffffff"/>
              </a:solidFill>
              <a:latin typeface="Arial"/>
            </a:endParaRPr>
          </a:p>
        </p:txBody>
      </p:sp>
      <p:sp>
        <p:nvSpPr>
          <p:cNvPr id="213" name="Text 68"/>
          <p:cNvSpPr/>
          <p:nvPr/>
        </p:nvSpPr>
        <p:spPr>
          <a:xfrm>
            <a:off x="4718160" y="4270320"/>
            <a:ext cx="1828440" cy="511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950" spc="-1" strike="noStrike">
                <a:solidFill>
                  <a:srgbClr val="f5c842"/>
                </a:solidFill>
                <a:latin typeface="Calibri"/>
                <a:ea typeface="Calibri"/>
              </a:rPr>
              <a:t>Operational Efficiency &amp; Cost Reduction</a:t>
            </a:r>
            <a:endParaRPr b="0" lang="en-US" sz="950" spc="-1" strike="noStrike">
              <a:solidFill>
                <a:srgbClr val="ffffff"/>
              </a:solidFill>
              <a:latin typeface="Arial"/>
            </a:endParaRPr>
          </a:p>
        </p:txBody>
      </p:sp>
      <p:sp>
        <p:nvSpPr>
          <p:cNvPr id="214" name="Shape 69"/>
          <p:cNvSpPr/>
          <p:nvPr/>
        </p:nvSpPr>
        <p:spPr>
          <a:xfrm>
            <a:off x="6784920" y="3684960"/>
            <a:ext cx="2048040" cy="1170000"/>
          </a:xfrm>
          <a:prstGeom prst="rect">
            <a:avLst/>
          </a:prstGeom>
          <a:solidFill>
            <a:srgbClr val="112d52"/>
          </a:solidFill>
          <a:ln w="19050">
            <a:solidFill>
              <a:srgbClr val="1d5fa6"/>
            </a:solidFill>
            <a:round/>
          </a:ln>
          <a:effectLst>
            <a:outerShdw algn="bl" blurRad="101520" dir="8100000" dist="37674" kx="0" ky="0" rotWithShape="0" sx="100000" sy="100000">
              <a:srgbClr val="000000">
                <a:alpha val="20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5" name="Shape 70"/>
          <p:cNvSpPr/>
          <p:nvPr/>
        </p:nvSpPr>
        <p:spPr>
          <a:xfrm>
            <a:off x="6784920" y="3684960"/>
            <a:ext cx="2048040" cy="91080"/>
          </a:xfrm>
          <a:prstGeom prst="rect">
            <a:avLst/>
          </a:prstGeom>
          <a:solidFill>
            <a:srgbClr val="1d5fa6"/>
          </a:solidFill>
          <a:ln w="12700">
            <a:solidFill>
              <a:srgbClr val="1d5fa6"/>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6" name="Shape 71"/>
          <p:cNvSpPr/>
          <p:nvPr/>
        </p:nvSpPr>
        <p:spPr>
          <a:xfrm>
            <a:off x="6894720" y="3849480"/>
            <a:ext cx="347040" cy="347040"/>
          </a:xfrm>
          <a:prstGeom prst="ellipse">
            <a:avLst/>
          </a:prstGeom>
          <a:solidFill>
            <a:srgbClr val="1d5fa6"/>
          </a:solidFill>
          <a:ln w="12700">
            <a:solidFill>
              <a:srgbClr val="1d5fa6"/>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7" name="Text 72"/>
          <p:cNvSpPr/>
          <p:nvPr/>
        </p:nvSpPr>
        <p:spPr>
          <a:xfrm>
            <a:off x="6894720" y="3849480"/>
            <a:ext cx="347040" cy="347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000" spc="-1" strike="noStrike">
                <a:solidFill>
                  <a:srgbClr val="0b1f3a"/>
                </a:solidFill>
                <a:latin typeface="Calibri"/>
              </a:rPr>
              <a:t>12</a:t>
            </a:r>
            <a:endParaRPr b="0" lang="en-US" sz="1000" spc="-1" strike="noStrike">
              <a:solidFill>
                <a:srgbClr val="ffffff"/>
              </a:solidFill>
              <a:latin typeface="Arial"/>
            </a:endParaRPr>
          </a:p>
        </p:txBody>
      </p:sp>
      <p:sp>
        <p:nvSpPr>
          <p:cNvPr id="218" name="Text 73"/>
          <p:cNvSpPr/>
          <p:nvPr/>
        </p:nvSpPr>
        <p:spPr>
          <a:xfrm>
            <a:off x="7296840" y="3849480"/>
            <a:ext cx="456840" cy="347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600" spc="-1" strike="noStrike">
                <a:solidFill>
                  <a:srgbClr val="000000"/>
                </a:solidFill>
                <a:latin typeface="Calibri"/>
              </a:rPr>
              <a:t>💬</a:t>
            </a:r>
            <a:endParaRPr b="0" lang="en-US" sz="1600" spc="-1" strike="noStrike">
              <a:solidFill>
                <a:srgbClr val="ffffff"/>
              </a:solidFill>
              <a:latin typeface="Arial"/>
            </a:endParaRPr>
          </a:p>
        </p:txBody>
      </p:sp>
      <p:sp>
        <p:nvSpPr>
          <p:cNvPr id="219" name="Text 74"/>
          <p:cNvSpPr/>
          <p:nvPr/>
        </p:nvSpPr>
        <p:spPr>
          <a:xfrm>
            <a:off x="6894720" y="4270320"/>
            <a:ext cx="1828440" cy="511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950" spc="-1" strike="noStrike">
                <a:solidFill>
                  <a:srgbClr val="bad7f5"/>
                </a:solidFill>
                <a:latin typeface="Calibri"/>
                <a:ea typeface="Calibri"/>
              </a:rPr>
              <a:t>Sentiment Analysis &amp; Customer Feedback</a:t>
            </a:r>
            <a:endParaRPr b="0" lang="en-US" sz="9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2f9"/>
        </a:solidFill>
      </p:bgPr>
    </p:bg>
    <p:spTree>
      <p:nvGrpSpPr>
        <p:cNvPr id="1" name=""/>
        <p:cNvGrpSpPr/>
        <p:nvPr/>
      </p:nvGrpSpPr>
      <p:grpSpPr>
        <a:xfrm>
          <a:off x="0" y="0"/>
          <a:ext cx="0" cy="0"/>
          <a:chOff x="0" y="0"/>
          <a:chExt cx="0" cy="0"/>
        </a:xfrm>
      </p:grpSpPr>
      <p:sp>
        <p:nvSpPr>
          <p:cNvPr id="220" name="Shape 0"/>
          <p:cNvSpPr/>
          <p:nvPr/>
        </p:nvSpPr>
        <p:spPr>
          <a:xfrm>
            <a:off x="0" y="0"/>
            <a:ext cx="9143640" cy="959760"/>
          </a:xfrm>
          <a:prstGeom prst="rect">
            <a:avLst/>
          </a:prstGeom>
          <a:solidFill>
            <a:srgbClr val="0b1f3a"/>
          </a:solidFill>
          <a:ln w="12700">
            <a:solidFill>
              <a:srgbClr val="0b1f3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21" name="Shape 1"/>
          <p:cNvSpPr/>
          <p:nvPr/>
        </p:nvSpPr>
        <p:spPr>
          <a:xfrm>
            <a:off x="0" y="960120"/>
            <a:ext cx="9143640" cy="63720"/>
          </a:xfrm>
          <a:prstGeom prst="rect">
            <a:avLst/>
          </a:prstGeom>
          <a:solidFill>
            <a:srgbClr val="e6b020"/>
          </a:solidFill>
          <a:ln w="12700">
            <a:solidFill>
              <a:srgbClr val="e6b020"/>
            </a:solidFill>
            <a:round/>
          </a:ln>
        </p:spPr>
        <p:style>
          <a:lnRef idx="0"/>
          <a:fillRef idx="0"/>
          <a:effectRef idx="0"/>
          <a:fontRef idx="minor"/>
        </p:style>
        <p:txBody>
          <a:bodyPr lIns="90000" rIns="90000" tIns="19080" bIns="19080" anchor="t">
            <a:noAutofit/>
          </a:bodyPr>
          <a:p>
            <a:endParaRPr b="0" lang="en-US" sz="1800" spc="-1" strike="noStrike">
              <a:solidFill>
                <a:srgbClr val="000000"/>
              </a:solidFill>
              <a:latin typeface="Arial"/>
            </a:endParaRPr>
          </a:p>
        </p:txBody>
      </p:sp>
      <p:sp>
        <p:nvSpPr>
          <p:cNvPr id="222" name="Text 2"/>
          <p:cNvSpPr/>
          <p:nvPr/>
        </p:nvSpPr>
        <p:spPr>
          <a:xfrm>
            <a:off x="411480" y="0"/>
            <a:ext cx="8320680" cy="9597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f5c842"/>
                </a:solidFill>
                <a:latin typeface="Calibri"/>
                <a:ea typeface="Calibri"/>
              </a:rPr>
              <a:t>Business Impact Across the Finance Sector</a:t>
            </a:r>
            <a:endParaRPr b="0" lang="en-US" sz="2800" spc="-1" strike="noStrike">
              <a:solidFill>
                <a:srgbClr val="000000"/>
              </a:solidFill>
              <a:latin typeface="Arial"/>
            </a:endParaRPr>
          </a:p>
        </p:txBody>
      </p:sp>
      <p:sp>
        <p:nvSpPr>
          <p:cNvPr id="223" name="Shape 3"/>
          <p:cNvSpPr/>
          <p:nvPr/>
        </p:nvSpPr>
        <p:spPr>
          <a:xfrm>
            <a:off x="320040" y="1170360"/>
            <a:ext cx="2797560" cy="3730320"/>
          </a:xfrm>
          <a:prstGeom prst="rect">
            <a:avLst/>
          </a:prstGeom>
          <a:solidFill>
            <a:srgbClr val="0b1f3a"/>
          </a:solidFill>
          <a:ln w="22860">
            <a:solidFill>
              <a:srgbClr val="1d5fa6"/>
            </a:solidFill>
            <a:round/>
          </a:ln>
          <a:effectLst>
            <a:outerShdw algn="bl" blurRad="101520" dir="8100000" dist="37674" kx="0" ky="0" rotWithShape="0" sx="100000" sy="100000">
              <a:srgbClr val="000000">
                <a:alpha val="20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24" name="Shape 4"/>
          <p:cNvSpPr/>
          <p:nvPr/>
        </p:nvSpPr>
        <p:spPr>
          <a:xfrm>
            <a:off x="320040" y="1170360"/>
            <a:ext cx="2797560" cy="511560"/>
          </a:xfrm>
          <a:prstGeom prst="rect">
            <a:avLst/>
          </a:prstGeom>
          <a:solidFill>
            <a:srgbClr val="1d5fa6"/>
          </a:solidFill>
          <a:ln w="12700">
            <a:solidFill>
              <a:srgbClr val="1d5fa6"/>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25" name="Text 5"/>
          <p:cNvSpPr/>
          <p:nvPr/>
        </p:nvSpPr>
        <p:spPr>
          <a:xfrm>
            <a:off x="411480" y="1170360"/>
            <a:ext cx="2614680" cy="511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50" spc="-1" strike="noStrike">
                <a:solidFill>
                  <a:srgbClr val="0b1f3a"/>
                </a:solidFill>
                <a:latin typeface="Calibri"/>
                <a:ea typeface="Calibri"/>
              </a:rPr>
              <a:t>🏦  </a:t>
            </a:r>
            <a:r>
              <a:rPr b="1" lang="en-US" sz="1350" spc="-1" strike="noStrike">
                <a:solidFill>
                  <a:srgbClr val="0b1f3a"/>
                </a:solidFill>
                <a:latin typeface="Calibri"/>
                <a:ea typeface="Calibri"/>
              </a:rPr>
              <a:t>Banking &amp; Credit</a:t>
            </a:r>
            <a:endParaRPr b="0" lang="en-US" sz="1350" spc="-1" strike="noStrike">
              <a:solidFill>
                <a:srgbClr val="000000"/>
              </a:solidFill>
              <a:latin typeface="Arial"/>
            </a:endParaRPr>
          </a:p>
        </p:txBody>
      </p:sp>
      <p:sp>
        <p:nvSpPr>
          <p:cNvPr id="226" name="Text 6"/>
          <p:cNvSpPr/>
          <p:nvPr/>
        </p:nvSpPr>
        <p:spPr>
          <a:xfrm>
            <a:off x="429840" y="1774080"/>
            <a:ext cx="2578320" cy="6213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050" spc="-1" strike="noStrike">
                <a:solidFill>
                  <a:srgbClr val="bad7f5"/>
                </a:solidFill>
                <a:latin typeface="Calibri"/>
                <a:ea typeface="Calibri"/>
              </a:rPr>
              <a:t>◆  </a:t>
            </a:r>
            <a:r>
              <a:rPr b="0" lang="en-US" sz="1050" spc="-1" strike="noStrike">
                <a:solidFill>
                  <a:srgbClr val="b8c8dc"/>
                </a:solidFill>
                <a:latin typeface="Calibri"/>
                <a:ea typeface="Calibri"/>
              </a:rPr>
              <a:t>More accurate borrower risk profiles beyond traditional credit scores</a:t>
            </a:r>
            <a:endParaRPr b="0" lang="en-US" sz="1050" spc="-1" strike="noStrike">
              <a:solidFill>
                <a:srgbClr val="000000"/>
              </a:solidFill>
              <a:latin typeface="Arial"/>
            </a:endParaRPr>
          </a:p>
        </p:txBody>
      </p:sp>
      <p:sp>
        <p:nvSpPr>
          <p:cNvPr id="227" name="Text 7"/>
          <p:cNvSpPr/>
          <p:nvPr/>
        </p:nvSpPr>
        <p:spPr>
          <a:xfrm>
            <a:off x="429840" y="2450520"/>
            <a:ext cx="2578320" cy="6213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050" spc="-1" strike="noStrike">
                <a:solidFill>
                  <a:srgbClr val="bad7f5"/>
                </a:solidFill>
                <a:latin typeface="Calibri"/>
                <a:ea typeface="Calibri"/>
              </a:rPr>
              <a:t>◆  </a:t>
            </a:r>
            <a:r>
              <a:rPr b="0" lang="en-US" sz="1050" spc="-1" strike="noStrike">
                <a:solidFill>
                  <a:srgbClr val="b8c8dc"/>
                </a:solidFill>
                <a:latin typeface="Calibri"/>
                <a:ea typeface="Calibri"/>
              </a:rPr>
              <a:t>Real-time fraud detection protecting customer trust and assets</a:t>
            </a:r>
            <a:endParaRPr b="0" lang="en-US" sz="1050" spc="-1" strike="noStrike">
              <a:solidFill>
                <a:srgbClr val="000000"/>
              </a:solidFill>
              <a:latin typeface="Arial"/>
            </a:endParaRPr>
          </a:p>
        </p:txBody>
      </p:sp>
      <p:sp>
        <p:nvSpPr>
          <p:cNvPr id="228" name="Text 8"/>
          <p:cNvSpPr/>
          <p:nvPr/>
        </p:nvSpPr>
        <p:spPr>
          <a:xfrm>
            <a:off x="429840" y="3127320"/>
            <a:ext cx="2578320" cy="6213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050" spc="-1" strike="noStrike">
                <a:solidFill>
                  <a:srgbClr val="bad7f5"/>
                </a:solidFill>
                <a:latin typeface="Calibri"/>
                <a:ea typeface="Calibri"/>
              </a:rPr>
              <a:t>◆  </a:t>
            </a:r>
            <a:r>
              <a:rPr b="0" lang="en-US" sz="1050" spc="-1" strike="noStrike">
                <a:solidFill>
                  <a:srgbClr val="b8c8dc"/>
                </a:solidFill>
                <a:latin typeface="Calibri"/>
                <a:ea typeface="Calibri"/>
              </a:rPr>
              <a:t>Personalised product recommendations boosting cross-sell revenue</a:t>
            </a:r>
            <a:endParaRPr b="0" lang="en-US" sz="1050" spc="-1" strike="noStrike">
              <a:solidFill>
                <a:srgbClr val="000000"/>
              </a:solidFill>
              <a:latin typeface="Arial"/>
            </a:endParaRPr>
          </a:p>
        </p:txBody>
      </p:sp>
      <p:sp>
        <p:nvSpPr>
          <p:cNvPr id="229" name="Text 9"/>
          <p:cNvSpPr/>
          <p:nvPr/>
        </p:nvSpPr>
        <p:spPr>
          <a:xfrm>
            <a:off x="429840" y="3803760"/>
            <a:ext cx="2578320" cy="6213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050" spc="-1" strike="noStrike">
                <a:solidFill>
                  <a:srgbClr val="bad7f5"/>
                </a:solidFill>
                <a:latin typeface="Calibri"/>
                <a:ea typeface="Calibri"/>
              </a:rPr>
              <a:t>◆  </a:t>
            </a:r>
            <a:r>
              <a:rPr b="0" lang="en-US" sz="1050" spc="-1" strike="noStrike">
                <a:solidFill>
                  <a:srgbClr val="b8c8dc"/>
                </a:solidFill>
                <a:latin typeface="Calibri"/>
                <a:ea typeface="Calibri"/>
              </a:rPr>
              <a:t>Customer churn reduction through proactive engagement programs</a:t>
            </a:r>
            <a:endParaRPr b="0" lang="en-US" sz="1050" spc="-1" strike="noStrike">
              <a:solidFill>
                <a:srgbClr val="000000"/>
              </a:solidFill>
              <a:latin typeface="Arial"/>
            </a:endParaRPr>
          </a:p>
        </p:txBody>
      </p:sp>
      <p:sp>
        <p:nvSpPr>
          <p:cNvPr id="230" name="Shape 10"/>
          <p:cNvSpPr/>
          <p:nvPr/>
        </p:nvSpPr>
        <p:spPr>
          <a:xfrm>
            <a:off x="3264480" y="1170360"/>
            <a:ext cx="2797560" cy="3730320"/>
          </a:xfrm>
          <a:prstGeom prst="rect">
            <a:avLst/>
          </a:prstGeom>
          <a:solidFill>
            <a:srgbClr val="0b1f3a"/>
          </a:solidFill>
          <a:ln w="22860">
            <a:solidFill>
              <a:srgbClr val="0d7c7c"/>
            </a:solidFill>
            <a:round/>
          </a:ln>
          <a:effectLst>
            <a:outerShdw algn="bl" blurRad="101520" dir="8100000" dist="37674" kx="0" ky="0" rotWithShape="0" sx="100000" sy="100000">
              <a:srgbClr val="000000">
                <a:alpha val="20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31" name="Shape 11"/>
          <p:cNvSpPr/>
          <p:nvPr/>
        </p:nvSpPr>
        <p:spPr>
          <a:xfrm>
            <a:off x="3264480" y="1170360"/>
            <a:ext cx="2797560" cy="511560"/>
          </a:xfrm>
          <a:prstGeom prst="rect">
            <a:avLst/>
          </a:prstGeom>
          <a:solidFill>
            <a:srgbClr val="0d7c7c"/>
          </a:solidFill>
          <a:ln w="12700">
            <a:solidFill>
              <a:srgbClr val="0d7c7c"/>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32" name="Text 12"/>
          <p:cNvSpPr/>
          <p:nvPr/>
        </p:nvSpPr>
        <p:spPr>
          <a:xfrm>
            <a:off x="3355920" y="1170360"/>
            <a:ext cx="2614680" cy="511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50" spc="-1" strike="noStrike">
                <a:solidFill>
                  <a:srgbClr val="0b1f3a"/>
                </a:solidFill>
                <a:latin typeface="Calibri"/>
                <a:ea typeface="Calibri"/>
              </a:rPr>
              <a:t>🛡️  </a:t>
            </a:r>
            <a:r>
              <a:rPr b="1" lang="en-US" sz="1350" spc="-1" strike="noStrike">
                <a:solidFill>
                  <a:srgbClr val="0b1f3a"/>
                </a:solidFill>
                <a:latin typeface="Calibri"/>
                <a:ea typeface="Calibri"/>
              </a:rPr>
              <a:t>Insurance</a:t>
            </a:r>
            <a:endParaRPr b="0" lang="en-US" sz="1350" spc="-1" strike="noStrike">
              <a:solidFill>
                <a:srgbClr val="000000"/>
              </a:solidFill>
              <a:latin typeface="Arial"/>
            </a:endParaRPr>
          </a:p>
        </p:txBody>
      </p:sp>
      <p:sp>
        <p:nvSpPr>
          <p:cNvPr id="233" name="Text 13"/>
          <p:cNvSpPr/>
          <p:nvPr/>
        </p:nvSpPr>
        <p:spPr>
          <a:xfrm>
            <a:off x="3374280" y="1774080"/>
            <a:ext cx="2578320" cy="6213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050" spc="-1" strike="noStrike">
                <a:solidFill>
                  <a:srgbClr val="14b8a6"/>
                </a:solidFill>
                <a:latin typeface="Calibri"/>
                <a:ea typeface="Calibri"/>
              </a:rPr>
              <a:t>◆  </a:t>
            </a:r>
            <a:r>
              <a:rPr b="0" lang="en-US" sz="1050" spc="-1" strike="noStrike">
                <a:solidFill>
                  <a:srgbClr val="b8c8dc"/>
                </a:solidFill>
                <a:latin typeface="Calibri"/>
                <a:ea typeface="Calibri"/>
              </a:rPr>
              <a:t>Precise underwriting using diverse data sources beyond standard forms</a:t>
            </a:r>
            <a:endParaRPr b="0" lang="en-US" sz="1050" spc="-1" strike="noStrike">
              <a:solidFill>
                <a:srgbClr val="000000"/>
              </a:solidFill>
              <a:latin typeface="Arial"/>
            </a:endParaRPr>
          </a:p>
        </p:txBody>
      </p:sp>
      <p:sp>
        <p:nvSpPr>
          <p:cNvPr id="234" name="Text 14"/>
          <p:cNvSpPr/>
          <p:nvPr/>
        </p:nvSpPr>
        <p:spPr>
          <a:xfrm>
            <a:off x="3374280" y="2450520"/>
            <a:ext cx="2578320" cy="6213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050" spc="-1" strike="noStrike">
                <a:solidFill>
                  <a:srgbClr val="14b8a6"/>
                </a:solidFill>
                <a:latin typeface="Calibri"/>
                <a:ea typeface="Calibri"/>
              </a:rPr>
              <a:t>◆  </a:t>
            </a:r>
            <a:r>
              <a:rPr b="0" lang="en-US" sz="1050" spc="-1" strike="noStrike">
                <a:solidFill>
                  <a:srgbClr val="b8c8dc"/>
                </a:solidFill>
                <a:latin typeface="Calibri"/>
                <a:ea typeface="Calibri"/>
              </a:rPr>
              <a:t>Claims fraud detection establishing legitimate claim benchmarks</a:t>
            </a:r>
            <a:endParaRPr b="0" lang="en-US" sz="1050" spc="-1" strike="noStrike">
              <a:solidFill>
                <a:srgbClr val="000000"/>
              </a:solidFill>
              <a:latin typeface="Arial"/>
            </a:endParaRPr>
          </a:p>
        </p:txBody>
      </p:sp>
      <p:sp>
        <p:nvSpPr>
          <p:cNvPr id="235" name="Text 15"/>
          <p:cNvSpPr/>
          <p:nvPr/>
        </p:nvSpPr>
        <p:spPr>
          <a:xfrm>
            <a:off x="3374280" y="3127320"/>
            <a:ext cx="2578320" cy="6213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050" spc="-1" strike="noStrike">
                <a:solidFill>
                  <a:srgbClr val="14b8a6"/>
                </a:solidFill>
                <a:latin typeface="Calibri"/>
                <a:ea typeface="Calibri"/>
              </a:rPr>
              <a:t>◆  </a:t>
            </a:r>
            <a:r>
              <a:rPr b="0" lang="en-US" sz="1050" spc="-1" strike="noStrike">
                <a:solidFill>
                  <a:srgbClr val="b8c8dc"/>
                </a:solidFill>
                <a:latin typeface="Calibri"/>
                <a:ea typeface="Calibri"/>
              </a:rPr>
              <a:t>Fairer premium setting based on comprehensive customer profiles</a:t>
            </a:r>
            <a:endParaRPr b="0" lang="en-US" sz="1050" spc="-1" strike="noStrike">
              <a:solidFill>
                <a:srgbClr val="000000"/>
              </a:solidFill>
              <a:latin typeface="Arial"/>
            </a:endParaRPr>
          </a:p>
        </p:txBody>
      </p:sp>
      <p:sp>
        <p:nvSpPr>
          <p:cNvPr id="236" name="Text 16"/>
          <p:cNvSpPr/>
          <p:nvPr/>
        </p:nvSpPr>
        <p:spPr>
          <a:xfrm>
            <a:off x="3374280" y="3803760"/>
            <a:ext cx="2578320" cy="6213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050" spc="-1" strike="noStrike">
                <a:solidFill>
                  <a:srgbClr val="14b8a6"/>
                </a:solidFill>
                <a:latin typeface="Calibri"/>
                <a:ea typeface="Calibri"/>
              </a:rPr>
              <a:t>◆  </a:t>
            </a:r>
            <a:r>
              <a:rPr b="0" lang="en-US" sz="1050" spc="-1" strike="noStrike">
                <a:solidFill>
                  <a:srgbClr val="b8c8dc"/>
                </a:solidFill>
                <a:latin typeface="Calibri"/>
                <a:ea typeface="Calibri"/>
              </a:rPr>
              <a:t>Agile adaptation to changing regulations with automated reporting</a:t>
            </a:r>
            <a:endParaRPr b="0" lang="en-US" sz="1050" spc="-1" strike="noStrike">
              <a:solidFill>
                <a:srgbClr val="000000"/>
              </a:solidFill>
              <a:latin typeface="Arial"/>
            </a:endParaRPr>
          </a:p>
        </p:txBody>
      </p:sp>
      <p:sp>
        <p:nvSpPr>
          <p:cNvPr id="237" name="Shape 17"/>
          <p:cNvSpPr/>
          <p:nvPr/>
        </p:nvSpPr>
        <p:spPr>
          <a:xfrm>
            <a:off x="6208920" y="1170360"/>
            <a:ext cx="2797560" cy="3730320"/>
          </a:xfrm>
          <a:prstGeom prst="rect">
            <a:avLst/>
          </a:prstGeom>
          <a:solidFill>
            <a:srgbClr val="0b1f3a"/>
          </a:solidFill>
          <a:ln w="22860">
            <a:solidFill>
              <a:srgbClr val="c8960b"/>
            </a:solidFill>
            <a:round/>
          </a:ln>
          <a:effectLst>
            <a:outerShdw algn="bl" blurRad="101520" dir="8100000" dist="37674" kx="0" ky="0" rotWithShape="0" sx="100000" sy="100000">
              <a:srgbClr val="000000">
                <a:alpha val="20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38" name="Shape 18"/>
          <p:cNvSpPr/>
          <p:nvPr/>
        </p:nvSpPr>
        <p:spPr>
          <a:xfrm>
            <a:off x="6208920" y="1170360"/>
            <a:ext cx="2797560" cy="511560"/>
          </a:xfrm>
          <a:prstGeom prst="rect">
            <a:avLst/>
          </a:prstGeom>
          <a:solidFill>
            <a:srgbClr val="c8960b"/>
          </a:solidFill>
          <a:ln w="12700">
            <a:solidFill>
              <a:srgbClr val="c8960b"/>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39" name="Text 19"/>
          <p:cNvSpPr/>
          <p:nvPr/>
        </p:nvSpPr>
        <p:spPr>
          <a:xfrm>
            <a:off x="6300360" y="1170360"/>
            <a:ext cx="2614680" cy="511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50" spc="-1" strike="noStrike">
                <a:solidFill>
                  <a:srgbClr val="0b1f3a"/>
                </a:solidFill>
                <a:latin typeface="Calibri"/>
                <a:ea typeface="Calibri"/>
              </a:rPr>
              <a:t>📊  </a:t>
            </a:r>
            <a:r>
              <a:rPr b="1" lang="en-US" sz="1350" spc="-1" strike="noStrike">
                <a:solidFill>
                  <a:srgbClr val="0b1f3a"/>
                </a:solidFill>
                <a:latin typeface="Calibri"/>
                <a:ea typeface="Calibri"/>
              </a:rPr>
              <a:t>Investment &amp; Asset Management</a:t>
            </a:r>
            <a:endParaRPr b="0" lang="en-US" sz="1350" spc="-1" strike="noStrike">
              <a:solidFill>
                <a:srgbClr val="000000"/>
              </a:solidFill>
              <a:latin typeface="Arial"/>
            </a:endParaRPr>
          </a:p>
        </p:txBody>
      </p:sp>
      <p:sp>
        <p:nvSpPr>
          <p:cNvPr id="240" name="Text 20"/>
          <p:cNvSpPr/>
          <p:nvPr/>
        </p:nvSpPr>
        <p:spPr>
          <a:xfrm>
            <a:off x="6318360" y="1774080"/>
            <a:ext cx="2578320" cy="6213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050" spc="-1" strike="noStrike">
                <a:solidFill>
                  <a:srgbClr val="f5c842"/>
                </a:solidFill>
                <a:latin typeface="Calibri"/>
                <a:ea typeface="Calibri"/>
              </a:rPr>
              <a:t>◆  </a:t>
            </a:r>
            <a:r>
              <a:rPr b="0" lang="en-US" sz="1050" spc="-1" strike="noStrike">
                <a:solidFill>
                  <a:srgbClr val="b8c8dc"/>
                </a:solidFill>
                <a:latin typeface="Calibri"/>
                <a:ea typeface="Calibri"/>
              </a:rPr>
              <a:t>Predictive market modelling aligned to client risk appetites</a:t>
            </a:r>
            <a:endParaRPr b="0" lang="en-US" sz="1050" spc="-1" strike="noStrike">
              <a:solidFill>
                <a:srgbClr val="000000"/>
              </a:solidFill>
              <a:latin typeface="Arial"/>
            </a:endParaRPr>
          </a:p>
        </p:txBody>
      </p:sp>
      <p:sp>
        <p:nvSpPr>
          <p:cNvPr id="241" name="Text 21"/>
          <p:cNvSpPr/>
          <p:nvPr/>
        </p:nvSpPr>
        <p:spPr>
          <a:xfrm>
            <a:off x="6318360" y="2450520"/>
            <a:ext cx="2578320" cy="6213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050" spc="-1" strike="noStrike">
                <a:solidFill>
                  <a:srgbClr val="f5c842"/>
                </a:solidFill>
                <a:latin typeface="Calibri"/>
                <a:ea typeface="Calibri"/>
              </a:rPr>
              <a:t>◆  </a:t>
            </a:r>
            <a:r>
              <a:rPr b="0" lang="en-US" sz="1050" spc="-1" strike="noStrike">
                <a:solidFill>
                  <a:srgbClr val="b8c8dc"/>
                </a:solidFill>
                <a:latin typeface="Calibri"/>
                <a:ea typeface="Calibri"/>
              </a:rPr>
              <a:t>Dynamic portfolio rebalancing based on real-time data analysis</a:t>
            </a:r>
            <a:endParaRPr b="0" lang="en-US" sz="1050" spc="-1" strike="noStrike">
              <a:solidFill>
                <a:srgbClr val="000000"/>
              </a:solidFill>
              <a:latin typeface="Arial"/>
            </a:endParaRPr>
          </a:p>
        </p:txBody>
      </p:sp>
      <p:sp>
        <p:nvSpPr>
          <p:cNvPr id="242" name="Text 22"/>
          <p:cNvSpPr/>
          <p:nvPr/>
        </p:nvSpPr>
        <p:spPr>
          <a:xfrm>
            <a:off x="6318360" y="3127320"/>
            <a:ext cx="2578320" cy="6213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050" spc="-1" strike="noStrike">
                <a:solidFill>
                  <a:srgbClr val="f5c842"/>
                </a:solidFill>
                <a:latin typeface="Calibri"/>
                <a:ea typeface="Calibri"/>
              </a:rPr>
              <a:t>◆  </a:t>
            </a:r>
            <a:r>
              <a:rPr b="0" lang="en-US" sz="1050" spc="-1" strike="noStrike">
                <a:solidFill>
                  <a:srgbClr val="b8c8dc"/>
                </a:solidFill>
                <a:latin typeface="Calibri"/>
                <a:ea typeface="Calibri"/>
              </a:rPr>
              <a:t>News and social media sentiment as leading investment indicators</a:t>
            </a:r>
            <a:endParaRPr b="0" lang="en-US" sz="1050" spc="-1" strike="noStrike">
              <a:solidFill>
                <a:srgbClr val="000000"/>
              </a:solidFill>
              <a:latin typeface="Arial"/>
            </a:endParaRPr>
          </a:p>
        </p:txBody>
      </p:sp>
      <p:sp>
        <p:nvSpPr>
          <p:cNvPr id="243" name="Text 23"/>
          <p:cNvSpPr/>
          <p:nvPr/>
        </p:nvSpPr>
        <p:spPr>
          <a:xfrm>
            <a:off x="6318360" y="3803760"/>
            <a:ext cx="2578320" cy="6213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050" spc="-1" strike="noStrike">
                <a:solidFill>
                  <a:srgbClr val="f5c842"/>
                </a:solidFill>
                <a:latin typeface="Calibri"/>
                <a:ea typeface="Calibri"/>
              </a:rPr>
              <a:t>◆  </a:t>
            </a:r>
            <a:r>
              <a:rPr b="0" lang="en-US" sz="1050" spc="-1" strike="noStrike">
                <a:solidFill>
                  <a:srgbClr val="b8c8dc"/>
                </a:solidFill>
                <a:latin typeface="Calibri"/>
                <a:ea typeface="Calibri"/>
              </a:rPr>
              <a:t>Operational cost reduction through workflow automation and insights</a:t>
            </a:r>
            <a:endParaRPr b="0" lang="en-US" sz="10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f3a"/>
        </a:solidFill>
      </p:bgPr>
    </p:bg>
    <p:spTree>
      <p:nvGrpSpPr>
        <p:cNvPr id="1" name=""/>
        <p:cNvGrpSpPr/>
        <p:nvPr/>
      </p:nvGrpSpPr>
      <p:grpSpPr>
        <a:xfrm>
          <a:off x="0" y="0"/>
          <a:ext cx="0" cy="0"/>
          <a:chOff x="0" y="0"/>
          <a:chExt cx="0" cy="0"/>
        </a:xfrm>
      </p:grpSpPr>
      <p:sp>
        <p:nvSpPr>
          <p:cNvPr id="244" name="Shape 0"/>
          <p:cNvSpPr/>
          <p:nvPr/>
        </p:nvSpPr>
        <p:spPr>
          <a:xfrm>
            <a:off x="6217920" y="-1371600"/>
            <a:ext cx="5028840" cy="5028840"/>
          </a:xfrm>
          <a:prstGeom prst="ellipse">
            <a:avLst/>
          </a:prstGeom>
          <a:solidFill>
            <a:srgbClr val="112d52"/>
          </a:solidFill>
          <a:ln w="12700">
            <a:solidFill>
              <a:srgbClr val="112d52"/>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45" name="Shape 1"/>
          <p:cNvSpPr/>
          <p:nvPr/>
        </p:nvSpPr>
        <p:spPr>
          <a:xfrm>
            <a:off x="-1371600" y="3108960"/>
            <a:ext cx="4114440" cy="4114440"/>
          </a:xfrm>
          <a:prstGeom prst="ellipse">
            <a:avLst/>
          </a:prstGeom>
          <a:solidFill>
            <a:srgbClr val="0d7c7c">
              <a:alpha val="12000"/>
            </a:srgbClr>
          </a:solidFill>
          <a:ln w="12700">
            <a:solidFill>
              <a:srgbClr val="0d7c7c">
                <a:alpha val="15000"/>
              </a:srgbClr>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46" name="Shape 2"/>
          <p:cNvSpPr/>
          <p:nvPr/>
        </p:nvSpPr>
        <p:spPr>
          <a:xfrm>
            <a:off x="0" y="0"/>
            <a:ext cx="200880" cy="5143320"/>
          </a:xfrm>
          <a:prstGeom prst="rect">
            <a:avLst/>
          </a:prstGeom>
          <a:solidFill>
            <a:srgbClr val="e6b020"/>
          </a:solidFill>
          <a:ln w="12700">
            <a:solidFill>
              <a:srgbClr val="e6b020"/>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47" name="Text 3"/>
          <p:cNvSpPr/>
          <p:nvPr/>
        </p:nvSpPr>
        <p:spPr>
          <a:xfrm>
            <a:off x="457200" y="274320"/>
            <a:ext cx="8229240" cy="5940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800" spc="-1" strike="noStrike">
                <a:solidFill>
                  <a:srgbClr val="f5c842"/>
                </a:solidFill>
                <a:latin typeface="Calibri"/>
                <a:ea typeface="Calibri"/>
              </a:rPr>
              <a:t>Key Takeaways</a:t>
            </a:r>
            <a:endParaRPr b="0" lang="en-US" sz="3800" spc="-1" strike="noStrike">
              <a:solidFill>
                <a:srgbClr val="ffffff"/>
              </a:solidFill>
              <a:latin typeface="Arial"/>
            </a:endParaRPr>
          </a:p>
        </p:txBody>
      </p:sp>
      <p:sp>
        <p:nvSpPr>
          <p:cNvPr id="248" name="Text 4"/>
          <p:cNvSpPr/>
          <p:nvPr/>
        </p:nvSpPr>
        <p:spPr>
          <a:xfrm>
            <a:off x="457200" y="877680"/>
            <a:ext cx="64004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i="1" lang="en-US" sz="1100" spc="-1" strike="noStrike">
                <a:solidFill>
                  <a:srgbClr val="5b7a9a"/>
                </a:solidFill>
                <a:latin typeface="Calibri"/>
              </a:rPr>
              <a:t>Data Mining in the Finance Industry</a:t>
            </a:r>
            <a:endParaRPr b="0" lang="en-US" sz="1100" spc="-1" strike="noStrike">
              <a:solidFill>
                <a:srgbClr val="ffffff"/>
              </a:solidFill>
              <a:latin typeface="Arial"/>
            </a:endParaRPr>
          </a:p>
        </p:txBody>
      </p:sp>
      <p:sp>
        <p:nvSpPr>
          <p:cNvPr id="249" name="Shape 5"/>
          <p:cNvSpPr/>
          <p:nvPr/>
        </p:nvSpPr>
        <p:spPr>
          <a:xfrm>
            <a:off x="457200" y="1389960"/>
            <a:ext cx="328680" cy="328680"/>
          </a:xfrm>
          <a:prstGeom prst="ellipse">
            <a:avLst/>
          </a:prstGeom>
          <a:solidFill>
            <a:srgbClr val="1d5fa6"/>
          </a:solidFill>
          <a:ln w="12700">
            <a:solidFill>
              <a:srgbClr val="1d5fa6"/>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50" name="Text 6"/>
          <p:cNvSpPr/>
          <p:nvPr/>
        </p:nvSpPr>
        <p:spPr>
          <a:xfrm>
            <a:off x="457200" y="1389960"/>
            <a:ext cx="328680" cy="328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000" spc="-1" strike="noStrike">
                <a:solidFill>
                  <a:srgbClr val="f8faff"/>
                </a:solidFill>
                <a:latin typeface="Calibri"/>
              </a:rPr>
              <a:t>✦</a:t>
            </a:r>
            <a:endParaRPr b="0" lang="en-US" sz="1000" spc="-1" strike="noStrike">
              <a:solidFill>
                <a:srgbClr val="ffffff"/>
              </a:solidFill>
              <a:latin typeface="Arial"/>
            </a:endParaRPr>
          </a:p>
        </p:txBody>
      </p:sp>
      <p:sp>
        <p:nvSpPr>
          <p:cNvPr id="251" name="Text 7"/>
          <p:cNvSpPr/>
          <p:nvPr/>
        </p:nvSpPr>
        <p:spPr>
          <a:xfrm>
            <a:off x="932760" y="1316880"/>
            <a:ext cx="7817760" cy="502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50" spc="-1" strike="noStrike">
                <a:solidFill>
                  <a:srgbClr val="b8c8dc"/>
                </a:solidFill>
                <a:latin typeface="Calibri"/>
                <a:ea typeface="Calibri"/>
              </a:rPr>
              <a:t>Data mining transforms raw financial data — transactions, demographics, market trends — into actionable intelligence that gives FIs a competitive edge.</a:t>
            </a:r>
            <a:endParaRPr b="0" lang="en-US" sz="1150" spc="-1" strike="noStrike">
              <a:solidFill>
                <a:srgbClr val="ffffff"/>
              </a:solidFill>
              <a:latin typeface="Arial"/>
            </a:endParaRPr>
          </a:p>
        </p:txBody>
      </p:sp>
      <p:sp>
        <p:nvSpPr>
          <p:cNvPr id="252" name="Shape 8"/>
          <p:cNvSpPr/>
          <p:nvPr/>
        </p:nvSpPr>
        <p:spPr>
          <a:xfrm>
            <a:off x="457200" y="1965960"/>
            <a:ext cx="328680" cy="328680"/>
          </a:xfrm>
          <a:prstGeom prst="ellipse">
            <a:avLst/>
          </a:prstGeom>
          <a:solidFill>
            <a:srgbClr val="e6b020"/>
          </a:solidFill>
          <a:ln w="12700">
            <a:solidFill>
              <a:srgbClr val="e6b020"/>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53" name="Text 9"/>
          <p:cNvSpPr/>
          <p:nvPr/>
        </p:nvSpPr>
        <p:spPr>
          <a:xfrm>
            <a:off x="457200" y="1965960"/>
            <a:ext cx="328680" cy="328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000" spc="-1" strike="noStrike">
                <a:solidFill>
                  <a:srgbClr val="f8faff"/>
                </a:solidFill>
                <a:latin typeface="Calibri"/>
              </a:rPr>
              <a:t>✦</a:t>
            </a:r>
            <a:endParaRPr b="0" lang="en-US" sz="1000" spc="-1" strike="noStrike">
              <a:solidFill>
                <a:srgbClr val="ffffff"/>
              </a:solidFill>
              <a:latin typeface="Arial"/>
            </a:endParaRPr>
          </a:p>
        </p:txBody>
      </p:sp>
      <p:sp>
        <p:nvSpPr>
          <p:cNvPr id="254" name="Text 10"/>
          <p:cNvSpPr/>
          <p:nvPr/>
        </p:nvSpPr>
        <p:spPr>
          <a:xfrm>
            <a:off x="932760" y="1892880"/>
            <a:ext cx="7817760" cy="502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50" spc="-1" strike="noStrike">
                <a:solidFill>
                  <a:srgbClr val="b8c8dc"/>
                </a:solidFill>
                <a:latin typeface="Calibri"/>
                <a:ea typeface="Calibri"/>
              </a:rPr>
              <a:t>The 12 use cases span credit scoring, fraud detection, insurance, churn prediction, market analysis, compliance, segmentation, and operational efficiency.</a:t>
            </a:r>
            <a:endParaRPr b="0" lang="en-US" sz="1150" spc="-1" strike="noStrike">
              <a:solidFill>
                <a:srgbClr val="ffffff"/>
              </a:solidFill>
              <a:latin typeface="Arial"/>
            </a:endParaRPr>
          </a:p>
        </p:txBody>
      </p:sp>
      <p:sp>
        <p:nvSpPr>
          <p:cNvPr id="255" name="Shape 11"/>
          <p:cNvSpPr/>
          <p:nvPr/>
        </p:nvSpPr>
        <p:spPr>
          <a:xfrm>
            <a:off x="457200" y="2541960"/>
            <a:ext cx="328680" cy="328680"/>
          </a:xfrm>
          <a:prstGeom prst="ellipse">
            <a:avLst/>
          </a:prstGeom>
          <a:solidFill>
            <a:srgbClr val="14b8a6"/>
          </a:solidFill>
          <a:ln w="12700">
            <a:solidFill>
              <a:srgbClr val="14b8a6"/>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56" name="Text 12"/>
          <p:cNvSpPr/>
          <p:nvPr/>
        </p:nvSpPr>
        <p:spPr>
          <a:xfrm>
            <a:off x="457200" y="2541960"/>
            <a:ext cx="328680" cy="328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000" spc="-1" strike="noStrike">
                <a:solidFill>
                  <a:srgbClr val="f8faff"/>
                </a:solidFill>
                <a:latin typeface="Calibri"/>
              </a:rPr>
              <a:t>✦</a:t>
            </a:r>
            <a:endParaRPr b="0" lang="en-US" sz="1000" spc="-1" strike="noStrike">
              <a:solidFill>
                <a:srgbClr val="ffffff"/>
              </a:solidFill>
              <a:latin typeface="Arial"/>
            </a:endParaRPr>
          </a:p>
        </p:txBody>
      </p:sp>
      <p:sp>
        <p:nvSpPr>
          <p:cNvPr id="257" name="Text 13"/>
          <p:cNvSpPr/>
          <p:nvPr/>
        </p:nvSpPr>
        <p:spPr>
          <a:xfrm>
            <a:off x="932760" y="2468880"/>
            <a:ext cx="7817760" cy="502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50" spc="-1" strike="noStrike">
                <a:solidFill>
                  <a:srgbClr val="b8c8dc"/>
                </a:solidFill>
                <a:latin typeface="Calibri"/>
                <a:ea typeface="Calibri"/>
              </a:rPr>
              <a:t>Traditional scoring models are no longer sufficient — data mining evaluates social media behaviour, alternative credit sources, and community signals for richer profiles.</a:t>
            </a:r>
            <a:endParaRPr b="0" lang="en-US" sz="1150" spc="-1" strike="noStrike">
              <a:solidFill>
                <a:srgbClr val="ffffff"/>
              </a:solidFill>
              <a:latin typeface="Arial"/>
            </a:endParaRPr>
          </a:p>
        </p:txBody>
      </p:sp>
      <p:sp>
        <p:nvSpPr>
          <p:cNvPr id="258" name="Shape 14"/>
          <p:cNvSpPr/>
          <p:nvPr/>
        </p:nvSpPr>
        <p:spPr>
          <a:xfrm>
            <a:off x="457200" y="3117960"/>
            <a:ext cx="328680" cy="328680"/>
          </a:xfrm>
          <a:prstGeom prst="ellipse">
            <a:avLst/>
          </a:prstGeom>
          <a:solidFill>
            <a:srgbClr val="e6b020"/>
          </a:solidFill>
          <a:ln w="12700">
            <a:solidFill>
              <a:srgbClr val="e6b020"/>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59" name="Text 15"/>
          <p:cNvSpPr/>
          <p:nvPr/>
        </p:nvSpPr>
        <p:spPr>
          <a:xfrm>
            <a:off x="457200" y="3117960"/>
            <a:ext cx="328680" cy="328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000" spc="-1" strike="noStrike">
                <a:solidFill>
                  <a:srgbClr val="f8faff"/>
                </a:solidFill>
                <a:latin typeface="Calibri"/>
              </a:rPr>
              <a:t>✦</a:t>
            </a:r>
            <a:endParaRPr b="0" lang="en-US" sz="1000" spc="-1" strike="noStrike">
              <a:solidFill>
                <a:srgbClr val="ffffff"/>
              </a:solidFill>
              <a:latin typeface="Arial"/>
            </a:endParaRPr>
          </a:p>
        </p:txBody>
      </p:sp>
      <p:sp>
        <p:nvSpPr>
          <p:cNvPr id="260" name="Text 16"/>
          <p:cNvSpPr/>
          <p:nvPr/>
        </p:nvSpPr>
        <p:spPr>
          <a:xfrm>
            <a:off x="932760" y="3044880"/>
            <a:ext cx="7817760" cy="502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50" spc="-1" strike="noStrike">
                <a:solidFill>
                  <a:srgbClr val="b8c8dc"/>
                </a:solidFill>
                <a:latin typeface="Calibri"/>
                <a:ea typeface="Calibri"/>
              </a:rPr>
              <a:t>Real-time fraud detection using ML algorithms is now essential — protecting customers and maintaining financial stability against evolving digital threats.</a:t>
            </a:r>
            <a:endParaRPr b="0" lang="en-US" sz="1150" spc="-1" strike="noStrike">
              <a:solidFill>
                <a:srgbClr val="ffffff"/>
              </a:solidFill>
              <a:latin typeface="Arial"/>
            </a:endParaRPr>
          </a:p>
        </p:txBody>
      </p:sp>
      <p:sp>
        <p:nvSpPr>
          <p:cNvPr id="261" name="Shape 17"/>
          <p:cNvSpPr/>
          <p:nvPr/>
        </p:nvSpPr>
        <p:spPr>
          <a:xfrm>
            <a:off x="457200" y="3694320"/>
            <a:ext cx="328680" cy="328680"/>
          </a:xfrm>
          <a:prstGeom prst="ellipse">
            <a:avLst/>
          </a:prstGeom>
          <a:solidFill>
            <a:srgbClr val="14b8a6"/>
          </a:solidFill>
          <a:ln w="12700">
            <a:solidFill>
              <a:srgbClr val="14b8a6"/>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62" name="Text 18"/>
          <p:cNvSpPr/>
          <p:nvPr/>
        </p:nvSpPr>
        <p:spPr>
          <a:xfrm>
            <a:off x="457200" y="3694320"/>
            <a:ext cx="328680" cy="328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000" spc="-1" strike="noStrike">
                <a:solidFill>
                  <a:srgbClr val="f8faff"/>
                </a:solidFill>
                <a:latin typeface="Calibri"/>
              </a:rPr>
              <a:t>✦</a:t>
            </a:r>
            <a:endParaRPr b="0" lang="en-US" sz="1000" spc="-1" strike="noStrike">
              <a:solidFill>
                <a:srgbClr val="ffffff"/>
              </a:solidFill>
              <a:latin typeface="Arial"/>
            </a:endParaRPr>
          </a:p>
        </p:txBody>
      </p:sp>
      <p:sp>
        <p:nvSpPr>
          <p:cNvPr id="263" name="Text 19"/>
          <p:cNvSpPr/>
          <p:nvPr/>
        </p:nvSpPr>
        <p:spPr>
          <a:xfrm>
            <a:off x="932760" y="3620880"/>
            <a:ext cx="7817760" cy="502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50" spc="-1" strike="noStrike">
                <a:solidFill>
                  <a:srgbClr val="b8c8dc"/>
                </a:solidFill>
                <a:latin typeface="Calibri"/>
                <a:ea typeface="Calibri"/>
              </a:rPr>
              <a:t>Data mining enables FIs to move from reactive analytics to predictive precision — anticipating customer needs, market shifts, and regulatory changes before they occur.</a:t>
            </a:r>
            <a:endParaRPr b="0" lang="en-US" sz="1150" spc="-1" strike="noStrike">
              <a:solidFill>
                <a:srgbClr val="ffffff"/>
              </a:solidFill>
              <a:latin typeface="Arial"/>
            </a:endParaRPr>
          </a:p>
        </p:txBody>
      </p:sp>
      <p:sp>
        <p:nvSpPr>
          <p:cNvPr id="264" name="Shape 20"/>
          <p:cNvSpPr/>
          <p:nvPr/>
        </p:nvSpPr>
        <p:spPr>
          <a:xfrm>
            <a:off x="457200" y="4270320"/>
            <a:ext cx="328680" cy="328680"/>
          </a:xfrm>
          <a:prstGeom prst="ellipse">
            <a:avLst/>
          </a:prstGeom>
          <a:solidFill>
            <a:srgbClr val="1d5fa6"/>
          </a:solidFill>
          <a:ln w="12700">
            <a:solidFill>
              <a:srgbClr val="1d5fa6"/>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65" name="Text 21"/>
          <p:cNvSpPr/>
          <p:nvPr/>
        </p:nvSpPr>
        <p:spPr>
          <a:xfrm>
            <a:off x="457200" y="4270320"/>
            <a:ext cx="328680" cy="328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000" spc="-1" strike="noStrike">
                <a:solidFill>
                  <a:srgbClr val="f8faff"/>
                </a:solidFill>
                <a:latin typeface="Calibri"/>
              </a:rPr>
              <a:t>✦</a:t>
            </a:r>
            <a:endParaRPr b="0" lang="en-US" sz="1000" spc="-1" strike="noStrike">
              <a:solidFill>
                <a:srgbClr val="ffffff"/>
              </a:solidFill>
              <a:latin typeface="Arial"/>
            </a:endParaRPr>
          </a:p>
        </p:txBody>
      </p:sp>
      <p:sp>
        <p:nvSpPr>
          <p:cNvPr id="266" name="Text 22"/>
          <p:cNvSpPr/>
          <p:nvPr/>
        </p:nvSpPr>
        <p:spPr>
          <a:xfrm>
            <a:off x="932760" y="4197240"/>
            <a:ext cx="7817760" cy="502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50" spc="-1" strike="noStrike">
                <a:solidFill>
                  <a:srgbClr val="b8c8dc"/>
                </a:solidFill>
                <a:latin typeface="Calibri"/>
                <a:ea typeface="Calibri"/>
              </a:rPr>
              <a:t>Financial institutions that embrace tailored data mining solutions will be the ones to thrive in volatile, competitive, and heavily regulated financial markets.</a:t>
            </a:r>
            <a:endParaRPr b="0" lang="en-US" sz="1150" spc="-1" strike="noStrike">
              <a:solidFill>
                <a:srgbClr val="ffffff"/>
              </a:solidFill>
              <a:latin typeface="Arial"/>
            </a:endParaRPr>
          </a:p>
        </p:txBody>
      </p:sp>
      <p:sp>
        <p:nvSpPr>
          <p:cNvPr id="267" name="Shape 23"/>
          <p:cNvSpPr/>
          <p:nvPr/>
        </p:nvSpPr>
        <p:spPr>
          <a:xfrm>
            <a:off x="457200" y="4663440"/>
            <a:ext cx="8320680" cy="383760"/>
          </a:xfrm>
          <a:prstGeom prst="rect">
            <a:avLst/>
          </a:prstGeom>
          <a:solidFill>
            <a:srgbClr val="e6b020"/>
          </a:solidFill>
          <a:ln w="12700">
            <a:solidFill>
              <a:srgbClr val="e6b020"/>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68" name="Text 24"/>
          <p:cNvSpPr/>
          <p:nvPr/>
        </p:nvSpPr>
        <p:spPr>
          <a:xfrm>
            <a:off x="457200" y="4663440"/>
            <a:ext cx="8320680" cy="3837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300" spc="-1" strike="noStrike">
                <a:solidFill>
                  <a:srgbClr val="0b1f3a"/>
                </a:solidFill>
                <a:latin typeface="Calibri"/>
                <a:ea typeface="Calibri"/>
              </a:rPr>
              <a:t>Data mining in finance</a:t>
            </a:r>
            <a:endParaRPr b="0" lang="en-US" sz="13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LibreOffice/24.2.7.2$Linux_X86_64 LibreOffice_project/420$Build-2</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2026-04-11T03:10:59Z</dcterms:created>
  <dc:creator>PptxGenJS</dc:creator>
  <dc:description/>
  <dc:language>en-US</dc:language>
  <cp:lastModifiedBy/>
  <dcterms:modified xsi:type="dcterms:W3CDTF">2026-04-11T08:46:06Z</dcterms:modified>
  <cp:revision>3</cp:revision>
  <dc:subject>PptxGenJS Presentation</dc:subject>
  <dc:title>12 Use Cases of Data Mining in Finance</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9</vt:i4>
  </property>
  <property fmtid="{D5CDD505-2E9C-101B-9397-08002B2CF9AE}" pid="3" name="PresentationFormat">
    <vt:lpwstr>On-screen Show (16:9)</vt:lpwstr>
  </property>
  <property fmtid="{D5CDD505-2E9C-101B-9397-08002B2CF9AE}" pid="4" name="Slides">
    <vt:i4>9</vt:i4>
  </property>
</Properties>
</file>