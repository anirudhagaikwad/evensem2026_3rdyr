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A46E9B8-5EB0-49EF-9E16-443851C89B6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202A36-FBC1-4607-9F67-30BCE9D526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103E17-6CEE-46E8-9ACE-A80602580F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9B5FA0-6B20-4DDA-8D22-ADE0B28DFE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11D5E7-67FC-4BFA-AE2E-DD3951ECD3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F95042-5F9C-4482-A15F-16852C176D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B5CC6C-04CA-4D77-8960-4B595FC820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3FEF4E-A973-4D1A-9CF1-193A3C2243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21CEA1-9073-44F0-9816-03AF9ADA31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918F52-659E-458B-8BF4-C27EC1F139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19CD7E-5A70-4D49-976B-B7F5C09B8C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C09154-93E8-4AB5-B752-EF0FBFE2CD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309360" y="-1280160"/>
            <a:ext cx="4571640" cy="457164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498080" y="640080"/>
            <a:ext cx="2194200" cy="2194200"/>
          </a:xfrm>
          <a:prstGeom prst="ellipse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097280" y="3291840"/>
            <a:ext cx="3474360" cy="34743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38840" y="713160"/>
            <a:ext cx="2834280" cy="365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38840" y="71316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0f1c3f"/>
                </a:solidFill>
                <a:latin typeface="Calibri"/>
              </a:rPr>
              <a:t>·  DATA MINING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38840" y="1234440"/>
            <a:ext cx="8229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Statistical Methods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38840" y="1993320"/>
            <a:ext cx="8229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b923c"/>
                </a:solidFill>
                <a:latin typeface="Calibri"/>
                <a:ea typeface="Calibri"/>
              </a:rPr>
              <a:t>in Data Mining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38840" y="2871360"/>
            <a:ext cx="7772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bae6fd"/>
                </a:solidFill>
                <a:latin typeface="Calibri"/>
                <a:ea typeface="Calibri"/>
              </a:rPr>
              <a:t>Analysis Types · Statistical Terms · Key Methods · Approaches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38840" y="3456360"/>
            <a:ext cx="1992960" cy="840960"/>
          </a:xfrm>
          <a:prstGeom prst="rect">
            <a:avLst/>
          </a:prstGeom>
          <a:solidFill>
            <a:srgbClr val="1a2e5a"/>
          </a:solidFill>
          <a:ln w="1524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38840" y="3474720"/>
            <a:ext cx="199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b923c"/>
                </a:solidFill>
                <a:latin typeface="Calibri"/>
                <a:ea typeface="Calibri"/>
              </a:rPr>
              <a:t>2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38840" y="3931920"/>
            <a:ext cx="1992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Analysis Types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2606040" y="3456360"/>
            <a:ext cx="1992960" cy="840960"/>
          </a:xfrm>
          <a:prstGeom prst="rect">
            <a:avLst/>
          </a:prstGeom>
          <a:solidFill>
            <a:srgbClr val="1a2e5a"/>
          </a:solidFill>
          <a:ln w="1524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606040" y="3474720"/>
            <a:ext cx="199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b923c"/>
                </a:solidFill>
                <a:latin typeface="Calibri"/>
                <a:ea typeface="Calibri"/>
              </a:rPr>
              <a:t>15+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2606040" y="3931920"/>
            <a:ext cx="1992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Stat Methods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4773240" y="3456360"/>
            <a:ext cx="1992960" cy="840960"/>
          </a:xfrm>
          <a:prstGeom prst="rect">
            <a:avLst/>
          </a:prstGeom>
          <a:solidFill>
            <a:srgbClr val="1a2e5a"/>
          </a:solidFill>
          <a:ln w="1524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773240" y="3474720"/>
            <a:ext cx="199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b923c"/>
                </a:solidFill>
                <a:latin typeface="Calibri"/>
                <a:ea typeface="Calibri"/>
              </a:rPr>
              <a:t>4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773240" y="3931920"/>
            <a:ext cx="1992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Key Approaches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940440" y="3456360"/>
            <a:ext cx="1992960" cy="840960"/>
          </a:xfrm>
          <a:prstGeom prst="rect">
            <a:avLst/>
          </a:prstGeom>
          <a:solidFill>
            <a:srgbClr val="1a2e5a"/>
          </a:solidFill>
          <a:ln w="1524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940440" y="3474720"/>
            <a:ext cx="199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b923c"/>
                </a:solidFill>
                <a:latin typeface="Calibri"/>
                <a:ea typeface="Calibri"/>
              </a:rPr>
              <a:t>7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940440" y="3931920"/>
            <a:ext cx="1992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Stat Terms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38840" y="4736520"/>
            <a:ext cx="8412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What Is Statistical Data Mining?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365760" y="1170360"/>
            <a:ext cx="8412120" cy="1023840"/>
          </a:xfrm>
          <a:prstGeom prst="rect">
            <a:avLst/>
          </a:prstGeom>
          <a:solidFill>
            <a:srgbClr val="1a2e5a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30280" y="1188720"/>
            <a:ext cx="8092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7e8f9"/>
                </a:solidFill>
                <a:latin typeface="Calibri"/>
                <a:ea typeface="Calibri"/>
              </a:rPr>
              <a:t>Statistical Data Mining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is the science, art, and technology of discovering useful patterns in large and complex data bodies by applying </a:t>
            </a:r>
            <a:r>
              <a:rPr b="1" lang="en-US" sz="1300" spc="-1" strike="noStrike">
                <a:solidFill>
                  <a:srgbClr val="fb923c"/>
                </a:solidFill>
                <a:latin typeface="Calibri"/>
                <a:ea typeface="Calibri"/>
              </a:rPr>
              <a:t>mathematical formulas, models, and statistical techniques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 to extract knowledge from raw data.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365760" y="2359080"/>
            <a:ext cx="4205880" cy="2559960"/>
          </a:xfrm>
          <a:prstGeom prst="rect">
            <a:avLst/>
          </a:prstGeom>
          <a:solidFill>
            <a:srgbClr val="0f1c3f"/>
          </a:solidFill>
          <a:ln w="2286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365760" y="2359080"/>
            <a:ext cx="4205880" cy="51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475560" y="2359080"/>
            <a:ext cx="3986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📊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Statistical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75560" y="2926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(Quantitative)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02920" y="321876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Data is collected, analyzed, explored &amp; presented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502920" y="362088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Identifies patterns and trends through numbers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02920" y="402336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Uses descriptive &amp; inferential techniques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502920" y="442584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Foundation of data mining methodology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4773240" y="2359080"/>
            <a:ext cx="4205880" cy="2559960"/>
          </a:xfrm>
          <a:prstGeom prst="rect">
            <a:avLst/>
          </a:prstGeom>
          <a:solidFill>
            <a:srgbClr val="0f1c3f"/>
          </a:solidFill>
          <a:ln w="2286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4773240" y="2359080"/>
            <a:ext cx="4205880" cy="51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4883040" y="2359080"/>
            <a:ext cx="3986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🖼️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Non-Statistical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4883040" y="2926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(Qualitative)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4910400" y="321876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Provides generalized, contextual information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4910400" y="362088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Handles sound, still images &amp; moving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4910400" y="402336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Used for unstructured multimedia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4910400" y="442584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Complements quantitative findings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67e8f9"/>
                </a:solidFill>
                <a:latin typeface="Calibri"/>
                <a:ea typeface="Calibri"/>
              </a:rPr>
              <a:t>Two Branches of Statistics in Data Mining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320040" y="1078920"/>
            <a:ext cx="4160160" cy="3821760"/>
          </a:xfrm>
          <a:prstGeom prst="rect">
            <a:avLst/>
          </a:prstGeom>
          <a:solidFill>
            <a:srgbClr val="1a2e5a"/>
          </a:solidFill>
          <a:ln w="254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320040" y="1078920"/>
            <a:ext cx="4160160" cy="529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438840" y="1078920"/>
            <a:ext cx="3913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📐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Descriptive Statistics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57200" y="1691640"/>
            <a:ext cx="388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Organizes data and identifies its main characteristics. Summarizes data through graphs and numbers.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457200" y="242316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457200" y="2423160"/>
            <a:ext cx="91080" cy="520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58440" y="24415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Average (Mean)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658440" y="268848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Central tendency — sum of all values ÷ count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457200" y="301752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457200" y="3017520"/>
            <a:ext cx="91080" cy="520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658440" y="30358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Mode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658440" y="32828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Most frequently occurring value in the dataset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457200" y="361188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457200" y="3611880"/>
            <a:ext cx="91080" cy="520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658440" y="36302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Standard Deviation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658440" y="387720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Measures data spread around the mean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457200" y="420624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457200" y="4206240"/>
            <a:ext cx="91080" cy="520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658440" y="42246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7e8f9"/>
                </a:solidFill>
                <a:latin typeface="Calibri"/>
                <a:ea typeface="Calibri"/>
              </a:rPr>
              <a:t>Correlation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658440" y="44715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Strength &amp; direction of variable relationships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4663440" y="1078920"/>
            <a:ext cx="4160160" cy="3821760"/>
          </a:xfrm>
          <a:prstGeom prst="rect">
            <a:avLst/>
          </a:prstGeom>
          <a:solidFill>
            <a:srgbClr val="1a2e5a"/>
          </a:solidFill>
          <a:ln w="254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4663440" y="1078920"/>
            <a:ext cx="4160160" cy="529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4773240" y="1078920"/>
            <a:ext cx="3913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📈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Inferential Statistics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4773240" y="1691640"/>
            <a:ext cx="388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Draws conclusions using probability theory. Infers parameters about populations from sample statistics.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27"/>
          <p:cNvSpPr/>
          <p:nvPr/>
        </p:nvSpPr>
        <p:spPr>
          <a:xfrm>
            <a:off x="4773240" y="242316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28"/>
          <p:cNvSpPr/>
          <p:nvPr/>
        </p:nvSpPr>
        <p:spPr>
          <a:xfrm>
            <a:off x="4773240" y="2423160"/>
            <a:ext cx="91080" cy="520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4974480" y="24415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Hypothesis Testing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4974480" y="268848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Tests validity of claims about population data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1"/>
          <p:cNvSpPr/>
          <p:nvPr/>
        </p:nvSpPr>
        <p:spPr>
          <a:xfrm>
            <a:off x="4773240" y="301752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32"/>
          <p:cNvSpPr/>
          <p:nvPr/>
        </p:nvSpPr>
        <p:spPr>
          <a:xfrm>
            <a:off x="4773240" y="3017520"/>
            <a:ext cx="91080" cy="520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3"/>
          <p:cNvSpPr/>
          <p:nvPr/>
        </p:nvSpPr>
        <p:spPr>
          <a:xfrm>
            <a:off x="4974480" y="30358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Probability Models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4"/>
          <p:cNvSpPr/>
          <p:nvPr/>
        </p:nvSpPr>
        <p:spPr>
          <a:xfrm>
            <a:off x="4974480" y="32828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Estimates likelihood of outcomes from samples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35"/>
          <p:cNvSpPr/>
          <p:nvPr/>
        </p:nvSpPr>
        <p:spPr>
          <a:xfrm>
            <a:off x="4773240" y="361188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36"/>
          <p:cNvSpPr/>
          <p:nvPr/>
        </p:nvSpPr>
        <p:spPr>
          <a:xfrm>
            <a:off x="4773240" y="3611880"/>
            <a:ext cx="91080" cy="520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7"/>
          <p:cNvSpPr/>
          <p:nvPr/>
        </p:nvSpPr>
        <p:spPr>
          <a:xfrm>
            <a:off x="4974480" y="36302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Regression Models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38"/>
          <p:cNvSpPr/>
          <p:nvPr/>
        </p:nvSpPr>
        <p:spPr>
          <a:xfrm>
            <a:off x="4974480" y="387720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Models relationships and predicts continuous values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39"/>
          <p:cNvSpPr/>
          <p:nvPr/>
        </p:nvSpPr>
        <p:spPr>
          <a:xfrm>
            <a:off x="4773240" y="4206240"/>
            <a:ext cx="3885840" cy="5209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4773240" y="4206240"/>
            <a:ext cx="91080" cy="520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1"/>
          <p:cNvSpPr/>
          <p:nvPr/>
        </p:nvSpPr>
        <p:spPr>
          <a:xfrm>
            <a:off x="4974480" y="42246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b923c"/>
                </a:solidFill>
                <a:latin typeface="Calibri"/>
                <a:ea typeface="Calibri"/>
              </a:rPr>
              <a:t>Population Inference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42"/>
          <p:cNvSpPr/>
          <p:nvPr/>
        </p:nvSpPr>
        <p:spPr>
          <a:xfrm>
            <a:off x="4974480" y="44715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Generalizes sample insights to entire populations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Essential Statistical Terms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274320" y="115200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2563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274320" y="1152000"/>
            <a:ext cx="2029680" cy="411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274320" y="115200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365760" y="159120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563eb"/>
                </a:solidFill>
                <a:latin typeface="Calibri"/>
                <a:ea typeface="Calibri"/>
              </a:rPr>
              <a:t>Population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365760" y="197496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The entire set of subjects or data points of interest in a statistical study.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2441520" y="115200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2441520" y="1152000"/>
            <a:ext cx="2029680" cy="4111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2441520" y="115200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🔬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2532960" y="159120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b6d4"/>
                </a:solidFill>
                <a:latin typeface="Calibri"/>
                <a:ea typeface="Calibri"/>
              </a:rPr>
              <a:t>Sample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2532960" y="197496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A representative subset drawn from the population for analysis.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4608720" y="115200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4608720" y="1152000"/>
            <a:ext cx="2029680" cy="411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4608720" y="115200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📌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4700160" y="159120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923c"/>
                </a:solidFill>
                <a:latin typeface="Calibri"/>
                <a:ea typeface="Calibri"/>
              </a:rPr>
              <a:t>Variable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4700160" y="197496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Any characteristic, number, or quantity that can be measured or counted.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6775560" y="115200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2563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9"/>
          <p:cNvSpPr/>
          <p:nvPr/>
        </p:nvSpPr>
        <p:spPr>
          <a:xfrm>
            <a:off x="6775560" y="1152000"/>
            <a:ext cx="2029680" cy="411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6775560" y="115200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🔢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6867000" y="159120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563eb"/>
                </a:solidFill>
                <a:latin typeface="Calibri"/>
                <a:ea typeface="Calibri"/>
              </a:rPr>
              <a:t>Quantitative Variable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6867000" y="197496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Numerical variables representing measurable quantities (e.g., height, weight).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274320" y="305424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24"/>
          <p:cNvSpPr/>
          <p:nvPr/>
        </p:nvSpPr>
        <p:spPr>
          <a:xfrm>
            <a:off x="274320" y="3054240"/>
            <a:ext cx="2029680" cy="41112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274320" y="305424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🏷️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365760" y="349308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b6d4"/>
                </a:solidFill>
                <a:latin typeface="Calibri"/>
                <a:ea typeface="Calibri"/>
              </a:rPr>
              <a:t>Qualitative Variable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365760" y="387720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Categorical variables representing non-numerical characteristics (e.g., color).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8"/>
          <p:cNvSpPr/>
          <p:nvPr/>
        </p:nvSpPr>
        <p:spPr>
          <a:xfrm>
            <a:off x="2441520" y="305424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2441520" y="3054240"/>
            <a:ext cx="2029680" cy="411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2441520" y="305424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2532960" y="349308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923c"/>
                </a:solidFill>
                <a:latin typeface="Calibri"/>
                <a:ea typeface="Calibri"/>
              </a:rPr>
              <a:t>Discrete Variable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2532960" y="387720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Takes countable, distinct values (e.g., number of students, dice rolls).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4608720" y="3054240"/>
            <a:ext cx="2029680" cy="1755360"/>
          </a:xfrm>
          <a:prstGeom prst="rect">
            <a:avLst/>
          </a:prstGeom>
          <a:solidFill>
            <a:srgbClr val="0f1c3f"/>
          </a:solidFill>
          <a:ln w="19050">
            <a:solidFill>
              <a:srgbClr val="2563e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34"/>
          <p:cNvSpPr/>
          <p:nvPr/>
        </p:nvSpPr>
        <p:spPr>
          <a:xfrm>
            <a:off x="4608720" y="3054240"/>
            <a:ext cx="2029680" cy="411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5"/>
          <p:cNvSpPr/>
          <p:nvPr/>
        </p:nvSpPr>
        <p:spPr>
          <a:xfrm>
            <a:off x="4608720" y="305424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pc="-1" strike="noStrike">
                <a:solidFill>
                  <a:srgbClr val="000000"/>
                </a:solidFill>
                <a:latin typeface="Calibri"/>
              </a:rPr>
              <a:t>〰️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6"/>
          <p:cNvSpPr/>
          <p:nvPr/>
        </p:nvSpPr>
        <p:spPr>
          <a:xfrm>
            <a:off x="4700160" y="3493080"/>
            <a:ext cx="1846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563eb"/>
                </a:solidFill>
                <a:latin typeface="Calibri"/>
                <a:ea typeface="Calibri"/>
              </a:rPr>
              <a:t>Continuous Variable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37"/>
          <p:cNvSpPr/>
          <p:nvPr/>
        </p:nvSpPr>
        <p:spPr>
          <a:xfrm>
            <a:off x="4700160" y="3877200"/>
            <a:ext cx="1846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Can take any value within a range — infinite possibilities between two points.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Method 01 — Linear Regression &amp; Classification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320040" y="1078920"/>
            <a:ext cx="8503560" cy="1298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320040" y="1078920"/>
            <a:ext cx="109440" cy="1298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548640" y="11156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7e8f9"/>
                </a:solidFill>
                <a:latin typeface="Calibri"/>
                <a:ea typeface="Calibri"/>
              </a:rPr>
              <a:t>📉  </a:t>
            </a:r>
            <a:r>
              <a:rPr b="1" lang="en-US" sz="1400" spc="-1" strike="noStrike">
                <a:solidFill>
                  <a:srgbClr val="67e8f9"/>
                </a:solidFill>
                <a:latin typeface="Calibri"/>
                <a:ea typeface="Calibri"/>
              </a:rPr>
              <a:t>Linear Regression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548640" y="1463040"/>
            <a:ext cx="8119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ae6fd"/>
                </a:solidFill>
                <a:latin typeface="Calibri"/>
                <a:ea typeface="Calibri"/>
              </a:rPr>
              <a:t>Uses the best-fit linear relationship between independent and dependent variables to predict a target variable — minimizing the distance between the line and all actual observations.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320040" y="2487240"/>
            <a:ext cx="4160160" cy="749520"/>
          </a:xfrm>
          <a:prstGeom prst="rect">
            <a:avLst/>
          </a:prstGeom>
          <a:solidFill>
            <a:srgbClr val="1e3a72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429840" y="2514600"/>
            <a:ext cx="3913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Simple Linear Regression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429840" y="280728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One independent variable predicts the dependent variable by fitting a straight-line relationship.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4590360" y="2487240"/>
            <a:ext cx="4160160" cy="749520"/>
          </a:xfrm>
          <a:prstGeom prst="rect">
            <a:avLst/>
          </a:prstGeom>
          <a:solidFill>
            <a:srgbClr val="1e3a72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4700160" y="2514600"/>
            <a:ext cx="3913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Multiple Linear Regression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4700160" y="2807280"/>
            <a:ext cx="391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Multiple independent variables jointly fit the best linear relationship with the dependent variable.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320040" y="3383280"/>
            <a:ext cx="8503560" cy="347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438840" y="338328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🏷️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Classification — A Core Data Mining Method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438840" y="378576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ae6fd"/>
                </a:solidFill>
                <a:latin typeface="Calibri"/>
                <a:ea typeface="Calibri"/>
              </a:rPr>
              <a:t>Categorizes data into predefined classes to improve prediction accuracy. Two major techniques: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320040" y="4133160"/>
            <a:ext cx="4160160" cy="804240"/>
          </a:xfrm>
          <a:prstGeom prst="rect">
            <a:avLst/>
          </a:prstGeom>
          <a:solidFill>
            <a:srgbClr val="1a2e5a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429840" y="4160520"/>
            <a:ext cx="3913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Logistic Regression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429840" y="4434840"/>
            <a:ext cx="391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Models binary or multinomial dependent variables. Estimates probabilities of class membership using independent variables. Used in ML &amp; predictive analytics.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4590360" y="4133160"/>
            <a:ext cx="4160160" cy="804240"/>
          </a:xfrm>
          <a:prstGeom prst="rect">
            <a:avLst/>
          </a:prstGeom>
          <a:solidFill>
            <a:srgbClr val="1a2e5a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700160" y="4160520"/>
            <a:ext cx="3913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Discriminant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4700160" y="4434840"/>
            <a:ext cx="3913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ae6fd"/>
                </a:solidFill>
                <a:latin typeface="Calibri"/>
                <a:ea typeface="Calibri"/>
              </a:rPr>
              <a:t>Classifies observations into pre-identified population groups using Bayes' theorem. Models each class independently, then estimates response category likelihoods.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0" y="960120"/>
            <a:ext cx="9143640" cy="63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67e8f9"/>
                </a:solidFill>
                <a:latin typeface="Calibri"/>
                <a:ea typeface="Calibri"/>
              </a:rPr>
              <a:t>Discriminant Analysis: LDA vs QDA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365760" y="1170360"/>
            <a:ext cx="8412120" cy="658080"/>
          </a:xfrm>
          <a:prstGeom prst="rect">
            <a:avLst/>
          </a:prstGeom>
          <a:solidFill>
            <a:srgbClr val="1a2e5a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511920" y="1207080"/>
            <a:ext cx="81194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Discriminant Analysis categorizes new observations into pre-identified populations using Bayes' theorem, modeling each response class independently before estimating class likelihoods given predictor values X.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365760" y="1974960"/>
            <a:ext cx="4160160" cy="2925720"/>
          </a:xfrm>
          <a:prstGeom prst="rect">
            <a:avLst/>
          </a:prstGeom>
          <a:solidFill>
            <a:srgbClr val="0f1c3f"/>
          </a:solidFill>
          <a:ln w="254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365760" y="1974960"/>
            <a:ext cx="4160160" cy="51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475560" y="1974960"/>
            <a:ext cx="39132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Linear Discriminant Analysis (LDA)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493920" y="25786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Each observation receives a discriminant score to classify it into a response class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493920" y="30358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Combines independent variables linearly to compute scores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493920" y="34930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Assumes observations follow a Gaussian distribution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493920" y="39502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Predictor variables share a common covariance across all k levels of 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493920" y="44074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6b6d4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Best used when class boundaries are linear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4663440" y="1974960"/>
            <a:ext cx="4160160" cy="2925720"/>
          </a:xfrm>
          <a:prstGeom prst="rect">
            <a:avLst/>
          </a:prstGeom>
          <a:solidFill>
            <a:srgbClr val="0f1c3f"/>
          </a:solidFill>
          <a:ln w="254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4663440" y="1974960"/>
            <a:ext cx="4160160" cy="51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4773240" y="1974960"/>
            <a:ext cx="39132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Quadratic Discriminant Analysis (QDA)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4791600" y="25786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Alternative approach to LDA — relaxes the shared covariance assumption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4791600" y="30358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Both LDA and QDA assume Gaussian distributions for class observations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4791600" y="34930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Each class maintains its own distinct covariance matrix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4791600" y="39502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Predictor variables can have different variances across the k levels of 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0"/>
          <p:cNvSpPr/>
          <p:nvPr/>
        </p:nvSpPr>
        <p:spPr>
          <a:xfrm>
            <a:off x="4791600" y="44074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◆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Better for non-linear, curved decision boundaries between classes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More Key Statistical Methods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292680" y="1060560"/>
            <a:ext cx="2761200" cy="1773720"/>
          </a:xfrm>
          <a:prstGeom prst="rect">
            <a:avLst/>
          </a:prstGeom>
          <a:solidFill>
            <a:srgbClr val="1a2e5a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292680" y="1060560"/>
            <a:ext cx="91080" cy="177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475560" y="115200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b6d4"/>
                </a:solidFill>
                <a:latin typeface="Calibri"/>
                <a:ea typeface="Calibri"/>
              </a:rPr>
              <a:t>🔗  </a:t>
            </a:r>
            <a:r>
              <a:rPr b="1" lang="en-US" sz="1200" spc="-1" strike="noStrike">
                <a:solidFill>
                  <a:srgbClr val="06b6d4"/>
                </a:solidFill>
                <a:latin typeface="Calibri"/>
                <a:ea typeface="Calibri"/>
              </a:rPr>
              <a:t>Correlation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475560" y="1536120"/>
            <a:ext cx="2486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Captures the statistical relationship between a pair of variables — values typically stored in database columns/rows. Measures strength and direction of association (Pearson, Spearman).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3200400" y="1060560"/>
            <a:ext cx="2761200" cy="1773720"/>
          </a:xfrm>
          <a:prstGeom prst="rect">
            <a:avLst/>
          </a:prstGeom>
          <a:solidFill>
            <a:srgbClr val="1a2e5a"/>
          </a:solidFill>
          <a:ln w="1905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3200400" y="1060560"/>
            <a:ext cx="91080" cy="1773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3383280" y="115200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📉  </a:t>
            </a: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Regression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3383280" y="1536120"/>
            <a:ext cx="2486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Predicts a range of numerical (continuous) values based on other variables. Used across industries for financial forecasting, modeling environmental conditions, and analyzing trends.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6108120" y="1060560"/>
            <a:ext cx="2761200" cy="1773720"/>
          </a:xfrm>
          <a:prstGeom prst="rect">
            <a:avLst/>
          </a:prstGeom>
          <a:solidFill>
            <a:srgbClr val="1a2e5a"/>
          </a:solidFill>
          <a:ln w="19050">
            <a:solidFill>
              <a:srgbClr val="67e8f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2"/>
          <p:cNvSpPr/>
          <p:nvPr/>
        </p:nvSpPr>
        <p:spPr>
          <a:xfrm>
            <a:off x="6108120" y="1060560"/>
            <a:ext cx="91080" cy="177372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3"/>
          <p:cNvSpPr/>
          <p:nvPr/>
        </p:nvSpPr>
        <p:spPr>
          <a:xfrm>
            <a:off x="6291000" y="115200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🔵  </a:t>
            </a:r>
            <a:r>
              <a:rPr b="1" lang="en-US" sz="1200" spc="-1" strike="noStrike">
                <a:solidFill>
                  <a:srgbClr val="67e8f9"/>
                </a:solidFill>
                <a:latin typeface="Calibri"/>
                <a:ea typeface="Calibri"/>
              </a:rPr>
              <a:t>Clustering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6291000" y="1536120"/>
            <a:ext cx="2486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Groups similar data objects together without predefined labels. Uses distance/density metrics to form natural clusters — revealing hidden structure in data.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292680" y="2980800"/>
            <a:ext cx="2761200" cy="1773720"/>
          </a:xfrm>
          <a:prstGeom prst="rect">
            <a:avLst/>
          </a:prstGeom>
          <a:solidFill>
            <a:srgbClr val="1a2e5a"/>
          </a:solidFill>
          <a:ln w="1905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292680" y="2980800"/>
            <a:ext cx="91080" cy="1773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475560" y="307224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⚠️  </a:t>
            </a: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Outlier Detection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8"/>
          <p:cNvSpPr/>
          <p:nvPr/>
        </p:nvSpPr>
        <p:spPr>
          <a:xfrm>
            <a:off x="475560" y="3456360"/>
            <a:ext cx="2486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Identifies data points that deviate significantly from expected patterns. Critical for fraud detection, quality control, and data cleaning.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9"/>
          <p:cNvSpPr/>
          <p:nvPr/>
        </p:nvSpPr>
        <p:spPr>
          <a:xfrm>
            <a:off x="3200400" y="2980800"/>
            <a:ext cx="2761200" cy="1773720"/>
          </a:xfrm>
          <a:prstGeom prst="rect">
            <a:avLst/>
          </a:prstGeom>
          <a:solidFill>
            <a:srgbClr val="1a2e5a"/>
          </a:solidFill>
          <a:ln w="1905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0"/>
          <p:cNvSpPr/>
          <p:nvPr/>
        </p:nvSpPr>
        <p:spPr>
          <a:xfrm>
            <a:off x="3200400" y="2980800"/>
            <a:ext cx="91080" cy="177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1"/>
          <p:cNvSpPr/>
          <p:nvPr/>
        </p:nvSpPr>
        <p:spPr>
          <a:xfrm>
            <a:off x="3383280" y="307224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b6d4"/>
                </a:solidFill>
                <a:latin typeface="Calibri"/>
                <a:ea typeface="Calibri"/>
              </a:rPr>
              <a:t>📅  </a:t>
            </a:r>
            <a:r>
              <a:rPr b="1" lang="en-US" sz="1200" spc="-1" strike="noStrike">
                <a:solidFill>
                  <a:srgbClr val="06b6d4"/>
                </a:solidFill>
                <a:latin typeface="Calibri"/>
                <a:ea typeface="Calibri"/>
              </a:rPr>
              <a:t>Time-Series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2"/>
          <p:cNvSpPr/>
          <p:nvPr/>
        </p:nvSpPr>
        <p:spPr>
          <a:xfrm>
            <a:off x="3383280" y="3456360"/>
            <a:ext cx="2486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Analyzes data collected over time to detect trends, seasonality, and periodicity. Used in finance, sales forecasting, and IoT sensor data processing.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3"/>
          <p:cNvSpPr/>
          <p:nvPr/>
        </p:nvSpPr>
        <p:spPr>
          <a:xfrm>
            <a:off x="6108120" y="2980800"/>
            <a:ext cx="2761200" cy="1773720"/>
          </a:xfrm>
          <a:prstGeom prst="rect">
            <a:avLst/>
          </a:prstGeom>
          <a:solidFill>
            <a:srgbClr val="1a2e5a"/>
          </a:solidFill>
          <a:ln w="1905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4"/>
          <p:cNvSpPr/>
          <p:nvPr/>
        </p:nvSpPr>
        <p:spPr>
          <a:xfrm>
            <a:off x="6108120" y="2980800"/>
            <a:ext cx="91080" cy="1773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5"/>
          <p:cNvSpPr/>
          <p:nvPr/>
        </p:nvSpPr>
        <p:spPr>
          <a:xfrm>
            <a:off x="6291000" y="307224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🧠  </a:t>
            </a:r>
            <a:r>
              <a:rPr b="1" lang="en-US" sz="1200" spc="-1" strike="noStrike">
                <a:solidFill>
                  <a:srgbClr val="fb923c"/>
                </a:solidFill>
                <a:latin typeface="Calibri"/>
                <a:ea typeface="Calibri"/>
              </a:rPr>
              <a:t>Artificial Neural Networks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6"/>
          <p:cNvSpPr/>
          <p:nvPr/>
        </p:nvSpPr>
        <p:spPr>
          <a:xfrm>
            <a:off x="6291000" y="3456360"/>
            <a:ext cx="2486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ae6fd"/>
                </a:solidFill>
                <a:latin typeface="Calibri"/>
                <a:ea typeface="Calibri"/>
              </a:rPr>
              <a:t>Computational models inspired by the human brain. Excel at pattern recognition in high-dimensional data — form the basis of modern deep learning systems.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411480" y="0"/>
            <a:ext cx="8320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Complete Statistical Methods Inventory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320040" y="107892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320040" y="107892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484560" y="124344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484560" y="12434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914400" y="107892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Logistic Regression Analysis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320040" y="184716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320040" y="184716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0"/>
          <p:cNvSpPr/>
          <p:nvPr/>
        </p:nvSpPr>
        <p:spPr>
          <a:xfrm>
            <a:off x="484560" y="201168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484560" y="20116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914400" y="18471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Correlation Analysis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320040" y="261504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4"/>
          <p:cNvSpPr/>
          <p:nvPr/>
        </p:nvSpPr>
        <p:spPr>
          <a:xfrm>
            <a:off x="320040" y="261504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484560" y="277992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484560" y="27799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914400" y="261504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Regression Analysis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320040" y="338328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320040" y="338328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0"/>
          <p:cNvSpPr/>
          <p:nvPr/>
        </p:nvSpPr>
        <p:spPr>
          <a:xfrm>
            <a:off x="484560" y="354780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484560" y="35478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2"/>
          <p:cNvSpPr/>
          <p:nvPr/>
        </p:nvSpPr>
        <p:spPr>
          <a:xfrm>
            <a:off x="914400" y="33832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Discriminant Analysis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3"/>
          <p:cNvSpPr/>
          <p:nvPr/>
        </p:nvSpPr>
        <p:spPr>
          <a:xfrm>
            <a:off x="320040" y="415152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320040" y="415152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5"/>
          <p:cNvSpPr/>
          <p:nvPr/>
        </p:nvSpPr>
        <p:spPr>
          <a:xfrm>
            <a:off x="484560" y="431604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484560" y="43160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7"/>
          <p:cNvSpPr/>
          <p:nvPr/>
        </p:nvSpPr>
        <p:spPr>
          <a:xfrm>
            <a:off x="914400" y="415152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Linear Discriminant Analysis (LDA)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3264480" y="107892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9"/>
          <p:cNvSpPr/>
          <p:nvPr/>
        </p:nvSpPr>
        <p:spPr>
          <a:xfrm>
            <a:off x="3264480" y="107892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0"/>
          <p:cNvSpPr/>
          <p:nvPr/>
        </p:nvSpPr>
        <p:spPr>
          <a:xfrm>
            <a:off x="3429000" y="124344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3429000" y="12434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32"/>
          <p:cNvSpPr/>
          <p:nvPr/>
        </p:nvSpPr>
        <p:spPr>
          <a:xfrm>
            <a:off x="3858840" y="107892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Classification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33"/>
          <p:cNvSpPr/>
          <p:nvPr/>
        </p:nvSpPr>
        <p:spPr>
          <a:xfrm>
            <a:off x="3264480" y="184716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34"/>
          <p:cNvSpPr/>
          <p:nvPr/>
        </p:nvSpPr>
        <p:spPr>
          <a:xfrm>
            <a:off x="3264480" y="184716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35"/>
          <p:cNvSpPr/>
          <p:nvPr/>
        </p:nvSpPr>
        <p:spPr>
          <a:xfrm>
            <a:off x="3429000" y="201168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36"/>
          <p:cNvSpPr/>
          <p:nvPr/>
        </p:nvSpPr>
        <p:spPr>
          <a:xfrm>
            <a:off x="3429000" y="20116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37"/>
          <p:cNvSpPr/>
          <p:nvPr/>
        </p:nvSpPr>
        <p:spPr>
          <a:xfrm>
            <a:off x="3858840" y="18471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Clustering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8"/>
          <p:cNvSpPr/>
          <p:nvPr/>
        </p:nvSpPr>
        <p:spPr>
          <a:xfrm>
            <a:off x="3264480" y="261504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39"/>
          <p:cNvSpPr/>
          <p:nvPr/>
        </p:nvSpPr>
        <p:spPr>
          <a:xfrm>
            <a:off x="3264480" y="261504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40"/>
          <p:cNvSpPr/>
          <p:nvPr/>
        </p:nvSpPr>
        <p:spPr>
          <a:xfrm>
            <a:off x="3429000" y="277992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1"/>
          <p:cNvSpPr/>
          <p:nvPr/>
        </p:nvSpPr>
        <p:spPr>
          <a:xfrm>
            <a:off x="3429000" y="27799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2"/>
          <p:cNvSpPr/>
          <p:nvPr/>
        </p:nvSpPr>
        <p:spPr>
          <a:xfrm>
            <a:off x="3858840" y="261504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Outlier Detection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43"/>
          <p:cNvSpPr/>
          <p:nvPr/>
        </p:nvSpPr>
        <p:spPr>
          <a:xfrm>
            <a:off x="3264480" y="338328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44"/>
          <p:cNvSpPr/>
          <p:nvPr/>
        </p:nvSpPr>
        <p:spPr>
          <a:xfrm>
            <a:off x="3264480" y="338328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45"/>
          <p:cNvSpPr/>
          <p:nvPr/>
        </p:nvSpPr>
        <p:spPr>
          <a:xfrm>
            <a:off x="3429000" y="354780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46"/>
          <p:cNvSpPr/>
          <p:nvPr/>
        </p:nvSpPr>
        <p:spPr>
          <a:xfrm>
            <a:off x="3429000" y="35478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47"/>
          <p:cNvSpPr/>
          <p:nvPr/>
        </p:nvSpPr>
        <p:spPr>
          <a:xfrm>
            <a:off x="3858840" y="33832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Classification &amp; Regression Trees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48"/>
          <p:cNvSpPr/>
          <p:nvPr/>
        </p:nvSpPr>
        <p:spPr>
          <a:xfrm>
            <a:off x="3264480" y="415152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49"/>
          <p:cNvSpPr/>
          <p:nvPr/>
        </p:nvSpPr>
        <p:spPr>
          <a:xfrm>
            <a:off x="3264480" y="415152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50"/>
          <p:cNvSpPr/>
          <p:nvPr/>
        </p:nvSpPr>
        <p:spPr>
          <a:xfrm>
            <a:off x="3429000" y="431604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51"/>
          <p:cNvSpPr/>
          <p:nvPr/>
        </p:nvSpPr>
        <p:spPr>
          <a:xfrm>
            <a:off x="3429000" y="43160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52"/>
          <p:cNvSpPr/>
          <p:nvPr/>
        </p:nvSpPr>
        <p:spPr>
          <a:xfrm>
            <a:off x="3858840" y="415152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Correspondence Analysis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53"/>
          <p:cNvSpPr/>
          <p:nvPr/>
        </p:nvSpPr>
        <p:spPr>
          <a:xfrm>
            <a:off x="6208920" y="107892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54"/>
          <p:cNvSpPr/>
          <p:nvPr/>
        </p:nvSpPr>
        <p:spPr>
          <a:xfrm>
            <a:off x="6208920" y="107892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55"/>
          <p:cNvSpPr/>
          <p:nvPr/>
        </p:nvSpPr>
        <p:spPr>
          <a:xfrm>
            <a:off x="6373440" y="124344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56"/>
          <p:cNvSpPr/>
          <p:nvPr/>
        </p:nvSpPr>
        <p:spPr>
          <a:xfrm>
            <a:off x="6373440" y="12434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57"/>
          <p:cNvSpPr/>
          <p:nvPr/>
        </p:nvSpPr>
        <p:spPr>
          <a:xfrm>
            <a:off x="6803280" y="107892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Nonparametric Regression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58"/>
          <p:cNvSpPr/>
          <p:nvPr/>
        </p:nvSpPr>
        <p:spPr>
          <a:xfrm>
            <a:off x="6208920" y="184716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59"/>
          <p:cNvSpPr/>
          <p:nvPr/>
        </p:nvSpPr>
        <p:spPr>
          <a:xfrm>
            <a:off x="6208920" y="184716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60"/>
          <p:cNvSpPr/>
          <p:nvPr/>
        </p:nvSpPr>
        <p:spPr>
          <a:xfrm>
            <a:off x="6373440" y="201168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61"/>
          <p:cNvSpPr/>
          <p:nvPr/>
        </p:nvSpPr>
        <p:spPr>
          <a:xfrm>
            <a:off x="6373440" y="20116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62"/>
          <p:cNvSpPr/>
          <p:nvPr/>
        </p:nvSpPr>
        <p:spPr>
          <a:xfrm>
            <a:off x="6803280" y="184716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Statistical Pattern Recognition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63"/>
          <p:cNvSpPr/>
          <p:nvPr/>
        </p:nvSpPr>
        <p:spPr>
          <a:xfrm>
            <a:off x="6208920" y="261504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64"/>
          <p:cNvSpPr/>
          <p:nvPr/>
        </p:nvSpPr>
        <p:spPr>
          <a:xfrm>
            <a:off x="6208920" y="261504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65"/>
          <p:cNvSpPr/>
          <p:nvPr/>
        </p:nvSpPr>
        <p:spPr>
          <a:xfrm>
            <a:off x="6373440" y="277992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66"/>
          <p:cNvSpPr/>
          <p:nvPr/>
        </p:nvSpPr>
        <p:spPr>
          <a:xfrm>
            <a:off x="6373440" y="27799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67"/>
          <p:cNvSpPr/>
          <p:nvPr/>
        </p:nvSpPr>
        <p:spPr>
          <a:xfrm>
            <a:off x="6803280" y="261504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Categorical Data Analysis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68"/>
          <p:cNvSpPr/>
          <p:nvPr/>
        </p:nvSpPr>
        <p:spPr>
          <a:xfrm>
            <a:off x="6208920" y="338328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69"/>
          <p:cNvSpPr/>
          <p:nvPr/>
        </p:nvSpPr>
        <p:spPr>
          <a:xfrm>
            <a:off x="6208920" y="3383280"/>
            <a:ext cx="91080" cy="639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70"/>
          <p:cNvSpPr/>
          <p:nvPr/>
        </p:nvSpPr>
        <p:spPr>
          <a:xfrm>
            <a:off x="6373440" y="3547800"/>
            <a:ext cx="319680" cy="3196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71"/>
          <p:cNvSpPr/>
          <p:nvPr/>
        </p:nvSpPr>
        <p:spPr>
          <a:xfrm>
            <a:off x="6373440" y="35478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72"/>
          <p:cNvSpPr/>
          <p:nvPr/>
        </p:nvSpPr>
        <p:spPr>
          <a:xfrm>
            <a:off x="6803280" y="338328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Time-Series Methods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73"/>
          <p:cNvSpPr/>
          <p:nvPr/>
        </p:nvSpPr>
        <p:spPr>
          <a:xfrm>
            <a:off x="6208920" y="4151520"/>
            <a:ext cx="2834280" cy="639720"/>
          </a:xfrm>
          <a:prstGeom prst="rect">
            <a:avLst/>
          </a:prstGeom>
          <a:solidFill>
            <a:srgbClr val="0f1c3f"/>
          </a:solidFill>
          <a:ln w="127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74"/>
          <p:cNvSpPr/>
          <p:nvPr/>
        </p:nvSpPr>
        <p:spPr>
          <a:xfrm>
            <a:off x="6208920" y="4151520"/>
            <a:ext cx="9108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75"/>
          <p:cNvSpPr/>
          <p:nvPr/>
        </p:nvSpPr>
        <p:spPr>
          <a:xfrm>
            <a:off x="6373440" y="4316040"/>
            <a:ext cx="319680" cy="3196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76"/>
          <p:cNvSpPr/>
          <p:nvPr/>
        </p:nvSpPr>
        <p:spPr>
          <a:xfrm>
            <a:off x="6373440" y="43160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1c3f"/>
                </a:solidFill>
                <a:latin typeface="Calibri"/>
              </a:rPr>
              <a:t>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77"/>
          <p:cNvSpPr/>
          <p:nvPr/>
        </p:nvSpPr>
        <p:spPr>
          <a:xfrm>
            <a:off x="6803280" y="4151520"/>
            <a:ext cx="2148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e5a"/>
                </a:solidFill>
                <a:latin typeface="Calibri"/>
                <a:ea typeface="Calibri"/>
              </a:rPr>
              <a:t>Artificial Neural Networks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78"/>
          <p:cNvSpPr/>
          <p:nvPr/>
        </p:nvSpPr>
        <p:spPr>
          <a:xfrm>
            <a:off x="320040" y="4827960"/>
            <a:ext cx="8503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</a:rPr>
              <a:t>Source: GeeksForGeeks — Statistical Methods in Data Mining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"/>
          <p:cNvSpPr/>
          <p:nvPr/>
        </p:nvSpPr>
        <p:spPr>
          <a:xfrm>
            <a:off x="0" y="987480"/>
            <a:ext cx="9143640" cy="5436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411480" y="0"/>
            <a:ext cx="832068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Statistical Data Mining Approaches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274320" y="1152000"/>
            <a:ext cx="4260600" cy="1755360"/>
          </a:xfrm>
          <a:prstGeom prst="rect">
            <a:avLst/>
          </a:prstGeom>
          <a:solidFill>
            <a:srgbClr val="1a2e5a"/>
          </a:solidFill>
          <a:ln w="2286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4"/>
          <p:cNvSpPr/>
          <p:nvPr/>
        </p:nvSpPr>
        <p:spPr>
          <a:xfrm>
            <a:off x="274320" y="1152000"/>
            <a:ext cx="4260600" cy="456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365760" y="1152000"/>
            <a:ext cx="40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📊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01  Descriptive Approach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384120" y="16642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6b6d4"/>
                </a:solidFill>
                <a:latin typeface="Calibri"/>
                <a:ea typeface="Calibri"/>
              </a:rPr>
              <a:t>What: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Summarizes and describes the main features of a dataset without making predictions or inferences.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384120" y="2048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6b6d4"/>
                </a:solidFill>
                <a:latin typeface="Calibri"/>
                <a:ea typeface="Calibri"/>
              </a:rPr>
              <a:t>How: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Uses mean, median, mode, standard deviation, frequency distributions, histograms, and cross-tabulations.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384120" y="24321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6b6d4"/>
                </a:solidFill>
                <a:latin typeface="Calibri"/>
                <a:ea typeface="Calibri"/>
              </a:rPr>
              <a:t>Used For: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Understanding customer demographics, product usage patterns, market segmentation.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4736520" y="1152000"/>
            <a:ext cx="4260600" cy="1755360"/>
          </a:xfrm>
          <a:prstGeom prst="rect">
            <a:avLst/>
          </a:prstGeom>
          <a:solidFill>
            <a:srgbClr val="1a2e5a"/>
          </a:solidFill>
          <a:ln w="2286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10"/>
          <p:cNvSpPr/>
          <p:nvPr/>
        </p:nvSpPr>
        <p:spPr>
          <a:xfrm>
            <a:off x="4736520" y="1152000"/>
            <a:ext cx="4260600" cy="456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4827960" y="1152000"/>
            <a:ext cx="40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🔮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02  Predictive Approach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4846320" y="16642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b923c"/>
                </a:solidFill>
                <a:latin typeface="Calibri"/>
                <a:ea typeface="Calibri"/>
              </a:rPr>
              <a:t>What: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Builds models to forecast future outcomes or classify unknown observations based on historical data.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4846320" y="2048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b923c"/>
                </a:solidFill>
                <a:latin typeface="Calibri"/>
                <a:ea typeface="Calibri"/>
              </a:rPr>
              <a:t>How: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Employs regression analysis, classification algorithms (logistic regression, LDA), neural networks, decision trees.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4846320" y="24321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b923c"/>
                </a:solidFill>
                <a:latin typeface="Calibri"/>
                <a:ea typeface="Calibri"/>
              </a:rPr>
              <a:t>Used For: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Credit scoring, churn prediction, demand forecasting, spam detection.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5"/>
          <p:cNvSpPr/>
          <p:nvPr/>
        </p:nvSpPr>
        <p:spPr>
          <a:xfrm>
            <a:off x="274320" y="3054240"/>
            <a:ext cx="4260600" cy="1755360"/>
          </a:xfrm>
          <a:prstGeom prst="rect">
            <a:avLst/>
          </a:prstGeom>
          <a:solidFill>
            <a:srgbClr val="1a2e5a"/>
          </a:solidFill>
          <a:ln w="22860">
            <a:solidFill>
              <a:srgbClr val="67e8f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16"/>
          <p:cNvSpPr/>
          <p:nvPr/>
        </p:nvSpPr>
        <p:spPr>
          <a:xfrm>
            <a:off x="274320" y="3054240"/>
            <a:ext cx="4260600" cy="456840"/>
          </a:xfrm>
          <a:prstGeom prst="rect">
            <a:avLst/>
          </a:prstGeom>
          <a:solidFill>
            <a:srgbClr val="1e3a72"/>
          </a:solidFill>
          <a:ln w="12700">
            <a:solidFill>
              <a:srgbClr val="1e3a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365760" y="3054240"/>
            <a:ext cx="40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🧭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03  Exploratory Approach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384120" y="35661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67e8f9"/>
                </a:solidFill>
                <a:latin typeface="Calibri"/>
                <a:ea typeface="Calibri"/>
              </a:rPr>
              <a:t>What: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Investigates data to find unknown patterns and relationships, without a pre-specified hypothesis.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384120" y="39502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67e8f9"/>
                </a:solidFill>
                <a:latin typeface="Calibri"/>
                <a:ea typeface="Calibri"/>
              </a:rPr>
              <a:t>How: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Applies clustering, association rule mining, correlation analysis, PCA, and outlier detection.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20"/>
          <p:cNvSpPr/>
          <p:nvPr/>
        </p:nvSpPr>
        <p:spPr>
          <a:xfrm>
            <a:off x="384120" y="433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67e8f9"/>
                </a:solidFill>
                <a:latin typeface="Calibri"/>
                <a:ea typeface="Calibri"/>
              </a:rPr>
              <a:t>Used For: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Market basket analysis, anomaly detection in transactions, discovering new customer segments.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4736520" y="3054240"/>
            <a:ext cx="4260600" cy="1755360"/>
          </a:xfrm>
          <a:prstGeom prst="rect">
            <a:avLst/>
          </a:prstGeom>
          <a:solidFill>
            <a:srgbClr val="1a2e5a"/>
          </a:solidFill>
          <a:ln w="2286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22"/>
          <p:cNvSpPr/>
          <p:nvPr/>
        </p:nvSpPr>
        <p:spPr>
          <a:xfrm>
            <a:off x="4736520" y="3054240"/>
            <a:ext cx="4260600" cy="456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4827960" y="3054240"/>
            <a:ext cx="40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📐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04  Inferential Approach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4"/>
          <p:cNvSpPr/>
          <p:nvPr/>
        </p:nvSpPr>
        <p:spPr>
          <a:xfrm>
            <a:off x="4846320" y="35661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b923c"/>
                </a:solidFill>
                <a:latin typeface="Calibri"/>
                <a:ea typeface="Calibri"/>
              </a:rPr>
              <a:t>What: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Draws conclusions about a population by testing hypotheses using sample data and probability theory.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25"/>
          <p:cNvSpPr/>
          <p:nvPr/>
        </p:nvSpPr>
        <p:spPr>
          <a:xfrm>
            <a:off x="4846320" y="39502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b923c"/>
                </a:solidFill>
                <a:latin typeface="Calibri"/>
                <a:ea typeface="Calibri"/>
              </a:rPr>
              <a:t>How: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Uses hypothesis testing (t-test, chi-square), confidence intervals, ANOVA, and statistical significance tests.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4846320" y="433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b923c"/>
                </a:solidFill>
                <a:latin typeface="Calibri"/>
                <a:ea typeface="Calibri"/>
              </a:rPr>
              <a:t>Used For: </a:t>
            </a:r>
            <a:r>
              <a:rPr b="0" lang="en-US" sz="980" spc="-1" strike="noStrike">
                <a:solidFill>
                  <a:srgbClr val="bae6fd"/>
                </a:solidFill>
                <a:latin typeface="Calibri"/>
                <a:ea typeface="Calibri"/>
              </a:rPr>
              <a:t>A/B testing, clinical trials, quality control, validating data mining model outputs.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411480" y="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Input vs Output Variables &amp; Data Types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365760" y="1170360"/>
            <a:ext cx="4114440" cy="3520080"/>
          </a:xfrm>
          <a:prstGeom prst="rect">
            <a:avLst/>
          </a:prstGeom>
          <a:solidFill>
            <a:srgbClr val="0f1c3f"/>
          </a:solidFill>
          <a:ln w="25400">
            <a:solidFill>
              <a:srgbClr val="06b6d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365760" y="1170360"/>
            <a:ext cx="4114440" cy="493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502920" y="1170360"/>
            <a:ext cx="38584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⬅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Input Variables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502920" y="171900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6b6d4"/>
                </a:solidFill>
                <a:latin typeface="Calibri"/>
                <a:ea typeface="Calibri"/>
              </a:rPr>
              <a:t>Independent / Predictor Variables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502920" y="203004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ae6fd"/>
                </a:solidFill>
                <a:latin typeface="Calibri"/>
                <a:ea typeface="Calibri"/>
              </a:rPr>
              <a:t>Variables we control or can measure directly. They are used to explain or predict the output variable.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502920" y="265176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7e8f9"/>
                </a:solidFill>
                <a:latin typeface="Calibri"/>
                <a:ea typeface="Calibri"/>
              </a:rPr>
              <a:t>Quantitative: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Measurable numerical values (e.g., age, income, temperature)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502920" y="314568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7e8f9"/>
                </a:solidFill>
                <a:latin typeface="Calibri"/>
                <a:ea typeface="Calibri"/>
              </a:rPr>
              <a:t>Qualitative: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Categorical non-numerical values (e.g., gender, region, color)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502920" y="363924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7e8f9"/>
                </a:solidFill>
                <a:latin typeface="Calibri"/>
                <a:ea typeface="Calibri"/>
              </a:rPr>
              <a:t>Discrete: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Countable whole numbers (e.g., no. of purchases, clicks)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502920" y="413316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7e8f9"/>
                </a:solidFill>
                <a:latin typeface="Calibri"/>
                <a:ea typeface="Calibri"/>
              </a:rPr>
              <a:t>Continuous: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Any value in a range (e.g., 2.58 kg, 37.4°C)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4663440" y="1170360"/>
            <a:ext cx="4114440" cy="3520080"/>
          </a:xfrm>
          <a:prstGeom prst="rect">
            <a:avLst/>
          </a:prstGeom>
          <a:solidFill>
            <a:srgbClr val="0f1c3f"/>
          </a:solidFill>
          <a:ln w="25400">
            <a:solidFill>
              <a:srgbClr val="fb923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3"/>
          <p:cNvSpPr/>
          <p:nvPr/>
        </p:nvSpPr>
        <p:spPr>
          <a:xfrm>
            <a:off x="4663440" y="1170360"/>
            <a:ext cx="4114440" cy="493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4791600" y="1170360"/>
            <a:ext cx="38584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➡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Output Variables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4791600" y="171900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b923c"/>
                </a:solidFill>
                <a:latin typeface="Calibri"/>
                <a:ea typeface="Calibri"/>
              </a:rPr>
              <a:t>Dependent / Response Variables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4791600" y="203004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ae6fd"/>
                </a:solidFill>
                <a:latin typeface="Calibri"/>
                <a:ea typeface="Calibri"/>
              </a:rPr>
              <a:t>Variables we observe and aim to predict or explain. They depend on the values of input variables.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4791600" y="265176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Continuous Output: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Predicted by regression methods (e.g., price, temperature)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4791600" y="314568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Binary Output: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Two possible outcomes (e.g., fraud/no fraud, yes/no)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4791600" y="363924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Multinomial Output: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Multiple class categories (e.g., sentiment labels)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4791600" y="4133160"/>
            <a:ext cx="384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923c"/>
                </a:solidFill>
                <a:latin typeface="Calibri"/>
                <a:ea typeface="Calibri"/>
              </a:rPr>
              <a:t>Pattern/Cluster:  </a:t>
            </a:r>
            <a:r>
              <a:rPr b="0" lang="en-US" sz="1050" spc="-1" strike="noStrike">
                <a:solidFill>
                  <a:srgbClr val="bae6fd"/>
                </a:solidFill>
                <a:latin typeface="Calibri"/>
                <a:ea typeface="Calibri"/>
              </a:rPr>
              <a:t>Group membership or anomaly flags discovered by mining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6217920" y="-1097280"/>
            <a:ext cx="4571640" cy="457164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1"/>
          <p:cNvSpPr/>
          <p:nvPr/>
        </p:nvSpPr>
        <p:spPr>
          <a:xfrm>
            <a:off x="-1097280" y="3200400"/>
            <a:ext cx="3657240" cy="3657240"/>
          </a:xfrm>
          <a:prstGeom prst="ellipse">
            <a:avLst/>
          </a:prstGeom>
          <a:solidFill>
            <a:srgbClr val="ea580c">
              <a:alpha val="13000"/>
            </a:srgbClr>
          </a:solidFill>
          <a:ln w="12700">
            <a:solidFill>
              <a:srgbClr val="ea580c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43884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b923c"/>
                </a:solidFill>
                <a:latin typeface="Calibri"/>
                <a:ea typeface="Calibri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438840" y="8596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</a:rPr>
              <a:t>Statistical Methods in Data Mining — GeeksForGeeks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438840" y="1389960"/>
            <a:ext cx="347040" cy="347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438840" y="13899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c3f"/>
                </a:solidFill>
                <a:latin typeface="Calibri"/>
              </a:rPr>
              <a:t>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932760" y="133488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Data mining uses statistical analysis (quantitative) and non-statistical analysis (qualitative) to uncover patterns in large datasets.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438840" y="2002680"/>
            <a:ext cx="347040" cy="3470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438840" y="2002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c3f"/>
                </a:solidFill>
                <a:latin typeface="Calibri"/>
              </a:rPr>
              <a:t>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932760" y="194760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Descriptive statistics summarizes data; inferential statistics draws population-level conclusions from samples using probability theory.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438840" y="2615040"/>
            <a:ext cx="347040" cy="347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438840" y="2615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c3f"/>
                </a:solidFill>
                <a:latin typeface="Calibri"/>
              </a:rPr>
              <a:t>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932760" y="256032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Key methods include linear regression, logistic regression, LDA, QDA, clustering, correlation, outlier detection, and neural networks.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438840" y="3227760"/>
            <a:ext cx="347040" cy="3470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438840" y="3227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c3f"/>
                </a:solidFill>
                <a:latin typeface="Calibri"/>
              </a:rPr>
              <a:t>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932760" y="317304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The four statistical data mining approaches — Descriptive, Predictive, Exploratory, and Inferential — serve distinct analytical goals.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438840" y="3840480"/>
            <a:ext cx="347040" cy="347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438840" y="38404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c3f"/>
                </a:solidFill>
                <a:latin typeface="Calibri"/>
              </a:rPr>
              <a:t>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932760" y="378576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Good data mining requires clear input/output variable definitions and understanding the quantitative vs. qualitative nature of data.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438840" y="4453200"/>
            <a:ext cx="347040" cy="3470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438840" y="4453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c3f"/>
                </a:solidFill>
                <a:latin typeface="Calibri"/>
              </a:rPr>
              <a:t>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932760" y="439812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ae6fd"/>
                </a:solidFill>
                <a:latin typeface="Calibri"/>
                <a:ea typeface="Calibri"/>
              </a:rPr>
              <a:t>Hypothesis validation is essential — statistical tests ensure inferences drawn from data mining are robust and meaningful.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438840" y="4663440"/>
            <a:ext cx="8320680" cy="383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24"/>
          <p:cNvSpPr/>
          <p:nvPr/>
        </p:nvSpPr>
        <p:spPr>
          <a:xfrm>
            <a:off x="438840" y="4663440"/>
            <a:ext cx="832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c3f"/>
                </a:solidFill>
                <a:latin typeface="Calibri"/>
                <a:ea typeface="Calibri"/>
              </a:rPr>
              <a:t>Statistical rigor + data mining power = reliable, actionable knowledge from data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2026-04-08T10:27:23Z</dcterms:created>
  <dc:creator>PptxGenJS</dc:creator>
  <dc:description/>
  <dc:language>en-US</dc:language>
  <cp:lastModifiedBy/>
  <dcterms:modified xsi:type="dcterms:W3CDTF">2026-04-08T16:00:38Z</dcterms:modified>
  <cp:revision>4</cp:revision>
  <dc:subject>PptxGenJS Presentation</dc:subject>
  <dc:title>Statistical Methods in Data Mining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