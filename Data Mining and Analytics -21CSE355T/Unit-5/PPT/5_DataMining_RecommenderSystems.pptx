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D4EF0E3-2F98-4236-8820-5043A363933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04084E-91AC-46FB-8B4C-B0AB4B2839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711564-9C1C-4F0B-9625-DF1BB383EA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57D041-3732-47D3-B077-7377FD13F9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ABD74B-6E9A-4260-9BCF-9DC30130C6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2A155E-A7CF-4D82-B519-6751927D3F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D1ECCF-2B01-4751-840E-9213D6F5BA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D7AFE3-43DB-47B2-8DBE-3A6175E59E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661A87-6D39-4BCF-9652-0C829F3CEC0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985FCA-FD16-4B67-AE74-ADB1A4BDB18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FC6A78-D551-4AA4-94F2-4D27C04B6F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5943600" y="-1463040"/>
            <a:ext cx="5303160" cy="5303160"/>
          </a:xfrm>
          <a:prstGeom prst="ellipse">
            <a:avLst/>
          </a:prstGeom>
          <a:solidFill>
            <a:srgbClr val="2d1b4e"/>
          </a:solidFill>
          <a:ln w="12700">
            <a:solidFill>
              <a:srgbClr val="2d1b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315200" y="548640"/>
            <a:ext cx="2559960" cy="2559960"/>
          </a:xfrm>
          <a:prstGeom prst="ellipse">
            <a:avLst/>
          </a:prstGeom>
          <a:solidFill>
            <a:srgbClr val="7c3aed">
              <a:alpha val="40000"/>
            </a:srgbClr>
          </a:solidFill>
          <a:ln w="12700">
            <a:solidFill>
              <a:srgbClr val="7c3aed">
                <a:alpha val="4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-1371600" y="3200400"/>
            <a:ext cx="3840120" cy="3840120"/>
          </a:xfrm>
          <a:prstGeom prst="ellipse">
            <a:avLst/>
          </a:prstGeom>
          <a:solidFill>
            <a:srgbClr val="f43f5e">
              <a:alpha val="15000"/>
            </a:srgbClr>
          </a:solidFill>
          <a:ln w="12700">
            <a:solidFill>
              <a:srgbClr val="f43f5e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4572000" y="365760"/>
            <a:ext cx="319680" cy="3196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5120640" y="868680"/>
            <a:ext cx="200880" cy="2008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4114800" y="1005840"/>
            <a:ext cx="164160" cy="164160"/>
          </a:xfrm>
          <a:prstGeom prst="ellipse">
            <a:avLst/>
          </a:prstGeom>
          <a:solidFill>
            <a:srgbClr val="67e8f9"/>
          </a:solidFill>
          <a:ln w="12700">
            <a:solidFill>
              <a:srgbClr val="67e8f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457200" y="685800"/>
            <a:ext cx="2925720" cy="365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57200" y="6858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80" strike="noStrike">
                <a:solidFill>
                  <a:srgbClr val="ffffff"/>
                </a:solidFill>
                <a:latin typeface="Calibri"/>
              </a:rPr>
              <a:t>GEEKSFORGEEKS  ·  DATA MINING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57200" y="1207080"/>
            <a:ext cx="80463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libri"/>
                <a:ea typeface="Calibri"/>
              </a:rPr>
              <a:t>Data Mining &amp;</a:t>
            </a:r>
            <a:endParaRPr b="0" lang="en-US" sz="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57200" y="1965960"/>
            <a:ext cx="8229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fb7185"/>
                </a:solidFill>
                <a:latin typeface="Calibri"/>
                <a:ea typeface="Calibri"/>
              </a:rPr>
              <a:t>Recommender Systems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457200" y="2907720"/>
            <a:ext cx="7772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ddd6fe"/>
                </a:solidFill>
                <a:latin typeface="Calibri"/>
                <a:ea typeface="Calibri"/>
              </a:rPr>
              <a:t>How data mining powers personalised recommendations across industries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457200" y="3493080"/>
            <a:ext cx="1992960" cy="914040"/>
          </a:xfrm>
          <a:prstGeom prst="rect">
            <a:avLst/>
          </a:prstGeom>
          <a:solidFill>
            <a:srgbClr val="2d1b4e"/>
          </a:solidFill>
          <a:ln w="1524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457200" y="3511440"/>
            <a:ext cx="1992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b7185"/>
                </a:solidFill>
                <a:latin typeface="Calibri"/>
                <a:ea typeface="Calibri"/>
              </a:rPr>
              <a:t>2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457200" y="3986640"/>
            <a:ext cx="1992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Rec. Types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2624400" y="3493080"/>
            <a:ext cx="1992960" cy="914040"/>
          </a:xfrm>
          <a:prstGeom prst="rect">
            <a:avLst/>
          </a:prstGeom>
          <a:solidFill>
            <a:srgbClr val="2d1b4e"/>
          </a:solidFill>
          <a:ln w="1524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2624400" y="3511440"/>
            <a:ext cx="1992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b7185"/>
                </a:solidFill>
                <a:latin typeface="Calibri"/>
                <a:ea typeface="Calibri"/>
              </a:rPr>
              <a:t>3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2624400" y="3986640"/>
            <a:ext cx="1992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DM Methods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4791600" y="3493080"/>
            <a:ext cx="1992960" cy="914040"/>
          </a:xfrm>
          <a:prstGeom prst="rect">
            <a:avLst/>
          </a:prstGeom>
          <a:solidFill>
            <a:srgbClr val="2d1b4e"/>
          </a:solidFill>
          <a:ln w="1524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4791600" y="3511440"/>
            <a:ext cx="1992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b7185"/>
                </a:solidFill>
                <a:latin typeface="Calibri"/>
                <a:ea typeface="Calibri"/>
              </a:rPr>
              <a:t>6+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4791600" y="3986640"/>
            <a:ext cx="1992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Use Cases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6958440" y="3493080"/>
            <a:ext cx="1992960" cy="914040"/>
          </a:xfrm>
          <a:prstGeom prst="rect">
            <a:avLst/>
          </a:prstGeom>
          <a:solidFill>
            <a:srgbClr val="2d1b4e"/>
          </a:solidFill>
          <a:ln w="1524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6958440" y="3511440"/>
            <a:ext cx="1992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b7185"/>
                </a:solidFill>
                <a:latin typeface="Calibri"/>
                <a:ea typeface="Calibri"/>
              </a:rPr>
              <a:t>2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6958440" y="3986640"/>
            <a:ext cx="1992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Similarity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Measures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457200" y="475488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1"/>
          <p:cNvSpPr/>
          <p:nvPr/>
        </p:nvSpPr>
        <p:spPr>
          <a:xfrm>
            <a:off x="0" y="960120"/>
            <a:ext cx="9143640" cy="6372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411480" y="0"/>
            <a:ext cx="83206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  <a:ea typeface="Calibri"/>
              </a:rPr>
              <a:t>What Is Data Mining?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365760" y="1170360"/>
            <a:ext cx="8412120" cy="105120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548640" y="1188720"/>
            <a:ext cx="80920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a78bfa"/>
                </a:solidFill>
                <a:latin typeface="Calibri"/>
                <a:ea typeface="Calibri"/>
              </a:rPr>
              <a:t>Data Mining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uses statistical methodologies, classification models, clustering, and regression models to </a:t>
            </a:r>
            <a:r>
              <a:rPr b="1" lang="en-US" sz="1300" spc="-1" strike="noStrike">
                <a:solidFill>
                  <a:srgbClr val="fb7185"/>
                </a:solidFill>
                <a:latin typeface="Calibri"/>
                <a:ea typeface="Calibri"/>
              </a:rPr>
              <a:t>exploit insights from large datasets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 — enabling predictions based on historical events and pattern recognition.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347400" y="2395800"/>
            <a:ext cx="2724480" cy="2486880"/>
          </a:xfrm>
          <a:prstGeom prst="rect">
            <a:avLst/>
          </a:prstGeom>
          <a:solidFill>
            <a:srgbClr val="1a0a2e"/>
          </a:solidFill>
          <a:ln w="2286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6"/>
          <p:cNvSpPr/>
          <p:nvPr/>
        </p:nvSpPr>
        <p:spPr>
          <a:xfrm>
            <a:off x="347400" y="2395800"/>
            <a:ext cx="2724480" cy="475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7"/>
          <p:cNvSpPr/>
          <p:nvPr/>
        </p:nvSpPr>
        <p:spPr>
          <a:xfrm>
            <a:off x="347400" y="2395800"/>
            <a:ext cx="2724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🏷️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438840" y="2926080"/>
            <a:ext cx="2541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Classification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Models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457200" y="3420000"/>
            <a:ext cx="250524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Categorises data into predefined classes. Used to predict disease, classify customers, detect spam.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3200400" y="2395800"/>
            <a:ext cx="2724480" cy="2486880"/>
          </a:xfrm>
          <a:prstGeom prst="rect">
            <a:avLst/>
          </a:prstGeom>
          <a:solidFill>
            <a:srgbClr val="1a0a2e"/>
          </a:solidFill>
          <a:ln w="22860">
            <a:solidFill>
              <a:srgbClr val="0891b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3200400" y="2395800"/>
            <a:ext cx="2724480" cy="475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3200400" y="2395800"/>
            <a:ext cx="2724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🔵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3291840" y="2926080"/>
            <a:ext cx="2541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7e8f9"/>
                </a:solidFill>
                <a:latin typeface="Calibri"/>
                <a:ea typeface="Calibri"/>
              </a:rPr>
              <a:t>Clustering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3310200" y="3420000"/>
            <a:ext cx="250524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Groups similar data without labels. Discovers natural segments — e.g. customer types by purchase pattern.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6053400" y="2395800"/>
            <a:ext cx="2724480" cy="2486880"/>
          </a:xfrm>
          <a:prstGeom prst="rect">
            <a:avLst/>
          </a:prstGeom>
          <a:solidFill>
            <a:srgbClr val="1a0a2e"/>
          </a:solidFill>
          <a:ln w="2286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6053400" y="2395800"/>
            <a:ext cx="2724480" cy="4752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6053400" y="2395800"/>
            <a:ext cx="27244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📈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6144840" y="2926080"/>
            <a:ext cx="2541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Regression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Models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163200" y="3420000"/>
            <a:ext cx="250524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Predicts continuous numeric values. Estimates monthly spending, crop yield, expected sales.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1"/>
          <p:cNvSpPr/>
          <p:nvPr/>
        </p:nvSpPr>
        <p:spPr>
          <a:xfrm>
            <a:off x="0" y="914400"/>
            <a:ext cx="9143640" cy="54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411480" y="0"/>
            <a:ext cx="8320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a78bfa"/>
                </a:solidFill>
                <a:latin typeface="Calibri"/>
                <a:ea typeface="Calibri"/>
              </a:rPr>
              <a:t>Data Mining in Action — Real-World Questions Answered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274320" y="1042560"/>
            <a:ext cx="2761200" cy="175536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274320" y="1042560"/>
            <a:ext cx="2761200" cy="109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475560" y="1243440"/>
            <a:ext cx="502560" cy="5025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475560" y="124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💳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7"/>
          <p:cNvSpPr/>
          <p:nvPr/>
        </p:nvSpPr>
        <p:spPr>
          <a:xfrm>
            <a:off x="1078920" y="124344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Monthly Spend?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8"/>
          <p:cNvSpPr/>
          <p:nvPr/>
        </p:nvSpPr>
        <p:spPr>
          <a:xfrm>
            <a:off x="384120" y="1828800"/>
            <a:ext cx="25599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How much will a person spend this month, based on their previous transaction history?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9"/>
          <p:cNvSpPr/>
          <p:nvPr/>
        </p:nvSpPr>
        <p:spPr>
          <a:xfrm>
            <a:off x="3182040" y="1042560"/>
            <a:ext cx="2761200" cy="1755360"/>
          </a:xfrm>
          <a:prstGeom prst="rect">
            <a:avLst/>
          </a:prstGeom>
          <a:solidFill>
            <a:srgbClr val="2d1b4e"/>
          </a:solidFill>
          <a:ln w="1905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0"/>
          <p:cNvSpPr/>
          <p:nvPr/>
        </p:nvSpPr>
        <p:spPr>
          <a:xfrm>
            <a:off x="3182040" y="1042560"/>
            <a:ext cx="2761200" cy="1094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3383280" y="1243440"/>
            <a:ext cx="502560" cy="5025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3383280" y="124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3986640" y="124344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Frequent Items?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14"/>
          <p:cNvSpPr/>
          <p:nvPr/>
        </p:nvSpPr>
        <p:spPr>
          <a:xfrm>
            <a:off x="3291840" y="1828800"/>
            <a:ext cx="25599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Bread, butter &amp; jam are always bought together — market basket association mining.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15"/>
          <p:cNvSpPr/>
          <p:nvPr/>
        </p:nvSpPr>
        <p:spPr>
          <a:xfrm>
            <a:off x="6089760" y="1042560"/>
            <a:ext cx="2761200" cy="175536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16"/>
          <p:cNvSpPr/>
          <p:nvPr/>
        </p:nvSpPr>
        <p:spPr>
          <a:xfrm>
            <a:off x="6089760" y="1042560"/>
            <a:ext cx="2761200" cy="109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17"/>
          <p:cNvSpPr/>
          <p:nvPr/>
        </p:nvSpPr>
        <p:spPr>
          <a:xfrm>
            <a:off x="6291000" y="1243440"/>
            <a:ext cx="502560" cy="5025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6291000" y="1243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☂️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19"/>
          <p:cNvSpPr/>
          <p:nvPr/>
        </p:nvSpPr>
        <p:spPr>
          <a:xfrm>
            <a:off x="6894720" y="124344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Seasonal Demand?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0"/>
          <p:cNvSpPr/>
          <p:nvPr/>
        </p:nvSpPr>
        <p:spPr>
          <a:xfrm>
            <a:off x="6199560" y="1828800"/>
            <a:ext cx="25599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Umbrellas spike in rainy season; ice cream in summer — trend analysis from time series data.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21"/>
          <p:cNvSpPr/>
          <p:nvPr/>
        </p:nvSpPr>
        <p:spPr>
          <a:xfrm>
            <a:off x="274320" y="2962800"/>
            <a:ext cx="2761200" cy="175536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22"/>
          <p:cNvSpPr/>
          <p:nvPr/>
        </p:nvSpPr>
        <p:spPr>
          <a:xfrm>
            <a:off x="274320" y="2962800"/>
            <a:ext cx="2761200" cy="109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475560" y="3163680"/>
            <a:ext cx="502560" cy="5025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475560" y="31636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🌾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25"/>
          <p:cNvSpPr/>
          <p:nvPr/>
        </p:nvSpPr>
        <p:spPr>
          <a:xfrm>
            <a:off x="1078920" y="316368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Crop Yield?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26"/>
          <p:cNvSpPr/>
          <p:nvPr/>
        </p:nvSpPr>
        <p:spPr>
          <a:xfrm>
            <a:off x="384120" y="3749040"/>
            <a:ext cx="25599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What will be the yield of crops this year given soil, weather, and historical data?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27"/>
          <p:cNvSpPr/>
          <p:nvPr/>
        </p:nvSpPr>
        <p:spPr>
          <a:xfrm>
            <a:off x="3182040" y="2962800"/>
            <a:ext cx="2761200" cy="1755360"/>
          </a:xfrm>
          <a:prstGeom prst="rect">
            <a:avLst/>
          </a:prstGeom>
          <a:solidFill>
            <a:srgbClr val="2d1b4e"/>
          </a:solidFill>
          <a:ln w="1905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28"/>
          <p:cNvSpPr/>
          <p:nvPr/>
        </p:nvSpPr>
        <p:spPr>
          <a:xfrm>
            <a:off x="3182040" y="2962800"/>
            <a:ext cx="2761200" cy="1094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29"/>
          <p:cNvSpPr/>
          <p:nvPr/>
        </p:nvSpPr>
        <p:spPr>
          <a:xfrm>
            <a:off x="3383280" y="3163680"/>
            <a:ext cx="502560" cy="5025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30"/>
          <p:cNvSpPr/>
          <p:nvPr/>
        </p:nvSpPr>
        <p:spPr>
          <a:xfrm>
            <a:off x="3383280" y="31636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🏥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31"/>
          <p:cNvSpPr/>
          <p:nvPr/>
        </p:nvSpPr>
        <p:spPr>
          <a:xfrm>
            <a:off x="3986640" y="316368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Disease Risk?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32"/>
          <p:cNvSpPr/>
          <p:nvPr/>
        </p:nvSpPr>
        <p:spPr>
          <a:xfrm>
            <a:off x="3291840" y="3749040"/>
            <a:ext cx="25599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What are the chances of a person having a particular disease given all presented symptoms?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33"/>
          <p:cNvSpPr/>
          <p:nvPr/>
        </p:nvSpPr>
        <p:spPr>
          <a:xfrm>
            <a:off x="6089760" y="2962800"/>
            <a:ext cx="2761200" cy="175536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34"/>
          <p:cNvSpPr/>
          <p:nvPr/>
        </p:nvSpPr>
        <p:spPr>
          <a:xfrm>
            <a:off x="6089760" y="2962800"/>
            <a:ext cx="2761200" cy="109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Shape 35"/>
          <p:cNvSpPr/>
          <p:nvPr/>
        </p:nvSpPr>
        <p:spPr>
          <a:xfrm>
            <a:off x="6291000" y="3163680"/>
            <a:ext cx="502560" cy="5025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36"/>
          <p:cNvSpPr/>
          <p:nvPr/>
        </p:nvSpPr>
        <p:spPr>
          <a:xfrm>
            <a:off x="6291000" y="31636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7"/>
          <p:cNvSpPr/>
          <p:nvPr/>
        </p:nvSpPr>
        <p:spPr>
          <a:xfrm>
            <a:off x="6894720" y="3163680"/>
            <a:ext cx="1828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Expected Sales?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8"/>
          <p:cNvSpPr/>
          <p:nvPr/>
        </p:nvSpPr>
        <p:spPr>
          <a:xfrm>
            <a:off x="6199560" y="3749040"/>
            <a:ext cx="25599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How many groceries will be sold in a given month — forecasted from purchase patterns.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39"/>
          <p:cNvSpPr/>
          <p:nvPr/>
        </p:nvSpPr>
        <p:spPr>
          <a:xfrm>
            <a:off x="0" y="4736520"/>
            <a:ext cx="9143640" cy="402120"/>
          </a:xfrm>
          <a:prstGeom prst="rect">
            <a:avLst/>
          </a:prstGeom>
          <a:solidFill>
            <a:srgbClr val="3d2570"/>
          </a:solidFill>
          <a:ln w="12700">
            <a:solidFill>
              <a:srgbClr val="3d25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40"/>
          <p:cNvSpPr/>
          <p:nvPr/>
        </p:nvSpPr>
        <p:spPr>
          <a:xfrm>
            <a:off x="457200" y="4736520"/>
            <a:ext cx="8229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"The main objective is to analyze the pattern present in the dataset and obtain useful information based on the target required."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1"/>
          <p:cNvSpPr/>
          <p:nvPr/>
        </p:nvSpPr>
        <p:spPr>
          <a:xfrm>
            <a:off x="0" y="960120"/>
            <a:ext cx="9143640" cy="63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411480" y="0"/>
            <a:ext cx="83206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b7185"/>
                </a:solidFill>
                <a:latin typeface="Calibri"/>
                <a:ea typeface="Calibri"/>
              </a:rPr>
              <a:t>What Are Recommender Systems?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3"/>
          <p:cNvSpPr/>
          <p:nvPr/>
        </p:nvSpPr>
        <p:spPr>
          <a:xfrm>
            <a:off x="365760" y="1170360"/>
            <a:ext cx="8412120" cy="914040"/>
          </a:xfrm>
          <a:prstGeom prst="rect">
            <a:avLst/>
          </a:prstGeom>
          <a:solidFill>
            <a:srgbClr val="2d1b4e"/>
          </a:solidFill>
          <a:ln w="19050">
            <a:solidFill>
              <a:srgbClr val="fb718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"/>
          <p:cNvSpPr/>
          <p:nvPr/>
        </p:nvSpPr>
        <p:spPr>
          <a:xfrm>
            <a:off x="530280" y="1188720"/>
            <a:ext cx="80920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A Recommender System </a:t>
            </a:r>
            <a:r>
              <a:rPr b="0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predicts which items a user is most likely to like or need, based on their previous purchases, behaviour, and similarity to other users — acting like a </a:t>
            </a: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personalised AI assistant</a:t>
            </a:r>
            <a:r>
              <a:rPr b="0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 that knows your preferences without bias.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411480" y="2212920"/>
            <a:ext cx="4114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7c3aed"/>
                </a:solidFill>
                <a:latin typeface="Calibri"/>
                <a:ea typeface="Calibri"/>
              </a:rPr>
              <a:t>Core Workflow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411480" y="2724840"/>
            <a:ext cx="502560" cy="5025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7"/>
          <p:cNvSpPr/>
          <p:nvPr/>
        </p:nvSpPr>
        <p:spPr>
          <a:xfrm>
            <a:off x="411480" y="27248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658080" y="3227760"/>
            <a:ext cx="360" cy="301680"/>
          </a:xfrm>
          <a:prstGeom prst="line">
            <a:avLst/>
          </a:prstGeom>
          <a:ln w="19050">
            <a:solidFill>
              <a:srgbClr val="7c3ae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9"/>
          <p:cNvSpPr/>
          <p:nvPr/>
        </p:nvSpPr>
        <p:spPr>
          <a:xfrm>
            <a:off x="1051560" y="270648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a0a2e"/>
                </a:solidFill>
                <a:latin typeface="Calibri"/>
                <a:ea typeface="Calibri"/>
              </a:rPr>
              <a:t>Find Similarity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0"/>
          <p:cNvSpPr/>
          <p:nvPr/>
        </p:nvSpPr>
        <p:spPr>
          <a:xfrm>
            <a:off x="1051560" y="2980800"/>
            <a:ext cx="324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Compare the target user/item against all users/items in the dataset.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11"/>
          <p:cNvSpPr/>
          <p:nvPr/>
        </p:nvSpPr>
        <p:spPr>
          <a:xfrm>
            <a:off x="411480" y="3529440"/>
            <a:ext cx="502560" cy="5025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2"/>
          <p:cNvSpPr/>
          <p:nvPr/>
        </p:nvSpPr>
        <p:spPr>
          <a:xfrm>
            <a:off x="411480" y="35294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3"/>
          <p:cNvSpPr/>
          <p:nvPr/>
        </p:nvSpPr>
        <p:spPr>
          <a:xfrm>
            <a:off x="658080" y="4032360"/>
            <a:ext cx="360" cy="301680"/>
          </a:xfrm>
          <a:prstGeom prst="line">
            <a:avLst/>
          </a:prstGeom>
          <a:ln w="19050">
            <a:solidFill>
              <a:srgbClr val="7c3ae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4"/>
          <p:cNvSpPr/>
          <p:nvPr/>
        </p:nvSpPr>
        <p:spPr>
          <a:xfrm>
            <a:off x="1051560" y="35114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a0a2e"/>
                </a:solidFill>
                <a:latin typeface="Calibri"/>
                <a:ea typeface="Calibri"/>
              </a:rPr>
              <a:t>Identify Patterns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5"/>
          <p:cNvSpPr/>
          <p:nvPr/>
        </p:nvSpPr>
        <p:spPr>
          <a:xfrm>
            <a:off x="1051560" y="3785760"/>
            <a:ext cx="324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Discover patterns of likes &amp; dislikes with the highest similarity score.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16"/>
          <p:cNvSpPr/>
          <p:nvPr/>
        </p:nvSpPr>
        <p:spPr>
          <a:xfrm>
            <a:off x="411480" y="4334400"/>
            <a:ext cx="502560" cy="5025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7"/>
          <p:cNvSpPr/>
          <p:nvPr/>
        </p:nvSpPr>
        <p:spPr>
          <a:xfrm>
            <a:off x="411480" y="4334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18"/>
          <p:cNvSpPr/>
          <p:nvPr/>
        </p:nvSpPr>
        <p:spPr>
          <a:xfrm>
            <a:off x="1051560" y="43160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a0a2e"/>
                </a:solidFill>
                <a:latin typeface="Calibri"/>
                <a:ea typeface="Calibri"/>
              </a:rPr>
              <a:t>Make Prediction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9"/>
          <p:cNvSpPr/>
          <p:nvPr/>
        </p:nvSpPr>
        <p:spPr>
          <a:xfrm>
            <a:off x="1051560" y="4590360"/>
            <a:ext cx="324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Use the matched pattern to determine if an item should be recommended.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20"/>
          <p:cNvSpPr/>
          <p:nvPr/>
        </p:nvSpPr>
        <p:spPr>
          <a:xfrm>
            <a:off x="4754880" y="2176200"/>
            <a:ext cx="4114440" cy="2724480"/>
          </a:xfrm>
          <a:prstGeom prst="rect">
            <a:avLst/>
          </a:prstGeom>
          <a:solidFill>
            <a:srgbClr val="1a0a2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21"/>
          <p:cNvSpPr/>
          <p:nvPr/>
        </p:nvSpPr>
        <p:spPr>
          <a:xfrm>
            <a:off x="4754880" y="2176200"/>
            <a:ext cx="4114440" cy="438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22"/>
          <p:cNvSpPr/>
          <p:nvPr/>
        </p:nvSpPr>
        <p:spPr>
          <a:xfrm>
            <a:off x="4864680" y="2176200"/>
            <a:ext cx="3894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Questions RS Can Answer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23"/>
          <p:cNvSpPr/>
          <p:nvPr/>
        </p:nvSpPr>
        <p:spPr>
          <a:xfrm>
            <a:off x="4864680" y="2706480"/>
            <a:ext cx="3885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🎬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Which movie or web series should I watch next?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24"/>
          <p:cNvSpPr/>
          <p:nvPr/>
        </p:nvSpPr>
        <p:spPr>
          <a:xfrm>
            <a:off x="4864680" y="3136320"/>
            <a:ext cx="3885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📚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Which book should I read next?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5"/>
          <p:cNvSpPr/>
          <p:nvPr/>
        </p:nvSpPr>
        <p:spPr>
          <a:xfrm>
            <a:off x="4864680" y="3566160"/>
            <a:ext cx="3885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🛒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Which items match what I've bought before?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6"/>
          <p:cNvSpPr/>
          <p:nvPr/>
        </p:nvSpPr>
        <p:spPr>
          <a:xfrm>
            <a:off x="4864680" y="3996000"/>
            <a:ext cx="3885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📰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Which magazines match my genre preferences?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7"/>
          <p:cNvSpPr/>
          <p:nvPr/>
        </p:nvSpPr>
        <p:spPr>
          <a:xfrm>
            <a:off x="4864680" y="4425840"/>
            <a:ext cx="3885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🗺️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Will I like this restaurant or travel destination?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8"/>
          <p:cNvSpPr/>
          <p:nvPr/>
        </p:nvSpPr>
        <p:spPr>
          <a:xfrm>
            <a:off x="365760" y="4773240"/>
            <a:ext cx="8412120" cy="27396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9"/>
          <p:cNvSpPr/>
          <p:nvPr/>
        </p:nvSpPr>
        <p:spPr>
          <a:xfrm>
            <a:off x="475560" y="4773240"/>
            <a:ext cx="8192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a0a2e"/>
                </a:solidFill>
                <a:latin typeface="Calibri"/>
                <a:ea typeface="Calibri"/>
              </a:rPr>
              <a:t>Goal: Supply high-quality, easily accessible recommendations that act as a personalised, efficient personal authority for every user.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Shape 1"/>
          <p:cNvSpPr/>
          <p:nvPr/>
        </p:nvSpPr>
        <p:spPr>
          <a:xfrm>
            <a:off x="0" y="914400"/>
            <a:ext cx="9143640" cy="54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411480" y="0"/>
            <a:ext cx="8320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01 — User-Based Recommendation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3"/>
          <p:cNvSpPr/>
          <p:nvPr/>
        </p:nvSpPr>
        <p:spPr>
          <a:xfrm>
            <a:off x="320040" y="1078920"/>
            <a:ext cx="8503560" cy="822600"/>
          </a:xfrm>
          <a:prstGeom prst="rect">
            <a:avLst/>
          </a:prstGeom>
          <a:solidFill>
            <a:srgbClr val="2d1b4e"/>
          </a:solidFill>
          <a:ln w="1524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475560" y="1097280"/>
            <a:ext cx="822924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78bfa"/>
                </a:solidFill>
                <a:latin typeface="Calibri"/>
                <a:ea typeface="Calibri"/>
              </a:rPr>
              <a:t>Core Idea: </a:t>
            </a:r>
            <a:r>
              <a:rPr b="0" lang="en-US" sz="1200" spc="-1" strike="noStrike">
                <a:solidFill>
                  <a:srgbClr val="ddd6fe"/>
                </a:solidFill>
                <a:latin typeface="Calibri"/>
                <a:ea typeface="Calibri"/>
              </a:rPr>
              <a:t>Find users whose likes and dislikes follow the same pattern as the target user. Recommend items that closely-matched users have liked but the target user hasn't seen yet.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5"/>
          <p:cNvSpPr/>
          <p:nvPr/>
        </p:nvSpPr>
        <p:spPr>
          <a:xfrm>
            <a:off x="320040" y="2030040"/>
            <a:ext cx="5028840" cy="281592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320040" y="2030040"/>
            <a:ext cx="5028840" cy="456840"/>
          </a:xfrm>
          <a:prstGeom prst="rect">
            <a:avLst/>
          </a:prstGeom>
          <a:solidFill>
            <a:srgbClr val="3d2570"/>
          </a:solidFill>
          <a:ln w="12700">
            <a:solidFill>
              <a:srgbClr val="3d25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7"/>
          <p:cNvSpPr/>
          <p:nvPr/>
        </p:nvSpPr>
        <p:spPr>
          <a:xfrm>
            <a:off x="438840" y="203004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a78bfa"/>
                </a:solidFill>
                <a:latin typeface="Calibri"/>
                <a:ea typeface="Calibri"/>
              </a:rPr>
              <a:t>📐  </a:t>
            </a:r>
            <a:r>
              <a:rPr b="1" lang="en-US" sz="1350" spc="-1" strike="noStrike">
                <a:solidFill>
                  <a:srgbClr val="a78bfa"/>
                </a:solidFill>
                <a:latin typeface="Calibri"/>
                <a:ea typeface="Calibri"/>
              </a:rPr>
              <a:t>Pearson Similarity Measure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457200" y="2578680"/>
            <a:ext cx="466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Step 1: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Collect ratings of both users across shared items from the database.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9"/>
          <p:cNvSpPr/>
          <p:nvPr/>
        </p:nvSpPr>
        <p:spPr>
          <a:xfrm>
            <a:off x="457200" y="3035880"/>
            <a:ext cx="466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Step 2: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Subtract the mean rating from each individual user's ratings (mean-centering).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0"/>
          <p:cNvSpPr/>
          <p:nvPr/>
        </p:nvSpPr>
        <p:spPr>
          <a:xfrm>
            <a:off x="457200" y="3493080"/>
            <a:ext cx="466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Step 3: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Numerator: Multiply the mean-centered ratings of User A and User B for each item and sum.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457200" y="3950280"/>
            <a:ext cx="466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Step 4: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Denominator: Square each user's mean-centered ratings separately, sum each, then multiply.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2"/>
          <p:cNvSpPr/>
          <p:nvPr/>
        </p:nvSpPr>
        <p:spPr>
          <a:xfrm>
            <a:off x="457200" y="4407480"/>
            <a:ext cx="4663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Step 5: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Divide numerator by denominator → output is the Pearson similarity score (–1 to +1).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13"/>
          <p:cNvSpPr/>
          <p:nvPr/>
        </p:nvSpPr>
        <p:spPr>
          <a:xfrm>
            <a:off x="5577840" y="2030040"/>
            <a:ext cx="3273120" cy="1298160"/>
          </a:xfrm>
          <a:prstGeom prst="rect">
            <a:avLst/>
          </a:prstGeom>
          <a:solidFill>
            <a:srgbClr val="2d1b4e"/>
          </a:solidFill>
          <a:ln w="1905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14"/>
          <p:cNvSpPr/>
          <p:nvPr/>
        </p:nvSpPr>
        <p:spPr>
          <a:xfrm>
            <a:off x="5577840" y="2030040"/>
            <a:ext cx="3273120" cy="4201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15"/>
          <p:cNvSpPr/>
          <p:nvPr/>
        </p:nvSpPr>
        <p:spPr>
          <a:xfrm>
            <a:off x="5687640" y="2030040"/>
            <a:ext cx="30538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Similarity Score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16"/>
          <p:cNvSpPr/>
          <p:nvPr/>
        </p:nvSpPr>
        <p:spPr>
          <a:xfrm>
            <a:off x="5687640" y="252360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b7185"/>
                </a:solidFill>
                <a:latin typeface="Consolas"/>
                <a:ea typeface="Consolas"/>
              </a:rPr>
              <a:t>+1.0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Perfect positive match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17"/>
          <p:cNvSpPr/>
          <p:nvPr/>
        </p:nvSpPr>
        <p:spPr>
          <a:xfrm>
            <a:off x="5687640" y="279792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b7185"/>
                </a:solidFill>
                <a:latin typeface="Consolas"/>
                <a:ea typeface="Consolas"/>
              </a:rPr>
              <a:t> </a:t>
            </a:r>
            <a:r>
              <a:rPr b="1" lang="en-US" sz="1050" spc="-1" strike="noStrike">
                <a:solidFill>
                  <a:srgbClr val="fb7185"/>
                </a:solidFill>
                <a:latin typeface="Consolas"/>
                <a:ea typeface="Consolas"/>
              </a:rPr>
              <a:t>0.0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No similarity at all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18"/>
          <p:cNvSpPr/>
          <p:nvPr/>
        </p:nvSpPr>
        <p:spPr>
          <a:xfrm>
            <a:off x="5687640" y="3072240"/>
            <a:ext cx="3017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b7185"/>
                </a:solidFill>
                <a:latin typeface="Consolas"/>
                <a:ea typeface="Consolas"/>
              </a:rPr>
              <a:t>–</a:t>
            </a:r>
            <a:r>
              <a:rPr b="1" lang="en-US" sz="1050" spc="-1" strike="noStrike">
                <a:solidFill>
                  <a:srgbClr val="fb7185"/>
                </a:solidFill>
                <a:latin typeface="Consolas"/>
                <a:ea typeface="Consolas"/>
              </a:rPr>
              <a:t>1.0 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Perfectly opposite tastes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19"/>
          <p:cNvSpPr/>
          <p:nvPr/>
        </p:nvSpPr>
        <p:spPr>
          <a:xfrm>
            <a:off x="5577840" y="3456360"/>
            <a:ext cx="3273120" cy="1371240"/>
          </a:xfrm>
          <a:prstGeom prst="rect">
            <a:avLst/>
          </a:prstGeom>
          <a:solidFill>
            <a:srgbClr val="2d1b4e"/>
          </a:solidFill>
          <a:ln w="1905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20"/>
          <p:cNvSpPr/>
          <p:nvPr/>
        </p:nvSpPr>
        <p:spPr>
          <a:xfrm>
            <a:off x="5577840" y="3456360"/>
            <a:ext cx="3273120" cy="4201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21"/>
          <p:cNvSpPr/>
          <p:nvPr/>
        </p:nvSpPr>
        <p:spPr>
          <a:xfrm>
            <a:off x="5687640" y="3456360"/>
            <a:ext cx="30538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Outcome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22"/>
          <p:cNvSpPr/>
          <p:nvPr/>
        </p:nvSpPr>
        <p:spPr>
          <a:xfrm>
            <a:off x="5687640" y="3931920"/>
            <a:ext cx="3017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High-similarity users are identified. Items they liked but the target user hasn't rated are recommended, weighted by similarity score.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"/>
          <p:cNvSpPr/>
          <p:nvPr/>
        </p:nvSpPr>
        <p:spPr>
          <a:xfrm>
            <a:off x="0" y="960120"/>
            <a:ext cx="9143640" cy="63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411480" y="0"/>
            <a:ext cx="83206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b7185"/>
                </a:solidFill>
                <a:latin typeface="Calibri"/>
                <a:ea typeface="Calibri"/>
              </a:rPr>
              <a:t>02 — Item-Based Recommendation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"/>
          <p:cNvSpPr/>
          <p:nvPr/>
        </p:nvSpPr>
        <p:spPr>
          <a:xfrm>
            <a:off x="365760" y="1170360"/>
            <a:ext cx="8412120" cy="804240"/>
          </a:xfrm>
          <a:prstGeom prst="rect">
            <a:avLst/>
          </a:prstGeom>
          <a:solidFill>
            <a:srgbClr val="2d1b4e"/>
          </a:solidFill>
          <a:ln w="1524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530280" y="1188720"/>
            <a:ext cx="8137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b7185"/>
                </a:solidFill>
                <a:latin typeface="Calibri"/>
                <a:ea typeface="Calibri"/>
              </a:rPr>
              <a:t>Core Idea: 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Instead of comparing users, compare </a:t>
            </a:r>
            <a:r>
              <a:rPr b="1" lang="en-US" sz="1200" spc="-1" strike="noStrike">
                <a:solidFill>
                  <a:srgbClr val="a78bfa"/>
                </a:solidFill>
                <a:latin typeface="Calibri"/>
                <a:ea typeface="Calibri"/>
              </a:rPr>
              <a:t>items</a:t>
            </a: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 to each other. Find items similar to what the user has already liked, then recommend those similar items.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365760" y="2103120"/>
            <a:ext cx="4132800" cy="2788560"/>
          </a:xfrm>
          <a:prstGeom prst="rect">
            <a:avLst/>
          </a:prstGeom>
          <a:solidFill>
            <a:srgbClr val="1a0a2e"/>
          </a:solidFill>
          <a:ln w="2286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365760" y="2103120"/>
            <a:ext cx="4132800" cy="4568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475560" y="2103120"/>
            <a:ext cx="389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Step 1 — Mean Adjusted Matrix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475560" y="2633400"/>
            <a:ext cx="38584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dd6fe"/>
                </a:solidFill>
                <a:latin typeface="Calibri"/>
                <a:ea typeface="Calibri"/>
              </a:rPr>
              <a:t>The mean adjusted matrix reduces rating bias — some users always give very high ratings, others always give low ratings.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475560" y="3255120"/>
            <a:ext cx="3858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b7185"/>
                </a:solidFill>
                <a:latin typeface="Calibri"/>
                <a:ea typeface="Calibri"/>
              </a:rPr>
              <a:t>Method: </a:t>
            </a:r>
            <a:r>
              <a:rPr b="0" lang="en-US" sz="1100" spc="-1" strike="noStrike">
                <a:solidFill>
                  <a:srgbClr val="ddd6fe"/>
                </a:solidFill>
                <a:latin typeface="Calibri"/>
                <a:ea typeface="Calibri"/>
              </a:rPr>
              <a:t>Subtract each user's mean rating from all of their individual item ratings.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475560" y="3694320"/>
            <a:ext cx="3858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b7185"/>
                </a:solidFill>
                <a:latin typeface="Calibri"/>
                <a:ea typeface="Calibri"/>
              </a:rPr>
              <a:t>Effect: </a:t>
            </a:r>
            <a:r>
              <a:rPr b="0" lang="en-US" sz="1100" spc="-1" strike="noStrike">
                <a:solidFill>
                  <a:srgbClr val="ddd6fe"/>
                </a:solidFill>
                <a:latin typeface="Calibri"/>
                <a:ea typeface="Calibri"/>
              </a:rPr>
              <a:t>Normalises ratings so a '4' from a generous rater is comparable to a '4' from a strict rater.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475560" y="4133160"/>
            <a:ext cx="3858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b7185"/>
                </a:solidFill>
                <a:latin typeface="Calibri"/>
                <a:ea typeface="Calibri"/>
              </a:rPr>
              <a:t>Result: </a:t>
            </a:r>
            <a:r>
              <a:rPr b="0" lang="en-US" sz="1100" spc="-1" strike="noStrike">
                <a:solidFill>
                  <a:srgbClr val="ddd6fe"/>
                </a:solidFill>
                <a:latin typeface="Calibri"/>
                <a:ea typeface="Calibri"/>
              </a:rPr>
              <a:t>A clean matrix that fairly represents how each user feels about each item.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475560" y="4572000"/>
            <a:ext cx="3858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b7185"/>
                </a:solidFill>
                <a:latin typeface="Calibri"/>
                <a:ea typeface="Calibri"/>
              </a:rPr>
              <a:t>Used for: </a:t>
            </a:r>
            <a:r>
              <a:rPr b="0" lang="en-US" sz="1100" spc="-1" strike="noStrike">
                <a:solidFill>
                  <a:srgbClr val="ddd6fe"/>
                </a:solidFill>
                <a:latin typeface="Calibri"/>
                <a:ea typeface="Calibri"/>
              </a:rPr>
              <a:t>Predicting ratings of new users on unseen items.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13"/>
          <p:cNvSpPr/>
          <p:nvPr/>
        </p:nvSpPr>
        <p:spPr>
          <a:xfrm>
            <a:off x="4645080" y="2103120"/>
            <a:ext cx="4132800" cy="2788560"/>
          </a:xfrm>
          <a:prstGeom prst="rect">
            <a:avLst/>
          </a:prstGeom>
          <a:solidFill>
            <a:srgbClr val="1a0a2e"/>
          </a:solidFill>
          <a:ln w="2286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14"/>
          <p:cNvSpPr/>
          <p:nvPr/>
        </p:nvSpPr>
        <p:spPr>
          <a:xfrm>
            <a:off x="4645080" y="2103120"/>
            <a:ext cx="4132800" cy="456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4754880" y="2103120"/>
            <a:ext cx="389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Step 2 — Cosine Similarity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4754880" y="2633400"/>
            <a:ext cx="3894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Numerator: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Multiply the ratings of different users on two items together and sum the products.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4754880" y="3072240"/>
            <a:ext cx="3894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Denominator: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Square each item's ratings separately, sum each, multiply the two square-root values.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4754880" y="3511440"/>
            <a:ext cx="3894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Division: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Divide numerator by denominator to get the cosine similarity score (0 to 1).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4754880" y="3950280"/>
            <a:ext cx="3894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Interpretation: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Score close to 1 = items are very similar. Score near 0 = items are unrelated.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20"/>
          <p:cNvSpPr/>
          <p:nvPr/>
        </p:nvSpPr>
        <p:spPr>
          <a:xfrm>
            <a:off x="4754880" y="4389120"/>
            <a:ext cx="3894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a78bfa"/>
                </a:solidFill>
                <a:latin typeface="Calibri"/>
                <a:ea typeface="Calibri"/>
              </a:rPr>
              <a:t>Use: </a:t>
            </a:r>
            <a:r>
              <a:rPr b="0" lang="en-US" sz="1050" spc="-1" strike="noStrike">
                <a:solidFill>
                  <a:srgbClr val="ddd6fe"/>
                </a:solidFill>
                <a:latin typeface="Calibri"/>
                <a:ea typeface="Calibri"/>
              </a:rPr>
              <a:t>High-similarity items to what the user already liked are recommended next.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"/>
          <p:cNvSpPr/>
          <p:nvPr/>
        </p:nvSpPr>
        <p:spPr>
          <a:xfrm>
            <a:off x="0" y="914400"/>
            <a:ext cx="9143640" cy="54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2"/>
          <p:cNvSpPr/>
          <p:nvPr/>
        </p:nvSpPr>
        <p:spPr>
          <a:xfrm>
            <a:off x="411480" y="0"/>
            <a:ext cx="8320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User-Based vs Item-Based: Comparison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71" name="Table 0"/>
          <p:cNvGraphicFramePr/>
          <p:nvPr/>
        </p:nvGraphicFramePr>
        <p:xfrm>
          <a:off x="320040" y="1051560"/>
          <a:ext cx="8503560" cy="3931560"/>
        </p:xfrm>
        <a:graphic>
          <a:graphicData uri="http://schemas.openxmlformats.org/drawingml/2006/table">
            <a:tbl>
              <a:tblPr/>
              <a:tblGrid>
                <a:gridCol w="1828800"/>
                <a:gridCol w="3337560"/>
                <a:gridCol w="3337560"/>
              </a:tblGrid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b7185"/>
                          </a:solidFill>
                          <a:latin typeface="Calibri"/>
                        </a:rPr>
                        <a:t>Dimension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3d257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User-Based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Item-Based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f43f5e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</a:rPr>
                        <a:t>Focus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</a:rPr>
                        <a:t>Similar users who share the same taste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fb7185"/>
                          </a:solidFill>
                          <a:latin typeface="Calibri"/>
                          <a:ea typeface="Calibri"/>
                        </a:rPr>
                        <a:t>Similar items that receive similar ratings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</a:rPr>
                        <a:t>Similarity Metric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</a:rPr>
                        <a:t>Pearson Correlation Coefficient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fb7185"/>
                          </a:solidFill>
                          <a:latin typeface="Calibri"/>
                          <a:ea typeface="Calibri"/>
                        </a:rPr>
                        <a:t>Cosine Similarity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</a:rPr>
                        <a:t>Bias Handling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</a:rPr>
                        <a:t>Direct mean-centering of ratings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fb7185"/>
                          </a:solidFill>
                          <a:latin typeface="Calibri"/>
                          <a:ea typeface="Calibri"/>
                        </a:rPr>
                        <a:t>Mean Adjusted Matrix to normalise ratings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</a:rPr>
                        <a:t>Best For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</a:rPr>
                        <a:t>Personalised discovery of new tastes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fb7185"/>
                          </a:solidFill>
                          <a:latin typeface="Calibri"/>
                          <a:ea typeface="Calibri"/>
                        </a:rPr>
                        <a:t>Recommending items close to known preferences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</a:rPr>
                        <a:t>Cold Start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</a:rPr>
                        <a:t>Struggles with new users (little data)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fb7185"/>
                          </a:solidFill>
                          <a:latin typeface="Calibri"/>
                          <a:ea typeface="Calibri"/>
                        </a:rPr>
                        <a:t>Handles new users better (item data exists)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4082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</a:rPr>
                        <a:t>Scalability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</a:rPr>
                        <a:t>Harder to scale — user space grows fast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fb7185"/>
                          </a:solidFill>
                          <a:latin typeface="Calibri"/>
                          <a:ea typeface="Calibri"/>
                        </a:rPr>
                        <a:t>More scalable — item space is more stable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1a0a2e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94a3b8"/>
                          </a:solidFill>
                          <a:latin typeface="Calibri"/>
                          <a:ea typeface="Calibri"/>
                        </a:rPr>
                        <a:t>Example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</a:rPr>
                        <a:t>"Users like you also liked…"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fb7185"/>
                          </a:solidFill>
                          <a:latin typeface="Calibri"/>
                          <a:ea typeface="Calibri"/>
                        </a:rPr>
                        <a:t>"Because you liked X, try Y…"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3d2570"/>
                      </a:solidFill>
                      <a:prstDash val="solid"/>
                    </a:lnL>
                    <a:lnR w="6480">
                      <a:solidFill>
                        <a:srgbClr val="3d2570"/>
                      </a:solidFill>
                      <a:prstDash val="solid"/>
                    </a:lnR>
                    <a:lnT w="6480">
                      <a:solidFill>
                        <a:srgbClr val="3d2570"/>
                      </a:solidFill>
                      <a:prstDash val="solid"/>
                    </a:lnT>
                    <a:lnB w="6480">
                      <a:solidFill>
                        <a:srgbClr val="3d2570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1"/>
          <p:cNvSpPr/>
          <p:nvPr/>
        </p:nvSpPr>
        <p:spPr>
          <a:xfrm>
            <a:off x="0" y="960120"/>
            <a:ext cx="9143640" cy="63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411480" y="0"/>
            <a:ext cx="832068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a78bfa"/>
                </a:solidFill>
                <a:latin typeface="Calibri"/>
                <a:ea typeface="Calibri"/>
              </a:rPr>
              <a:t>How Data Mining Powers Recommender Systems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3"/>
          <p:cNvSpPr/>
          <p:nvPr/>
        </p:nvSpPr>
        <p:spPr>
          <a:xfrm>
            <a:off x="347400" y="1170360"/>
            <a:ext cx="2029680" cy="2633040"/>
          </a:xfrm>
          <a:prstGeom prst="rect">
            <a:avLst/>
          </a:prstGeom>
          <a:solidFill>
            <a:srgbClr val="1a0a2e"/>
          </a:solidFill>
          <a:ln w="2286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4"/>
          <p:cNvSpPr/>
          <p:nvPr/>
        </p:nvSpPr>
        <p:spPr>
          <a:xfrm>
            <a:off x="347400" y="1170360"/>
            <a:ext cx="2029680" cy="456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347400" y="117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6"/>
          <p:cNvSpPr/>
          <p:nvPr/>
        </p:nvSpPr>
        <p:spPr>
          <a:xfrm>
            <a:off x="457200" y="117036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🗄️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7"/>
          <p:cNvSpPr/>
          <p:nvPr/>
        </p:nvSpPr>
        <p:spPr>
          <a:xfrm>
            <a:off x="420480" y="1682640"/>
            <a:ext cx="18831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78bfa"/>
                </a:solidFill>
                <a:latin typeface="Calibri"/>
                <a:ea typeface="Calibri"/>
              </a:rPr>
              <a:t>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78bfa"/>
                </a:solidFill>
                <a:latin typeface="Calibri"/>
                <a:ea typeface="Calibri"/>
              </a:rPr>
              <a:t>Repositories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8"/>
          <p:cNvSpPr/>
          <p:nvPr/>
        </p:nvSpPr>
        <p:spPr>
          <a:xfrm>
            <a:off x="438840" y="2194560"/>
            <a:ext cx="184680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Massive daily-generated datasets of user interactions, purchases, ratings, and behaviours.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9"/>
          <p:cNvSpPr/>
          <p:nvPr/>
        </p:nvSpPr>
        <p:spPr>
          <a:xfrm>
            <a:off x="2377440" y="1700640"/>
            <a:ext cx="136800" cy="3196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0"/>
          <p:cNvSpPr/>
          <p:nvPr/>
        </p:nvSpPr>
        <p:spPr>
          <a:xfrm>
            <a:off x="2514600" y="1170360"/>
            <a:ext cx="2029680" cy="2633040"/>
          </a:xfrm>
          <a:prstGeom prst="rect">
            <a:avLst/>
          </a:prstGeom>
          <a:solidFill>
            <a:srgbClr val="1a0a2e"/>
          </a:solidFill>
          <a:ln w="2286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11"/>
          <p:cNvSpPr/>
          <p:nvPr/>
        </p:nvSpPr>
        <p:spPr>
          <a:xfrm>
            <a:off x="2514600" y="1170360"/>
            <a:ext cx="2029680" cy="4568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2"/>
          <p:cNvSpPr/>
          <p:nvPr/>
        </p:nvSpPr>
        <p:spPr>
          <a:xfrm>
            <a:off x="2514600" y="117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13"/>
          <p:cNvSpPr/>
          <p:nvPr/>
        </p:nvSpPr>
        <p:spPr>
          <a:xfrm>
            <a:off x="2624400" y="117036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⛏️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14"/>
          <p:cNvSpPr/>
          <p:nvPr/>
        </p:nvSpPr>
        <p:spPr>
          <a:xfrm>
            <a:off x="2587680" y="1682640"/>
            <a:ext cx="18831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b7185"/>
                </a:solidFill>
                <a:latin typeface="Calibri"/>
                <a:ea typeface="Calibri"/>
              </a:rPr>
              <a:t>Data Mining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b7185"/>
                </a:solidFill>
                <a:latin typeface="Calibri"/>
                <a:ea typeface="Calibri"/>
              </a:rPr>
              <a:t>Process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15"/>
          <p:cNvSpPr/>
          <p:nvPr/>
        </p:nvSpPr>
        <p:spPr>
          <a:xfrm>
            <a:off x="2606040" y="2194560"/>
            <a:ext cx="184680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Sampling, estimation, hypothesis testing, classification, clustering applied to raw data.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6"/>
          <p:cNvSpPr/>
          <p:nvPr/>
        </p:nvSpPr>
        <p:spPr>
          <a:xfrm>
            <a:off x="4544640" y="1700640"/>
            <a:ext cx="136800" cy="3196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7"/>
          <p:cNvSpPr/>
          <p:nvPr/>
        </p:nvSpPr>
        <p:spPr>
          <a:xfrm>
            <a:off x="4681800" y="1170360"/>
            <a:ext cx="2029680" cy="2633040"/>
          </a:xfrm>
          <a:prstGeom prst="rect">
            <a:avLst/>
          </a:prstGeom>
          <a:solidFill>
            <a:srgbClr val="1a0a2e"/>
          </a:solidFill>
          <a:ln w="2286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18"/>
          <p:cNvSpPr/>
          <p:nvPr/>
        </p:nvSpPr>
        <p:spPr>
          <a:xfrm>
            <a:off x="4681800" y="1170360"/>
            <a:ext cx="2029680" cy="456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19"/>
          <p:cNvSpPr/>
          <p:nvPr/>
        </p:nvSpPr>
        <p:spPr>
          <a:xfrm>
            <a:off x="4681800" y="117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20"/>
          <p:cNvSpPr/>
          <p:nvPr/>
        </p:nvSpPr>
        <p:spPr>
          <a:xfrm>
            <a:off x="4791600" y="117036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🔍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1"/>
          <p:cNvSpPr/>
          <p:nvPr/>
        </p:nvSpPr>
        <p:spPr>
          <a:xfrm>
            <a:off x="4754880" y="1682640"/>
            <a:ext cx="18831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78bfa"/>
                </a:solidFill>
                <a:latin typeface="Calibri"/>
                <a:ea typeface="Calibri"/>
              </a:rPr>
              <a:t>Pattern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78bfa"/>
                </a:solidFill>
                <a:latin typeface="Calibri"/>
                <a:ea typeface="Calibri"/>
              </a:rPr>
              <a:t>Discovery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22"/>
          <p:cNvSpPr/>
          <p:nvPr/>
        </p:nvSpPr>
        <p:spPr>
          <a:xfrm>
            <a:off x="4773240" y="2194560"/>
            <a:ext cx="184680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Hidden preference patterns, association rules, and user/item similarity matrices emerge.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3"/>
          <p:cNvSpPr/>
          <p:nvPr/>
        </p:nvSpPr>
        <p:spPr>
          <a:xfrm>
            <a:off x="6711840" y="1700640"/>
            <a:ext cx="136800" cy="3196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4"/>
          <p:cNvSpPr/>
          <p:nvPr/>
        </p:nvSpPr>
        <p:spPr>
          <a:xfrm>
            <a:off x="6849000" y="1170360"/>
            <a:ext cx="2029680" cy="2633040"/>
          </a:xfrm>
          <a:prstGeom prst="rect">
            <a:avLst/>
          </a:prstGeom>
          <a:solidFill>
            <a:srgbClr val="1a0a2e"/>
          </a:solidFill>
          <a:ln w="2286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25"/>
          <p:cNvSpPr/>
          <p:nvPr/>
        </p:nvSpPr>
        <p:spPr>
          <a:xfrm>
            <a:off x="6849000" y="1170360"/>
            <a:ext cx="2029680" cy="4568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26"/>
          <p:cNvSpPr/>
          <p:nvPr/>
        </p:nvSpPr>
        <p:spPr>
          <a:xfrm>
            <a:off x="6849000" y="117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27"/>
          <p:cNvSpPr/>
          <p:nvPr/>
        </p:nvSpPr>
        <p:spPr>
          <a:xfrm>
            <a:off x="6958440" y="1170360"/>
            <a:ext cx="1554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🎯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28"/>
          <p:cNvSpPr/>
          <p:nvPr/>
        </p:nvSpPr>
        <p:spPr>
          <a:xfrm>
            <a:off x="6922080" y="1682640"/>
            <a:ext cx="18831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b7185"/>
                </a:solidFill>
                <a:latin typeface="Calibri"/>
                <a:ea typeface="Calibri"/>
              </a:rPr>
              <a:t>Personalised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b7185"/>
                </a:solidFill>
                <a:latin typeface="Calibri"/>
                <a:ea typeface="Calibri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29"/>
          <p:cNvSpPr/>
          <p:nvPr/>
        </p:nvSpPr>
        <p:spPr>
          <a:xfrm>
            <a:off x="6940440" y="2194560"/>
            <a:ext cx="184680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High-quality, accessible recommendations delivered to individual users in real time.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0"/>
          <p:cNvSpPr/>
          <p:nvPr/>
        </p:nvSpPr>
        <p:spPr>
          <a:xfrm>
            <a:off x="347400" y="3931920"/>
            <a:ext cx="8457840" cy="1005480"/>
          </a:xfrm>
          <a:prstGeom prst="rect">
            <a:avLst/>
          </a:prstGeom>
          <a:solidFill>
            <a:srgbClr val="2d1b4e"/>
          </a:solidFill>
          <a:ln w="12700">
            <a:solidFill>
              <a:srgbClr val="3d257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31"/>
          <p:cNvSpPr/>
          <p:nvPr/>
        </p:nvSpPr>
        <p:spPr>
          <a:xfrm>
            <a:off x="475560" y="3950280"/>
            <a:ext cx="8229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a78bfa"/>
                </a:solidFill>
                <a:latin typeface="Calibri"/>
                <a:ea typeface="Calibri"/>
              </a:rPr>
              <a:t>Data Mining Techniques Used in Recommender Systems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32"/>
          <p:cNvSpPr/>
          <p:nvPr/>
        </p:nvSpPr>
        <p:spPr>
          <a:xfrm>
            <a:off x="475560" y="4316040"/>
            <a:ext cx="987120" cy="502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33"/>
          <p:cNvSpPr/>
          <p:nvPr/>
        </p:nvSpPr>
        <p:spPr>
          <a:xfrm>
            <a:off x="47556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Classification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34"/>
          <p:cNvSpPr/>
          <p:nvPr/>
        </p:nvSpPr>
        <p:spPr>
          <a:xfrm>
            <a:off x="1527120" y="4316040"/>
            <a:ext cx="987120" cy="50256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35"/>
          <p:cNvSpPr/>
          <p:nvPr/>
        </p:nvSpPr>
        <p:spPr>
          <a:xfrm>
            <a:off x="152712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Clustering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36"/>
          <p:cNvSpPr/>
          <p:nvPr/>
        </p:nvSpPr>
        <p:spPr>
          <a:xfrm>
            <a:off x="2578680" y="4316040"/>
            <a:ext cx="987120" cy="502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37"/>
          <p:cNvSpPr/>
          <p:nvPr/>
        </p:nvSpPr>
        <p:spPr>
          <a:xfrm>
            <a:off x="257868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Regression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38"/>
          <p:cNvSpPr/>
          <p:nvPr/>
        </p:nvSpPr>
        <p:spPr>
          <a:xfrm>
            <a:off x="3630240" y="4316040"/>
            <a:ext cx="987120" cy="502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39"/>
          <p:cNvSpPr/>
          <p:nvPr/>
        </p:nvSpPr>
        <p:spPr>
          <a:xfrm>
            <a:off x="363024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Sampling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40"/>
          <p:cNvSpPr/>
          <p:nvPr/>
        </p:nvSpPr>
        <p:spPr>
          <a:xfrm>
            <a:off x="4681800" y="4316040"/>
            <a:ext cx="987120" cy="50256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41"/>
          <p:cNvSpPr/>
          <p:nvPr/>
        </p:nvSpPr>
        <p:spPr>
          <a:xfrm>
            <a:off x="468180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Estimation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42"/>
          <p:cNvSpPr/>
          <p:nvPr/>
        </p:nvSpPr>
        <p:spPr>
          <a:xfrm>
            <a:off x="5733360" y="4316040"/>
            <a:ext cx="987120" cy="502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43"/>
          <p:cNvSpPr/>
          <p:nvPr/>
        </p:nvSpPr>
        <p:spPr>
          <a:xfrm>
            <a:off x="573336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Hypothesis Testing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44"/>
          <p:cNvSpPr/>
          <p:nvPr/>
        </p:nvSpPr>
        <p:spPr>
          <a:xfrm>
            <a:off x="6784920" y="4316040"/>
            <a:ext cx="987120" cy="502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45"/>
          <p:cNvSpPr/>
          <p:nvPr/>
        </p:nvSpPr>
        <p:spPr>
          <a:xfrm>
            <a:off x="678492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Pattern Recognition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46"/>
          <p:cNvSpPr/>
          <p:nvPr/>
        </p:nvSpPr>
        <p:spPr>
          <a:xfrm>
            <a:off x="7836480" y="4316040"/>
            <a:ext cx="987120" cy="50256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47"/>
          <p:cNvSpPr/>
          <p:nvPr/>
        </p:nvSpPr>
        <p:spPr>
          <a:xfrm>
            <a:off x="7836480" y="4316040"/>
            <a:ext cx="987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Calibri"/>
                <a:ea typeface="Calibri"/>
              </a:rPr>
              <a:t>Machine Learning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1"/>
          <p:cNvSpPr/>
          <p:nvPr/>
        </p:nvSpPr>
        <p:spPr>
          <a:xfrm>
            <a:off x="0" y="914400"/>
            <a:ext cx="9143640" cy="543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411480" y="0"/>
            <a:ext cx="8320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Evaluation &amp; Choosing the Right Technique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320040" y="1097280"/>
            <a:ext cx="8503560" cy="914040"/>
          </a:xfrm>
          <a:prstGeom prst="rect">
            <a:avLst/>
          </a:prstGeom>
          <a:solidFill>
            <a:srgbClr val="2d1b4e"/>
          </a:solidFill>
          <a:ln w="1524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457200" y="1115640"/>
            <a:ext cx="822924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b7185"/>
                </a:solidFill>
                <a:latin typeface="Calibri"/>
                <a:ea typeface="Calibri"/>
              </a:rPr>
              <a:t>Offline Evaluation: </a:t>
            </a:r>
            <a:r>
              <a:rPr b="0" lang="en-US" sz="1150" spc="-1" strike="noStrike">
                <a:solidFill>
                  <a:srgbClr val="ddd6fe"/>
                </a:solidFill>
                <a:latin typeface="Calibri"/>
                <a:ea typeface="Calibri"/>
              </a:rPr>
              <a:t>Recommender systems are historically evaluated using offline experiments that estimate prediction error on existing transaction datasets — measuring how closely the system's suggestions match what users actually chose.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Shape 5"/>
          <p:cNvSpPr/>
          <p:nvPr/>
        </p:nvSpPr>
        <p:spPr>
          <a:xfrm>
            <a:off x="320040" y="2148840"/>
            <a:ext cx="4260600" cy="124308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6"/>
          <p:cNvSpPr/>
          <p:nvPr/>
        </p:nvSpPr>
        <p:spPr>
          <a:xfrm>
            <a:off x="448200" y="2277000"/>
            <a:ext cx="456840" cy="4568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448200" y="2277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8"/>
          <p:cNvSpPr/>
          <p:nvPr/>
        </p:nvSpPr>
        <p:spPr>
          <a:xfrm>
            <a:off x="1014840" y="2240280"/>
            <a:ext cx="3456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🏢  </a:t>
            </a: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Application Domain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9"/>
          <p:cNvSpPr/>
          <p:nvPr/>
        </p:nvSpPr>
        <p:spPr>
          <a:xfrm>
            <a:off x="448200" y="2660760"/>
            <a:ext cx="4004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The specifics of the domain determine which technique is most appropriate — retail, healthcare, and streaming each have different data characteristics.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hape 10"/>
          <p:cNvSpPr/>
          <p:nvPr/>
        </p:nvSpPr>
        <p:spPr>
          <a:xfrm>
            <a:off x="4782240" y="2148840"/>
            <a:ext cx="4260600" cy="1243080"/>
          </a:xfrm>
          <a:prstGeom prst="rect">
            <a:avLst/>
          </a:prstGeom>
          <a:solidFill>
            <a:srgbClr val="2d1b4e"/>
          </a:solidFill>
          <a:ln w="1905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11"/>
          <p:cNvSpPr/>
          <p:nvPr/>
        </p:nvSpPr>
        <p:spPr>
          <a:xfrm>
            <a:off x="4910400" y="2277000"/>
            <a:ext cx="456840" cy="4568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4910400" y="2277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5477400" y="2240280"/>
            <a:ext cx="3456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🎯  </a:t>
            </a: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Success Factors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4"/>
          <p:cNvSpPr/>
          <p:nvPr/>
        </p:nvSpPr>
        <p:spPr>
          <a:xfrm>
            <a:off x="4910400" y="2660760"/>
            <a:ext cx="4004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Identify cogent success factors behind different techniques — accuracy, diversity, novelty, and explainability matter differently per use case.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Shape 15"/>
          <p:cNvSpPr/>
          <p:nvPr/>
        </p:nvSpPr>
        <p:spPr>
          <a:xfrm>
            <a:off x="320040" y="3538800"/>
            <a:ext cx="4260600" cy="1243080"/>
          </a:xfrm>
          <a:prstGeom prst="rect">
            <a:avLst/>
          </a:prstGeom>
          <a:solidFill>
            <a:srgbClr val="2d1b4e"/>
          </a:solidFill>
          <a:ln w="19050">
            <a:solidFill>
              <a:srgbClr val="7c3ae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Shape 16"/>
          <p:cNvSpPr/>
          <p:nvPr/>
        </p:nvSpPr>
        <p:spPr>
          <a:xfrm>
            <a:off x="448200" y="3666600"/>
            <a:ext cx="456840" cy="4568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17"/>
          <p:cNvSpPr/>
          <p:nvPr/>
        </p:nvSpPr>
        <p:spPr>
          <a:xfrm>
            <a:off x="448200" y="36666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18"/>
          <p:cNvSpPr/>
          <p:nvPr/>
        </p:nvSpPr>
        <p:spPr>
          <a:xfrm>
            <a:off x="1014840" y="3630240"/>
            <a:ext cx="3456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⚖️  </a:t>
            </a:r>
            <a:r>
              <a:rPr b="1" lang="en-US" sz="1250" spc="-1" strike="noStrike">
                <a:solidFill>
                  <a:srgbClr val="a78bfa"/>
                </a:solidFill>
                <a:latin typeface="Calibri"/>
                <a:ea typeface="Calibri"/>
              </a:rPr>
              <a:t>Optimal Criteria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448200" y="4050720"/>
            <a:ext cx="4004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Compare multiple techniques using an optimal criterion — e.g., minimising root mean square error (RMSE) or maximising precision@K.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Shape 20"/>
          <p:cNvSpPr/>
          <p:nvPr/>
        </p:nvSpPr>
        <p:spPr>
          <a:xfrm>
            <a:off x="4782240" y="3538800"/>
            <a:ext cx="4260600" cy="1243080"/>
          </a:xfrm>
          <a:prstGeom prst="rect">
            <a:avLst/>
          </a:prstGeom>
          <a:solidFill>
            <a:srgbClr val="2d1b4e"/>
          </a:solidFill>
          <a:ln w="19050">
            <a:solidFill>
              <a:srgbClr val="f43f5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21"/>
          <p:cNvSpPr/>
          <p:nvPr/>
        </p:nvSpPr>
        <p:spPr>
          <a:xfrm>
            <a:off x="4910400" y="3666600"/>
            <a:ext cx="456840" cy="4568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22"/>
          <p:cNvSpPr/>
          <p:nvPr/>
        </p:nvSpPr>
        <p:spPr>
          <a:xfrm>
            <a:off x="4910400" y="36666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04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23"/>
          <p:cNvSpPr/>
          <p:nvPr/>
        </p:nvSpPr>
        <p:spPr>
          <a:xfrm>
            <a:off x="5477400" y="3630240"/>
            <a:ext cx="3456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🔬  </a:t>
            </a:r>
            <a:r>
              <a:rPr b="1" lang="en-US" sz="1250" spc="-1" strike="noStrike">
                <a:solidFill>
                  <a:srgbClr val="fb7185"/>
                </a:solidFill>
                <a:latin typeface="Calibri"/>
                <a:ea typeface="Calibri"/>
              </a:rPr>
              <a:t>Technique Comparison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24"/>
          <p:cNvSpPr/>
          <p:nvPr/>
        </p:nvSpPr>
        <p:spPr>
          <a:xfrm>
            <a:off x="4910400" y="4050720"/>
            <a:ext cx="40046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ddd6fe"/>
                </a:solidFill>
                <a:latin typeface="Calibri"/>
                <a:ea typeface="Calibri"/>
              </a:rPr>
              <a:t>Run associated experiments across supervised, unsupervised, and hybrid approaches to identify which delivers the best prediction quality.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6217920" y="-1097280"/>
            <a:ext cx="4754520" cy="4754520"/>
          </a:xfrm>
          <a:prstGeom prst="ellipse">
            <a:avLst/>
          </a:prstGeom>
          <a:solidFill>
            <a:srgbClr val="2d1b4e"/>
          </a:solidFill>
          <a:ln w="12700">
            <a:solidFill>
              <a:srgbClr val="2d1b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Shape 1"/>
          <p:cNvSpPr/>
          <p:nvPr/>
        </p:nvSpPr>
        <p:spPr>
          <a:xfrm>
            <a:off x="-1371600" y="3108960"/>
            <a:ext cx="3840120" cy="3840120"/>
          </a:xfrm>
          <a:prstGeom prst="ellipse">
            <a:avLst/>
          </a:prstGeom>
          <a:solidFill>
            <a:srgbClr val="f43f5e">
              <a:alpha val="12000"/>
            </a:srgbClr>
          </a:solidFill>
          <a:ln w="12700">
            <a:solidFill>
              <a:srgbClr val="f43f5e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Shape 2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457200" y="25596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b7185"/>
                </a:solidFill>
                <a:latin typeface="Calibri"/>
                <a:ea typeface="Calibri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457200" y="85968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4a3b8"/>
                </a:solidFill>
                <a:latin typeface="Calibri"/>
              </a:rPr>
              <a:t>Data Mining &amp; Recommender Systems — GeeksForGeeks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Shape 5"/>
          <p:cNvSpPr/>
          <p:nvPr/>
        </p:nvSpPr>
        <p:spPr>
          <a:xfrm>
            <a:off x="457200" y="1389960"/>
            <a:ext cx="347040" cy="3470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457200" y="13899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0a2e"/>
                </a:solidFill>
                <a:latin typeface="Calibri"/>
              </a:rPr>
              <a:t>✦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7"/>
          <p:cNvSpPr/>
          <p:nvPr/>
        </p:nvSpPr>
        <p:spPr>
          <a:xfrm>
            <a:off x="951120" y="1334880"/>
            <a:ext cx="77720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dd6fe"/>
                </a:solidFill>
                <a:latin typeface="Calibri"/>
                <a:ea typeface="Calibri"/>
              </a:rPr>
              <a:t>Data mining uses classification, clustering, and regression to identify patterns in large datasets and answer key business and research questions.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8"/>
          <p:cNvSpPr/>
          <p:nvPr/>
        </p:nvSpPr>
        <p:spPr>
          <a:xfrm>
            <a:off x="457200" y="2002680"/>
            <a:ext cx="347040" cy="347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457200" y="20026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0a2e"/>
                </a:solidFill>
                <a:latin typeface="Calibri"/>
              </a:rPr>
              <a:t>✦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10"/>
          <p:cNvSpPr/>
          <p:nvPr/>
        </p:nvSpPr>
        <p:spPr>
          <a:xfrm>
            <a:off x="951120" y="1947600"/>
            <a:ext cx="77720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dd6fe"/>
                </a:solidFill>
                <a:latin typeface="Calibri"/>
                <a:ea typeface="Calibri"/>
              </a:rPr>
              <a:t>Recommender systems are a primary application of data mining — predicting items a user will like based on historical behaviour and similarity.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Shape 11"/>
          <p:cNvSpPr/>
          <p:nvPr/>
        </p:nvSpPr>
        <p:spPr>
          <a:xfrm>
            <a:off x="457200" y="2615040"/>
            <a:ext cx="347040" cy="3470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12"/>
          <p:cNvSpPr/>
          <p:nvPr/>
        </p:nvSpPr>
        <p:spPr>
          <a:xfrm>
            <a:off x="457200" y="261504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0a2e"/>
                </a:solidFill>
                <a:latin typeface="Calibri"/>
              </a:rPr>
              <a:t>✦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13"/>
          <p:cNvSpPr/>
          <p:nvPr/>
        </p:nvSpPr>
        <p:spPr>
          <a:xfrm>
            <a:off x="951120" y="2560320"/>
            <a:ext cx="77720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dd6fe"/>
                </a:solidFill>
                <a:latin typeface="Calibri"/>
                <a:ea typeface="Calibri"/>
              </a:rPr>
              <a:t>User-based recommendation uses Pearson similarity to find like-minded users; item-based uses cosine similarity to find related items.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Shape 14"/>
          <p:cNvSpPr/>
          <p:nvPr/>
        </p:nvSpPr>
        <p:spPr>
          <a:xfrm>
            <a:off x="457200" y="3227760"/>
            <a:ext cx="347040" cy="347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457200" y="32277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0a2e"/>
                </a:solidFill>
                <a:latin typeface="Calibri"/>
              </a:rPr>
              <a:t>✦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16"/>
          <p:cNvSpPr/>
          <p:nvPr/>
        </p:nvSpPr>
        <p:spPr>
          <a:xfrm>
            <a:off x="951120" y="3173040"/>
            <a:ext cx="77720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dd6fe"/>
                </a:solidFill>
                <a:latin typeface="Calibri"/>
                <a:ea typeface="Calibri"/>
              </a:rPr>
              <a:t>The mean adjusted matrix in item-based filtering eliminates rating bias from generous and strict raters for fairer comparisons.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Shape 17"/>
          <p:cNvSpPr/>
          <p:nvPr/>
        </p:nvSpPr>
        <p:spPr>
          <a:xfrm>
            <a:off x="457200" y="3840480"/>
            <a:ext cx="347040" cy="3470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8"/>
          <p:cNvSpPr/>
          <p:nvPr/>
        </p:nvSpPr>
        <p:spPr>
          <a:xfrm>
            <a:off x="457200" y="38404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0a2e"/>
                </a:solidFill>
                <a:latin typeface="Calibri"/>
              </a:rPr>
              <a:t>✦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9"/>
          <p:cNvSpPr/>
          <p:nvPr/>
        </p:nvSpPr>
        <p:spPr>
          <a:xfrm>
            <a:off x="951120" y="3785760"/>
            <a:ext cx="77720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dd6fe"/>
                </a:solidFill>
                <a:latin typeface="Calibri"/>
                <a:ea typeface="Calibri"/>
              </a:rPr>
              <a:t>Recommender systems must be evaluated using offline prediction error experiments, then validated against domain-specific success criteria.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20"/>
          <p:cNvSpPr/>
          <p:nvPr/>
        </p:nvSpPr>
        <p:spPr>
          <a:xfrm>
            <a:off x="457200" y="4453200"/>
            <a:ext cx="347040" cy="347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 21"/>
          <p:cNvSpPr/>
          <p:nvPr/>
        </p:nvSpPr>
        <p:spPr>
          <a:xfrm>
            <a:off x="457200" y="44532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a0a2e"/>
                </a:solidFill>
                <a:latin typeface="Calibri"/>
              </a:rPr>
              <a:t>✦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22"/>
          <p:cNvSpPr/>
          <p:nvPr/>
        </p:nvSpPr>
        <p:spPr>
          <a:xfrm>
            <a:off x="951120" y="4398120"/>
            <a:ext cx="77720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ddd6fe"/>
                </a:solidFill>
                <a:latin typeface="Calibri"/>
                <a:ea typeface="Calibri"/>
              </a:rPr>
              <a:t>Choosing the right technique requires understanding the application domain, comparing multiple methods, and optimising for the best criterion.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23"/>
          <p:cNvSpPr/>
          <p:nvPr/>
        </p:nvSpPr>
        <p:spPr>
          <a:xfrm>
            <a:off x="457200" y="4663440"/>
            <a:ext cx="8320680" cy="383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24"/>
          <p:cNvSpPr/>
          <p:nvPr/>
        </p:nvSpPr>
        <p:spPr>
          <a:xfrm>
            <a:off x="457200" y="4663440"/>
            <a:ext cx="8320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  <a:ea typeface="Calibri"/>
              </a:rPr>
              <a:t>Recommender systems are data mining in action — turning raw behaviour into personalised experiences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2026-04-08T10:36:03Z</dcterms:created>
  <dc:creator>PptxGenJS</dc:creator>
  <dc:description/>
  <dc:language>en-US</dc:language>
  <cp:lastModifiedBy/>
  <dcterms:modified xsi:type="dcterms:W3CDTF">2026-04-09T08:40:47Z</dcterms:modified>
  <cp:revision>2</cp:revision>
  <dc:subject>PptxGenJS Presentation</dc:subject>
  <dc:title>Data Mining and Recommender Systems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