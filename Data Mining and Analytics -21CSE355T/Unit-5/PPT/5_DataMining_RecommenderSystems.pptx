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CE0C00-C61A-410B-A315-51422E03165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237059-AB03-452C-B8FF-86779469E6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153246-EDDF-408E-8B55-D7FD910DA2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57CAD2-1E3E-43D3-BF7E-A3B3855A66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7B1CCF-FEC3-4E76-8CF2-7C082D7936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533AB2-370B-47A9-ADDD-AC2796A403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C6EC25-03E8-45DB-89A4-5D7DD19021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9C34D1-C046-4060-AD2F-202315C087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04BDE9-7176-44D2-9B9E-686F530CAB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B1833B-ED66-4CE7-AB5B-CD20AA4F2C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46F3FD-7410-4E2A-BFC9-B4611889BF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463040"/>
            <a:ext cx="5302800" cy="5302800"/>
          </a:xfrm>
          <a:prstGeom prst="ellipse">
            <a:avLst/>
          </a:prstGeom>
          <a:solidFill>
            <a:srgbClr val="2d1b4e"/>
          </a:solidFill>
          <a:ln w="12700">
            <a:solidFill>
              <a:srgbClr val="2d1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315200" y="548640"/>
            <a:ext cx="2559600" cy="25596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371600" y="3200400"/>
            <a:ext cx="3839760" cy="3839760"/>
          </a:xfrm>
          <a:prstGeom prst="ellipse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0" y="365760"/>
            <a:ext cx="319320" cy="319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120640" y="868680"/>
            <a:ext cx="200520" cy="200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114800" y="1005840"/>
            <a:ext cx="163800" cy="16380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57200" y="685800"/>
            <a:ext cx="2925360" cy="365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68580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80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950" spc="180" strike="noStrike">
                <a:solidFill>
                  <a:srgbClr val="ffffff"/>
                </a:solidFill>
                <a:latin typeface="Calibri"/>
              </a:rPr>
              <a:t>·  DATA MINING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1207080"/>
            <a:ext cx="80460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Data Mining &amp;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196596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b7185"/>
                </a:solidFill>
                <a:latin typeface="Calibri"/>
                <a:ea typeface="Calibri"/>
              </a:rPr>
              <a:t>Recommender Systems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200" y="2907720"/>
            <a:ext cx="77716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ddd6fe"/>
                </a:solidFill>
                <a:latin typeface="Calibri"/>
                <a:ea typeface="Calibri"/>
              </a:rPr>
              <a:t>How data mining powers personalised recommendations across industries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57200" y="3493080"/>
            <a:ext cx="1992600" cy="913680"/>
          </a:xfrm>
          <a:prstGeom prst="rect">
            <a:avLst/>
          </a:prstGeom>
          <a:solidFill>
            <a:srgbClr val="2d1b4e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57200" y="3511440"/>
            <a:ext cx="1992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b7185"/>
                </a:solidFill>
                <a:latin typeface="Calibri"/>
                <a:ea typeface="Calibri"/>
              </a:rPr>
              <a:t>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3986640"/>
            <a:ext cx="199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Rec. Types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624400" y="3493080"/>
            <a:ext cx="1992600" cy="913680"/>
          </a:xfrm>
          <a:prstGeom prst="rect">
            <a:avLst/>
          </a:prstGeom>
          <a:solidFill>
            <a:srgbClr val="2d1b4e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624400" y="3511440"/>
            <a:ext cx="1992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b7185"/>
                </a:solidFill>
                <a:latin typeface="Calibri"/>
                <a:ea typeface="Calibri"/>
              </a:rPr>
              <a:t>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624400" y="3986640"/>
            <a:ext cx="199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DM Methods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791600" y="3493080"/>
            <a:ext cx="1992600" cy="913680"/>
          </a:xfrm>
          <a:prstGeom prst="rect">
            <a:avLst/>
          </a:prstGeom>
          <a:solidFill>
            <a:srgbClr val="2d1b4e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791600" y="3511440"/>
            <a:ext cx="1992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b7185"/>
                </a:solidFill>
                <a:latin typeface="Calibri"/>
                <a:ea typeface="Calibri"/>
              </a:rPr>
              <a:t>6+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791600" y="3986640"/>
            <a:ext cx="199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Use Cases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958440" y="3493080"/>
            <a:ext cx="1992600" cy="913680"/>
          </a:xfrm>
          <a:prstGeom prst="rect">
            <a:avLst/>
          </a:prstGeom>
          <a:solidFill>
            <a:srgbClr val="2d1b4e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958440" y="3511440"/>
            <a:ext cx="1992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b7185"/>
                </a:solidFill>
                <a:latin typeface="Calibri"/>
                <a:ea typeface="Calibri"/>
              </a:rPr>
              <a:t>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958440" y="3986640"/>
            <a:ext cx="199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Similarity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Measures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57200" y="4754880"/>
            <a:ext cx="8411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0" y="960120"/>
            <a:ext cx="9143280" cy="633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411480" y="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What Is Data Mining?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365760" y="1170360"/>
            <a:ext cx="8411760" cy="105084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48640" y="1188720"/>
            <a:ext cx="80917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  <a:ea typeface="Calibri"/>
              </a:rPr>
              <a:t>Data Mining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uses statistical methodologies, classification models, clustering, and regression models to </a:t>
            </a:r>
            <a:r>
              <a:rPr b="1" lang="en-US" sz="1300" spc="-1" strike="noStrike">
                <a:solidFill>
                  <a:srgbClr val="fb7185"/>
                </a:solidFill>
                <a:latin typeface="Calibri"/>
                <a:ea typeface="Calibri"/>
              </a:rPr>
              <a:t>exploit insights from large datasets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 — enabling predictions based on historical events and pattern recognition.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47400" y="2395800"/>
            <a:ext cx="2724120" cy="2486520"/>
          </a:xfrm>
          <a:prstGeom prst="rect">
            <a:avLst/>
          </a:prstGeom>
          <a:solidFill>
            <a:srgbClr val="1a0a2e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347400" y="2395800"/>
            <a:ext cx="2724120" cy="474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347400" y="2395800"/>
            <a:ext cx="2724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🏷️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38840" y="2926080"/>
            <a:ext cx="2541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Classification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Models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457200" y="3420000"/>
            <a:ext cx="2504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Categorises data into predefined classes. Used to predict disease, classify customers, detect spam.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3200400" y="2395800"/>
            <a:ext cx="2724120" cy="2486520"/>
          </a:xfrm>
          <a:prstGeom prst="rect">
            <a:avLst/>
          </a:prstGeom>
          <a:solidFill>
            <a:srgbClr val="1a0a2e"/>
          </a:solidFill>
          <a:ln w="22860">
            <a:solidFill>
              <a:srgbClr val="0891b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3200400" y="2395800"/>
            <a:ext cx="2724120" cy="47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3200400" y="2395800"/>
            <a:ext cx="2724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3291840" y="2926080"/>
            <a:ext cx="2541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7e8f9"/>
                </a:solidFill>
                <a:latin typeface="Calibri"/>
                <a:ea typeface="Calibri"/>
              </a:rPr>
              <a:t>Clustering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3310200" y="3420000"/>
            <a:ext cx="2504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Groups similar data without labels. Discovers natural segments — e.g. customer types by purchase pattern.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6053400" y="2395800"/>
            <a:ext cx="2724120" cy="2486520"/>
          </a:xfrm>
          <a:prstGeom prst="rect">
            <a:avLst/>
          </a:prstGeom>
          <a:solidFill>
            <a:srgbClr val="1a0a2e"/>
          </a:solidFill>
          <a:ln w="2286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6053400" y="2395800"/>
            <a:ext cx="2724120" cy="474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053400" y="2395800"/>
            <a:ext cx="2724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144840" y="2926080"/>
            <a:ext cx="2541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Regression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Models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163200" y="3420000"/>
            <a:ext cx="2504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Predicts continuous numeric values. Estimates monthly spending, crop yield, expected sales.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0" y="914400"/>
            <a:ext cx="9143280" cy="54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411480" y="0"/>
            <a:ext cx="8320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a78bfa"/>
                </a:solidFill>
                <a:latin typeface="Calibri"/>
                <a:ea typeface="Calibri"/>
              </a:rPr>
              <a:t>Data Mining in Action — Real-World Questions Answered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274320" y="104256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274320" y="1042560"/>
            <a:ext cx="2760840" cy="109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475560" y="124344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75560" y="1243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💳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1078920" y="124344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Monthly Spend?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84120" y="182880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How much will a person spend this month, based on their previous transaction history?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182040" y="104256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3182040" y="1042560"/>
            <a:ext cx="2760840" cy="109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3383280" y="1243440"/>
            <a:ext cx="502200" cy="502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3383280" y="1243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3986640" y="124344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Frequent Items?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3291840" y="182880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Bread, butter &amp; jam are always bought together — market basket association mining.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6089760" y="104256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6089760" y="1042560"/>
            <a:ext cx="2760840" cy="109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6291000" y="124344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6291000" y="1243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☂️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6894720" y="124344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Seasonal Demand?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6199560" y="182880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Umbrellas spike in rainy season; ice cream in summer — trend analysis from time series data.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274320" y="296280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274320" y="2962800"/>
            <a:ext cx="2760840" cy="109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75560" y="316368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475560" y="31636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1078920" y="316368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Crop Yield?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384120" y="374904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What will be the yield of crops this year given soil, weather, and historical data?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3182040" y="296280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8"/>
          <p:cNvSpPr/>
          <p:nvPr/>
        </p:nvSpPr>
        <p:spPr>
          <a:xfrm>
            <a:off x="3182040" y="2962800"/>
            <a:ext cx="2760840" cy="109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3383280" y="3163680"/>
            <a:ext cx="502200" cy="502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3383280" y="31636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🏥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3986640" y="316368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Disease Risk?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3291840" y="374904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What are the chances of a person having a particular disease given all presented symptoms?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6089760" y="2962800"/>
            <a:ext cx="2760840" cy="175500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34"/>
          <p:cNvSpPr/>
          <p:nvPr/>
        </p:nvSpPr>
        <p:spPr>
          <a:xfrm>
            <a:off x="6089760" y="2962800"/>
            <a:ext cx="2760840" cy="109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6291000" y="316368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6"/>
          <p:cNvSpPr/>
          <p:nvPr/>
        </p:nvSpPr>
        <p:spPr>
          <a:xfrm>
            <a:off x="6291000" y="31636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7"/>
          <p:cNvSpPr/>
          <p:nvPr/>
        </p:nvSpPr>
        <p:spPr>
          <a:xfrm>
            <a:off x="6894720" y="316368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Expected Sales?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6199560" y="3749040"/>
            <a:ext cx="2559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How many groceries will be sold in a given month — forecasted from purchase patterns.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9"/>
          <p:cNvSpPr/>
          <p:nvPr/>
        </p:nvSpPr>
        <p:spPr>
          <a:xfrm>
            <a:off x="0" y="4736520"/>
            <a:ext cx="9143280" cy="401760"/>
          </a:xfrm>
          <a:prstGeom prst="rect">
            <a:avLst/>
          </a:prstGeom>
          <a:solidFill>
            <a:srgbClr val="3d2570"/>
          </a:solidFill>
          <a:ln w="12700">
            <a:solidFill>
              <a:srgbClr val="3d25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0"/>
          <p:cNvSpPr/>
          <p:nvPr/>
        </p:nvSpPr>
        <p:spPr>
          <a:xfrm>
            <a:off x="457200" y="4736520"/>
            <a:ext cx="8228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"The main objective is to analyze the pattern present in the dataset and obtain useful information based on the target required."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960120"/>
            <a:ext cx="914328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11480" y="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b7185"/>
                </a:solidFill>
                <a:latin typeface="Calibri"/>
                <a:ea typeface="Calibri"/>
              </a:rPr>
              <a:t>What Are Recommender Systems?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365760" y="1170360"/>
            <a:ext cx="8411760" cy="913680"/>
          </a:xfrm>
          <a:prstGeom prst="rect">
            <a:avLst/>
          </a:prstGeom>
          <a:solidFill>
            <a:srgbClr val="2d1b4e"/>
          </a:solidFill>
          <a:ln w="19050">
            <a:solidFill>
              <a:srgbClr val="fb718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530280" y="1188720"/>
            <a:ext cx="80917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A Recommender System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predicts which items a user is most likely to like or need, based on their previous purchases, behaviour, and similarity to other users — acting like a </a:t>
            </a: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personalised AI assistant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 that knows your preferences without bias.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11480" y="22129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7c3aed"/>
                </a:solidFill>
                <a:latin typeface="Calibri"/>
                <a:ea typeface="Calibri"/>
              </a:rPr>
              <a:t>Core Workflow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411480" y="272484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411480" y="2724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658080" y="3227760"/>
            <a:ext cx="360" cy="301680"/>
          </a:xfrm>
          <a:prstGeom prst="line">
            <a:avLst/>
          </a:prstGeom>
          <a:ln w="19050">
            <a:solidFill>
              <a:srgbClr val="7c3ae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051560" y="270648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0a2e"/>
                </a:solidFill>
                <a:latin typeface="Calibri"/>
                <a:ea typeface="Calibri"/>
              </a:rPr>
              <a:t>Find Similarity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1051560" y="298080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Compare the target user/item against all users/items in the dataset.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411480" y="352944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411480" y="3529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58080" y="4032360"/>
            <a:ext cx="360" cy="301680"/>
          </a:xfrm>
          <a:prstGeom prst="line">
            <a:avLst/>
          </a:prstGeom>
          <a:ln w="19050">
            <a:solidFill>
              <a:srgbClr val="7c3ae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1051560" y="351144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0a2e"/>
                </a:solidFill>
                <a:latin typeface="Calibri"/>
                <a:ea typeface="Calibri"/>
              </a:rPr>
              <a:t>Identify Patterns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1051560" y="378576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Discover patterns of likes &amp; dislikes with the highest similarity score.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411480" y="4334400"/>
            <a:ext cx="502200" cy="502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11480" y="43344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1051560" y="431604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0a2e"/>
                </a:solidFill>
                <a:latin typeface="Calibri"/>
                <a:ea typeface="Calibri"/>
              </a:rPr>
              <a:t>Make Prediction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1051560" y="459036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Use the matched pattern to determine if an item should be recommended.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4754880" y="2176200"/>
            <a:ext cx="4114080" cy="272412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4754880" y="2176200"/>
            <a:ext cx="4114080" cy="438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4864680" y="2176200"/>
            <a:ext cx="3894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Questions RS Can Answer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4864680" y="270648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🎬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Which movie or web series should I watch next?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4864680" y="313632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📚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Which book should I read next?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4864680" y="356616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🛒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Which items match what I've bought before?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4864680" y="399600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📰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Which magazines match my genre preferences?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4864680" y="442584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🗺️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Will I like this restaurant or travel destination?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8"/>
          <p:cNvSpPr/>
          <p:nvPr/>
        </p:nvSpPr>
        <p:spPr>
          <a:xfrm>
            <a:off x="365760" y="4773240"/>
            <a:ext cx="8411760" cy="2736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475560" y="4773240"/>
            <a:ext cx="819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a0a2e"/>
                </a:solidFill>
                <a:latin typeface="Calibri"/>
                <a:ea typeface="Calibri"/>
              </a:rPr>
              <a:t>Goal: Supply high-quality, easily accessible recommendations that act as a personalised, efficient personal authority for every user.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0" y="914400"/>
            <a:ext cx="9143280" cy="54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11480" y="0"/>
            <a:ext cx="8320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01 — User-Based Recommendation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320040" y="1078920"/>
            <a:ext cx="8503200" cy="822240"/>
          </a:xfrm>
          <a:prstGeom prst="rect">
            <a:avLst/>
          </a:prstGeom>
          <a:solidFill>
            <a:srgbClr val="2d1b4e"/>
          </a:solidFill>
          <a:ln w="1524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475560" y="1097280"/>
            <a:ext cx="822888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Core Idea: </a:t>
            </a:r>
            <a:r>
              <a:rPr b="0" lang="en-US" sz="1200" spc="-1" strike="noStrike">
                <a:solidFill>
                  <a:srgbClr val="ddd6fe"/>
                </a:solidFill>
                <a:latin typeface="Calibri"/>
                <a:ea typeface="Calibri"/>
              </a:rPr>
              <a:t>Find users whose likes and dislikes follow the same pattern as the target user. Recommend items that closely-matched users have liked but the target user hasn't seen yet.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320040" y="2030040"/>
            <a:ext cx="5028480" cy="281556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320040" y="2030040"/>
            <a:ext cx="5028480" cy="456480"/>
          </a:xfrm>
          <a:prstGeom prst="rect">
            <a:avLst/>
          </a:prstGeom>
          <a:solidFill>
            <a:srgbClr val="3d2570"/>
          </a:solidFill>
          <a:ln w="12700">
            <a:solidFill>
              <a:srgbClr val="3d25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438840" y="2030040"/>
            <a:ext cx="4799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a78bfa"/>
                </a:solidFill>
                <a:latin typeface="Calibri"/>
                <a:ea typeface="Calibri"/>
              </a:rPr>
              <a:t>📐  </a:t>
            </a:r>
            <a:r>
              <a:rPr b="1" lang="en-US" sz="1350" spc="-1" strike="noStrike">
                <a:solidFill>
                  <a:srgbClr val="a78bfa"/>
                </a:solidFill>
                <a:latin typeface="Calibri"/>
                <a:ea typeface="Calibri"/>
              </a:rPr>
              <a:t>Pearson Similarity Measure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457200" y="25786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Step 1: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Collect ratings of both users across shared items from the database.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457200" y="30358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Step 2: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Subtract the mean rating from each individual user's ratings (mean-centering).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457200" y="34930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Step 3: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Numerator: Multiply the mean-centered ratings of User A and User B for each item and sum.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57200" y="39502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Step 4: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Denominator: Square each user's mean-centered ratings separately, sum each, then multiply.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457200" y="4407480"/>
            <a:ext cx="46627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Step 5: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Divide numerator by denominator → output is the Pearson similarity score (–1 to +1).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>
            <a:off x="5577840" y="2030040"/>
            <a:ext cx="3272760" cy="1297800"/>
          </a:xfrm>
          <a:prstGeom prst="rect">
            <a:avLst/>
          </a:prstGeom>
          <a:solidFill>
            <a:srgbClr val="2d1b4e"/>
          </a:solidFill>
          <a:ln w="1905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5577840" y="2030040"/>
            <a:ext cx="3272760" cy="419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5687640" y="2030040"/>
            <a:ext cx="305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Score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5687640" y="2523600"/>
            <a:ext cx="3016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7185"/>
                </a:solidFill>
                <a:latin typeface="Consolas"/>
                <a:ea typeface="Consolas"/>
              </a:rPr>
              <a:t>+1.0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Perfect positive match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5687640" y="2797920"/>
            <a:ext cx="3016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7185"/>
                </a:solidFill>
                <a:latin typeface="Consolas"/>
                <a:ea typeface="Consolas"/>
              </a:rPr>
              <a:t> </a:t>
            </a:r>
            <a:r>
              <a:rPr b="1" lang="en-US" sz="1050" spc="-1" strike="noStrike">
                <a:solidFill>
                  <a:srgbClr val="fb7185"/>
                </a:solidFill>
                <a:latin typeface="Consolas"/>
                <a:ea typeface="Consolas"/>
              </a:rPr>
              <a:t>0.0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No similarity at all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5687640" y="3072240"/>
            <a:ext cx="3016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7185"/>
                </a:solidFill>
                <a:latin typeface="Consolas"/>
                <a:ea typeface="Consolas"/>
              </a:rPr>
              <a:t>–</a:t>
            </a:r>
            <a:r>
              <a:rPr b="1" lang="en-US" sz="1050" spc="-1" strike="noStrike">
                <a:solidFill>
                  <a:srgbClr val="fb7185"/>
                </a:solidFill>
                <a:latin typeface="Consolas"/>
                <a:ea typeface="Consolas"/>
              </a:rPr>
              <a:t>1.0 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Perfectly opposite tastes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5577840" y="3456360"/>
            <a:ext cx="3272760" cy="1370880"/>
          </a:xfrm>
          <a:prstGeom prst="rect">
            <a:avLst/>
          </a:prstGeom>
          <a:solidFill>
            <a:srgbClr val="2d1b4e"/>
          </a:solidFill>
          <a:ln w="1905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5577840" y="3456360"/>
            <a:ext cx="3272760" cy="419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5687640" y="3456360"/>
            <a:ext cx="305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Outcome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5687640" y="393192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High-similarity users are identified. Items they liked but the target user hasn't rated are recommended, weighted by similarity score.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0" y="960120"/>
            <a:ext cx="914328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411480" y="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b7185"/>
                </a:solidFill>
                <a:latin typeface="Calibri"/>
                <a:ea typeface="Calibri"/>
              </a:rPr>
              <a:t>02 — Item-Based Recommendation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365760" y="1170360"/>
            <a:ext cx="8411760" cy="803880"/>
          </a:xfrm>
          <a:prstGeom prst="rect">
            <a:avLst/>
          </a:prstGeom>
          <a:solidFill>
            <a:srgbClr val="2d1b4e"/>
          </a:solidFill>
          <a:ln w="1524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30280" y="1188720"/>
            <a:ext cx="8137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7185"/>
                </a:solidFill>
                <a:latin typeface="Calibri"/>
                <a:ea typeface="Calibri"/>
              </a:rPr>
              <a:t>Core Idea: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Instead of comparing users, compare </a:t>
            </a: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items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to each other. Find items similar to what the user has already liked, then recommend those similar items.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365760" y="2103120"/>
            <a:ext cx="4132440" cy="2788200"/>
          </a:xfrm>
          <a:prstGeom prst="rect">
            <a:avLst/>
          </a:prstGeom>
          <a:solidFill>
            <a:srgbClr val="1a0a2e"/>
          </a:solidFill>
          <a:ln w="2286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365760" y="2103120"/>
            <a:ext cx="4132440" cy="456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75560" y="2103120"/>
            <a:ext cx="389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Step 1 — Mean Adjusted Matrix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475560" y="2633400"/>
            <a:ext cx="38581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dd6fe"/>
                </a:solidFill>
                <a:latin typeface="Calibri"/>
                <a:ea typeface="Calibri"/>
              </a:rPr>
              <a:t>The mean adjusted matrix reduces rating bias — some users always give very high ratings, others always give low ratings.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475560" y="3255120"/>
            <a:ext cx="3858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7185"/>
                </a:solidFill>
                <a:latin typeface="Calibri"/>
                <a:ea typeface="Calibri"/>
              </a:rPr>
              <a:t>Method: </a:t>
            </a:r>
            <a:r>
              <a:rPr b="0" lang="en-US" sz="1100" spc="-1" strike="noStrike">
                <a:solidFill>
                  <a:srgbClr val="ddd6fe"/>
                </a:solidFill>
                <a:latin typeface="Calibri"/>
                <a:ea typeface="Calibri"/>
              </a:rPr>
              <a:t>Subtract each user's mean rating from all of their individual item ratings.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475560" y="3694320"/>
            <a:ext cx="3858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7185"/>
                </a:solidFill>
                <a:latin typeface="Calibri"/>
                <a:ea typeface="Calibri"/>
              </a:rPr>
              <a:t>Effect: </a:t>
            </a:r>
            <a:r>
              <a:rPr b="0" lang="en-US" sz="1100" spc="-1" strike="noStrike">
                <a:solidFill>
                  <a:srgbClr val="ddd6fe"/>
                </a:solidFill>
                <a:latin typeface="Calibri"/>
                <a:ea typeface="Calibri"/>
              </a:rPr>
              <a:t>Normalises ratings so a '4' from a generous rater is comparable to a '4' from a strict rater.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475560" y="4133160"/>
            <a:ext cx="3858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7185"/>
                </a:solidFill>
                <a:latin typeface="Calibri"/>
                <a:ea typeface="Calibri"/>
              </a:rPr>
              <a:t>Result: </a:t>
            </a:r>
            <a:r>
              <a:rPr b="0" lang="en-US" sz="1100" spc="-1" strike="noStrike">
                <a:solidFill>
                  <a:srgbClr val="ddd6fe"/>
                </a:solidFill>
                <a:latin typeface="Calibri"/>
                <a:ea typeface="Calibri"/>
              </a:rPr>
              <a:t>A clean matrix that fairly represents how each user feels about each item.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475560" y="4572000"/>
            <a:ext cx="385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7185"/>
                </a:solidFill>
                <a:latin typeface="Calibri"/>
                <a:ea typeface="Calibri"/>
              </a:rPr>
              <a:t>Used for: </a:t>
            </a:r>
            <a:r>
              <a:rPr b="0" lang="en-US" sz="1100" spc="-1" strike="noStrike">
                <a:solidFill>
                  <a:srgbClr val="ddd6fe"/>
                </a:solidFill>
                <a:latin typeface="Calibri"/>
                <a:ea typeface="Calibri"/>
              </a:rPr>
              <a:t>Predicting ratings of new users on unseen items.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4645080" y="2103120"/>
            <a:ext cx="4132440" cy="2788200"/>
          </a:xfrm>
          <a:prstGeom prst="rect">
            <a:avLst/>
          </a:prstGeom>
          <a:solidFill>
            <a:srgbClr val="1a0a2e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4645080" y="2103120"/>
            <a:ext cx="4132440" cy="456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4754880" y="2103120"/>
            <a:ext cx="389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Step 2 — Cosine Similarity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4754880" y="2633400"/>
            <a:ext cx="3894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Numerator: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Multiply the ratings of different users on two items together and sum the products.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4754880" y="3072240"/>
            <a:ext cx="3894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Denominator: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Square each item's ratings separately, sum each, multiply the two square-root values.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4754880" y="3511440"/>
            <a:ext cx="3894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Division: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Divide numerator by denominator to get the cosine similarity score (0 to 1).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4754880" y="3950280"/>
            <a:ext cx="3894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Interpretation: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Score close to 1 = items are very similar. Score near 0 = items are unrelated.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4754880" y="4389120"/>
            <a:ext cx="3894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Use: </a:t>
            </a:r>
            <a:r>
              <a:rPr b="0" lang="en-US" sz="1050" spc="-1" strike="noStrike">
                <a:solidFill>
                  <a:srgbClr val="ddd6fe"/>
                </a:solidFill>
                <a:latin typeface="Calibri"/>
                <a:ea typeface="Calibri"/>
              </a:rPr>
              <a:t>High-similarity items to what the user already liked are recommended next.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914400"/>
            <a:ext cx="9143280" cy="54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411480" y="0"/>
            <a:ext cx="8320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User-Based vs Item-Based: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71" name="Table 0"/>
          <p:cNvGraphicFramePr/>
          <p:nvPr/>
        </p:nvGraphicFramePr>
        <p:xfrm>
          <a:off x="320040" y="1051560"/>
          <a:ext cx="8503560" cy="3931200"/>
        </p:xfrm>
        <a:graphic>
          <a:graphicData uri="http://schemas.openxmlformats.org/drawingml/2006/table">
            <a:tbl>
              <a:tblPr/>
              <a:tblGrid>
                <a:gridCol w="1828800"/>
                <a:gridCol w="3337560"/>
                <a:gridCol w="3337560"/>
              </a:tblGrid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b7185"/>
                          </a:solidFill>
                          <a:latin typeface="Calibri"/>
                        </a:rPr>
                        <a:t>Dimension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3d257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User-Based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Item-Based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f43f5e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Focus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Similar users who share the same taste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Similar items that receive similar ratings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Similarity Metric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Pearson Correlation Coefficient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Cosine Similarity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Bias Handling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Direct mean-centering of ratings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Mean Adjusted Matrix to normalise ratings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Best For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Personalised discovery of new tastes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Recommending items close to known preferences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Cold Start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Struggles with new users (little data)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Handles new users better (item data exists)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40820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Scalability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Harder to scale — user space grows fast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More scalable — item space is more stable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1a0a2e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</a:rPr>
                        <a:t>Example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a78bfa"/>
                          </a:solidFill>
                          <a:latin typeface="Calibri"/>
                          <a:ea typeface="Calibri"/>
                        </a:rPr>
                        <a:t>"Users like you also liked…"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b7185"/>
                          </a:solidFill>
                          <a:latin typeface="Calibri"/>
                          <a:ea typeface="Calibri"/>
                        </a:rPr>
                        <a:t>"Because you liked X, try Y…"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d2570"/>
                      </a:solidFill>
                      <a:prstDash val="solid"/>
                    </a:lnL>
                    <a:lnR w="6480">
                      <a:solidFill>
                        <a:srgbClr val="3d2570"/>
                      </a:solidFill>
                      <a:prstDash val="solid"/>
                    </a:lnR>
                    <a:lnT w="6480">
                      <a:solidFill>
                        <a:srgbClr val="3d2570"/>
                      </a:solidFill>
                      <a:prstDash val="solid"/>
                    </a:lnT>
                    <a:lnB w="6480">
                      <a:solidFill>
                        <a:srgbClr val="3d257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960120"/>
            <a:ext cx="9143280" cy="6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11480" y="0"/>
            <a:ext cx="83203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a78bfa"/>
                </a:solidFill>
                <a:latin typeface="Calibri"/>
                <a:ea typeface="Calibri"/>
              </a:rPr>
              <a:t>How Data Mining Powers Recommender Systems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347400" y="1170360"/>
            <a:ext cx="2029320" cy="2632680"/>
          </a:xfrm>
          <a:prstGeom prst="rect">
            <a:avLst/>
          </a:prstGeom>
          <a:solidFill>
            <a:srgbClr val="1a0a2e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347400" y="1170360"/>
            <a:ext cx="2029320" cy="456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347400" y="1170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57200" y="117036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🗄️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420480" y="1682640"/>
            <a:ext cx="1882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Repositories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438840" y="2194560"/>
            <a:ext cx="18464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Massive daily-generated datasets of user interactions, purchases, ratings, and behaviours.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2377440" y="1700640"/>
            <a:ext cx="136440" cy="319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2514600" y="1170360"/>
            <a:ext cx="2029320" cy="2632680"/>
          </a:xfrm>
          <a:prstGeom prst="rect">
            <a:avLst/>
          </a:prstGeom>
          <a:solidFill>
            <a:srgbClr val="1a0a2e"/>
          </a:solidFill>
          <a:ln w="2286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2514600" y="1170360"/>
            <a:ext cx="2029320" cy="456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2514600" y="1170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2624400" y="117036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⛏️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2587680" y="1682640"/>
            <a:ext cx="1882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7185"/>
                </a:solidFill>
                <a:latin typeface="Calibri"/>
                <a:ea typeface="Calibri"/>
              </a:rPr>
              <a:t>Data Mining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7185"/>
                </a:solidFill>
                <a:latin typeface="Calibri"/>
                <a:ea typeface="Calibri"/>
              </a:rPr>
              <a:t>Process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2606040" y="2194560"/>
            <a:ext cx="18464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Sampling, estimation, hypothesis testing, classification, clustering applied to raw data.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6"/>
          <p:cNvSpPr/>
          <p:nvPr/>
        </p:nvSpPr>
        <p:spPr>
          <a:xfrm>
            <a:off x="4544640" y="1700640"/>
            <a:ext cx="136440" cy="319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4681800" y="1170360"/>
            <a:ext cx="2029320" cy="2632680"/>
          </a:xfrm>
          <a:prstGeom prst="rect">
            <a:avLst/>
          </a:prstGeom>
          <a:solidFill>
            <a:srgbClr val="1a0a2e"/>
          </a:solidFill>
          <a:ln w="2286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4681800" y="1170360"/>
            <a:ext cx="2029320" cy="456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9"/>
          <p:cNvSpPr/>
          <p:nvPr/>
        </p:nvSpPr>
        <p:spPr>
          <a:xfrm>
            <a:off x="4681800" y="1170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4791600" y="117036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1"/>
          <p:cNvSpPr/>
          <p:nvPr/>
        </p:nvSpPr>
        <p:spPr>
          <a:xfrm>
            <a:off x="4754880" y="1682640"/>
            <a:ext cx="1882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Pattern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Discovery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2"/>
          <p:cNvSpPr/>
          <p:nvPr/>
        </p:nvSpPr>
        <p:spPr>
          <a:xfrm>
            <a:off x="4773240" y="2194560"/>
            <a:ext cx="18464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Hidden preference patterns, association rules, and user/item similarity matrices emerge.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6711840" y="1700640"/>
            <a:ext cx="136440" cy="319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4"/>
          <p:cNvSpPr/>
          <p:nvPr/>
        </p:nvSpPr>
        <p:spPr>
          <a:xfrm>
            <a:off x="6849000" y="1170360"/>
            <a:ext cx="2029320" cy="2632680"/>
          </a:xfrm>
          <a:prstGeom prst="rect">
            <a:avLst/>
          </a:prstGeom>
          <a:solidFill>
            <a:srgbClr val="1a0a2e"/>
          </a:solidFill>
          <a:ln w="2286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5"/>
          <p:cNvSpPr/>
          <p:nvPr/>
        </p:nvSpPr>
        <p:spPr>
          <a:xfrm>
            <a:off x="6849000" y="1170360"/>
            <a:ext cx="2029320" cy="456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6849000" y="1170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7"/>
          <p:cNvSpPr/>
          <p:nvPr/>
        </p:nvSpPr>
        <p:spPr>
          <a:xfrm>
            <a:off x="6958440" y="1170360"/>
            <a:ext cx="155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8"/>
          <p:cNvSpPr/>
          <p:nvPr/>
        </p:nvSpPr>
        <p:spPr>
          <a:xfrm>
            <a:off x="6922080" y="1682640"/>
            <a:ext cx="1882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7185"/>
                </a:solidFill>
                <a:latin typeface="Calibri"/>
                <a:ea typeface="Calibri"/>
              </a:rPr>
              <a:t>Personalised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7185"/>
                </a:solidFill>
                <a:latin typeface="Calibri"/>
                <a:ea typeface="Calibri"/>
              </a:rPr>
              <a:t>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9"/>
          <p:cNvSpPr/>
          <p:nvPr/>
        </p:nvSpPr>
        <p:spPr>
          <a:xfrm>
            <a:off x="6940440" y="2194560"/>
            <a:ext cx="18464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High-quality, accessible recommendations delivered to individual users in real time.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0"/>
          <p:cNvSpPr/>
          <p:nvPr/>
        </p:nvSpPr>
        <p:spPr>
          <a:xfrm>
            <a:off x="347400" y="3931920"/>
            <a:ext cx="8457480" cy="1005120"/>
          </a:xfrm>
          <a:prstGeom prst="rect">
            <a:avLst/>
          </a:prstGeom>
          <a:solidFill>
            <a:srgbClr val="2d1b4e"/>
          </a:solidFill>
          <a:ln w="12700">
            <a:solidFill>
              <a:srgbClr val="3d257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31"/>
          <p:cNvSpPr/>
          <p:nvPr/>
        </p:nvSpPr>
        <p:spPr>
          <a:xfrm>
            <a:off x="475560" y="3950280"/>
            <a:ext cx="8228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  <a:ea typeface="Calibri"/>
              </a:rPr>
              <a:t>Data Mining Techniques Used in Recommender Systems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2"/>
          <p:cNvSpPr/>
          <p:nvPr/>
        </p:nvSpPr>
        <p:spPr>
          <a:xfrm>
            <a:off x="475560" y="4316040"/>
            <a:ext cx="986760" cy="502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33"/>
          <p:cNvSpPr/>
          <p:nvPr/>
        </p:nvSpPr>
        <p:spPr>
          <a:xfrm>
            <a:off x="47556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Classification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4"/>
          <p:cNvSpPr/>
          <p:nvPr/>
        </p:nvSpPr>
        <p:spPr>
          <a:xfrm>
            <a:off x="1527120" y="4316040"/>
            <a:ext cx="986760" cy="502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5"/>
          <p:cNvSpPr/>
          <p:nvPr/>
        </p:nvSpPr>
        <p:spPr>
          <a:xfrm>
            <a:off x="152712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Clustering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6"/>
          <p:cNvSpPr/>
          <p:nvPr/>
        </p:nvSpPr>
        <p:spPr>
          <a:xfrm>
            <a:off x="2578680" y="4316040"/>
            <a:ext cx="986760" cy="502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7"/>
          <p:cNvSpPr/>
          <p:nvPr/>
        </p:nvSpPr>
        <p:spPr>
          <a:xfrm>
            <a:off x="257868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Regression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8"/>
          <p:cNvSpPr/>
          <p:nvPr/>
        </p:nvSpPr>
        <p:spPr>
          <a:xfrm>
            <a:off x="3630240" y="4316040"/>
            <a:ext cx="986760" cy="502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9"/>
          <p:cNvSpPr/>
          <p:nvPr/>
        </p:nvSpPr>
        <p:spPr>
          <a:xfrm>
            <a:off x="363024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Sampling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0"/>
          <p:cNvSpPr/>
          <p:nvPr/>
        </p:nvSpPr>
        <p:spPr>
          <a:xfrm>
            <a:off x="4681800" y="4316040"/>
            <a:ext cx="986760" cy="502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41"/>
          <p:cNvSpPr/>
          <p:nvPr/>
        </p:nvSpPr>
        <p:spPr>
          <a:xfrm>
            <a:off x="468180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Estimation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2"/>
          <p:cNvSpPr/>
          <p:nvPr/>
        </p:nvSpPr>
        <p:spPr>
          <a:xfrm>
            <a:off x="5733360" y="4316040"/>
            <a:ext cx="986760" cy="502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43"/>
          <p:cNvSpPr/>
          <p:nvPr/>
        </p:nvSpPr>
        <p:spPr>
          <a:xfrm>
            <a:off x="573336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Hypothesis Testing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4"/>
          <p:cNvSpPr/>
          <p:nvPr/>
        </p:nvSpPr>
        <p:spPr>
          <a:xfrm>
            <a:off x="6784920" y="4316040"/>
            <a:ext cx="986760" cy="502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5"/>
          <p:cNvSpPr/>
          <p:nvPr/>
        </p:nvSpPr>
        <p:spPr>
          <a:xfrm>
            <a:off x="678492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Pattern Recognition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46"/>
          <p:cNvSpPr/>
          <p:nvPr/>
        </p:nvSpPr>
        <p:spPr>
          <a:xfrm>
            <a:off x="7836480" y="4316040"/>
            <a:ext cx="986760" cy="502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7"/>
          <p:cNvSpPr/>
          <p:nvPr/>
        </p:nvSpPr>
        <p:spPr>
          <a:xfrm>
            <a:off x="7836480" y="4316040"/>
            <a:ext cx="986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Machine Learning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0" y="914400"/>
            <a:ext cx="9143280" cy="54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411480" y="0"/>
            <a:ext cx="8320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Evaluation &amp; Choosing the Right Technique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320040" y="1097280"/>
            <a:ext cx="8503200" cy="913680"/>
          </a:xfrm>
          <a:prstGeom prst="rect">
            <a:avLst/>
          </a:prstGeom>
          <a:solidFill>
            <a:srgbClr val="2d1b4e"/>
          </a:solidFill>
          <a:ln w="1524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457200" y="1115640"/>
            <a:ext cx="822888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7185"/>
                </a:solidFill>
                <a:latin typeface="Calibri"/>
                <a:ea typeface="Calibri"/>
              </a:rPr>
              <a:t>Offline Evaluation: </a:t>
            </a: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Recommender systems are historically evaluated using offline experiments that estimate prediction error on existing transaction datasets — measuring how closely the system's suggestions match what users actually chose.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320040" y="2148840"/>
            <a:ext cx="4260240" cy="124272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448200" y="2277000"/>
            <a:ext cx="456480" cy="456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448200" y="22770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014840" y="224028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🏢  </a:t>
            </a: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Application Domain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448200" y="2660760"/>
            <a:ext cx="4004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The specifics of the domain determine which technique is most appropriate — retail, healthcare, and streaming each have different data characteristics.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4782240" y="2148840"/>
            <a:ext cx="4260240" cy="1242720"/>
          </a:xfrm>
          <a:prstGeom prst="rect">
            <a:avLst/>
          </a:prstGeom>
          <a:solidFill>
            <a:srgbClr val="2d1b4e"/>
          </a:solidFill>
          <a:ln w="1905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4910400" y="2277000"/>
            <a:ext cx="456480" cy="456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4910400" y="22770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5477400" y="224028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🎯  </a:t>
            </a: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Success Factors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4910400" y="2660760"/>
            <a:ext cx="4004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Identify cogent success factors behind different techniques — accuracy, diversity, novelty, and explainability matter differently per use case.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320040" y="3538800"/>
            <a:ext cx="4260240" cy="1242720"/>
          </a:xfrm>
          <a:prstGeom prst="rect">
            <a:avLst/>
          </a:prstGeom>
          <a:solidFill>
            <a:srgbClr val="2d1b4e"/>
          </a:solidFill>
          <a:ln w="1905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448200" y="3666600"/>
            <a:ext cx="456480" cy="456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448200" y="3666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1014840" y="363024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⚖️  </a:t>
            </a:r>
            <a:r>
              <a:rPr b="1" lang="en-US" sz="1250" spc="-1" strike="noStrike">
                <a:solidFill>
                  <a:srgbClr val="a78bfa"/>
                </a:solidFill>
                <a:latin typeface="Calibri"/>
                <a:ea typeface="Calibri"/>
              </a:rPr>
              <a:t>Optimal Criteria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448200" y="4050720"/>
            <a:ext cx="4004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Compare multiple techniques using an optimal criterion — e.g., minimising root mean square error (RMSE) or maximising precision@K.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4782240" y="3538800"/>
            <a:ext cx="4260240" cy="1242720"/>
          </a:xfrm>
          <a:prstGeom prst="rect">
            <a:avLst/>
          </a:prstGeom>
          <a:solidFill>
            <a:srgbClr val="2d1b4e"/>
          </a:solidFill>
          <a:ln w="19050">
            <a:solidFill>
              <a:srgbClr val="f43f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4910400" y="3666600"/>
            <a:ext cx="456480" cy="456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4910400" y="3666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3"/>
          <p:cNvSpPr/>
          <p:nvPr/>
        </p:nvSpPr>
        <p:spPr>
          <a:xfrm>
            <a:off x="5477400" y="363024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🔬  </a:t>
            </a:r>
            <a:r>
              <a:rPr b="1" lang="en-US" sz="1250" spc="-1" strike="noStrike">
                <a:solidFill>
                  <a:srgbClr val="fb7185"/>
                </a:solidFill>
                <a:latin typeface="Calibri"/>
                <a:ea typeface="Calibri"/>
              </a:rPr>
              <a:t>Technique Comparison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4910400" y="4050720"/>
            <a:ext cx="4004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dd6fe"/>
                </a:solidFill>
                <a:latin typeface="Calibri"/>
                <a:ea typeface="Calibri"/>
              </a:rPr>
              <a:t>Run associated experiments across supervised, unsupervised, and hybrid approaches to identify which delivers the best prediction quality.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6217920" y="-1097280"/>
            <a:ext cx="4754160" cy="4754160"/>
          </a:xfrm>
          <a:prstGeom prst="ellipse">
            <a:avLst/>
          </a:prstGeom>
          <a:solidFill>
            <a:srgbClr val="2d1b4e"/>
          </a:solidFill>
          <a:ln w="12700">
            <a:solidFill>
              <a:srgbClr val="2d1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-1371600" y="3108960"/>
            <a:ext cx="3839760" cy="383976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457200" y="25596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b7185"/>
                </a:solidFill>
                <a:latin typeface="Calibri"/>
                <a:ea typeface="Calibri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457200" y="8596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</a:rPr>
              <a:t>Data Mining &amp; Recommender Systems — GeeksForGeeks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457200" y="1389960"/>
            <a:ext cx="346680" cy="346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457200" y="13899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951120" y="133488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Data mining uses classification, clustering, and regression to identify patterns in large datasets and answer key business and research questions.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457200" y="2002680"/>
            <a:ext cx="346680" cy="3466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457200" y="2002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951120" y="194760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Recommender systems are a primary application of data mining — predicting items a user will like based on historical behaviour and similarity.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457200" y="2615040"/>
            <a:ext cx="346680" cy="346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457200" y="26150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951120" y="256032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User-based recommendation uses Pearson similarity to find like-minded users; item-based uses cosine similarity to find related items.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457200" y="3227760"/>
            <a:ext cx="346680" cy="3466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457200" y="3227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951120" y="317304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The mean adjusted matrix in item-based filtering eliminates rating bias from generous and strict raters for fairer comparisons.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457200" y="3840480"/>
            <a:ext cx="346680" cy="346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457200" y="38404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951120" y="378576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Recommender systems must be evaluated using offline prediction error experiments, then validated against domain-specific success criteria.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20"/>
          <p:cNvSpPr/>
          <p:nvPr/>
        </p:nvSpPr>
        <p:spPr>
          <a:xfrm>
            <a:off x="457200" y="4453200"/>
            <a:ext cx="346680" cy="3466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1"/>
          <p:cNvSpPr/>
          <p:nvPr/>
        </p:nvSpPr>
        <p:spPr>
          <a:xfrm>
            <a:off x="457200" y="44532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0a2e"/>
                </a:solidFill>
                <a:latin typeface="Calibri"/>
              </a:rPr>
              <a:t>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951120" y="439812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d6fe"/>
                </a:solidFill>
                <a:latin typeface="Calibri"/>
                <a:ea typeface="Calibri"/>
              </a:rPr>
              <a:t>Choosing the right technique requires understanding the application domain, comparing multiple methods, and optimising for the best criterion.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3"/>
          <p:cNvSpPr/>
          <p:nvPr/>
        </p:nvSpPr>
        <p:spPr>
          <a:xfrm>
            <a:off x="457200" y="4663440"/>
            <a:ext cx="8320320" cy="383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4"/>
          <p:cNvSpPr/>
          <p:nvPr/>
        </p:nvSpPr>
        <p:spPr>
          <a:xfrm>
            <a:off x="457200" y="4663440"/>
            <a:ext cx="8320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Recommender systems are data mining in action — turning raw behaviour into personalised experiences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2026-04-08T10:36:03Z</dcterms:created>
  <dc:creator>PptxGenJS</dc:creator>
  <dc:description/>
  <dc:language>en-US</dc:language>
  <cp:lastModifiedBy/>
  <dcterms:modified xsi:type="dcterms:W3CDTF">2026-04-10T10:39:38Z</dcterms:modified>
  <cp:revision>4</cp:revision>
  <dc:subject>PptxGenJS Presentation</dc:subject>
  <dc:title>Data Mining and Recommender Systems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