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move the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k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6A2F947E-0743-4E2A-9F80-F9B7C64DFA81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5A688CD-714E-42B0-A8B4-E35EA06A8F5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342B6E5-7122-47A7-B0EF-63777AFB880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06B80AB-0358-4ABA-8ACB-DEC2661E445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548F40C-DF6B-41B9-AA3F-F9A5C800DE5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54F07D3-EF7D-4CF0-B30E-4FF17AC4A29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1DED5C4-B10B-4069-891A-A0FB18E2CAF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8BF1015-F0E2-4441-8795-8A41ACBA3C3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0293199-5963-44B1-A11C-C516602B256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07CAE14-424A-48C3-ADA4-89753F1CA00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the title text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6217920" y="-1371600"/>
            <a:ext cx="4754160" cy="4754160"/>
          </a:xfrm>
          <a:prstGeom prst="ellipse">
            <a:avLst/>
          </a:prstGeom>
          <a:solidFill>
            <a:srgbClr val="145a3c"/>
          </a:solidFill>
          <a:ln w="12700">
            <a:solidFill>
              <a:srgbClr val="145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7498080" y="457200"/>
            <a:ext cx="2285280" cy="2285280"/>
          </a:xfrm>
          <a:prstGeom prst="ellipse">
            <a:avLst/>
          </a:prstGeom>
          <a:solidFill>
            <a:srgbClr val="10b981">
              <a:alpha val="40000"/>
            </a:srgbClr>
          </a:solidFill>
          <a:ln w="12700">
            <a:solidFill>
              <a:srgbClr val="10b98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-1097280" y="3474720"/>
            <a:ext cx="3474000" cy="3474000"/>
          </a:xfrm>
          <a:prstGeom prst="ellipse">
            <a:avLst/>
          </a:prstGeom>
          <a:solidFill>
            <a:srgbClr val="d97706">
              <a:alpha val="12000"/>
            </a:srgbClr>
          </a:solidFill>
          <a:ln w="12700">
            <a:solidFill>
              <a:srgbClr val="d97706">
                <a:alpha val="17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0" y="0"/>
            <a:ext cx="182160" cy="514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438840" y="731520"/>
            <a:ext cx="2651040" cy="3650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438840" y="731520"/>
            <a:ext cx="2651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145" strike="noStrike">
                <a:solidFill>
                  <a:srgbClr val="0b3d2e"/>
                </a:solidFill>
                <a:latin typeface="Calibri"/>
              </a:rPr>
              <a:t>·  DATA MINING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438840" y="1298520"/>
            <a:ext cx="804600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6000" spc="-1" strike="noStrike">
                <a:solidFill>
                  <a:srgbClr val="f59e0b"/>
                </a:solidFill>
                <a:latin typeface="Calibri"/>
                <a:ea typeface="Calibri"/>
              </a:rPr>
              <a:t>Data Mining</a:t>
            </a:r>
            <a:endParaRPr b="0" lang="en-US" sz="6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 7"/>
          <p:cNvSpPr/>
          <p:nvPr/>
        </p:nvSpPr>
        <p:spPr>
          <a:xfrm>
            <a:off x="438840" y="2359080"/>
            <a:ext cx="713160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d1fae5"/>
                </a:solidFill>
                <a:latin typeface="Calibri"/>
                <a:ea typeface="Calibri"/>
              </a:rPr>
              <a:t>What It Is, How It Works,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d1fae5"/>
                </a:solidFill>
                <a:latin typeface="Calibri"/>
                <a:ea typeface="Calibri"/>
              </a:rPr>
              <a:t>Benefits, Techniques &amp; Examples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438840" y="3547800"/>
            <a:ext cx="1965240" cy="822240"/>
          </a:xfrm>
          <a:prstGeom prst="rect">
            <a:avLst/>
          </a:prstGeom>
          <a:solidFill>
            <a:srgbClr val="145a3c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438840" y="3547800"/>
            <a:ext cx="19652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59e0b"/>
                </a:solidFill>
                <a:latin typeface="Calibri"/>
                <a:ea typeface="Calibri"/>
              </a:rPr>
              <a:t>5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438840" y="4023360"/>
            <a:ext cx="19652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Process Steps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2615040" y="3547800"/>
            <a:ext cx="1965240" cy="822240"/>
          </a:xfrm>
          <a:prstGeom prst="rect">
            <a:avLst/>
          </a:prstGeom>
          <a:solidFill>
            <a:srgbClr val="145a3c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2615040" y="3547800"/>
            <a:ext cx="19652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59e0b"/>
                </a:solidFill>
                <a:latin typeface="Calibri"/>
                <a:ea typeface="Calibri"/>
              </a:rPr>
              <a:t>7+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2615040" y="4023360"/>
            <a:ext cx="19652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Key Techniques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4791600" y="3547800"/>
            <a:ext cx="1965240" cy="822240"/>
          </a:xfrm>
          <a:prstGeom prst="rect">
            <a:avLst/>
          </a:prstGeom>
          <a:solidFill>
            <a:srgbClr val="145a3c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Text 15"/>
          <p:cNvSpPr/>
          <p:nvPr/>
        </p:nvSpPr>
        <p:spPr>
          <a:xfrm>
            <a:off x="4791600" y="3547800"/>
            <a:ext cx="19652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59e0b"/>
                </a:solidFill>
                <a:latin typeface="Calibri"/>
                <a:ea typeface="Calibri"/>
              </a:rPr>
              <a:t>6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Text 16"/>
          <p:cNvSpPr/>
          <p:nvPr/>
        </p:nvSpPr>
        <p:spPr>
          <a:xfrm>
            <a:off x="4791600" y="4023360"/>
            <a:ext cx="19652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Industry Uses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6967800" y="3547800"/>
            <a:ext cx="1965240" cy="822240"/>
          </a:xfrm>
          <a:prstGeom prst="rect">
            <a:avLst/>
          </a:prstGeom>
          <a:solidFill>
            <a:srgbClr val="145a3c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 18"/>
          <p:cNvSpPr/>
          <p:nvPr/>
        </p:nvSpPr>
        <p:spPr>
          <a:xfrm>
            <a:off x="6967800" y="3547800"/>
            <a:ext cx="19652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59e0b"/>
                </a:solidFill>
                <a:latin typeface="Calibri"/>
                <a:ea typeface="Calibri"/>
              </a:rPr>
              <a:t>3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Text 19"/>
          <p:cNvSpPr/>
          <p:nvPr/>
        </p:nvSpPr>
        <p:spPr>
          <a:xfrm>
            <a:off x="6967800" y="4023360"/>
            <a:ext cx="19652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Core Models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Text 20"/>
          <p:cNvSpPr/>
          <p:nvPr/>
        </p:nvSpPr>
        <p:spPr>
          <a:xfrm>
            <a:off x="438840" y="4709160"/>
            <a:ext cx="82288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0"/>
          <p:cNvSpPr/>
          <p:nvPr/>
        </p:nvSpPr>
        <p:spPr>
          <a:xfrm>
            <a:off x="0" y="0"/>
            <a:ext cx="9143280" cy="959400"/>
          </a:xfrm>
          <a:prstGeom prst="rect">
            <a:avLst/>
          </a:prstGeom>
          <a:solidFill>
            <a:srgbClr val="0b3d2e"/>
          </a:solidFill>
          <a:ln w="12700">
            <a:solidFill>
              <a:srgbClr val="0b3d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1"/>
          <p:cNvSpPr/>
          <p:nvPr/>
        </p:nvSpPr>
        <p:spPr>
          <a:xfrm>
            <a:off x="0" y="960120"/>
            <a:ext cx="9143280" cy="63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Text 2"/>
          <p:cNvSpPr/>
          <p:nvPr/>
        </p:nvSpPr>
        <p:spPr>
          <a:xfrm>
            <a:off x="411480" y="0"/>
            <a:ext cx="832032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alibri"/>
                <a:ea typeface="Calibri"/>
              </a:rPr>
              <a:t>What Is Data Mining?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Shape 3"/>
          <p:cNvSpPr/>
          <p:nvPr/>
        </p:nvSpPr>
        <p:spPr>
          <a:xfrm>
            <a:off x="365760" y="1188720"/>
            <a:ext cx="8411760" cy="1078200"/>
          </a:xfrm>
          <a:prstGeom prst="rect">
            <a:avLst/>
          </a:prstGeom>
          <a:solidFill>
            <a:srgbClr val="145a3c"/>
          </a:solidFill>
          <a:ln w="19050">
            <a:solidFill>
              <a:srgbClr val="10b981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Text 4"/>
          <p:cNvSpPr/>
          <p:nvPr/>
        </p:nvSpPr>
        <p:spPr>
          <a:xfrm>
            <a:off x="548640" y="1207080"/>
            <a:ext cx="804600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59e0b"/>
                </a:solidFill>
                <a:latin typeface="Calibri"/>
                <a:ea typeface="Calibri"/>
              </a:rPr>
              <a:t>Data mining </a:t>
            </a:r>
            <a:r>
              <a:rPr b="0" lang="en-US" sz="1350" spc="-1" strike="noStrike">
                <a:solidFill>
                  <a:srgbClr val="ffffff"/>
                </a:solidFill>
                <a:latin typeface="Calibri"/>
                <a:ea typeface="Calibri"/>
              </a:rPr>
              <a:t>is the process of searching and analyzing large batches of raw data to identify patterns and extract useful information — combining </a:t>
            </a:r>
            <a:r>
              <a:rPr b="1" lang="en-US" sz="1350" spc="-1" strike="noStrike">
                <a:solidFill>
                  <a:srgbClr val="6ee7b7"/>
                </a:solidFill>
                <a:latin typeface="Calibri"/>
                <a:ea typeface="Calibri"/>
              </a:rPr>
              <a:t>statistics, AI, and machine learning</a:t>
            </a:r>
            <a:r>
              <a:rPr b="0" lang="en-US" sz="1350" spc="-1" strike="noStrike">
                <a:solidFill>
                  <a:srgbClr val="ffffff"/>
                </a:solidFill>
                <a:latin typeface="Calibri"/>
                <a:ea typeface="Calibri"/>
              </a:rPr>
              <a:t> to transform raw data into actionable intelligence.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Text 5"/>
          <p:cNvSpPr/>
          <p:nvPr/>
        </p:nvSpPr>
        <p:spPr>
          <a:xfrm>
            <a:off x="365760" y="2359080"/>
            <a:ext cx="841176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6b7280"/>
                </a:solidFill>
                <a:latin typeface="Calibri"/>
                <a:ea typeface="Calibri"/>
              </a:rPr>
              <a:t>Also known as:  Knowledge Discovery in Data (KDD)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Shape 6"/>
          <p:cNvSpPr/>
          <p:nvPr/>
        </p:nvSpPr>
        <p:spPr>
          <a:xfrm>
            <a:off x="347400" y="2816280"/>
            <a:ext cx="2651040" cy="2084040"/>
          </a:xfrm>
          <a:prstGeom prst="rect">
            <a:avLst/>
          </a:prstGeom>
          <a:solidFill>
            <a:srgbClr val="0b3d2e"/>
          </a:solidFill>
          <a:ln w="12700">
            <a:solidFill>
              <a:srgbClr val="1e7d52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Text 7"/>
          <p:cNvSpPr/>
          <p:nvPr/>
        </p:nvSpPr>
        <p:spPr>
          <a:xfrm>
            <a:off x="347400" y="2834640"/>
            <a:ext cx="26510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📊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Text 8"/>
          <p:cNvSpPr/>
          <p:nvPr/>
        </p:nvSpPr>
        <p:spPr>
          <a:xfrm>
            <a:off x="438840" y="333756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6ee7b7"/>
                </a:solidFill>
                <a:latin typeface="Calibri"/>
                <a:ea typeface="Calibri"/>
              </a:rPr>
              <a:t>Data Collection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6ee7b7"/>
                </a:solidFill>
                <a:latin typeface="Calibri"/>
                <a:ea typeface="Calibri"/>
              </a:rPr>
              <a:t>&amp; Warehousing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Text 9"/>
          <p:cNvSpPr/>
          <p:nvPr/>
        </p:nvSpPr>
        <p:spPr>
          <a:xfrm>
            <a:off x="457200" y="3822120"/>
            <a:ext cx="243144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Data is gathered from multiple sources and centralized in a data warehouse or cloud platform for unified access.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Shape 10"/>
          <p:cNvSpPr/>
          <p:nvPr/>
        </p:nvSpPr>
        <p:spPr>
          <a:xfrm>
            <a:off x="3182040" y="2816280"/>
            <a:ext cx="2651040" cy="2084040"/>
          </a:xfrm>
          <a:prstGeom prst="rect">
            <a:avLst/>
          </a:prstGeom>
          <a:solidFill>
            <a:srgbClr val="0b3d2e"/>
          </a:solidFill>
          <a:ln w="12700">
            <a:solidFill>
              <a:srgbClr val="1e7d52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Text 11"/>
          <p:cNvSpPr/>
          <p:nvPr/>
        </p:nvSpPr>
        <p:spPr>
          <a:xfrm>
            <a:off x="3182040" y="2834640"/>
            <a:ext cx="26510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⚙️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Text 12"/>
          <p:cNvSpPr/>
          <p:nvPr/>
        </p:nvSpPr>
        <p:spPr>
          <a:xfrm>
            <a:off x="3273480" y="333756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6ee7b7"/>
                </a:solidFill>
                <a:latin typeface="Calibri"/>
                <a:ea typeface="Calibri"/>
              </a:rPr>
              <a:t>Algorithm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6ee7b7"/>
                </a:solidFill>
                <a:latin typeface="Calibri"/>
                <a:ea typeface="Calibri"/>
              </a:rPr>
              <a:t>Processing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Text 13"/>
          <p:cNvSpPr/>
          <p:nvPr/>
        </p:nvSpPr>
        <p:spPr>
          <a:xfrm>
            <a:off x="3291840" y="3822120"/>
            <a:ext cx="243144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Advanced algorithms and ML models are applied to detect hidden patterns, correlations, and anomalies.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Shape 14"/>
          <p:cNvSpPr/>
          <p:nvPr/>
        </p:nvSpPr>
        <p:spPr>
          <a:xfrm>
            <a:off x="6016680" y="2816280"/>
            <a:ext cx="2651040" cy="2084040"/>
          </a:xfrm>
          <a:prstGeom prst="rect">
            <a:avLst/>
          </a:prstGeom>
          <a:solidFill>
            <a:srgbClr val="0b3d2e"/>
          </a:solidFill>
          <a:ln w="12700">
            <a:solidFill>
              <a:srgbClr val="1e7d52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Text 15"/>
          <p:cNvSpPr/>
          <p:nvPr/>
        </p:nvSpPr>
        <p:spPr>
          <a:xfrm>
            <a:off x="6016680" y="2834640"/>
            <a:ext cx="26510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💡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Text 16"/>
          <p:cNvSpPr/>
          <p:nvPr/>
        </p:nvSpPr>
        <p:spPr>
          <a:xfrm>
            <a:off x="6108120" y="333756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6ee7b7"/>
                </a:solidFill>
                <a:latin typeface="Calibri"/>
                <a:ea typeface="Calibri"/>
              </a:rPr>
              <a:t>Actionable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6ee7b7"/>
                </a:solidFill>
                <a:latin typeface="Calibri"/>
                <a:ea typeface="Calibri"/>
              </a:rPr>
              <a:t>Insights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 17"/>
          <p:cNvSpPr/>
          <p:nvPr/>
        </p:nvSpPr>
        <p:spPr>
          <a:xfrm>
            <a:off x="6126480" y="3822120"/>
            <a:ext cx="243144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Results are converted into graphs, tables, and reports that drive marketing, sales, fraud detection, and more.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0"/>
          <p:cNvSpPr/>
          <p:nvPr/>
        </p:nvSpPr>
        <p:spPr>
          <a:xfrm>
            <a:off x="0" y="0"/>
            <a:ext cx="9143280" cy="913680"/>
          </a:xfrm>
          <a:prstGeom prst="rect">
            <a:avLst/>
          </a:prstGeom>
          <a:solidFill>
            <a:srgbClr val="145a3c"/>
          </a:solidFill>
          <a:ln w="12700">
            <a:solidFill>
              <a:srgbClr val="145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Shape 1"/>
          <p:cNvSpPr/>
          <p:nvPr/>
        </p:nvSpPr>
        <p:spPr>
          <a:xfrm>
            <a:off x="0" y="914400"/>
            <a:ext cx="9143280" cy="54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 2"/>
          <p:cNvSpPr/>
          <p:nvPr/>
        </p:nvSpPr>
        <p:spPr>
          <a:xfrm>
            <a:off x="411480" y="0"/>
            <a:ext cx="832032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59e0b"/>
                </a:solidFill>
                <a:latin typeface="Calibri"/>
                <a:ea typeface="Calibri"/>
              </a:rPr>
              <a:t>How Data Mining Works: 5-Step Process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Shape 3"/>
          <p:cNvSpPr/>
          <p:nvPr/>
        </p:nvSpPr>
        <p:spPr>
          <a:xfrm>
            <a:off x="658080" y="1554480"/>
            <a:ext cx="360" cy="347400"/>
          </a:xfrm>
          <a:prstGeom prst="line">
            <a:avLst/>
          </a:prstGeom>
          <a:ln w="19050">
            <a:solidFill>
              <a:srgbClr val="1e7d52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Shape 4"/>
          <p:cNvSpPr/>
          <p:nvPr/>
        </p:nvSpPr>
        <p:spPr>
          <a:xfrm>
            <a:off x="384120" y="1078920"/>
            <a:ext cx="511200" cy="51120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5"/>
          <p:cNvSpPr/>
          <p:nvPr/>
        </p:nvSpPr>
        <p:spPr>
          <a:xfrm>
            <a:off x="384120" y="1078920"/>
            <a:ext cx="51120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b3d2e"/>
                </a:solidFill>
                <a:latin typeface="Calibri"/>
              </a:rPr>
              <a:t>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Shape 6"/>
          <p:cNvSpPr/>
          <p:nvPr/>
        </p:nvSpPr>
        <p:spPr>
          <a:xfrm>
            <a:off x="1051560" y="1078920"/>
            <a:ext cx="7725960" cy="68508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 7"/>
          <p:cNvSpPr/>
          <p:nvPr/>
        </p:nvSpPr>
        <p:spPr>
          <a:xfrm>
            <a:off x="1188720" y="1115640"/>
            <a:ext cx="23767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59e0b"/>
                </a:solidFill>
                <a:latin typeface="Calibri"/>
                <a:ea typeface="Calibri"/>
              </a:rPr>
              <a:t>Collect &amp; Load Data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Text 8"/>
          <p:cNvSpPr/>
          <p:nvPr/>
        </p:nvSpPr>
        <p:spPr>
          <a:xfrm>
            <a:off x="1188720" y="1408320"/>
            <a:ext cx="740592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Organizations collect raw data from internal and external sources and load it into data warehouses or cloud storage.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Shape 9"/>
          <p:cNvSpPr/>
          <p:nvPr/>
        </p:nvSpPr>
        <p:spPr>
          <a:xfrm>
            <a:off x="658080" y="2349720"/>
            <a:ext cx="360" cy="347760"/>
          </a:xfrm>
          <a:prstGeom prst="line">
            <a:avLst/>
          </a:prstGeom>
          <a:ln w="19050">
            <a:solidFill>
              <a:srgbClr val="1e7d52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Shape 10"/>
          <p:cNvSpPr/>
          <p:nvPr/>
        </p:nvSpPr>
        <p:spPr>
          <a:xfrm>
            <a:off x="384120" y="1874520"/>
            <a:ext cx="511200" cy="511200"/>
          </a:xfrm>
          <a:prstGeom prst="ellipse">
            <a:avLst/>
          </a:prstGeom>
          <a:solidFill>
            <a:srgbClr val="1e7d52"/>
          </a:solidFill>
          <a:ln w="12700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 11"/>
          <p:cNvSpPr/>
          <p:nvPr/>
        </p:nvSpPr>
        <p:spPr>
          <a:xfrm>
            <a:off x="384120" y="1874520"/>
            <a:ext cx="51120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b3d2e"/>
                </a:solidFill>
                <a:latin typeface="Calibri"/>
              </a:rPr>
              <a:t>2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Shape 12"/>
          <p:cNvSpPr/>
          <p:nvPr/>
        </p:nvSpPr>
        <p:spPr>
          <a:xfrm>
            <a:off x="1051560" y="1874520"/>
            <a:ext cx="7725960" cy="68508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Text 13"/>
          <p:cNvSpPr/>
          <p:nvPr/>
        </p:nvSpPr>
        <p:spPr>
          <a:xfrm>
            <a:off x="1188720" y="1911240"/>
            <a:ext cx="23767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6ee7b7"/>
                </a:solidFill>
                <a:latin typeface="Calibri"/>
                <a:ea typeface="Calibri"/>
              </a:rPr>
              <a:t>Store &amp; Manage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Text 14"/>
          <p:cNvSpPr/>
          <p:nvPr/>
        </p:nvSpPr>
        <p:spPr>
          <a:xfrm>
            <a:off x="1188720" y="2203560"/>
            <a:ext cx="740592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Data is stored and managed on in-house servers or cloud platforms, ensuring security, scalability, and accessibility.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Shape 15"/>
          <p:cNvSpPr/>
          <p:nvPr/>
        </p:nvSpPr>
        <p:spPr>
          <a:xfrm>
            <a:off x="658080" y="3145320"/>
            <a:ext cx="360" cy="347400"/>
          </a:xfrm>
          <a:prstGeom prst="line">
            <a:avLst/>
          </a:prstGeom>
          <a:ln w="19050">
            <a:solidFill>
              <a:srgbClr val="1e7d52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Shape 16"/>
          <p:cNvSpPr/>
          <p:nvPr/>
        </p:nvSpPr>
        <p:spPr>
          <a:xfrm>
            <a:off x="384120" y="2670120"/>
            <a:ext cx="511200" cy="51120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Text 17"/>
          <p:cNvSpPr/>
          <p:nvPr/>
        </p:nvSpPr>
        <p:spPr>
          <a:xfrm>
            <a:off x="384120" y="2670120"/>
            <a:ext cx="51120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b3d2e"/>
                </a:solidFill>
                <a:latin typeface="Calibri"/>
              </a:rPr>
              <a:t>3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Shape 18"/>
          <p:cNvSpPr/>
          <p:nvPr/>
        </p:nvSpPr>
        <p:spPr>
          <a:xfrm>
            <a:off x="1051560" y="2670120"/>
            <a:ext cx="7725960" cy="68508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 19"/>
          <p:cNvSpPr/>
          <p:nvPr/>
        </p:nvSpPr>
        <p:spPr>
          <a:xfrm>
            <a:off x="1188720" y="2706480"/>
            <a:ext cx="23767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59e0b"/>
                </a:solidFill>
                <a:latin typeface="Calibri"/>
                <a:ea typeface="Calibri"/>
              </a:rPr>
              <a:t>Access &amp; Organize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Text 20"/>
          <p:cNvSpPr/>
          <p:nvPr/>
        </p:nvSpPr>
        <p:spPr>
          <a:xfrm>
            <a:off x="1188720" y="2999160"/>
            <a:ext cx="740592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Business analysts, management teams, and IT professionals access the data and determine how to structure it for analysis.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Shape 21"/>
          <p:cNvSpPr/>
          <p:nvPr/>
        </p:nvSpPr>
        <p:spPr>
          <a:xfrm>
            <a:off x="658080" y="3940920"/>
            <a:ext cx="360" cy="347400"/>
          </a:xfrm>
          <a:prstGeom prst="line">
            <a:avLst/>
          </a:prstGeom>
          <a:ln w="19050">
            <a:solidFill>
              <a:srgbClr val="1e7d52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Shape 22"/>
          <p:cNvSpPr/>
          <p:nvPr/>
        </p:nvSpPr>
        <p:spPr>
          <a:xfrm>
            <a:off x="384120" y="3465720"/>
            <a:ext cx="511200" cy="511200"/>
          </a:xfrm>
          <a:prstGeom prst="ellipse">
            <a:avLst/>
          </a:prstGeom>
          <a:solidFill>
            <a:srgbClr val="1e7d52"/>
          </a:solidFill>
          <a:ln w="12700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Text 23"/>
          <p:cNvSpPr/>
          <p:nvPr/>
        </p:nvSpPr>
        <p:spPr>
          <a:xfrm>
            <a:off x="384120" y="3465720"/>
            <a:ext cx="51120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b3d2e"/>
                </a:solidFill>
                <a:latin typeface="Calibri"/>
              </a:rPr>
              <a:t>4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Shape 24"/>
          <p:cNvSpPr/>
          <p:nvPr/>
        </p:nvSpPr>
        <p:spPr>
          <a:xfrm>
            <a:off x="1051560" y="3465720"/>
            <a:ext cx="7725960" cy="68508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Text 25"/>
          <p:cNvSpPr/>
          <p:nvPr/>
        </p:nvSpPr>
        <p:spPr>
          <a:xfrm>
            <a:off x="1188720" y="3502080"/>
            <a:ext cx="23767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6ee7b7"/>
                </a:solidFill>
                <a:latin typeface="Calibri"/>
                <a:ea typeface="Calibri"/>
              </a:rPr>
              <a:t>Sort via Application Software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Text 26"/>
          <p:cNvSpPr/>
          <p:nvPr/>
        </p:nvSpPr>
        <p:spPr>
          <a:xfrm>
            <a:off x="1188720" y="3794760"/>
            <a:ext cx="740592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Application software sorts and processes the data based on desired results — running algorithms to find patterns, clusters, and trends.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Shape 27"/>
          <p:cNvSpPr/>
          <p:nvPr/>
        </p:nvSpPr>
        <p:spPr>
          <a:xfrm>
            <a:off x="384120" y="4260960"/>
            <a:ext cx="511200" cy="51120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 28"/>
          <p:cNvSpPr/>
          <p:nvPr/>
        </p:nvSpPr>
        <p:spPr>
          <a:xfrm>
            <a:off x="384120" y="4260960"/>
            <a:ext cx="51120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b3d2e"/>
                </a:solidFill>
                <a:latin typeface="Calibri"/>
              </a:rPr>
              <a:t>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Shape 29"/>
          <p:cNvSpPr/>
          <p:nvPr/>
        </p:nvSpPr>
        <p:spPr>
          <a:xfrm>
            <a:off x="1051560" y="4260960"/>
            <a:ext cx="7725960" cy="68508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 30"/>
          <p:cNvSpPr/>
          <p:nvPr/>
        </p:nvSpPr>
        <p:spPr>
          <a:xfrm>
            <a:off x="1188720" y="4297680"/>
            <a:ext cx="23767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59e0b"/>
                </a:solidFill>
                <a:latin typeface="Calibri"/>
                <a:ea typeface="Calibri"/>
              </a:rPr>
              <a:t>Present &amp; Share Insights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Text 31"/>
          <p:cNvSpPr/>
          <p:nvPr/>
        </p:nvSpPr>
        <p:spPr>
          <a:xfrm>
            <a:off x="1188720" y="4590360"/>
            <a:ext cx="740592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End users present findings in easy-to-share formats such as graphs, tables, dashboards, and reports to drive decisions.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0"/>
          <p:cNvSpPr/>
          <p:nvPr/>
        </p:nvSpPr>
        <p:spPr>
          <a:xfrm>
            <a:off x="0" y="0"/>
            <a:ext cx="9143280" cy="959400"/>
          </a:xfrm>
          <a:prstGeom prst="rect">
            <a:avLst/>
          </a:prstGeom>
          <a:solidFill>
            <a:srgbClr val="0b3d2e"/>
          </a:solidFill>
          <a:ln w="12700">
            <a:solidFill>
              <a:srgbClr val="0b3d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Shape 1"/>
          <p:cNvSpPr/>
          <p:nvPr/>
        </p:nvSpPr>
        <p:spPr>
          <a:xfrm>
            <a:off x="0" y="960120"/>
            <a:ext cx="9143280" cy="63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 2"/>
          <p:cNvSpPr/>
          <p:nvPr/>
        </p:nvSpPr>
        <p:spPr>
          <a:xfrm>
            <a:off x="411480" y="0"/>
            <a:ext cx="832032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alibri"/>
                <a:ea typeface="Calibri"/>
              </a:rPr>
              <a:t>Key Data Mining Techniques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3"/>
          <p:cNvSpPr/>
          <p:nvPr/>
        </p:nvSpPr>
        <p:spPr>
          <a:xfrm>
            <a:off x="292680" y="1143000"/>
            <a:ext cx="2010960" cy="1663560"/>
          </a:xfrm>
          <a:prstGeom prst="rect">
            <a:avLst/>
          </a:prstGeom>
          <a:solidFill>
            <a:srgbClr val="0b3d2e"/>
          </a:solidFill>
          <a:ln w="19050">
            <a:solidFill>
              <a:srgbClr val="10b981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 4"/>
          <p:cNvSpPr/>
          <p:nvPr/>
        </p:nvSpPr>
        <p:spPr>
          <a:xfrm>
            <a:off x="292680" y="1234440"/>
            <a:ext cx="20109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🔗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5"/>
          <p:cNvSpPr/>
          <p:nvPr/>
        </p:nvSpPr>
        <p:spPr>
          <a:xfrm>
            <a:off x="384120" y="1691640"/>
            <a:ext cx="18280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6ee7b7"/>
                </a:solidFill>
                <a:latin typeface="Calibri"/>
                <a:ea typeface="Calibri"/>
              </a:rPr>
              <a:t>Association Rules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6"/>
          <p:cNvSpPr/>
          <p:nvPr/>
        </p:nvSpPr>
        <p:spPr>
          <a:xfrm>
            <a:off x="384120" y="205740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1fae5"/>
                </a:solidFill>
                <a:latin typeface="Calibri"/>
                <a:ea typeface="Calibri"/>
              </a:rPr>
              <a:t>Discovers relationships between variables — e.g., customers who buy X also buy Y (market basket analysis).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7"/>
          <p:cNvSpPr/>
          <p:nvPr/>
        </p:nvSpPr>
        <p:spPr>
          <a:xfrm>
            <a:off x="2459880" y="1143000"/>
            <a:ext cx="2010960" cy="1663560"/>
          </a:xfrm>
          <a:prstGeom prst="rect">
            <a:avLst/>
          </a:prstGeom>
          <a:solidFill>
            <a:srgbClr val="0b3d2e"/>
          </a:solidFill>
          <a:ln w="19050">
            <a:solidFill>
              <a:srgbClr val="d97706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 8"/>
          <p:cNvSpPr/>
          <p:nvPr/>
        </p:nvSpPr>
        <p:spPr>
          <a:xfrm>
            <a:off x="2459880" y="1234440"/>
            <a:ext cx="20109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🏷️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9"/>
          <p:cNvSpPr/>
          <p:nvPr/>
        </p:nvSpPr>
        <p:spPr>
          <a:xfrm>
            <a:off x="2551320" y="1691640"/>
            <a:ext cx="18280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59e0b"/>
                </a:solidFill>
                <a:latin typeface="Calibri"/>
                <a:ea typeface="Calibri"/>
              </a:rPr>
              <a:t>Classification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 10"/>
          <p:cNvSpPr/>
          <p:nvPr/>
        </p:nvSpPr>
        <p:spPr>
          <a:xfrm>
            <a:off x="2551320" y="205740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1fae5"/>
                </a:solidFill>
                <a:latin typeface="Calibri"/>
                <a:ea typeface="Calibri"/>
              </a:rPr>
              <a:t>Labels data points into predefined categories using supervised learning (e.g., spam vs. not spam).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11"/>
          <p:cNvSpPr/>
          <p:nvPr/>
        </p:nvSpPr>
        <p:spPr>
          <a:xfrm>
            <a:off x="4626720" y="1143000"/>
            <a:ext cx="2010960" cy="1663560"/>
          </a:xfrm>
          <a:prstGeom prst="rect">
            <a:avLst/>
          </a:prstGeom>
          <a:solidFill>
            <a:srgbClr val="0b3d2e"/>
          </a:solidFill>
          <a:ln w="19050">
            <a:solidFill>
              <a:srgbClr val="10b981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 12"/>
          <p:cNvSpPr/>
          <p:nvPr/>
        </p:nvSpPr>
        <p:spPr>
          <a:xfrm>
            <a:off x="4626720" y="1234440"/>
            <a:ext cx="20109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🔵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13"/>
          <p:cNvSpPr/>
          <p:nvPr/>
        </p:nvSpPr>
        <p:spPr>
          <a:xfrm>
            <a:off x="4718160" y="1691640"/>
            <a:ext cx="18280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6ee7b7"/>
                </a:solidFill>
                <a:latin typeface="Calibri"/>
                <a:ea typeface="Calibri"/>
              </a:rPr>
              <a:t>Clustering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14"/>
          <p:cNvSpPr/>
          <p:nvPr/>
        </p:nvSpPr>
        <p:spPr>
          <a:xfrm>
            <a:off x="4718160" y="205740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1fae5"/>
                </a:solidFill>
                <a:latin typeface="Calibri"/>
                <a:ea typeface="Calibri"/>
              </a:rPr>
              <a:t>Groups similar data points together without predefined labels — revealing natural segments in data.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15"/>
          <p:cNvSpPr/>
          <p:nvPr/>
        </p:nvSpPr>
        <p:spPr>
          <a:xfrm>
            <a:off x="6793920" y="1143000"/>
            <a:ext cx="2010960" cy="1663560"/>
          </a:xfrm>
          <a:prstGeom prst="rect">
            <a:avLst/>
          </a:prstGeom>
          <a:solidFill>
            <a:srgbClr val="0b3d2e"/>
          </a:solidFill>
          <a:ln w="19050">
            <a:solidFill>
              <a:srgbClr val="d97706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16"/>
          <p:cNvSpPr/>
          <p:nvPr/>
        </p:nvSpPr>
        <p:spPr>
          <a:xfrm>
            <a:off x="6793920" y="1234440"/>
            <a:ext cx="20109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🌳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17"/>
          <p:cNvSpPr/>
          <p:nvPr/>
        </p:nvSpPr>
        <p:spPr>
          <a:xfrm>
            <a:off x="6885360" y="1691640"/>
            <a:ext cx="18280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59e0b"/>
                </a:solidFill>
                <a:latin typeface="Calibri"/>
                <a:ea typeface="Calibri"/>
              </a:rPr>
              <a:t>Decision Trees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18"/>
          <p:cNvSpPr/>
          <p:nvPr/>
        </p:nvSpPr>
        <p:spPr>
          <a:xfrm>
            <a:off x="6885360" y="205740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1fae5"/>
                </a:solidFill>
                <a:latin typeface="Calibri"/>
                <a:ea typeface="Calibri"/>
              </a:rPr>
              <a:t>Tree-like models that classify data or predict outcomes using a series of branching decision rules.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Shape 19"/>
          <p:cNvSpPr/>
          <p:nvPr/>
        </p:nvSpPr>
        <p:spPr>
          <a:xfrm>
            <a:off x="292680" y="2953440"/>
            <a:ext cx="2010960" cy="1663560"/>
          </a:xfrm>
          <a:prstGeom prst="rect">
            <a:avLst/>
          </a:prstGeom>
          <a:solidFill>
            <a:srgbClr val="0b3d2e"/>
          </a:solidFill>
          <a:ln w="19050">
            <a:solidFill>
              <a:srgbClr val="10b981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 20"/>
          <p:cNvSpPr/>
          <p:nvPr/>
        </p:nvSpPr>
        <p:spPr>
          <a:xfrm>
            <a:off x="292680" y="3044880"/>
            <a:ext cx="20109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📈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21"/>
          <p:cNvSpPr/>
          <p:nvPr/>
        </p:nvSpPr>
        <p:spPr>
          <a:xfrm>
            <a:off x="384120" y="3502080"/>
            <a:ext cx="18280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6ee7b7"/>
                </a:solidFill>
                <a:latin typeface="Calibri"/>
                <a:ea typeface="Calibri"/>
              </a:rPr>
              <a:t>Predictive Analysis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22"/>
          <p:cNvSpPr/>
          <p:nvPr/>
        </p:nvSpPr>
        <p:spPr>
          <a:xfrm>
            <a:off x="384120" y="386784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1fae5"/>
                </a:solidFill>
                <a:latin typeface="Calibri"/>
                <a:ea typeface="Calibri"/>
              </a:rPr>
              <a:t>Uses historical patterns to forecast future trends, demand, prices, or customer behavior.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Shape 23"/>
          <p:cNvSpPr/>
          <p:nvPr/>
        </p:nvSpPr>
        <p:spPr>
          <a:xfrm>
            <a:off x="2459880" y="2953440"/>
            <a:ext cx="2010960" cy="1663560"/>
          </a:xfrm>
          <a:prstGeom prst="rect">
            <a:avLst/>
          </a:prstGeom>
          <a:solidFill>
            <a:srgbClr val="0b3d2e"/>
          </a:solidFill>
          <a:ln w="19050">
            <a:solidFill>
              <a:srgbClr val="d97706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Text 24"/>
          <p:cNvSpPr/>
          <p:nvPr/>
        </p:nvSpPr>
        <p:spPr>
          <a:xfrm>
            <a:off x="2459880" y="3044880"/>
            <a:ext cx="20109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🧠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25"/>
          <p:cNvSpPr/>
          <p:nvPr/>
        </p:nvSpPr>
        <p:spPr>
          <a:xfrm>
            <a:off x="2551320" y="3502080"/>
            <a:ext cx="18280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59e0b"/>
                </a:solidFill>
                <a:latin typeface="Calibri"/>
                <a:ea typeface="Calibri"/>
              </a:rPr>
              <a:t>Neural Networks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 26"/>
          <p:cNvSpPr/>
          <p:nvPr/>
        </p:nvSpPr>
        <p:spPr>
          <a:xfrm>
            <a:off x="2551320" y="386784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1fae5"/>
                </a:solidFill>
                <a:latin typeface="Calibri"/>
                <a:ea typeface="Calibri"/>
              </a:rPr>
              <a:t>Algorithms simulating brain activity for deep pattern recognition, especially in complex datasets.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Shape 27"/>
          <p:cNvSpPr/>
          <p:nvPr/>
        </p:nvSpPr>
        <p:spPr>
          <a:xfrm>
            <a:off x="4626720" y="2953440"/>
            <a:ext cx="2010960" cy="1663560"/>
          </a:xfrm>
          <a:prstGeom prst="rect">
            <a:avLst/>
          </a:prstGeom>
          <a:solidFill>
            <a:srgbClr val="0b3d2e"/>
          </a:solidFill>
          <a:ln w="19050">
            <a:solidFill>
              <a:srgbClr val="10b981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 28"/>
          <p:cNvSpPr/>
          <p:nvPr/>
        </p:nvSpPr>
        <p:spPr>
          <a:xfrm>
            <a:off x="4626720" y="3044880"/>
            <a:ext cx="20109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📍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29"/>
          <p:cNvSpPr/>
          <p:nvPr/>
        </p:nvSpPr>
        <p:spPr>
          <a:xfrm>
            <a:off x="4718160" y="3502080"/>
            <a:ext cx="18280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6ee7b7"/>
                </a:solidFill>
                <a:latin typeface="Calibri"/>
                <a:ea typeface="Calibri"/>
              </a:rPr>
              <a:t>K-Nearest Neighbor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30"/>
          <p:cNvSpPr/>
          <p:nvPr/>
        </p:nvSpPr>
        <p:spPr>
          <a:xfrm>
            <a:off x="4718160" y="386784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1fae5"/>
                </a:solidFill>
                <a:latin typeface="Calibri"/>
                <a:ea typeface="Calibri"/>
              </a:rPr>
              <a:t>Classifies data based on similarity to neighboring points — effective for recommendation engines.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hape 0"/>
          <p:cNvSpPr/>
          <p:nvPr/>
        </p:nvSpPr>
        <p:spPr>
          <a:xfrm>
            <a:off x="0" y="0"/>
            <a:ext cx="9143280" cy="9136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Text 1"/>
          <p:cNvSpPr/>
          <p:nvPr/>
        </p:nvSpPr>
        <p:spPr>
          <a:xfrm>
            <a:off x="411480" y="0"/>
            <a:ext cx="832032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b3d2e"/>
                </a:solidFill>
                <a:latin typeface="Calibri"/>
                <a:ea typeface="Calibri"/>
              </a:rPr>
              <a:t>Real-World Industry Applications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Shape 2"/>
          <p:cNvSpPr/>
          <p:nvPr/>
        </p:nvSpPr>
        <p:spPr>
          <a:xfrm>
            <a:off x="320040" y="1051560"/>
            <a:ext cx="4205520" cy="1169640"/>
          </a:xfrm>
          <a:prstGeom prst="rect">
            <a:avLst/>
          </a:prstGeom>
          <a:solidFill>
            <a:srgbClr val="145a3c"/>
          </a:solidFill>
          <a:ln w="19050">
            <a:solidFill>
              <a:srgbClr val="10b981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Shape 3"/>
          <p:cNvSpPr/>
          <p:nvPr/>
        </p:nvSpPr>
        <p:spPr>
          <a:xfrm>
            <a:off x="320040" y="1051560"/>
            <a:ext cx="109080" cy="11696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4"/>
          <p:cNvSpPr/>
          <p:nvPr/>
        </p:nvSpPr>
        <p:spPr>
          <a:xfrm>
            <a:off x="521280" y="114300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🛒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Text 5"/>
          <p:cNvSpPr/>
          <p:nvPr/>
        </p:nvSpPr>
        <p:spPr>
          <a:xfrm>
            <a:off x="1124640" y="1115640"/>
            <a:ext cx="32454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0b981"/>
                </a:solidFill>
                <a:latin typeface="Calibri"/>
                <a:ea typeface="Calibri"/>
              </a:rPr>
              <a:t>Retail &amp; E-Commerce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Text 6"/>
          <p:cNvSpPr/>
          <p:nvPr/>
        </p:nvSpPr>
        <p:spPr>
          <a:xfrm>
            <a:off x="1124640" y="1454040"/>
            <a:ext cx="324540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Loyalty card analysis tracks purchase habits. Supermarkets use it to target coupons, optimize shelf placement, and time promotions.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Shape 7"/>
          <p:cNvSpPr/>
          <p:nvPr/>
        </p:nvSpPr>
        <p:spPr>
          <a:xfrm>
            <a:off x="4800600" y="1051560"/>
            <a:ext cx="4205520" cy="1169640"/>
          </a:xfrm>
          <a:prstGeom prst="rect">
            <a:avLst/>
          </a:prstGeom>
          <a:solidFill>
            <a:srgbClr val="145a3c"/>
          </a:solidFill>
          <a:ln w="19050">
            <a:solidFill>
              <a:srgbClr val="f59e0b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Shape 8"/>
          <p:cNvSpPr/>
          <p:nvPr/>
        </p:nvSpPr>
        <p:spPr>
          <a:xfrm>
            <a:off x="4800600" y="1051560"/>
            <a:ext cx="109080" cy="1169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9"/>
          <p:cNvSpPr/>
          <p:nvPr/>
        </p:nvSpPr>
        <p:spPr>
          <a:xfrm>
            <a:off x="5001840" y="114300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🏦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Text 10"/>
          <p:cNvSpPr/>
          <p:nvPr/>
        </p:nvSpPr>
        <p:spPr>
          <a:xfrm>
            <a:off x="5605200" y="1115640"/>
            <a:ext cx="32454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59e0b"/>
                </a:solidFill>
                <a:latin typeface="Calibri"/>
                <a:ea typeface="Calibri"/>
              </a:rPr>
              <a:t>Banking &amp; Finance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Text 11"/>
          <p:cNvSpPr/>
          <p:nvPr/>
        </p:nvSpPr>
        <p:spPr>
          <a:xfrm>
            <a:off x="5605200" y="1454040"/>
            <a:ext cx="324540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Anti-fraud detection flags unusual credit card activity. Data mining powers credit scoring, risk analysis, and regulatory compliance.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Shape 12"/>
          <p:cNvSpPr/>
          <p:nvPr/>
        </p:nvSpPr>
        <p:spPr>
          <a:xfrm>
            <a:off x="320040" y="2368440"/>
            <a:ext cx="4205520" cy="1169640"/>
          </a:xfrm>
          <a:prstGeom prst="rect">
            <a:avLst/>
          </a:prstGeom>
          <a:solidFill>
            <a:srgbClr val="145a3c"/>
          </a:solidFill>
          <a:ln w="19050">
            <a:solidFill>
              <a:srgbClr val="6ee7b7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Shape 13"/>
          <p:cNvSpPr/>
          <p:nvPr/>
        </p:nvSpPr>
        <p:spPr>
          <a:xfrm>
            <a:off x="320040" y="2368440"/>
            <a:ext cx="109080" cy="1169640"/>
          </a:xfrm>
          <a:prstGeom prst="rect">
            <a:avLst/>
          </a:prstGeom>
          <a:solidFill>
            <a:srgbClr val="6ee7b7"/>
          </a:solidFill>
          <a:ln w="12700">
            <a:solidFill>
              <a:srgbClr val="6ee7b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 14"/>
          <p:cNvSpPr/>
          <p:nvPr/>
        </p:nvSpPr>
        <p:spPr>
          <a:xfrm>
            <a:off x="521280" y="245988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🏥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 15"/>
          <p:cNvSpPr/>
          <p:nvPr/>
        </p:nvSpPr>
        <p:spPr>
          <a:xfrm>
            <a:off x="1124640" y="2432160"/>
            <a:ext cx="32454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6ee7b7"/>
                </a:solidFill>
                <a:latin typeface="Calibri"/>
                <a:ea typeface="Calibri"/>
              </a:rPr>
              <a:t>Healthcare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Text 16"/>
          <p:cNvSpPr/>
          <p:nvPr/>
        </p:nvSpPr>
        <p:spPr>
          <a:xfrm>
            <a:off x="1124640" y="2770560"/>
            <a:ext cx="324540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Analyzes EHRs and imaging data to improve diagnosis, predict disease outcomes, and optimize hospital resource management.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Shape 17"/>
          <p:cNvSpPr/>
          <p:nvPr/>
        </p:nvSpPr>
        <p:spPr>
          <a:xfrm>
            <a:off x="4800600" y="2368440"/>
            <a:ext cx="4205520" cy="1169640"/>
          </a:xfrm>
          <a:prstGeom prst="rect">
            <a:avLst/>
          </a:prstGeom>
          <a:solidFill>
            <a:srgbClr val="145a3c"/>
          </a:solidFill>
          <a:ln w="19050">
            <a:solidFill>
              <a:srgbClr val="f59e0b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Shape 18"/>
          <p:cNvSpPr/>
          <p:nvPr/>
        </p:nvSpPr>
        <p:spPr>
          <a:xfrm>
            <a:off x="4800600" y="2368440"/>
            <a:ext cx="109080" cy="1169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 19"/>
          <p:cNvSpPr/>
          <p:nvPr/>
        </p:nvSpPr>
        <p:spPr>
          <a:xfrm>
            <a:off x="5001840" y="245988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📱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 20"/>
          <p:cNvSpPr/>
          <p:nvPr/>
        </p:nvSpPr>
        <p:spPr>
          <a:xfrm>
            <a:off x="5605200" y="2432160"/>
            <a:ext cx="32454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59e0b"/>
                </a:solidFill>
                <a:latin typeface="Calibri"/>
                <a:ea typeface="Calibri"/>
              </a:rPr>
              <a:t>Social Media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Text 21"/>
          <p:cNvSpPr/>
          <p:nvPr/>
        </p:nvSpPr>
        <p:spPr>
          <a:xfrm>
            <a:off x="5605200" y="2770560"/>
            <a:ext cx="324540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Mining user activity, preferences, and networks to enable targeted advertising and personalized content recommendations.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Shape 22"/>
          <p:cNvSpPr/>
          <p:nvPr/>
        </p:nvSpPr>
        <p:spPr>
          <a:xfrm>
            <a:off x="320040" y="3684960"/>
            <a:ext cx="4205520" cy="1169640"/>
          </a:xfrm>
          <a:prstGeom prst="rect">
            <a:avLst/>
          </a:prstGeom>
          <a:solidFill>
            <a:srgbClr val="145a3c"/>
          </a:solidFill>
          <a:ln w="19050">
            <a:solidFill>
              <a:srgbClr val="10b981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Shape 23"/>
          <p:cNvSpPr/>
          <p:nvPr/>
        </p:nvSpPr>
        <p:spPr>
          <a:xfrm>
            <a:off x="320040" y="3684960"/>
            <a:ext cx="109080" cy="11696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24"/>
          <p:cNvSpPr/>
          <p:nvPr/>
        </p:nvSpPr>
        <p:spPr>
          <a:xfrm>
            <a:off x="521280" y="377640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🎬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25"/>
          <p:cNvSpPr/>
          <p:nvPr/>
        </p:nvSpPr>
        <p:spPr>
          <a:xfrm>
            <a:off x="1124640" y="3749040"/>
            <a:ext cx="32454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0b981"/>
                </a:solidFill>
                <a:latin typeface="Calibri"/>
                <a:ea typeface="Calibri"/>
              </a:rPr>
              <a:t>Entertainment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 26"/>
          <p:cNvSpPr/>
          <p:nvPr/>
        </p:nvSpPr>
        <p:spPr>
          <a:xfrm>
            <a:off x="1124640" y="4087440"/>
            <a:ext cx="324540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Streaming services mine viewing/listening habits to power recommendation engines — used by Netflix, Spotify, and YouTube.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Shape 27"/>
          <p:cNvSpPr/>
          <p:nvPr/>
        </p:nvSpPr>
        <p:spPr>
          <a:xfrm>
            <a:off x="4800600" y="3684960"/>
            <a:ext cx="4205520" cy="1169640"/>
          </a:xfrm>
          <a:prstGeom prst="rect">
            <a:avLst/>
          </a:prstGeom>
          <a:solidFill>
            <a:srgbClr val="145a3c"/>
          </a:solidFill>
          <a:ln w="19050">
            <a:solidFill>
              <a:srgbClr val="f59e0b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Shape 28"/>
          <p:cNvSpPr/>
          <p:nvPr/>
        </p:nvSpPr>
        <p:spPr>
          <a:xfrm>
            <a:off x="4800600" y="3684960"/>
            <a:ext cx="109080" cy="1169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 29"/>
          <p:cNvSpPr/>
          <p:nvPr/>
        </p:nvSpPr>
        <p:spPr>
          <a:xfrm>
            <a:off x="5001840" y="377640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🚚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Text 30"/>
          <p:cNvSpPr/>
          <p:nvPr/>
        </p:nvSpPr>
        <p:spPr>
          <a:xfrm>
            <a:off x="5605200" y="3749040"/>
            <a:ext cx="32454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59e0b"/>
                </a:solidFill>
                <a:latin typeface="Calibri"/>
                <a:ea typeface="Calibri"/>
              </a:rPr>
              <a:t>Supply Chain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Text 31"/>
          <p:cNvSpPr/>
          <p:nvPr/>
        </p:nvSpPr>
        <p:spPr>
          <a:xfrm>
            <a:off x="5605200" y="4087440"/>
            <a:ext cx="324540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Predicts demand shifts, reveals hidden patterns like weather impacts on raw material prices, improving logistics efficiency.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0"/>
          <p:cNvSpPr/>
          <p:nvPr/>
        </p:nvSpPr>
        <p:spPr>
          <a:xfrm>
            <a:off x="0" y="0"/>
            <a:ext cx="9143280" cy="959400"/>
          </a:xfrm>
          <a:prstGeom prst="rect">
            <a:avLst/>
          </a:prstGeom>
          <a:solidFill>
            <a:srgbClr val="145a3c"/>
          </a:solidFill>
          <a:ln w="12700">
            <a:solidFill>
              <a:srgbClr val="145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Shape 1"/>
          <p:cNvSpPr/>
          <p:nvPr/>
        </p:nvSpPr>
        <p:spPr>
          <a:xfrm>
            <a:off x="0" y="960120"/>
            <a:ext cx="9143280" cy="633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 2"/>
          <p:cNvSpPr/>
          <p:nvPr/>
        </p:nvSpPr>
        <p:spPr>
          <a:xfrm>
            <a:off x="411480" y="0"/>
            <a:ext cx="832032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59e0b"/>
                </a:solidFill>
                <a:latin typeface="Calibri"/>
                <a:ea typeface="Calibri"/>
              </a:rPr>
              <a:t>Data Warehousing: The Foundation of Data Mining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3"/>
          <p:cNvSpPr/>
          <p:nvPr/>
        </p:nvSpPr>
        <p:spPr>
          <a:xfrm>
            <a:off x="365760" y="1188720"/>
            <a:ext cx="4114080" cy="3611160"/>
          </a:xfrm>
          <a:prstGeom prst="rect">
            <a:avLst/>
          </a:prstGeom>
          <a:solidFill>
            <a:srgbClr val="0b3d2e"/>
          </a:solidFill>
          <a:ln w="19050">
            <a:solidFill>
              <a:srgbClr val="10b981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Shape 4"/>
          <p:cNvSpPr/>
          <p:nvPr/>
        </p:nvSpPr>
        <p:spPr>
          <a:xfrm>
            <a:off x="365760" y="1188720"/>
            <a:ext cx="4114080" cy="4564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5"/>
          <p:cNvSpPr/>
          <p:nvPr/>
        </p:nvSpPr>
        <p:spPr>
          <a:xfrm>
            <a:off x="502920" y="1188720"/>
            <a:ext cx="38397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0b3d2e"/>
                </a:solidFill>
                <a:latin typeface="Calibri"/>
                <a:ea typeface="Calibri"/>
              </a:rPr>
              <a:t>What is a Data Warehouse?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 6"/>
          <p:cNvSpPr/>
          <p:nvPr/>
        </p:nvSpPr>
        <p:spPr>
          <a:xfrm>
            <a:off x="502920" y="1737360"/>
            <a:ext cx="3839760" cy="29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d1fae5"/>
                </a:solidFill>
                <a:latin typeface="Calibri"/>
                <a:ea typeface="Calibri"/>
              </a:rPr>
              <a:t>A data warehouse centralizes an organization's data into one database or program, allowing teams to spin off segments of data for specific users to analyze based on their needs.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d1fae5"/>
                </a:solidFill>
                <a:latin typeface="Calibri"/>
                <a:ea typeface="Calibri"/>
              </a:rPr>
              <a:t>It serves as the backbone of all data mining operations — without consolidated data, mining patterns across disparate sources would be impossible.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d1fae5"/>
                </a:solidFill>
                <a:latin typeface="Calibri"/>
                <a:ea typeface="Calibri"/>
              </a:rPr>
              <a:t>Modern warehouses support real-time analytics, role-based access, and integration with BI tools.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7"/>
          <p:cNvSpPr/>
          <p:nvPr/>
        </p:nvSpPr>
        <p:spPr>
          <a:xfrm>
            <a:off x="4754880" y="1188720"/>
            <a:ext cx="4068360" cy="1663560"/>
          </a:xfrm>
          <a:prstGeom prst="rect">
            <a:avLst/>
          </a:prstGeom>
          <a:solidFill>
            <a:srgbClr val="0b3d2e"/>
          </a:solidFill>
          <a:ln w="19050">
            <a:solidFill>
              <a:srgbClr val="f59e0b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Shape 8"/>
          <p:cNvSpPr/>
          <p:nvPr/>
        </p:nvSpPr>
        <p:spPr>
          <a:xfrm>
            <a:off x="4754880" y="1188720"/>
            <a:ext cx="4068360" cy="4381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9"/>
          <p:cNvSpPr/>
          <p:nvPr/>
        </p:nvSpPr>
        <p:spPr>
          <a:xfrm>
            <a:off x="4864680" y="1188720"/>
            <a:ext cx="383976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b3d2e"/>
                </a:solidFill>
                <a:latin typeface="Calibri"/>
                <a:ea typeface="Calibri"/>
              </a:rPr>
              <a:t>🖥️  </a:t>
            </a:r>
            <a:r>
              <a:rPr b="1" lang="en-US" sz="1300" spc="-1" strike="noStrike">
                <a:solidFill>
                  <a:srgbClr val="0b3d2e"/>
                </a:solidFill>
                <a:latin typeface="Calibri"/>
                <a:ea typeface="Calibri"/>
              </a:rPr>
              <a:t>On-Premise Servers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 10"/>
          <p:cNvSpPr/>
          <p:nvPr/>
        </p:nvSpPr>
        <p:spPr>
          <a:xfrm>
            <a:off x="4892040" y="1682640"/>
            <a:ext cx="3794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59e0b"/>
                </a:solidFill>
                <a:latin typeface="Calibri"/>
                <a:ea typeface="Calibri"/>
              </a:rPr>
              <a:t>▸  </a:t>
            </a: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Full data control &amp; security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 11"/>
          <p:cNvSpPr/>
          <p:nvPr/>
        </p:nvSpPr>
        <p:spPr>
          <a:xfrm>
            <a:off x="4892040" y="1956960"/>
            <a:ext cx="3794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59e0b"/>
                </a:solidFill>
                <a:latin typeface="Calibri"/>
                <a:ea typeface="Calibri"/>
              </a:rPr>
              <a:t>▸  </a:t>
            </a: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Higher upfront infrastructure cost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 12"/>
          <p:cNvSpPr/>
          <p:nvPr/>
        </p:nvSpPr>
        <p:spPr>
          <a:xfrm>
            <a:off x="4892040" y="2231280"/>
            <a:ext cx="3794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59e0b"/>
                </a:solidFill>
                <a:latin typeface="Calibri"/>
                <a:ea typeface="Calibri"/>
              </a:rPr>
              <a:t>▸  </a:t>
            </a: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Scalability limited by hardware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 13"/>
          <p:cNvSpPr/>
          <p:nvPr/>
        </p:nvSpPr>
        <p:spPr>
          <a:xfrm>
            <a:off x="4892040" y="2505600"/>
            <a:ext cx="3794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59e0b"/>
                </a:solidFill>
                <a:latin typeface="Calibri"/>
                <a:ea typeface="Calibri"/>
              </a:rPr>
              <a:t>▸  </a:t>
            </a: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Best for regulated industries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Shape 14"/>
          <p:cNvSpPr/>
          <p:nvPr/>
        </p:nvSpPr>
        <p:spPr>
          <a:xfrm>
            <a:off x="4754880" y="3035880"/>
            <a:ext cx="4068360" cy="1663560"/>
          </a:xfrm>
          <a:prstGeom prst="rect">
            <a:avLst/>
          </a:prstGeom>
          <a:solidFill>
            <a:srgbClr val="0b3d2e"/>
          </a:solidFill>
          <a:ln w="19050">
            <a:solidFill>
              <a:srgbClr val="6ee7b7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Shape 15"/>
          <p:cNvSpPr/>
          <p:nvPr/>
        </p:nvSpPr>
        <p:spPr>
          <a:xfrm>
            <a:off x="4754880" y="3035880"/>
            <a:ext cx="4068360" cy="438120"/>
          </a:xfrm>
          <a:prstGeom prst="rect">
            <a:avLst/>
          </a:prstGeom>
          <a:solidFill>
            <a:srgbClr val="1e7d52"/>
          </a:solidFill>
          <a:ln w="12700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Text 16"/>
          <p:cNvSpPr/>
          <p:nvPr/>
        </p:nvSpPr>
        <p:spPr>
          <a:xfrm>
            <a:off x="4864680" y="3035880"/>
            <a:ext cx="383976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☁️ 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Cloud Data Warehouse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 17"/>
          <p:cNvSpPr/>
          <p:nvPr/>
        </p:nvSpPr>
        <p:spPr>
          <a:xfrm>
            <a:off x="4892040" y="3529440"/>
            <a:ext cx="3794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6ee7b7"/>
                </a:solidFill>
                <a:latin typeface="Calibri"/>
                <a:ea typeface="Calibri"/>
              </a:rPr>
              <a:t>▸  </a:t>
            </a: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Pay-as-you-go pricing model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 18"/>
          <p:cNvSpPr/>
          <p:nvPr/>
        </p:nvSpPr>
        <p:spPr>
          <a:xfrm>
            <a:off x="4892040" y="3803760"/>
            <a:ext cx="3794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6ee7b7"/>
                </a:solidFill>
                <a:latin typeface="Calibri"/>
                <a:ea typeface="Calibri"/>
              </a:rPr>
              <a:t>▸  </a:t>
            </a: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Enables smaller companies to scale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 19"/>
          <p:cNvSpPr/>
          <p:nvPr/>
        </p:nvSpPr>
        <p:spPr>
          <a:xfrm>
            <a:off x="4892040" y="4078080"/>
            <a:ext cx="3794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6ee7b7"/>
                </a:solidFill>
                <a:latin typeface="Calibri"/>
                <a:ea typeface="Calibri"/>
              </a:rPr>
              <a:t>▸  </a:t>
            </a: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Built-in security &amp; redundancy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20"/>
          <p:cNvSpPr/>
          <p:nvPr/>
        </p:nvSpPr>
        <p:spPr>
          <a:xfrm>
            <a:off x="4892040" y="4352400"/>
            <a:ext cx="3794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6ee7b7"/>
                </a:solidFill>
                <a:latin typeface="Calibri"/>
                <a:ea typeface="Calibri"/>
              </a:rPr>
              <a:t>▸  </a:t>
            </a: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Examples: AWS Redshift, BigQuery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Shape 0"/>
          <p:cNvSpPr/>
          <p:nvPr/>
        </p:nvSpPr>
        <p:spPr>
          <a:xfrm>
            <a:off x="0" y="0"/>
            <a:ext cx="9143280" cy="913680"/>
          </a:xfrm>
          <a:prstGeom prst="rect">
            <a:avLst/>
          </a:prstGeom>
          <a:solidFill>
            <a:srgbClr val="145a3c"/>
          </a:solidFill>
          <a:ln w="12700">
            <a:solidFill>
              <a:srgbClr val="145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Shape 1"/>
          <p:cNvSpPr/>
          <p:nvPr/>
        </p:nvSpPr>
        <p:spPr>
          <a:xfrm>
            <a:off x="0" y="914400"/>
            <a:ext cx="9143280" cy="54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2"/>
          <p:cNvSpPr/>
          <p:nvPr/>
        </p:nvSpPr>
        <p:spPr>
          <a:xfrm>
            <a:off x="411480" y="0"/>
            <a:ext cx="832032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f59e0b"/>
                </a:solidFill>
                <a:latin typeface="Calibri"/>
                <a:ea typeface="Calibri"/>
              </a:rPr>
              <a:t>Benefits &amp; Challenges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Shape 3"/>
          <p:cNvSpPr/>
          <p:nvPr/>
        </p:nvSpPr>
        <p:spPr>
          <a:xfrm>
            <a:off x="320040" y="1051560"/>
            <a:ext cx="4114080" cy="4564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 4"/>
          <p:cNvSpPr/>
          <p:nvPr/>
        </p:nvSpPr>
        <p:spPr>
          <a:xfrm>
            <a:off x="320040" y="1051560"/>
            <a:ext cx="4114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3d2e"/>
                </a:solidFill>
                <a:latin typeface="Calibri"/>
                <a:ea typeface="Calibri"/>
              </a:rPr>
              <a:t>✔  </a:t>
            </a:r>
            <a:r>
              <a:rPr b="1" lang="en-US" sz="1400" spc="-1" strike="noStrike">
                <a:solidFill>
                  <a:srgbClr val="0b3d2e"/>
                </a:solidFill>
                <a:latin typeface="Calibri"/>
                <a:ea typeface="Calibri"/>
              </a:rPr>
              <a:t>BENEFITS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Shape 5"/>
          <p:cNvSpPr/>
          <p:nvPr/>
        </p:nvSpPr>
        <p:spPr>
          <a:xfrm>
            <a:off x="320040" y="1645920"/>
            <a:ext cx="4114080" cy="59364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Text 6"/>
          <p:cNvSpPr/>
          <p:nvPr/>
        </p:nvSpPr>
        <p:spPr>
          <a:xfrm>
            <a:off x="457200" y="1682640"/>
            <a:ext cx="37940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6ee7b7"/>
                </a:solidFill>
                <a:latin typeface="Calibri"/>
                <a:ea typeface="Calibri"/>
              </a:rPr>
              <a:t>Better Decision-Making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Converts raw data into actionable intelligence that guides strategy and operations.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Shape 7"/>
          <p:cNvSpPr/>
          <p:nvPr/>
        </p:nvSpPr>
        <p:spPr>
          <a:xfrm>
            <a:off x="320040" y="2313360"/>
            <a:ext cx="4114080" cy="59364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 8"/>
          <p:cNvSpPr/>
          <p:nvPr/>
        </p:nvSpPr>
        <p:spPr>
          <a:xfrm>
            <a:off x="457200" y="2350080"/>
            <a:ext cx="37940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6ee7b7"/>
                </a:solidFill>
                <a:latin typeface="Calibri"/>
                <a:ea typeface="Calibri"/>
              </a:rPr>
              <a:t>Enhanced Marketing ROI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Targeted campaigns based on proven customer behaviour patterns reduce waste.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Shape 9"/>
          <p:cNvSpPr/>
          <p:nvPr/>
        </p:nvSpPr>
        <p:spPr>
          <a:xfrm>
            <a:off x="320040" y="2980800"/>
            <a:ext cx="4114080" cy="59364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Text 10"/>
          <p:cNvSpPr/>
          <p:nvPr/>
        </p:nvSpPr>
        <p:spPr>
          <a:xfrm>
            <a:off x="457200" y="3017520"/>
            <a:ext cx="37940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6ee7b7"/>
                </a:solidFill>
                <a:latin typeface="Calibri"/>
                <a:ea typeface="Calibri"/>
              </a:rPr>
              <a:t>Fraud Detection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Anomaly detection flags unusual transactions in real time before damage occurs.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Shape 11"/>
          <p:cNvSpPr/>
          <p:nvPr/>
        </p:nvSpPr>
        <p:spPr>
          <a:xfrm>
            <a:off x="320040" y="3648600"/>
            <a:ext cx="4114080" cy="59364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 12"/>
          <p:cNvSpPr/>
          <p:nvPr/>
        </p:nvSpPr>
        <p:spPr>
          <a:xfrm>
            <a:off x="457200" y="3684960"/>
            <a:ext cx="37940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6ee7b7"/>
                </a:solidFill>
                <a:latin typeface="Calibri"/>
                <a:ea typeface="Calibri"/>
              </a:rPr>
              <a:t>Cost Reduction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Operational inefficiencies become visible — enabling resource optimization.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Shape 13"/>
          <p:cNvSpPr/>
          <p:nvPr/>
        </p:nvSpPr>
        <p:spPr>
          <a:xfrm>
            <a:off x="320040" y="4316040"/>
            <a:ext cx="4114080" cy="59364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 14"/>
          <p:cNvSpPr/>
          <p:nvPr/>
        </p:nvSpPr>
        <p:spPr>
          <a:xfrm>
            <a:off x="457200" y="4352400"/>
            <a:ext cx="37940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6ee7b7"/>
                </a:solidFill>
                <a:latin typeface="Calibri"/>
                <a:ea typeface="Calibri"/>
              </a:rPr>
              <a:t>Competitive Advantage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Companies that mine data can anticipate trends and act before competitors.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Shape 15"/>
          <p:cNvSpPr/>
          <p:nvPr/>
        </p:nvSpPr>
        <p:spPr>
          <a:xfrm>
            <a:off x="4709160" y="1051560"/>
            <a:ext cx="4114080" cy="456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Text 16"/>
          <p:cNvSpPr/>
          <p:nvPr/>
        </p:nvSpPr>
        <p:spPr>
          <a:xfrm>
            <a:off x="4709160" y="1051560"/>
            <a:ext cx="4114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3d2e"/>
                </a:solidFill>
                <a:latin typeface="Calibri"/>
                <a:ea typeface="Calibri"/>
              </a:rPr>
              <a:t>⚠  </a:t>
            </a:r>
            <a:r>
              <a:rPr b="1" lang="en-US" sz="1400" spc="-1" strike="noStrike">
                <a:solidFill>
                  <a:srgbClr val="0b3d2e"/>
                </a:solidFill>
                <a:latin typeface="Calibri"/>
                <a:ea typeface="Calibri"/>
              </a:rPr>
              <a:t>CHALLENGES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Shape 17"/>
          <p:cNvSpPr/>
          <p:nvPr/>
        </p:nvSpPr>
        <p:spPr>
          <a:xfrm>
            <a:off x="4709160" y="1645920"/>
            <a:ext cx="4114080" cy="59364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Text 18"/>
          <p:cNvSpPr/>
          <p:nvPr/>
        </p:nvSpPr>
        <p:spPr>
          <a:xfrm>
            <a:off x="4846320" y="1682640"/>
            <a:ext cx="37940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f59e0b"/>
                </a:solidFill>
                <a:latin typeface="Calibri"/>
                <a:ea typeface="Calibri"/>
              </a:rPr>
              <a:t>Privacy &amp; Ethics Concerns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Social media companies commodify users; Cambridge Analytica controversy revealed data misuse risks.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Shape 19"/>
          <p:cNvSpPr/>
          <p:nvPr/>
        </p:nvSpPr>
        <p:spPr>
          <a:xfrm>
            <a:off x="4709160" y="2313360"/>
            <a:ext cx="4114080" cy="59364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Text 20"/>
          <p:cNvSpPr/>
          <p:nvPr/>
        </p:nvSpPr>
        <p:spPr>
          <a:xfrm>
            <a:off x="4846320" y="2350080"/>
            <a:ext cx="37940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f59e0b"/>
                </a:solidFill>
                <a:latin typeface="Calibri"/>
                <a:ea typeface="Calibri"/>
              </a:rPr>
              <a:t>Data Quality Dependency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Biases, missing values, or pipeline errors reduce insight quality and reliability.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Shape 21"/>
          <p:cNvSpPr/>
          <p:nvPr/>
        </p:nvSpPr>
        <p:spPr>
          <a:xfrm>
            <a:off x="4709160" y="2980800"/>
            <a:ext cx="4114080" cy="59364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 22"/>
          <p:cNvSpPr/>
          <p:nvPr/>
        </p:nvSpPr>
        <p:spPr>
          <a:xfrm>
            <a:off x="4846320" y="3017520"/>
            <a:ext cx="37940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f59e0b"/>
                </a:solidFill>
                <a:latin typeface="Calibri"/>
                <a:ea typeface="Calibri"/>
              </a:rPr>
              <a:t>Complexity &amp; Cost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Requires iterative testing and skilled analysts — expensive and labor-intensive.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Shape 23"/>
          <p:cNvSpPr/>
          <p:nvPr/>
        </p:nvSpPr>
        <p:spPr>
          <a:xfrm>
            <a:off x="4709160" y="3648600"/>
            <a:ext cx="4114080" cy="59364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Text 24"/>
          <p:cNvSpPr/>
          <p:nvPr/>
        </p:nvSpPr>
        <p:spPr>
          <a:xfrm>
            <a:off x="4846320" y="3684960"/>
            <a:ext cx="37940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f59e0b"/>
                </a:solidFill>
                <a:latin typeface="Calibri"/>
                <a:ea typeface="Calibri"/>
              </a:rPr>
              <a:t>Shifting Market Patterns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Unexpected changes in consumer behavior can quickly make mined insights obsolete.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Shape 25"/>
          <p:cNvSpPr/>
          <p:nvPr/>
        </p:nvSpPr>
        <p:spPr>
          <a:xfrm>
            <a:off x="4709160" y="4316040"/>
            <a:ext cx="4114080" cy="59364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 26"/>
          <p:cNvSpPr/>
          <p:nvPr/>
        </p:nvSpPr>
        <p:spPr>
          <a:xfrm>
            <a:off x="4846320" y="4352400"/>
            <a:ext cx="37940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f59e0b"/>
                </a:solidFill>
                <a:latin typeface="Calibri"/>
                <a:ea typeface="Calibri"/>
              </a:rPr>
              <a:t>Interpretation Risk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Patterns found may be spurious; domain expertise is crucial to separate signal from noise.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0"/>
          <p:cNvSpPr/>
          <p:nvPr/>
        </p:nvSpPr>
        <p:spPr>
          <a:xfrm>
            <a:off x="0" y="0"/>
            <a:ext cx="9143280" cy="959400"/>
          </a:xfrm>
          <a:prstGeom prst="rect">
            <a:avLst/>
          </a:prstGeom>
          <a:solidFill>
            <a:srgbClr val="0b3d2e"/>
          </a:solidFill>
          <a:ln w="12700">
            <a:solidFill>
              <a:srgbClr val="0b3d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Shape 1"/>
          <p:cNvSpPr/>
          <p:nvPr/>
        </p:nvSpPr>
        <p:spPr>
          <a:xfrm>
            <a:off x="0" y="960120"/>
            <a:ext cx="9143280" cy="633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Text 2"/>
          <p:cNvSpPr/>
          <p:nvPr/>
        </p:nvSpPr>
        <p:spPr>
          <a:xfrm>
            <a:off x="411480" y="0"/>
            <a:ext cx="832032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59e0b"/>
                </a:solidFill>
                <a:latin typeface="Calibri"/>
                <a:ea typeface="Calibri"/>
              </a:rPr>
              <a:t>Industry Standard: CRISP-DM Process Model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3"/>
          <p:cNvSpPr/>
          <p:nvPr/>
        </p:nvSpPr>
        <p:spPr>
          <a:xfrm>
            <a:off x="365760" y="1143000"/>
            <a:ext cx="3656880" cy="3466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Text 4"/>
          <p:cNvSpPr/>
          <p:nvPr/>
        </p:nvSpPr>
        <p:spPr>
          <a:xfrm>
            <a:off x="365760" y="1143000"/>
            <a:ext cx="3656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b3d2e"/>
                </a:solidFill>
                <a:latin typeface="Calibri"/>
                <a:ea typeface="Calibri"/>
              </a:rPr>
              <a:t>Cross-Industry Standard Process for Data Mining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Text 5"/>
          <p:cNvSpPr/>
          <p:nvPr/>
        </p:nvSpPr>
        <p:spPr>
          <a:xfrm>
            <a:off x="365760" y="1527120"/>
            <a:ext cx="5028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6b7280"/>
                </a:solidFill>
                <a:latin typeface="Calibri"/>
                <a:ea typeface="Calibri"/>
              </a:rPr>
              <a:t>#1 methodology used by data miners globally (2002–2014 polls)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6"/>
          <p:cNvSpPr/>
          <p:nvPr/>
        </p:nvSpPr>
        <p:spPr>
          <a:xfrm>
            <a:off x="365760" y="1920240"/>
            <a:ext cx="4205520" cy="867960"/>
          </a:xfrm>
          <a:prstGeom prst="rect">
            <a:avLst/>
          </a:prstGeom>
          <a:solidFill>
            <a:srgbClr val="0b3d2e"/>
          </a:solidFill>
          <a:ln w="19050">
            <a:solidFill>
              <a:srgbClr val="d97706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Shape 7"/>
          <p:cNvSpPr/>
          <p:nvPr/>
        </p:nvSpPr>
        <p:spPr>
          <a:xfrm>
            <a:off x="475560" y="2084760"/>
            <a:ext cx="474840" cy="474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Text 8"/>
          <p:cNvSpPr/>
          <p:nvPr/>
        </p:nvSpPr>
        <p:spPr>
          <a:xfrm>
            <a:off x="475560" y="2084760"/>
            <a:ext cx="4748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3d2e"/>
                </a:solidFill>
                <a:latin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 9"/>
          <p:cNvSpPr/>
          <p:nvPr/>
        </p:nvSpPr>
        <p:spPr>
          <a:xfrm>
            <a:off x="1051560" y="1993320"/>
            <a:ext cx="34009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59e0b"/>
                </a:solidFill>
                <a:latin typeface="Calibri"/>
                <a:ea typeface="Calibri"/>
              </a:rPr>
              <a:t>Business Understanding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 10"/>
          <p:cNvSpPr/>
          <p:nvPr/>
        </p:nvSpPr>
        <p:spPr>
          <a:xfrm>
            <a:off x="1051560" y="2313360"/>
            <a:ext cx="34009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Define goals, understand the problem, identify resources needed, create project plan.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11"/>
          <p:cNvSpPr/>
          <p:nvPr/>
        </p:nvSpPr>
        <p:spPr>
          <a:xfrm>
            <a:off x="4800600" y="1920240"/>
            <a:ext cx="4205520" cy="867960"/>
          </a:xfrm>
          <a:prstGeom prst="rect">
            <a:avLst/>
          </a:prstGeom>
          <a:solidFill>
            <a:srgbClr val="0b3d2e"/>
          </a:solidFill>
          <a:ln w="19050">
            <a:solidFill>
              <a:srgbClr val="10b981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Shape 12"/>
          <p:cNvSpPr/>
          <p:nvPr/>
        </p:nvSpPr>
        <p:spPr>
          <a:xfrm>
            <a:off x="4910400" y="2084760"/>
            <a:ext cx="474840" cy="4748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 13"/>
          <p:cNvSpPr/>
          <p:nvPr/>
        </p:nvSpPr>
        <p:spPr>
          <a:xfrm>
            <a:off x="4910400" y="2084760"/>
            <a:ext cx="4748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3d2e"/>
                </a:solidFill>
                <a:latin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 14"/>
          <p:cNvSpPr/>
          <p:nvPr/>
        </p:nvSpPr>
        <p:spPr>
          <a:xfrm>
            <a:off x="5486400" y="1993320"/>
            <a:ext cx="34009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6ee7b7"/>
                </a:solidFill>
                <a:latin typeface="Calibri"/>
                <a:ea typeface="Calibri"/>
              </a:rPr>
              <a:t>Data Understanding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 15"/>
          <p:cNvSpPr/>
          <p:nvPr/>
        </p:nvSpPr>
        <p:spPr>
          <a:xfrm>
            <a:off x="5486400" y="2313360"/>
            <a:ext cx="34009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Select data sources, collect data, explore characteristics and quality.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16"/>
          <p:cNvSpPr/>
          <p:nvPr/>
        </p:nvSpPr>
        <p:spPr>
          <a:xfrm>
            <a:off x="365760" y="2926080"/>
            <a:ext cx="4205520" cy="867960"/>
          </a:xfrm>
          <a:prstGeom prst="rect">
            <a:avLst/>
          </a:prstGeom>
          <a:solidFill>
            <a:srgbClr val="0b3d2e"/>
          </a:solidFill>
          <a:ln w="19050">
            <a:solidFill>
              <a:srgbClr val="d97706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Shape 17"/>
          <p:cNvSpPr/>
          <p:nvPr/>
        </p:nvSpPr>
        <p:spPr>
          <a:xfrm>
            <a:off x="475560" y="3090600"/>
            <a:ext cx="474840" cy="474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Text 18"/>
          <p:cNvSpPr/>
          <p:nvPr/>
        </p:nvSpPr>
        <p:spPr>
          <a:xfrm>
            <a:off x="475560" y="3090600"/>
            <a:ext cx="4748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3d2e"/>
                </a:solidFill>
                <a:latin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 19"/>
          <p:cNvSpPr/>
          <p:nvPr/>
        </p:nvSpPr>
        <p:spPr>
          <a:xfrm>
            <a:off x="1051560" y="2999160"/>
            <a:ext cx="34009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59e0b"/>
                </a:solidFill>
                <a:latin typeface="Calibri"/>
                <a:ea typeface="Calibri"/>
              </a:rPr>
              <a:t>Data Preparation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Text 20"/>
          <p:cNvSpPr/>
          <p:nvPr/>
        </p:nvSpPr>
        <p:spPr>
          <a:xfrm>
            <a:off x="1051560" y="3319200"/>
            <a:ext cx="34009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Clean, transform, and preprocess — correct errors, combine sources, reformat data.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21"/>
          <p:cNvSpPr/>
          <p:nvPr/>
        </p:nvSpPr>
        <p:spPr>
          <a:xfrm>
            <a:off x="4800600" y="2926080"/>
            <a:ext cx="4205520" cy="867960"/>
          </a:xfrm>
          <a:prstGeom prst="rect">
            <a:avLst/>
          </a:prstGeom>
          <a:solidFill>
            <a:srgbClr val="0b3d2e"/>
          </a:solidFill>
          <a:ln w="19050">
            <a:solidFill>
              <a:srgbClr val="10b981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Shape 22"/>
          <p:cNvSpPr/>
          <p:nvPr/>
        </p:nvSpPr>
        <p:spPr>
          <a:xfrm>
            <a:off x="4910400" y="3090600"/>
            <a:ext cx="474840" cy="4748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Text 23"/>
          <p:cNvSpPr/>
          <p:nvPr/>
        </p:nvSpPr>
        <p:spPr>
          <a:xfrm>
            <a:off x="4910400" y="3090600"/>
            <a:ext cx="4748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3d2e"/>
                </a:solidFill>
                <a:latin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 24"/>
          <p:cNvSpPr/>
          <p:nvPr/>
        </p:nvSpPr>
        <p:spPr>
          <a:xfrm>
            <a:off x="5486400" y="2999160"/>
            <a:ext cx="34009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6ee7b7"/>
                </a:solidFill>
                <a:latin typeface="Calibri"/>
                <a:ea typeface="Calibri"/>
              </a:rPr>
              <a:t>Modeling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 25"/>
          <p:cNvSpPr/>
          <p:nvPr/>
        </p:nvSpPr>
        <p:spPr>
          <a:xfrm>
            <a:off x="5486400" y="3319200"/>
            <a:ext cx="34009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Apply algorithms. Build, assess, and tune models appropriate to the business goal.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26"/>
          <p:cNvSpPr/>
          <p:nvPr/>
        </p:nvSpPr>
        <p:spPr>
          <a:xfrm>
            <a:off x="365760" y="3931920"/>
            <a:ext cx="4205520" cy="867960"/>
          </a:xfrm>
          <a:prstGeom prst="rect">
            <a:avLst/>
          </a:prstGeom>
          <a:solidFill>
            <a:srgbClr val="0b3d2e"/>
          </a:solidFill>
          <a:ln w="19050">
            <a:solidFill>
              <a:srgbClr val="d97706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Shape 27"/>
          <p:cNvSpPr/>
          <p:nvPr/>
        </p:nvSpPr>
        <p:spPr>
          <a:xfrm>
            <a:off x="475560" y="4096440"/>
            <a:ext cx="474840" cy="474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Text 28"/>
          <p:cNvSpPr/>
          <p:nvPr/>
        </p:nvSpPr>
        <p:spPr>
          <a:xfrm>
            <a:off x="475560" y="4096440"/>
            <a:ext cx="4748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3d2e"/>
                </a:solidFill>
                <a:latin typeface="Calibri"/>
              </a:rPr>
              <a:t>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 29"/>
          <p:cNvSpPr/>
          <p:nvPr/>
        </p:nvSpPr>
        <p:spPr>
          <a:xfrm>
            <a:off x="1051560" y="4005000"/>
            <a:ext cx="34009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59e0b"/>
                </a:solidFill>
                <a:latin typeface="Calibri"/>
                <a:ea typeface="Calibri"/>
              </a:rPr>
              <a:t>Evaluation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 30"/>
          <p:cNvSpPr/>
          <p:nvPr/>
        </p:nvSpPr>
        <p:spPr>
          <a:xfrm>
            <a:off x="1051560" y="4325040"/>
            <a:ext cx="34009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Review results against business objectives. Determine if the model meets requirements.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Shape 31"/>
          <p:cNvSpPr/>
          <p:nvPr/>
        </p:nvSpPr>
        <p:spPr>
          <a:xfrm>
            <a:off x="4800600" y="3931920"/>
            <a:ext cx="4205520" cy="867960"/>
          </a:xfrm>
          <a:prstGeom prst="rect">
            <a:avLst/>
          </a:prstGeom>
          <a:solidFill>
            <a:srgbClr val="0b3d2e"/>
          </a:solidFill>
          <a:ln w="19050">
            <a:solidFill>
              <a:srgbClr val="10b981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Shape 32"/>
          <p:cNvSpPr/>
          <p:nvPr/>
        </p:nvSpPr>
        <p:spPr>
          <a:xfrm>
            <a:off x="4910400" y="4096440"/>
            <a:ext cx="474840" cy="4748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Text 33"/>
          <p:cNvSpPr/>
          <p:nvPr/>
        </p:nvSpPr>
        <p:spPr>
          <a:xfrm>
            <a:off x="4910400" y="4096440"/>
            <a:ext cx="4748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3d2e"/>
                </a:solidFill>
                <a:latin typeface="Calibri"/>
              </a:rPr>
              <a:t>6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 34"/>
          <p:cNvSpPr/>
          <p:nvPr/>
        </p:nvSpPr>
        <p:spPr>
          <a:xfrm>
            <a:off x="5486400" y="4005000"/>
            <a:ext cx="34009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6ee7b7"/>
                </a:solidFill>
                <a:latin typeface="Calibri"/>
                <a:ea typeface="Calibri"/>
              </a:rPr>
              <a:t>Deployment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 35"/>
          <p:cNvSpPr/>
          <p:nvPr/>
        </p:nvSpPr>
        <p:spPr>
          <a:xfrm>
            <a:off x="5486400" y="4325040"/>
            <a:ext cx="34009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Implement the model into production. Monitor, maintain, and refine over time.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Shape 0"/>
          <p:cNvSpPr/>
          <p:nvPr/>
        </p:nvSpPr>
        <p:spPr>
          <a:xfrm>
            <a:off x="6217920" y="-914400"/>
            <a:ext cx="4388400" cy="4388400"/>
          </a:xfrm>
          <a:prstGeom prst="ellipse">
            <a:avLst/>
          </a:prstGeom>
          <a:solidFill>
            <a:srgbClr val="145a3c"/>
          </a:solidFill>
          <a:ln w="12700">
            <a:solidFill>
              <a:srgbClr val="145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Shape 1"/>
          <p:cNvSpPr/>
          <p:nvPr/>
        </p:nvSpPr>
        <p:spPr>
          <a:xfrm>
            <a:off x="-914400" y="3291840"/>
            <a:ext cx="3199680" cy="3199680"/>
          </a:xfrm>
          <a:prstGeom prst="ellipse">
            <a:avLst/>
          </a:prstGeom>
          <a:solidFill>
            <a:srgbClr val="d97706">
              <a:alpha val="12000"/>
            </a:srgbClr>
          </a:solidFill>
          <a:ln w="12700">
            <a:solidFill>
              <a:srgbClr val="d97706">
                <a:alpha val="17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Shape 2"/>
          <p:cNvSpPr/>
          <p:nvPr/>
        </p:nvSpPr>
        <p:spPr>
          <a:xfrm>
            <a:off x="0" y="0"/>
            <a:ext cx="182160" cy="514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 3"/>
          <p:cNvSpPr/>
          <p:nvPr/>
        </p:nvSpPr>
        <p:spPr>
          <a:xfrm>
            <a:off x="438840" y="274320"/>
            <a:ext cx="82288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f59e0b"/>
                </a:solidFill>
                <a:latin typeface="Calibri"/>
                <a:ea typeface="Calibri"/>
              </a:rPr>
              <a:t>Key Takeaways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 4"/>
          <p:cNvSpPr/>
          <p:nvPr/>
        </p:nvSpPr>
        <p:spPr>
          <a:xfrm>
            <a:off x="438840" y="86868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6b7280"/>
                </a:solidFill>
                <a:latin typeface="Calibri"/>
                <a:ea typeface="Calibri"/>
              </a:rPr>
              <a:t>Data Mining — Investopedia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Shape 5"/>
          <p:cNvSpPr/>
          <p:nvPr/>
        </p:nvSpPr>
        <p:spPr>
          <a:xfrm>
            <a:off x="438840" y="1398960"/>
            <a:ext cx="346680" cy="3466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Text 6"/>
          <p:cNvSpPr/>
          <p:nvPr/>
        </p:nvSpPr>
        <p:spPr>
          <a:xfrm>
            <a:off x="438840" y="139896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b3d2e"/>
                </a:solidFill>
                <a:latin typeface="Calibri"/>
              </a:rPr>
              <a:t>◈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Text 7"/>
          <p:cNvSpPr/>
          <p:nvPr/>
        </p:nvSpPr>
        <p:spPr>
          <a:xfrm>
            <a:off x="932760" y="1362600"/>
            <a:ext cx="77716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d1fae5"/>
                </a:solidFill>
                <a:latin typeface="Calibri"/>
                <a:ea typeface="Calibri"/>
              </a:rPr>
              <a:t>Data mining transforms raw data into valuable insights using statistics, AI, and ML — enabling smarter business decisions.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Shape 8"/>
          <p:cNvSpPr/>
          <p:nvPr/>
        </p:nvSpPr>
        <p:spPr>
          <a:xfrm>
            <a:off x="438840" y="1993320"/>
            <a:ext cx="346680" cy="3466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 9"/>
          <p:cNvSpPr/>
          <p:nvPr/>
        </p:nvSpPr>
        <p:spPr>
          <a:xfrm>
            <a:off x="438840" y="199332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b3d2e"/>
                </a:solidFill>
                <a:latin typeface="Calibri"/>
              </a:rPr>
              <a:t>◈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 10"/>
          <p:cNvSpPr/>
          <p:nvPr/>
        </p:nvSpPr>
        <p:spPr>
          <a:xfrm>
            <a:off x="932760" y="1956960"/>
            <a:ext cx="77716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d1fae5"/>
                </a:solidFill>
                <a:latin typeface="Calibri"/>
                <a:ea typeface="Calibri"/>
              </a:rPr>
              <a:t>The 5-step process: Collect → Store → Access → Sort → Present. Each stage is critical for accurate, usable output.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Shape 11"/>
          <p:cNvSpPr/>
          <p:nvPr/>
        </p:nvSpPr>
        <p:spPr>
          <a:xfrm>
            <a:off x="438840" y="2587680"/>
            <a:ext cx="346680" cy="3466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Text 12"/>
          <p:cNvSpPr/>
          <p:nvPr/>
        </p:nvSpPr>
        <p:spPr>
          <a:xfrm>
            <a:off x="438840" y="258768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b3d2e"/>
                </a:solidFill>
                <a:latin typeface="Calibri"/>
              </a:rPr>
              <a:t>◈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Text 13"/>
          <p:cNvSpPr/>
          <p:nvPr/>
        </p:nvSpPr>
        <p:spPr>
          <a:xfrm>
            <a:off x="932760" y="2551320"/>
            <a:ext cx="77716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d1fae5"/>
                </a:solidFill>
                <a:latin typeface="Calibri"/>
                <a:ea typeface="Calibri"/>
              </a:rPr>
              <a:t>Key techniques include association rules, clustering, decision trees, neural networks, KNN, and predictive analysis.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Shape 14"/>
          <p:cNvSpPr/>
          <p:nvPr/>
        </p:nvSpPr>
        <p:spPr>
          <a:xfrm>
            <a:off x="438840" y="3182040"/>
            <a:ext cx="346680" cy="3466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 15"/>
          <p:cNvSpPr/>
          <p:nvPr/>
        </p:nvSpPr>
        <p:spPr>
          <a:xfrm>
            <a:off x="438840" y="318204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b3d2e"/>
                </a:solidFill>
                <a:latin typeface="Calibri"/>
              </a:rPr>
              <a:t>◈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Text 16"/>
          <p:cNvSpPr/>
          <p:nvPr/>
        </p:nvSpPr>
        <p:spPr>
          <a:xfrm>
            <a:off x="932760" y="3145680"/>
            <a:ext cx="77716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d1fae5"/>
                </a:solidFill>
                <a:latin typeface="Calibri"/>
                <a:ea typeface="Calibri"/>
              </a:rPr>
              <a:t>Industries from retail to healthcare use data mining for fraud detection, personalization, demand forecasting, and diagnostics.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Shape 17"/>
          <p:cNvSpPr/>
          <p:nvPr/>
        </p:nvSpPr>
        <p:spPr>
          <a:xfrm>
            <a:off x="438840" y="3776400"/>
            <a:ext cx="346680" cy="3466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Text 18"/>
          <p:cNvSpPr/>
          <p:nvPr/>
        </p:nvSpPr>
        <p:spPr>
          <a:xfrm>
            <a:off x="438840" y="377640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b3d2e"/>
                </a:solidFill>
                <a:latin typeface="Calibri"/>
              </a:rPr>
              <a:t>◈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Text 19"/>
          <p:cNvSpPr/>
          <p:nvPr/>
        </p:nvSpPr>
        <p:spPr>
          <a:xfrm>
            <a:off x="932760" y="3740040"/>
            <a:ext cx="77716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d1fae5"/>
                </a:solidFill>
                <a:latin typeface="Calibri"/>
                <a:ea typeface="Calibri"/>
              </a:rPr>
              <a:t>Privacy, data quality, and high complexity remain core challenges — especially as social media mining raises ethical concerns.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Shape 20"/>
          <p:cNvSpPr/>
          <p:nvPr/>
        </p:nvSpPr>
        <p:spPr>
          <a:xfrm>
            <a:off x="438840" y="4370760"/>
            <a:ext cx="346680" cy="3466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Text 21"/>
          <p:cNvSpPr/>
          <p:nvPr/>
        </p:nvSpPr>
        <p:spPr>
          <a:xfrm>
            <a:off x="438840" y="437076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b3d2e"/>
                </a:solidFill>
                <a:latin typeface="Calibri"/>
              </a:rPr>
              <a:t>◈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 22"/>
          <p:cNvSpPr/>
          <p:nvPr/>
        </p:nvSpPr>
        <p:spPr>
          <a:xfrm>
            <a:off x="932760" y="4334400"/>
            <a:ext cx="77716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d1fae5"/>
                </a:solidFill>
                <a:latin typeface="Calibri"/>
                <a:ea typeface="Calibri"/>
              </a:rPr>
              <a:t>CRISP-DM is the global standard process model; cloud warehousing is democratizing data mining for smaller organizations.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Shape 23"/>
          <p:cNvSpPr/>
          <p:nvPr/>
        </p:nvSpPr>
        <p:spPr>
          <a:xfrm>
            <a:off x="438840" y="4645080"/>
            <a:ext cx="8320320" cy="3834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Text 24"/>
          <p:cNvSpPr/>
          <p:nvPr/>
        </p:nvSpPr>
        <p:spPr>
          <a:xfrm>
            <a:off x="438840" y="4645080"/>
            <a:ext cx="83203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b3d2e"/>
                </a:solidFill>
                <a:latin typeface="Calibri"/>
                <a:ea typeface="Calibri"/>
              </a:rPr>
              <a:t>Data is the new oil — and data mining is the refinery  |  investopedia.com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2026-04-08T10:18:49Z</dcterms:created>
  <dc:creator>PptxGenJS</dc:creator>
  <dc:description/>
  <dc:language>en-US</dc:language>
  <cp:lastModifiedBy/>
  <dcterms:modified xsi:type="dcterms:W3CDTF">2026-04-08T16:01:04Z</dcterms:modified>
  <cp:revision>5</cp:revision>
  <dc:subject>PptxGenJS Presentation</dc:subject>
  <dc:title>Data Mining – Investopedia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On-screen Show (16:9)</vt:lpwstr>
  </property>
  <property fmtid="{D5CDD505-2E9C-101B-9397-08002B2CF9AE}" pid="4" name="Slides">
    <vt:i4>9</vt:i4>
  </property>
</Properties>
</file>