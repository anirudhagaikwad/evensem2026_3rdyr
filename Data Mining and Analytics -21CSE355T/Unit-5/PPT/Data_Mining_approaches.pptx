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3ADA162-7F12-4F46-8442-6381ACA4A45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E1F45C-5A8B-4A2C-B11B-89A84FED65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FAD0BC-6DDC-4EEB-AFBB-CD4CF67DA1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E8408E-77C1-4C3A-B521-277DECDA72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9A25E0-3C7D-4CC8-8C2F-4563C77C94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636B9A-B0FB-443F-9FAB-F426E3FF45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1B5965-7C00-4702-923C-A259B0DBA0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85D37A-89EC-4F12-90D7-1C746C2207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B250A8-D9F9-4B0A-8920-6037D27AC5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CBF5EF-A55F-4F4B-B27C-A0FECA7D24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217920" y="-1371600"/>
            <a:ext cx="4753440" cy="4753440"/>
          </a:xfrm>
          <a:prstGeom prst="ellipse">
            <a:avLst/>
          </a:prstGeom>
          <a:solidFill>
            <a:srgbClr val="145a3c"/>
          </a:solidFill>
          <a:ln w="12700">
            <a:solidFill>
              <a:srgbClr val="145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498080" y="457200"/>
            <a:ext cx="2284560" cy="2284560"/>
          </a:xfrm>
          <a:prstGeom prst="ellipse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097280" y="3474720"/>
            <a:ext cx="3473280" cy="3473280"/>
          </a:xfrm>
          <a:prstGeom prst="ellipse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1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0" y="0"/>
            <a:ext cx="181440" cy="5142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438840" y="731520"/>
            <a:ext cx="2650320" cy="36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38840" y="731520"/>
            <a:ext cx="26503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40" strike="noStrike">
                <a:solidFill>
                  <a:srgbClr val="0b3d2e"/>
                </a:solidFill>
                <a:latin typeface="Calibri"/>
              </a:rPr>
              <a:t>·  DATA MINING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38840" y="1298520"/>
            <a:ext cx="80452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f59e0b"/>
                </a:solidFill>
                <a:latin typeface="Calibri"/>
                <a:ea typeface="Calibri"/>
              </a:rPr>
              <a:t>Data Mining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38840" y="2359080"/>
            <a:ext cx="71308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d1fae5"/>
                </a:solidFill>
                <a:latin typeface="Calibri"/>
                <a:ea typeface="Calibri"/>
              </a:rPr>
              <a:t>What It Is, How It Works,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d1fae5"/>
                </a:solidFill>
                <a:latin typeface="Calibri"/>
                <a:ea typeface="Calibri"/>
              </a:rPr>
              <a:t>Benefits, Techniques &amp; Examples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38840" y="3547800"/>
            <a:ext cx="1964520" cy="821520"/>
          </a:xfrm>
          <a:prstGeom prst="rect">
            <a:avLst/>
          </a:prstGeom>
          <a:solidFill>
            <a:srgbClr val="145a3c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38840" y="3547800"/>
            <a:ext cx="19645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59e0b"/>
                </a:solidFill>
                <a:latin typeface="Calibri"/>
                <a:ea typeface="Calibri"/>
              </a:rPr>
              <a:t>5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38840" y="4023360"/>
            <a:ext cx="1964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Process Steps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2615040" y="3547800"/>
            <a:ext cx="1964520" cy="821520"/>
          </a:xfrm>
          <a:prstGeom prst="rect">
            <a:avLst/>
          </a:prstGeom>
          <a:solidFill>
            <a:srgbClr val="145a3c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2615040" y="3547800"/>
            <a:ext cx="19645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59e0b"/>
                </a:solidFill>
                <a:latin typeface="Calibri"/>
                <a:ea typeface="Calibri"/>
              </a:rPr>
              <a:t>7+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2615040" y="4023360"/>
            <a:ext cx="1964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Key Techniques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4791600" y="3547800"/>
            <a:ext cx="1964520" cy="821520"/>
          </a:xfrm>
          <a:prstGeom prst="rect">
            <a:avLst/>
          </a:prstGeom>
          <a:solidFill>
            <a:srgbClr val="145a3c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4791600" y="3547800"/>
            <a:ext cx="19645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59e0b"/>
                </a:solidFill>
                <a:latin typeface="Calibri"/>
                <a:ea typeface="Calibri"/>
              </a:rPr>
              <a:t>6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4791600" y="4023360"/>
            <a:ext cx="1964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Industry Uses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6967800" y="3547800"/>
            <a:ext cx="1964520" cy="821520"/>
          </a:xfrm>
          <a:prstGeom prst="rect">
            <a:avLst/>
          </a:prstGeom>
          <a:solidFill>
            <a:srgbClr val="145a3c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6967800" y="3547800"/>
            <a:ext cx="19645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59e0b"/>
                </a:solidFill>
                <a:latin typeface="Calibri"/>
                <a:ea typeface="Calibri"/>
              </a:rPr>
              <a:t>3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967800" y="4023360"/>
            <a:ext cx="1964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Core Models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438840" y="4709160"/>
            <a:ext cx="82281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9142560" cy="95868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0" y="960120"/>
            <a:ext cx="9142560" cy="62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411480" y="0"/>
            <a:ext cx="83196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What Is Data Mining?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3"/>
          <p:cNvSpPr/>
          <p:nvPr/>
        </p:nvSpPr>
        <p:spPr>
          <a:xfrm>
            <a:off x="365760" y="1188720"/>
            <a:ext cx="8411040" cy="1077480"/>
          </a:xfrm>
          <a:prstGeom prst="rect">
            <a:avLst/>
          </a:prstGeom>
          <a:solidFill>
            <a:srgbClr val="145a3c"/>
          </a:solidFill>
          <a:ln w="19050">
            <a:solidFill>
              <a:srgbClr val="10b981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548640" y="1207080"/>
            <a:ext cx="80452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59e0b"/>
                </a:solidFill>
                <a:latin typeface="Calibri"/>
                <a:ea typeface="Calibri"/>
              </a:rPr>
              <a:t>Data mining </a:t>
            </a: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is the process of searching and analyzing large batches of raw data to identify patterns and extract useful information — combining </a:t>
            </a:r>
            <a:r>
              <a:rPr b="1" lang="en-US" sz="1350" spc="-1" strike="noStrike">
                <a:solidFill>
                  <a:srgbClr val="6ee7b7"/>
                </a:solidFill>
                <a:latin typeface="Calibri"/>
                <a:ea typeface="Calibri"/>
              </a:rPr>
              <a:t>statistics, AI, and machine learning</a:t>
            </a: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 to transform raw data into actionable intelligence.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365760" y="2359080"/>
            <a:ext cx="841104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Also known as:  Knowledge Discovery in Data (KDD)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6"/>
          <p:cNvSpPr/>
          <p:nvPr/>
        </p:nvSpPr>
        <p:spPr>
          <a:xfrm>
            <a:off x="347400" y="2816280"/>
            <a:ext cx="2650320" cy="2083320"/>
          </a:xfrm>
          <a:prstGeom prst="rect">
            <a:avLst/>
          </a:prstGeom>
          <a:solidFill>
            <a:srgbClr val="0b3d2e"/>
          </a:solidFill>
          <a:ln w="12700">
            <a:solidFill>
              <a:srgbClr val="1e7d52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347400" y="2834640"/>
            <a:ext cx="26503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438840" y="3337560"/>
            <a:ext cx="2467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ee7b7"/>
                </a:solidFill>
                <a:latin typeface="Calibri"/>
                <a:ea typeface="Calibri"/>
              </a:rPr>
              <a:t>Data Collection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ee7b7"/>
                </a:solidFill>
                <a:latin typeface="Calibri"/>
                <a:ea typeface="Calibri"/>
              </a:rPr>
              <a:t>&amp; Warehousing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9"/>
          <p:cNvSpPr/>
          <p:nvPr/>
        </p:nvSpPr>
        <p:spPr>
          <a:xfrm>
            <a:off x="457200" y="3822120"/>
            <a:ext cx="24307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Data is gathered from multiple sources and centralized in a data warehouse or cloud platform for unified access.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0"/>
          <p:cNvSpPr/>
          <p:nvPr/>
        </p:nvSpPr>
        <p:spPr>
          <a:xfrm>
            <a:off x="3182040" y="2816280"/>
            <a:ext cx="2650320" cy="2083320"/>
          </a:xfrm>
          <a:prstGeom prst="rect">
            <a:avLst/>
          </a:prstGeom>
          <a:solidFill>
            <a:srgbClr val="0b3d2e"/>
          </a:solidFill>
          <a:ln w="12700">
            <a:solidFill>
              <a:srgbClr val="1e7d52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3182040" y="2834640"/>
            <a:ext cx="26503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⚙️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3273480" y="3337560"/>
            <a:ext cx="2467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ee7b7"/>
                </a:solidFill>
                <a:latin typeface="Calibri"/>
                <a:ea typeface="Calibri"/>
              </a:rPr>
              <a:t>Algorithm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ee7b7"/>
                </a:solidFill>
                <a:latin typeface="Calibri"/>
                <a:ea typeface="Calibri"/>
              </a:rPr>
              <a:t>Processing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3"/>
          <p:cNvSpPr/>
          <p:nvPr/>
        </p:nvSpPr>
        <p:spPr>
          <a:xfrm>
            <a:off x="3291840" y="3822120"/>
            <a:ext cx="24307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Advanced algorithms and ML models are applied to detect hidden patterns, correlations, and anomalies.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4"/>
          <p:cNvSpPr/>
          <p:nvPr/>
        </p:nvSpPr>
        <p:spPr>
          <a:xfrm>
            <a:off x="6016680" y="2816280"/>
            <a:ext cx="2650320" cy="2083320"/>
          </a:xfrm>
          <a:prstGeom prst="rect">
            <a:avLst/>
          </a:prstGeom>
          <a:solidFill>
            <a:srgbClr val="0b3d2e"/>
          </a:solidFill>
          <a:ln w="12700">
            <a:solidFill>
              <a:srgbClr val="1e7d52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6016680" y="2834640"/>
            <a:ext cx="26503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💡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6108120" y="3337560"/>
            <a:ext cx="2467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ee7b7"/>
                </a:solidFill>
                <a:latin typeface="Calibri"/>
                <a:ea typeface="Calibri"/>
              </a:rPr>
              <a:t>Actionable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6ee7b7"/>
                </a:solidFill>
                <a:latin typeface="Calibri"/>
                <a:ea typeface="Calibri"/>
              </a:rPr>
              <a:t>Insights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7"/>
          <p:cNvSpPr/>
          <p:nvPr/>
        </p:nvSpPr>
        <p:spPr>
          <a:xfrm>
            <a:off x="6126480" y="3822120"/>
            <a:ext cx="24307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Results are converted into graphs, tables, and reports that drive marketing, sales, fraud detection, and more.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9142560" cy="912960"/>
          </a:xfrm>
          <a:prstGeom prst="rect">
            <a:avLst/>
          </a:prstGeom>
          <a:solidFill>
            <a:srgbClr val="145a3c"/>
          </a:solidFill>
          <a:ln w="12700">
            <a:solidFill>
              <a:srgbClr val="145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0" y="914400"/>
            <a:ext cx="9142560" cy="5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411480" y="0"/>
            <a:ext cx="83196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9e0b"/>
                </a:solidFill>
                <a:latin typeface="Calibri"/>
                <a:ea typeface="Calibri"/>
              </a:rPr>
              <a:t>How Data Mining Works: 5-Step Process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658080" y="1554480"/>
            <a:ext cx="360" cy="347400"/>
          </a:xfrm>
          <a:prstGeom prst="line">
            <a:avLst/>
          </a:prstGeom>
          <a:ln w="19050">
            <a:solidFill>
              <a:srgbClr val="1e7d5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384120" y="1078920"/>
            <a:ext cx="510480" cy="510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384120" y="1078920"/>
            <a:ext cx="510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3d2e"/>
                </a:solidFill>
                <a:latin typeface="Calibri"/>
              </a:rPr>
              <a:t>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1051560" y="1078920"/>
            <a:ext cx="7725240" cy="68436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1188720" y="1115640"/>
            <a:ext cx="23760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59e0b"/>
                </a:solidFill>
                <a:latin typeface="Calibri"/>
                <a:ea typeface="Calibri"/>
              </a:rPr>
              <a:t>Collect &amp; Load Data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1188720" y="1408320"/>
            <a:ext cx="74052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Organizations collect raw data from internal and external sources and load it into data warehouses or cloud storage.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9"/>
          <p:cNvSpPr/>
          <p:nvPr/>
        </p:nvSpPr>
        <p:spPr>
          <a:xfrm>
            <a:off x="658080" y="2349720"/>
            <a:ext cx="360" cy="347760"/>
          </a:xfrm>
          <a:prstGeom prst="line">
            <a:avLst/>
          </a:prstGeom>
          <a:ln w="19050">
            <a:solidFill>
              <a:srgbClr val="1e7d5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10"/>
          <p:cNvSpPr/>
          <p:nvPr/>
        </p:nvSpPr>
        <p:spPr>
          <a:xfrm>
            <a:off x="384120" y="1874520"/>
            <a:ext cx="510480" cy="510480"/>
          </a:xfrm>
          <a:prstGeom prst="ellipse">
            <a:avLst/>
          </a:prstGeom>
          <a:solidFill>
            <a:srgbClr val="1e7d52"/>
          </a:solidFill>
          <a:ln w="12700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384120" y="1874520"/>
            <a:ext cx="510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3d2e"/>
                </a:solidFill>
                <a:latin typeface="Calibri"/>
              </a:rPr>
              <a:t>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2"/>
          <p:cNvSpPr/>
          <p:nvPr/>
        </p:nvSpPr>
        <p:spPr>
          <a:xfrm>
            <a:off x="1051560" y="1874520"/>
            <a:ext cx="7725240" cy="68436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1188720" y="1911240"/>
            <a:ext cx="23760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ee7b7"/>
                </a:solidFill>
                <a:latin typeface="Calibri"/>
                <a:ea typeface="Calibri"/>
              </a:rPr>
              <a:t>Store &amp; Manage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1188720" y="2203560"/>
            <a:ext cx="74052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Data is stored and managed on in-house servers or cloud platforms, ensuring security, scalability, and accessibility.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5"/>
          <p:cNvSpPr/>
          <p:nvPr/>
        </p:nvSpPr>
        <p:spPr>
          <a:xfrm>
            <a:off x="658080" y="3145320"/>
            <a:ext cx="360" cy="347400"/>
          </a:xfrm>
          <a:prstGeom prst="line">
            <a:avLst/>
          </a:prstGeom>
          <a:ln w="19050">
            <a:solidFill>
              <a:srgbClr val="1e7d5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6"/>
          <p:cNvSpPr/>
          <p:nvPr/>
        </p:nvSpPr>
        <p:spPr>
          <a:xfrm>
            <a:off x="384120" y="2670120"/>
            <a:ext cx="510480" cy="510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7"/>
          <p:cNvSpPr/>
          <p:nvPr/>
        </p:nvSpPr>
        <p:spPr>
          <a:xfrm>
            <a:off x="384120" y="2670120"/>
            <a:ext cx="510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3d2e"/>
                </a:solidFill>
                <a:latin typeface="Calibri"/>
              </a:rPr>
              <a:t>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8"/>
          <p:cNvSpPr/>
          <p:nvPr/>
        </p:nvSpPr>
        <p:spPr>
          <a:xfrm>
            <a:off x="1051560" y="2670120"/>
            <a:ext cx="7725240" cy="68436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1188720" y="2706480"/>
            <a:ext cx="23760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59e0b"/>
                </a:solidFill>
                <a:latin typeface="Calibri"/>
                <a:ea typeface="Calibri"/>
              </a:rPr>
              <a:t>Access &amp; Organize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1188720" y="2999160"/>
            <a:ext cx="74052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Business analysts, management teams, and IT professionals access the data and determine how to structure it for analysis.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21"/>
          <p:cNvSpPr/>
          <p:nvPr/>
        </p:nvSpPr>
        <p:spPr>
          <a:xfrm>
            <a:off x="658080" y="3940920"/>
            <a:ext cx="360" cy="347400"/>
          </a:xfrm>
          <a:prstGeom prst="line">
            <a:avLst/>
          </a:prstGeom>
          <a:ln w="19050">
            <a:solidFill>
              <a:srgbClr val="1e7d5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22"/>
          <p:cNvSpPr/>
          <p:nvPr/>
        </p:nvSpPr>
        <p:spPr>
          <a:xfrm>
            <a:off x="384120" y="3465720"/>
            <a:ext cx="510480" cy="510480"/>
          </a:xfrm>
          <a:prstGeom prst="ellipse">
            <a:avLst/>
          </a:prstGeom>
          <a:solidFill>
            <a:srgbClr val="1e7d52"/>
          </a:solidFill>
          <a:ln w="12700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3"/>
          <p:cNvSpPr/>
          <p:nvPr/>
        </p:nvSpPr>
        <p:spPr>
          <a:xfrm>
            <a:off x="384120" y="3465720"/>
            <a:ext cx="510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3d2e"/>
                </a:solidFill>
                <a:latin typeface="Calibri"/>
              </a:rPr>
              <a:t>4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24"/>
          <p:cNvSpPr/>
          <p:nvPr/>
        </p:nvSpPr>
        <p:spPr>
          <a:xfrm>
            <a:off x="1051560" y="3465720"/>
            <a:ext cx="7725240" cy="68436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25"/>
          <p:cNvSpPr/>
          <p:nvPr/>
        </p:nvSpPr>
        <p:spPr>
          <a:xfrm>
            <a:off x="1188720" y="3502080"/>
            <a:ext cx="23760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ee7b7"/>
                </a:solidFill>
                <a:latin typeface="Calibri"/>
                <a:ea typeface="Calibri"/>
              </a:rPr>
              <a:t>Sort via Application Software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6"/>
          <p:cNvSpPr/>
          <p:nvPr/>
        </p:nvSpPr>
        <p:spPr>
          <a:xfrm>
            <a:off x="1188720" y="3794760"/>
            <a:ext cx="74052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Application software sorts and processes the data based on desired results — running algorithms to find patterns, clusters, and trends.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27"/>
          <p:cNvSpPr/>
          <p:nvPr/>
        </p:nvSpPr>
        <p:spPr>
          <a:xfrm>
            <a:off x="384120" y="4260960"/>
            <a:ext cx="510480" cy="510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28"/>
          <p:cNvSpPr/>
          <p:nvPr/>
        </p:nvSpPr>
        <p:spPr>
          <a:xfrm>
            <a:off x="384120" y="4260960"/>
            <a:ext cx="510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3d2e"/>
                </a:solidFill>
                <a:latin typeface="Calibri"/>
              </a:rPr>
              <a:t>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29"/>
          <p:cNvSpPr/>
          <p:nvPr/>
        </p:nvSpPr>
        <p:spPr>
          <a:xfrm>
            <a:off x="1051560" y="4260960"/>
            <a:ext cx="7725240" cy="68436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0"/>
          <p:cNvSpPr/>
          <p:nvPr/>
        </p:nvSpPr>
        <p:spPr>
          <a:xfrm>
            <a:off x="1188720" y="4297680"/>
            <a:ext cx="23760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59e0b"/>
                </a:solidFill>
                <a:latin typeface="Calibri"/>
                <a:ea typeface="Calibri"/>
              </a:rPr>
              <a:t>Present &amp; Share Insights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31"/>
          <p:cNvSpPr/>
          <p:nvPr/>
        </p:nvSpPr>
        <p:spPr>
          <a:xfrm>
            <a:off x="1188720" y="4590360"/>
            <a:ext cx="74052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End users present findings in easy-to-share formats such as graphs, tables, dashboards, and reports to drive decisions.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9142560" cy="95868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0" y="960120"/>
            <a:ext cx="9142560" cy="62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411480" y="0"/>
            <a:ext cx="83196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Key Data Mining Techniques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292680" y="1143000"/>
            <a:ext cx="2010240" cy="1662840"/>
          </a:xfrm>
          <a:prstGeom prst="rect">
            <a:avLst/>
          </a:prstGeom>
          <a:solidFill>
            <a:srgbClr val="0b3d2e"/>
          </a:solidFill>
          <a:ln w="19050">
            <a:solidFill>
              <a:srgbClr val="10b981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292680" y="123444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🔗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384120" y="1691640"/>
            <a:ext cx="18273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ee7b7"/>
                </a:solidFill>
                <a:latin typeface="Calibri"/>
                <a:ea typeface="Calibri"/>
              </a:rPr>
              <a:t>Association Rules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384120" y="2057400"/>
            <a:ext cx="18273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1fae5"/>
                </a:solidFill>
                <a:latin typeface="Calibri"/>
                <a:ea typeface="Calibri"/>
              </a:rPr>
              <a:t>Discovers relationships between variables — e.g., customers who buy X also buy Y (market basket analysis).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7"/>
          <p:cNvSpPr/>
          <p:nvPr/>
        </p:nvSpPr>
        <p:spPr>
          <a:xfrm>
            <a:off x="2459880" y="1143000"/>
            <a:ext cx="2010240" cy="1662840"/>
          </a:xfrm>
          <a:prstGeom prst="rect">
            <a:avLst/>
          </a:prstGeom>
          <a:solidFill>
            <a:srgbClr val="0b3d2e"/>
          </a:solidFill>
          <a:ln w="19050">
            <a:solidFill>
              <a:srgbClr val="d97706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2459880" y="123444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🏷️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2551320" y="1691640"/>
            <a:ext cx="18273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59e0b"/>
                </a:solidFill>
                <a:latin typeface="Calibri"/>
                <a:ea typeface="Calibri"/>
              </a:rPr>
              <a:t>Classification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2551320" y="2057400"/>
            <a:ext cx="18273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1fae5"/>
                </a:solidFill>
                <a:latin typeface="Calibri"/>
                <a:ea typeface="Calibri"/>
              </a:rPr>
              <a:t>Labels data points into predefined categories using supervised learning (e.g., spam vs. not spam).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1"/>
          <p:cNvSpPr/>
          <p:nvPr/>
        </p:nvSpPr>
        <p:spPr>
          <a:xfrm>
            <a:off x="4626720" y="1143000"/>
            <a:ext cx="2010240" cy="1662840"/>
          </a:xfrm>
          <a:prstGeom prst="rect">
            <a:avLst/>
          </a:prstGeom>
          <a:solidFill>
            <a:srgbClr val="0b3d2e"/>
          </a:solidFill>
          <a:ln w="19050">
            <a:solidFill>
              <a:srgbClr val="10b981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4626720" y="123444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🔵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4718160" y="1691640"/>
            <a:ext cx="18273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ee7b7"/>
                </a:solidFill>
                <a:latin typeface="Calibri"/>
                <a:ea typeface="Calibri"/>
              </a:rPr>
              <a:t>Clustering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4718160" y="2057400"/>
            <a:ext cx="18273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1fae5"/>
                </a:solidFill>
                <a:latin typeface="Calibri"/>
                <a:ea typeface="Calibri"/>
              </a:rPr>
              <a:t>Groups similar data points together without predefined labels — revealing natural segments in data.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5"/>
          <p:cNvSpPr/>
          <p:nvPr/>
        </p:nvSpPr>
        <p:spPr>
          <a:xfrm>
            <a:off x="6793920" y="1143000"/>
            <a:ext cx="2010240" cy="1662840"/>
          </a:xfrm>
          <a:prstGeom prst="rect">
            <a:avLst/>
          </a:prstGeom>
          <a:solidFill>
            <a:srgbClr val="0b3d2e"/>
          </a:solidFill>
          <a:ln w="19050">
            <a:solidFill>
              <a:srgbClr val="d97706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6"/>
          <p:cNvSpPr/>
          <p:nvPr/>
        </p:nvSpPr>
        <p:spPr>
          <a:xfrm>
            <a:off x="6793920" y="123444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🌳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6885360" y="1691640"/>
            <a:ext cx="18273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59e0b"/>
                </a:solidFill>
                <a:latin typeface="Calibri"/>
                <a:ea typeface="Calibri"/>
              </a:rPr>
              <a:t>Decision Trees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8"/>
          <p:cNvSpPr/>
          <p:nvPr/>
        </p:nvSpPr>
        <p:spPr>
          <a:xfrm>
            <a:off x="6885360" y="2057400"/>
            <a:ext cx="18273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1fae5"/>
                </a:solidFill>
                <a:latin typeface="Calibri"/>
                <a:ea typeface="Calibri"/>
              </a:rPr>
              <a:t>Tree-like models that classify data or predict outcomes using a series of branching decision rules.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9"/>
          <p:cNvSpPr/>
          <p:nvPr/>
        </p:nvSpPr>
        <p:spPr>
          <a:xfrm>
            <a:off x="292680" y="2953440"/>
            <a:ext cx="2010240" cy="1662840"/>
          </a:xfrm>
          <a:prstGeom prst="rect">
            <a:avLst/>
          </a:prstGeom>
          <a:solidFill>
            <a:srgbClr val="0b3d2e"/>
          </a:solidFill>
          <a:ln w="19050">
            <a:solidFill>
              <a:srgbClr val="10b981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0"/>
          <p:cNvSpPr/>
          <p:nvPr/>
        </p:nvSpPr>
        <p:spPr>
          <a:xfrm>
            <a:off x="292680" y="304488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📈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21"/>
          <p:cNvSpPr/>
          <p:nvPr/>
        </p:nvSpPr>
        <p:spPr>
          <a:xfrm>
            <a:off x="384120" y="3502080"/>
            <a:ext cx="18273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ee7b7"/>
                </a:solidFill>
                <a:latin typeface="Calibri"/>
                <a:ea typeface="Calibri"/>
              </a:rPr>
              <a:t>Predictive Analysis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2"/>
          <p:cNvSpPr/>
          <p:nvPr/>
        </p:nvSpPr>
        <p:spPr>
          <a:xfrm>
            <a:off x="384120" y="3867840"/>
            <a:ext cx="18273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1fae5"/>
                </a:solidFill>
                <a:latin typeface="Calibri"/>
                <a:ea typeface="Calibri"/>
              </a:rPr>
              <a:t>Uses historical patterns to forecast future trends, demand, prices, or customer behavior.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23"/>
          <p:cNvSpPr/>
          <p:nvPr/>
        </p:nvSpPr>
        <p:spPr>
          <a:xfrm>
            <a:off x="2459880" y="2953440"/>
            <a:ext cx="2010240" cy="1662840"/>
          </a:xfrm>
          <a:prstGeom prst="rect">
            <a:avLst/>
          </a:prstGeom>
          <a:solidFill>
            <a:srgbClr val="0b3d2e"/>
          </a:solidFill>
          <a:ln w="19050">
            <a:solidFill>
              <a:srgbClr val="d97706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4"/>
          <p:cNvSpPr/>
          <p:nvPr/>
        </p:nvSpPr>
        <p:spPr>
          <a:xfrm>
            <a:off x="2459880" y="304488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🧠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5"/>
          <p:cNvSpPr/>
          <p:nvPr/>
        </p:nvSpPr>
        <p:spPr>
          <a:xfrm>
            <a:off x="2551320" y="3502080"/>
            <a:ext cx="18273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59e0b"/>
                </a:solidFill>
                <a:latin typeface="Calibri"/>
                <a:ea typeface="Calibri"/>
              </a:rPr>
              <a:t>Neural Networks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6"/>
          <p:cNvSpPr/>
          <p:nvPr/>
        </p:nvSpPr>
        <p:spPr>
          <a:xfrm>
            <a:off x="2551320" y="3867840"/>
            <a:ext cx="18273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1fae5"/>
                </a:solidFill>
                <a:latin typeface="Calibri"/>
                <a:ea typeface="Calibri"/>
              </a:rPr>
              <a:t>Algorithms simulating brain activity for deep pattern recognition, especially in complex datasets.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7"/>
          <p:cNvSpPr/>
          <p:nvPr/>
        </p:nvSpPr>
        <p:spPr>
          <a:xfrm>
            <a:off x="4626720" y="2953440"/>
            <a:ext cx="2010240" cy="1662840"/>
          </a:xfrm>
          <a:prstGeom prst="rect">
            <a:avLst/>
          </a:prstGeom>
          <a:solidFill>
            <a:srgbClr val="0b3d2e"/>
          </a:solidFill>
          <a:ln w="19050">
            <a:solidFill>
              <a:srgbClr val="10b981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28"/>
          <p:cNvSpPr/>
          <p:nvPr/>
        </p:nvSpPr>
        <p:spPr>
          <a:xfrm>
            <a:off x="4626720" y="3044880"/>
            <a:ext cx="20102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📍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9"/>
          <p:cNvSpPr/>
          <p:nvPr/>
        </p:nvSpPr>
        <p:spPr>
          <a:xfrm>
            <a:off x="4718160" y="3502080"/>
            <a:ext cx="18273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6ee7b7"/>
                </a:solidFill>
                <a:latin typeface="Calibri"/>
                <a:ea typeface="Calibri"/>
              </a:rPr>
              <a:t>K-Nearest Neighbor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30"/>
          <p:cNvSpPr/>
          <p:nvPr/>
        </p:nvSpPr>
        <p:spPr>
          <a:xfrm>
            <a:off x="4718160" y="3867840"/>
            <a:ext cx="18273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1fae5"/>
                </a:solidFill>
                <a:latin typeface="Calibri"/>
                <a:ea typeface="Calibri"/>
              </a:rPr>
              <a:t>Classifies data based on similarity to neighboring points — effective for recommendation engines.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0" y="0"/>
            <a:ext cx="9142560" cy="91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411480" y="0"/>
            <a:ext cx="83196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b3d2e"/>
                </a:solidFill>
                <a:latin typeface="Calibri"/>
                <a:ea typeface="Calibri"/>
              </a:rPr>
              <a:t>Real-World Industry Applications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320040" y="1051560"/>
            <a:ext cx="4204800" cy="1168920"/>
          </a:xfrm>
          <a:prstGeom prst="rect">
            <a:avLst/>
          </a:prstGeom>
          <a:solidFill>
            <a:srgbClr val="145a3c"/>
          </a:solidFill>
          <a:ln w="19050">
            <a:solidFill>
              <a:srgbClr val="10b981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320040" y="1051560"/>
            <a:ext cx="108360" cy="1168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521280" y="1143000"/>
            <a:ext cx="5472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🛒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1124640" y="1115640"/>
            <a:ext cx="3244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Calibri"/>
                <a:ea typeface="Calibri"/>
              </a:rPr>
              <a:t>Retail &amp; E-Commerce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1124640" y="1454040"/>
            <a:ext cx="32446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Loyalty card analysis tracks purchase habits. Supermarkets use it to target coupons, optimize shelf placement, and time promotions.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4800600" y="1051560"/>
            <a:ext cx="4204800" cy="1168920"/>
          </a:xfrm>
          <a:prstGeom prst="rect">
            <a:avLst/>
          </a:prstGeom>
          <a:solidFill>
            <a:srgbClr val="145a3c"/>
          </a:solidFill>
          <a:ln w="19050">
            <a:solidFill>
              <a:srgbClr val="f59e0b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4800600" y="1051560"/>
            <a:ext cx="108360" cy="1168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5001840" y="1143000"/>
            <a:ext cx="5472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🏦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5605200" y="1115640"/>
            <a:ext cx="3244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  <a:ea typeface="Calibri"/>
              </a:rPr>
              <a:t>Banking &amp; Finance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5605200" y="1454040"/>
            <a:ext cx="32446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Anti-fraud detection flags unusual credit card activity. Data mining powers credit scoring, risk analysis, and regulatory compliance.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320040" y="2368440"/>
            <a:ext cx="4204800" cy="1168920"/>
          </a:xfrm>
          <a:prstGeom prst="rect">
            <a:avLst/>
          </a:prstGeom>
          <a:solidFill>
            <a:srgbClr val="145a3c"/>
          </a:solidFill>
          <a:ln w="19050">
            <a:solidFill>
              <a:srgbClr val="6ee7b7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3"/>
          <p:cNvSpPr/>
          <p:nvPr/>
        </p:nvSpPr>
        <p:spPr>
          <a:xfrm>
            <a:off x="320040" y="2368440"/>
            <a:ext cx="108360" cy="116892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521280" y="2459880"/>
            <a:ext cx="5472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🏥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1124640" y="2432160"/>
            <a:ext cx="3244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6ee7b7"/>
                </a:solidFill>
                <a:latin typeface="Calibri"/>
                <a:ea typeface="Calibri"/>
              </a:rPr>
              <a:t>Healthcare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1124640" y="2770560"/>
            <a:ext cx="32446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Analyzes EHRs and imaging data to improve diagnosis, predict disease outcomes, and optimize hospital resource management.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17"/>
          <p:cNvSpPr/>
          <p:nvPr/>
        </p:nvSpPr>
        <p:spPr>
          <a:xfrm>
            <a:off x="4800600" y="2368440"/>
            <a:ext cx="4204800" cy="1168920"/>
          </a:xfrm>
          <a:prstGeom prst="rect">
            <a:avLst/>
          </a:prstGeom>
          <a:solidFill>
            <a:srgbClr val="145a3c"/>
          </a:solidFill>
          <a:ln w="19050">
            <a:solidFill>
              <a:srgbClr val="f59e0b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4800600" y="2368440"/>
            <a:ext cx="108360" cy="1168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5001840" y="2459880"/>
            <a:ext cx="5472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📱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20"/>
          <p:cNvSpPr/>
          <p:nvPr/>
        </p:nvSpPr>
        <p:spPr>
          <a:xfrm>
            <a:off x="5605200" y="2432160"/>
            <a:ext cx="3244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  <a:ea typeface="Calibri"/>
              </a:rPr>
              <a:t>Social Media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5605200" y="2770560"/>
            <a:ext cx="32446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Mining user activity, preferences, and networks to enable targeted advertising and personalized content recommendations.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22"/>
          <p:cNvSpPr/>
          <p:nvPr/>
        </p:nvSpPr>
        <p:spPr>
          <a:xfrm>
            <a:off x="320040" y="3684960"/>
            <a:ext cx="4204800" cy="1168920"/>
          </a:xfrm>
          <a:prstGeom prst="rect">
            <a:avLst/>
          </a:prstGeom>
          <a:solidFill>
            <a:srgbClr val="145a3c"/>
          </a:solidFill>
          <a:ln w="19050">
            <a:solidFill>
              <a:srgbClr val="10b981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23"/>
          <p:cNvSpPr/>
          <p:nvPr/>
        </p:nvSpPr>
        <p:spPr>
          <a:xfrm>
            <a:off x="320040" y="3684960"/>
            <a:ext cx="108360" cy="1168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24"/>
          <p:cNvSpPr/>
          <p:nvPr/>
        </p:nvSpPr>
        <p:spPr>
          <a:xfrm>
            <a:off x="521280" y="3776400"/>
            <a:ext cx="5472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🎬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5"/>
          <p:cNvSpPr/>
          <p:nvPr/>
        </p:nvSpPr>
        <p:spPr>
          <a:xfrm>
            <a:off x="1124640" y="3749040"/>
            <a:ext cx="3244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Calibri"/>
                <a:ea typeface="Calibri"/>
              </a:rPr>
              <a:t>Entertainment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26"/>
          <p:cNvSpPr/>
          <p:nvPr/>
        </p:nvSpPr>
        <p:spPr>
          <a:xfrm>
            <a:off x="1124640" y="4087440"/>
            <a:ext cx="32446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Streaming services mine viewing/listening habits to power recommendation engines — used by Netflix, Spotify, and YouTube.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27"/>
          <p:cNvSpPr/>
          <p:nvPr/>
        </p:nvSpPr>
        <p:spPr>
          <a:xfrm>
            <a:off x="4800600" y="3684960"/>
            <a:ext cx="4204800" cy="1168920"/>
          </a:xfrm>
          <a:prstGeom prst="rect">
            <a:avLst/>
          </a:prstGeom>
          <a:solidFill>
            <a:srgbClr val="145a3c"/>
          </a:solidFill>
          <a:ln w="19050">
            <a:solidFill>
              <a:srgbClr val="f59e0b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28"/>
          <p:cNvSpPr/>
          <p:nvPr/>
        </p:nvSpPr>
        <p:spPr>
          <a:xfrm>
            <a:off x="4800600" y="3684960"/>
            <a:ext cx="108360" cy="1168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29"/>
          <p:cNvSpPr/>
          <p:nvPr/>
        </p:nvSpPr>
        <p:spPr>
          <a:xfrm>
            <a:off x="5001840" y="3776400"/>
            <a:ext cx="5472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🚚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30"/>
          <p:cNvSpPr/>
          <p:nvPr/>
        </p:nvSpPr>
        <p:spPr>
          <a:xfrm>
            <a:off x="5605200" y="3749040"/>
            <a:ext cx="3244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  <a:ea typeface="Calibri"/>
              </a:rPr>
              <a:t>Supply Chain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31"/>
          <p:cNvSpPr/>
          <p:nvPr/>
        </p:nvSpPr>
        <p:spPr>
          <a:xfrm>
            <a:off x="5605200" y="4087440"/>
            <a:ext cx="32446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Predicts demand shifts, reveals hidden patterns like weather impacts on raw material prices, improving logistics efficiency.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9142560" cy="958680"/>
          </a:xfrm>
          <a:prstGeom prst="rect">
            <a:avLst/>
          </a:prstGeom>
          <a:solidFill>
            <a:srgbClr val="145a3c"/>
          </a:solidFill>
          <a:ln w="12700">
            <a:solidFill>
              <a:srgbClr val="145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1"/>
          <p:cNvSpPr/>
          <p:nvPr/>
        </p:nvSpPr>
        <p:spPr>
          <a:xfrm>
            <a:off x="0" y="960120"/>
            <a:ext cx="9142560" cy="62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411480" y="0"/>
            <a:ext cx="83196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59e0b"/>
                </a:solidFill>
                <a:latin typeface="Calibri"/>
                <a:ea typeface="Calibri"/>
              </a:rPr>
              <a:t>Data Warehousing: The Foundation of Data Mining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365760" y="1188720"/>
            <a:ext cx="4113360" cy="3610440"/>
          </a:xfrm>
          <a:prstGeom prst="rect">
            <a:avLst/>
          </a:prstGeom>
          <a:solidFill>
            <a:srgbClr val="0b3d2e"/>
          </a:solidFill>
          <a:ln w="19050">
            <a:solidFill>
              <a:srgbClr val="10b981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4"/>
          <p:cNvSpPr/>
          <p:nvPr/>
        </p:nvSpPr>
        <p:spPr>
          <a:xfrm>
            <a:off x="365760" y="1188720"/>
            <a:ext cx="4113360" cy="45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502920" y="1188720"/>
            <a:ext cx="38390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b3d2e"/>
                </a:solidFill>
                <a:latin typeface="Calibri"/>
                <a:ea typeface="Calibri"/>
              </a:rPr>
              <a:t>What is a Data Warehouse?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502920" y="1737360"/>
            <a:ext cx="3839040" cy="29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1fae5"/>
                </a:solidFill>
                <a:latin typeface="Calibri"/>
                <a:ea typeface="Calibri"/>
              </a:rPr>
              <a:t>A data warehouse centralizes an organization's data into one database or program, allowing teams to spin off segments of data for specific users to analyze based on their needs.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1fae5"/>
                </a:solidFill>
                <a:latin typeface="Calibri"/>
                <a:ea typeface="Calibri"/>
              </a:rPr>
              <a:t>It serves as the backbone of all data mining operations — without consolidated data, mining patterns across disparate sources would be impossible.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1fae5"/>
                </a:solidFill>
                <a:latin typeface="Calibri"/>
                <a:ea typeface="Calibri"/>
              </a:rPr>
              <a:t>Modern warehouses support real-time analytics, role-based access, and integration with BI tools.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4754880" y="1188720"/>
            <a:ext cx="4067640" cy="1662840"/>
          </a:xfrm>
          <a:prstGeom prst="rect">
            <a:avLst/>
          </a:prstGeom>
          <a:solidFill>
            <a:srgbClr val="0b3d2e"/>
          </a:solidFill>
          <a:ln w="19050">
            <a:solidFill>
              <a:srgbClr val="f59e0b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8"/>
          <p:cNvSpPr/>
          <p:nvPr/>
        </p:nvSpPr>
        <p:spPr>
          <a:xfrm>
            <a:off x="4754880" y="1188720"/>
            <a:ext cx="4067640" cy="43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4864680" y="1188720"/>
            <a:ext cx="38390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b3d2e"/>
                </a:solidFill>
                <a:latin typeface="Calibri"/>
                <a:ea typeface="Calibri"/>
              </a:rPr>
              <a:t>🖥️  </a:t>
            </a:r>
            <a:r>
              <a:rPr b="1" lang="en-US" sz="1300" spc="-1" strike="noStrike">
                <a:solidFill>
                  <a:srgbClr val="0b3d2e"/>
                </a:solidFill>
                <a:latin typeface="Calibri"/>
                <a:ea typeface="Calibri"/>
              </a:rPr>
              <a:t>On-Premise Servers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4892040" y="1682640"/>
            <a:ext cx="3793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Full data control &amp; security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4892040" y="1956960"/>
            <a:ext cx="3793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Higher upfront infrastructure cost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2"/>
          <p:cNvSpPr/>
          <p:nvPr/>
        </p:nvSpPr>
        <p:spPr>
          <a:xfrm>
            <a:off x="4892040" y="2231280"/>
            <a:ext cx="3793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Scalability limited by hardware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4892040" y="2505600"/>
            <a:ext cx="3793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Best for regulated industries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4754880" y="3035880"/>
            <a:ext cx="4067640" cy="1662840"/>
          </a:xfrm>
          <a:prstGeom prst="rect">
            <a:avLst/>
          </a:prstGeom>
          <a:solidFill>
            <a:srgbClr val="0b3d2e"/>
          </a:solidFill>
          <a:ln w="19050">
            <a:solidFill>
              <a:srgbClr val="6ee7b7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5"/>
          <p:cNvSpPr/>
          <p:nvPr/>
        </p:nvSpPr>
        <p:spPr>
          <a:xfrm>
            <a:off x="4754880" y="3035880"/>
            <a:ext cx="4067640" cy="437400"/>
          </a:xfrm>
          <a:prstGeom prst="rect">
            <a:avLst/>
          </a:prstGeom>
          <a:solidFill>
            <a:srgbClr val="1e7d52"/>
          </a:solidFill>
          <a:ln w="12700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6"/>
          <p:cNvSpPr/>
          <p:nvPr/>
        </p:nvSpPr>
        <p:spPr>
          <a:xfrm>
            <a:off x="4864680" y="3035880"/>
            <a:ext cx="38390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☁️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Cloud Data Warehouse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7"/>
          <p:cNvSpPr/>
          <p:nvPr/>
        </p:nvSpPr>
        <p:spPr>
          <a:xfrm>
            <a:off x="4892040" y="3529440"/>
            <a:ext cx="3793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ee7b7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Pay-as-you-go pricing model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8"/>
          <p:cNvSpPr/>
          <p:nvPr/>
        </p:nvSpPr>
        <p:spPr>
          <a:xfrm>
            <a:off x="4892040" y="3803760"/>
            <a:ext cx="3793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ee7b7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Enables smaller companies to scale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9"/>
          <p:cNvSpPr/>
          <p:nvPr/>
        </p:nvSpPr>
        <p:spPr>
          <a:xfrm>
            <a:off x="4892040" y="4078080"/>
            <a:ext cx="3793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ee7b7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Built-in security &amp; redundancy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20"/>
          <p:cNvSpPr/>
          <p:nvPr/>
        </p:nvSpPr>
        <p:spPr>
          <a:xfrm>
            <a:off x="4892040" y="4352400"/>
            <a:ext cx="3793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6ee7b7"/>
                </a:solidFill>
                <a:latin typeface="Calibri"/>
                <a:ea typeface="Calibri"/>
              </a:rPr>
              <a:t>▸  </a:t>
            </a: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Examples: AWS Redshift, BigQuery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9142560" cy="912960"/>
          </a:xfrm>
          <a:prstGeom prst="rect">
            <a:avLst/>
          </a:prstGeom>
          <a:solidFill>
            <a:srgbClr val="145a3c"/>
          </a:solidFill>
          <a:ln w="12700">
            <a:solidFill>
              <a:srgbClr val="145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0" y="914400"/>
            <a:ext cx="9142560" cy="5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411480" y="0"/>
            <a:ext cx="83196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59e0b"/>
                </a:solidFill>
                <a:latin typeface="Calibri"/>
                <a:ea typeface="Calibri"/>
              </a:rPr>
              <a:t>Benefits &amp; Challenges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320040" y="1051560"/>
            <a:ext cx="4113360" cy="45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320040" y="1051560"/>
            <a:ext cx="4113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3d2e"/>
                </a:solidFill>
                <a:latin typeface="Calibri"/>
                <a:ea typeface="Calibri"/>
              </a:rPr>
              <a:t>✔  </a:t>
            </a:r>
            <a:r>
              <a:rPr b="1" lang="en-US" sz="1400" spc="-1" strike="noStrike">
                <a:solidFill>
                  <a:srgbClr val="0b3d2e"/>
                </a:solidFill>
                <a:latin typeface="Calibri"/>
                <a:ea typeface="Calibri"/>
              </a:rPr>
              <a:t>BENEFITS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5"/>
          <p:cNvSpPr/>
          <p:nvPr/>
        </p:nvSpPr>
        <p:spPr>
          <a:xfrm>
            <a:off x="320040" y="1645920"/>
            <a:ext cx="4113360" cy="59292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457200" y="1682640"/>
            <a:ext cx="37933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6ee7b7"/>
                </a:solidFill>
                <a:latin typeface="Calibri"/>
                <a:ea typeface="Calibri"/>
              </a:rPr>
              <a:t>Better Decision-Making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Converts raw data into actionable intelligence that guides strategy and operations.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320040" y="2313360"/>
            <a:ext cx="4113360" cy="59292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457200" y="2350080"/>
            <a:ext cx="37933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6ee7b7"/>
                </a:solidFill>
                <a:latin typeface="Calibri"/>
                <a:ea typeface="Calibri"/>
              </a:rPr>
              <a:t>Enhanced Marketing ROI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Targeted campaigns based on proven customer behaviour patterns reduce waste.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9"/>
          <p:cNvSpPr/>
          <p:nvPr/>
        </p:nvSpPr>
        <p:spPr>
          <a:xfrm>
            <a:off x="320040" y="2980800"/>
            <a:ext cx="4113360" cy="59292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457200" y="3017520"/>
            <a:ext cx="37933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6ee7b7"/>
                </a:solidFill>
                <a:latin typeface="Calibri"/>
                <a:ea typeface="Calibri"/>
              </a:rPr>
              <a:t>Fraud Detection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Anomaly detection flags unusual transactions in real time before damage occurs.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11"/>
          <p:cNvSpPr/>
          <p:nvPr/>
        </p:nvSpPr>
        <p:spPr>
          <a:xfrm>
            <a:off x="320040" y="3648600"/>
            <a:ext cx="4113360" cy="59292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457200" y="3684960"/>
            <a:ext cx="37933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6ee7b7"/>
                </a:solidFill>
                <a:latin typeface="Calibri"/>
                <a:ea typeface="Calibri"/>
              </a:rPr>
              <a:t>Cost Reduction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Operational inefficiencies become visible — enabling resource optimization.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320040" y="4316040"/>
            <a:ext cx="4113360" cy="59292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457200" y="4352400"/>
            <a:ext cx="37933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6ee7b7"/>
                </a:solidFill>
                <a:latin typeface="Calibri"/>
                <a:ea typeface="Calibri"/>
              </a:rPr>
              <a:t>Competitive Advantage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Companies that mine data can anticipate trends and act before competitors.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15"/>
          <p:cNvSpPr/>
          <p:nvPr/>
        </p:nvSpPr>
        <p:spPr>
          <a:xfrm>
            <a:off x="4709160" y="1051560"/>
            <a:ext cx="4113360" cy="45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4709160" y="1051560"/>
            <a:ext cx="4113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3d2e"/>
                </a:solidFill>
                <a:latin typeface="Calibri"/>
                <a:ea typeface="Calibri"/>
              </a:rPr>
              <a:t>⚠  </a:t>
            </a:r>
            <a:r>
              <a:rPr b="1" lang="en-US" sz="1400" spc="-1" strike="noStrike">
                <a:solidFill>
                  <a:srgbClr val="0b3d2e"/>
                </a:solidFill>
                <a:latin typeface="Calibri"/>
                <a:ea typeface="Calibri"/>
              </a:rPr>
              <a:t>CHALLENGES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17"/>
          <p:cNvSpPr/>
          <p:nvPr/>
        </p:nvSpPr>
        <p:spPr>
          <a:xfrm>
            <a:off x="4709160" y="1645920"/>
            <a:ext cx="4113360" cy="59292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8"/>
          <p:cNvSpPr/>
          <p:nvPr/>
        </p:nvSpPr>
        <p:spPr>
          <a:xfrm>
            <a:off x="4846320" y="1682640"/>
            <a:ext cx="37933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  <a:ea typeface="Calibri"/>
              </a:rPr>
              <a:t>Privacy &amp; Ethics Concerns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Social media companies commodify users; Cambridge Analytica controversy revealed data misuse risks.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9"/>
          <p:cNvSpPr/>
          <p:nvPr/>
        </p:nvSpPr>
        <p:spPr>
          <a:xfrm>
            <a:off x="4709160" y="2313360"/>
            <a:ext cx="4113360" cy="59292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20"/>
          <p:cNvSpPr/>
          <p:nvPr/>
        </p:nvSpPr>
        <p:spPr>
          <a:xfrm>
            <a:off x="4846320" y="2350080"/>
            <a:ext cx="37933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  <a:ea typeface="Calibri"/>
              </a:rPr>
              <a:t>Data Quality Dependency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Biases, missing values, or pipeline errors reduce insight quality and reliability.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21"/>
          <p:cNvSpPr/>
          <p:nvPr/>
        </p:nvSpPr>
        <p:spPr>
          <a:xfrm>
            <a:off x="4709160" y="2980800"/>
            <a:ext cx="4113360" cy="59292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22"/>
          <p:cNvSpPr/>
          <p:nvPr/>
        </p:nvSpPr>
        <p:spPr>
          <a:xfrm>
            <a:off x="4846320" y="3017520"/>
            <a:ext cx="37933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  <a:ea typeface="Calibri"/>
              </a:rPr>
              <a:t>Complexity &amp; Cost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Requires iterative testing and skilled analysts — expensive and labor-intensive.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23"/>
          <p:cNvSpPr/>
          <p:nvPr/>
        </p:nvSpPr>
        <p:spPr>
          <a:xfrm>
            <a:off x="4709160" y="3648600"/>
            <a:ext cx="4113360" cy="59292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24"/>
          <p:cNvSpPr/>
          <p:nvPr/>
        </p:nvSpPr>
        <p:spPr>
          <a:xfrm>
            <a:off x="4846320" y="3684960"/>
            <a:ext cx="37933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  <a:ea typeface="Calibri"/>
              </a:rPr>
              <a:t>Shifting Market Patterns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Unexpected changes in consumer behavior can quickly make mined insights obsolete.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25"/>
          <p:cNvSpPr/>
          <p:nvPr/>
        </p:nvSpPr>
        <p:spPr>
          <a:xfrm>
            <a:off x="4709160" y="4316040"/>
            <a:ext cx="4113360" cy="592920"/>
          </a:xfrm>
          <a:prstGeom prst="rect">
            <a:avLst/>
          </a:prstGeom>
          <a:solidFill>
            <a:srgbClr val="145a3c"/>
          </a:solidFill>
          <a:ln w="9525">
            <a:solidFill>
              <a:srgbClr val="1e7d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26"/>
          <p:cNvSpPr/>
          <p:nvPr/>
        </p:nvSpPr>
        <p:spPr>
          <a:xfrm>
            <a:off x="4846320" y="4352400"/>
            <a:ext cx="37933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  <a:ea typeface="Calibri"/>
              </a:rPr>
              <a:t>Interpretation Risk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1fae5"/>
                </a:solidFill>
                <a:latin typeface="Calibri"/>
                <a:ea typeface="Calibri"/>
              </a:rPr>
              <a:t>Patterns found may be spurious; domain expertise is crucial to separate signal from noise.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9142560" cy="95868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"/>
          <p:cNvSpPr/>
          <p:nvPr/>
        </p:nvSpPr>
        <p:spPr>
          <a:xfrm>
            <a:off x="0" y="960120"/>
            <a:ext cx="9142560" cy="62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411480" y="0"/>
            <a:ext cx="83196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9e0b"/>
                </a:solidFill>
                <a:latin typeface="Calibri"/>
                <a:ea typeface="Calibri"/>
              </a:rPr>
              <a:t>Industry Standard: CRISP-DM Process Model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365760" y="1143000"/>
            <a:ext cx="3656160" cy="345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365760" y="1143000"/>
            <a:ext cx="36561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3d2e"/>
                </a:solidFill>
                <a:latin typeface="Calibri"/>
                <a:ea typeface="Calibri"/>
              </a:rPr>
              <a:t>Cross-Industry Standard Process for Data Mining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365760" y="1527120"/>
            <a:ext cx="5027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b7280"/>
                </a:solidFill>
                <a:latin typeface="Calibri"/>
                <a:ea typeface="Calibri"/>
              </a:rPr>
              <a:t>#1 methodology used by data miners globally (2002–2014 polls)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365760" y="1920240"/>
            <a:ext cx="4204800" cy="867240"/>
          </a:xfrm>
          <a:prstGeom prst="rect">
            <a:avLst/>
          </a:prstGeom>
          <a:solidFill>
            <a:srgbClr val="0b3d2e"/>
          </a:solidFill>
          <a:ln w="19050">
            <a:solidFill>
              <a:srgbClr val="d97706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475560" y="2084760"/>
            <a:ext cx="474120" cy="4741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475560" y="2084760"/>
            <a:ext cx="4741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3d2e"/>
                </a:solidFill>
                <a:latin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1051560" y="1993320"/>
            <a:ext cx="34002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59e0b"/>
                </a:solidFill>
                <a:latin typeface="Calibri"/>
                <a:ea typeface="Calibri"/>
              </a:rPr>
              <a:t>Business Understanding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1051560" y="2313360"/>
            <a:ext cx="34002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Define goals, understand the problem, identify resources needed, create project plan.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4800600" y="1920240"/>
            <a:ext cx="4204800" cy="867240"/>
          </a:xfrm>
          <a:prstGeom prst="rect">
            <a:avLst/>
          </a:prstGeom>
          <a:solidFill>
            <a:srgbClr val="0b3d2e"/>
          </a:solidFill>
          <a:ln w="19050">
            <a:solidFill>
              <a:srgbClr val="10b981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4910400" y="2084760"/>
            <a:ext cx="474120" cy="4741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4910400" y="2084760"/>
            <a:ext cx="4741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3d2e"/>
                </a:solidFill>
                <a:latin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5486400" y="1993320"/>
            <a:ext cx="34002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ee7b7"/>
                </a:solidFill>
                <a:latin typeface="Calibri"/>
                <a:ea typeface="Calibri"/>
              </a:rPr>
              <a:t>Data Understanding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5486400" y="2313360"/>
            <a:ext cx="34002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Select data sources, collect data, explore characteristics and quality.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6"/>
          <p:cNvSpPr/>
          <p:nvPr/>
        </p:nvSpPr>
        <p:spPr>
          <a:xfrm>
            <a:off x="365760" y="2926080"/>
            <a:ext cx="4204800" cy="867240"/>
          </a:xfrm>
          <a:prstGeom prst="rect">
            <a:avLst/>
          </a:prstGeom>
          <a:solidFill>
            <a:srgbClr val="0b3d2e"/>
          </a:solidFill>
          <a:ln w="19050">
            <a:solidFill>
              <a:srgbClr val="d97706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17"/>
          <p:cNvSpPr/>
          <p:nvPr/>
        </p:nvSpPr>
        <p:spPr>
          <a:xfrm>
            <a:off x="475560" y="3090600"/>
            <a:ext cx="474120" cy="4741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475560" y="3090600"/>
            <a:ext cx="4741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3d2e"/>
                </a:solidFill>
                <a:latin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9"/>
          <p:cNvSpPr/>
          <p:nvPr/>
        </p:nvSpPr>
        <p:spPr>
          <a:xfrm>
            <a:off x="1051560" y="2999160"/>
            <a:ext cx="34002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59e0b"/>
                </a:solidFill>
                <a:latin typeface="Calibri"/>
                <a:ea typeface="Calibri"/>
              </a:rPr>
              <a:t>Data Preparation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20"/>
          <p:cNvSpPr/>
          <p:nvPr/>
        </p:nvSpPr>
        <p:spPr>
          <a:xfrm>
            <a:off x="1051560" y="3319200"/>
            <a:ext cx="34002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Clean, transform, and preprocess — correct errors, combine sources, reformat data.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1"/>
          <p:cNvSpPr/>
          <p:nvPr/>
        </p:nvSpPr>
        <p:spPr>
          <a:xfrm>
            <a:off x="4800600" y="2926080"/>
            <a:ext cx="4204800" cy="867240"/>
          </a:xfrm>
          <a:prstGeom prst="rect">
            <a:avLst/>
          </a:prstGeom>
          <a:solidFill>
            <a:srgbClr val="0b3d2e"/>
          </a:solidFill>
          <a:ln w="19050">
            <a:solidFill>
              <a:srgbClr val="10b981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22"/>
          <p:cNvSpPr/>
          <p:nvPr/>
        </p:nvSpPr>
        <p:spPr>
          <a:xfrm>
            <a:off x="4910400" y="3090600"/>
            <a:ext cx="474120" cy="4741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23"/>
          <p:cNvSpPr/>
          <p:nvPr/>
        </p:nvSpPr>
        <p:spPr>
          <a:xfrm>
            <a:off x="4910400" y="3090600"/>
            <a:ext cx="4741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3d2e"/>
                </a:solidFill>
                <a:latin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24"/>
          <p:cNvSpPr/>
          <p:nvPr/>
        </p:nvSpPr>
        <p:spPr>
          <a:xfrm>
            <a:off x="5486400" y="2999160"/>
            <a:ext cx="34002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ee7b7"/>
                </a:solidFill>
                <a:latin typeface="Calibri"/>
                <a:ea typeface="Calibri"/>
              </a:rPr>
              <a:t>Modeling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5"/>
          <p:cNvSpPr/>
          <p:nvPr/>
        </p:nvSpPr>
        <p:spPr>
          <a:xfrm>
            <a:off x="5486400" y="3319200"/>
            <a:ext cx="34002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Apply algorithms. Build, assess, and tune models appropriate to the business goal.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6"/>
          <p:cNvSpPr/>
          <p:nvPr/>
        </p:nvSpPr>
        <p:spPr>
          <a:xfrm>
            <a:off x="365760" y="3931920"/>
            <a:ext cx="4204800" cy="867240"/>
          </a:xfrm>
          <a:prstGeom prst="rect">
            <a:avLst/>
          </a:prstGeom>
          <a:solidFill>
            <a:srgbClr val="0b3d2e"/>
          </a:solidFill>
          <a:ln w="19050">
            <a:solidFill>
              <a:srgbClr val="d97706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27"/>
          <p:cNvSpPr/>
          <p:nvPr/>
        </p:nvSpPr>
        <p:spPr>
          <a:xfrm>
            <a:off x="475560" y="4096440"/>
            <a:ext cx="474120" cy="4741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28"/>
          <p:cNvSpPr/>
          <p:nvPr/>
        </p:nvSpPr>
        <p:spPr>
          <a:xfrm>
            <a:off x="475560" y="4096440"/>
            <a:ext cx="4741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3d2e"/>
                </a:solidFill>
                <a:latin typeface="Calibri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29"/>
          <p:cNvSpPr/>
          <p:nvPr/>
        </p:nvSpPr>
        <p:spPr>
          <a:xfrm>
            <a:off x="1051560" y="4005000"/>
            <a:ext cx="34002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59e0b"/>
                </a:solidFill>
                <a:latin typeface="Calibri"/>
                <a:ea typeface="Calibri"/>
              </a:rPr>
              <a:t>Evaluation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0"/>
          <p:cNvSpPr/>
          <p:nvPr/>
        </p:nvSpPr>
        <p:spPr>
          <a:xfrm>
            <a:off x="1051560" y="4325040"/>
            <a:ext cx="34002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Review results against business objectives. Determine if the model meets requirements.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31"/>
          <p:cNvSpPr/>
          <p:nvPr/>
        </p:nvSpPr>
        <p:spPr>
          <a:xfrm>
            <a:off x="4800600" y="3931920"/>
            <a:ext cx="4204800" cy="867240"/>
          </a:xfrm>
          <a:prstGeom prst="rect">
            <a:avLst/>
          </a:prstGeom>
          <a:solidFill>
            <a:srgbClr val="0b3d2e"/>
          </a:solidFill>
          <a:ln w="19050">
            <a:solidFill>
              <a:srgbClr val="10b981"/>
            </a:solidFill>
            <a:round/>
          </a:ln>
          <a:effectLst>
            <a:outerShdw algn="bl" blurRad="88920" dir="8100000" dist="37674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32"/>
          <p:cNvSpPr/>
          <p:nvPr/>
        </p:nvSpPr>
        <p:spPr>
          <a:xfrm>
            <a:off x="4910400" y="4096440"/>
            <a:ext cx="474120" cy="4741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33"/>
          <p:cNvSpPr/>
          <p:nvPr/>
        </p:nvSpPr>
        <p:spPr>
          <a:xfrm>
            <a:off x="4910400" y="4096440"/>
            <a:ext cx="4741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3d2e"/>
                </a:solidFill>
                <a:latin typeface="Calibri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34"/>
          <p:cNvSpPr/>
          <p:nvPr/>
        </p:nvSpPr>
        <p:spPr>
          <a:xfrm>
            <a:off x="5486400" y="4005000"/>
            <a:ext cx="34002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ee7b7"/>
                </a:solidFill>
                <a:latin typeface="Calibri"/>
                <a:ea typeface="Calibri"/>
              </a:rPr>
              <a:t>Deployment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35"/>
          <p:cNvSpPr/>
          <p:nvPr/>
        </p:nvSpPr>
        <p:spPr>
          <a:xfrm>
            <a:off x="5486400" y="4325040"/>
            <a:ext cx="34002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1fae5"/>
                </a:solidFill>
                <a:latin typeface="Calibri"/>
                <a:ea typeface="Calibri"/>
              </a:rPr>
              <a:t>Implement the model into production. Monitor, maintain, and refine over time.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0"/>
          <p:cNvSpPr/>
          <p:nvPr/>
        </p:nvSpPr>
        <p:spPr>
          <a:xfrm>
            <a:off x="6217920" y="-914400"/>
            <a:ext cx="4387680" cy="4387680"/>
          </a:xfrm>
          <a:prstGeom prst="ellipse">
            <a:avLst/>
          </a:prstGeom>
          <a:solidFill>
            <a:srgbClr val="145a3c"/>
          </a:solidFill>
          <a:ln w="12700">
            <a:solidFill>
              <a:srgbClr val="145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1"/>
          <p:cNvSpPr/>
          <p:nvPr/>
        </p:nvSpPr>
        <p:spPr>
          <a:xfrm>
            <a:off x="-914400" y="3291840"/>
            <a:ext cx="3198960" cy="3198960"/>
          </a:xfrm>
          <a:prstGeom prst="ellipse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1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2"/>
          <p:cNvSpPr/>
          <p:nvPr/>
        </p:nvSpPr>
        <p:spPr>
          <a:xfrm>
            <a:off x="0" y="0"/>
            <a:ext cx="181440" cy="5142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3"/>
          <p:cNvSpPr/>
          <p:nvPr/>
        </p:nvSpPr>
        <p:spPr>
          <a:xfrm>
            <a:off x="438840" y="27432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59e0b"/>
                </a:solidFill>
                <a:latin typeface="Calibri"/>
                <a:ea typeface="Calibri"/>
              </a:rPr>
              <a:t>Key Takeaways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4"/>
          <p:cNvSpPr/>
          <p:nvPr/>
        </p:nvSpPr>
        <p:spPr>
          <a:xfrm>
            <a:off x="438840" y="868680"/>
            <a:ext cx="4570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Data Mining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5"/>
          <p:cNvSpPr/>
          <p:nvPr/>
        </p:nvSpPr>
        <p:spPr>
          <a:xfrm>
            <a:off x="438840" y="1398960"/>
            <a:ext cx="345960" cy="345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6"/>
          <p:cNvSpPr/>
          <p:nvPr/>
        </p:nvSpPr>
        <p:spPr>
          <a:xfrm>
            <a:off x="438840" y="139896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3d2e"/>
                </a:solidFill>
                <a:latin typeface="Calibri"/>
              </a:rPr>
              <a:t>◈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7"/>
          <p:cNvSpPr/>
          <p:nvPr/>
        </p:nvSpPr>
        <p:spPr>
          <a:xfrm>
            <a:off x="932760" y="1362600"/>
            <a:ext cx="7770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1fae5"/>
                </a:solidFill>
                <a:latin typeface="Calibri"/>
                <a:ea typeface="Calibri"/>
              </a:rPr>
              <a:t>Data mining transforms raw data into valuable insights using statistics, AI, and ML — enabling smarter business decisions.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8"/>
          <p:cNvSpPr/>
          <p:nvPr/>
        </p:nvSpPr>
        <p:spPr>
          <a:xfrm>
            <a:off x="438840" y="1993320"/>
            <a:ext cx="345960" cy="345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9"/>
          <p:cNvSpPr/>
          <p:nvPr/>
        </p:nvSpPr>
        <p:spPr>
          <a:xfrm>
            <a:off x="438840" y="199332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3d2e"/>
                </a:solidFill>
                <a:latin typeface="Calibri"/>
              </a:rPr>
              <a:t>◈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0"/>
          <p:cNvSpPr/>
          <p:nvPr/>
        </p:nvSpPr>
        <p:spPr>
          <a:xfrm>
            <a:off x="932760" y="1956960"/>
            <a:ext cx="7770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1fae5"/>
                </a:solidFill>
                <a:latin typeface="Calibri"/>
                <a:ea typeface="Calibri"/>
              </a:rPr>
              <a:t>The 5-step process: Collect → Store → Access → Sort → Present. Each stage is critical for accurate, usable output.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11"/>
          <p:cNvSpPr/>
          <p:nvPr/>
        </p:nvSpPr>
        <p:spPr>
          <a:xfrm>
            <a:off x="438840" y="2587680"/>
            <a:ext cx="345960" cy="345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12"/>
          <p:cNvSpPr/>
          <p:nvPr/>
        </p:nvSpPr>
        <p:spPr>
          <a:xfrm>
            <a:off x="438840" y="258768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3d2e"/>
                </a:solidFill>
                <a:latin typeface="Calibri"/>
              </a:rPr>
              <a:t>◈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3"/>
          <p:cNvSpPr/>
          <p:nvPr/>
        </p:nvSpPr>
        <p:spPr>
          <a:xfrm>
            <a:off x="932760" y="2551320"/>
            <a:ext cx="7770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1fae5"/>
                </a:solidFill>
                <a:latin typeface="Calibri"/>
                <a:ea typeface="Calibri"/>
              </a:rPr>
              <a:t>Key techniques include association rules, clustering, decision trees, neural networks, KNN, and predictive analysis.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14"/>
          <p:cNvSpPr/>
          <p:nvPr/>
        </p:nvSpPr>
        <p:spPr>
          <a:xfrm>
            <a:off x="438840" y="3182040"/>
            <a:ext cx="345960" cy="345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15"/>
          <p:cNvSpPr/>
          <p:nvPr/>
        </p:nvSpPr>
        <p:spPr>
          <a:xfrm>
            <a:off x="438840" y="318204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3d2e"/>
                </a:solidFill>
                <a:latin typeface="Calibri"/>
              </a:rPr>
              <a:t>◈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16"/>
          <p:cNvSpPr/>
          <p:nvPr/>
        </p:nvSpPr>
        <p:spPr>
          <a:xfrm>
            <a:off x="932760" y="3145680"/>
            <a:ext cx="7770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1fae5"/>
                </a:solidFill>
                <a:latin typeface="Calibri"/>
                <a:ea typeface="Calibri"/>
              </a:rPr>
              <a:t>Industries from retail to healthcare use data mining for fraud detection, personalization, demand forecasting, and diagnostics.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17"/>
          <p:cNvSpPr/>
          <p:nvPr/>
        </p:nvSpPr>
        <p:spPr>
          <a:xfrm>
            <a:off x="438840" y="3776400"/>
            <a:ext cx="345960" cy="345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18"/>
          <p:cNvSpPr/>
          <p:nvPr/>
        </p:nvSpPr>
        <p:spPr>
          <a:xfrm>
            <a:off x="438840" y="377640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3d2e"/>
                </a:solidFill>
                <a:latin typeface="Calibri"/>
              </a:rPr>
              <a:t>◈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19"/>
          <p:cNvSpPr/>
          <p:nvPr/>
        </p:nvSpPr>
        <p:spPr>
          <a:xfrm>
            <a:off x="932760" y="3740040"/>
            <a:ext cx="7770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1fae5"/>
                </a:solidFill>
                <a:latin typeface="Calibri"/>
                <a:ea typeface="Calibri"/>
              </a:rPr>
              <a:t>Privacy, data quality, and high complexity remain core challenges — especially as social media mining raises ethical concerns.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20"/>
          <p:cNvSpPr/>
          <p:nvPr/>
        </p:nvSpPr>
        <p:spPr>
          <a:xfrm>
            <a:off x="438840" y="4370760"/>
            <a:ext cx="345960" cy="345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21"/>
          <p:cNvSpPr/>
          <p:nvPr/>
        </p:nvSpPr>
        <p:spPr>
          <a:xfrm>
            <a:off x="438840" y="4370760"/>
            <a:ext cx="345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3d2e"/>
                </a:solidFill>
                <a:latin typeface="Calibri"/>
              </a:rPr>
              <a:t>◈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22"/>
          <p:cNvSpPr/>
          <p:nvPr/>
        </p:nvSpPr>
        <p:spPr>
          <a:xfrm>
            <a:off x="932760" y="4334400"/>
            <a:ext cx="7770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1fae5"/>
                </a:solidFill>
                <a:latin typeface="Calibri"/>
                <a:ea typeface="Calibri"/>
              </a:rPr>
              <a:t>CRISP-DM is the global standard process model; cloud warehousing is democratizing data mining for smaller organizations.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23"/>
          <p:cNvSpPr/>
          <p:nvPr/>
        </p:nvSpPr>
        <p:spPr>
          <a:xfrm>
            <a:off x="438840" y="4645080"/>
            <a:ext cx="8319600" cy="382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24"/>
          <p:cNvSpPr/>
          <p:nvPr/>
        </p:nvSpPr>
        <p:spPr>
          <a:xfrm>
            <a:off x="438840" y="4645080"/>
            <a:ext cx="83196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b3d2e"/>
                </a:solidFill>
                <a:latin typeface="Calibri"/>
                <a:ea typeface="Calibri"/>
              </a:rPr>
              <a:t>Data is the new oil — and data mining is the refinery 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2026-04-08T10:18:49Z</dcterms:created>
  <dc:creator>PptxGenJS</dc:creator>
  <dc:description/>
  <dc:language>en-US</dc:language>
  <cp:lastModifiedBy/>
  <dcterms:modified xsi:type="dcterms:W3CDTF">2026-04-11T08:45:35Z</dcterms:modified>
  <cp:revision>9</cp:revision>
  <dc:subject>PptxGenJS Presentation</dc:subject>
  <dc:title>Data Mining – Investopedia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